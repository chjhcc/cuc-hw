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  <p:sldMasterId id="2147483660" r:id="rId2"/>
  </p:sldMasterIdLst>
  <p:notesMasterIdLst>
    <p:notesMasterId r:id="rId35"/>
  </p:notesMasterIdLst>
  <p:sldIdLst>
    <p:sldId id="437" r:id="rId3"/>
    <p:sldId id="519" r:id="rId4"/>
    <p:sldId id="580" r:id="rId5"/>
    <p:sldId id="611" r:id="rId6"/>
    <p:sldId id="612" r:id="rId7"/>
    <p:sldId id="718" r:id="rId8"/>
    <p:sldId id="719" r:id="rId9"/>
    <p:sldId id="773" r:id="rId10"/>
    <p:sldId id="774" r:id="rId11"/>
    <p:sldId id="775" r:id="rId12"/>
    <p:sldId id="776" r:id="rId13"/>
    <p:sldId id="444" r:id="rId14"/>
    <p:sldId id="585" r:id="rId15"/>
    <p:sldId id="720" r:id="rId16"/>
    <p:sldId id="759" r:id="rId17"/>
    <p:sldId id="760" r:id="rId18"/>
    <p:sldId id="777" r:id="rId19"/>
    <p:sldId id="721" r:id="rId20"/>
    <p:sldId id="761" r:id="rId21"/>
    <p:sldId id="762" r:id="rId22"/>
    <p:sldId id="763" r:id="rId23"/>
    <p:sldId id="764" r:id="rId24"/>
    <p:sldId id="765" r:id="rId25"/>
    <p:sldId id="766" r:id="rId26"/>
    <p:sldId id="767" r:id="rId27"/>
    <p:sldId id="768" r:id="rId28"/>
    <p:sldId id="769" r:id="rId29"/>
    <p:sldId id="778" r:id="rId30"/>
    <p:sldId id="779" r:id="rId31"/>
    <p:sldId id="770" r:id="rId32"/>
    <p:sldId id="771" r:id="rId33"/>
    <p:sldId id="772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是 杰哥啊" initials="是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5D27"/>
    <a:srgbClr val="D9EEF2"/>
    <a:srgbClr val="FFD084"/>
    <a:srgbClr val="FAFAF9"/>
    <a:srgbClr val="FFFFFF"/>
    <a:srgbClr val="015177"/>
    <a:srgbClr val="569BB7"/>
    <a:srgbClr val="FBFBF9"/>
    <a:srgbClr val="E5F8FC"/>
    <a:srgbClr val="FB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89664" autoAdjust="0"/>
  </p:normalViewPr>
  <p:slideViewPr>
    <p:cSldViewPr snapToGrid="0" snapToObjects="1">
      <p:cViewPr varScale="1">
        <p:scale>
          <a:sx n="67" d="100"/>
          <a:sy n="67" d="100"/>
        </p:scale>
        <p:origin x="4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47E2E-4D00-DD4B-82D2-51642C53473E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90853-00D7-EE41-97BA-C58887D98F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190853-00D7-EE41-97BA-C58887D98FD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382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5451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190853-00D7-EE41-97BA-C58887D98FD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270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981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9099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313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3538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0380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942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5100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114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938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6260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1749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4728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4534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2769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323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530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30587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679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56900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2165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036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7452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0201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3249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5388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16958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426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1DA159-8C46-D14C-81BA-8D42EE080F2F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3DD41E-CE1A-4E4F-8FF0-AF182B3827A0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2715E5-5DF8-324F-9197-AC0279D8ACAB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E3F13B-A4A8-CC42-96F6-0C9A72BBABF6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389B89-79D3-3A4C-B8B0-DF3B18D10923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98BF89-18BC-2346-9483-77A6B0895C12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37E932-1AC4-4345-81DE-BAD1E4CDB4FA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4A1277D-A285-2D4A-90F8-2F223B884169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B28FF4-7AD8-1040-9333-214180B00253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F73DDD-D213-DA48-806B-3F3E982D93CB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96EB26-374C-9C4C-8F81-11207399C0E6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0F0DB-0DF1-434A-A988-BF02432A0E2B}" type="datetimeFigureOut">
              <a:rPr lang="zh-CN" altLang="en-US" smtClean="0"/>
              <a:t>2023/6/6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8CAD4-29FA-7D43-8D55-3BBD87E2A94E}" type="datetime1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7653143-E863-EF4A-AD76-F0D47B28B7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492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57198"/>
            <a:ext cx="12192000" cy="471267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49898" y="2373794"/>
            <a:ext cx="11642102" cy="8617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第</a:t>
            </a:r>
            <a:r>
              <a:rPr lang="en-US" altLang="zh-CN" sz="5000" b="1" kern="2200" dirty="0">
                <a:latin typeface="等线" panose="02010600030101010101" charset="-122"/>
                <a:ea typeface="黑体" panose="02010609060101010101" pitchFamily="49" charset="-122"/>
              </a:rPr>
              <a:t>11</a:t>
            </a:r>
            <a:r>
              <a:rPr lang="zh-CN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章</a:t>
            </a:r>
            <a:r>
              <a:rPr lang="en-US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   </a:t>
            </a:r>
            <a:r>
              <a:rPr lang="zh-CN" altLang="en-US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网络、多媒体和数据库编程</a:t>
            </a:r>
            <a:endParaRPr lang="zh-CN" altLang="zh-CN" sz="5000" b="1" kern="2200" dirty="0">
              <a:effectLst/>
              <a:latin typeface="等线" panose="02010600030101010101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90598" y="1413386"/>
            <a:ext cx="4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AFAF9"/>
                </a:solidFill>
                <a:latin typeface="STHeiti" panose="02010600040101010101" pitchFamily="2" charset="-122"/>
                <a:ea typeface="STHeiti" panose="02010600040101010101" pitchFamily="2" charset="-122"/>
                <a:cs typeface="Brush Script MT" panose="03060802040406070304" pitchFamily="66" charset="-122"/>
              </a:rPr>
              <a:t>面向对象程序设计（</a:t>
            </a:r>
            <a:r>
              <a:rPr kumimoji="1" lang="en-US" altLang="zh-CN" sz="2800" dirty="0">
                <a:solidFill>
                  <a:srgbClr val="FAFAF9"/>
                </a:solidFill>
                <a:latin typeface="STHeiti" panose="02010600040101010101" pitchFamily="2" charset="-122"/>
                <a:ea typeface="STHeiti" panose="02010600040101010101" pitchFamily="2" charset="-122"/>
                <a:cs typeface="Brush Script MT" panose="03060802040406070304" pitchFamily="66" charset="-122"/>
              </a:rPr>
              <a:t>Java</a:t>
            </a:r>
            <a:r>
              <a:rPr kumimoji="1" lang="zh-CN" altLang="en-US" sz="2800" dirty="0">
                <a:solidFill>
                  <a:srgbClr val="FAFAF9"/>
                </a:solidFill>
                <a:latin typeface="STHeiti" panose="02010600040101010101" pitchFamily="2" charset="-122"/>
                <a:ea typeface="STHeiti" panose="02010600040101010101" pitchFamily="2" charset="-122"/>
                <a:cs typeface="Brush Script MT" panose="03060802040406070304" pitchFamily="66" charset="-122"/>
              </a:rPr>
              <a:t>）</a:t>
            </a:r>
          </a:p>
        </p:txBody>
      </p:sp>
      <p:pic>
        <p:nvPicPr>
          <p:cNvPr id="16" name="图片 15" descr="徽标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5" y="5792093"/>
            <a:ext cx="1077783" cy="1077783"/>
          </a:xfrm>
          <a:prstGeom prst="ellipse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2AB80FA-190C-40AA-B18E-BEFF9C4E4BEE}"/>
              </a:ext>
            </a:extLst>
          </p:cNvPr>
          <p:cNvSpPr txBox="1"/>
          <p:nvPr/>
        </p:nvSpPr>
        <p:spPr>
          <a:xfrm>
            <a:off x="3670155" y="3508745"/>
            <a:ext cx="6238836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主讲人：徐万山 博士</a:t>
            </a:r>
            <a:endParaRPr kumimoji="1"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联系方式：</a:t>
            </a:r>
            <a:r>
              <a:rPr kumimoji="1"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xws@cuc.edu.cn</a:t>
            </a:r>
            <a:endParaRPr kumimoji="1"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76C3CE-33EA-4F76-8F39-5CC4F4783BAA}"/>
              </a:ext>
            </a:extLst>
          </p:cNvPr>
          <p:cNvSpPr/>
          <p:nvPr/>
        </p:nvSpPr>
        <p:spPr>
          <a:xfrm>
            <a:off x="1154221" y="6445209"/>
            <a:ext cx="110377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编程语言让我们具备和计算机交流的能力！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BFBFA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BFBFA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-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 </a:t>
            </a:r>
            <a:fld id="{2CD999BA-BDFA-4140-AC7A-0BDAA6C7D057}" type="slidenum">
              <a:rPr kumimoji="1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-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5177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BFBFA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等线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BFBFA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BFBFA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5E5933-A9A5-F959-B329-1F7CD6ABD1BA}"/>
              </a:ext>
            </a:extLst>
          </p:cNvPr>
          <p:cNvSpPr txBox="1"/>
          <p:nvPr/>
        </p:nvSpPr>
        <p:spPr>
          <a:xfrm>
            <a:off x="893136" y="1257276"/>
            <a:ext cx="9860590" cy="111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1.</a:t>
            </a: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编写</a:t>
            </a:r>
            <a:r>
              <a:rPr lang="en-US" altLang="zh-CN" sz="28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JFrame</a:t>
            </a: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程序，包含三个标签，其背景分别为红、黄、蓝三色。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555E40-9807-3F8C-7BDB-44575DA35CCE}"/>
              </a:ext>
            </a:extLst>
          </p:cNvPr>
          <p:cNvSpPr txBox="1"/>
          <p:nvPr/>
        </p:nvSpPr>
        <p:spPr>
          <a:xfrm>
            <a:off x="1131501" y="2578123"/>
            <a:ext cx="3776855" cy="5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考察</a:t>
            </a:r>
            <a:r>
              <a:rPr lang="zh-CN" altLang="en-US" sz="2800" dirty="0">
                <a:solidFill>
                  <a:srgbClr val="FF0000"/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组件与布局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49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BF88BB-4E41-96F2-FA41-28707D766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262" y="1196459"/>
            <a:ext cx="8315325" cy="54768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54C53B2-375F-4E9C-C25A-ADB19CCAB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501" y="2719387"/>
            <a:ext cx="91916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8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BFBFA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BFBFA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-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 </a:t>
            </a:r>
            <a:fld id="{2CD999BA-BDFA-4140-AC7A-0BDAA6C7D057}" type="slidenum">
              <a:rPr kumimoji="1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5177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-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5177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BFBFA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等线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BFBFA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BFBFA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5E5933-A9A5-F959-B329-1F7CD6ABD1BA}"/>
              </a:ext>
            </a:extLst>
          </p:cNvPr>
          <p:cNvSpPr txBox="1"/>
          <p:nvPr/>
        </p:nvSpPr>
        <p:spPr>
          <a:xfrm>
            <a:off x="893135" y="1257276"/>
            <a:ext cx="10897499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、编写</a:t>
            </a:r>
            <a:r>
              <a:rPr lang="en-US" altLang="zh-CN" sz="2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JFrame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程序，包含一个标签、一个文本框和一个按钮，当用户单击按钮时，程序把文本框中的内容复制到标签中。</a:t>
            </a:r>
            <a:endParaRPr lang="en-US" altLang="zh-CN" sz="2400" dirty="0">
              <a:solidFill>
                <a:srgbClr val="5B9BD5">
                  <a:lumMod val="50000"/>
                </a:srgbClr>
              </a:solidFill>
              <a:latin typeface="Lucida Fax" panose="020606020505050202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8FEA38-B593-8230-588D-0BCF1E2E8DD1}"/>
              </a:ext>
            </a:extLst>
          </p:cNvPr>
          <p:cNvSpPr txBox="1"/>
          <p:nvPr/>
        </p:nvSpPr>
        <p:spPr>
          <a:xfrm>
            <a:off x="1084829" y="2525025"/>
            <a:ext cx="5971048" cy="5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考察组件、事件</a:t>
            </a:r>
            <a:endParaRPr lang="en-US" altLang="zh-CN" sz="2800" dirty="0">
              <a:solidFill>
                <a:srgbClr val="FF0000"/>
              </a:solidFill>
              <a:latin typeface="Lucida Fax" panose="0206060205050502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801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A4B11D-07E8-1C6B-6D44-031190993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433" y="1225444"/>
            <a:ext cx="6998217" cy="51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42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1EDF50-434F-0FB5-7AEA-3F5E215CB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940" y="1197770"/>
            <a:ext cx="4082522" cy="16692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200968-1EF2-5332-B31D-9E1CDA2CD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939" y="3200371"/>
            <a:ext cx="4111833" cy="166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567B2A-B0C4-2006-7552-471E0077FA8D}"/>
              </a:ext>
            </a:extLst>
          </p:cNvPr>
          <p:cNvSpPr txBox="1"/>
          <p:nvPr/>
        </p:nvSpPr>
        <p:spPr>
          <a:xfrm>
            <a:off x="1250432" y="1376405"/>
            <a:ext cx="9893817" cy="189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、编写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JFrame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程序实现一个计算器，包括十个数字（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0-9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）按钮和四个运算符（加、减、乘、除）按钮，以及等号和清空两个辅助按钮，还有一个显示输入输出的文本框。程序中使用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BorderLayout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GridLayout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49445A-C991-7542-CA45-1FEBDEFCE206}"/>
              </a:ext>
            </a:extLst>
          </p:cNvPr>
          <p:cNvSpPr txBox="1"/>
          <p:nvPr/>
        </p:nvSpPr>
        <p:spPr>
          <a:xfrm>
            <a:off x="1426988" y="3269274"/>
            <a:ext cx="5971048" cy="5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考察</a:t>
            </a:r>
            <a:r>
              <a:rPr lang="zh-CN" altLang="en-US" sz="2800" dirty="0">
                <a:solidFill>
                  <a:srgbClr val="FF0000"/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布局、事件、组件嵌套等</a:t>
            </a:r>
            <a:endParaRPr lang="en-US" altLang="zh-CN" sz="2800" dirty="0">
              <a:solidFill>
                <a:srgbClr val="FF0000"/>
              </a:solidFill>
              <a:latin typeface="Lucida Fax" panose="0206060205050502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29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4A19FE-7AE7-704D-2157-1D8A24D21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84" y="1183848"/>
            <a:ext cx="1186815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0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CA4327-68DB-4F03-6B11-44CFE3E0C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22" y="1225444"/>
            <a:ext cx="6555278" cy="49524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4B2B00-6E96-4AD3-C4F8-3F421661D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0182" y="1523916"/>
            <a:ext cx="6642441" cy="32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0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9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90AD66-301A-B54F-10D4-3F4FFFBD8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01" y="1273064"/>
            <a:ext cx="10646167" cy="505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4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10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74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59BBAE-9675-A35A-C3E5-C2316091E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01" y="1450918"/>
            <a:ext cx="9763445" cy="336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6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990755" y="1148825"/>
            <a:ext cx="3860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网络编程</a:t>
            </a:r>
          </a:p>
        </p:txBody>
      </p:sp>
      <p:sp>
        <p:nvSpPr>
          <p:cNvPr id="2" name="椭圆 1"/>
          <p:cNvSpPr/>
          <p:nvPr/>
        </p:nvSpPr>
        <p:spPr>
          <a:xfrm>
            <a:off x="7727159" y="-1455338"/>
            <a:ext cx="9143645" cy="9768675"/>
          </a:xfrm>
          <a:prstGeom prst="ellipse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0420353" y="1333443"/>
            <a:ext cx="4183306" cy="4191114"/>
          </a:xfrm>
          <a:prstGeom prst="ellipse">
            <a:avLst/>
          </a:prstGeom>
          <a:solidFill>
            <a:srgbClr val="FB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557996" y="212389"/>
            <a:ext cx="1292662" cy="56622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en-US" altLang="zh-CN" sz="7200" dirty="0">
                <a:solidFill>
                  <a:srgbClr val="FAFAF9"/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CONTENTS</a:t>
            </a:r>
            <a:endParaRPr kumimoji="1" lang="zh-CN" altLang="en-US" sz="7200" dirty="0">
              <a:solidFill>
                <a:srgbClr val="FAFAF9"/>
              </a:solidFill>
              <a:latin typeface="Britannic Bold" panose="020B090306070302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/>
        </p:nvPicPr>
        <p:blipFill rotWithShape="1">
          <a:blip r:embed="rId2"/>
          <a:srcRect t="81742" b="-162"/>
          <a:stretch>
            <a:fillRect/>
          </a:stretch>
        </p:blipFill>
        <p:spPr>
          <a:xfrm>
            <a:off x="1500682" y="5834411"/>
            <a:ext cx="3360022" cy="851421"/>
          </a:xfrm>
          <a:prstGeom prst="rect">
            <a:avLst/>
          </a:prstGeom>
          <a:effectLst>
            <a:outerShdw blurRad="38100" dir="5400000" algn="ctr" rotWithShape="0">
              <a:srgbClr val="000000">
                <a:alpha val="17000"/>
              </a:srgbClr>
            </a:outerShdw>
          </a:effectLst>
        </p:spPr>
      </p:pic>
      <p:pic>
        <p:nvPicPr>
          <p:cNvPr id="16" name="图片 15" descr="徽标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61" y="5834411"/>
            <a:ext cx="851421" cy="851421"/>
          </a:xfrm>
          <a:prstGeom prst="ellipse">
            <a:avLst/>
          </a:prstGeom>
          <a:effectLst>
            <a:outerShdw blurRad="38100" dir="5400000" algn="ctr" rotWithShape="0">
              <a:srgbClr val="000000">
                <a:alpha val="17000"/>
              </a:srgbClr>
            </a:outerShdw>
          </a:effectLst>
        </p:spPr>
      </p:pic>
      <p:cxnSp>
        <p:nvCxnSpPr>
          <p:cNvPr id="6" name="直线连接符 5"/>
          <p:cNvCxnSpPr/>
          <p:nvPr/>
        </p:nvCxnSpPr>
        <p:spPr>
          <a:xfrm>
            <a:off x="1290461" y="5834411"/>
            <a:ext cx="0" cy="851421"/>
          </a:xfrm>
          <a:prstGeom prst="line">
            <a:avLst/>
          </a:prstGeom>
          <a:ln w="12700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071340" y="1055049"/>
            <a:ext cx="1007993" cy="650257"/>
            <a:chOff x="1134965" y="914632"/>
            <a:chExt cx="1007993" cy="650257"/>
          </a:xfrm>
        </p:grpSpPr>
        <p:sp>
          <p:nvSpPr>
            <p:cNvPr id="17" name="椭圆 16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01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990754" y="1945146"/>
            <a:ext cx="4913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多媒体编程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990755" y="2754784"/>
            <a:ext cx="4744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数据库编程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071339" y="1844484"/>
            <a:ext cx="1007993" cy="650257"/>
            <a:chOff x="1134965" y="914632"/>
            <a:chExt cx="1007993" cy="650257"/>
          </a:xfrm>
        </p:grpSpPr>
        <p:sp>
          <p:nvSpPr>
            <p:cNvPr id="41" name="椭圆 40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2" name="椭圆 41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02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1338" y="2666174"/>
            <a:ext cx="1007993" cy="650257"/>
            <a:chOff x="1134965" y="914632"/>
            <a:chExt cx="1007993" cy="650257"/>
          </a:xfrm>
        </p:grpSpPr>
        <p:sp>
          <p:nvSpPr>
            <p:cNvPr id="45" name="椭圆 44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6" name="椭圆 45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03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6436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网络信息获取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72291-7745-2E03-08E1-162CDF453E5A}"/>
              </a:ext>
            </a:extLst>
          </p:cNvPr>
          <p:cNvSpPr txBox="1"/>
          <p:nvPr/>
        </p:nvSpPr>
        <p:spPr>
          <a:xfrm>
            <a:off x="1428749" y="1074226"/>
            <a:ext cx="10620374" cy="487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网络编程经常要使用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java.net</a:t>
            </a: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包中的一些类，其中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java.net.URL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类是对网络资源地址的表示进行。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：地址（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uniform resource locator 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tabLst/>
              <a:defRPr/>
            </a:pP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协议名：主机名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目录及文件名，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https://www.cuc.edu.cn/main.htm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通过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可以获取网页的内容，步骤如下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(1)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创建一个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类型的对象。</a:t>
            </a:r>
          </a:p>
          <a:p>
            <a:pPr marL="1600200" marR="0" lvl="3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= new URL( “http://www.dstang.com”);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(2)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利用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openStream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，获得对应的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InputStream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类的对象。</a:t>
            </a:r>
          </a:p>
          <a:p>
            <a:pPr marL="1600200" marR="0" lvl="3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InputStream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stream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url.openStream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();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(3)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通过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InputStream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或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InputStreamReader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来读取内容。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159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13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D7C20A-9F45-5978-A7B7-58C92014C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117135"/>
            <a:ext cx="1133475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749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947F-8E93-AF6C-BC19-9E665B576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483" y="1117135"/>
            <a:ext cx="9105900" cy="557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747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81F24E6-38B0-399E-BE5A-7B664D66E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1200735"/>
            <a:ext cx="10082212" cy="528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5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实现底层网络通信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C189AF-F2AE-FCE1-9D6C-532F5B41B85E}"/>
              </a:ext>
            </a:extLst>
          </p:cNvPr>
          <p:cNvSpPr txBox="1"/>
          <p:nvPr/>
        </p:nvSpPr>
        <p:spPr>
          <a:xfrm>
            <a:off x="809627" y="1094831"/>
            <a:ext cx="11239496" cy="517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底层通信就是用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程序实现网络通信协议所规定的功能，协议种类很多，主要讨论基于套接字（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Socket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编程。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套接字是基于</a:t>
            </a:r>
            <a:r>
              <a:rPr lang="en-US" altLang="zh-CN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TCP/IP</a:t>
            </a: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协议的编程接口，通信双方使用</a:t>
            </a:r>
            <a:r>
              <a:rPr lang="en-US" altLang="zh-CN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Socket</a:t>
            </a: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通信。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Socket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 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客户端要与服务端相连，则客户端需要建立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Socket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对象。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Socket  s = new Socket("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机器名或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",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端口号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)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然后使用流来进行通信，即基于连接的通信。通信开始前双方确认身份并建立一条连接通道，通过这条通道传送数据信息，通信结束时再将连接拆除。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Server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端建立一个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ServerSocket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对象，监听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Client</a:t>
            </a:r>
            <a:r>
              <a:rPr lang="zh-CN" altLang="en-US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端请求，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Client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向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Server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发出连接请求时，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lang="en-US" altLang="zh-CN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             </a:t>
            </a:r>
            <a:r>
              <a:rPr lang="en-US" altLang="zh-CN" sz="20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ServerSocket</a:t>
            </a:r>
            <a:r>
              <a:rPr lang="zh-CN" altLang="en-US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调用</a:t>
            </a:r>
            <a:r>
              <a:rPr lang="en-US" altLang="zh-CN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accept()</a:t>
            </a:r>
            <a:r>
              <a:rPr lang="zh-CN" altLang="en-US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方法接受请求，建立通信，利用流对象进行输入输出。</a:t>
            </a:r>
          </a:p>
        </p:txBody>
      </p:sp>
    </p:spTree>
    <p:extLst>
      <p:ext uri="{BB962C8B-B14F-4D97-AF65-F5344CB8AC3E}">
        <p14:creationId xmlns:p14="http://schemas.microsoft.com/office/powerpoint/2010/main" val="701710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实现底层网络通信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C189AF-F2AE-FCE1-9D6C-532F5B41B85E}"/>
              </a:ext>
            </a:extLst>
          </p:cNvPr>
          <p:cNvSpPr txBox="1"/>
          <p:nvPr/>
        </p:nvSpPr>
        <p:spPr>
          <a:xfrm>
            <a:off x="585633" y="1094831"/>
            <a:ext cx="11463489" cy="38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利用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getInputStream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getOutputStream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分别可以得到相关的输入流和输出流，用来读取或者写数据，实现与对方通信。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通信完毕，要使用</a:t>
            </a:r>
            <a:r>
              <a:rPr lang="en-US" altLang="zh-CN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close()</a:t>
            </a:r>
            <a:r>
              <a:rPr lang="zh-CN" altLang="en-US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方法关闭。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ServerSocket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 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需要调用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accept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方法接受客户呼叫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得到的又是一个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Socket,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它可以与客户进行通信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需要初始化一个端口进行监听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897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服务端程序示例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00B01D9-A44F-2621-FC80-07E9AA58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1180851"/>
            <a:ext cx="7452877" cy="549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333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19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客户端程序示例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7C69BE-A600-7375-B08C-A15332ABB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1266824"/>
            <a:ext cx="7686030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224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20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实现多线程服务器程序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97A2FF9-E282-7EB2-B291-3ACF422FA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2100263"/>
            <a:ext cx="8073607" cy="472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BEDC8A-AB6E-FEC1-10D1-85BE9BA1C872}"/>
              </a:ext>
            </a:extLst>
          </p:cNvPr>
          <p:cNvSpPr txBox="1"/>
          <p:nvPr/>
        </p:nvSpPr>
        <p:spPr>
          <a:xfrm>
            <a:off x="1428749" y="1076747"/>
            <a:ext cx="9867900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    为了同时对多个客户进行服务，需要利用多线程，每个线程针对一个客户进行服务。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817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21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实现多线程服务器程序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260637A-0BEA-B479-7A01-CF6F4AFEF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1091009"/>
            <a:ext cx="7079670" cy="568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075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kumimoji="1" lang="en-US" altLang="zh-CN" sz="4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HttpClient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D57D8E3-C391-0898-4708-33CCB5551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3552825"/>
            <a:ext cx="862012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1A810D-D31F-6BC5-6D3D-76D74BA56EA9}"/>
              </a:ext>
            </a:extLst>
          </p:cNvPr>
          <p:cNvSpPr txBox="1"/>
          <p:nvPr/>
        </p:nvSpPr>
        <p:spPr>
          <a:xfrm>
            <a:off x="1428749" y="1105244"/>
            <a:ext cx="9867900" cy="202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     除了使用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JDK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中所提供的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API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进行网络编程，还可以使用第三方提供的库。这些库一般是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jar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形式打包的，需要单独进行添加。</a:t>
            </a:r>
            <a:endParaRPr lang="en-US" altLang="zh-CN" sz="2400" dirty="0">
              <a:solidFill>
                <a:srgbClr val="5B9BD5">
                  <a:lumMod val="50000"/>
                </a:srgbClr>
              </a:solidFill>
              <a:latin typeface="Lucida Fax" panose="02060602050505020204" pitchFamily="18" charset="0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HTTPClient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是网络编程方面一个比较好的开源库，能够方便的获取网络中的信息。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https://hc.apache.org/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878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23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Java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图像编程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5C51FB-4707-37EA-1E58-D0BE6ED245E2}"/>
              </a:ext>
            </a:extLst>
          </p:cNvPr>
          <p:cNvSpPr txBox="1"/>
          <p:nvPr/>
        </p:nvSpPr>
        <p:spPr>
          <a:xfrm>
            <a:off x="1350486" y="1117135"/>
            <a:ext cx="9727087" cy="5467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中有很多便于图像编程的类，这些类存在于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java.awt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.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javax.swing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java.awt.image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等包中。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绘制图形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Graphics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  及其子类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Graphics2D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它相当于组件的绘图环境，利用它可以进行各种绘图操作。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获得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Graphics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对象常有两种方法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一是使用组件的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getGraphics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方法来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常用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Canvas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及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JComponent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对象来进行绘图。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600200" marR="0" lvl="3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可以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Override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Cavans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paint(Graphics g) </a:t>
            </a:r>
          </a:p>
          <a:p>
            <a:pPr marL="1600200" marR="0" lvl="3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或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JPanel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paintComponent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(Graphics g)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它们会带一个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Graphics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3433320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Graphics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的绘图方法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BF76A3-63A8-B4D2-F240-852BAF81ABC1}"/>
              </a:ext>
            </a:extLst>
          </p:cNvPr>
          <p:cNvSpPr txBox="1"/>
          <p:nvPr/>
        </p:nvSpPr>
        <p:spPr>
          <a:xfrm>
            <a:off x="55431" y="1246690"/>
            <a:ext cx="6421569" cy="511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画三维矩形	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draw3DRect(int x, int y, int width, int height,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boolean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raised)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画弧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drawArc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 x, int y, int width, int height, int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startAngle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int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arcAngle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画文字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drawBytes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(byte[] data, int offset, int length, int x, int y)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画文字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drawChars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(char[] data, int offset, int length, int x, int y)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画直线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 x1, int y1, int x2, int y2)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画椭圆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drawOval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 x, int y, int width, int height)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画多边形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drawPolygon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xPoints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int[]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yPoints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int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nPoints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画多边形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drawPolygon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(Polygon p)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画折线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drawPolyline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xPoints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int[]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yPoints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int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nPoints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画矩形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drawRect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 x, int y, int width, int height)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画圆角矩形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drawRoundRect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(int x, int y, int width, int height, int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arcWidth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 int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arcHeight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)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3ED03D-B202-4AFC-15AA-7D26E7BB1756}"/>
              </a:ext>
            </a:extLst>
          </p:cNvPr>
          <p:cNvSpPr txBox="1"/>
          <p:nvPr/>
        </p:nvSpPr>
        <p:spPr>
          <a:xfrm>
            <a:off x="6264317" y="1246690"/>
            <a:ext cx="5872252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画文字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drawString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AttributedCharacterIterator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iterator, int x, int y)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画文字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drawString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(String str, int x, int y)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画填充三维矩形	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fill3DRect(int x, int y, int width, int height,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boolean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raised)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画填充弧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fillArc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(int x, int y, int width, int height, int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startAngle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, int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arcAngle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画填充椭圆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fillOval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(int x, int y, int width, int height)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画填充多边形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fillPolygon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(int[]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xPoints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, int[]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yPoints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, int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nPoints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画填充多边形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fillPolygon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(Polygon p)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画填充矩形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fillRect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(int x, int y, int width, int height) 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画填充圆角矩形	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fillRoundRect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(int x, int y, int width, int height, int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arcWidth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, int </a:t>
            </a:r>
            <a:r>
              <a:rPr lang="en-US" altLang="zh-CN" sz="1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arcHeight</a:t>
            </a:r>
            <a:r>
              <a:rPr lang="en-US" altLang="zh-CN" sz="1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ulim" panose="020B0600000101010101" pitchFamily="34" charset="-127"/>
              <a:ea typeface="Gulim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921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几个辅助类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2287CF-96A2-2865-30FF-AC54763860B8}"/>
              </a:ext>
            </a:extLst>
          </p:cNvPr>
          <p:cNvSpPr txBox="1"/>
          <p:nvPr/>
        </p:nvSpPr>
        <p:spPr>
          <a:xfrm>
            <a:off x="1378742" y="1230145"/>
            <a:ext cx="8961033" cy="410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Point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表示一个位置点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Dimension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表示宽和高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Rectangle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表示一个矩形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Polygon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表示一个多边形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Color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表示颜色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Font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表示字体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myFont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＝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new Font(“Times New Roman”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Font.BOLD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12)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；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98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图像生成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A9C530-FCCE-116A-7C0E-E89BC7096128}"/>
              </a:ext>
            </a:extLst>
          </p:cNvPr>
          <p:cNvSpPr txBox="1"/>
          <p:nvPr/>
        </p:nvSpPr>
        <p:spPr>
          <a:xfrm>
            <a:off x="167121" y="1117135"/>
            <a:ext cx="8098629" cy="377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BufferedImage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类是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Image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的子类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BufferedImage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getGraphics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可以得到一个绘图对象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ImageIO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read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及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write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sng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JpegCreate.java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创建一个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BufferedImage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使用该对象的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getGraphics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得到绘图对象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Graphics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drawLine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方法来画图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保存为文件，或供其他对象绘制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ACD6834-892A-4F4F-5702-9A0BAB3A6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484" y="4348965"/>
            <a:ext cx="7351302" cy="262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2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图像生成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1B8AFB-D211-7951-065B-C237F53D7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49" y="1067088"/>
            <a:ext cx="8445504" cy="526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97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图像生成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41995A-4214-4C5D-B305-9DB2629D7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657" y="1285835"/>
            <a:ext cx="9939702" cy="21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75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29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Java Media API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47A75E-8D62-415D-ECE8-A90D24790C71}"/>
              </a:ext>
            </a:extLst>
          </p:cNvPr>
          <p:cNvSpPr txBox="1"/>
          <p:nvPr/>
        </p:nvSpPr>
        <p:spPr>
          <a:xfrm>
            <a:off x="1250432" y="1117135"/>
            <a:ext cx="10632930" cy="412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JavaMedia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API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中提供与多媒体相关的程序包。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包括</a:t>
            </a:r>
            <a:endParaRPr kumimoji="0" lang="en-US" altLang="zh-CN" sz="2400" b="0" i="0" u="sng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Advanced Imaging (JAI)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3D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Media Framework (JMF)</a:t>
            </a:r>
          </a:p>
          <a:p>
            <a:pPr marL="0" lvl="1">
              <a:lnSpc>
                <a:spcPct val="125000"/>
              </a:lnSpc>
              <a:spcBef>
                <a:spcPts val="500"/>
              </a:spcBef>
              <a:buClr>
                <a:srgbClr val="ED7D31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JavaMedia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API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中关于音视频的功能在 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JMF 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 Media Framework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）中，功能包括：媒体捕获、压缩、回放，以及对各种主要媒体形式和编码的支持，如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M-JPEG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H.263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MP3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等。</a:t>
            </a:r>
            <a:endParaRPr lang="en-US" altLang="zh-CN" sz="2400" dirty="0">
              <a:solidFill>
                <a:srgbClr val="5B9BD5">
                  <a:lumMod val="50000"/>
                </a:srgbClr>
              </a:solidFill>
              <a:latin typeface="Lucida Fax" panose="0206060205050502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212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30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Java Media API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47A75E-8D62-415D-ECE8-A90D24790C71}"/>
              </a:ext>
            </a:extLst>
          </p:cNvPr>
          <p:cNvSpPr txBox="1"/>
          <p:nvPr/>
        </p:nvSpPr>
        <p:spPr>
          <a:xfrm>
            <a:off x="167121" y="1117135"/>
            <a:ext cx="11716241" cy="412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JavaMedia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API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中提供与多媒体相关的程序包。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包括</a:t>
            </a:r>
            <a:endParaRPr kumimoji="0" lang="en-US" altLang="zh-CN" sz="2400" b="0" i="0" u="sng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Advanced Imaging (JAI)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3D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Media Framework (JMF)</a:t>
            </a:r>
          </a:p>
          <a:p>
            <a:pPr marL="0" lvl="1">
              <a:lnSpc>
                <a:spcPct val="125000"/>
              </a:lnSpc>
              <a:spcBef>
                <a:spcPts val="500"/>
              </a:spcBef>
              <a:buClr>
                <a:srgbClr val="ED7D31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JavaMedia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 API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中关于音视频的功能在 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JMF 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Java Media Framework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）中，功能包括：媒体捕获、压缩、回放，以及对各种主要媒体形式和编码的支持，如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M-JPEG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H.263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MP3</a:t>
            </a:r>
            <a:r>
              <a:rPr lang="zh-CN" altLang="en-US" sz="24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等。</a:t>
            </a:r>
            <a:endParaRPr lang="en-US" altLang="zh-CN" sz="2400" dirty="0">
              <a:solidFill>
                <a:srgbClr val="5B9BD5">
                  <a:lumMod val="50000"/>
                </a:srgbClr>
              </a:solidFill>
              <a:latin typeface="Lucida Fax" panose="0206060205050502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9511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31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432" y="347311"/>
            <a:ext cx="735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播放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MP3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0" y="335281"/>
            <a:ext cx="1428749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59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11-2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AFA030-7814-C3A0-21A0-9C8F9CBA3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49" y="1276238"/>
            <a:ext cx="5880402" cy="21527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BFFB86-8A98-05A9-5C40-BFB52860D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255" y="2856788"/>
            <a:ext cx="5626389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21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E0MGY2MmRjMzQ4ZGEwZGFkZGFiOTQyNWY0ZWJhMGIifQ=="/>
  <p:tag name="KSO_WPP_MARK_KEY" val="2544fb57-86b5-4c1f-8ac2-b4014d9f084f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20216</TotalTime>
  <Words>1674</Words>
  <Application>Microsoft Office PowerPoint</Application>
  <PresentationFormat>宽屏</PresentationFormat>
  <Paragraphs>251</Paragraphs>
  <Slides>32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Gulim</vt:lpstr>
      <vt:lpstr>STHeiti</vt:lpstr>
      <vt:lpstr>等线</vt:lpstr>
      <vt:lpstr>等线 Light</vt:lpstr>
      <vt:lpstr>华文新魏</vt:lpstr>
      <vt:lpstr>Arial</vt:lpstr>
      <vt:lpstr>Britannic Bold</vt:lpstr>
      <vt:lpstr>Daytona</vt:lpstr>
      <vt:lpstr>Lucida Fax</vt:lpstr>
      <vt:lpstr>Wingdings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yezi</dc:creator>
  <cp:lastModifiedBy>Xu Wanshan</cp:lastModifiedBy>
  <cp:revision>993</cp:revision>
  <dcterms:created xsi:type="dcterms:W3CDTF">2022-07-09T00:52:00Z</dcterms:created>
  <dcterms:modified xsi:type="dcterms:W3CDTF">2023-06-06T08:08:19Z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E89A335D74454976A3833BB351C318CD</vt:lpwstr>
  </property>
  <property fmtid="{D5CDD505-2E9C-101B-9397-08002B2CF9AE}" pid="3" name="KSOProductBuildVer">
    <vt:lpwstr>2052-11.1.0.12358</vt:lpwstr>
  </property>
</Properties>
</file>
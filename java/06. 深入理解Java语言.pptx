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  <p:sldMasterId id="2147483660" r:id="rId2"/>
  </p:sldMasterIdLst>
  <p:notesMasterIdLst>
    <p:notesMasterId r:id="rId42"/>
  </p:notesMasterIdLst>
  <p:sldIdLst>
    <p:sldId id="437" r:id="rId3"/>
    <p:sldId id="380" r:id="rId4"/>
    <p:sldId id="472" r:id="rId5"/>
    <p:sldId id="473" r:id="rId6"/>
    <p:sldId id="513" r:id="rId7"/>
    <p:sldId id="514" r:id="rId8"/>
    <p:sldId id="515" r:id="rId9"/>
    <p:sldId id="516" r:id="rId10"/>
    <p:sldId id="475" r:id="rId11"/>
    <p:sldId id="476" r:id="rId12"/>
    <p:sldId id="444" r:id="rId13"/>
    <p:sldId id="517" r:id="rId14"/>
    <p:sldId id="445" r:id="rId15"/>
    <p:sldId id="518" r:id="rId16"/>
    <p:sldId id="519" r:id="rId17"/>
    <p:sldId id="521" r:id="rId18"/>
    <p:sldId id="523" r:id="rId19"/>
    <p:sldId id="524" r:id="rId20"/>
    <p:sldId id="525" r:id="rId21"/>
    <p:sldId id="526" r:id="rId22"/>
    <p:sldId id="527" r:id="rId23"/>
    <p:sldId id="528" r:id="rId24"/>
    <p:sldId id="529" r:id="rId25"/>
    <p:sldId id="530" r:id="rId26"/>
    <p:sldId id="531" r:id="rId27"/>
    <p:sldId id="532" r:id="rId28"/>
    <p:sldId id="533" r:id="rId29"/>
    <p:sldId id="534" r:id="rId30"/>
    <p:sldId id="535" r:id="rId31"/>
    <p:sldId id="536" r:id="rId32"/>
    <p:sldId id="537" r:id="rId33"/>
    <p:sldId id="538" r:id="rId34"/>
    <p:sldId id="539" r:id="rId35"/>
    <p:sldId id="540" r:id="rId36"/>
    <p:sldId id="541" r:id="rId37"/>
    <p:sldId id="542" r:id="rId38"/>
    <p:sldId id="543" r:id="rId39"/>
    <p:sldId id="544" r:id="rId40"/>
    <p:sldId id="545" r:id="rId41"/>
  </p:sldIdLst>
  <p:sldSz cx="12192000" cy="6858000"/>
  <p:notesSz cx="6858000" cy="9144000"/>
  <p:custDataLst>
    <p:tags r:id="rId4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是 杰哥啊" initials="是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5D27"/>
    <a:srgbClr val="D9EEF2"/>
    <a:srgbClr val="FFD084"/>
    <a:srgbClr val="FAFAF9"/>
    <a:srgbClr val="FFFFFF"/>
    <a:srgbClr val="015177"/>
    <a:srgbClr val="569BB7"/>
    <a:srgbClr val="FBFBF9"/>
    <a:srgbClr val="E5F8FC"/>
    <a:srgbClr val="FBFB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76" autoAdjust="0"/>
    <p:restoredTop sz="89664" autoAdjust="0"/>
  </p:normalViewPr>
  <p:slideViewPr>
    <p:cSldViewPr snapToGrid="0" snapToObjects="1">
      <p:cViewPr varScale="1">
        <p:scale>
          <a:sx n="60" d="100"/>
          <a:sy n="60" d="100"/>
        </p:scale>
        <p:origin x="836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gs" Target="tags/tag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A47E2E-4D00-DD4B-82D2-51642C53473E}" type="datetimeFigureOut">
              <a:rPr kumimoji="1" lang="zh-CN" altLang="en-US" smtClean="0"/>
              <a:t>2023/4/3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190853-00D7-EE41-97BA-C58887D98FD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627944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320597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82577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867633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922402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157964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460660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396168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60176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447344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470066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83823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609736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21603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658669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734002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89556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6402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987734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622880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23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054798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24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8500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25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497681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26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359526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27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505940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28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1143631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29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489607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30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28003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31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3525087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32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9419083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33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0590174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34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5042772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35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9148148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36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4431277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37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0074245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90853-00D7-EE41-97BA-C58887D98FD7}" type="slidenum">
              <a:rPr kumimoji="1" lang="zh-CN" altLang="en-US" smtClean="0"/>
              <a:t>38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9461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0F0DB-0DF1-434A-A988-BF02432A0E2B}" type="datetimeFigureOut">
              <a:rPr lang="zh-CN" altLang="en-US" smtClean="0"/>
              <a:t>2023/4/3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C19E1-9C4E-4D58-94CB-50C3EFF4B3E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0F0DB-0DF1-434A-A988-BF02432A0E2B}" type="datetimeFigureOut">
              <a:rPr lang="zh-CN" altLang="en-US" smtClean="0"/>
              <a:t>2023/4/3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C19E1-9C4E-4D58-94CB-50C3EFF4B3E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0F0DB-0DF1-434A-A988-BF02432A0E2B}" type="datetimeFigureOut">
              <a:rPr lang="zh-CN" altLang="en-US" smtClean="0"/>
              <a:t>2023/4/3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C19E1-9C4E-4D58-94CB-50C3EFF4B3E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0F0DB-0DF1-434A-A988-BF02432A0E2B}" type="datetimeFigureOut">
              <a:rPr lang="zh-CN" altLang="en-US" smtClean="0"/>
              <a:t>2023/4/3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C19E1-9C4E-4D58-94CB-50C3EFF4B3E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0F0DB-0DF1-434A-A988-BF02432A0E2B}" type="datetimeFigureOut">
              <a:rPr lang="zh-CN" altLang="en-US" smtClean="0"/>
              <a:t>2023/4/3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C19E1-9C4E-4D58-94CB-50C3EFF4B3E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0F0DB-0DF1-434A-A988-BF02432A0E2B}" type="datetimeFigureOut">
              <a:rPr lang="zh-CN" altLang="en-US" smtClean="0"/>
              <a:t>2023/4/3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C19E1-9C4E-4D58-94CB-50C3EFF4B3E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0F0DB-0DF1-434A-A988-BF02432A0E2B}" type="datetimeFigureOut">
              <a:rPr lang="zh-CN" altLang="en-US" smtClean="0"/>
              <a:t>2023/4/3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C19E1-9C4E-4D58-94CB-50C3EFF4B3E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0F0DB-0DF1-434A-A988-BF02432A0E2B}" type="datetimeFigureOut">
              <a:rPr lang="zh-CN" altLang="en-US" smtClean="0"/>
              <a:t>2023/4/3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C19E1-9C4E-4D58-94CB-50C3EFF4B3E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0F0DB-0DF1-434A-A988-BF02432A0E2B}" type="datetimeFigureOut">
              <a:rPr lang="zh-CN" altLang="en-US" smtClean="0"/>
              <a:t>2023/4/3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C19E1-9C4E-4D58-94CB-50C3EFF4B3E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0F0DB-0DF1-434A-A988-BF02432A0E2B}" type="datetimeFigureOut">
              <a:rPr lang="zh-CN" altLang="en-US" smtClean="0"/>
              <a:t>2023/4/3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C19E1-9C4E-4D58-94CB-50C3EFF4B3E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0F0DB-0DF1-434A-A988-BF02432A0E2B}" type="datetimeFigureOut">
              <a:rPr lang="zh-CN" altLang="en-US" smtClean="0"/>
              <a:t>2023/4/3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C19E1-9C4E-4D58-94CB-50C3EFF4B3E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1DA159-8C46-D14C-81BA-8D42EE080F2F}" type="datetime1">
              <a:rPr kumimoji="1" lang="zh-CN" altLang="en-US" smtClean="0"/>
              <a:t>2023/4/3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913967-5A25-E04D-9A2D-4E4F70803475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13DD41E-CE1A-4E4F-8FF0-AF182B3827A0}" type="datetime1">
              <a:rPr kumimoji="1" lang="zh-CN" altLang="en-US" smtClean="0"/>
              <a:t>2023/4/3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913967-5A25-E04D-9A2D-4E4F7080347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12715E5-5DF8-324F-9197-AC0279D8ACAB}" type="datetime1">
              <a:rPr kumimoji="1" lang="zh-CN" altLang="en-US" smtClean="0"/>
              <a:t>2023/4/3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913967-5A25-E04D-9A2D-4E4F7080347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FE3F13B-A4A8-CC42-96F6-0C9A72BBABF6}" type="datetime1">
              <a:rPr kumimoji="1" lang="zh-CN" altLang="en-US" smtClean="0"/>
              <a:t>2023/4/3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913967-5A25-E04D-9A2D-4E4F7080347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389B89-79D3-3A4C-B8B0-DF3B18D10923}" type="datetime1">
              <a:rPr kumimoji="1" lang="zh-CN" altLang="en-US" smtClean="0"/>
              <a:t>2023/4/3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913967-5A25-E04D-9A2D-4E4F7080347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98BF89-18BC-2346-9483-77A6B0895C12}" type="datetime1">
              <a:rPr kumimoji="1" lang="zh-CN" altLang="en-US" smtClean="0"/>
              <a:t>2023/4/3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913967-5A25-E04D-9A2D-4E4F7080347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E37E932-1AC4-4345-81DE-BAD1E4CDB4FA}" type="datetime1">
              <a:rPr kumimoji="1" lang="zh-CN" altLang="en-US" smtClean="0"/>
              <a:t>2023/4/3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913967-5A25-E04D-9A2D-4E4F7080347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4A1277D-A285-2D4A-90F8-2F223B884169}" type="datetime1">
              <a:rPr kumimoji="1" lang="zh-CN" altLang="en-US" smtClean="0"/>
              <a:t>2023/4/3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913967-5A25-E04D-9A2D-4E4F7080347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FB28FF4-7AD8-1040-9333-214180B00253}" type="datetime1">
              <a:rPr kumimoji="1" lang="zh-CN" altLang="en-US" smtClean="0"/>
              <a:t>2023/4/3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913967-5A25-E04D-9A2D-4E4F7080347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3F73DDD-D213-DA48-806B-3F3E982D93CB}" type="datetime1">
              <a:rPr kumimoji="1" lang="zh-CN" altLang="en-US" smtClean="0"/>
              <a:t>2023/4/3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913967-5A25-E04D-9A2D-4E4F7080347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96EB26-374C-9C4C-8F81-11207399C0E6}" type="datetime1">
              <a:rPr kumimoji="1" lang="zh-CN" altLang="en-US" smtClean="0"/>
              <a:t>2023/4/3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913967-5A25-E04D-9A2D-4E4F7080347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0F0DB-0DF1-434A-A988-BF02432A0E2B}" type="datetimeFigureOut">
              <a:rPr lang="zh-CN" altLang="en-US" smtClean="0"/>
              <a:t>2023/4/3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4C19E1-9C4E-4D58-94CB-50C3EFF4B3E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8CAD4-29FA-7D43-8D55-3BBD87E2A94E}" type="datetime1">
              <a:rPr kumimoji="1" lang="zh-CN" altLang="en-US" smtClean="0"/>
              <a:t>2023/4/3</a:t>
            </a:fld>
            <a:endParaRPr kumimoji="1"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7653143-E863-EF4A-AD76-F0D47B28B7F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2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2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2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349256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2157198"/>
            <a:ext cx="12192000" cy="4712678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549898" y="2373794"/>
            <a:ext cx="11642102" cy="86177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11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zh-CN" sz="5000" b="1" kern="2200" dirty="0">
                <a:effectLst/>
                <a:latin typeface="等线" panose="02010600030101010101" charset="-122"/>
                <a:ea typeface="黑体" panose="02010609060101010101" pitchFamily="49" charset="-122"/>
              </a:rPr>
              <a:t>第</a:t>
            </a:r>
            <a:r>
              <a:rPr lang="en-US" altLang="zh-CN" sz="5000" b="1" kern="2200" dirty="0">
                <a:effectLst/>
                <a:latin typeface="等线" panose="02010600030101010101" charset="-122"/>
                <a:ea typeface="黑体" panose="02010609060101010101" pitchFamily="49" charset="-122"/>
              </a:rPr>
              <a:t>5</a:t>
            </a:r>
            <a:r>
              <a:rPr lang="zh-CN" altLang="zh-CN" sz="5000" b="1" kern="2200" dirty="0">
                <a:effectLst/>
                <a:latin typeface="等线" panose="02010600030101010101" charset="-122"/>
                <a:ea typeface="黑体" panose="02010609060101010101" pitchFamily="49" charset="-122"/>
              </a:rPr>
              <a:t>章</a:t>
            </a:r>
            <a:r>
              <a:rPr lang="en-US" altLang="zh-CN" sz="5000" b="1" kern="2200" dirty="0">
                <a:effectLst/>
                <a:latin typeface="等线" panose="02010600030101010101" charset="-122"/>
                <a:ea typeface="黑体" panose="02010609060101010101" pitchFamily="49" charset="-122"/>
              </a:rPr>
              <a:t>   </a:t>
            </a:r>
            <a:r>
              <a:rPr lang="zh-CN" altLang="en-US" sz="5000" b="1" kern="2200" dirty="0">
                <a:effectLst/>
                <a:latin typeface="等线" panose="02010600030101010101" charset="-122"/>
                <a:ea typeface="黑体" panose="02010609060101010101" pitchFamily="49" charset="-122"/>
              </a:rPr>
              <a:t>深入理解</a:t>
            </a:r>
            <a:r>
              <a:rPr lang="en-US" altLang="zh-CN" sz="5000" b="1" kern="2200" dirty="0">
                <a:effectLst/>
                <a:latin typeface="等线" panose="02010600030101010101" charset="-122"/>
                <a:ea typeface="黑体" panose="02010609060101010101" pitchFamily="49" charset="-122"/>
              </a:rPr>
              <a:t>Java</a:t>
            </a:r>
            <a:r>
              <a:rPr lang="zh-CN" altLang="en-US" sz="5000" b="1" kern="2200" dirty="0">
                <a:effectLst/>
                <a:latin typeface="等线" panose="02010600030101010101" charset="-122"/>
                <a:ea typeface="黑体" panose="02010609060101010101" pitchFamily="49" charset="-122"/>
              </a:rPr>
              <a:t>语言</a:t>
            </a:r>
            <a:endParaRPr lang="zh-CN" altLang="zh-CN" sz="5000" b="1" kern="2200" dirty="0">
              <a:effectLst/>
              <a:latin typeface="等线" panose="02010600030101010101" charset="-122"/>
              <a:ea typeface="黑体" panose="02010609060101010101" pitchFamily="49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590598" y="1413386"/>
            <a:ext cx="42670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rgbClr val="FAFAF9"/>
                </a:solidFill>
                <a:latin typeface="STHeiti" panose="02010600040101010101" pitchFamily="2" charset="-122"/>
                <a:ea typeface="STHeiti" panose="02010600040101010101" pitchFamily="2" charset="-122"/>
                <a:cs typeface="Brush Script MT" panose="03060802040406070304" pitchFamily="66" charset="-122"/>
              </a:rPr>
              <a:t>面向对象程序设计（</a:t>
            </a:r>
            <a:r>
              <a:rPr kumimoji="1" lang="en-US" altLang="zh-CN" sz="2800" dirty="0">
                <a:solidFill>
                  <a:srgbClr val="FAFAF9"/>
                </a:solidFill>
                <a:latin typeface="STHeiti" panose="02010600040101010101" pitchFamily="2" charset="-122"/>
                <a:ea typeface="STHeiti" panose="02010600040101010101" pitchFamily="2" charset="-122"/>
                <a:cs typeface="Brush Script MT" panose="03060802040406070304" pitchFamily="66" charset="-122"/>
              </a:rPr>
              <a:t>Java</a:t>
            </a:r>
            <a:r>
              <a:rPr kumimoji="1" lang="zh-CN" altLang="en-US" sz="2800" dirty="0">
                <a:solidFill>
                  <a:srgbClr val="FAFAF9"/>
                </a:solidFill>
                <a:latin typeface="STHeiti" panose="02010600040101010101" pitchFamily="2" charset="-122"/>
                <a:ea typeface="STHeiti" panose="02010600040101010101" pitchFamily="2" charset="-122"/>
                <a:cs typeface="Brush Script MT" panose="03060802040406070304" pitchFamily="66" charset="-122"/>
              </a:rPr>
              <a:t>）</a:t>
            </a:r>
          </a:p>
        </p:txBody>
      </p:sp>
      <p:pic>
        <p:nvPicPr>
          <p:cNvPr id="16" name="图片 15" descr="徽标&#10;&#10;描述已自动生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75" y="5792093"/>
            <a:ext cx="1077783" cy="1077783"/>
          </a:xfrm>
          <a:prstGeom prst="ellipse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2AB80FA-190C-40AA-B18E-BEFF9C4E4BEE}"/>
              </a:ext>
            </a:extLst>
          </p:cNvPr>
          <p:cNvSpPr txBox="1"/>
          <p:nvPr/>
        </p:nvSpPr>
        <p:spPr>
          <a:xfrm>
            <a:off x="3670155" y="3508745"/>
            <a:ext cx="6238836" cy="1308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主讲人：徐万山 博士</a:t>
            </a:r>
            <a:endParaRPr kumimoji="1" lang="en-US" altLang="zh-CN" sz="2800" dirty="0">
              <a:solidFill>
                <a:schemeClr val="tx1">
                  <a:lumMod val="75000"/>
                  <a:lumOff val="25000"/>
                </a:schemeClr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联系方式：</a:t>
            </a:r>
            <a:r>
              <a:rPr kumimoji="1"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xws@cuc.edu.cn</a:t>
            </a:r>
            <a:endParaRPr kumimoji="1"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B76C3CE-33EA-4F76-8F39-5CC4F4783BAA}"/>
              </a:ext>
            </a:extLst>
          </p:cNvPr>
          <p:cNvSpPr/>
          <p:nvPr/>
        </p:nvSpPr>
        <p:spPr>
          <a:xfrm>
            <a:off x="1154221" y="6445209"/>
            <a:ext cx="110377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编程语言让我们具备和计算机交流的能力！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1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122" y="347311"/>
            <a:ext cx="6730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课程</a:t>
            </a:r>
            <a:r>
              <a:rPr kumimoji="1" lang="zh-CN" altLang="en-US" sz="2800" b="1" dirty="0"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概   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作业回顾</a:t>
            </a:r>
            <a:endParaRPr kumimoji="1"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1" y="335281"/>
            <a:ext cx="1250432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2F680C1-B5C6-304A-6224-1C8293B0C9CB}"/>
              </a:ext>
            </a:extLst>
          </p:cNvPr>
          <p:cNvSpPr txBox="1"/>
          <p:nvPr/>
        </p:nvSpPr>
        <p:spPr>
          <a:xfrm>
            <a:off x="445090" y="1254072"/>
            <a:ext cx="1130990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、使用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Java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语言实现以下功能：</a:t>
            </a:r>
          </a:p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）定义一个抽象类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Shape,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包含两个方法：获取图形的名称</a:t>
            </a:r>
            <a:r>
              <a:rPr lang="en-US" altLang="zh-CN" sz="24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getName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、获得图形的面积</a:t>
            </a:r>
            <a:r>
              <a:rPr lang="en-US" altLang="zh-CN" sz="24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getArea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</a:p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）创建圆形和矩形的类，都继承自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Shape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，定义所有属性均为私有，并定义所有属性的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get/set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方法；</a:t>
            </a:r>
          </a:p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）通过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set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方法输入圆形和矩形的参数（如名称、半径、长、宽等），实现获得面积的抽象方法，输出图形名称和面积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61E6C43-5AD5-F3BB-0F7C-B21FD7C8D1F9}"/>
              </a:ext>
            </a:extLst>
          </p:cNvPr>
          <p:cNvSpPr txBox="1"/>
          <p:nvPr/>
        </p:nvSpPr>
        <p:spPr>
          <a:xfrm>
            <a:off x="445090" y="4136014"/>
            <a:ext cx="61980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考查抽象类、抽象方法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E5AFB9F-12CD-0BE0-877E-3ED27B76A9E3}"/>
              </a:ext>
            </a:extLst>
          </p:cNvPr>
          <p:cNvSpPr txBox="1"/>
          <p:nvPr/>
        </p:nvSpPr>
        <p:spPr>
          <a:xfrm>
            <a:off x="494922" y="5693279"/>
            <a:ext cx="61980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考查抽象类的继承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305F066-0275-3B6E-2305-94AACF9E3421}"/>
              </a:ext>
            </a:extLst>
          </p:cNvPr>
          <p:cNvSpPr txBox="1"/>
          <p:nvPr/>
        </p:nvSpPr>
        <p:spPr>
          <a:xfrm>
            <a:off x="445090" y="4678761"/>
            <a:ext cx="61980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考查类的属性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set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get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方法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B796BCE-4D73-62E4-C921-204D32DCE8E6}"/>
              </a:ext>
            </a:extLst>
          </p:cNvPr>
          <p:cNvSpPr txBox="1"/>
          <p:nvPr/>
        </p:nvSpPr>
        <p:spPr>
          <a:xfrm>
            <a:off x="494922" y="5186020"/>
            <a:ext cx="61980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考查访问控制符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2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122" y="347311"/>
            <a:ext cx="6730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课程</a:t>
            </a:r>
            <a:r>
              <a:rPr kumimoji="1" lang="zh-CN" altLang="en-US" sz="2800" b="1" dirty="0"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概   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作业回顾</a:t>
            </a:r>
            <a:endParaRPr kumimoji="1"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1" y="335281"/>
            <a:ext cx="1250432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9034194-AFB9-5DB8-EF65-EFA2B71313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549" y="1729642"/>
            <a:ext cx="7019925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8346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3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122" y="347311"/>
            <a:ext cx="6730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课程</a:t>
            </a:r>
            <a:r>
              <a:rPr kumimoji="1" lang="zh-CN" altLang="en-US" sz="2800" b="1" dirty="0"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概   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作业回顾</a:t>
            </a:r>
            <a:endParaRPr kumimoji="1"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1" y="335281"/>
            <a:ext cx="1250432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617060F-02E0-3FBA-EF2E-7CC0652630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3513" y="1076747"/>
            <a:ext cx="6915150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757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4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122" y="347311"/>
            <a:ext cx="6730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课程</a:t>
            </a:r>
            <a:r>
              <a:rPr kumimoji="1" lang="zh-CN" altLang="en-US" sz="2800" b="1" dirty="0"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概   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作业回顾</a:t>
            </a:r>
            <a:endParaRPr kumimoji="1"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1" y="335281"/>
            <a:ext cx="1250432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1ECE1D2-7E36-0A35-18C4-E70E3F4DA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3283" y="1164615"/>
            <a:ext cx="7198120" cy="5324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5338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5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122" y="347311"/>
            <a:ext cx="6730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课程</a:t>
            </a:r>
            <a:r>
              <a:rPr kumimoji="1" lang="zh-CN" altLang="en-US" sz="2800" b="1" dirty="0"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概   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作业回顾</a:t>
            </a:r>
            <a:endParaRPr kumimoji="1"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1" y="335281"/>
            <a:ext cx="1250432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5275304-41E6-8C22-A0D6-E880A8195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6042" y="1349117"/>
            <a:ext cx="6419850" cy="290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5282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6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122" y="347311"/>
            <a:ext cx="6730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课程</a:t>
            </a:r>
            <a:r>
              <a:rPr kumimoji="1" lang="zh-CN" altLang="en-US" sz="2800" b="1" dirty="0"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概   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作业回顾</a:t>
            </a:r>
            <a:endParaRPr kumimoji="1"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1" y="335281"/>
            <a:ext cx="1250432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5C4AD163-D8DC-5E5A-7409-DA24CDCF61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501" y="1198599"/>
            <a:ext cx="9648825" cy="418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2792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7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122" y="347311"/>
            <a:ext cx="6730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课程</a:t>
            </a:r>
            <a:r>
              <a:rPr kumimoji="1" lang="zh-CN" altLang="en-US" sz="2800" b="1" dirty="0"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概   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作业回顾</a:t>
            </a:r>
            <a:endParaRPr kumimoji="1"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1" y="335281"/>
            <a:ext cx="1250432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2F680C1-B5C6-304A-6224-1C8293B0C9CB}"/>
              </a:ext>
            </a:extLst>
          </p:cNvPr>
          <p:cNvSpPr txBox="1"/>
          <p:nvPr/>
        </p:nvSpPr>
        <p:spPr>
          <a:xfrm>
            <a:off x="445090" y="1254072"/>
            <a:ext cx="1130990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、运动员和演员</a:t>
            </a:r>
          </a:p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）分析演员和运动员的公共成员，提取出父类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—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人类</a:t>
            </a:r>
          </a:p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）利用继承机制，实现演员类和运动员类</a:t>
            </a:r>
          </a:p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）定义两个接口，分别表示“会演话剧的”、“会打篮球的”</a:t>
            </a:r>
          </a:p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）运动员类继承“会打篮球的”，演员类继承“会演话剧的”、“会打篮球的”</a:t>
            </a:r>
          </a:p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）编写测试类，分别测试人类，演员类和运动员类对象及相关方法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61E6C43-5AD5-F3BB-0F7C-B21FD7C8D1F9}"/>
              </a:ext>
            </a:extLst>
          </p:cNvPr>
          <p:cNvSpPr txBox="1"/>
          <p:nvPr/>
        </p:nvSpPr>
        <p:spPr>
          <a:xfrm>
            <a:off x="445090" y="3874299"/>
            <a:ext cx="61980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考查接口定义、继承、实现</a:t>
            </a:r>
          </a:p>
        </p:txBody>
      </p:sp>
    </p:spTree>
    <p:extLst>
      <p:ext uri="{BB962C8B-B14F-4D97-AF65-F5344CB8AC3E}">
        <p14:creationId xmlns:p14="http://schemas.microsoft.com/office/powerpoint/2010/main" val="638468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8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122" y="347311"/>
            <a:ext cx="6730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课程</a:t>
            </a:r>
            <a:r>
              <a:rPr kumimoji="1" lang="zh-CN" altLang="en-US" sz="2800" b="1" dirty="0"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概   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作业回顾</a:t>
            </a:r>
            <a:endParaRPr kumimoji="1"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1" y="335281"/>
            <a:ext cx="1250432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34E104F-7744-05FE-EECF-D04B0DAC5A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1993" y="2061497"/>
            <a:ext cx="5286375" cy="1076325"/>
          </a:xfrm>
          <a:prstGeom prst="rect">
            <a:avLst/>
          </a:prstGeom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3B04ECF6-4ED1-4BCC-2F2D-A34E3A3665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1993" y="3720179"/>
            <a:ext cx="5229225" cy="1095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4EB170D-562A-4512-2864-0299B75E073C}"/>
              </a:ext>
            </a:extLst>
          </p:cNvPr>
          <p:cNvSpPr txBox="1"/>
          <p:nvPr/>
        </p:nvSpPr>
        <p:spPr>
          <a:xfrm>
            <a:off x="950747" y="1279868"/>
            <a:ext cx="61980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接口定义：</a:t>
            </a:r>
          </a:p>
        </p:txBody>
      </p:sp>
    </p:spTree>
    <p:extLst>
      <p:ext uri="{BB962C8B-B14F-4D97-AF65-F5344CB8AC3E}">
        <p14:creationId xmlns:p14="http://schemas.microsoft.com/office/powerpoint/2010/main" val="2867895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9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122" y="347311"/>
            <a:ext cx="6730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课程</a:t>
            </a:r>
            <a:r>
              <a:rPr kumimoji="1" lang="zh-CN" altLang="en-US" sz="2800" b="1" dirty="0"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概   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作业回顾</a:t>
            </a:r>
            <a:endParaRPr kumimoji="1"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1" y="335281"/>
            <a:ext cx="1250432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4B441818-08EB-61F7-6D88-4FA4C22301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0433" y="1052826"/>
            <a:ext cx="8352780" cy="5787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1860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990755" y="212389"/>
            <a:ext cx="3860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rgbClr val="FF0000"/>
                </a:solidFill>
                <a:latin typeface="Daytona" panose="020F0502020204030204" pitchFamily="34" charset="0"/>
                <a:ea typeface="STHeiti" panose="02010600040101010101" pitchFamily="2" charset="-122"/>
                <a:cs typeface="Daytona" panose="020F0502020204030204" pitchFamily="34" charset="0"/>
              </a:rPr>
              <a:t>变量及其传递</a:t>
            </a:r>
          </a:p>
        </p:txBody>
      </p:sp>
      <p:sp>
        <p:nvSpPr>
          <p:cNvPr id="2" name="椭圆 1"/>
          <p:cNvSpPr/>
          <p:nvPr/>
        </p:nvSpPr>
        <p:spPr>
          <a:xfrm>
            <a:off x="7727159" y="-1455338"/>
            <a:ext cx="9143645" cy="9768675"/>
          </a:xfrm>
          <a:prstGeom prst="ellipse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10420353" y="1333443"/>
            <a:ext cx="4183306" cy="4191114"/>
          </a:xfrm>
          <a:prstGeom prst="ellipse">
            <a:avLst/>
          </a:prstGeom>
          <a:solidFill>
            <a:srgbClr val="FBFB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557996" y="212389"/>
            <a:ext cx="1292662" cy="566224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kumimoji="1" lang="en-US" altLang="zh-CN" sz="7200" dirty="0">
                <a:solidFill>
                  <a:srgbClr val="FAFAF9"/>
                </a:solidFill>
                <a:latin typeface="Britannic Bold" panose="020B0903060703020204" pitchFamily="34" charset="0"/>
                <a:ea typeface="仿宋" panose="02010609060101010101" pitchFamily="49" charset="-122"/>
                <a:cs typeface="Times New Roman" panose="02020603050405020304" pitchFamily="18" charset="0"/>
              </a:rPr>
              <a:t>CONTENTS</a:t>
            </a:r>
            <a:endParaRPr kumimoji="1" lang="zh-CN" altLang="en-US" sz="7200" dirty="0">
              <a:solidFill>
                <a:srgbClr val="FAFAF9"/>
              </a:solidFill>
              <a:latin typeface="Britannic Bold" panose="020B0903060703020204" pitchFamily="34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4" name="图片 13" descr="徽标&#10;&#10;描述已自动生成"/>
          <p:cNvPicPr>
            <a:picLocks noChangeAspect="1"/>
          </p:cNvPicPr>
          <p:nvPr/>
        </p:nvPicPr>
        <p:blipFill rotWithShape="1">
          <a:blip r:embed="rId2"/>
          <a:srcRect t="81742" b="-162"/>
          <a:stretch>
            <a:fillRect/>
          </a:stretch>
        </p:blipFill>
        <p:spPr>
          <a:xfrm>
            <a:off x="1500682" y="5834411"/>
            <a:ext cx="3360022" cy="851421"/>
          </a:xfrm>
          <a:prstGeom prst="rect">
            <a:avLst/>
          </a:prstGeom>
          <a:effectLst>
            <a:outerShdw blurRad="38100" dir="5400000" algn="ctr" rotWithShape="0">
              <a:srgbClr val="000000">
                <a:alpha val="17000"/>
              </a:srgbClr>
            </a:outerShdw>
          </a:effectLst>
        </p:spPr>
      </p:pic>
      <p:pic>
        <p:nvPicPr>
          <p:cNvPr id="16" name="图片 15" descr="徽标&#10;&#10;描述已自动生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661" y="5834411"/>
            <a:ext cx="851421" cy="851421"/>
          </a:xfrm>
          <a:prstGeom prst="ellipse">
            <a:avLst/>
          </a:prstGeom>
          <a:effectLst>
            <a:outerShdw blurRad="38100" dir="5400000" algn="ctr" rotWithShape="0">
              <a:srgbClr val="000000">
                <a:alpha val="17000"/>
              </a:srgbClr>
            </a:outerShdw>
          </a:effectLst>
        </p:spPr>
      </p:pic>
      <p:cxnSp>
        <p:nvCxnSpPr>
          <p:cNvPr id="6" name="直线连接符 5"/>
          <p:cNvCxnSpPr/>
          <p:nvPr/>
        </p:nvCxnSpPr>
        <p:spPr>
          <a:xfrm>
            <a:off x="1290461" y="5834411"/>
            <a:ext cx="0" cy="851421"/>
          </a:xfrm>
          <a:prstGeom prst="line">
            <a:avLst/>
          </a:prstGeom>
          <a:ln w="12700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/>
        </p:nvGrpSpPr>
        <p:grpSpPr>
          <a:xfrm>
            <a:off x="1071340" y="118613"/>
            <a:ext cx="1007993" cy="650257"/>
            <a:chOff x="1134965" y="914632"/>
            <a:chExt cx="1007993" cy="650257"/>
          </a:xfrm>
        </p:grpSpPr>
        <p:sp>
          <p:nvSpPr>
            <p:cNvPr id="17" name="椭圆 16"/>
            <p:cNvSpPr/>
            <p:nvPr/>
          </p:nvSpPr>
          <p:spPr>
            <a:xfrm>
              <a:off x="1358382" y="1048833"/>
              <a:ext cx="498102" cy="516056"/>
            </a:xfrm>
            <a:prstGeom prst="ellipse">
              <a:avLst/>
            </a:prstGeom>
            <a:solidFill>
              <a:srgbClr val="0151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3" name="椭圆 12"/>
            <p:cNvSpPr/>
            <p:nvPr/>
          </p:nvSpPr>
          <p:spPr>
            <a:xfrm>
              <a:off x="1303925" y="1006019"/>
              <a:ext cx="607015" cy="516056"/>
            </a:xfrm>
            <a:prstGeom prst="ellipse">
              <a:avLst/>
            </a:prstGeom>
            <a:solidFill>
              <a:srgbClr val="FBFBF9"/>
            </a:solidFill>
            <a:ln>
              <a:noFill/>
            </a:ln>
            <a:effectLst>
              <a:outerShdw blurRad="254000" dist="101600" dir="5400000" sx="70000" sy="70000" algn="ctr" rotWithShape="0">
                <a:srgbClr val="000000">
                  <a:alpha val="1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134965" y="914632"/>
              <a:ext cx="10079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ritannic Bold" panose="020B0903060703020204" pitchFamily="34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01</a:t>
              </a:r>
              <a:endParaRPr kumimoji="1" lang="zh-CN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ritannic Bold" panose="020B0903060703020204" pitchFamily="34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1990754" y="1008710"/>
            <a:ext cx="49132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rgbClr val="FF0000"/>
                </a:solidFill>
                <a:latin typeface="Daytona" panose="020F0502020204030204" pitchFamily="34" charset="0"/>
                <a:ea typeface="STHeiti" panose="02010600040101010101" pitchFamily="2" charset="-122"/>
                <a:cs typeface="Daytona" panose="020F0502020204030204" pitchFamily="34" charset="0"/>
              </a:rPr>
              <a:t>多态和虚方法调用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1990755" y="1818348"/>
            <a:ext cx="4744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rgbClr val="FF0000"/>
                </a:solidFill>
                <a:latin typeface="Daytona" panose="020F0502020204030204" pitchFamily="34" charset="0"/>
                <a:ea typeface="STHeiti" panose="02010600040101010101" pitchFamily="2" charset="-122"/>
                <a:cs typeface="Daytona" panose="020F0502020204030204" pitchFamily="34" charset="0"/>
              </a:rPr>
              <a:t>对象构造与初始化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2025706" y="2619349"/>
            <a:ext cx="48782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rgbClr val="FF0000"/>
                </a:solidFill>
                <a:latin typeface="Daytona" panose="020F0502020204030204" pitchFamily="34" charset="0"/>
                <a:ea typeface="STHeiti" panose="02010600040101010101" pitchFamily="2" charset="-122"/>
                <a:cs typeface="Daytona" panose="020F0502020204030204" pitchFamily="34" charset="0"/>
              </a:rPr>
              <a:t>对象清除与垃圾回收</a:t>
            </a:r>
          </a:p>
        </p:txBody>
      </p:sp>
      <p:grpSp>
        <p:nvGrpSpPr>
          <p:cNvPr id="40" name="组合 39"/>
          <p:cNvGrpSpPr/>
          <p:nvPr/>
        </p:nvGrpSpPr>
        <p:grpSpPr>
          <a:xfrm>
            <a:off x="1071339" y="908048"/>
            <a:ext cx="1007993" cy="650257"/>
            <a:chOff x="1134965" y="914632"/>
            <a:chExt cx="1007993" cy="650257"/>
          </a:xfrm>
        </p:grpSpPr>
        <p:sp>
          <p:nvSpPr>
            <p:cNvPr id="41" name="椭圆 40"/>
            <p:cNvSpPr/>
            <p:nvPr/>
          </p:nvSpPr>
          <p:spPr>
            <a:xfrm>
              <a:off x="1358382" y="1048833"/>
              <a:ext cx="498102" cy="516056"/>
            </a:xfrm>
            <a:prstGeom prst="ellipse">
              <a:avLst/>
            </a:prstGeom>
            <a:solidFill>
              <a:srgbClr val="0151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42" name="椭圆 41"/>
            <p:cNvSpPr/>
            <p:nvPr/>
          </p:nvSpPr>
          <p:spPr>
            <a:xfrm>
              <a:off x="1303925" y="1006019"/>
              <a:ext cx="607015" cy="516056"/>
            </a:xfrm>
            <a:prstGeom prst="ellipse">
              <a:avLst/>
            </a:prstGeom>
            <a:solidFill>
              <a:srgbClr val="FBFBF9"/>
            </a:solidFill>
            <a:ln>
              <a:noFill/>
            </a:ln>
            <a:effectLst>
              <a:outerShdw blurRad="254000" dist="101600" dir="5400000" sx="70000" sy="70000" algn="ctr" rotWithShape="0">
                <a:srgbClr val="000000">
                  <a:alpha val="1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1134965" y="914632"/>
              <a:ext cx="10079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ritannic Bold" panose="020B0903060703020204" pitchFamily="34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02</a:t>
              </a:r>
              <a:endParaRPr kumimoji="1" lang="zh-CN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ritannic Bold" panose="020B0903060703020204" pitchFamily="34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1071338" y="1729738"/>
            <a:ext cx="1007993" cy="650257"/>
            <a:chOff x="1134965" y="914632"/>
            <a:chExt cx="1007993" cy="650257"/>
          </a:xfrm>
        </p:grpSpPr>
        <p:sp>
          <p:nvSpPr>
            <p:cNvPr id="45" name="椭圆 44"/>
            <p:cNvSpPr/>
            <p:nvPr/>
          </p:nvSpPr>
          <p:spPr>
            <a:xfrm>
              <a:off x="1358382" y="1048833"/>
              <a:ext cx="498102" cy="516056"/>
            </a:xfrm>
            <a:prstGeom prst="ellipse">
              <a:avLst/>
            </a:prstGeom>
            <a:solidFill>
              <a:srgbClr val="0151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46" name="椭圆 45"/>
            <p:cNvSpPr/>
            <p:nvPr/>
          </p:nvSpPr>
          <p:spPr>
            <a:xfrm>
              <a:off x="1303925" y="1006019"/>
              <a:ext cx="607015" cy="516056"/>
            </a:xfrm>
            <a:prstGeom prst="ellipse">
              <a:avLst/>
            </a:prstGeom>
            <a:solidFill>
              <a:srgbClr val="FBFBF9"/>
            </a:solidFill>
            <a:ln>
              <a:noFill/>
            </a:ln>
            <a:effectLst>
              <a:outerShdw blurRad="254000" dist="101600" dir="5400000" sx="70000" sy="70000" algn="ctr" rotWithShape="0">
                <a:srgbClr val="000000">
                  <a:alpha val="1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134965" y="914632"/>
              <a:ext cx="10079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ritannic Bold" panose="020B0903060703020204" pitchFamily="34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03</a:t>
              </a:r>
              <a:endParaRPr kumimoji="1" lang="zh-CN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ritannic Bold" panose="020B0903060703020204" pitchFamily="34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1071338" y="2551202"/>
            <a:ext cx="1007993" cy="650257"/>
            <a:chOff x="1134965" y="914632"/>
            <a:chExt cx="1007993" cy="650257"/>
          </a:xfrm>
        </p:grpSpPr>
        <p:sp>
          <p:nvSpPr>
            <p:cNvPr id="49" name="椭圆 48"/>
            <p:cNvSpPr/>
            <p:nvPr/>
          </p:nvSpPr>
          <p:spPr>
            <a:xfrm>
              <a:off x="1358382" y="1048833"/>
              <a:ext cx="498102" cy="516056"/>
            </a:xfrm>
            <a:prstGeom prst="ellipse">
              <a:avLst/>
            </a:prstGeom>
            <a:solidFill>
              <a:srgbClr val="0151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50" name="椭圆 49"/>
            <p:cNvSpPr/>
            <p:nvPr/>
          </p:nvSpPr>
          <p:spPr>
            <a:xfrm>
              <a:off x="1303925" y="1006019"/>
              <a:ext cx="607015" cy="516056"/>
            </a:xfrm>
            <a:prstGeom prst="ellipse">
              <a:avLst/>
            </a:prstGeom>
            <a:solidFill>
              <a:srgbClr val="FBFBF9"/>
            </a:solidFill>
            <a:ln>
              <a:noFill/>
            </a:ln>
            <a:effectLst>
              <a:outerShdw blurRad="254000" dist="101600" dir="5400000" sx="70000" sy="70000" algn="ctr" rotWithShape="0">
                <a:srgbClr val="000000">
                  <a:alpha val="1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1134965" y="914632"/>
              <a:ext cx="10079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Britannic Bold" panose="020B0903060703020204" pitchFamily="34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04</a:t>
              </a:r>
              <a:endParaRPr kumimoji="1" lang="zh-CN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ritannic Bold" panose="020B0903060703020204" pitchFamily="34" charset="0"/>
                <a:ea typeface="仿宋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26685129-2EE6-846F-0A0B-22B20D9B7982}"/>
              </a:ext>
            </a:extLst>
          </p:cNvPr>
          <p:cNvSpPr txBox="1"/>
          <p:nvPr/>
        </p:nvSpPr>
        <p:spPr>
          <a:xfrm>
            <a:off x="1065669" y="3338700"/>
            <a:ext cx="10079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ritannic Bold" panose="020B0903060703020204" pitchFamily="34" charset="0"/>
                <a:ea typeface="仿宋" panose="02010609060101010101" pitchFamily="49" charset="-122"/>
                <a:cs typeface="Times New Roman" panose="02020603050405020304" pitchFamily="18" charset="0"/>
              </a:rPr>
              <a:t>05</a:t>
            </a:r>
            <a:endParaRPr kumimoji="1" lang="zh-CN" altLang="en-US" sz="3600" b="1" dirty="0">
              <a:solidFill>
                <a:schemeClr val="tx1">
                  <a:lumMod val="75000"/>
                  <a:lumOff val="25000"/>
                </a:schemeClr>
              </a:solidFill>
              <a:latin typeface="Britannic Bold" panose="020B0903060703020204" pitchFamily="34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F0138B3-4B61-3178-8F56-0132CC26281F}"/>
              </a:ext>
            </a:extLst>
          </p:cNvPr>
          <p:cNvSpPr txBox="1"/>
          <p:nvPr/>
        </p:nvSpPr>
        <p:spPr>
          <a:xfrm>
            <a:off x="1990755" y="3450400"/>
            <a:ext cx="487827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内部类与匿名类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761652-490C-ACC1-D493-F531F6FDAC29}"/>
              </a:ext>
            </a:extLst>
          </p:cNvPr>
          <p:cNvSpPr txBox="1"/>
          <p:nvPr/>
        </p:nvSpPr>
        <p:spPr>
          <a:xfrm>
            <a:off x="1065668" y="4044805"/>
            <a:ext cx="10079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ritannic Bold" panose="020B0903060703020204" pitchFamily="34" charset="0"/>
                <a:ea typeface="仿宋" panose="02010609060101010101" pitchFamily="49" charset="-122"/>
                <a:cs typeface="Times New Roman" panose="02020603050405020304" pitchFamily="18" charset="0"/>
              </a:rPr>
              <a:t>06</a:t>
            </a:r>
            <a:endParaRPr kumimoji="1" lang="zh-CN" altLang="en-US" sz="3600" b="1" dirty="0">
              <a:solidFill>
                <a:schemeClr val="tx1">
                  <a:lumMod val="75000"/>
                  <a:lumOff val="25000"/>
                </a:schemeClr>
              </a:solidFill>
              <a:latin typeface="Britannic Bold" panose="020B0903060703020204" pitchFamily="34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FC05074-4970-5311-F51A-3FA2D90EB016}"/>
              </a:ext>
            </a:extLst>
          </p:cNvPr>
          <p:cNvSpPr txBox="1"/>
          <p:nvPr/>
        </p:nvSpPr>
        <p:spPr>
          <a:xfrm>
            <a:off x="2036129" y="4160164"/>
            <a:ext cx="487827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dirty="0">
                <a:latin typeface="Lucida Fax" panose="02060602050505020204" pitchFamily="18" charset="0"/>
                <a:ea typeface="微软雅黑" panose="020B0503020204020204" pitchFamily="34" charset="-122"/>
              </a:rPr>
              <a:t>Lambda</a:t>
            </a:r>
            <a:r>
              <a:rPr lang="zh-CN" altLang="en-US" sz="2600" dirty="0">
                <a:latin typeface="Lucida Fax" panose="02060602050505020204" pitchFamily="18" charset="0"/>
                <a:ea typeface="微软雅黑" panose="020B0503020204020204" pitchFamily="34" charset="-122"/>
              </a:rPr>
              <a:t>表达式</a:t>
            </a:r>
            <a:endParaRPr kumimoji="1" lang="zh-CN" altLang="en-US" sz="2800" dirty="0">
              <a:latin typeface="Daytona" panose="020F0502020204030204" pitchFamily="34" charset="0"/>
              <a:ea typeface="STHeiti" panose="02010600040101010101" pitchFamily="2" charset="-122"/>
              <a:cs typeface="Daytona" panose="020F050202020403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19167C1-E914-AFF7-0343-3F133064AE1E}"/>
              </a:ext>
            </a:extLst>
          </p:cNvPr>
          <p:cNvSpPr txBox="1"/>
          <p:nvPr/>
        </p:nvSpPr>
        <p:spPr>
          <a:xfrm>
            <a:off x="1071341" y="4747873"/>
            <a:ext cx="10079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ritannic Bold" panose="020B0903060703020204" pitchFamily="34" charset="0"/>
                <a:ea typeface="仿宋" panose="02010609060101010101" pitchFamily="49" charset="-122"/>
                <a:cs typeface="Times New Roman" panose="02020603050405020304" pitchFamily="18" charset="0"/>
              </a:rPr>
              <a:t>07</a:t>
            </a:r>
            <a:endParaRPr kumimoji="1" lang="zh-CN" altLang="en-US" sz="3600" b="1" dirty="0">
              <a:solidFill>
                <a:schemeClr val="tx1">
                  <a:lumMod val="75000"/>
                  <a:lumOff val="25000"/>
                </a:schemeClr>
              </a:solidFill>
              <a:latin typeface="Britannic Bold" panose="020B0903060703020204" pitchFamily="34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DF0B283-E055-5955-D0CC-5374123616E3}"/>
              </a:ext>
            </a:extLst>
          </p:cNvPr>
          <p:cNvSpPr txBox="1"/>
          <p:nvPr/>
        </p:nvSpPr>
        <p:spPr>
          <a:xfrm>
            <a:off x="1996427" y="4859573"/>
            <a:ext cx="487827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装箱、枚举、注解</a:t>
            </a:r>
          </a:p>
        </p:txBody>
      </p:sp>
    </p:spTree>
    <p:extLst>
      <p:ext uri="{BB962C8B-B14F-4D97-AF65-F5344CB8AC3E}">
        <p14:creationId xmlns:p14="http://schemas.microsoft.com/office/powerpoint/2010/main" val="2436436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11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122" y="347311"/>
            <a:ext cx="6730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课程</a:t>
            </a:r>
            <a:r>
              <a:rPr kumimoji="1" lang="zh-CN" altLang="en-US" sz="2800" b="1" dirty="0"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概   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变量及传递</a:t>
            </a:r>
            <a:endParaRPr kumimoji="1"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1" y="335281"/>
            <a:ext cx="1250432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2504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5-1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3C719DA-B598-952F-7E39-8EFB100C399E}"/>
              </a:ext>
            </a:extLst>
          </p:cNvPr>
          <p:cNvSpPr txBox="1"/>
          <p:nvPr/>
        </p:nvSpPr>
        <p:spPr>
          <a:xfrm>
            <a:off x="641724" y="2206133"/>
            <a:ext cx="10596207" cy="2984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基本类型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(primitive type)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：其值直接存于变量中。“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在这里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”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引用型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(reference type)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的变量（对象、数组、接口等）除占据一定的内存空间外，它所引用的对象实体（由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new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创建）也要占据一定空间。“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在那里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”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2FFD84E-4842-8341-B6D3-83EFA126B6A4}"/>
              </a:ext>
            </a:extLst>
          </p:cNvPr>
          <p:cNvSpPr txBox="1"/>
          <p:nvPr/>
        </p:nvSpPr>
        <p:spPr>
          <a:xfrm>
            <a:off x="748050" y="1491814"/>
            <a:ext cx="5642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基本类型变量和引用类型变量</a:t>
            </a:r>
          </a:p>
        </p:txBody>
      </p:sp>
    </p:spTree>
    <p:extLst>
      <p:ext uri="{BB962C8B-B14F-4D97-AF65-F5344CB8AC3E}">
        <p14:creationId xmlns:p14="http://schemas.microsoft.com/office/powerpoint/2010/main" val="80358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12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122" y="347311"/>
            <a:ext cx="6730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课程</a:t>
            </a:r>
            <a:r>
              <a:rPr kumimoji="1" lang="zh-CN" altLang="en-US" sz="2800" b="1" dirty="0"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概   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变量及传递</a:t>
            </a:r>
            <a:endParaRPr kumimoji="1"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1" y="335281"/>
            <a:ext cx="1250432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2504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5-1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Oval 4">
            <a:extLst>
              <a:ext uri="{FF2B5EF4-FFF2-40B4-BE49-F238E27FC236}">
                <a16:creationId xmlns:a16="http://schemas.microsoft.com/office/drawing/2014/main" id="{F95BC316-3DA3-C8AF-9827-13C26BF4A1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835" y="2060574"/>
            <a:ext cx="2732986" cy="3097213"/>
          </a:xfrm>
          <a:prstGeom prst="ellipse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79C006EA-696A-AFCB-F6F7-AB7DA2248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2770" y="2997199"/>
            <a:ext cx="1008063" cy="360363"/>
          </a:xfrm>
          <a:prstGeom prst="rect">
            <a:avLst/>
          </a:prstGeom>
          <a:solidFill>
            <a:srgbClr val="5B9BD5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8BA784FE-5DDE-AF63-F639-E4BC11E90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0833" y="2997199"/>
            <a:ext cx="720725" cy="288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rPr>
              <a:t>day</a:t>
            </a:r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7B6F179F-87D8-5CA9-5CF9-8946A43F6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2770" y="3357561"/>
            <a:ext cx="1008063" cy="360362"/>
          </a:xfrm>
          <a:prstGeom prst="rect">
            <a:avLst/>
          </a:prstGeom>
          <a:solidFill>
            <a:srgbClr val="5B9BD5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CFDA924D-18A2-27CB-B33F-53FA889C1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2770" y="3717924"/>
            <a:ext cx="1008063" cy="360363"/>
          </a:xfrm>
          <a:prstGeom prst="rect">
            <a:avLst/>
          </a:prstGeom>
          <a:solidFill>
            <a:srgbClr val="5B9BD5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931990DB-15C8-1776-5A7B-0D0A77170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0833" y="3357562"/>
            <a:ext cx="1296987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rPr>
              <a:t>month</a:t>
            </a:r>
          </a:p>
        </p:txBody>
      </p:sp>
      <p:sp>
        <p:nvSpPr>
          <p:cNvPr id="23" name="Rectangle 11">
            <a:extLst>
              <a:ext uri="{FF2B5EF4-FFF2-40B4-BE49-F238E27FC236}">
                <a16:creationId xmlns:a16="http://schemas.microsoft.com/office/drawing/2014/main" id="{F42FE894-6593-408B-E2CA-24349D453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8405" y="3789362"/>
            <a:ext cx="720725" cy="288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rPr>
              <a:t>year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97CC3225-776D-1046-72D6-E86E5F27FD78}"/>
              </a:ext>
            </a:extLst>
          </p:cNvPr>
          <p:cNvCxnSpPr/>
          <p:nvPr/>
        </p:nvCxnSpPr>
        <p:spPr>
          <a:xfrm flipV="1">
            <a:off x="3907716" y="3312133"/>
            <a:ext cx="2816363" cy="215901"/>
          </a:xfrm>
          <a:prstGeom prst="straightConnector1">
            <a:avLst/>
          </a:prstGeom>
          <a:noFill/>
          <a:ln w="69850" cap="flat" cmpd="sng" algn="ctr">
            <a:solidFill>
              <a:srgbClr val="FF0000"/>
            </a:solidFill>
            <a:prstDash val="solid"/>
            <a:miter lim="800000"/>
            <a:tailEnd type="arrow"/>
          </a:ln>
          <a:effectLst/>
        </p:spPr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72AFF86E-FA36-CA87-0ABC-A9DBF1A8F95C}"/>
              </a:ext>
            </a:extLst>
          </p:cNvPr>
          <p:cNvCxnSpPr/>
          <p:nvPr/>
        </p:nvCxnSpPr>
        <p:spPr>
          <a:xfrm flipV="1">
            <a:off x="3907716" y="3632015"/>
            <a:ext cx="2816363" cy="508000"/>
          </a:xfrm>
          <a:prstGeom prst="straightConnector1">
            <a:avLst/>
          </a:prstGeom>
          <a:noFill/>
          <a:ln w="69850" cap="flat" cmpd="sng" algn="ctr">
            <a:solidFill>
              <a:srgbClr val="FF0000"/>
            </a:solidFill>
            <a:prstDash val="solid"/>
            <a:miter lim="800000"/>
            <a:tailEnd type="arrow"/>
          </a:ln>
          <a:effectLst/>
        </p:spPr>
      </p:cxnSp>
      <p:sp>
        <p:nvSpPr>
          <p:cNvPr id="26" name="Line 12">
            <a:extLst>
              <a:ext uri="{FF2B5EF4-FFF2-40B4-BE49-F238E27FC236}">
                <a16:creationId xmlns:a16="http://schemas.microsoft.com/office/drawing/2014/main" id="{708831EB-8982-40B2-7D06-80013D9592C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4515" y="2196121"/>
            <a:ext cx="0" cy="3887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Line 13">
            <a:extLst>
              <a:ext uri="{FF2B5EF4-FFF2-40B4-BE49-F238E27FC236}">
                <a16:creationId xmlns:a16="http://schemas.microsoft.com/office/drawing/2014/main" id="{6BB31407-FC57-A60F-34C8-F833B42D011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70777" y="2196121"/>
            <a:ext cx="0" cy="3887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Line 14">
            <a:extLst>
              <a:ext uri="{FF2B5EF4-FFF2-40B4-BE49-F238E27FC236}">
                <a16:creationId xmlns:a16="http://schemas.microsoft.com/office/drawing/2014/main" id="{AC66B9C9-81F2-1273-3409-879F3851FA8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4515" y="3780446"/>
            <a:ext cx="5762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Line 15">
            <a:extLst>
              <a:ext uri="{FF2B5EF4-FFF2-40B4-BE49-F238E27FC236}">
                <a16:creationId xmlns:a16="http://schemas.microsoft.com/office/drawing/2014/main" id="{2BAB2DE2-D918-89CF-D084-CCB5575A1B5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4515" y="3275621"/>
            <a:ext cx="5762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Line 16">
            <a:extLst>
              <a:ext uri="{FF2B5EF4-FFF2-40B4-BE49-F238E27FC236}">
                <a16:creationId xmlns:a16="http://schemas.microsoft.com/office/drawing/2014/main" id="{6CC54E1B-F2B8-7599-73E6-8FDD37EC2BE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4515" y="4355121"/>
            <a:ext cx="5762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Text Box 17">
            <a:extLst>
              <a:ext uri="{FF2B5EF4-FFF2-40B4-BE49-F238E27FC236}">
                <a16:creationId xmlns:a16="http://schemas.microsoft.com/office/drawing/2014/main" id="{2C5C31C3-929C-52F5-CA4D-EB5297D58E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766" y="3235934"/>
            <a:ext cx="5238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/>
              <a:t>m</a:t>
            </a:r>
          </a:p>
        </p:txBody>
      </p:sp>
      <p:sp>
        <p:nvSpPr>
          <p:cNvPr id="33" name="Text Box 18">
            <a:extLst>
              <a:ext uri="{FF2B5EF4-FFF2-40B4-BE49-F238E27FC236}">
                <a16:creationId xmlns:a16="http://schemas.microsoft.com/office/drawing/2014/main" id="{281B9C9F-F6C4-B87B-C398-F462B1FEC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765" y="3866172"/>
            <a:ext cx="450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42831282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13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122" y="347311"/>
            <a:ext cx="6730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课程</a:t>
            </a:r>
            <a:r>
              <a:rPr kumimoji="1" lang="zh-CN" altLang="en-US" sz="2800" b="1" dirty="0"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概   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变量及传递</a:t>
            </a:r>
            <a:endParaRPr kumimoji="1"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1" y="335281"/>
            <a:ext cx="1250432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2504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5-1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43ABB44-4F78-932B-C9BB-7976DA08CBF3}"/>
              </a:ext>
            </a:extLst>
          </p:cNvPr>
          <p:cNvSpPr txBox="1"/>
          <p:nvPr/>
        </p:nvSpPr>
        <p:spPr>
          <a:xfrm>
            <a:off x="797440" y="1294253"/>
            <a:ext cx="3879212" cy="3907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MyDate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m,n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; 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m=new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MyDate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();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n=m;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n.addYear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();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F2F9B5A-F086-E6E4-ABDE-B0C08D0848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6652" y="1076747"/>
            <a:ext cx="4883401" cy="480084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854E40F-2597-1229-D633-3CE17AF904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7525" y="4425825"/>
            <a:ext cx="3924502" cy="243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3588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14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122" y="347311"/>
            <a:ext cx="6730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课程</a:t>
            </a:r>
            <a:r>
              <a:rPr kumimoji="1" lang="zh-CN" altLang="en-US" sz="2800" b="1" dirty="0"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概   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字段变量与局部变量</a:t>
            </a:r>
            <a:endParaRPr kumimoji="1"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1" y="335281"/>
            <a:ext cx="1250432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2504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5-1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6FA07CC-4827-8134-C97C-F0F471C3186D}"/>
              </a:ext>
            </a:extLst>
          </p:cNvPr>
          <p:cNvSpPr txBox="1"/>
          <p:nvPr/>
        </p:nvSpPr>
        <p:spPr>
          <a:xfrm>
            <a:off x="552507" y="1064856"/>
            <a:ext cx="9787269" cy="38189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字段变量（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field)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与局部变量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(Local variable)</a:t>
            </a: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前者是在类中，后者是方法中定义的变量或方法的参变量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从内存角度看</a:t>
            </a: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存储位置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，字段变量为对象的一部分、存在于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堆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中的，局部变量是存在于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栈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中。</a:t>
            </a: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生命周期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不同</a:t>
            </a: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初始值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：字段变量可以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自动赋初值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，局部变量则须显式赋值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A807401-D291-2CE6-1DFB-D78D9607A083}"/>
              </a:ext>
            </a:extLst>
          </p:cNvPr>
          <p:cNvSpPr/>
          <p:nvPr/>
        </p:nvSpPr>
        <p:spPr>
          <a:xfrm>
            <a:off x="5071045" y="4704731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/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class Test()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{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a;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void m(){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b;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System.out.println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(b);//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编译不能通过需要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初始化。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}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11384993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15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122" y="347311"/>
            <a:ext cx="6730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课程</a:t>
            </a:r>
            <a:r>
              <a:rPr kumimoji="1" lang="zh-CN" altLang="en-US" sz="2800" b="1" dirty="0"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概   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两种变量的区别</a:t>
            </a:r>
            <a:endParaRPr kumimoji="1"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1" y="335281"/>
            <a:ext cx="1250432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2504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5-1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68C9C62-65DF-17E5-B219-00D40C79AAED}"/>
              </a:ext>
            </a:extLst>
          </p:cNvPr>
          <p:cNvSpPr txBox="1"/>
          <p:nvPr/>
        </p:nvSpPr>
        <p:spPr>
          <a:xfrm>
            <a:off x="1266940" y="1294881"/>
            <a:ext cx="8159902" cy="262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从语法角度看</a:t>
            </a: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字段变量属于类，可以用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public,private,static,final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修饰。</a:t>
            </a: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局部变量不能够被访问控制符及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static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修饰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都可以被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final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修饰</a:t>
            </a:r>
          </a:p>
        </p:txBody>
      </p:sp>
    </p:spTree>
    <p:extLst>
      <p:ext uri="{BB962C8B-B14F-4D97-AF65-F5344CB8AC3E}">
        <p14:creationId xmlns:p14="http://schemas.microsoft.com/office/powerpoint/2010/main" val="3984774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16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122" y="347311"/>
            <a:ext cx="6730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课程</a:t>
            </a:r>
            <a:r>
              <a:rPr kumimoji="1" lang="zh-CN" altLang="en-US" sz="2800" b="1" dirty="0"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概   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变量的传递</a:t>
            </a:r>
            <a:endParaRPr kumimoji="1"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1" y="335281"/>
            <a:ext cx="1250432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2504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5-1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605D1E2-98A1-9A34-9387-00BB83E6333A}"/>
              </a:ext>
            </a:extLst>
          </p:cNvPr>
          <p:cNvSpPr txBox="1"/>
          <p:nvPr/>
        </p:nvSpPr>
        <p:spPr>
          <a:xfrm>
            <a:off x="1031358" y="1395499"/>
            <a:ext cx="10897499" cy="3524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调用对象方法时，要传递参数。在传递参数时，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Java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是值传递，即，方法调用</a:t>
            </a:r>
            <a:r>
              <a:rPr lang="zh-CN" altLang="en-US" sz="2800" dirty="0">
                <a:solidFill>
                  <a:srgbClr val="5B9BD5">
                    <a:lumMod val="50000"/>
                  </a:srgbClr>
                </a:solidFill>
                <a:latin typeface="Lucida Fax" panose="02060602050505020204" pitchFamily="18" charset="0"/>
                <a:ea typeface="微软雅黑" panose="020B0503020204020204" pitchFamily="34" charset="-122"/>
              </a:rPr>
              <a:t>时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，实参将自己的一份拷贝赋给形参，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在方法内，对该参数值的修改不影响原来的实参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。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对于引用型变量，传递的值是引用值（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实参将自己的地址传递给形参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），而不是复制对象实体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可以改变对象的属性</a:t>
            </a:r>
          </a:p>
        </p:txBody>
      </p:sp>
    </p:spTree>
    <p:extLst>
      <p:ext uri="{BB962C8B-B14F-4D97-AF65-F5344CB8AC3E}">
        <p14:creationId xmlns:p14="http://schemas.microsoft.com/office/powerpoint/2010/main" val="19750001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17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122" y="347311"/>
            <a:ext cx="6730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课程</a:t>
            </a:r>
            <a:r>
              <a:rPr kumimoji="1" lang="zh-CN" altLang="en-US" sz="2800" b="1" dirty="0"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概   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变量的传递</a:t>
            </a:r>
            <a:endParaRPr kumimoji="1"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1" y="335281"/>
            <a:ext cx="1250432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2504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5-1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77FFD57-B131-0B49-E02A-6AE355A363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6466" y="1076746"/>
            <a:ext cx="6087465" cy="5696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2187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18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122" y="347311"/>
            <a:ext cx="6730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课程</a:t>
            </a:r>
            <a:r>
              <a:rPr kumimoji="1" lang="zh-CN" altLang="en-US" sz="2800" b="1" dirty="0"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概   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多态及虚方法调用</a:t>
            </a:r>
            <a:endParaRPr kumimoji="1"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1" y="335281"/>
            <a:ext cx="1250432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2504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5-2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E62A208-C766-0235-0EBF-92D3EB6D1DA5}"/>
              </a:ext>
            </a:extLst>
          </p:cNvPr>
          <p:cNvSpPr txBox="1"/>
          <p:nvPr/>
        </p:nvSpPr>
        <p:spPr>
          <a:xfrm>
            <a:off x="74122" y="1132683"/>
            <a:ext cx="11979054" cy="5209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多态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(Polymorphism)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是指一个程序中相同的名字表示不同的含义的情况。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多态有两种情形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编译时多态：</a:t>
            </a:r>
          </a:p>
          <a:p>
            <a:pPr marL="1143000" marR="0" lvl="2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重载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(overload)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（多个同名的不同方法）。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如 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p.sayHello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();   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p.sayHello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(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“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Wang”);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运行时多态：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覆盖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(override)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 （子类对父类方法进行覆盖）</a:t>
            </a:r>
          </a:p>
          <a:p>
            <a:pPr marL="1143000" marR="0" lvl="2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动态绑定（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dynamic binding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）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----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虚方法调用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(virtual method invoking) </a:t>
            </a:r>
          </a:p>
          <a:p>
            <a:pPr marL="1143000" marR="0" lvl="2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在调用方法时，程序会正确地调用子类对象的方法。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多态的特点大大提高了程序的抽象程度和简洁性 </a:t>
            </a:r>
          </a:p>
        </p:txBody>
      </p:sp>
    </p:spTree>
    <p:extLst>
      <p:ext uri="{BB962C8B-B14F-4D97-AF65-F5344CB8AC3E}">
        <p14:creationId xmlns:p14="http://schemas.microsoft.com/office/powerpoint/2010/main" val="17643764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19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122" y="347311"/>
            <a:ext cx="6730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课程</a:t>
            </a:r>
            <a:r>
              <a:rPr kumimoji="1" lang="zh-CN" altLang="en-US" sz="2800" b="1" dirty="0"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概   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上溯造型</a:t>
            </a:r>
            <a:endParaRPr kumimoji="1"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1" y="335281"/>
            <a:ext cx="1250432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2504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5-2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94E7900-6FCD-DD2B-B7BB-24A93161209F}"/>
              </a:ext>
            </a:extLst>
          </p:cNvPr>
          <p:cNvSpPr txBox="1"/>
          <p:nvPr/>
        </p:nvSpPr>
        <p:spPr>
          <a:xfrm>
            <a:off x="614582" y="1338685"/>
            <a:ext cx="8543260" cy="309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上溯造型（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upcasting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）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是把派生类型当作基本类型处理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Person p = new Student();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void fun(Person p ){…}        fun(new Person());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6587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20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122" y="347311"/>
            <a:ext cx="6730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课程</a:t>
            </a:r>
            <a:r>
              <a:rPr kumimoji="1" lang="zh-CN" altLang="en-US" sz="2800" b="1" dirty="0"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概   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虚方法调用</a:t>
            </a:r>
            <a:endParaRPr kumimoji="1"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1" y="335281"/>
            <a:ext cx="1250432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2504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5-2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E290583-2374-84A1-9A9E-68B2EA15C207}"/>
              </a:ext>
            </a:extLst>
          </p:cNvPr>
          <p:cNvSpPr txBox="1"/>
          <p:nvPr/>
        </p:nvSpPr>
        <p:spPr>
          <a:xfrm>
            <a:off x="434163" y="1303981"/>
            <a:ext cx="11323673" cy="2684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用虚方法调用，可以实现运行时的多态！</a:t>
            </a: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子类重载了父类方法时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运行时系统根据调用该方法的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实例的类型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来决定选择哪个方法调用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所有的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非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final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方法都会自动地进行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动态绑定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！</a:t>
            </a: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16094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21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122" y="347311"/>
            <a:ext cx="6730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课程</a:t>
            </a:r>
            <a:r>
              <a:rPr kumimoji="1" lang="zh-CN" altLang="en-US" sz="2800" b="1" dirty="0"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概   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虚方法调用示例</a:t>
            </a:r>
            <a:endParaRPr kumimoji="1"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1" y="335281"/>
            <a:ext cx="1250432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2504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5-2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E290583-2374-84A1-9A9E-68B2EA15C207}"/>
              </a:ext>
            </a:extLst>
          </p:cNvPr>
          <p:cNvSpPr txBox="1"/>
          <p:nvPr/>
        </p:nvSpPr>
        <p:spPr>
          <a:xfrm>
            <a:off x="434163" y="1303981"/>
            <a:ext cx="11323673" cy="5403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void </a:t>
            </a:r>
            <a:r>
              <a:rPr kumimoji="0" lang="en-US" altLang="zh-CN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doStuff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(Shape s){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    </a:t>
            </a:r>
            <a:r>
              <a:rPr kumimoji="0" lang="en-US" altLang="zh-CN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s.draw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();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 }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Circle c = new Circle();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Triangle t = new Triangle();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Line l = new Line();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doStuff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(c);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doStuff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(t);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doStuff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(l);</a:t>
            </a:r>
          </a:p>
          <a:p>
            <a:pPr marR="0" lvl="1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41C0FC2C-D98E-9F80-B12B-6ADBFCC96B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44" r="59145" b="29755"/>
          <a:stretch/>
        </p:blipFill>
        <p:spPr>
          <a:xfrm>
            <a:off x="3432555" y="4806324"/>
            <a:ext cx="4098545" cy="1403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4297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22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122" y="347311"/>
            <a:ext cx="6730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课程</a:t>
            </a:r>
            <a:r>
              <a:rPr kumimoji="1" lang="zh-CN" altLang="en-US" sz="2800" b="1" dirty="0"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概   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不是虚方法调用情况</a:t>
            </a:r>
            <a:endParaRPr kumimoji="1"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1" y="335281"/>
            <a:ext cx="1250432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2504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5-2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D3A10CF-D8D3-6E7B-E919-CBD3C0CEEE25}"/>
              </a:ext>
            </a:extLst>
          </p:cNvPr>
          <p:cNvSpPr txBox="1"/>
          <p:nvPr/>
        </p:nvSpPr>
        <p:spPr>
          <a:xfrm>
            <a:off x="754912" y="1186868"/>
            <a:ext cx="8160488" cy="191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Java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中，普通的方法是虚方法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但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static,private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方法不是虚方法调用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static,private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与虚方法编译后用的指令是不同的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18DDEAD5-2BA1-BB0C-0FD8-1550C991AF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401" y="3397463"/>
            <a:ext cx="7490416" cy="3460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3A9BB38-9A6D-5D9F-5C70-0ADAA39D4A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5156" y="3220505"/>
            <a:ext cx="6997867" cy="164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5813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23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122" y="347311"/>
            <a:ext cx="6730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课程</a:t>
            </a:r>
            <a:r>
              <a:rPr kumimoji="1" lang="zh-CN" altLang="en-US" sz="2800" b="1" dirty="0"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概   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三种非虚的方法</a:t>
            </a:r>
            <a:endParaRPr kumimoji="1"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1" y="335281"/>
            <a:ext cx="1250432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2504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5-2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E2BB4E3-76C4-3FAF-0778-1BAC8D671A50}"/>
              </a:ext>
            </a:extLst>
          </p:cNvPr>
          <p:cNvSpPr txBox="1"/>
          <p:nvPr/>
        </p:nvSpPr>
        <p:spPr>
          <a:xfrm>
            <a:off x="878016" y="1346232"/>
            <a:ext cx="9461759" cy="2573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static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的方法，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以声明的类型为准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，与实例类型无关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private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方法子类看不见，也不会被虚化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final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方法子类不能覆盖，不存在虚化问题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725F37C-7DE2-A554-96D8-9EA1EDC745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2576" y="3566815"/>
            <a:ext cx="6133786" cy="1514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5475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24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122" y="347311"/>
            <a:ext cx="6730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课程</a:t>
            </a:r>
            <a:r>
              <a:rPr kumimoji="1" lang="zh-CN" altLang="en-US" sz="2800" b="1" dirty="0"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概   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对象构造与初始化</a:t>
            </a:r>
            <a:endParaRPr kumimoji="1"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1" y="335281"/>
            <a:ext cx="1250432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2504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5-3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8C6C820-AA9C-D5F9-8DAC-594B79E0D9D6}"/>
              </a:ext>
            </a:extLst>
          </p:cNvPr>
          <p:cNvSpPr txBox="1"/>
          <p:nvPr/>
        </p:nvSpPr>
        <p:spPr>
          <a:xfrm>
            <a:off x="747054" y="1294611"/>
            <a:ext cx="10154093" cy="348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构造方法（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constructor)</a:t>
            </a: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对象都有构造方法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如果没有，编译器加一个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default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构造方法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思考：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抽象类（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abstract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）有没有构造方法？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80280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25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122" y="347311"/>
            <a:ext cx="8410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课程</a:t>
            </a:r>
            <a:r>
              <a:rPr kumimoji="1" lang="zh-CN" altLang="en-US" sz="2800" b="1" dirty="0"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概   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调用本类或父类的构造方法</a:t>
            </a:r>
            <a:endParaRPr kumimoji="1"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1" y="335281"/>
            <a:ext cx="1250432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2504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5-3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F92ABCB-50E2-B3E9-4B9A-C0F559AC3A61}"/>
              </a:ext>
            </a:extLst>
          </p:cNvPr>
          <p:cNvSpPr txBox="1"/>
          <p:nvPr/>
        </p:nvSpPr>
        <p:spPr>
          <a:xfrm>
            <a:off x="478466" y="1255923"/>
            <a:ext cx="11713533" cy="4568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调用本类或父类的构造方法</a:t>
            </a: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this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调用本类的其他构造方法。</a:t>
            </a: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super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调用直接父类的构造方法</a:t>
            </a: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this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或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super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要放在第一条语句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,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且只能够有一条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如果没有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this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及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super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，则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编译器自动加上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super()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，即调用直接父类不带参数的构造方法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因为必须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令所有父类的构造方法都得到调用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，否则整个对象的构建就可能不正确。</a:t>
            </a:r>
          </a:p>
        </p:txBody>
      </p:sp>
    </p:spTree>
    <p:extLst>
      <p:ext uri="{BB962C8B-B14F-4D97-AF65-F5344CB8AC3E}">
        <p14:creationId xmlns:p14="http://schemas.microsoft.com/office/powerpoint/2010/main" val="30505120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26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122" y="347311"/>
            <a:ext cx="8410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课程</a:t>
            </a:r>
            <a:r>
              <a:rPr kumimoji="1" lang="zh-CN" altLang="en-US" sz="2800" b="1" dirty="0"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概   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示例</a:t>
            </a:r>
            <a:endParaRPr kumimoji="1"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1" y="335281"/>
            <a:ext cx="1250432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2504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5-3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CF9D1C8-7AE5-DB2A-DF59-1C44B835C4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696" y="1260673"/>
            <a:ext cx="5808304" cy="238629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FB882FF-4919-DD63-EA16-BE9C91CFE7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745" y="3840551"/>
            <a:ext cx="7946686" cy="284732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D41ADBE-9085-2B2C-A6BA-CD3DB1DD7A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5893" y="4734440"/>
            <a:ext cx="4121362" cy="1657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4404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27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122" y="347311"/>
            <a:ext cx="8410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课程</a:t>
            </a:r>
            <a:r>
              <a:rPr kumimoji="1" lang="zh-CN" altLang="en-US" sz="2800" b="1" dirty="0"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概   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一个问题</a:t>
            </a:r>
            <a:endParaRPr kumimoji="1"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1" y="335281"/>
            <a:ext cx="1250432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2504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5-3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B9C57ED-62A3-6030-15FF-76797D5C9E70}"/>
              </a:ext>
            </a:extLst>
          </p:cNvPr>
          <p:cNvSpPr txBox="1"/>
          <p:nvPr/>
        </p:nvSpPr>
        <p:spPr>
          <a:xfrm>
            <a:off x="251024" y="942168"/>
            <a:ext cx="11866854" cy="5907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class A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{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  A(int a){}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}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class B extends A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{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  B(String s){} //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编译不能够通过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.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}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编译器会自动调用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B(String s){ super();}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出错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.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解决方法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:</a:t>
            </a: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在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B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的构造方法中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,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加入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super(3);</a:t>
            </a: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在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A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中加入一个不带参数的构造方法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,A(){}</a:t>
            </a: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去掉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A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中全部的构造方法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,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则编译器会自动加入一个不带参数的构造方法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,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称为默认的构造方法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570694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28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122" y="347311"/>
            <a:ext cx="8410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课程</a:t>
            </a:r>
            <a:r>
              <a:rPr kumimoji="1" lang="zh-CN" altLang="en-US" sz="2800" b="1" dirty="0"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概   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创建对象时初始化</a:t>
            </a:r>
            <a:endParaRPr kumimoji="1"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1" y="335281"/>
            <a:ext cx="1250432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2504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5-3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D7E8B5-4492-C70D-7FF5-7990C9834A5B}"/>
              </a:ext>
            </a:extLst>
          </p:cNvPr>
          <p:cNvSpPr txBox="1"/>
          <p:nvPr/>
        </p:nvSpPr>
        <p:spPr>
          <a:xfrm>
            <a:off x="905861" y="1091009"/>
            <a:ext cx="8913306" cy="191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p = new Person(){{   age=18; name=“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李明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”; }};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这样可以针对没有相应构造函数，但又要赋值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注意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双括号</a:t>
            </a:r>
          </a:p>
        </p:txBody>
      </p:sp>
    </p:spTree>
    <p:extLst>
      <p:ext uri="{BB962C8B-B14F-4D97-AF65-F5344CB8AC3E}">
        <p14:creationId xmlns:p14="http://schemas.microsoft.com/office/powerpoint/2010/main" val="26749982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29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122" y="347311"/>
            <a:ext cx="8410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课程</a:t>
            </a:r>
            <a:r>
              <a:rPr kumimoji="1" lang="zh-CN" altLang="en-US" sz="2800" b="1" dirty="0"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概   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实例初始化与静态初始化</a:t>
            </a:r>
            <a:endParaRPr kumimoji="1"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1" y="335281"/>
            <a:ext cx="1250432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2504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5-3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DB8BA03-43C5-AC01-C932-FC2ADC89A1B7}"/>
              </a:ext>
            </a:extLst>
          </p:cNvPr>
          <p:cNvSpPr txBox="1"/>
          <p:nvPr/>
        </p:nvSpPr>
        <p:spPr>
          <a:xfrm>
            <a:off x="147484" y="1117135"/>
            <a:ext cx="6918025" cy="5006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实例初始化（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Instance Initializers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）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在类中直接写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{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语句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…. }</a:t>
            </a: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实例初始化，先于构造方法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{}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中的语句执行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静态初始化（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Static Initializers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）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static {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语句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…. }</a:t>
            </a: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静态初始化，在第一次使用这个类时要执行，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但其执行的具体时机是不确定的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但是可以肯定的是：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总是先于实例的初始化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84000F6-8220-B14D-7B9D-4159E8CF90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6847" y="2260662"/>
            <a:ext cx="4915153" cy="3314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5026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30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122" y="347311"/>
            <a:ext cx="8410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课程</a:t>
            </a:r>
            <a:r>
              <a:rPr kumimoji="1" lang="zh-CN" altLang="en-US" sz="2800" b="1" dirty="0"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概   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构造方法的执行过程</a:t>
            </a:r>
            <a:endParaRPr kumimoji="1"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1" y="335281"/>
            <a:ext cx="1250432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2504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5-3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26AB83B-3B5F-638D-3B28-B0DC965B4B91}"/>
              </a:ext>
            </a:extLst>
          </p:cNvPr>
          <p:cNvSpPr txBox="1"/>
          <p:nvPr/>
        </p:nvSpPr>
        <p:spPr>
          <a:xfrm>
            <a:off x="818706" y="1219335"/>
            <a:ext cx="10706986" cy="3357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构造方法的执行过程遵照以下步骤：</a:t>
            </a: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调用本类或父类的构造方法，直至最高一层（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Object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）</a:t>
            </a: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按照声明顺序执行字段的初始化赋值</a:t>
            </a: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执行构造函数中的各语句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简单地说：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先父类构造，再本类成员赋值，最后执行构造方法中的语句。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0012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31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122" y="347311"/>
            <a:ext cx="8410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课程</a:t>
            </a:r>
            <a:r>
              <a:rPr kumimoji="1" lang="zh-CN" altLang="en-US" sz="2800" b="1" dirty="0"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概   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构造方法的执行过程示例</a:t>
            </a:r>
            <a:endParaRPr kumimoji="1"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1" y="335281"/>
            <a:ext cx="1250432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2504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5-3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8364266-29FA-BD45-872D-68E791A7D1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387" y="1609725"/>
            <a:ext cx="10563225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9769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32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122" y="347311"/>
            <a:ext cx="8410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课程</a:t>
            </a:r>
            <a:r>
              <a:rPr kumimoji="1" lang="zh-CN" altLang="en-US" sz="2800" b="1" dirty="0"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概   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一个问题</a:t>
            </a:r>
            <a:endParaRPr kumimoji="1"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1" y="335281"/>
            <a:ext cx="1250432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2504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5-3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5150F98-70C0-64BD-CB8B-BD0CC3FCC949}"/>
              </a:ext>
            </a:extLst>
          </p:cNvPr>
          <p:cNvSpPr txBox="1"/>
          <p:nvPr/>
        </p:nvSpPr>
        <p:spPr>
          <a:xfrm>
            <a:off x="818706" y="1117135"/>
            <a:ext cx="10090297" cy="1779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构造方法内部调用别的的方法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如果这个方法是虚方法，结果如何？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从语法上来说这是合法的，但有时会造成事实上的不合理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0F5D87C-A20D-F8C6-2EDB-95DC7CC73FDB}"/>
              </a:ext>
            </a:extLst>
          </p:cNvPr>
          <p:cNvSpPr txBox="1"/>
          <p:nvPr/>
        </p:nvSpPr>
        <p:spPr>
          <a:xfrm>
            <a:off x="818705" y="2973362"/>
            <a:ext cx="10334847" cy="1793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在构造方法中尽量避免调用任何方法，尽可能简单地使对象进入就绪状态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惟一能够安全调用的是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final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的方法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998059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33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122" y="347311"/>
            <a:ext cx="8410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课程</a:t>
            </a:r>
            <a:r>
              <a:rPr kumimoji="1" lang="zh-CN" altLang="en-US" sz="2800" b="1" dirty="0"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概   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对象清除与垃圾回收</a:t>
            </a:r>
            <a:endParaRPr kumimoji="1"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1" y="335281"/>
            <a:ext cx="1250432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2504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5-4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B143FEC-AE59-FCB8-06AE-B9450FEE617F}"/>
              </a:ext>
            </a:extLst>
          </p:cNvPr>
          <p:cNvSpPr txBox="1"/>
          <p:nvPr/>
        </p:nvSpPr>
        <p:spPr>
          <a:xfrm>
            <a:off x="1345019" y="1328401"/>
            <a:ext cx="6134986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我们知道：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new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创建对象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那么如何销毁对象？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Java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中是自动清除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不需要使用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delete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64125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34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122" y="347311"/>
            <a:ext cx="8410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课程</a:t>
            </a:r>
            <a:r>
              <a:rPr kumimoji="1" lang="zh-CN" altLang="en-US" sz="2800" b="1" dirty="0"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概   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对象的自动清除</a:t>
            </a:r>
            <a:endParaRPr kumimoji="1"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1" y="335281"/>
            <a:ext cx="1250432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2504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5-4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F10238F-63FD-895C-CDB7-8E37D473A9B8}"/>
              </a:ext>
            </a:extLst>
          </p:cNvPr>
          <p:cNvSpPr txBox="1"/>
          <p:nvPr/>
        </p:nvSpPr>
        <p:spPr>
          <a:xfrm>
            <a:off x="1250432" y="1426830"/>
            <a:ext cx="10137037" cy="309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垃圾回收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(garbage collection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）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对象回收是由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Java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虚拟机的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垃圾回收线程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来完成的。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为什么系统知道对象是否为垃圾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任何对象都有一个引用计数器，当其值为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时，说明该对象可以回收。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6235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35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122" y="347311"/>
            <a:ext cx="8410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课程</a:t>
            </a:r>
            <a:r>
              <a:rPr kumimoji="1" lang="zh-CN" altLang="en-US" sz="2800" b="1" dirty="0"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概   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引用计数示意</a:t>
            </a:r>
            <a:endParaRPr kumimoji="1"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1" y="335281"/>
            <a:ext cx="1250432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2504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5-4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08B1B51-A8D5-CC32-72F0-432A110ED171}"/>
              </a:ext>
            </a:extLst>
          </p:cNvPr>
          <p:cNvSpPr txBox="1"/>
          <p:nvPr/>
        </p:nvSpPr>
        <p:spPr>
          <a:xfrm>
            <a:off x="1485642" y="1033647"/>
            <a:ext cx="6134986" cy="5908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String method(){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  String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a,b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;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  a=new String(“hello world”);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  b=new String(“game over”);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 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System.out.println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a+b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+”Ok”);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  a=null;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  a=b;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  return a;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146387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36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122" y="347311"/>
            <a:ext cx="8410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课程</a:t>
            </a:r>
            <a:r>
              <a:rPr kumimoji="1" lang="zh-CN" altLang="en-US" sz="2800" b="1" dirty="0"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概   </a:t>
            </a:r>
            <a:r>
              <a:rPr kumimoji="1" lang="en-US" altLang="zh-CN" sz="4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System.gc</a:t>
            </a:r>
            <a:r>
              <a:rPr kumimoji="1" lang="en-US" altLang="zh-CN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()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方法</a:t>
            </a:r>
            <a:endParaRPr kumimoji="1"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1" y="335281"/>
            <a:ext cx="1250432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2504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5-4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86A562F-FEB2-7EC1-8246-4A34453297ED}"/>
              </a:ext>
            </a:extLst>
          </p:cNvPr>
          <p:cNvSpPr txBox="1"/>
          <p:nvPr/>
        </p:nvSpPr>
        <p:spPr>
          <a:xfrm>
            <a:off x="1345019" y="1335888"/>
            <a:ext cx="6134986" cy="2580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System.gc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()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方法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它是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System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类的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static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方法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 它可以要求系统进行垃圾回收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但它仅仅只是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”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建议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(suggest)”</a:t>
            </a:r>
          </a:p>
        </p:txBody>
      </p:sp>
    </p:spTree>
    <p:extLst>
      <p:ext uri="{BB962C8B-B14F-4D97-AF65-F5344CB8AC3E}">
        <p14:creationId xmlns:p14="http://schemas.microsoft.com/office/powerpoint/2010/main" val="4082485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37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122" y="347311"/>
            <a:ext cx="8410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课程</a:t>
            </a:r>
            <a:r>
              <a:rPr kumimoji="1" lang="zh-CN" altLang="en-US" sz="2800" b="1" dirty="0"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概   </a:t>
            </a:r>
            <a:r>
              <a:rPr kumimoji="1" lang="en-US" altLang="zh-CN" sz="4000" b="1" dirty="0"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finalize</a:t>
            </a:r>
            <a:r>
              <a:rPr kumimoji="1" lang="en-US" altLang="zh-CN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()</a:t>
            </a: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方法</a:t>
            </a:r>
            <a:endParaRPr kumimoji="1"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1" y="335281"/>
            <a:ext cx="1250432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2504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5-4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60FC0E-79CD-C54D-E837-99CAF48F159C}"/>
              </a:ext>
            </a:extLst>
          </p:cNvPr>
          <p:cNvSpPr txBox="1"/>
          <p:nvPr/>
        </p:nvSpPr>
        <p:spPr>
          <a:xfrm>
            <a:off x="785037" y="1186078"/>
            <a:ext cx="10621926" cy="4485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Java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中没有“析构方法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(destructor)”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但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Object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的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finalize()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有类似功能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系统在回收时会自动调用对象的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finalize()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方法。</a:t>
            </a: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protected void finalize() throws Throwable{}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子类的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finalize()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方法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可以在子类的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finalize()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方法释放系统资源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一般来说，子类的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finalize()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方法中应该调用父类的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finalize()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方法，以保证父类的清理工作能够正常进行。</a:t>
            </a:r>
          </a:p>
        </p:txBody>
      </p:sp>
    </p:spTree>
    <p:extLst>
      <p:ext uri="{BB962C8B-B14F-4D97-AF65-F5344CB8AC3E}">
        <p14:creationId xmlns:p14="http://schemas.microsoft.com/office/powerpoint/2010/main" val="6291928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371077" y="285372"/>
            <a:ext cx="3512286" cy="656797"/>
            <a:chOff x="8520977" y="375312"/>
            <a:chExt cx="3512286" cy="656797"/>
          </a:xfrm>
        </p:grpSpPr>
        <p:pic>
          <p:nvPicPr>
            <p:cNvPr id="14" name="图片 13" descr="徽标&#10;&#10;描述已自动生成"/>
            <p:cNvPicPr>
              <a:picLocks noChangeAspect="1"/>
            </p:cNvPicPr>
            <p:nvPr/>
          </p:nvPicPr>
          <p:blipFill rotWithShape="1">
            <a:blip r:embed="rId3"/>
            <a:srcRect t="81742" b="-162"/>
            <a:stretch>
              <a:fillRect/>
            </a:stretch>
          </p:blipFill>
          <p:spPr>
            <a:xfrm>
              <a:off x="9441303" y="375313"/>
              <a:ext cx="2591960" cy="656796"/>
            </a:xfrm>
            <a:prstGeom prst="rect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pic>
          <p:nvPicPr>
            <p:cNvPr id="16" name="图片 15" descr="徽标&#10;&#10;描述已自动生成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0977" y="375313"/>
              <a:ext cx="656796" cy="656796"/>
            </a:xfrm>
            <a:prstGeom prst="ellipse">
              <a:avLst/>
            </a:prstGeom>
            <a:effectLst>
              <a:outerShdw blurRad="38100" dir="5400000" algn="ctr" rotWithShape="0">
                <a:srgbClr val="000000">
                  <a:alpha val="17000"/>
                </a:srgbClr>
              </a:outerShdw>
            </a:effectLst>
          </p:spPr>
        </p:pic>
        <p:cxnSp>
          <p:nvCxnSpPr>
            <p:cNvPr id="6" name="直线连接符 5"/>
            <p:cNvCxnSpPr/>
            <p:nvPr/>
          </p:nvCxnSpPr>
          <p:spPr>
            <a:xfrm>
              <a:off x="9314322" y="375312"/>
              <a:ext cx="0" cy="656796"/>
            </a:xfrm>
            <a:prstGeom prst="line">
              <a:avLst/>
            </a:prstGeom>
            <a:ln w="12700">
              <a:solidFill>
                <a:srgbClr val="015177">
                  <a:alpha val="24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/>
          <p:cNvSpPr txBox="1"/>
          <p:nvPr/>
        </p:nvSpPr>
        <p:spPr>
          <a:xfrm>
            <a:off x="147484" y="325761"/>
            <a:ext cx="1968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1-1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3"/>
          <p:cNvCxnSpPr>
            <a:cxnSpLocks/>
          </p:cNvCxnSpPr>
          <p:nvPr/>
        </p:nvCxnSpPr>
        <p:spPr>
          <a:xfrm>
            <a:off x="214745" y="1033647"/>
            <a:ext cx="4197767" cy="0"/>
          </a:xfrm>
          <a:prstGeom prst="line">
            <a:avLst/>
          </a:prstGeom>
          <a:ln w="15875">
            <a:solidFill>
              <a:srgbClr val="015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0339776" y="6488668"/>
            <a:ext cx="158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fld id="{2CD999BA-BDFA-4140-AC7A-0BDAA6C7D057}" type="slidenum">
              <a:rPr kumimoji="1" lang="zh-CN" altLang="en-US" smtClean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38</a:t>
            </a:fld>
            <a:r>
              <a:rPr kumimoji="1" lang="zh-CN" altLang="en-US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dirty="0">
                <a:solidFill>
                  <a:srgbClr val="015177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-</a:t>
            </a:r>
            <a:endParaRPr kumimoji="1" lang="zh-CN" altLang="en-US" dirty="0">
              <a:solidFill>
                <a:srgbClr val="015177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122" y="347311"/>
            <a:ext cx="8410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课程</a:t>
            </a:r>
            <a:r>
              <a:rPr kumimoji="1" lang="zh-CN" altLang="en-US" sz="2800" b="1" dirty="0"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概   </a:t>
            </a:r>
            <a:r>
              <a:rPr kumimoji="1" lang="en-US" altLang="zh-CN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try-with-resources</a:t>
            </a:r>
            <a:endParaRPr kumimoji="1"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EB1C80-CAFF-4E40-AC0D-9DFCF60CE93D}"/>
              </a:ext>
            </a:extLst>
          </p:cNvPr>
          <p:cNvSpPr/>
          <p:nvPr/>
        </p:nvSpPr>
        <p:spPr>
          <a:xfrm>
            <a:off x="1" y="335281"/>
            <a:ext cx="1250432" cy="708025"/>
          </a:xfrm>
          <a:prstGeom prst="rect">
            <a:avLst/>
          </a:prstGeom>
          <a:solidFill>
            <a:srgbClr val="015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780B9B-158D-45ED-99BD-EB372690907C}"/>
              </a:ext>
            </a:extLst>
          </p:cNvPr>
          <p:cNvSpPr txBox="1"/>
          <p:nvPr/>
        </p:nvSpPr>
        <p:spPr>
          <a:xfrm>
            <a:off x="16509" y="359202"/>
            <a:ext cx="12504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FBFBFA"/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 5-4</a:t>
            </a:r>
            <a:endParaRPr kumimoji="1" lang="zh-CN" altLang="en-US" sz="4000" b="1" dirty="0">
              <a:solidFill>
                <a:srgbClr val="FBFBFA"/>
              </a:solidFill>
              <a:latin typeface="STHeiti" panose="02010600040101010101" pitchFamily="2" charset="-122"/>
              <a:ea typeface="STHeiti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BB8DA94-5633-B327-E733-6B807556F3AA}"/>
              </a:ext>
            </a:extLst>
          </p:cNvPr>
          <p:cNvSpPr txBox="1"/>
          <p:nvPr/>
        </p:nvSpPr>
        <p:spPr>
          <a:xfrm>
            <a:off x="839972" y="1213547"/>
            <a:ext cx="10898371" cy="5018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由于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finalize()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方法的调用时机并不确定，所以一般不用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finalize()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关闭打开的文件、清除一些非内存资源等工作需要进行处理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可以使用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try-with-resources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语句（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JDK1.7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以上）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对于实现了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java.lang.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AutoCloseable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的对象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try(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Scanner scanner= new Scanner( … )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){</a:t>
            </a: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。。。。。。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}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会自动调用其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close()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方法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,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相当于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Lucida Fax" panose="02060602050505020204" pitchFamily="18" charset="0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finally{</a:t>
            </a:r>
          </a:p>
          <a:p>
            <a:pPr marL="685800" marR="0" lvl="1" indent="-22860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D7D31">
                  <a:lumMod val="75000"/>
                </a:srgbClr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Scanner.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close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();</a:t>
            </a:r>
          </a:p>
          <a:p>
            <a:pPr marL="228600" marR="0" lvl="0" indent="-2286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Lucida Fax" panose="02060602050505020204" pitchFamily="18" charset="0"/>
                <a:ea typeface="微软雅黑" panose="020B0503020204020204" pitchFamily="34" charset="-122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0087491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E0MGY2MmRjMzQ4ZGEwZGFkZGFiOTQyNWY0ZWJhMGIifQ=="/>
  <p:tag name="KSO_WPP_MARK_KEY" val="2544fb57-86b5-4c1f-8ac2-b4014d9f084f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灰度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11401</TotalTime>
  <Words>2124</Words>
  <Application>Microsoft Office PowerPoint</Application>
  <PresentationFormat>宽屏</PresentationFormat>
  <Paragraphs>366</Paragraphs>
  <Slides>39</Slides>
  <Notes>37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39</vt:i4>
      </vt:variant>
    </vt:vector>
  </HeadingPairs>
  <TitlesOfParts>
    <vt:vector size="53" baseType="lpstr">
      <vt:lpstr>STHeiti</vt:lpstr>
      <vt:lpstr>等线</vt:lpstr>
      <vt:lpstr>等线 Light</vt:lpstr>
      <vt:lpstr>华文新魏</vt:lpstr>
      <vt:lpstr>宋体</vt:lpstr>
      <vt:lpstr>微软雅黑</vt:lpstr>
      <vt:lpstr>Arial</vt:lpstr>
      <vt:lpstr>Britannic Bold</vt:lpstr>
      <vt:lpstr>Daytona</vt:lpstr>
      <vt:lpstr>Lucida Fax</vt:lpstr>
      <vt:lpstr>Tahoma</vt:lpstr>
      <vt:lpstr>Wingdings</vt:lpstr>
      <vt:lpstr>Office 主题​​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yezi</dc:creator>
  <cp:lastModifiedBy>Xu Wanshan</cp:lastModifiedBy>
  <cp:revision>802</cp:revision>
  <dcterms:created xsi:type="dcterms:W3CDTF">2022-07-09T00:52:00Z</dcterms:created>
  <dcterms:modified xsi:type="dcterms:W3CDTF">2023-04-04T08:33:47Z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E89A335D74454976A3833BB351C318CD</vt:lpwstr>
  </property>
  <property fmtid="{D5CDD505-2E9C-101B-9397-08002B2CF9AE}" pid="3" name="KSOProductBuildVer">
    <vt:lpwstr>2052-11.1.0.12358</vt:lpwstr>
  </property>
</Properties>
</file>
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7"/>
  </p:notesMasterIdLst>
  <p:sldIdLst>
    <p:sldId id="256" r:id="rId2"/>
    <p:sldId id="258" r:id="rId3"/>
    <p:sldId id="257" r:id="rId4"/>
    <p:sldId id="259" r:id="rId5"/>
    <p:sldId id="260" r:id="rId6"/>
    <p:sldId id="261" r:id="rId7"/>
    <p:sldId id="262" r:id="rId8"/>
    <p:sldId id="263" r:id="rId9"/>
    <p:sldId id="264" r:id="rId10"/>
    <p:sldId id="265" r:id="rId11"/>
    <p:sldId id="266" r:id="rId12"/>
    <p:sldId id="270" r:id="rId13"/>
    <p:sldId id="269" r:id="rId14"/>
    <p:sldId id="271" r:id="rId15"/>
    <p:sldId id="272" r:id="rId16"/>
    <p:sldId id="273" r:id="rId17"/>
    <p:sldId id="268"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7" r:id="rId31"/>
    <p:sldId id="286" r:id="rId32"/>
    <p:sldId id="288" r:id="rId33"/>
    <p:sldId id="289" r:id="rId34"/>
    <p:sldId id="290" r:id="rId35"/>
    <p:sldId id="291" r:id="rId36"/>
    <p:sldId id="292" r:id="rId37"/>
    <p:sldId id="293" r:id="rId38"/>
    <p:sldId id="294" r:id="rId39"/>
    <p:sldId id="295" r:id="rId40"/>
    <p:sldId id="299" r:id="rId41"/>
    <p:sldId id="300" r:id="rId42"/>
    <p:sldId id="301" r:id="rId43"/>
    <p:sldId id="302" r:id="rId44"/>
    <p:sldId id="303" r:id="rId45"/>
    <p:sldId id="304"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chi" initials="zc" lastIdx="3" clrIdx="0">
    <p:extLst>
      <p:ext uri="{19B8F6BF-5375-455C-9EA6-DF929625EA0E}">
        <p15:presenceInfo xmlns:p15="http://schemas.microsoft.com/office/powerpoint/2012/main" userId="zhangch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39" autoAdjust="0"/>
    <p:restoredTop sz="85767" autoAdjust="0"/>
  </p:normalViewPr>
  <p:slideViewPr>
    <p:cSldViewPr snapToGrid="0">
      <p:cViewPr varScale="1">
        <p:scale>
          <a:sx n="138" d="100"/>
          <a:sy n="138" d="100"/>
        </p:scale>
        <p:origin x="666" y="12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BAE9EA-59F1-4EE8-BC4E-02FD3B8D4A6B}" type="datetimeFigureOut">
              <a:rPr lang="zh-CN" altLang="en-US" smtClean="0"/>
              <a:t>2023/2/27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31C14-DC91-4DD5-9A6F-C6B194B972DA}" type="slidenum">
              <a:rPr lang="zh-CN" altLang="en-US" smtClean="0"/>
              <a:t>‹#›</a:t>
            </a:fld>
            <a:endParaRPr lang="zh-CN" altLang="en-US"/>
          </a:p>
        </p:txBody>
      </p:sp>
    </p:spTree>
    <p:extLst>
      <p:ext uri="{BB962C8B-B14F-4D97-AF65-F5344CB8AC3E}">
        <p14:creationId xmlns:p14="http://schemas.microsoft.com/office/powerpoint/2010/main" val="502740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希望同学们对课程大致内容有一个直观的理解。</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10</a:t>
            </a:fld>
            <a:endParaRPr lang="zh-CN" altLang="en-US"/>
          </a:p>
        </p:txBody>
      </p:sp>
    </p:spTree>
    <p:extLst>
      <p:ext uri="{BB962C8B-B14F-4D97-AF65-F5344CB8AC3E}">
        <p14:creationId xmlns:p14="http://schemas.microsoft.com/office/powerpoint/2010/main" val="74095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从不同角度或者说不同思路来定义</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12</a:t>
            </a:fld>
            <a:endParaRPr lang="zh-CN" altLang="en-US"/>
          </a:p>
        </p:txBody>
      </p:sp>
    </p:spTree>
    <p:extLst>
      <p:ext uri="{BB962C8B-B14F-4D97-AF65-F5344CB8AC3E}">
        <p14:creationId xmlns:p14="http://schemas.microsoft.com/office/powerpoint/2010/main" val="3964489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18</a:t>
            </a:fld>
            <a:endParaRPr lang="zh-CN" altLang="en-US"/>
          </a:p>
        </p:txBody>
      </p:sp>
    </p:spTree>
    <p:extLst>
      <p:ext uri="{BB962C8B-B14F-4D97-AF65-F5344CB8AC3E}">
        <p14:creationId xmlns:p14="http://schemas.microsoft.com/office/powerpoint/2010/main" val="3923437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19</a:t>
            </a:fld>
            <a:endParaRPr lang="zh-CN" altLang="en-US"/>
          </a:p>
        </p:txBody>
      </p:sp>
    </p:spTree>
    <p:extLst>
      <p:ext uri="{BB962C8B-B14F-4D97-AF65-F5344CB8AC3E}">
        <p14:creationId xmlns:p14="http://schemas.microsoft.com/office/powerpoint/2010/main" val="3213303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对比同学们自己目前写过的程序来体会</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20</a:t>
            </a:fld>
            <a:endParaRPr lang="zh-CN" altLang="en-US"/>
          </a:p>
        </p:txBody>
      </p:sp>
    </p:spTree>
    <p:extLst>
      <p:ext uri="{BB962C8B-B14F-4D97-AF65-F5344CB8AC3E}">
        <p14:creationId xmlns:p14="http://schemas.microsoft.com/office/powerpoint/2010/main" val="56778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提高总结、提炼、梳理的能力。</a:t>
            </a:r>
            <a:endParaRPr lang="en-US" altLang="zh-CN" dirty="0"/>
          </a:p>
          <a:p>
            <a:r>
              <a:rPr lang="zh-CN" altLang="en-US" dirty="0"/>
              <a:t>产品软件：如文字处理软件、文本处理软件、财务处理软件、人事管理软件等。</a:t>
            </a:r>
          </a:p>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21</a:t>
            </a:fld>
            <a:endParaRPr lang="zh-CN" altLang="en-US"/>
          </a:p>
        </p:txBody>
      </p:sp>
    </p:spTree>
    <p:extLst>
      <p:ext uri="{BB962C8B-B14F-4D97-AF65-F5344CB8AC3E}">
        <p14:creationId xmlns:p14="http://schemas.microsoft.com/office/powerpoint/2010/main" val="662645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第四代语言不断发展，人工智能技术能否实现软件开发完全自动化的目标？</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29</a:t>
            </a:fld>
            <a:endParaRPr lang="zh-CN" altLang="en-US"/>
          </a:p>
        </p:txBody>
      </p:sp>
    </p:spTree>
    <p:extLst>
      <p:ext uri="{BB962C8B-B14F-4D97-AF65-F5344CB8AC3E}">
        <p14:creationId xmlns:p14="http://schemas.microsoft.com/office/powerpoint/2010/main" val="1451182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30</a:t>
            </a:fld>
            <a:endParaRPr lang="zh-CN" altLang="en-US"/>
          </a:p>
        </p:txBody>
      </p:sp>
    </p:spTree>
    <p:extLst>
      <p:ext uri="{BB962C8B-B14F-4D97-AF65-F5344CB8AC3E}">
        <p14:creationId xmlns:p14="http://schemas.microsoft.com/office/powerpoint/2010/main" val="156146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一种技能、一种思维、一种方法论</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31</a:t>
            </a:fld>
            <a:endParaRPr lang="zh-CN" altLang="en-US"/>
          </a:p>
        </p:txBody>
      </p:sp>
    </p:spTree>
    <p:extLst>
      <p:ext uri="{BB962C8B-B14F-4D97-AF65-F5344CB8AC3E}">
        <p14:creationId xmlns:p14="http://schemas.microsoft.com/office/powerpoint/2010/main" val="3447841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类似于数学中的公理。</a:t>
            </a:r>
            <a:endParaRPr lang="en-US" altLang="zh-CN" dirty="0"/>
          </a:p>
          <a:p>
            <a:r>
              <a:rPr lang="zh-CN" altLang="en-US" dirty="0"/>
              <a:t>借此，来了解一下软件工程的内容。</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32</a:t>
            </a:fld>
            <a:endParaRPr lang="zh-CN" altLang="en-US"/>
          </a:p>
        </p:txBody>
      </p:sp>
    </p:spTree>
    <p:extLst>
      <p:ext uri="{BB962C8B-B14F-4D97-AF65-F5344CB8AC3E}">
        <p14:creationId xmlns:p14="http://schemas.microsoft.com/office/powerpoint/2010/main" val="1702562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类似于数学中的公理。</a:t>
            </a:r>
            <a:endParaRPr lang="en-US" altLang="zh-CN" dirty="0"/>
          </a:p>
          <a:p>
            <a:r>
              <a:rPr lang="zh-CN" altLang="en-US" dirty="0"/>
              <a:t>借此，来了解一下软件工程的内容。</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33</a:t>
            </a:fld>
            <a:endParaRPr lang="zh-CN" altLang="en-US"/>
          </a:p>
        </p:txBody>
      </p:sp>
    </p:spTree>
    <p:extLst>
      <p:ext uri="{BB962C8B-B14F-4D97-AF65-F5344CB8AC3E}">
        <p14:creationId xmlns:p14="http://schemas.microsoft.com/office/powerpoint/2010/main" val="866016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34</a:t>
            </a:fld>
            <a:endParaRPr lang="zh-CN" altLang="en-US"/>
          </a:p>
        </p:txBody>
      </p:sp>
    </p:spTree>
    <p:extLst>
      <p:ext uri="{BB962C8B-B14F-4D97-AF65-F5344CB8AC3E}">
        <p14:creationId xmlns:p14="http://schemas.microsoft.com/office/powerpoint/2010/main" val="694214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EE31C14-DC91-4DD5-9A6F-C6B194B972DA}" type="slidenum">
              <a:rPr lang="zh-CN" altLang="en-US" smtClean="0"/>
              <a:t>35</a:t>
            </a:fld>
            <a:endParaRPr lang="zh-CN" altLang="en-US"/>
          </a:p>
        </p:txBody>
      </p:sp>
    </p:spTree>
    <p:extLst>
      <p:ext uri="{BB962C8B-B14F-4D97-AF65-F5344CB8AC3E}">
        <p14:creationId xmlns:p14="http://schemas.microsoft.com/office/powerpoint/2010/main" val="2635208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软件工程定义第</a:t>
            </a:r>
            <a:r>
              <a:rPr lang="en-US" altLang="zh-CN" dirty="0"/>
              <a:t>2</a:t>
            </a:r>
            <a:r>
              <a:rPr lang="zh-CN" altLang="en-US" dirty="0"/>
              <a:t>条：研究（</a:t>
            </a:r>
            <a:r>
              <a:rPr lang="en-US" altLang="zh-CN" dirty="0"/>
              <a:t>1</a:t>
            </a:r>
            <a:r>
              <a:rPr lang="zh-CN" altLang="en-US" dirty="0"/>
              <a:t>）中的途径。</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36</a:t>
            </a:fld>
            <a:endParaRPr lang="zh-CN" altLang="en-US"/>
          </a:p>
        </p:txBody>
      </p:sp>
    </p:spTree>
    <p:extLst>
      <p:ext uri="{BB962C8B-B14F-4D97-AF65-F5344CB8AC3E}">
        <p14:creationId xmlns:p14="http://schemas.microsoft.com/office/powerpoint/2010/main" val="2356532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回想：数据库课程、使用的</a:t>
            </a:r>
            <a:r>
              <a:rPr lang="en-US" altLang="zh-CN" dirty="0"/>
              <a:t>app</a:t>
            </a:r>
            <a:r>
              <a:rPr lang="zh-CN" altLang="en-US" dirty="0"/>
              <a:t>、做过的项目？</a:t>
            </a:r>
          </a:p>
        </p:txBody>
      </p:sp>
      <p:sp>
        <p:nvSpPr>
          <p:cNvPr id="4" name="灯片编号占位符 3"/>
          <p:cNvSpPr>
            <a:spLocks noGrp="1"/>
          </p:cNvSpPr>
          <p:nvPr>
            <p:ph type="sldNum" sz="quarter" idx="10"/>
          </p:nvPr>
        </p:nvSpPr>
        <p:spPr/>
        <p:txBody>
          <a:bodyPr/>
          <a:lstStyle/>
          <a:p>
            <a:fld id="{2EE31C14-DC91-4DD5-9A6F-C6B194B972DA}" type="slidenum">
              <a:rPr lang="zh-CN" altLang="en-US" smtClean="0"/>
              <a:t>37</a:t>
            </a:fld>
            <a:endParaRPr lang="zh-CN" altLang="en-US"/>
          </a:p>
        </p:txBody>
      </p:sp>
    </p:spTree>
    <p:extLst>
      <p:ext uri="{BB962C8B-B14F-4D97-AF65-F5344CB8AC3E}">
        <p14:creationId xmlns:p14="http://schemas.microsoft.com/office/powerpoint/2010/main" val="1993151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项目经验：变通解决、延迟解决、分期解决。。。</a:t>
            </a:r>
            <a:r>
              <a:rPr lang="en-US" altLang="zh-CN" dirty="0">
                <a:sym typeface="Wingdings" panose="05000000000000000000" pitchFamily="2" charset="2"/>
              </a:rPr>
              <a:t></a:t>
            </a:r>
            <a:r>
              <a:rPr lang="zh-CN" altLang="en-US">
                <a:sym typeface="Wingdings" panose="05000000000000000000" pitchFamily="2" charset="2"/>
              </a:rPr>
              <a:t>客户关系</a:t>
            </a:r>
            <a:endParaRPr lang="zh-CN" altLang="en-US"/>
          </a:p>
        </p:txBody>
      </p:sp>
      <p:sp>
        <p:nvSpPr>
          <p:cNvPr id="4" name="灯片编号占位符 3"/>
          <p:cNvSpPr>
            <a:spLocks noGrp="1"/>
          </p:cNvSpPr>
          <p:nvPr>
            <p:ph type="sldNum" sz="quarter" idx="10"/>
          </p:nvPr>
        </p:nvSpPr>
        <p:spPr/>
        <p:txBody>
          <a:bodyPr/>
          <a:lstStyle/>
          <a:p>
            <a:fld id="{2EE31C14-DC91-4DD5-9A6F-C6B194B972DA}" type="slidenum">
              <a:rPr lang="zh-CN" altLang="en-US" smtClean="0"/>
              <a:t>40</a:t>
            </a:fld>
            <a:endParaRPr lang="zh-CN" altLang="en-US"/>
          </a:p>
        </p:txBody>
      </p:sp>
    </p:spTree>
    <p:extLst>
      <p:ext uri="{BB962C8B-B14F-4D97-AF65-F5344CB8AC3E}">
        <p14:creationId xmlns:p14="http://schemas.microsoft.com/office/powerpoint/2010/main" val="14484449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255346" y="2750337"/>
            <a:ext cx="1171888" cy="1356442"/>
          </a:xfrm>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479367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2252615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729455" y="2869895"/>
            <a:ext cx="1154151" cy="1090789"/>
          </a:xfrm>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969483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45283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80322" y="3030008"/>
            <a:ext cx="4698355" cy="29061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594123" y="3030008"/>
            <a:ext cx="4700059" cy="29061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223953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133794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2580924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74304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2895154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a:xfrm>
            <a:off x="10729455" y="4711309"/>
            <a:ext cx="1154151" cy="1090789"/>
          </a:xfrm>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21200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a:xfrm>
            <a:off x="10729455" y="4711615"/>
            <a:ext cx="1154151" cy="1090789"/>
          </a:xfrm>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1862019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a:xfrm>
            <a:off x="10729455" y="4709925"/>
            <a:ext cx="1154151" cy="1090789"/>
          </a:xfrm>
        </p:spPr>
        <p:txBody>
          <a:bodyPr/>
          <a:lstStyle/>
          <a:p>
            <a:fld id="{EF1DE28A-5765-48F3-8FEE-E5B05181030E}" type="slidenum">
              <a:rPr lang="zh-CN" altLang="en-US" smtClean="0"/>
              <a:t>‹#›</a:t>
            </a:fld>
            <a:endParaRPr lang="zh-CN" alt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245741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a:xfrm>
            <a:off x="10729455" y="4709925"/>
            <a:ext cx="1154151" cy="1090789"/>
          </a:xfrm>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50133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3" name="Date Placeholder 2"/>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41742197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3" name="Date Placeholder 2"/>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437683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3843145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11"/>
          </p:nvPr>
        </p:nvSpPr>
        <p:spPr>
          <a:xfrm>
            <a:off x="680321" y="5936188"/>
            <a:ext cx="6126805" cy="365125"/>
          </a:xfrm>
        </p:spPr>
        <p:txBody>
          <a:bodyPr/>
          <a:lstStyle/>
          <a:p>
            <a:endParaRPr lang="zh-CN" alt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4174155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9247C80-CD85-472B-8D41-2FA15F84664E}" type="datetimeFigureOut">
              <a:rPr lang="zh-CN" altLang="en-US" smtClean="0"/>
              <a:t>2023/2/27</a:t>
            </a:fld>
            <a:endParaRPr lang="zh-CN" alt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EF1DE28A-5765-48F3-8FEE-E5B05181030E}" type="slidenum">
              <a:rPr lang="zh-CN" altLang="en-US" smtClean="0"/>
              <a:t>‹#›</a:t>
            </a:fld>
            <a:endParaRPr lang="zh-CN" altLang="en-US"/>
          </a:p>
        </p:txBody>
      </p:sp>
    </p:spTree>
    <p:extLst>
      <p:ext uri="{BB962C8B-B14F-4D97-AF65-F5344CB8AC3E}">
        <p14:creationId xmlns:p14="http://schemas.microsoft.com/office/powerpoint/2010/main" val="175894239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0322" y="2576945"/>
            <a:ext cx="8144134" cy="1529834"/>
          </a:xfrm>
        </p:spPr>
        <p:txBody>
          <a:bodyPr/>
          <a:lstStyle/>
          <a:p>
            <a:r>
              <a:rPr lang="zh-CN" altLang="en-US" sz="4400" dirty="0">
                <a:solidFill>
                  <a:schemeClr val="accent1">
                    <a:lumMod val="60000"/>
                    <a:lumOff val="40000"/>
                  </a:schemeClr>
                </a:solidFill>
              </a:rPr>
              <a:t>第一讲</a:t>
            </a:r>
            <a:br>
              <a:rPr lang="en-US" altLang="zh-CN" dirty="0"/>
            </a:br>
            <a:r>
              <a:rPr lang="zh-CN" altLang="en-US" dirty="0"/>
              <a:t>软件危机与软件工程</a:t>
            </a:r>
          </a:p>
        </p:txBody>
      </p:sp>
      <p:sp>
        <p:nvSpPr>
          <p:cNvPr id="3" name="副标题 2"/>
          <p:cNvSpPr>
            <a:spLocks noGrp="1"/>
          </p:cNvSpPr>
          <p:nvPr>
            <p:ph type="subTitle" idx="1"/>
          </p:nvPr>
        </p:nvSpPr>
        <p:spPr/>
        <p:txBody>
          <a:bodyPr>
            <a:normAutofit/>
          </a:bodyPr>
          <a:lstStyle/>
          <a:p>
            <a:r>
              <a:rPr lang="zh-CN" altLang="en-US" sz="2400" dirty="0"/>
              <a:t>中国传媒大学 张弛</a:t>
            </a:r>
            <a:endParaRPr lang="en-US" altLang="zh-CN" sz="2400" dirty="0"/>
          </a:p>
        </p:txBody>
      </p:sp>
    </p:spTree>
    <p:extLst>
      <p:ext uri="{BB962C8B-B14F-4D97-AF65-F5344CB8AC3E}">
        <p14:creationId xmlns:p14="http://schemas.microsoft.com/office/powerpoint/2010/main" val="174103814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p:txBody>
          <a:bodyPr/>
          <a:lstStyle/>
          <a:p>
            <a:pPr>
              <a:lnSpc>
                <a:spcPct val="100000"/>
              </a:lnSpc>
              <a:spcBef>
                <a:spcPts val="600"/>
              </a:spcBef>
            </a:pPr>
            <a:r>
              <a:rPr lang="en-US" altLang="zh-CN" sz="3200" dirty="0"/>
              <a:t>1</a:t>
            </a:r>
            <a:r>
              <a:rPr lang="zh-CN" altLang="en-US" sz="3200" dirty="0"/>
              <a:t>、教材及参考资料</a:t>
            </a:r>
            <a:endParaRPr lang="en-US" altLang="zh-CN" sz="3200" dirty="0"/>
          </a:p>
          <a:p>
            <a:pPr lvl="1">
              <a:lnSpc>
                <a:spcPct val="100000"/>
              </a:lnSpc>
              <a:spcBef>
                <a:spcPts val="600"/>
              </a:spcBef>
            </a:pPr>
            <a:r>
              <a:rPr lang="en-US" altLang="zh-CN" sz="2400" dirty="0"/>
              <a:t>《</a:t>
            </a:r>
            <a:r>
              <a:rPr lang="zh-CN" altLang="en-US" sz="2400" dirty="0"/>
              <a:t>软件工程</a:t>
            </a:r>
            <a:r>
              <a:rPr lang="en-US" altLang="zh-CN" sz="2400" dirty="0"/>
              <a:t>》</a:t>
            </a:r>
            <a:r>
              <a:rPr lang="zh-CN" altLang="en-US" sz="2400" dirty="0"/>
              <a:t>张海藩 人民邮电出版社</a:t>
            </a:r>
          </a:p>
          <a:p>
            <a:pPr lvl="1">
              <a:lnSpc>
                <a:spcPct val="100000"/>
              </a:lnSpc>
              <a:spcBef>
                <a:spcPts val="600"/>
              </a:spcBef>
            </a:pPr>
            <a:r>
              <a:rPr lang="en-US" altLang="zh-CN" sz="2400" dirty="0"/>
              <a:t>《</a:t>
            </a:r>
            <a:r>
              <a:rPr lang="zh-CN" altLang="en-US" sz="2400" dirty="0"/>
              <a:t>软件工程</a:t>
            </a:r>
            <a:r>
              <a:rPr lang="en-US" altLang="zh-CN" sz="2400" dirty="0"/>
              <a:t>》</a:t>
            </a:r>
            <a:r>
              <a:rPr lang="zh-CN" altLang="en-US" sz="2400" dirty="0"/>
              <a:t>鄂大伟 清华大学出版社</a:t>
            </a:r>
          </a:p>
          <a:p>
            <a:pPr lvl="1">
              <a:lnSpc>
                <a:spcPct val="100000"/>
              </a:lnSpc>
              <a:spcBef>
                <a:spcPts val="600"/>
              </a:spcBef>
            </a:pPr>
            <a:r>
              <a:rPr lang="zh-CN" altLang="en-US" sz="2400" dirty="0"/>
              <a:t>其他有关软件开发、设计、管理类的书籍</a:t>
            </a:r>
            <a:endParaRPr lang="en-US" altLang="zh-CN" sz="2400" dirty="0"/>
          </a:p>
          <a:p>
            <a:pPr lvl="1">
              <a:lnSpc>
                <a:spcPct val="100000"/>
              </a:lnSpc>
              <a:spcBef>
                <a:spcPts val="600"/>
              </a:spcBef>
            </a:pPr>
            <a:r>
              <a:rPr lang="zh-CN" altLang="en-US" sz="2400" dirty="0"/>
              <a:t>软件工程论坛</a:t>
            </a:r>
            <a:endParaRPr lang="en-US" altLang="zh-CN" sz="2400" dirty="0"/>
          </a:p>
          <a:p>
            <a:pPr lvl="1">
              <a:lnSpc>
                <a:spcPct val="100000"/>
              </a:lnSpc>
              <a:spcBef>
                <a:spcPts val="600"/>
              </a:spcBef>
            </a:pPr>
            <a:r>
              <a:rPr lang="en-US" altLang="zh-CN" sz="2400" dirty="0"/>
              <a:t>www.uml.org.cn</a:t>
            </a:r>
          </a:p>
          <a:p>
            <a:pPr lvl="1">
              <a:lnSpc>
                <a:spcPct val="100000"/>
              </a:lnSpc>
              <a:spcBef>
                <a:spcPts val="600"/>
              </a:spcBef>
            </a:pPr>
            <a:r>
              <a:rPr lang="zh-CN" altLang="en-US" sz="2400" dirty="0"/>
              <a:t>搜索引擎</a:t>
            </a:r>
            <a:endParaRPr lang="en-US" altLang="zh-CN" sz="2400" dirty="0"/>
          </a:p>
          <a:p>
            <a:pPr lvl="1"/>
            <a:endParaRPr lang="zh-CN" altLang="en-US" dirty="0"/>
          </a:p>
        </p:txBody>
      </p:sp>
    </p:spTree>
    <p:extLst>
      <p:ext uri="{BB962C8B-B14F-4D97-AF65-F5344CB8AC3E}">
        <p14:creationId xmlns:p14="http://schemas.microsoft.com/office/powerpoint/2010/main" val="589345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p:txBody>
          <a:bodyPr/>
          <a:lstStyle/>
          <a:p>
            <a:pPr>
              <a:lnSpc>
                <a:spcPct val="100000"/>
              </a:lnSpc>
              <a:spcBef>
                <a:spcPts val="600"/>
              </a:spcBef>
            </a:pPr>
            <a:r>
              <a:rPr lang="en-US" altLang="zh-CN" sz="2800" b="1" dirty="0"/>
              <a:t>2</a:t>
            </a:r>
            <a:r>
              <a:rPr lang="zh-CN" altLang="en-US" sz="2800" b="1" dirty="0"/>
              <a:t>、课程考核</a:t>
            </a:r>
            <a:endParaRPr lang="en-US" altLang="zh-CN" sz="2800" b="1" dirty="0"/>
          </a:p>
          <a:p>
            <a:pPr lvl="1">
              <a:lnSpc>
                <a:spcPct val="100000"/>
              </a:lnSpc>
              <a:spcBef>
                <a:spcPts val="600"/>
              </a:spcBef>
            </a:pPr>
            <a:endParaRPr lang="en-US" altLang="zh-CN" sz="2400" dirty="0"/>
          </a:p>
          <a:p>
            <a:pPr lvl="1"/>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969550581"/>
              </p:ext>
            </p:extLst>
          </p:nvPr>
        </p:nvGraphicFramePr>
        <p:xfrm>
          <a:off x="1603957" y="3064306"/>
          <a:ext cx="9966037" cy="2194560"/>
        </p:xfrm>
        <a:graphic>
          <a:graphicData uri="http://schemas.openxmlformats.org/drawingml/2006/table">
            <a:tbl>
              <a:tblPr firstRow="1" bandRow="1">
                <a:tableStyleId>{5C22544A-7EE6-4342-B048-85BDC9FD1C3A}</a:tableStyleId>
              </a:tblPr>
              <a:tblGrid>
                <a:gridCol w="1835411">
                  <a:extLst>
                    <a:ext uri="{9D8B030D-6E8A-4147-A177-3AD203B41FA5}">
                      <a16:colId xmlns:a16="http://schemas.microsoft.com/office/drawing/2014/main" val="1329947073"/>
                    </a:ext>
                  </a:extLst>
                </a:gridCol>
                <a:gridCol w="1187057">
                  <a:extLst>
                    <a:ext uri="{9D8B030D-6E8A-4147-A177-3AD203B41FA5}">
                      <a16:colId xmlns:a16="http://schemas.microsoft.com/office/drawing/2014/main" val="3859740253"/>
                    </a:ext>
                  </a:extLst>
                </a:gridCol>
                <a:gridCol w="6943569">
                  <a:extLst>
                    <a:ext uri="{9D8B030D-6E8A-4147-A177-3AD203B41FA5}">
                      <a16:colId xmlns:a16="http://schemas.microsoft.com/office/drawing/2014/main" val="3198258207"/>
                    </a:ext>
                  </a:extLst>
                </a:gridCol>
              </a:tblGrid>
              <a:tr h="370840">
                <a:tc>
                  <a:txBody>
                    <a:bodyPr/>
                    <a:lstStyle/>
                    <a:p>
                      <a:r>
                        <a:rPr lang="zh-CN" altLang="en-US" sz="2400" dirty="0"/>
                        <a:t>总评构成</a:t>
                      </a:r>
                    </a:p>
                  </a:txBody>
                  <a:tcPr/>
                </a:tc>
                <a:tc>
                  <a:txBody>
                    <a:bodyPr/>
                    <a:lstStyle/>
                    <a:p>
                      <a:r>
                        <a:rPr lang="zh-CN" altLang="en-US" sz="2400" dirty="0"/>
                        <a:t>占比</a:t>
                      </a:r>
                    </a:p>
                  </a:txBody>
                  <a:tcPr/>
                </a:tc>
                <a:tc>
                  <a:txBody>
                    <a:bodyPr/>
                    <a:lstStyle/>
                    <a:p>
                      <a:r>
                        <a:rPr lang="zh-CN" altLang="en-US" sz="2400" dirty="0"/>
                        <a:t>说明</a:t>
                      </a:r>
                    </a:p>
                  </a:txBody>
                  <a:tcPr/>
                </a:tc>
                <a:extLst>
                  <a:ext uri="{0D108BD9-81ED-4DB2-BD59-A6C34878D82A}">
                    <a16:rowId xmlns:a16="http://schemas.microsoft.com/office/drawing/2014/main" val="2554065925"/>
                  </a:ext>
                </a:extLst>
              </a:tr>
              <a:tr h="370840">
                <a:tc>
                  <a:txBody>
                    <a:bodyPr/>
                    <a:lstStyle/>
                    <a:p>
                      <a:r>
                        <a:rPr lang="zh-CN" altLang="en-US" sz="2400" dirty="0"/>
                        <a:t>出勤</a:t>
                      </a:r>
                    </a:p>
                  </a:txBody>
                  <a:tcPr/>
                </a:tc>
                <a:tc>
                  <a:txBody>
                    <a:bodyPr/>
                    <a:lstStyle/>
                    <a:p>
                      <a:r>
                        <a:rPr lang="en-US" altLang="zh-CN" sz="2400" dirty="0"/>
                        <a:t>10%</a:t>
                      </a:r>
                      <a:endParaRPr lang="zh-CN" altLang="en-US" sz="2400" dirty="0"/>
                    </a:p>
                  </a:txBody>
                  <a:tcPr/>
                </a:tc>
                <a:tc>
                  <a:txBody>
                    <a:bodyPr/>
                    <a:lstStyle/>
                    <a:p>
                      <a:r>
                        <a:rPr lang="zh-CN" altLang="en-US" sz="2400" dirty="0"/>
                        <a:t>百分制：迟到</a:t>
                      </a:r>
                      <a:r>
                        <a:rPr lang="en-US" altLang="zh-CN" sz="2400" dirty="0"/>
                        <a:t>-0.5</a:t>
                      </a:r>
                      <a:r>
                        <a:rPr lang="zh-CN" altLang="en-US" sz="2400" dirty="0"/>
                        <a:t>；病假</a:t>
                      </a:r>
                      <a:r>
                        <a:rPr lang="en-US" altLang="zh-CN" sz="2400" dirty="0"/>
                        <a:t>-0.5</a:t>
                      </a:r>
                      <a:r>
                        <a:rPr lang="zh-CN" altLang="en-US" sz="2400" dirty="0"/>
                        <a:t>；旷课</a:t>
                      </a:r>
                      <a:r>
                        <a:rPr lang="en-US" altLang="zh-CN" sz="2400" dirty="0"/>
                        <a:t>-1</a:t>
                      </a:r>
                      <a:endParaRPr lang="zh-CN" altLang="en-US" sz="2400" dirty="0"/>
                    </a:p>
                  </a:txBody>
                  <a:tcPr/>
                </a:tc>
                <a:extLst>
                  <a:ext uri="{0D108BD9-81ED-4DB2-BD59-A6C34878D82A}">
                    <a16:rowId xmlns:a16="http://schemas.microsoft.com/office/drawing/2014/main" val="3295173686"/>
                  </a:ext>
                </a:extLst>
              </a:tr>
              <a:tr h="370840">
                <a:tc>
                  <a:txBody>
                    <a:bodyPr/>
                    <a:lstStyle/>
                    <a:p>
                      <a:r>
                        <a:rPr lang="zh-CN" altLang="en-US" sz="2400" dirty="0"/>
                        <a:t>上机实践</a:t>
                      </a:r>
                    </a:p>
                  </a:txBody>
                  <a:tcPr/>
                </a:tc>
                <a:tc>
                  <a:txBody>
                    <a:bodyPr/>
                    <a:lstStyle/>
                    <a:p>
                      <a:r>
                        <a:rPr lang="en-US" altLang="zh-CN" sz="2400" dirty="0"/>
                        <a:t>30%</a:t>
                      </a:r>
                      <a:endParaRPr lang="zh-CN" altLang="en-US" sz="2400" dirty="0"/>
                    </a:p>
                  </a:txBody>
                  <a:tcPr/>
                </a:tc>
                <a:tc>
                  <a:txBody>
                    <a:bodyPr/>
                    <a:lstStyle/>
                    <a:p>
                      <a:r>
                        <a:rPr lang="zh-CN" altLang="en-US" sz="2400" dirty="0"/>
                        <a:t>分组软件过程实践、文档撰写、编码、</a:t>
                      </a:r>
                      <a:r>
                        <a:rPr lang="en-US" altLang="zh-CN" sz="2400" dirty="0"/>
                        <a:t>PPT</a:t>
                      </a:r>
                      <a:r>
                        <a:rPr lang="zh-CN" altLang="en-US" sz="2400" dirty="0"/>
                        <a:t>答辩</a:t>
                      </a:r>
                    </a:p>
                  </a:txBody>
                  <a:tcPr/>
                </a:tc>
                <a:extLst>
                  <a:ext uri="{0D108BD9-81ED-4DB2-BD59-A6C34878D82A}">
                    <a16:rowId xmlns:a16="http://schemas.microsoft.com/office/drawing/2014/main" val="2703777450"/>
                  </a:ext>
                </a:extLst>
              </a:tr>
              <a:tr h="370840">
                <a:tc>
                  <a:txBody>
                    <a:bodyPr/>
                    <a:lstStyle/>
                    <a:p>
                      <a:r>
                        <a:rPr lang="zh-CN" altLang="en-US" sz="2400" dirty="0"/>
                        <a:t>期末笔试</a:t>
                      </a:r>
                    </a:p>
                  </a:txBody>
                  <a:tcPr/>
                </a:tc>
                <a:tc>
                  <a:txBody>
                    <a:bodyPr/>
                    <a:lstStyle/>
                    <a:p>
                      <a:r>
                        <a:rPr lang="en-US" altLang="zh-CN" sz="2400" dirty="0"/>
                        <a:t>60%</a:t>
                      </a:r>
                      <a:endParaRPr lang="zh-CN" altLang="en-US" sz="2400" dirty="0"/>
                    </a:p>
                  </a:txBody>
                  <a:tcPr/>
                </a:tc>
                <a:tc>
                  <a:txBody>
                    <a:bodyPr/>
                    <a:lstStyle/>
                    <a:p>
                      <a:r>
                        <a:rPr lang="zh-CN" altLang="en-US" sz="2400" dirty="0"/>
                        <a:t>闭卷：选择、填空、判断、名词解释、问答、应用</a:t>
                      </a:r>
                      <a:endParaRPr lang="en-US" altLang="zh-CN" sz="2400" dirty="0"/>
                    </a:p>
                    <a:p>
                      <a:r>
                        <a:rPr lang="zh-CN" altLang="en-US" sz="2400" dirty="0"/>
                        <a:t>重点考核：重要概念的理解记忆、重要方法的运用</a:t>
                      </a:r>
                    </a:p>
                  </a:txBody>
                  <a:tcPr/>
                </a:tc>
                <a:extLst>
                  <a:ext uri="{0D108BD9-81ED-4DB2-BD59-A6C34878D82A}">
                    <a16:rowId xmlns:a16="http://schemas.microsoft.com/office/drawing/2014/main" val="1502408664"/>
                  </a:ext>
                </a:extLst>
              </a:tr>
            </a:tbl>
          </a:graphicData>
        </a:graphic>
      </p:graphicFrame>
      <p:sp>
        <p:nvSpPr>
          <p:cNvPr id="5" name="文本框 4"/>
          <p:cNvSpPr txBox="1"/>
          <p:nvPr/>
        </p:nvSpPr>
        <p:spPr>
          <a:xfrm>
            <a:off x="3929032" y="5977231"/>
            <a:ext cx="4671472" cy="461665"/>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zh-CN" altLang="en-US" sz="2400" dirty="0"/>
              <a:t>缺勤</a:t>
            </a:r>
            <a:r>
              <a:rPr lang="en-US" altLang="zh-CN" sz="2400" dirty="0"/>
              <a:t>1/3</a:t>
            </a:r>
            <a:r>
              <a:rPr lang="zh-CN" altLang="en-US" sz="2400" dirty="0"/>
              <a:t>课时以上，不能参加考试</a:t>
            </a:r>
          </a:p>
        </p:txBody>
      </p:sp>
    </p:spTree>
    <p:extLst>
      <p:ext uri="{BB962C8B-B14F-4D97-AF65-F5344CB8AC3E}">
        <p14:creationId xmlns:p14="http://schemas.microsoft.com/office/powerpoint/2010/main" val="81656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p:txBody>
          <a:bodyPr/>
          <a:lstStyle/>
          <a:p>
            <a:pPr>
              <a:lnSpc>
                <a:spcPct val="100000"/>
              </a:lnSpc>
              <a:spcBef>
                <a:spcPts val="600"/>
              </a:spcBef>
            </a:pPr>
            <a:r>
              <a:rPr lang="en-US" altLang="zh-CN" sz="3200" dirty="0"/>
              <a:t>3</a:t>
            </a:r>
            <a:r>
              <a:rPr lang="zh-CN" altLang="en-US" sz="3200" dirty="0"/>
              <a:t>、先修课程</a:t>
            </a:r>
            <a:endParaRPr lang="en-US" altLang="zh-CN" sz="3200" dirty="0"/>
          </a:p>
          <a:p>
            <a:pPr lvl="1">
              <a:lnSpc>
                <a:spcPct val="100000"/>
              </a:lnSpc>
              <a:spcBef>
                <a:spcPts val="600"/>
              </a:spcBef>
            </a:pPr>
            <a:r>
              <a:rPr lang="zh-CN" altLang="en-US" sz="2800" dirty="0"/>
              <a:t>计算机导论</a:t>
            </a:r>
            <a:endParaRPr lang="en-US" altLang="zh-CN" sz="2800" dirty="0"/>
          </a:p>
          <a:p>
            <a:pPr lvl="1">
              <a:lnSpc>
                <a:spcPct val="100000"/>
              </a:lnSpc>
              <a:spcBef>
                <a:spcPts val="600"/>
              </a:spcBef>
            </a:pPr>
            <a:r>
              <a:rPr lang="zh-CN" altLang="en-US" sz="2800" dirty="0"/>
              <a:t>某一种编程语言，如</a:t>
            </a:r>
            <a:r>
              <a:rPr lang="en-US" altLang="zh-CN" sz="2800" dirty="0"/>
              <a:t>C</a:t>
            </a:r>
            <a:r>
              <a:rPr lang="zh-CN" altLang="en-US" sz="2800" dirty="0"/>
              <a:t>、</a:t>
            </a:r>
            <a:r>
              <a:rPr lang="en-US" altLang="zh-CN" sz="2800" dirty="0"/>
              <a:t>C++</a:t>
            </a:r>
            <a:r>
              <a:rPr lang="zh-CN" altLang="en-US" sz="2800" dirty="0"/>
              <a:t>、</a:t>
            </a:r>
            <a:r>
              <a:rPr lang="en-US" altLang="zh-CN" sz="2800" dirty="0"/>
              <a:t>Java</a:t>
            </a:r>
            <a:r>
              <a:rPr lang="zh-CN" altLang="en-US" sz="2800" dirty="0"/>
              <a:t>、</a:t>
            </a:r>
            <a:r>
              <a:rPr lang="en-US" altLang="zh-CN" sz="2800" dirty="0"/>
              <a:t>C#</a:t>
            </a:r>
            <a:r>
              <a:rPr lang="zh-CN" altLang="en-US" sz="2800" dirty="0"/>
              <a:t>、</a:t>
            </a:r>
            <a:r>
              <a:rPr lang="en-US" altLang="zh-CN" sz="2800" dirty="0"/>
              <a:t>Python……</a:t>
            </a:r>
          </a:p>
          <a:p>
            <a:pPr lvl="1">
              <a:lnSpc>
                <a:spcPct val="100000"/>
              </a:lnSpc>
              <a:spcBef>
                <a:spcPts val="600"/>
              </a:spcBef>
            </a:pPr>
            <a:r>
              <a:rPr lang="zh-CN" altLang="en-US" sz="2800" dirty="0"/>
              <a:t>数据库（*）</a:t>
            </a:r>
            <a:endParaRPr lang="en-US" altLang="zh-CN" sz="2800" dirty="0"/>
          </a:p>
          <a:p>
            <a:pPr lvl="1"/>
            <a:endParaRPr lang="zh-CN" altLang="en-US" dirty="0"/>
          </a:p>
        </p:txBody>
      </p:sp>
    </p:spTree>
    <p:extLst>
      <p:ext uri="{BB962C8B-B14F-4D97-AF65-F5344CB8AC3E}">
        <p14:creationId xmlns:p14="http://schemas.microsoft.com/office/powerpoint/2010/main" val="377675282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a:xfrm>
            <a:off x="680321" y="2336873"/>
            <a:ext cx="10099439" cy="3599316"/>
          </a:xfrm>
        </p:spPr>
        <p:txBody>
          <a:bodyPr/>
          <a:lstStyle/>
          <a:p>
            <a:pPr>
              <a:lnSpc>
                <a:spcPct val="100000"/>
              </a:lnSpc>
              <a:spcBef>
                <a:spcPts val="600"/>
              </a:spcBef>
            </a:pPr>
            <a:r>
              <a:rPr lang="en-US" altLang="zh-CN" sz="3200" dirty="0"/>
              <a:t>4</a:t>
            </a:r>
            <a:r>
              <a:rPr lang="zh-CN" altLang="en-US" sz="3200" dirty="0"/>
              <a:t>、课程特点</a:t>
            </a:r>
            <a:endParaRPr lang="en-US" altLang="zh-CN" sz="3200" dirty="0"/>
          </a:p>
          <a:p>
            <a:pPr lvl="1">
              <a:lnSpc>
                <a:spcPct val="100000"/>
              </a:lnSpc>
              <a:spcBef>
                <a:spcPts val="600"/>
              </a:spcBef>
            </a:pPr>
            <a:r>
              <a:rPr lang="zh-CN" altLang="en-US" sz="2600" dirty="0"/>
              <a:t>概念多</a:t>
            </a:r>
            <a:endParaRPr lang="en-US" altLang="zh-CN" sz="2600" dirty="0"/>
          </a:p>
          <a:p>
            <a:pPr lvl="1">
              <a:lnSpc>
                <a:spcPct val="100000"/>
              </a:lnSpc>
              <a:spcBef>
                <a:spcPts val="600"/>
              </a:spcBef>
            </a:pPr>
            <a:r>
              <a:rPr lang="zh-CN" altLang="en-US" sz="2600" dirty="0"/>
              <a:t>方法多</a:t>
            </a:r>
            <a:endParaRPr lang="en-US" altLang="zh-CN" sz="2600" dirty="0"/>
          </a:p>
          <a:p>
            <a:pPr lvl="1">
              <a:lnSpc>
                <a:spcPct val="100000"/>
              </a:lnSpc>
              <a:spcBef>
                <a:spcPts val="600"/>
              </a:spcBef>
            </a:pPr>
            <a:r>
              <a:rPr lang="zh-CN" altLang="en-US" sz="2600" dirty="0"/>
              <a:t>理论性强</a:t>
            </a:r>
            <a:endParaRPr lang="en-US" altLang="zh-CN" sz="2600" dirty="0"/>
          </a:p>
          <a:p>
            <a:pPr lvl="1">
              <a:lnSpc>
                <a:spcPct val="100000"/>
              </a:lnSpc>
              <a:spcBef>
                <a:spcPts val="600"/>
              </a:spcBef>
            </a:pPr>
            <a:r>
              <a:rPr lang="zh-CN" altLang="en-US" sz="2600" dirty="0"/>
              <a:t>实践性更强</a:t>
            </a:r>
            <a:endParaRPr lang="en-US" altLang="zh-CN" sz="2600" dirty="0"/>
          </a:p>
          <a:p>
            <a:pPr lvl="1">
              <a:lnSpc>
                <a:spcPct val="100000"/>
              </a:lnSpc>
              <a:spcBef>
                <a:spcPts val="600"/>
              </a:spcBef>
            </a:pPr>
            <a:r>
              <a:rPr lang="zh-CN" altLang="en-US" sz="2600" dirty="0"/>
              <a:t>软件工程涵盖的知识点非常多、可进一步细化为多个知识领域</a:t>
            </a:r>
            <a:endParaRPr lang="en-US" altLang="zh-CN" sz="2600" dirty="0"/>
          </a:p>
          <a:p>
            <a:pPr lvl="1"/>
            <a:endParaRPr lang="zh-CN" altLang="en-US" dirty="0"/>
          </a:p>
        </p:txBody>
      </p:sp>
    </p:spTree>
    <p:extLst>
      <p:ext uri="{BB962C8B-B14F-4D97-AF65-F5344CB8AC3E}">
        <p14:creationId xmlns:p14="http://schemas.microsoft.com/office/powerpoint/2010/main" val="57189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up)">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up)">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up)">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p:txBody>
          <a:bodyPr/>
          <a:lstStyle/>
          <a:p>
            <a:pPr>
              <a:lnSpc>
                <a:spcPct val="100000"/>
              </a:lnSpc>
              <a:spcBef>
                <a:spcPts val="600"/>
              </a:spcBef>
            </a:pPr>
            <a:r>
              <a:rPr lang="en-US" altLang="zh-CN" sz="3200" dirty="0"/>
              <a:t>5</a:t>
            </a:r>
            <a:r>
              <a:rPr lang="zh-CN" altLang="en-US" sz="3200" dirty="0"/>
              <a:t>、怎么学？</a:t>
            </a:r>
            <a:endParaRPr lang="en-US" altLang="zh-CN" sz="3200" dirty="0"/>
          </a:p>
          <a:p>
            <a:pPr lvl="1">
              <a:lnSpc>
                <a:spcPct val="100000"/>
              </a:lnSpc>
              <a:spcBef>
                <a:spcPts val="600"/>
              </a:spcBef>
            </a:pPr>
            <a:r>
              <a:rPr lang="zh-CN" altLang="en-US" sz="2800" dirty="0"/>
              <a:t>先把书读厚再把书读薄 </a:t>
            </a:r>
            <a:r>
              <a:rPr lang="en-US" altLang="zh-CN" sz="2800" dirty="0">
                <a:sym typeface="Wingdings" panose="05000000000000000000" pitchFamily="2" charset="2"/>
              </a:rPr>
              <a:t> </a:t>
            </a:r>
            <a:r>
              <a:rPr lang="zh-CN" altLang="en-US" sz="2800" dirty="0">
                <a:sym typeface="Wingdings" panose="05000000000000000000" pitchFamily="2" charset="2"/>
              </a:rPr>
              <a:t>边把书读厚边把书读薄</a:t>
            </a:r>
            <a:endParaRPr lang="en-US" altLang="zh-CN" sz="2800" dirty="0">
              <a:sym typeface="Wingdings" panose="05000000000000000000" pitchFamily="2" charset="2"/>
            </a:endParaRPr>
          </a:p>
          <a:p>
            <a:pPr lvl="1">
              <a:lnSpc>
                <a:spcPct val="100000"/>
              </a:lnSpc>
              <a:spcBef>
                <a:spcPts val="600"/>
              </a:spcBef>
            </a:pPr>
            <a:r>
              <a:rPr lang="zh-CN" altLang="en-US" sz="2800" dirty="0">
                <a:sym typeface="Wingdings" panose="05000000000000000000" pitchFamily="2" charset="2"/>
              </a:rPr>
              <a:t>认真听、反复想、勤动手、多交流</a:t>
            </a:r>
            <a:endParaRPr lang="en-US" altLang="zh-CN" sz="2800" dirty="0">
              <a:sym typeface="Wingdings" panose="05000000000000000000" pitchFamily="2" charset="2"/>
            </a:endParaRPr>
          </a:p>
          <a:p>
            <a:pPr lvl="1">
              <a:lnSpc>
                <a:spcPct val="100000"/>
              </a:lnSpc>
              <a:spcBef>
                <a:spcPts val="600"/>
              </a:spcBef>
            </a:pPr>
            <a:endParaRPr lang="en-US" altLang="zh-CN" sz="2800" dirty="0">
              <a:sym typeface="Wingdings" panose="05000000000000000000" pitchFamily="2" charset="2"/>
            </a:endParaRPr>
          </a:p>
          <a:p>
            <a:pPr lvl="1">
              <a:lnSpc>
                <a:spcPct val="100000"/>
              </a:lnSpc>
              <a:spcBef>
                <a:spcPts val="600"/>
              </a:spcBef>
            </a:pPr>
            <a:r>
              <a:rPr lang="zh-CN" altLang="en-US" sz="2800" dirty="0">
                <a:sym typeface="Wingdings" panose="05000000000000000000" pitchFamily="2" charset="2"/>
              </a:rPr>
              <a:t>讲授与实践相结合</a:t>
            </a:r>
            <a:endParaRPr lang="en-US" altLang="zh-CN" sz="2800" dirty="0">
              <a:sym typeface="Wingdings" panose="05000000000000000000" pitchFamily="2" charset="2"/>
            </a:endParaRPr>
          </a:p>
          <a:p>
            <a:pPr lvl="1">
              <a:lnSpc>
                <a:spcPct val="100000"/>
              </a:lnSpc>
              <a:spcBef>
                <a:spcPts val="600"/>
              </a:spcBef>
            </a:pPr>
            <a:r>
              <a:rPr lang="zh-CN" altLang="en-US" sz="2800" dirty="0">
                <a:sym typeface="Wingdings" panose="05000000000000000000" pitchFamily="2" charset="2"/>
              </a:rPr>
              <a:t>选择重要的知识点，由点到面</a:t>
            </a:r>
            <a:endParaRPr lang="en-US" altLang="zh-CN" sz="28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2762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up)">
                                      <p:cBhvr>
                                        <p:cTn id="15" dur="500"/>
                                        <p:tgtEl>
                                          <p:spTgt spid="3">
                                            <p:txEl>
                                              <p:pRg st="4" end="4"/>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up)">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课程前言</a:t>
            </a:r>
          </a:p>
        </p:txBody>
      </p:sp>
      <p:sp>
        <p:nvSpPr>
          <p:cNvPr id="3" name="内容占位符 2"/>
          <p:cNvSpPr>
            <a:spLocks noGrp="1"/>
          </p:cNvSpPr>
          <p:nvPr>
            <p:ph idx="1"/>
          </p:nvPr>
        </p:nvSpPr>
        <p:spPr>
          <a:xfrm>
            <a:off x="2161438" y="2936194"/>
            <a:ext cx="7668362" cy="1818686"/>
          </a:xfrm>
        </p:spPr>
        <p:txBody>
          <a:bodyPr>
            <a:normAutofit fontScale="92500"/>
          </a:bodyPr>
          <a:lstStyle/>
          <a:p>
            <a:pPr>
              <a:lnSpc>
                <a:spcPct val="100000"/>
              </a:lnSpc>
              <a:spcBef>
                <a:spcPts val="600"/>
              </a:spcBef>
            </a:pPr>
            <a:r>
              <a:rPr lang="zh-CN" altLang="en-US" sz="3600" b="1" dirty="0"/>
              <a:t>我的授课目标：知其然、知其所以然</a:t>
            </a:r>
            <a:endParaRPr lang="en-US" altLang="zh-CN" sz="3600" b="1" dirty="0"/>
          </a:p>
          <a:p>
            <a:pPr>
              <a:lnSpc>
                <a:spcPct val="100000"/>
              </a:lnSpc>
              <a:spcBef>
                <a:spcPts val="600"/>
              </a:spcBef>
            </a:pPr>
            <a:endParaRPr lang="en-US" altLang="zh-CN" sz="3600" b="1" dirty="0"/>
          </a:p>
          <a:p>
            <a:pPr>
              <a:lnSpc>
                <a:spcPct val="100000"/>
              </a:lnSpc>
              <a:spcBef>
                <a:spcPts val="600"/>
              </a:spcBef>
            </a:pPr>
            <a:r>
              <a:rPr lang="zh-CN" altLang="en-US" sz="3600" b="1" dirty="0"/>
              <a:t>但最重要的是：同学们自主学习习惯</a:t>
            </a:r>
            <a:endParaRPr lang="en-US" altLang="zh-CN" sz="2800" b="1"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4169034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思考一个问题</a:t>
            </a:r>
          </a:p>
        </p:txBody>
      </p:sp>
      <p:sp>
        <p:nvSpPr>
          <p:cNvPr id="3" name="内容占位符 2"/>
          <p:cNvSpPr>
            <a:spLocks noGrp="1"/>
          </p:cNvSpPr>
          <p:nvPr>
            <p:ph idx="1"/>
          </p:nvPr>
        </p:nvSpPr>
        <p:spPr/>
        <p:txBody>
          <a:bodyPr/>
          <a:lstStyle/>
          <a:p>
            <a:pPr>
              <a:lnSpc>
                <a:spcPct val="100000"/>
              </a:lnSpc>
              <a:spcBef>
                <a:spcPts val="600"/>
              </a:spcBef>
            </a:pPr>
            <a:r>
              <a:rPr lang="zh-CN" altLang="en-US" sz="2800" dirty="0">
                <a:sym typeface="Wingdings" panose="05000000000000000000" pitchFamily="2" charset="2"/>
              </a:rPr>
              <a:t>我们已经学习了计算机相关的多门专业课，是否具备完成一般软件目标的能力呢？（比如</a:t>
            </a:r>
            <a:r>
              <a:rPr lang="en-US" altLang="zh-CN" sz="2800" dirty="0">
                <a:sym typeface="Wingdings" panose="05000000000000000000" pitchFamily="2" charset="2"/>
              </a:rPr>
              <a:t>y=sin(x)</a:t>
            </a:r>
            <a:r>
              <a:rPr lang="zh-CN" altLang="en-US" sz="2800" dirty="0">
                <a:sym typeface="Wingdings" panose="05000000000000000000" pitchFamily="2" charset="2"/>
              </a:rPr>
              <a:t>源码、手机芯片操作系统、</a:t>
            </a:r>
            <a:r>
              <a:rPr lang="en-US" altLang="zh-CN" sz="2800" dirty="0">
                <a:sym typeface="Wingdings" panose="05000000000000000000" pitchFamily="2" charset="2"/>
              </a:rPr>
              <a:t>MIS</a:t>
            </a:r>
            <a:r>
              <a:rPr lang="zh-CN" altLang="en-US" sz="2800" dirty="0">
                <a:sym typeface="Wingdings" panose="05000000000000000000" pitchFamily="2" charset="2"/>
              </a:rPr>
              <a:t>、</a:t>
            </a:r>
            <a:r>
              <a:rPr lang="en-US" altLang="zh-CN" sz="2800" dirty="0">
                <a:sym typeface="Wingdings" panose="05000000000000000000" pitchFamily="2" charset="2"/>
              </a:rPr>
              <a:t>Web</a:t>
            </a:r>
            <a:r>
              <a:rPr lang="zh-CN" altLang="en-US" sz="2800" dirty="0">
                <a:sym typeface="Wingdings" panose="05000000000000000000" pitchFamily="2" charset="2"/>
              </a:rPr>
              <a:t>网站、数据分析软件</a:t>
            </a:r>
            <a:r>
              <a:rPr lang="en-US" altLang="zh-CN" sz="2800" dirty="0">
                <a:sym typeface="Wingdings" panose="05000000000000000000" pitchFamily="2" charset="2"/>
              </a:rPr>
              <a:t>……</a:t>
            </a:r>
            <a:r>
              <a:rPr lang="zh-CN" altLang="en-US" sz="2800" dirty="0">
                <a:sym typeface="Wingdings" panose="05000000000000000000" pitchFamily="2" charset="2"/>
              </a:rPr>
              <a:t>）</a:t>
            </a:r>
            <a:endParaRPr lang="en-US" altLang="zh-CN" sz="2800" dirty="0">
              <a:sym typeface="Wingdings" panose="05000000000000000000" pitchFamily="2" charset="2"/>
            </a:endParaRPr>
          </a:p>
          <a:p>
            <a:pPr>
              <a:lnSpc>
                <a:spcPct val="100000"/>
              </a:lnSpc>
              <a:spcBef>
                <a:spcPts val="600"/>
              </a:spcBef>
            </a:pPr>
            <a:r>
              <a:rPr lang="en-US" altLang="zh-CN" sz="2800" dirty="0">
                <a:sym typeface="Wingdings" panose="05000000000000000000" pitchFamily="2" charset="2"/>
              </a:rPr>
              <a:t>1</a:t>
            </a:r>
            <a:r>
              <a:rPr lang="zh-CN" altLang="en-US" sz="2800" dirty="0">
                <a:sym typeface="Wingdings" panose="05000000000000000000" pitchFamily="2" charset="2"/>
              </a:rPr>
              <a:t>、除了具备计算机的专业知识，还需要有数学、物理、电子技术等基础科学与领域知识。</a:t>
            </a:r>
            <a:endParaRPr lang="en-US" altLang="zh-CN" sz="2800" dirty="0">
              <a:sym typeface="Wingdings" panose="05000000000000000000" pitchFamily="2" charset="2"/>
            </a:endParaRPr>
          </a:p>
          <a:p>
            <a:pPr>
              <a:lnSpc>
                <a:spcPct val="100000"/>
              </a:lnSpc>
              <a:spcBef>
                <a:spcPts val="600"/>
              </a:spcBef>
            </a:pPr>
            <a:r>
              <a:rPr lang="en-US" altLang="zh-CN" sz="2800" dirty="0">
                <a:sym typeface="Wingdings" panose="05000000000000000000" pitchFamily="2" charset="2"/>
              </a:rPr>
              <a:t>2</a:t>
            </a:r>
            <a:r>
              <a:rPr lang="zh-CN" altLang="en-US" sz="2800" dirty="0">
                <a:sym typeface="Wingdings" panose="05000000000000000000" pitchFamily="2" charset="2"/>
              </a:rPr>
              <a:t>、然后呢？就可以顺利完成上述软件系统的设计开发了吗？</a:t>
            </a:r>
            <a:endParaRPr lang="en-US" altLang="zh-CN" sz="28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75720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继续这个问题</a:t>
            </a:r>
            <a:endParaRPr lang="zh-CN" altLang="en-US" dirty="0"/>
          </a:p>
        </p:txBody>
      </p:sp>
      <p:sp>
        <p:nvSpPr>
          <p:cNvPr id="3" name="内容占位符 2"/>
          <p:cNvSpPr>
            <a:spLocks noGrp="1"/>
          </p:cNvSpPr>
          <p:nvPr>
            <p:ph idx="1"/>
          </p:nvPr>
        </p:nvSpPr>
        <p:spPr>
          <a:xfrm>
            <a:off x="581084" y="2010807"/>
            <a:ext cx="10980051" cy="4680615"/>
          </a:xfrm>
        </p:spPr>
        <p:txBody>
          <a:bodyPr>
            <a:normAutofit lnSpcReduction="10000"/>
          </a:bodyPr>
          <a:lstStyle/>
          <a:p>
            <a:pPr>
              <a:lnSpc>
                <a:spcPct val="100000"/>
              </a:lnSpc>
              <a:spcBef>
                <a:spcPts val="600"/>
              </a:spcBef>
            </a:pPr>
            <a:r>
              <a:rPr lang="zh-CN" altLang="en-US" sz="2800" dirty="0">
                <a:sym typeface="Wingdings" panose="05000000000000000000" pitchFamily="2" charset="2"/>
              </a:rPr>
              <a:t>回答能与不能之前，先来将问题拆分？</a:t>
            </a:r>
            <a:endParaRPr lang="en-US" altLang="zh-CN" sz="2800" dirty="0">
              <a:sym typeface="Wingdings" panose="05000000000000000000" pitchFamily="2" charset="2"/>
            </a:endParaRPr>
          </a:p>
          <a:p>
            <a:pPr lvl="1">
              <a:lnSpc>
                <a:spcPct val="100000"/>
              </a:lnSpc>
              <a:spcBef>
                <a:spcPts val="600"/>
              </a:spcBef>
            </a:pPr>
            <a:r>
              <a:rPr lang="zh-CN" altLang="en-US" sz="2400" dirty="0"/>
              <a:t>如何设计系统？</a:t>
            </a:r>
            <a:endParaRPr lang="en-US" altLang="zh-CN" sz="2400" dirty="0"/>
          </a:p>
          <a:p>
            <a:pPr lvl="1">
              <a:lnSpc>
                <a:spcPct val="100000"/>
              </a:lnSpc>
              <a:spcBef>
                <a:spcPts val="600"/>
              </a:spcBef>
            </a:pPr>
            <a:r>
              <a:rPr lang="zh-CN" altLang="en-US" sz="2400" dirty="0"/>
              <a:t>设计前要先对问题进行分析。</a:t>
            </a:r>
            <a:endParaRPr lang="en-US" altLang="zh-CN" sz="2400" dirty="0"/>
          </a:p>
          <a:p>
            <a:pPr lvl="1">
              <a:lnSpc>
                <a:spcPct val="100000"/>
              </a:lnSpc>
              <a:spcBef>
                <a:spcPts val="600"/>
              </a:spcBef>
            </a:pPr>
            <a:r>
              <a:rPr lang="zh-CN" altLang="en-US" sz="2400" dirty="0"/>
              <a:t>如何判断程序是否正确？</a:t>
            </a:r>
            <a:endParaRPr lang="en-US" altLang="zh-CN" sz="2400" dirty="0"/>
          </a:p>
          <a:p>
            <a:pPr lvl="1">
              <a:lnSpc>
                <a:spcPct val="100000"/>
              </a:lnSpc>
              <a:spcBef>
                <a:spcPts val="600"/>
              </a:spcBef>
            </a:pPr>
            <a:r>
              <a:rPr lang="zh-CN" altLang="en-US" sz="2400" dirty="0"/>
              <a:t>开发周期如何估算？开发周期越长，变化可能性越大，如何应对？</a:t>
            </a:r>
            <a:endParaRPr lang="en-US" altLang="zh-CN" sz="2400" dirty="0"/>
          </a:p>
          <a:p>
            <a:pPr lvl="1">
              <a:lnSpc>
                <a:spcPct val="100000"/>
              </a:lnSpc>
              <a:spcBef>
                <a:spcPts val="600"/>
              </a:spcBef>
            </a:pPr>
            <a:r>
              <a:rPr lang="zh-CN" altLang="en-US" sz="2400" dirty="0"/>
              <a:t>多人的团队如何分工、协作、管理？</a:t>
            </a:r>
            <a:endParaRPr lang="en-US" altLang="zh-CN" sz="2400" dirty="0"/>
          </a:p>
          <a:p>
            <a:pPr lvl="1">
              <a:lnSpc>
                <a:spcPct val="100000"/>
              </a:lnSpc>
              <a:spcBef>
                <a:spcPts val="600"/>
              </a:spcBef>
            </a:pPr>
            <a:r>
              <a:rPr lang="zh-CN" altLang="en-US" sz="2400" dirty="0"/>
              <a:t>软件质量如何提高？</a:t>
            </a:r>
            <a:endParaRPr lang="en-US" altLang="zh-CN" sz="2400" dirty="0"/>
          </a:p>
          <a:p>
            <a:pPr lvl="1">
              <a:lnSpc>
                <a:spcPct val="100000"/>
              </a:lnSpc>
              <a:spcBef>
                <a:spcPts val="600"/>
              </a:spcBef>
            </a:pPr>
            <a:r>
              <a:rPr lang="zh-CN" altLang="en-US" sz="2400" dirty="0"/>
              <a:t>应该选择哪些开发工具和技术？</a:t>
            </a:r>
            <a:endParaRPr lang="en-US" altLang="zh-CN" sz="2400" dirty="0"/>
          </a:p>
          <a:p>
            <a:pPr lvl="1">
              <a:lnSpc>
                <a:spcPct val="100000"/>
              </a:lnSpc>
              <a:spcBef>
                <a:spcPts val="600"/>
              </a:spcBef>
            </a:pPr>
            <a:r>
              <a:rPr lang="zh-CN" altLang="en-US" sz="2400" dirty="0"/>
              <a:t>怎么与客户更好地交流？</a:t>
            </a:r>
            <a:endParaRPr lang="en-US" altLang="zh-CN" sz="2400" dirty="0"/>
          </a:p>
          <a:p>
            <a:pPr lvl="1">
              <a:lnSpc>
                <a:spcPct val="100000"/>
              </a:lnSpc>
              <a:spcBef>
                <a:spcPts val="600"/>
              </a:spcBef>
            </a:pPr>
            <a:r>
              <a:rPr lang="zh-CN" altLang="en-US" sz="2400" dirty="0"/>
              <a:t>费用估算？可行性分析？</a:t>
            </a:r>
            <a:endParaRPr lang="en-US" altLang="zh-CN" sz="2400" dirty="0"/>
          </a:p>
          <a:p>
            <a:pPr lvl="1">
              <a:lnSpc>
                <a:spcPct val="100000"/>
              </a:lnSpc>
              <a:spcBef>
                <a:spcPts val="600"/>
              </a:spcBef>
            </a:pPr>
            <a:r>
              <a:rPr lang="en-US" altLang="zh-CN" sz="2400" dirty="0"/>
              <a:t>……</a:t>
            </a:r>
          </a:p>
          <a:p>
            <a:pPr lvl="1"/>
            <a:endParaRPr lang="zh-CN" altLang="en-US" dirty="0"/>
          </a:p>
        </p:txBody>
      </p:sp>
      <p:sp>
        <p:nvSpPr>
          <p:cNvPr id="4" name="文本框 3"/>
          <p:cNvSpPr txBox="1"/>
          <p:nvPr/>
        </p:nvSpPr>
        <p:spPr>
          <a:xfrm>
            <a:off x="6209413" y="5727406"/>
            <a:ext cx="5408429"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zh-CN" altLang="en-US" sz="2400" dirty="0"/>
              <a:t>只有学习软件工程，才能回答上述问题</a:t>
            </a:r>
          </a:p>
        </p:txBody>
      </p:sp>
    </p:spTree>
    <p:extLst>
      <p:ext uri="{BB962C8B-B14F-4D97-AF65-F5344CB8AC3E}">
        <p14:creationId xmlns:p14="http://schemas.microsoft.com/office/powerpoint/2010/main" val="173186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up)">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up)">
                                      <p:cBhvr>
                                        <p:cTn id="19" dur="500"/>
                                        <p:tgtEl>
                                          <p:spTgt spid="3">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up)">
                                      <p:cBhvr>
                                        <p:cTn id="27" dur="500"/>
                                        <p:tgtEl>
                                          <p:spTgt spid="3">
                                            <p:txEl>
                                              <p:pRg st="5" end="5"/>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up)">
                                      <p:cBhvr>
                                        <p:cTn id="31" dur="500"/>
                                        <p:tgtEl>
                                          <p:spTgt spid="3">
                                            <p:txEl>
                                              <p:pRg st="6" end="6"/>
                                            </p:txEl>
                                          </p:spTgt>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up)">
                                      <p:cBhvr>
                                        <p:cTn id="35" dur="500"/>
                                        <p:tgtEl>
                                          <p:spTgt spid="3">
                                            <p:txEl>
                                              <p:pRg st="7" end="7"/>
                                            </p:txEl>
                                          </p:spTgt>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up)">
                                      <p:cBhvr>
                                        <p:cTn id="39" dur="500"/>
                                        <p:tgtEl>
                                          <p:spTgt spid="3">
                                            <p:txEl>
                                              <p:pRg st="8" end="8"/>
                                            </p:txEl>
                                          </p:spTgt>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up)">
                                      <p:cBhvr>
                                        <p:cTn id="43" dur="500"/>
                                        <p:tgtEl>
                                          <p:spTgt spid="3">
                                            <p:txEl>
                                              <p:pRg st="9" end="9"/>
                                            </p:txEl>
                                          </p:spTgt>
                                        </p:tgtEl>
                                      </p:cBhvr>
                                    </p:animEffect>
                                  </p:childTnLst>
                                </p:cTn>
                              </p:par>
                            </p:childTnLst>
                          </p:cTn>
                        </p:par>
                        <p:par>
                          <p:cTn id="44" fill="hold">
                            <p:stCondLst>
                              <p:cond delay="5000"/>
                            </p:stCondLst>
                            <p:childTnLst>
                              <p:par>
                                <p:cTn id="45" presetID="22" presetClass="entr" presetSubtype="1" fill="hold"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wipe(up)">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down)">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学习好软件工程，才能真正具备软件开发能力</a:t>
            </a:r>
            <a:endParaRPr lang="zh-CN" altLang="en-US" dirty="0"/>
          </a:p>
        </p:txBody>
      </p:sp>
      <p:sp>
        <p:nvSpPr>
          <p:cNvPr id="3" name="椭圆 2"/>
          <p:cNvSpPr/>
          <p:nvPr/>
        </p:nvSpPr>
        <p:spPr>
          <a:xfrm>
            <a:off x="3657598" y="2092960"/>
            <a:ext cx="4541520" cy="454152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 name="椭圆 5"/>
          <p:cNvSpPr/>
          <p:nvPr/>
        </p:nvSpPr>
        <p:spPr>
          <a:xfrm>
            <a:off x="4502221" y="2937581"/>
            <a:ext cx="2852277" cy="285227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椭圆 6"/>
          <p:cNvSpPr/>
          <p:nvPr/>
        </p:nvSpPr>
        <p:spPr>
          <a:xfrm>
            <a:off x="5174792" y="3610152"/>
            <a:ext cx="1507133" cy="1507133"/>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 name="文本框 3"/>
          <p:cNvSpPr txBox="1"/>
          <p:nvPr/>
        </p:nvSpPr>
        <p:spPr>
          <a:xfrm>
            <a:off x="5526645" y="4132885"/>
            <a:ext cx="803425" cy="461665"/>
          </a:xfrm>
          <a:prstGeom prst="rect">
            <a:avLst/>
          </a:prstGeom>
          <a:noFill/>
        </p:spPr>
        <p:txBody>
          <a:bodyPr wrap="none" rtlCol="0">
            <a:spAutoFit/>
          </a:bodyPr>
          <a:lstStyle/>
          <a:p>
            <a:r>
              <a:rPr lang="en-US" altLang="zh-CN" sz="2400" b="1" dirty="0"/>
              <a:t>Why</a:t>
            </a:r>
            <a:endParaRPr lang="zh-CN" altLang="en-US" sz="2400" b="1" dirty="0"/>
          </a:p>
        </p:txBody>
      </p:sp>
      <p:sp>
        <p:nvSpPr>
          <p:cNvPr id="8" name="文本框 7"/>
          <p:cNvSpPr txBox="1"/>
          <p:nvPr/>
        </p:nvSpPr>
        <p:spPr>
          <a:xfrm>
            <a:off x="5526645" y="5178353"/>
            <a:ext cx="809837" cy="461665"/>
          </a:xfrm>
          <a:prstGeom prst="rect">
            <a:avLst/>
          </a:prstGeom>
          <a:noFill/>
        </p:spPr>
        <p:txBody>
          <a:bodyPr wrap="none" rtlCol="0">
            <a:spAutoFit/>
          </a:bodyPr>
          <a:lstStyle/>
          <a:p>
            <a:r>
              <a:rPr lang="en-US" altLang="zh-CN" sz="2400" b="1" dirty="0"/>
              <a:t>How</a:t>
            </a:r>
            <a:endParaRPr lang="zh-CN" altLang="en-US" sz="2400" b="1" dirty="0"/>
          </a:p>
        </p:txBody>
      </p:sp>
      <p:sp>
        <p:nvSpPr>
          <p:cNvPr id="9" name="文本框 8"/>
          <p:cNvSpPr txBox="1"/>
          <p:nvPr/>
        </p:nvSpPr>
        <p:spPr>
          <a:xfrm>
            <a:off x="5465730" y="6007412"/>
            <a:ext cx="925253" cy="461665"/>
          </a:xfrm>
          <a:prstGeom prst="rect">
            <a:avLst/>
          </a:prstGeom>
          <a:noFill/>
        </p:spPr>
        <p:txBody>
          <a:bodyPr wrap="none" rtlCol="0">
            <a:spAutoFit/>
          </a:bodyPr>
          <a:lstStyle/>
          <a:p>
            <a:r>
              <a:rPr lang="en-US" altLang="zh-CN" sz="2400" b="1" dirty="0"/>
              <a:t>What</a:t>
            </a:r>
            <a:endParaRPr lang="zh-CN" altLang="en-US" sz="2400" b="1" dirty="0"/>
          </a:p>
        </p:txBody>
      </p:sp>
    </p:spTree>
    <p:extLst>
      <p:ext uri="{BB962C8B-B14F-4D97-AF65-F5344CB8AC3E}">
        <p14:creationId xmlns:p14="http://schemas.microsoft.com/office/powerpoint/2010/main" val="301486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4"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本讲主要内容</a:t>
            </a:r>
            <a:endParaRPr lang="zh-CN" altLang="en-US" dirty="0"/>
          </a:p>
        </p:txBody>
      </p:sp>
      <p:sp>
        <p:nvSpPr>
          <p:cNvPr id="5" name="内容占位符 2"/>
          <p:cNvSpPr txBox="1">
            <a:spLocks/>
          </p:cNvSpPr>
          <p:nvPr/>
        </p:nvSpPr>
        <p:spPr>
          <a:xfrm>
            <a:off x="680321" y="2336873"/>
            <a:ext cx="961386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00000"/>
              </a:lnSpc>
              <a:spcBef>
                <a:spcPts val="600"/>
              </a:spcBef>
            </a:pPr>
            <a:r>
              <a:rPr lang="zh-CN" altLang="en-US" sz="2800" dirty="0">
                <a:sym typeface="Wingdings" panose="05000000000000000000" pitchFamily="2" charset="2"/>
              </a:rPr>
              <a:t>一、工程</a:t>
            </a:r>
          </a:p>
          <a:p>
            <a:pPr>
              <a:lnSpc>
                <a:spcPct val="100000"/>
              </a:lnSpc>
              <a:spcBef>
                <a:spcPts val="600"/>
              </a:spcBef>
            </a:pPr>
            <a:r>
              <a:rPr lang="zh-CN" altLang="en-US" sz="2800" dirty="0">
                <a:sym typeface="Wingdings" panose="05000000000000000000" pitchFamily="2" charset="2"/>
              </a:rPr>
              <a:t>二、软件</a:t>
            </a:r>
          </a:p>
          <a:p>
            <a:pPr>
              <a:lnSpc>
                <a:spcPct val="100000"/>
              </a:lnSpc>
              <a:spcBef>
                <a:spcPts val="600"/>
              </a:spcBef>
            </a:pPr>
            <a:r>
              <a:rPr lang="zh-CN" altLang="en-US" sz="2800" dirty="0">
                <a:sym typeface="Wingdings" panose="05000000000000000000" pitchFamily="2" charset="2"/>
              </a:rPr>
              <a:t>三、软件危机</a:t>
            </a:r>
          </a:p>
          <a:p>
            <a:pPr>
              <a:lnSpc>
                <a:spcPct val="100000"/>
              </a:lnSpc>
              <a:spcBef>
                <a:spcPts val="600"/>
              </a:spcBef>
            </a:pPr>
            <a:r>
              <a:rPr lang="zh-CN" altLang="en-US" sz="2800" dirty="0">
                <a:sym typeface="Wingdings" panose="05000000000000000000" pitchFamily="2" charset="2"/>
              </a:rPr>
              <a:t>四、软件工程</a:t>
            </a:r>
            <a:endParaRPr lang="en-US" altLang="zh-CN" sz="28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173710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初识软件工程</a:t>
            </a:r>
          </a:p>
        </p:txBody>
      </p:sp>
      <p:sp>
        <p:nvSpPr>
          <p:cNvPr id="3" name="内容占位符 2"/>
          <p:cNvSpPr>
            <a:spLocks noGrp="1"/>
          </p:cNvSpPr>
          <p:nvPr>
            <p:ph idx="1"/>
          </p:nvPr>
        </p:nvSpPr>
        <p:spPr>
          <a:xfrm>
            <a:off x="680321" y="2336873"/>
            <a:ext cx="10307719" cy="3599316"/>
          </a:xfrm>
        </p:spPr>
        <p:txBody>
          <a:bodyPr>
            <a:noAutofit/>
          </a:bodyPr>
          <a:lstStyle/>
          <a:p>
            <a:r>
              <a:rPr lang="en-US" altLang="zh-CN" sz="2600" dirty="0"/>
              <a:t>1</a:t>
            </a:r>
            <a:r>
              <a:rPr lang="zh-CN" altLang="en-US" sz="2600" dirty="0"/>
              <a:t>、</a:t>
            </a:r>
            <a:r>
              <a:rPr lang="zh-CN" altLang="en-US" sz="2600" b="1" dirty="0">
                <a:solidFill>
                  <a:srgbClr val="002060"/>
                </a:solidFill>
              </a:rPr>
              <a:t>软件工程</a:t>
            </a:r>
            <a:r>
              <a:rPr lang="zh-CN" altLang="en-US" sz="2600" dirty="0"/>
              <a:t>是指导计算机软件开发和维护的</a:t>
            </a:r>
            <a:r>
              <a:rPr lang="zh-CN" altLang="en-US" sz="2600" dirty="0">
                <a:solidFill>
                  <a:srgbClr val="FFFF00"/>
                </a:solidFill>
              </a:rPr>
              <a:t>工程学科</a:t>
            </a:r>
            <a:r>
              <a:rPr lang="zh-CN" altLang="en-US" sz="2600" dirty="0"/>
              <a:t>。采用工程的概念、原理、技术和方法来开发与维护软件，把经过时间考验而证明正确的</a:t>
            </a:r>
            <a:r>
              <a:rPr lang="zh-CN" altLang="en-US" sz="2600" dirty="0">
                <a:solidFill>
                  <a:srgbClr val="FFFF00"/>
                </a:solidFill>
              </a:rPr>
              <a:t>管理</a:t>
            </a:r>
            <a:r>
              <a:rPr lang="zh-CN" altLang="en-US" sz="2600" dirty="0"/>
              <a:t>技术和当前能够得到的最好的</a:t>
            </a:r>
            <a:r>
              <a:rPr lang="zh-CN" altLang="en-US" sz="2600" dirty="0">
                <a:solidFill>
                  <a:srgbClr val="FFFF00"/>
                </a:solidFill>
              </a:rPr>
              <a:t>技术</a:t>
            </a:r>
            <a:r>
              <a:rPr lang="zh-CN" altLang="en-US" sz="2600" dirty="0"/>
              <a:t>方法结合起来，经济地开发出高质量的软件并有效地维护它。</a:t>
            </a:r>
          </a:p>
          <a:p>
            <a:endParaRPr lang="en-US" altLang="zh-CN" sz="2600" dirty="0"/>
          </a:p>
          <a:p>
            <a:r>
              <a:rPr lang="en-US" altLang="zh-CN" sz="2600" dirty="0"/>
              <a:t>2</a:t>
            </a:r>
            <a:r>
              <a:rPr lang="zh-CN" altLang="en-US" sz="2600" dirty="0"/>
              <a:t>、</a:t>
            </a:r>
            <a:r>
              <a:rPr lang="en-US" altLang="zh-CN" sz="2600" dirty="0"/>
              <a:t>1993</a:t>
            </a:r>
            <a:r>
              <a:rPr lang="zh-CN" altLang="en-US" sz="2600" dirty="0"/>
              <a:t>年美国</a:t>
            </a:r>
            <a:r>
              <a:rPr lang="en-US" altLang="zh-CN" sz="2600" dirty="0"/>
              <a:t>《IEEE</a:t>
            </a:r>
            <a:r>
              <a:rPr lang="zh-CN" altLang="en-US" sz="2600" dirty="0"/>
              <a:t>软件工程标准术语</a:t>
            </a:r>
            <a:r>
              <a:rPr lang="en-US" altLang="zh-CN" sz="2600" dirty="0"/>
              <a:t>》</a:t>
            </a:r>
            <a:r>
              <a:rPr lang="zh-CN" altLang="en-US" sz="2600" dirty="0"/>
              <a:t>对</a:t>
            </a:r>
            <a:r>
              <a:rPr lang="zh-CN" altLang="en-US" sz="2600" b="1" dirty="0">
                <a:solidFill>
                  <a:srgbClr val="FFFF00"/>
                </a:solidFill>
              </a:rPr>
              <a:t>软件工程的定义</a:t>
            </a:r>
            <a:r>
              <a:rPr lang="zh-CN" altLang="en-US" sz="2600" dirty="0"/>
              <a:t>为：</a:t>
            </a:r>
            <a:endParaRPr lang="en-US" altLang="zh-CN" sz="2600" dirty="0"/>
          </a:p>
          <a:p>
            <a:pPr lvl="1"/>
            <a:r>
              <a:rPr lang="zh-CN" altLang="en-US" sz="2600" dirty="0"/>
              <a:t>（</a:t>
            </a:r>
            <a:r>
              <a:rPr lang="en-US" altLang="zh-CN" sz="2600" dirty="0"/>
              <a:t>1</a:t>
            </a:r>
            <a:r>
              <a:rPr lang="zh-CN" altLang="en-US" sz="2600" dirty="0"/>
              <a:t>）把系统化的、规范的、可度量的途径应用于软件开发、运行和维护的过程，也就是把工程化应用于软件中；</a:t>
            </a:r>
            <a:endParaRPr lang="en-US" altLang="zh-CN" sz="2600" dirty="0"/>
          </a:p>
          <a:p>
            <a:pPr lvl="1"/>
            <a:r>
              <a:rPr lang="zh-CN" altLang="en-US" sz="2600" dirty="0"/>
              <a:t>（</a:t>
            </a:r>
            <a:r>
              <a:rPr lang="en-US" altLang="zh-CN" sz="2600" dirty="0"/>
              <a:t>2</a:t>
            </a:r>
            <a:r>
              <a:rPr lang="zh-CN" altLang="en-US" sz="2600" dirty="0"/>
              <a:t>）研究（</a:t>
            </a:r>
            <a:r>
              <a:rPr lang="en-US" altLang="zh-CN" sz="2600" dirty="0"/>
              <a:t>1)</a:t>
            </a:r>
            <a:r>
              <a:rPr lang="zh-CN" altLang="en-US" sz="2600" dirty="0"/>
              <a:t>中提到的途径。</a:t>
            </a:r>
          </a:p>
        </p:txBody>
      </p:sp>
    </p:spTree>
    <p:extLst>
      <p:ext uri="{BB962C8B-B14F-4D97-AF65-F5344CB8AC3E}">
        <p14:creationId xmlns:p14="http://schemas.microsoft.com/office/powerpoint/2010/main" val="300738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up)">
                                      <p:cBhvr>
                                        <p:cTn id="7" dur="500"/>
                                        <p:tgtEl>
                                          <p:spTgt spid="3">
                                            <p:txEl>
                                              <p:pRg st="2" end="2"/>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up)">
                                      <p:cBhvr>
                                        <p:cTn id="10" dur="500"/>
                                        <p:tgtEl>
                                          <p:spTgt spid="3">
                                            <p:txEl>
                                              <p:pRg st="3" end="3"/>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up)">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一、工程</a:t>
            </a:r>
            <a:endParaRPr lang="zh-CN" altLang="en-US" dirty="0"/>
          </a:p>
        </p:txBody>
      </p:sp>
      <p:sp>
        <p:nvSpPr>
          <p:cNvPr id="5" name="内容占位符 2"/>
          <p:cNvSpPr txBox="1">
            <a:spLocks/>
          </p:cNvSpPr>
          <p:nvPr/>
        </p:nvSpPr>
        <p:spPr>
          <a:xfrm>
            <a:off x="680321" y="2336872"/>
            <a:ext cx="10922399" cy="43179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1">
              <a:lnSpc>
                <a:spcPct val="110000"/>
              </a:lnSpc>
            </a:pPr>
            <a:r>
              <a:rPr lang="zh-CN" altLang="en-US" sz="2600" dirty="0"/>
              <a:t>随着人类文明的发展，人们可以建造出比单一产品</a:t>
            </a:r>
            <a:r>
              <a:rPr lang="zh-CN" altLang="en-US" sz="2600" dirty="0">
                <a:solidFill>
                  <a:srgbClr val="FFFF00"/>
                </a:solidFill>
              </a:rPr>
              <a:t>更大、更复杂</a:t>
            </a:r>
            <a:r>
              <a:rPr lang="zh-CN" altLang="en-US" sz="2600" dirty="0"/>
              <a:t>的产品，这些产品不再是结构或功能单一的东西，而是各种各样的所谓“人造系统”（比如建筑物、轮船、铁路工程、海上工程、地下工程、飞机等），于是工程的概念就产生了。</a:t>
            </a:r>
            <a:endParaRPr lang="en-US" altLang="zh-CN" sz="2600" dirty="0"/>
          </a:p>
          <a:p>
            <a:pPr lvl="1">
              <a:lnSpc>
                <a:spcPct val="110000"/>
              </a:lnSpc>
            </a:pPr>
            <a:r>
              <a:rPr lang="zh-CN" altLang="en-US" sz="2800" b="1" dirty="0">
                <a:solidFill>
                  <a:srgbClr val="002060"/>
                </a:solidFill>
              </a:rPr>
              <a:t>工程</a:t>
            </a:r>
            <a:r>
              <a:rPr lang="zh-CN" altLang="en-US" sz="2600" dirty="0"/>
              <a:t>是科学和数学的某种应用，通过这一应用，使自然界的物质和能源的特性能够通过各种结构、机器、产品、系统和过程，以最短的</a:t>
            </a:r>
            <a:r>
              <a:rPr lang="zh-CN" altLang="en-US" sz="2600" dirty="0">
                <a:solidFill>
                  <a:srgbClr val="FFFF00"/>
                </a:solidFill>
              </a:rPr>
              <a:t>时间</a:t>
            </a:r>
            <a:r>
              <a:rPr lang="zh-CN" altLang="en-US" sz="2600" dirty="0"/>
              <a:t>和最少的</a:t>
            </a:r>
            <a:r>
              <a:rPr lang="zh-CN" altLang="en-US" sz="2600" dirty="0">
                <a:solidFill>
                  <a:srgbClr val="FFFF00"/>
                </a:solidFill>
              </a:rPr>
              <a:t>人力</a:t>
            </a:r>
            <a:r>
              <a:rPr lang="zh-CN" altLang="en-US" sz="2600" dirty="0"/>
              <a:t>、</a:t>
            </a:r>
            <a:r>
              <a:rPr lang="zh-CN" altLang="en-US" sz="2600" dirty="0">
                <a:solidFill>
                  <a:srgbClr val="FFFF00"/>
                </a:solidFill>
              </a:rPr>
              <a:t>物力</a:t>
            </a:r>
            <a:r>
              <a:rPr lang="zh-CN" altLang="en-US" sz="2600" dirty="0"/>
              <a:t>做出</a:t>
            </a:r>
            <a:r>
              <a:rPr lang="zh-CN" altLang="en-US" sz="2600" i="1" dirty="0">
                <a:solidFill>
                  <a:srgbClr val="FFFF00"/>
                </a:solidFill>
              </a:rPr>
              <a:t>高效</a:t>
            </a:r>
            <a:r>
              <a:rPr lang="zh-CN" altLang="en-US" sz="2600" i="1" dirty="0"/>
              <a:t>、</a:t>
            </a:r>
            <a:r>
              <a:rPr lang="zh-CN" altLang="en-US" sz="2600" i="1" dirty="0">
                <a:solidFill>
                  <a:srgbClr val="FFFF00"/>
                </a:solidFill>
              </a:rPr>
              <a:t>可靠且对人类有用的东西</a:t>
            </a:r>
            <a:r>
              <a:rPr lang="zh-CN" altLang="en-US" sz="2600" dirty="0"/>
              <a:t>。</a:t>
            </a:r>
            <a:endParaRPr lang="en-US" altLang="zh-CN" sz="2600" dirty="0"/>
          </a:p>
          <a:p>
            <a:pPr lvl="1">
              <a:lnSpc>
                <a:spcPct val="110000"/>
              </a:lnSpc>
            </a:pPr>
            <a:r>
              <a:rPr lang="zh-CN" altLang="en-US" sz="2600" b="1" dirty="0">
                <a:solidFill>
                  <a:srgbClr val="002060"/>
                </a:solidFill>
              </a:rPr>
              <a:t>工程</a:t>
            </a:r>
            <a:r>
              <a:rPr lang="zh-CN" altLang="en-US" sz="2600" dirty="0"/>
              <a:t>是将自然科学的理论应用到具体工农业生产部门中形成的各学科的总称。</a:t>
            </a:r>
            <a:endParaRPr lang="en-US" altLang="zh-CN" sz="2600" dirty="0"/>
          </a:p>
          <a:p>
            <a:pPr lvl="1">
              <a:lnSpc>
                <a:spcPct val="100000"/>
              </a:lnSpc>
            </a:pPr>
            <a:endParaRPr lang="zh-CN" altLang="en-US" sz="2400" dirty="0"/>
          </a:p>
        </p:txBody>
      </p:sp>
      <p:sp>
        <p:nvSpPr>
          <p:cNvPr id="3" name="文本框 2"/>
          <p:cNvSpPr txBox="1"/>
          <p:nvPr/>
        </p:nvSpPr>
        <p:spPr>
          <a:xfrm>
            <a:off x="6046016" y="693532"/>
            <a:ext cx="4300418"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t>更大、更复杂</a:t>
            </a:r>
            <a:endParaRPr lang="en-US" altLang="zh-CN" sz="2400" dirty="0"/>
          </a:p>
          <a:p>
            <a:pPr marL="342900" indent="-342900">
              <a:buFont typeface="Arial" panose="020B0604020202020204" pitchFamily="34" charset="0"/>
              <a:buChar char="•"/>
            </a:pPr>
            <a:r>
              <a:rPr lang="zh-CN" altLang="en-US" sz="2400" dirty="0"/>
              <a:t>时间、人力、物力</a:t>
            </a:r>
            <a:endParaRPr lang="en-US" altLang="zh-CN" sz="2400" dirty="0"/>
          </a:p>
          <a:p>
            <a:pPr marL="342900" indent="-342900">
              <a:buFont typeface="Arial" panose="020B0604020202020204" pitchFamily="34" charset="0"/>
              <a:buChar char="•"/>
            </a:pPr>
            <a:r>
              <a:rPr lang="zh-CN" altLang="en-US" sz="2400" dirty="0"/>
              <a:t>高效、可靠、有用</a:t>
            </a:r>
          </a:p>
        </p:txBody>
      </p:sp>
    </p:spTree>
    <p:extLst>
      <p:ext uri="{BB962C8B-B14F-4D97-AF65-F5344CB8AC3E}">
        <p14:creationId xmlns:p14="http://schemas.microsoft.com/office/powerpoint/2010/main" val="260288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up)">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up)">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一、工程</a:t>
            </a:r>
            <a:endParaRPr lang="zh-CN" altLang="en-US" dirty="0"/>
          </a:p>
        </p:txBody>
      </p:sp>
      <p:sp>
        <p:nvSpPr>
          <p:cNvPr id="5" name="内容占位符 2"/>
          <p:cNvSpPr txBox="1">
            <a:spLocks/>
          </p:cNvSpPr>
          <p:nvPr/>
        </p:nvSpPr>
        <p:spPr>
          <a:xfrm>
            <a:off x="680321" y="2336873"/>
            <a:ext cx="1073139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1">
              <a:lnSpc>
                <a:spcPct val="110000"/>
              </a:lnSpc>
              <a:spcAft>
                <a:spcPts val="600"/>
              </a:spcAft>
            </a:pPr>
            <a:r>
              <a:rPr lang="zh-CN" altLang="en-US" sz="2600" dirty="0"/>
              <a:t>定义（</a:t>
            </a:r>
            <a:r>
              <a:rPr lang="zh-CN" altLang="en-US" sz="2600" b="1" dirty="0">
                <a:solidFill>
                  <a:srgbClr val="FFFF00"/>
                </a:solidFill>
              </a:rPr>
              <a:t>狭义</a:t>
            </a:r>
            <a:r>
              <a:rPr lang="zh-CN" altLang="en-US" sz="2600" dirty="0"/>
              <a:t>）：以某组设想的目标为依据，应用有关的科学知识和技术手段，通过有组织的一群人将某个（或某些）现有实体（自然的或人造的）转化为具有预期使用价值的</a:t>
            </a:r>
            <a:r>
              <a:rPr lang="zh-CN" altLang="en-US" sz="2600" b="1" dirty="0">
                <a:solidFill>
                  <a:srgbClr val="FFFF00"/>
                </a:solidFill>
              </a:rPr>
              <a:t>人造产品过程</a:t>
            </a:r>
            <a:r>
              <a:rPr lang="zh-CN" altLang="en-US" sz="2600" dirty="0"/>
              <a:t>。</a:t>
            </a:r>
            <a:endParaRPr lang="en-US" altLang="zh-CN" sz="2600" dirty="0"/>
          </a:p>
          <a:p>
            <a:pPr lvl="1">
              <a:lnSpc>
                <a:spcPct val="110000"/>
              </a:lnSpc>
              <a:spcAft>
                <a:spcPts val="600"/>
              </a:spcAft>
            </a:pPr>
            <a:r>
              <a:rPr lang="zh-CN" altLang="en-US" sz="2600" dirty="0"/>
              <a:t>定义（</a:t>
            </a:r>
            <a:r>
              <a:rPr lang="zh-CN" altLang="en-US" sz="2600" b="1" dirty="0">
                <a:solidFill>
                  <a:srgbClr val="FFFF00"/>
                </a:solidFill>
              </a:rPr>
              <a:t>广义</a:t>
            </a:r>
            <a:r>
              <a:rPr lang="zh-CN" altLang="en-US" sz="2600" dirty="0"/>
              <a:t>）：由一群</a:t>
            </a:r>
            <a:r>
              <a:rPr lang="en-US" altLang="zh-CN" sz="2600" dirty="0"/>
              <a:t>(</a:t>
            </a:r>
            <a:r>
              <a:rPr lang="zh-CN" altLang="en-US" sz="2600" dirty="0"/>
              <a:t>个</a:t>
            </a:r>
            <a:r>
              <a:rPr lang="en-US" altLang="zh-CN" sz="2600" dirty="0"/>
              <a:t>)</a:t>
            </a:r>
            <a:r>
              <a:rPr lang="zh-CN" altLang="en-US" sz="2600" dirty="0"/>
              <a:t>人为达到某种目的，在一个较长时间周期内进行</a:t>
            </a:r>
            <a:r>
              <a:rPr lang="zh-CN" altLang="en-US" sz="2600" b="1" dirty="0">
                <a:solidFill>
                  <a:srgbClr val="FFFF00"/>
                </a:solidFill>
              </a:rPr>
              <a:t>协作（单独）活动的过程</a:t>
            </a:r>
            <a:r>
              <a:rPr lang="zh-CN" altLang="en-US" sz="2600" dirty="0"/>
              <a:t>。</a:t>
            </a:r>
            <a:endParaRPr lang="en-US" altLang="zh-CN" sz="2600" dirty="0"/>
          </a:p>
          <a:p>
            <a:pPr lvl="1">
              <a:lnSpc>
                <a:spcPct val="100000"/>
              </a:lnSpc>
            </a:pPr>
            <a:endParaRPr lang="zh-CN" altLang="en-US" sz="2400" dirty="0"/>
          </a:p>
        </p:txBody>
      </p:sp>
      <p:sp>
        <p:nvSpPr>
          <p:cNvPr id="4" name="文本框 3"/>
          <p:cNvSpPr txBox="1"/>
          <p:nvPr/>
        </p:nvSpPr>
        <p:spPr>
          <a:xfrm>
            <a:off x="285464" y="5222240"/>
            <a:ext cx="11521103" cy="89255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zh-CN" altLang="en-US" sz="2600" dirty="0"/>
              <a:t>工程的所有各分支领域的</a:t>
            </a:r>
            <a:r>
              <a:rPr lang="zh-CN" altLang="en-US" sz="2600" b="1" dirty="0">
                <a:solidFill>
                  <a:srgbClr val="002060"/>
                </a:solidFill>
              </a:rPr>
              <a:t>主要职能</a:t>
            </a:r>
            <a:r>
              <a:rPr lang="zh-CN" altLang="en-US" sz="2600" dirty="0"/>
              <a:t>：</a:t>
            </a:r>
            <a:endParaRPr lang="en-US" altLang="zh-CN" sz="2600" dirty="0"/>
          </a:p>
          <a:p>
            <a:r>
              <a:rPr lang="zh-CN" altLang="en-US" sz="2600" dirty="0"/>
              <a:t>研究新的工作原理和方法；开发；设计；施工；生产；操作；管理及其他职能</a:t>
            </a:r>
          </a:p>
        </p:txBody>
      </p:sp>
      <p:sp>
        <p:nvSpPr>
          <p:cNvPr id="6" name="矩形 5"/>
          <p:cNvSpPr/>
          <p:nvPr/>
        </p:nvSpPr>
        <p:spPr>
          <a:xfrm>
            <a:off x="3058160" y="586707"/>
            <a:ext cx="7388422" cy="614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分析思维、设计思维、质量思维、协作（管理）思维</a:t>
            </a:r>
          </a:p>
        </p:txBody>
      </p:sp>
    </p:spTree>
    <p:extLst>
      <p:ext uri="{BB962C8B-B14F-4D97-AF65-F5344CB8AC3E}">
        <p14:creationId xmlns:p14="http://schemas.microsoft.com/office/powerpoint/2010/main" val="90354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up)">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再来看软件工程的定义</a:t>
            </a:r>
            <a:endParaRPr lang="zh-CN" altLang="en-US" dirty="0"/>
          </a:p>
        </p:txBody>
      </p:sp>
      <p:sp>
        <p:nvSpPr>
          <p:cNvPr id="5" name="内容占位符 2"/>
          <p:cNvSpPr txBox="1">
            <a:spLocks/>
          </p:cNvSpPr>
          <p:nvPr/>
        </p:nvSpPr>
        <p:spPr>
          <a:xfrm>
            <a:off x="680321" y="2314013"/>
            <a:ext cx="10731391" cy="20522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1">
              <a:lnSpc>
                <a:spcPct val="100000"/>
              </a:lnSpc>
            </a:pPr>
            <a:r>
              <a:rPr lang="zh-CN" altLang="en-US" sz="2600" dirty="0"/>
              <a:t>（</a:t>
            </a:r>
            <a:r>
              <a:rPr lang="en-US" altLang="zh-CN" sz="2600" dirty="0"/>
              <a:t>1</a:t>
            </a:r>
            <a:r>
              <a:rPr lang="zh-CN" altLang="en-US" sz="2600" dirty="0"/>
              <a:t>）把系统化的、规范的、可度量的途径应用于软件开发、运行和维护的过程，也就是把工程化应用于软件中；</a:t>
            </a:r>
          </a:p>
          <a:p>
            <a:pPr lvl="1">
              <a:lnSpc>
                <a:spcPct val="100000"/>
              </a:lnSpc>
            </a:pPr>
            <a:r>
              <a:rPr lang="zh-CN" altLang="en-US" sz="2600" dirty="0"/>
              <a:t>（</a:t>
            </a:r>
            <a:r>
              <a:rPr lang="en-US" altLang="zh-CN" sz="2600" dirty="0"/>
              <a:t>2</a:t>
            </a:r>
            <a:r>
              <a:rPr lang="zh-CN" altLang="en-US" sz="2600" dirty="0"/>
              <a:t>）研究（</a:t>
            </a:r>
            <a:r>
              <a:rPr lang="en-US" altLang="zh-CN" sz="2600" dirty="0"/>
              <a:t>1)</a:t>
            </a:r>
            <a:r>
              <a:rPr lang="zh-CN" altLang="en-US" sz="2600" dirty="0"/>
              <a:t>中提到的途径。</a:t>
            </a:r>
            <a:endParaRPr lang="en-US" altLang="zh-CN" sz="2600" dirty="0"/>
          </a:p>
        </p:txBody>
      </p:sp>
      <p:graphicFrame>
        <p:nvGraphicFramePr>
          <p:cNvPr id="4" name="表格 3"/>
          <p:cNvGraphicFramePr>
            <a:graphicFrameLocks noGrp="1"/>
          </p:cNvGraphicFramePr>
          <p:nvPr>
            <p:extLst>
              <p:ext uri="{D42A27DB-BD31-4B8C-83A1-F6EECF244321}">
                <p14:modId xmlns:p14="http://schemas.microsoft.com/office/powerpoint/2010/main" val="3519637244"/>
              </p:ext>
            </p:extLst>
          </p:nvPr>
        </p:nvGraphicFramePr>
        <p:xfrm>
          <a:off x="1261942" y="4142741"/>
          <a:ext cx="9893738" cy="1694603"/>
        </p:xfrm>
        <a:graphic>
          <a:graphicData uri="http://schemas.openxmlformats.org/drawingml/2006/table">
            <a:tbl>
              <a:tblPr firstRow="1" bandRow="1">
                <a:tableStyleId>{5C22544A-7EE6-4342-B048-85BDC9FD1C3A}</a:tableStyleId>
              </a:tblPr>
              <a:tblGrid>
                <a:gridCol w="4114257">
                  <a:extLst>
                    <a:ext uri="{9D8B030D-6E8A-4147-A177-3AD203B41FA5}">
                      <a16:colId xmlns:a16="http://schemas.microsoft.com/office/drawing/2014/main" val="2686782314"/>
                    </a:ext>
                  </a:extLst>
                </a:gridCol>
                <a:gridCol w="2084596">
                  <a:extLst>
                    <a:ext uri="{9D8B030D-6E8A-4147-A177-3AD203B41FA5}">
                      <a16:colId xmlns:a16="http://schemas.microsoft.com/office/drawing/2014/main" val="3266319967"/>
                    </a:ext>
                  </a:extLst>
                </a:gridCol>
                <a:gridCol w="3694885">
                  <a:extLst>
                    <a:ext uri="{9D8B030D-6E8A-4147-A177-3AD203B41FA5}">
                      <a16:colId xmlns:a16="http://schemas.microsoft.com/office/drawing/2014/main" val="2910839903"/>
                    </a:ext>
                  </a:extLst>
                </a:gridCol>
              </a:tblGrid>
              <a:tr h="505883">
                <a:tc>
                  <a:txBody>
                    <a:bodyPr/>
                    <a:lstStyle/>
                    <a:p>
                      <a:pPr algn="ctr"/>
                      <a:r>
                        <a:rPr lang="zh-CN" altLang="en-US" sz="2400" dirty="0"/>
                        <a:t>工程</a:t>
                      </a:r>
                    </a:p>
                  </a:txBody>
                  <a:tcPr anchor="ctr"/>
                </a:tc>
                <a:tc>
                  <a:txBody>
                    <a:bodyPr/>
                    <a:lstStyle/>
                    <a:p>
                      <a:pPr algn="ctr"/>
                      <a:r>
                        <a:rPr lang="en-US" altLang="zh-CN" sz="2400" dirty="0"/>
                        <a:t> </a:t>
                      </a:r>
                      <a:r>
                        <a:rPr lang="en-US" altLang="zh-CN" sz="2400" dirty="0">
                          <a:sym typeface="Wingdings" panose="05000000000000000000" pitchFamily="2" charset="2"/>
                        </a:rPr>
                        <a:t></a:t>
                      </a:r>
                      <a:endParaRPr lang="zh-CN" altLang="en-US" sz="2400" dirty="0"/>
                    </a:p>
                  </a:txBody>
                  <a:tcPr anchor="ctr"/>
                </a:tc>
                <a:tc>
                  <a:txBody>
                    <a:bodyPr/>
                    <a:lstStyle/>
                    <a:p>
                      <a:pPr algn="ctr"/>
                      <a:r>
                        <a:rPr lang="zh-CN" altLang="en-US" sz="2400" dirty="0"/>
                        <a:t>软件工程</a:t>
                      </a:r>
                    </a:p>
                  </a:txBody>
                  <a:tcPr anchor="ctr"/>
                </a:tc>
                <a:extLst>
                  <a:ext uri="{0D108BD9-81ED-4DB2-BD59-A6C34878D82A}">
                    <a16:rowId xmlns:a16="http://schemas.microsoft.com/office/drawing/2014/main" val="3317086758"/>
                  </a:ext>
                </a:extLst>
              </a:tr>
              <a:tr h="505883">
                <a:tc>
                  <a:txBody>
                    <a:bodyPr/>
                    <a:lstStyle/>
                    <a:p>
                      <a:pPr marL="342900" indent="-342900">
                        <a:buFont typeface="Arial" panose="020B0604020202020204" pitchFamily="34" charset="0"/>
                        <a:buChar char="•"/>
                      </a:pPr>
                      <a:r>
                        <a:rPr lang="zh-CN" altLang="en-US" sz="2400" dirty="0"/>
                        <a:t>时间、人力、物力</a:t>
                      </a:r>
                      <a:endParaRPr lang="en-US" altLang="zh-CN" sz="2400" dirty="0"/>
                    </a:p>
                    <a:p>
                      <a:pPr marL="342900" indent="-342900">
                        <a:buFont typeface="Arial" panose="020B0604020202020204" pitchFamily="34" charset="0"/>
                        <a:buChar char="•"/>
                      </a:pPr>
                      <a:r>
                        <a:rPr lang="zh-CN" altLang="en-US" sz="2400" dirty="0"/>
                        <a:t>高效、可靠、有用</a:t>
                      </a:r>
                      <a:endParaRPr lang="en-US" altLang="zh-CN" sz="2400" dirty="0"/>
                    </a:p>
                    <a:p>
                      <a:pPr marL="342900" indent="-342900">
                        <a:buFont typeface="Arial" panose="020B0604020202020204" pitchFamily="34" charset="0"/>
                        <a:buChar char="•"/>
                      </a:pPr>
                      <a:r>
                        <a:rPr lang="zh-CN" altLang="en-US" sz="2400" i="1" u="sng" kern="1200" dirty="0">
                          <a:solidFill>
                            <a:schemeClr val="dk1"/>
                          </a:solidFill>
                          <a:latin typeface="+mn-lt"/>
                          <a:ea typeface="+mn-ea"/>
                          <a:cs typeface="+mn-cs"/>
                        </a:rPr>
                        <a:t>研究新的工作原理和方法</a:t>
                      </a:r>
                    </a:p>
                  </a:txBody>
                  <a:tcPr/>
                </a:tc>
                <a:tc>
                  <a:txBody>
                    <a:bodyPr/>
                    <a:lstStyle/>
                    <a:p>
                      <a:pPr algn="ctr"/>
                      <a:r>
                        <a:rPr lang="zh-CN" altLang="en-US" sz="2400" dirty="0"/>
                        <a:t>应用到软件</a:t>
                      </a:r>
                    </a:p>
                  </a:txBody>
                  <a:tcPr/>
                </a:tc>
                <a:tc>
                  <a:txBody>
                    <a:bodyPr/>
                    <a:lstStyle/>
                    <a:p>
                      <a:pPr marL="285750" indent="-285750">
                        <a:buFont typeface="Arial" panose="020B0604020202020204" pitchFamily="34" charset="0"/>
                        <a:buChar char="•"/>
                      </a:pPr>
                      <a:r>
                        <a:rPr lang="zh-CN" altLang="en-US" sz="2400" dirty="0"/>
                        <a:t>系统化、规范、可度量</a:t>
                      </a:r>
                      <a:endParaRPr lang="en-US" altLang="zh-CN" sz="2400" dirty="0"/>
                    </a:p>
                    <a:p>
                      <a:pPr marL="285750" indent="-285750">
                        <a:buFont typeface="Arial" panose="020B0604020202020204" pitchFamily="34" charset="0"/>
                        <a:buChar char="•"/>
                      </a:pPr>
                      <a:r>
                        <a:rPr lang="zh-CN" altLang="en-US" sz="2400" i="1" u="sng" dirty="0"/>
                        <a:t>不断研究</a:t>
                      </a:r>
                    </a:p>
                  </a:txBody>
                  <a:tcPr/>
                </a:tc>
                <a:extLst>
                  <a:ext uri="{0D108BD9-81ED-4DB2-BD59-A6C34878D82A}">
                    <a16:rowId xmlns:a16="http://schemas.microsoft.com/office/drawing/2014/main" val="1069866887"/>
                  </a:ext>
                </a:extLst>
              </a:tr>
            </a:tbl>
          </a:graphicData>
        </a:graphic>
      </p:graphicFrame>
    </p:spTree>
    <p:extLst>
      <p:ext uri="{BB962C8B-B14F-4D97-AF65-F5344CB8AC3E}">
        <p14:creationId xmlns:p14="http://schemas.microsoft.com/office/powerpoint/2010/main" val="332947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up)">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本讲主要内容</a:t>
            </a:r>
            <a:endParaRPr lang="zh-CN" altLang="en-US" dirty="0"/>
          </a:p>
        </p:txBody>
      </p:sp>
      <p:sp>
        <p:nvSpPr>
          <p:cNvPr id="5" name="内容占位符 2"/>
          <p:cNvSpPr txBox="1">
            <a:spLocks/>
          </p:cNvSpPr>
          <p:nvPr/>
        </p:nvSpPr>
        <p:spPr>
          <a:xfrm>
            <a:off x="680321" y="2336873"/>
            <a:ext cx="961386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00000"/>
              </a:lnSpc>
              <a:spcBef>
                <a:spcPts val="600"/>
              </a:spcBef>
            </a:pPr>
            <a:r>
              <a:rPr lang="zh-CN" altLang="en-US" sz="2800" dirty="0">
                <a:sym typeface="Wingdings" panose="05000000000000000000" pitchFamily="2" charset="2"/>
              </a:rPr>
              <a:t>一、工程</a:t>
            </a:r>
          </a:p>
          <a:p>
            <a:pPr>
              <a:lnSpc>
                <a:spcPct val="100000"/>
              </a:lnSpc>
              <a:spcBef>
                <a:spcPts val="600"/>
              </a:spcBef>
            </a:pPr>
            <a:r>
              <a:rPr lang="zh-CN" altLang="en-US" sz="2800" b="1" dirty="0">
                <a:solidFill>
                  <a:srgbClr val="002060"/>
                </a:solidFill>
                <a:sym typeface="Wingdings" panose="05000000000000000000" pitchFamily="2" charset="2"/>
              </a:rPr>
              <a:t>二、软件</a:t>
            </a:r>
          </a:p>
          <a:p>
            <a:pPr>
              <a:lnSpc>
                <a:spcPct val="100000"/>
              </a:lnSpc>
              <a:spcBef>
                <a:spcPts val="600"/>
              </a:spcBef>
            </a:pPr>
            <a:r>
              <a:rPr lang="zh-CN" altLang="en-US" sz="2800" dirty="0">
                <a:sym typeface="Wingdings" panose="05000000000000000000" pitchFamily="2" charset="2"/>
              </a:rPr>
              <a:t>三、软件危机</a:t>
            </a:r>
          </a:p>
          <a:p>
            <a:pPr>
              <a:lnSpc>
                <a:spcPct val="100000"/>
              </a:lnSpc>
              <a:spcBef>
                <a:spcPts val="600"/>
              </a:spcBef>
            </a:pPr>
            <a:r>
              <a:rPr lang="zh-CN" altLang="en-US" sz="2800" dirty="0">
                <a:sym typeface="Wingdings" panose="05000000000000000000" pitchFamily="2" charset="2"/>
              </a:rPr>
              <a:t>四、软件工程</a:t>
            </a:r>
            <a:endParaRPr lang="en-US" altLang="zh-CN" sz="28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244128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二、软件</a:t>
            </a:r>
            <a:r>
              <a:rPr lang="en-US" altLang="zh-CN" sz="3200" b="1" dirty="0"/>
              <a:t>——</a:t>
            </a:r>
            <a:r>
              <a:rPr lang="zh-CN" altLang="en-US" sz="3200" b="1" dirty="0"/>
              <a:t>定义</a:t>
            </a:r>
            <a:endParaRPr lang="zh-CN" altLang="en-US" sz="3200" dirty="0"/>
          </a:p>
        </p:txBody>
      </p:sp>
      <p:sp>
        <p:nvSpPr>
          <p:cNvPr id="5" name="内容占位符 2"/>
          <p:cNvSpPr txBox="1">
            <a:spLocks/>
          </p:cNvSpPr>
          <p:nvPr/>
        </p:nvSpPr>
        <p:spPr>
          <a:xfrm>
            <a:off x="680321" y="2336873"/>
            <a:ext cx="1073139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gn="just">
              <a:spcAft>
                <a:spcPct val="40000"/>
              </a:spcAft>
            </a:pPr>
            <a:r>
              <a:rPr lang="zh-CN" altLang="en-US" sz="2800" b="1" dirty="0">
                <a:solidFill>
                  <a:srgbClr val="002060"/>
                </a:solidFill>
                <a:latin typeface="宋体" panose="02010600030101010101" pitchFamily="2" charset="-122"/>
              </a:rPr>
              <a:t>软件</a:t>
            </a:r>
            <a:r>
              <a:rPr lang="zh-CN" altLang="en-US" sz="2800" dirty="0">
                <a:latin typeface="宋体" panose="02010600030101010101" pitchFamily="2" charset="-122"/>
              </a:rPr>
              <a:t>是计算机系统中与硬件相互依存的另一部分，它是包括程序、数据及其相关文档的完整集合。其中：</a:t>
            </a:r>
          </a:p>
          <a:p>
            <a:pPr lvl="1" algn="just">
              <a:spcAft>
                <a:spcPct val="40000"/>
              </a:spcAft>
            </a:pPr>
            <a:r>
              <a:rPr lang="zh-CN" altLang="en-US" sz="2600" dirty="0">
                <a:latin typeface="宋体" panose="02010600030101010101" pitchFamily="2" charset="-122"/>
              </a:rPr>
              <a:t>程序是能够完成预定功能和性能的可执行的指令序列；</a:t>
            </a:r>
          </a:p>
          <a:p>
            <a:pPr lvl="1" algn="just">
              <a:spcAft>
                <a:spcPct val="40000"/>
              </a:spcAft>
            </a:pPr>
            <a:r>
              <a:rPr lang="zh-CN" altLang="en-US" sz="2600" dirty="0">
                <a:latin typeface="宋体" panose="02010600030101010101" pitchFamily="2" charset="-122"/>
              </a:rPr>
              <a:t>数据是使程序能够适当的处理信息的数据结构；</a:t>
            </a:r>
          </a:p>
          <a:p>
            <a:pPr lvl="1" algn="just">
              <a:spcAft>
                <a:spcPct val="40000"/>
              </a:spcAft>
            </a:pPr>
            <a:r>
              <a:rPr lang="zh-CN" altLang="en-US" sz="2600" dirty="0">
                <a:latin typeface="宋体" panose="02010600030101010101" pitchFamily="2" charset="-122"/>
              </a:rPr>
              <a:t>文档是开发、使用和维护程序所需要的图文资料。</a:t>
            </a:r>
          </a:p>
          <a:p>
            <a:pPr algn="just">
              <a:spcAft>
                <a:spcPct val="40000"/>
              </a:spcAft>
            </a:pPr>
            <a:r>
              <a:rPr lang="zh-CN" altLang="en-US" sz="2800" dirty="0">
                <a:latin typeface="宋体" panose="02010600030101010101" pitchFamily="2" charset="-122"/>
              </a:rPr>
              <a:t>值得强调的是，</a:t>
            </a:r>
            <a:r>
              <a:rPr lang="zh-CN" altLang="en-US" sz="2800" b="1" dirty="0">
                <a:solidFill>
                  <a:srgbClr val="FFFF00"/>
                </a:solidFill>
                <a:latin typeface="宋体" panose="02010600030101010101" pitchFamily="2" charset="-122"/>
              </a:rPr>
              <a:t>程序≠软件</a:t>
            </a:r>
            <a:r>
              <a:rPr lang="zh-CN" altLang="en-US" sz="2800" dirty="0">
                <a:latin typeface="宋体" panose="02010600030101010101" pitchFamily="2" charset="-122"/>
              </a:rPr>
              <a:t>，程序只是软件的组成部分</a:t>
            </a:r>
            <a:endParaRPr lang="en-US" altLang="zh-CN" sz="32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pic>
        <p:nvPicPr>
          <p:cNvPr id="4" name="图片 3"/>
          <p:cNvPicPr>
            <a:picLocks noChangeAspect="1"/>
          </p:cNvPicPr>
          <p:nvPr/>
        </p:nvPicPr>
        <p:blipFill>
          <a:blip r:embed="rId2"/>
          <a:stretch>
            <a:fillRect/>
          </a:stretch>
        </p:blipFill>
        <p:spPr>
          <a:xfrm>
            <a:off x="6438554" y="224408"/>
            <a:ext cx="4973158" cy="29555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4092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二、软件</a:t>
            </a:r>
            <a:r>
              <a:rPr lang="en-US" altLang="zh-CN" sz="3200" b="1" dirty="0"/>
              <a:t>——</a:t>
            </a:r>
            <a:r>
              <a:rPr lang="zh-CN" altLang="en-US" sz="3200" b="1" dirty="0"/>
              <a:t>特点</a:t>
            </a:r>
            <a:endParaRPr lang="zh-CN" altLang="en-US" dirty="0"/>
          </a:p>
        </p:txBody>
      </p:sp>
      <p:sp>
        <p:nvSpPr>
          <p:cNvPr id="5" name="内容占位符 2"/>
          <p:cNvSpPr txBox="1">
            <a:spLocks/>
          </p:cNvSpPr>
          <p:nvPr/>
        </p:nvSpPr>
        <p:spPr>
          <a:xfrm>
            <a:off x="680321" y="2057400"/>
            <a:ext cx="10780159" cy="444246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gn="just">
              <a:lnSpc>
                <a:spcPct val="120000"/>
              </a:lnSpc>
              <a:spcBef>
                <a:spcPts val="600"/>
              </a:spcBef>
            </a:pPr>
            <a:r>
              <a:rPr lang="zh-CN" altLang="en-US" sz="2800" dirty="0">
                <a:latin typeface="宋体" panose="02010600030101010101" pitchFamily="2" charset="-122"/>
              </a:rPr>
              <a:t>是一种</a:t>
            </a:r>
            <a:r>
              <a:rPr lang="zh-CN" altLang="en-US" sz="2800" b="1" dirty="0">
                <a:solidFill>
                  <a:srgbClr val="FFFF00"/>
                </a:solidFill>
                <a:latin typeface="宋体" panose="02010600030101010101" pitchFamily="2" charset="-122"/>
              </a:rPr>
              <a:t>逻辑实体</a:t>
            </a:r>
            <a:r>
              <a:rPr lang="zh-CN" altLang="en-US" sz="2800" dirty="0">
                <a:latin typeface="宋体" panose="02010600030101010101" pitchFamily="2" charset="-122"/>
              </a:rPr>
              <a:t>，不是物理实体，具有</a:t>
            </a:r>
            <a:r>
              <a:rPr lang="zh-CN" altLang="en-US" sz="2800" b="1" dirty="0">
                <a:solidFill>
                  <a:srgbClr val="FFFF00"/>
                </a:solidFill>
                <a:latin typeface="宋体" panose="02010600030101010101" pitchFamily="2" charset="-122"/>
              </a:rPr>
              <a:t>不可见</a:t>
            </a:r>
            <a:r>
              <a:rPr lang="zh-CN" altLang="en-US" sz="2800" dirty="0">
                <a:latin typeface="宋体" panose="02010600030101010101" pitchFamily="2" charset="-122"/>
              </a:rPr>
              <a:t>和</a:t>
            </a:r>
            <a:r>
              <a:rPr lang="zh-CN" altLang="en-US" sz="2800" b="1" dirty="0">
                <a:solidFill>
                  <a:srgbClr val="FFFF00"/>
                </a:solidFill>
                <a:latin typeface="宋体" panose="02010600030101010101" pitchFamily="2" charset="-122"/>
              </a:rPr>
              <a:t>抽象</a:t>
            </a:r>
            <a:r>
              <a:rPr lang="zh-CN" altLang="en-US" sz="2800" dirty="0">
                <a:latin typeface="宋体" panose="02010600030101010101" pitchFamily="2" charset="-122"/>
              </a:rPr>
              <a:t>性；</a:t>
            </a:r>
          </a:p>
          <a:p>
            <a:pPr algn="just">
              <a:lnSpc>
                <a:spcPct val="120000"/>
              </a:lnSpc>
              <a:spcBef>
                <a:spcPts val="600"/>
              </a:spcBef>
            </a:pPr>
            <a:r>
              <a:rPr lang="zh-CN" altLang="en-US" sz="2800" dirty="0">
                <a:latin typeface="宋体" panose="02010600030101010101" pitchFamily="2" charset="-122"/>
              </a:rPr>
              <a:t>软件开发，是人的</a:t>
            </a:r>
            <a:r>
              <a:rPr lang="zh-CN" altLang="en-US" sz="2800" b="1" dirty="0">
                <a:solidFill>
                  <a:srgbClr val="FFFF00"/>
                </a:solidFill>
                <a:latin typeface="宋体" panose="02010600030101010101" pitchFamily="2" charset="-122"/>
              </a:rPr>
              <a:t>智力</a:t>
            </a:r>
            <a:r>
              <a:rPr lang="zh-CN" altLang="en-US" sz="2800" dirty="0">
                <a:latin typeface="宋体" panose="02010600030101010101" pitchFamily="2" charset="-122"/>
              </a:rPr>
              <a:t>的高度发挥，而不是硬件制造；</a:t>
            </a:r>
          </a:p>
          <a:p>
            <a:pPr algn="just">
              <a:lnSpc>
                <a:spcPct val="120000"/>
              </a:lnSpc>
              <a:spcBef>
                <a:spcPts val="600"/>
              </a:spcBef>
            </a:pPr>
            <a:r>
              <a:rPr lang="zh-CN" altLang="en-US" sz="2800" dirty="0">
                <a:latin typeface="宋体" panose="02010600030101010101" pitchFamily="2" charset="-122"/>
              </a:rPr>
              <a:t>软件</a:t>
            </a:r>
            <a:r>
              <a:rPr lang="zh-CN" altLang="en-US" sz="2800" b="1" dirty="0">
                <a:solidFill>
                  <a:srgbClr val="FFFF00"/>
                </a:solidFill>
                <a:latin typeface="宋体" panose="02010600030101010101" pitchFamily="2" charset="-122"/>
              </a:rPr>
              <a:t>维护</a:t>
            </a:r>
            <a:r>
              <a:rPr lang="zh-CN" altLang="en-US" sz="2800" dirty="0">
                <a:latin typeface="宋体" panose="02010600030101010101" pitchFamily="2" charset="-122"/>
              </a:rPr>
              <a:t>与硬件</a:t>
            </a:r>
            <a:r>
              <a:rPr lang="zh-CN" altLang="en-US" sz="2800" b="1" dirty="0">
                <a:solidFill>
                  <a:srgbClr val="FFFF00"/>
                </a:solidFill>
                <a:latin typeface="宋体" panose="02010600030101010101" pitchFamily="2" charset="-122"/>
              </a:rPr>
              <a:t>维修</a:t>
            </a:r>
            <a:r>
              <a:rPr lang="zh-CN" altLang="en-US" sz="2800" dirty="0">
                <a:latin typeface="宋体" panose="02010600030101010101" pitchFamily="2" charset="-122"/>
              </a:rPr>
              <a:t>有本质的差别；</a:t>
            </a:r>
          </a:p>
          <a:p>
            <a:pPr algn="just">
              <a:lnSpc>
                <a:spcPct val="120000"/>
              </a:lnSpc>
              <a:spcBef>
                <a:spcPts val="600"/>
              </a:spcBef>
            </a:pPr>
            <a:r>
              <a:rPr lang="zh-CN" altLang="en-US" sz="2800" dirty="0">
                <a:latin typeface="宋体" panose="02010600030101010101" pitchFamily="2" charset="-122"/>
              </a:rPr>
              <a:t>软件开发和运行对计算机系统有着不同程度的</a:t>
            </a:r>
            <a:r>
              <a:rPr lang="zh-CN" altLang="en-US" sz="2800" b="1" dirty="0">
                <a:solidFill>
                  <a:srgbClr val="FFFF00"/>
                </a:solidFill>
                <a:latin typeface="宋体" panose="02010600030101010101" pitchFamily="2" charset="-122"/>
              </a:rPr>
              <a:t>依赖性</a:t>
            </a:r>
            <a:r>
              <a:rPr lang="zh-CN" altLang="en-US" sz="2800" dirty="0">
                <a:latin typeface="宋体" panose="02010600030101010101" pitchFamily="2" charset="-122"/>
              </a:rPr>
              <a:t>；</a:t>
            </a:r>
          </a:p>
          <a:p>
            <a:pPr algn="just">
              <a:lnSpc>
                <a:spcPct val="120000"/>
              </a:lnSpc>
              <a:spcBef>
                <a:spcPts val="600"/>
              </a:spcBef>
            </a:pPr>
            <a:r>
              <a:rPr lang="zh-CN" altLang="en-US" sz="2800" dirty="0">
                <a:latin typeface="宋体" panose="02010600030101010101" pitchFamily="2" charset="-122"/>
              </a:rPr>
              <a:t>软件开发至今尚未完全摆脱</a:t>
            </a:r>
            <a:r>
              <a:rPr lang="zh-CN" altLang="en-US" sz="2800" b="1" dirty="0">
                <a:solidFill>
                  <a:srgbClr val="FFFF00"/>
                </a:solidFill>
                <a:latin typeface="宋体" panose="02010600030101010101" pitchFamily="2" charset="-122"/>
              </a:rPr>
              <a:t>手工艺</a:t>
            </a:r>
            <a:r>
              <a:rPr lang="zh-CN" altLang="en-US" sz="2800" dirty="0">
                <a:latin typeface="宋体" panose="02010600030101010101" pitchFamily="2" charset="-122"/>
              </a:rPr>
              <a:t>的开发方式，限制了软件开发效率的提高；</a:t>
            </a:r>
          </a:p>
          <a:p>
            <a:pPr algn="just">
              <a:lnSpc>
                <a:spcPct val="120000"/>
              </a:lnSpc>
              <a:spcBef>
                <a:spcPts val="600"/>
              </a:spcBef>
            </a:pPr>
            <a:r>
              <a:rPr lang="zh-CN" altLang="en-US" sz="2800" dirty="0">
                <a:latin typeface="宋体" panose="02010600030101010101" pitchFamily="2" charset="-122"/>
              </a:rPr>
              <a:t>软件开发是一个</a:t>
            </a:r>
            <a:r>
              <a:rPr lang="zh-CN" altLang="en-US" sz="2800" b="1" dirty="0">
                <a:solidFill>
                  <a:srgbClr val="FFFF00"/>
                </a:solidFill>
                <a:latin typeface="宋体" panose="02010600030101010101" pitchFamily="2" charset="-122"/>
              </a:rPr>
              <a:t>复杂</a:t>
            </a:r>
            <a:r>
              <a:rPr lang="zh-CN" altLang="en-US" sz="2800" dirty="0">
                <a:latin typeface="宋体" panose="02010600030101010101" pitchFamily="2" charset="-122"/>
              </a:rPr>
              <a:t>的过程：实际问题的复杂性、程序逻辑结构的复杂性；</a:t>
            </a:r>
          </a:p>
          <a:p>
            <a:pPr algn="just">
              <a:lnSpc>
                <a:spcPct val="120000"/>
              </a:lnSpc>
              <a:spcBef>
                <a:spcPts val="600"/>
              </a:spcBef>
            </a:pPr>
            <a:r>
              <a:rPr lang="zh-CN" altLang="en-US" sz="2800" dirty="0">
                <a:latin typeface="宋体" panose="02010600030101010101" pitchFamily="2" charset="-122"/>
              </a:rPr>
              <a:t>软件</a:t>
            </a:r>
            <a:r>
              <a:rPr lang="zh-CN" altLang="en-US" sz="2800" b="1" dirty="0">
                <a:solidFill>
                  <a:srgbClr val="FFFF00"/>
                </a:solidFill>
                <a:latin typeface="宋体" panose="02010600030101010101" pitchFamily="2" charset="-122"/>
              </a:rPr>
              <a:t>成本</a:t>
            </a:r>
            <a:r>
              <a:rPr lang="zh-CN" altLang="en-US" sz="2800" dirty="0">
                <a:latin typeface="宋体" panose="02010600030101010101" pitchFamily="2" charset="-122"/>
              </a:rPr>
              <a:t>非常高昂；</a:t>
            </a:r>
          </a:p>
          <a:p>
            <a:pPr algn="just">
              <a:lnSpc>
                <a:spcPct val="120000"/>
              </a:lnSpc>
              <a:spcBef>
                <a:spcPts val="600"/>
              </a:spcBef>
            </a:pPr>
            <a:r>
              <a:rPr lang="zh-CN" altLang="en-US" sz="2800" dirty="0">
                <a:latin typeface="宋体" panose="02010600030101010101" pitchFamily="2" charset="-122"/>
              </a:rPr>
              <a:t>相当多的软件工作涉及到</a:t>
            </a:r>
            <a:r>
              <a:rPr lang="zh-CN" altLang="en-US" sz="2800" b="1" dirty="0">
                <a:solidFill>
                  <a:srgbClr val="FFFF00"/>
                </a:solidFill>
                <a:latin typeface="宋体" panose="02010600030101010101" pitchFamily="2" charset="-122"/>
              </a:rPr>
              <a:t>社会因素</a:t>
            </a:r>
            <a:r>
              <a:rPr lang="zh-CN" altLang="en-US" sz="2800" dirty="0">
                <a:latin typeface="宋体" panose="02010600030101010101" pitchFamily="2" charset="-122"/>
              </a:rPr>
              <a:t>，涉及到机构</a:t>
            </a:r>
            <a:r>
              <a:rPr lang="zh-CN" altLang="en-US" sz="2800" b="1" dirty="0">
                <a:solidFill>
                  <a:srgbClr val="FFFF00"/>
                </a:solidFill>
                <a:latin typeface="宋体" panose="02010600030101010101" pitchFamily="2" charset="-122"/>
              </a:rPr>
              <a:t>体制</a:t>
            </a:r>
            <a:r>
              <a:rPr lang="zh-CN" altLang="en-US" sz="2800" dirty="0">
                <a:latin typeface="宋体" panose="02010600030101010101" pitchFamily="2" charset="-122"/>
              </a:rPr>
              <a:t>及</a:t>
            </a:r>
            <a:r>
              <a:rPr lang="zh-CN" altLang="en-US" sz="2800" b="1" dirty="0">
                <a:solidFill>
                  <a:srgbClr val="FFFF00"/>
                </a:solidFill>
                <a:latin typeface="宋体" panose="02010600030101010101" pitchFamily="2" charset="-122"/>
              </a:rPr>
              <a:t>管理方式</a:t>
            </a:r>
            <a:r>
              <a:rPr lang="zh-CN" altLang="en-US" sz="2800" dirty="0">
                <a:latin typeface="宋体" panose="02010600030101010101" pitchFamily="2" charset="-122"/>
              </a:rPr>
              <a:t>，甚至人的</a:t>
            </a:r>
            <a:r>
              <a:rPr lang="zh-CN" altLang="en-US" sz="2800" b="1" dirty="0">
                <a:solidFill>
                  <a:srgbClr val="FFFF00"/>
                </a:solidFill>
                <a:latin typeface="宋体" panose="02010600030101010101" pitchFamily="2" charset="-122"/>
              </a:rPr>
              <a:t>观念</a:t>
            </a:r>
            <a:r>
              <a:rPr lang="zh-CN" altLang="en-US" sz="2800" dirty="0">
                <a:latin typeface="宋体" panose="02010600030101010101" pitchFamily="2" charset="-122"/>
              </a:rPr>
              <a:t>和人们的</a:t>
            </a:r>
            <a:r>
              <a:rPr lang="zh-CN" altLang="en-US" sz="2800" b="1" dirty="0">
                <a:solidFill>
                  <a:srgbClr val="FFFF00"/>
                </a:solidFill>
                <a:latin typeface="宋体" panose="02010600030101010101" pitchFamily="2" charset="-122"/>
              </a:rPr>
              <a:t>心理</a:t>
            </a:r>
            <a:r>
              <a:rPr lang="zh-CN" altLang="en-US" sz="2800" dirty="0">
                <a:latin typeface="宋体" panose="02010600030101010101" pitchFamily="2" charset="-122"/>
              </a:rPr>
              <a:t>。</a:t>
            </a:r>
          </a:p>
        </p:txBody>
      </p:sp>
      <p:sp>
        <p:nvSpPr>
          <p:cNvPr id="3" name="文本框 2"/>
          <p:cNvSpPr txBox="1"/>
          <p:nvPr/>
        </p:nvSpPr>
        <p:spPr>
          <a:xfrm>
            <a:off x="6111240" y="555033"/>
            <a:ext cx="4335780" cy="1477328"/>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不可见、抽象；智力；维护（维修）；</a:t>
            </a:r>
            <a:endParaRPr lang="en-US" altLang="zh-CN" dirty="0"/>
          </a:p>
          <a:p>
            <a:pPr marL="285750" indent="-285750">
              <a:buFont typeface="Arial" panose="020B0604020202020204" pitchFamily="34" charset="0"/>
              <a:buChar char="•"/>
            </a:pPr>
            <a:r>
              <a:rPr lang="zh-CN" altLang="en-US" dirty="0"/>
              <a:t>限制、依赖；手工、开发效率</a:t>
            </a:r>
            <a:endParaRPr lang="en-US" altLang="zh-CN" dirty="0"/>
          </a:p>
          <a:p>
            <a:pPr marL="285750" indent="-285750">
              <a:buFont typeface="Arial" panose="020B0604020202020204" pitchFamily="34" charset="0"/>
              <a:buChar char="•"/>
            </a:pPr>
            <a:r>
              <a:rPr lang="zh-CN" altLang="en-US" dirty="0"/>
              <a:t>复杂；</a:t>
            </a:r>
            <a:endParaRPr lang="en-US" altLang="zh-CN" dirty="0"/>
          </a:p>
          <a:p>
            <a:pPr marL="285750" indent="-285750">
              <a:buFont typeface="Arial" panose="020B0604020202020204" pitchFamily="34" charset="0"/>
              <a:buChar char="•"/>
            </a:pPr>
            <a:r>
              <a:rPr lang="zh-CN" altLang="en-US" dirty="0"/>
              <a:t>成本、高昂；</a:t>
            </a:r>
            <a:endParaRPr lang="en-US" altLang="zh-CN" dirty="0"/>
          </a:p>
          <a:p>
            <a:pPr marL="285750" indent="-285750">
              <a:buFont typeface="Arial" panose="020B0604020202020204" pitchFamily="34" charset="0"/>
              <a:buChar char="•"/>
            </a:pPr>
            <a:r>
              <a:rPr lang="zh-CN" altLang="en-US" dirty="0"/>
              <a:t>社会因素、心理、体制、管理方式</a:t>
            </a:r>
          </a:p>
        </p:txBody>
      </p:sp>
    </p:spTree>
    <p:extLst>
      <p:ext uri="{BB962C8B-B14F-4D97-AF65-F5344CB8AC3E}">
        <p14:creationId xmlns:p14="http://schemas.microsoft.com/office/powerpoint/2010/main" val="77469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二、软件</a:t>
            </a:r>
            <a:r>
              <a:rPr lang="en-US" altLang="zh-CN" sz="3200" b="1" dirty="0"/>
              <a:t>——</a:t>
            </a:r>
            <a:r>
              <a:rPr lang="zh-CN" altLang="en-US" sz="3200" b="1" dirty="0"/>
              <a:t>计算机系统发展历程</a:t>
            </a:r>
            <a:endParaRPr lang="zh-CN" altLang="en-US" dirty="0"/>
          </a:p>
        </p:txBody>
      </p:sp>
      <p:sp>
        <p:nvSpPr>
          <p:cNvPr id="5" name="内容占位符 2"/>
          <p:cNvSpPr txBox="1">
            <a:spLocks/>
          </p:cNvSpPr>
          <p:nvPr/>
        </p:nvSpPr>
        <p:spPr>
          <a:xfrm>
            <a:off x="680321" y="2057400"/>
            <a:ext cx="10731391" cy="44424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365760" algn="just">
              <a:lnSpc>
                <a:spcPct val="110000"/>
              </a:lnSpc>
              <a:spcBef>
                <a:spcPts val="600"/>
              </a:spcBef>
              <a:buFont typeface="Verdana"/>
              <a:buChar char="›"/>
              <a:defRPr/>
            </a:pPr>
            <a:r>
              <a:rPr lang="zh-CN" altLang="en-US" b="1" dirty="0">
                <a:solidFill>
                  <a:srgbClr val="002060"/>
                </a:solidFill>
                <a:latin typeface="宋体" pitchFamily="2" charset="-122"/>
              </a:rPr>
              <a:t>第一代（20世纪60年代中期以前）</a:t>
            </a:r>
            <a:r>
              <a:rPr lang="zh-CN" altLang="en-US" dirty="0">
                <a:solidFill>
                  <a:srgbClr val="F8F200"/>
                </a:solidFill>
                <a:latin typeface="宋体" pitchFamily="2" charset="-122"/>
              </a:rPr>
              <a:t>程序设计阶段</a:t>
            </a:r>
          </a:p>
          <a:p>
            <a:pPr marL="365760" algn="just">
              <a:lnSpc>
                <a:spcPct val="110000"/>
              </a:lnSpc>
              <a:spcBef>
                <a:spcPts val="600"/>
              </a:spcBef>
              <a:buNone/>
              <a:defRPr/>
            </a:pPr>
            <a:r>
              <a:rPr lang="zh-CN" altLang="en-US" dirty="0">
                <a:latin typeface="宋体" pitchFamily="2" charset="-122"/>
              </a:rPr>
              <a:t>	专用软件、规模小、没有系统化方法和管理、最终只有程序保留</a:t>
            </a:r>
          </a:p>
          <a:p>
            <a:pPr marL="365760" algn="just">
              <a:lnSpc>
                <a:spcPct val="110000"/>
              </a:lnSpc>
              <a:spcBef>
                <a:spcPts val="600"/>
              </a:spcBef>
              <a:buFont typeface="Verdana"/>
              <a:buChar char="›"/>
              <a:defRPr/>
            </a:pPr>
            <a:r>
              <a:rPr lang="zh-CN" altLang="en-US" b="1" dirty="0">
                <a:solidFill>
                  <a:srgbClr val="002060"/>
                </a:solidFill>
                <a:latin typeface="宋体" pitchFamily="2" charset="-122"/>
              </a:rPr>
              <a:t>第二代（从20世纪60年代中期到70年代中期）</a:t>
            </a:r>
            <a:r>
              <a:rPr lang="zh-CN" altLang="en-US" dirty="0">
                <a:solidFill>
                  <a:srgbClr val="F8F200"/>
                </a:solidFill>
                <a:latin typeface="宋体" pitchFamily="2" charset="-122"/>
              </a:rPr>
              <a:t>程序系统阶段</a:t>
            </a:r>
            <a:endParaRPr lang="zh-CN" altLang="en-US" b="1" dirty="0">
              <a:solidFill>
                <a:srgbClr val="F8F200"/>
              </a:solidFill>
              <a:latin typeface="宋体" pitchFamily="2" charset="-122"/>
            </a:endParaRPr>
          </a:p>
          <a:p>
            <a:pPr marL="365760" algn="just">
              <a:lnSpc>
                <a:spcPct val="110000"/>
              </a:lnSpc>
              <a:spcBef>
                <a:spcPts val="600"/>
              </a:spcBef>
              <a:buNone/>
              <a:defRPr/>
            </a:pPr>
            <a:r>
              <a:rPr lang="zh-CN" altLang="en-US" dirty="0">
                <a:latin typeface="宋体" pitchFamily="2" charset="-122"/>
              </a:rPr>
              <a:t>	多道程序、多用户系统、在线存储及数据库，软件作坊，“软件工程” 学科诞生</a:t>
            </a:r>
          </a:p>
          <a:p>
            <a:pPr marL="365760">
              <a:lnSpc>
                <a:spcPct val="110000"/>
              </a:lnSpc>
              <a:spcBef>
                <a:spcPts val="600"/>
              </a:spcBef>
              <a:buFont typeface="Verdana"/>
              <a:buChar char="›"/>
              <a:defRPr/>
            </a:pPr>
            <a:r>
              <a:rPr lang="zh-CN" altLang="en-US" b="1" dirty="0">
                <a:solidFill>
                  <a:srgbClr val="002060"/>
                </a:solidFill>
                <a:latin typeface="宋体" pitchFamily="2" charset="-122"/>
              </a:rPr>
              <a:t>第三代（从20世纪70年代中期到80年代中期）</a:t>
            </a:r>
            <a:r>
              <a:rPr lang="zh-CN" altLang="en-US" dirty="0">
                <a:solidFill>
                  <a:srgbClr val="F8F200"/>
                </a:solidFill>
                <a:latin typeface="宋体" pitchFamily="2" charset="-122"/>
              </a:rPr>
              <a:t>软件工程阶段</a:t>
            </a:r>
          </a:p>
          <a:p>
            <a:pPr marL="365760" algn="just">
              <a:lnSpc>
                <a:spcPct val="110000"/>
              </a:lnSpc>
              <a:spcBef>
                <a:spcPts val="600"/>
              </a:spcBef>
              <a:buNone/>
              <a:defRPr/>
            </a:pPr>
            <a:r>
              <a:rPr lang="zh-CN" altLang="en-US" dirty="0">
                <a:latin typeface="宋体" pitchFamily="2" charset="-122"/>
              </a:rPr>
              <a:t>	分布式系统、微处理器，主要在工业界和学术界应用</a:t>
            </a:r>
          </a:p>
          <a:p>
            <a:pPr marL="365760" algn="just">
              <a:lnSpc>
                <a:spcPct val="110000"/>
              </a:lnSpc>
              <a:spcBef>
                <a:spcPts val="600"/>
              </a:spcBef>
              <a:buFont typeface="Verdana"/>
              <a:buChar char="›"/>
              <a:defRPr/>
            </a:pPr>
            <a:r>
              <a:rPr lang="zh-CN" altLang="en-US" b="1" dirty="0">
                <a:solidFill>
                  <a:srgbClr val="002060"/>
                </a:solidFill>
                <a:latin typeface="宋体" pitchFamily="2" charset="-122"/>
              </a:rPr>
              <a:t>第四代（从20世纪80年代中期至今）</a:t>
            </a:r>
            <a:r>
              <a:rPr lang="zh-CN" altLang="en-US" dirty="0">
                <a:solidFill>
                  <a:srgbClr val="F8F200"/>
                </a:solidFill>
                <a:latin typeface="宋体" pitchFamily="2" charset="-122"/>
              </a:rPr>
              <a:t>软件工程阶段</a:t>
            </a:r>
          </a:p>
          <a:p>
            <a:pPr marL="365760" algn="just">
              <a:lnSpc>
                <a:spcPct val="110000"/>
              </a:lnSpc>
              <a:spcBef>
                <a:spcPts val="600"/>
              </a:spcBef>
              <a:buNone/>
              <a:defRPr/>
            </a:pPr>
            <a:r>
              <a:rPr lang="en-US" altLang="zh-CN" dirty="0">
                <a:latin typeface="宋体" pitchFamily="2" charset="-122"/>
              </a:rPr>
              <a:t>	C/S</a:t>
            </a:r>
            <a:r>
              <a:rPr lang="zh-CN" altLang="en-US" dirty="0">
                <a:latin typeface="宋体" pitchFamily="2" charset="-122"/>
              </a:rPr>
              <a:t>、</a:t>
            </a:r>
            <a:r>
              <a:rPr lang="en-US" altLang="zh-CN" dirty="0">
                <a:latin typeface="宋体" pitchFamily="2" charset="-122"/>
              </a:rPr>
              <a:t>B/S</a:t>
            </a:r>
            <a:r>
              <a:rPr lang="zh-CN" altLang="en-US" dirty="0">
                <a:latin typeface="宋体" pitchFamily="2" charset="-122"/>
              </a:rPr>
              <a:t>，软件产业在世界经济中已经占有举足轻重的地位</a:t>
            </a:r>
          </a:p>
        </p:txBody>
      </p:sp>
    </p:spTree>
    <p:extLst>
      <p:ext uri="{BB962C8B-B14F-4D97-AF65-F5344CB8AC3E}">
        <p14:creationId xmlns:p14="http://schemas.microsoft.com/office/powerpoint/2010/main" val="2953386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二、软件</a:t>
            </a:r>
            <a:r>
              <a:rPr lang="en-US" altLang="zh-CN" sz="3200" b="1" dirty="0"/>
              <a:t>——</a:t>
            </a:r>
            <a:r>
              <a:rPr lang="zh-CN" altLang="en-US" sz="3200" b="1" dirty="0"/>
              <a:t>计算机系统发展历程的根本变化</a:t>
            </a:r>
            <a:endParaRPr lang="zh-CN" altLang="en-US" dirty="0"/>
          </a:p>
        </p:txBody>
      </p:sp>
      <p:sp>
        <p:nvSpPr>
          <p:cNvPr id="5" name="内容占位符 2"/>
          <p:cNvSpPr txBox="1">
            <a:spLocks/>
          </p:cNvSpPr>
          <p:nvPr/>
        </p:nvSpPr>
        <p:spPr>
          <a:xfrm>
            <a:off x="680321" y="2057400"/>
            <a:ext cx="11034159" cy="44424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422275" fontAlgn="ctr">
              <a:lnSpc>
                <a:spcPct val="100000"/>
              </a:lnSpc>
              <a:spcBef>
                <a:spcPts val="600"/>
              </a:spcBef>
              <a:buFont typeface="Verdana" panose="020B0604030504040204" pitchFamily="34" charset="0"/>
              <a:buChar char="›"/>
            </a:pPr>
            <a:r>
              <a:rPr lang="en-US" altLang="zh-CN" sz="2600" b="1" dirty="0">
                <a:solidFill>
                  <a:srgbClr val="FFFF00"/>
                </a:solidFill>
              </a:rPr>
              <a:t>(1) </a:t>
            </a:r>
            <a:r>
              <a:rPr lang="zh-CN" altLang="en-US" sz="2600" b="1" dirty="0">
                <a:solidFill>
                  <a:srgbClr val="FFFF00"/>
                </a:solidFill>
              </a:rPr>
              <a:t>人们改变了对软件的看法</a:t>
            </a:r>
            <a:endParaRPr lang="en-US" altLang="zh-CN" sz="2600" dirty="0">
              <a:solidFill>
                <a:srgbClr val="FFFF00"/>
              </a:solidFill>
            </a:endParaRPr>
          </a:p>
          <a:p>
            <a:pPr marL="822325" lvl="1" fontAlgn="ctr">
              <a:lnSpc>
                <a:spcPct val="100000"/>
              </a:lnSpc>
              <a:spcBef>
                <a:spcPts val="600"/>
              </a:spcBef>
              <a:buFont typeface="Verdana" panose="020B0604030504040204" pitchFamily="34" charset="0"/>
              <a:buChar char="›"/>
            </a:pPr>
            <a:r>
              <a:rPr lang="en-US" altLang="zh-CN" sz="2200" dirty="0"/>
              <a:t>50</a:t>
            </a:r>
            <a:r>
              <a:rPr lang="zh-CN" altLang="en-US" sz="2200" dirty="0"/>
              <a:t>、</a:t>
            </a:r>
            <a:r>
              <a:rPr lang="en-US" altLang="zh-CN" sz="2200" dirty="0"/>
              <a:t>60</a:t>
            </a:r>
            <a:r>
              <a:rPr lang="zh-CN" altLang="en-US" sz="2200" dirty="0"/>
              <a:t>年代，程序设计曾被看成一种任人发挥创造才能的技术领域，程序只要能得出正确的结果，写法可不受任何约束。</a:t>
            </a:r>
            <a:endParaRPr lang="en-US" altLang="zh-CN" sz="2200" dirty="0"/>
          </a:p>
          <a:p>
            <a:pPr marL="822325" lvl="1" fontAlgn="ctr">
              <a:lnSpc>
                <a:spcPct val="100000"/>
              </a:lnSpc>
              <a:spcBef>
                <a:spcPts val="600"/>
              </a:spcBef>
              <a:buFont typeface="Verdana" panose="020B0604030504040204" pitchFamily="34" charset="0"/>
              <a:buChar char="›"/>
            </a:pPr>
            <a:r>
              <a:rPr lang="zh-CN" altLang="en-US" sz="2200" dirty="0"/>
              <a:t>随着计算机的广泛使用，人们要求这些程序容易看懂、使用、修改和扩充。</a:t>
            </a:r>
            <a:endParaRPr lang="en-US" altLang="zh-CN" sz="2200" dirty="0"/>
          </a:p>
          <a:p>
            <a:pPr marL="822325" lvl="1" fontAlgn="ctr">
              <a:lnSpc>
                <a:spcPct val="100000"/>
              </a:lnSpc>
              <a:spcBef>
                <a:spcPts val="600"/>
              </a:spcBef>
              <a:buFont typeface="Verdana" panose="020B0604030504040204" pitchFamily="34" charset="0"/>
              <a:buChar char="›"/>
            </a:pPr>
            <a:r>
              <a:rPr lang="zh-CN" altLang="en-US" sz="2200" dirty="0"/>
              <a:t>于是程序从按个人意图创造的“艺术品”转变为被广大用户接受的工程化产品。</a:t>
            </a:r>
          </a:p>
          <a:p>
            <a:pPr marL="422275" fontAlgn="ctr">
              <a:lnSpc>
                <a:spcPct val="100000"/>
              </a:lnSpc>
              <a:spcBef>
                <a:spcPts val="600"/>
              </a:spcBef>
              <a:buFont typeface="Verdana" panose="020B0604030504040204" pitchFamily="34" charset="0"/>
              <a:buChar char="›"/>
            </a:pPr>
            <a:r>
              <a:rPr lang="en-US" altLang="zh-CN" sz="2600" b="1" dirty="0">
                <a:solidFill>
                  <a:srgbClr val="002060"/>
                </a:solidFill>
              </a:rPr>
              <a:t>(2) </a:t>
            </a:r>
            <a:r>
              <a:rPr lang="zh-CN" altLang="en-US" sz="2600" b="1" dirty="0">
                <a:solidFill>
                  <a:srgbClr val="002060"/>
                </a:solidFill>
              </a:rPr>
              <a:t>软件的需求是软件发展的动力</a:t>
            </a:r>
            <a:endParaRPr lang="en-US" altLang="zh-CN" sz="2600" b="1" dirty="0">
              <a:solidFill>
                <a:srgbClr val="002060"/>
              </a:solidFill>
            </a:endParaRPr>
          </a:p>
          <a:p>
            <a:pPr marL="879475" lvl="1" fontAlgn="ctr">
              <a:lnSpc>
                <a:spcPct val="100000"/>
              </a:lnSpc>
              <a:spcBef>
                <a:spcPts val="600"/>
              </a:spcBef>
              <a:buFont typeface="Verdana" panose="020B0604030504040204" pitchFamily="34" charset="0"/>
              <a:buChar char="›"/>
            </a:pPr>
            <a:r>
              <a:rPr lang="zh-CN" altLang="en-US" sz="2200" dirty="0"/>
              <a:t>早期只是为了满足程序开发者的需要；</a:t>
            </a:r>
            <a:endParaRPr lang="en-US" altLang="zh-CN" sz="2200" dirty="0"/>
          </a:p>
          <a:p>
            <a:pPr marL="879475" lvl="1" fontAlgn="ctr">
              <a:lnSpc>
                <a:spcPct val="100000"/>
              </a:lnSpc>
              <a:spcBef>
                <a:spcPts val="600"/>
              </a:spcBef>
              <a:buFont typeface="Verdana" panose="020B0604030504040204" pitchFamily="34" charset="0"/>
              <a:buChar char="›"/>
            </a:pPr>
            <a:r>
              <a:rPr lang="zh-CN" altLang="en-US" sz="2200" dirty="0"/>
              <a:t>进入软件工程阶段后，软件开发的成果要在市场中流通以满足广大用户的需要。</a:t>
            </a:r>
          </a:p>
          <a:p>
            <a:pPr marL="422275">
              <a:lnSpc>
                <a:spcPct val="100000"/>
              </a:lnSpc>
              <a:spcBef>
                <a:spcPts val="600"/>
              </a:spcBef>
              <a:buFont typeface="Verdana" panose="020B0604030504040204" pitchFamily="34" charset="0"/>
              <a:buChar char="›"/>
            </a:pPr>
            <a:r>
              <a:rPr lang="en-US" altLang="zh-CN" sz="2600" b="1" dirty="0">
                <a:solidFill>
                  <a:srgbClr val="002060"/>
                </a:solidFill>
              </a:rPr>
              <a:t>(3) </a:t>
            </a:r>
            <a:r>
              <a:rPr lang="zh-CN" altLang="en-US" sz="2600" b="1" dirty="0">
                <a:solidFill>
                  <a:srgbClr val="002060"/>
                </a:solidFill>
              </a:rPr>
              <a:t>软件工作的范围从只考虑程序的编写扩展到涉及整个软件生存周期</a:t>
            </a:r>
            <a:endParaRPr lang="zh-CN" altLang="en-US" sz="2600" dirty="0">
              <a:solidFill>
                <a:srgbClr val="002060"/>
              </a:solidFill>
            </a:endParaRPr>
          </a:p>
        </p:txBody>
      </p:sp>
    </p:spTree>
    <p:extLst>
      <p:ext uri="{BB962C8B-B14F-4D97-AF65-F5344CB8AC3E}">
        <p14:creationId xmlns:p14="http://schemas.microsoft.com/office/powerpoint/2010/main" val="3690675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二、软件</a:t>
            </a:r>
            <a:r>
              <a:rPr lang="en-US" altLang="zh-CN" sz="3200" b="1" dirty="0"/>
              <a:t>——</a:t>
            </a:r>
            <a:r>
              <a:rPr lang="zh-CN" altLang="en-US" sz="3200" b="1" dirty="0"/>
              <a:t>大致分类</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124449534"/>
              </p:ext>
            </p:extLst>
          </p:nvPr>
        </p:nvGraphicFramePr>
        <p:xfrm>
          <a:off x="797560" y="1763606"/>
          <a:ext cx="10754360" cy="4998720"/>
        </p:xfrm>
        <a:graphic>
          <a:graphicData uri="http://schemas.openxmlformats.org/drawingml/2006/table">
            <a:tbl>
              <a:tblPr firstRow="1" bandRow="1">
                <a:tableStyleId>{5C22544A-7EE6-4342-B048-85BDC9FD1C3A}</a:tableStyleId>
              </a:tblPr>
              <a:tblGrid>
                <a:gridCol w="1488440">
                  <a:extLst>
                    <a:ext uri="{9D8B030D-6E8A-4147-A177-3AD203B41FA5}">
                      <a16:colId xmlns:a16="http://schemas.microsoft.com/office/drawing/2014/main" val="3099080718"/>
                    </a:ext>
                  </a:extLst>
                </a:gridCol>
                <a:gridCol w="2247900">
                  <a:extLst>
                    <a:ext uri="{9D8B030D-6E8A-4147-A177-3AD203B41FA5}">
                      <a16:colId xmlns:a16="http://schemas.microsoft.com/office/drawing/2014/main" val="681477425"/>
                    </a:ext>
                  </a:extLst>
                </a:gridCol>
                <a:gridCol w="7018020">
                  <a:extLst>
                    <a:ext uri="{9D8B030D-6E8A-4147-A177-3AD203B41FA5}">
                      <a16:colId xmlns:a16="http://schemas.microsoft.com/office/drawing/2014/main" val="2102945062"/>
                    </a:ext>
                  </a:extLst>
                </a:gridCol>
              </a:tblGrid>
              <a:tr h="370840">
                <a:tc>
                  <a:txBody>
                    <a:bodyPr/>
                    <a:lstStyle/>
                    <a:p>
                      <a:pPr algn="ctr"/>
                      <a:r>
                        <a:rPr lang="zh-CN" altLang="en-US" sz="2400" dirty="0"/>
                        <a:t>角度</a:t>
                      </a:r>
                    </a:p>
                  </a:txBody>
                  <a:tcPr anchor="ctr"/>
                </a:tc>
                <a:tc>
                  <a:txBody>
                    <a:bodyPr/>
                    <a:lstStyle/>
                    <a:p>
                      <a:pPr algn="ctr"/>
                      <a:r>
                        <a:rPr lang="zh-CN" altLang="en-US" sz="2400" dirty="0"/>
                        <a:t>类别</a:t>
                      </a:r>
                    </a:p>
                  </a:txBody>
                  <a:tcPr anchor="ctr"/>
                </a:tc>
                <a:tc>
                  <a:txBody>
                    <a:bodyPr/>
                    <a:lstStyle/>
                    <a:p>
                      <a:pPr algn="ctr"/>
                      <a:r>
                        <a:rPr lang="zh-CN" altLang="en-US" sz="2400" dirty="0"/>
                        <a:t>说明</a:t>
                      </a:r>
                    </a:p>
                  </a:txBody>
                  <a:tcPr anchor="ctr"/>
                </a:tc>
                <a:extLst>
                  <a:ext uri="{0D108BD9-81ED-4DB2-BD59-A6C34878D82A}">
                    <a16:rowId xmlns:a16="http://schemas.microsoft.com/office/drawing/2014/main" val="809264656"/>
                  </a:ext>
                </a:extLst>
              </a:tr>
              <a:tr h="370840">
                <a:tc rowSpan="3">
                  <a:txBody>
                    <a:bodyPr/>
                    <a:lstStyle/>
                    <a:p>
                      <a:pPr algn="ctr"/>
                      <a:r>
                        <a:rPr lang="zh-CN" altLang="en-US" sz="2200" b="1" dirty="0"/>
                        <a:t>功能</a:t>
                      </a:r>
                    </a:p>
                  </a:txBody>
                  <a:tcPr anchor="ctr"/>
                </a:tc>
                <a:tc>
                  <a:txBody>
                    <a:bodyPr/>
                    <a:lstStyle/>
                    <a:p>
                      <a:pPr algn="ctr"/>
                      <a:r>
                        <a:rPr lang="zh-CN" altLang="en-US" sz="2200" dirty="0"/>
                        <a:t>系统软件</a:t>
                      </a:r>
                    </a:p>
                  </a:txBody>
                  <a:tcPr anchor="ctr"/>
                </a:tc>
                <a:tc>
                  <a:txBody>
                    <a:bodyPr/>
                    <a:lstStyle/>
                    <a:p>
                      <a:r>
                        <a:rPr lang="zh-CN" altLang="en-US" sz="2000" dirty="0"/>
                        <a:t>例如，操作系统、数据库管理系统、设备驱动程序等</a:t>
                      </a:r>
                    </a:p>
                  </a:txBody>
                  <a:tcPr/>
                </a:tc>
                <a:extLst>
                  <a:ext uri="{0D108BD9-81ED-4DB2-BD59-A6C34878D82A}">
                    <a16:rowId xmlns:a16="http://schemas.microsoft.com/office/drawing/2014/main" val="3615364454"/>
                  </a:ext>
                </a:extLst>
              </a:tr>
              <a:tr h="370840">
                <a:tc vMerge="1">
                  <a:txBody>
                    <a:bodyPr/>
                    <a:lstStyle/>
                    <a:p>
                      <a:endParaRPr lang="zh-CN" altLang="en-US" sz="2200" dirty="0"/>
                    </a:p>
                  </a:txBody>
                  <a:tcPr/>
                </a:tc>
                <a:tc>
                  <a:txBody>
                    <a:bodyPr/>
                    <a:lstStyle/>
                    <a:p>
                      <a:pPr algn="ctr"/>
                      <a:r>
                        <a:rPr lang="zh-CN" altLang="en-US" sz="2200" dirty="0"/>
                        <a:t>支撑软件</a:t>
                      </a:r>
                    </a:p>
                  </a:txBody>
                  <a:tcPr anchor="ctr"/>
                </a:tc>
                <a:tc>
                  <a:txBody>
                    <a:bodyPr/>
                    <a:lstStyle/>
                    <a:p>
                      <a:r>
                        <a:rPr lang="zh-CN" altLang="en-US" sz="2000" dirty="0">
                          <a:latin typeface="宋体" panose="02010600030101010101" pitchFamily="2" charset="-122"/>
                        </a:rPr>
                        <a:t>协助用户开发软件的工具性软件</a:t>
                      </a:r>
                      <a:endParaRPr lang="zh-CN" altLang="en-US" sz="2000" dirty="0"/>
                    </a:p>
                  </a:txBody>
                  <a:tcPr/>
                </a:tc>
                <a:extLst>
                  <a:ext uri="{0D108BD9-81ED-4DB2-BD59-A6C34878D82A}">
                    <a16:rowId xmlns:a16="http://schemas.microsoft.com/office/drawing/2014/main" val="799378111"/>
                  </a:ext>
                </a:extLst>
              </a:tr>
              <a:tr h="370840">
                <a:tc vMerge="1">
                  <a:txBody>
                    <a:bodyPr/>
                    <a:lstStyle/>
                    <a:p>
                      <a:endParaRPr lang="zh-CN" altLang="en-US" sz="2200" dirty="0"/>
                    </a:p>
                  </a:txBody>
                  <a:tcPr/>
                </a:tc>
                <a:tc>
                  <a:txBody>
                    <a:bodyPr/>
                    <a:lstStyle/>
                    <a:p>
                      <a:pPr algn="ctr"/>
                      <a:r>
                        <a:rPr lang="zh-CN" altLang="en-US" sz="2200" dirty="0"/>
                        <a:t>应用软件</a:t>
                      </a:r>
                    </a:p>
                  </a:txBody>
                  <a:tcPr anchor="ctr"/>
                </a:tc>
                <a:tc>
                  <a:txBody>
                    <a:bodyPr/>
                    <a:lstStyle/>
                    <a:p>
                      <a:r>
                        <a:rPr lang="zh-CN" altLang="en-US" sz="2000" dirty="0">
                          <a:latin typeface="宋体" panose="02010600030101010101" pitchFamily="2" charset="-122"/>
                        </a:rPr>
                        <a:t>在特定领域内开发，为特定目的服务</a:t>
                      </a:r>
                      <a:endParaRPr lang="zh-CN" altLang="en-US" sz="2000" dirty="0"/>
                    </a:p>
                  </a:txBody>
                  <a:tcPr/>
                </a:tc>
                <a:extLst>
                  <a:ext uri="{0D108BD9-81ED-4DB2-BD59-A6C34878D82A}">
                    <a16:rowId xmlns:a16="http://schemas.microsoft.com/office/drawing/2014/main" val="961637100"/>
                  </a:ext>
                </a:extLst>
              </a:tr>
              <a:tr h="370840">
                <a:tc rowSpan="3">
                  <a:txBody>
                    <a:bodyPr/>
                    <a:lstStyle/>
                    <a:p>
                      <a:pPr algn="ctr"/>
                      <a:r>
                        <a:rPr lang="zh-CN" altLang="en-US" sz="2200" b="1" dirty="0"/>
                        <a:t>工作方式</a:t>
                      </a:r>
                    </a:p>
                  </a:txBody>
                  <a:tcPr anchor="ctr"/>
                </a:tc>
                <a:tc>
                  <a:txBody>
                    <a:bodyPr/>
                    <a:lstStyle/>
                    <a:p>
                      <a:pPr algn="ctr"/>
                      <a:r>
                        <a:rPr lang="zh-CN" altLang="en-US" sz="2200" dirty="0"/>
                        <a:t>实时处理软件</a:t>
                      </a:r>
                    </a:p>
                  </a:txBody>
                  <a:tcPr anchor="ctr"/>
                </a:tc>
                <a:tc>
                  <a:txBody>
                    <a:bodyPr/>
                    <a:lstStyle/>
                    <a:p>
                      <a:r>
                        <a:rPr lang="zh-CN" altLang="en-US" sz="2000" dirty="0"/>
                        <a:t>在事件或数据产生时立即处理，及时反馈信号、控制、监测</a:t>
                      </a:r>
                    </a:p>
                  </a:txBody>
                  <a:tcPr/>
                </a:tc>
                <a:extLst>
                  <a:ext uri="{0D108BD9-81ED-4DB2-BD59-A6C34878D82A}">
                    <a16:rowId xmlns:a16="http://schemas.microsoft.com/office/drawing/2014/main" val="1731512068"/>
                  </a:ext>
                </a:extLst>
              </a:tr>
              <a:tr h="370840">
                <a:tc vMerge="1">
                  <a:txBody>
                    <a:bodyPr/>
                    <a:lstStyle/>
                    <a:p>
                      <a:endParaRPr lang="zh-CN" altLang="en-US" sz="2200" dirty="0"/>
                    </a:p>
                  </a:txBody>
                  <a:tcPr/>
                </a:tc>
                <a:tc>
                  <a:txBody>
                    <a:bodyPr/>
                    <a:lstStyle/>
                    <a:p>
                      <a:pPr algn="ctr"/>
                      <a:r>
                        <a:rPr lang="zh-CN" altLang="en-US" sz="2200" dirty="0"/>
                        <a:t>交互式软件</a:t>
                      </a:r>
                    </a:p>
                  </a:txBody>
                  <a:tcPr anchor="ctr"/>
                </a:tc>
                <a:tc>
                  <a:txBody>
                    <a:bodyPr/>
                    <a:lstStyle/>
                    <a:p>
                      <a:r>
                        <a:rPr lang="zh-CN" altLang="en-US" sz="2000" dirty="0"/>
                        <a:t>实现人机通信的软件</a:t>
                      </a:r>
                    </a:p>
                  </a:txBody>
                  <a:tcPr/>
                </a:tc>
                <a:extLst>
                  <a:ext uri="{0D108BD9-81ED-4DB2-BD59-A6C34878D82A}">
                    <a16:rowId xmlns:a16="http://schemas.microsoft.com/office/drawing/2014/main" val="2091547158"/>
                  </a:ext>
                </a:extLst>
              </a:tr>
              <a:tr h="370840">
                <a:tc vMerge="1">
                  <a:txBody>
                    <a:bodyPr/>
                    <a:lstStyle/>
                    <a:p>
                      <a:endParaRPr lang="zh-CN" altLang="en-US" sz="2200" dirty="0"/>
                    </a:p>
                  </a:txBody>
                  <a:tcPr/>
                </a:tc>
                <a:tc>
                  <a:txBody>
                    <a:bodyPr/>
                    <a:lstStyle/>
                    <a:p>
                      <a:pPr algn="ctr"/>
                      <a:r>
                        <a:rPr lang="zh-CN" altLang="en-US" sz="2200" dirty="0"/>
                        <a:t>批处理软件</a:t>
                      </a:r>
                    </a:p>
                  </a:txBody>
                  <a:tcPr anchor="ctr"/>
                </a:tc>
                <a:tc>
                  <a:txBody>
                    <a:bodyPr/>
                    <a:lstStyle/>
                    <a:p>
                      <a:r>
                        <a:rPr lang="zh-CN" altLang="en-US" sz="2000" dirty="0"/>
                        <a:t>把一组输入作业或一批数据以成批处理的方式一次运行</a:t>
                      </a:r>
                    </a:p>
                  </a:txBody>
                  <a:tcPr/>
                </a:tc>
                <a:extLst>
                  <a:ext uri="{0D108BD9-81ED-4DB2-BD59-A6C34878D82A}">
                    <a16:rowId xmlns:a16="http://schemas.microsoft.com/office/drawing/2014/main" val="325617753"/>
                  </a:ext>
                </a:extLst>
              </a:tr>
              <a:tr h="370840">
                <a:tc rowSpan="2">
                  <a:txBody>
                    <a:bodyPr/>
                    <a:lstStyle/>
                    <a:p>
                      <a:pPr algn="ctr"/>
                      <a:r>
                        <a:rPr lang="zh-CN" altLang="en-US" sz="2200" b="1" dirty="0"/>
                        <a:t>目标用户</a:t>
                      </a:r>
                    </a:p>
                  </a:txBody>
                  <a:tcPr anchor="ctr"/>
                </a:tc>
                <a:tc>
                  <a:txBody>
                    <a:bodyPr/>
                    <a:lstStyle/>
                    <a:p>
                      <a:pPr algn="ctr"/>
                      <a:r>
                        <a:rPr lang="zh-CN" altLang="en-US" sz="2200" dirty="0"/>
                        <a:t>项目软件</a:t>
                      </a:r>
                    </a:p>
                  </a:txBody>
                  <a:tcPr anchor="ctr"/>
                </a:tc>
                <a:tc>
                  <a:txBody>
                    <a:bodyPr/>
                    <a:lstStyle/>
                    <a:p>
                      <a:r>
                        <a:rPr lang="zh-CN" altLang="en-US" sz="2000" dirty="0"/>
                        <a:t>定制软件。受某个特定客户（或少数客户）的委托，由一个或多个软件开发机构在合同的约束下开发</a:t>
                      </a:r>
                    </a:p>
                  </a:txBody>
                  <a:tcPr/>
                </a:tc>
                <a:extLst>
                  <a:ext uri="{0D108BD9-81ED-4DB2-BD59-A6C34878D82A}">
                    <a16:rowId xmlns:a16="http://schemas.microsoft.com/office/drawing/2014/main" val="1890901325"/>
                  </a:ext>
                </a:extLst>
              </a:tr>
              <a:tr h="370840">
                <a:tc vMerge="1">
                  <a:txBody>
                    <a:bodyPr/>
                    <a:lstStyle/>
                    <a:p>
                      <a:endParaRPr lang="zh-CN" altLang="en-US" sz="2200" dirty="0"/>
                    </a:p>
                  </a:txBody>
                  <a:tcPr/>
                </a:tc>
                <a:tc>
                  <a:txBody>
                    <a:bodyPr/>
                    <a:lstStyle/>
                    <a:p>
                      <a:pPr algn="ctr"/>
                      <a:r>
                        <a:rPr lang="zh-CN" altLang="en-US" sz="2200" dirty="0"/>
                        <a:t>产品软件</a:t>
                      </a:r>
                    </a:p>
                  </a:txBody>
                  <a:tcPr anchor="ctr"/>
                </a:tc>
                <a:tc>
                  <a:txBody>
                    <a:bodyPr/>
                    <a:lstStyle/>
                    <a:p>
                      <a:r>
                        <a:rPr lang="zh-CN" altLang="en-US" sz="2000" dirty="0"/>
                        <a:t>直接提供给市场，或是为千百个用户服务的软件。</a:t>
                      </a:r>
                    </a:p>
                  </a:txBody>
                  <a:tcPr/>
                </a:tc>
                <a:extLst>
                  <a:ext uri="{0D108BD9-81ED-4DB2-BD59-A6C34878D82A}">
                    <a16:rowId xmlns:a16="http://schemas.microsoft.com/office/drawing/2014/main" val="2559403851"/>
                  </a:ext>
                </a:extLst>
              </a:tr>
              <a:tr h="370840">
                <a:tc rowSpan="2">
                  <a:txBody>
                    <a:bodyPr/>
                    <a:lstStyle/>
                    <a:p>
                      <a:pPr algn="ctr"/>
                      <a:r>
                        <a:rPr lang="zh-CN" altLang="en-US" sz="2200" b="1" dirty="0"/>
                        <a:t>部署方式</a:t>
                      </a:r>
                    </a:p>
                  </a:txBody>
                  <a:tcPr anchor="ctr"/>
                </a:tc>
                <a:tc>
                  <a:txBody>
                    <a:bodyPr/>
                    <a:lstStyle/>
                    <a:p>
                      <a:pPr algn="ctr"/>
                      <a:r>
                        <a:rPr lang="zh-CN" altLang="en-US" sz="2200" dirty="0"/>
                        <a:t>桌面程序</a:t>
                      </a:r>
                    </a:p>
                  </a:txBody>
                  <a:tcPr anchor="ctr"/>
                </a:tc>
                <a:tc>
                  <a:txBody>
                    <a:bodyPr/>
                    <a:lstStyle/>
                    <a:p>
                      <a:r>
                        <a:rPr lang="zh-CN" altLang="en-US" sz="2000" dirty="0"/>
                        <a:t>如</a:t>
                      </a:r>
                      <a:r>
                        <a:rPr lang="en-US" altLang="zh-CN" sz="2000" dirty="0"/>
                        <a:t>notebook……</a:t>
                      </a:r>
                      <a:endParaRPr lang="zh-CN" altLang="en-US" sz="2000" dirty="0"/>
                    </a:p>
                  </a:txBody>
                  <a:tcPr/>
                </a:tc>
                <a:extLst>
                  <a:ext uri="{0D108BD9-81ED-4DB2-BD59-A6C34878D82A}">
                    <a16:rowId xmlns:a16="http://schemas.microsoft.com/office/drawing/2014/main" val="3368769553"/>
                  </a:ext>
                </a:extLst>
              </a:tr>
              <a:tr h="370840">
                <a:tc vMerge="1">
                  <a:txBody>
                    <a:bodyPr/>
                    <a:lstStyle/>
                    <a:p>
                      <a:endParaRPr lang="zh-CN" altLang="en-US" sz="2200" dirty="0"/>
                    </a:p>
                  </a:txBody>
                  <a:tcPr/>
                </a:tc>
                <a:tc>
                  <a:txBody>
                    <a:bodyPr/>
                    <a:lstStyle/>
                    <a:p>
                      <a:pPr algn="ctr"/>
                      <a:r>
                        <a:rPr lang="zh-CN" altLang="en-US" sz="2200" dirty="0"/>
                        <a:t>网络程序</a:t>
                      </a:r>
                    </a:p>
                  </a:txBody>
                  <a:tcPr anchor="ctr"/>
                </a:tc>
                <a:tc>
                  <a:txBody>
                    <a:bodyPr/>
                    <a:lstStyle/>
                    <a:p>
                      <a:r>
                        <a:rPr lang="en-US" altLang="zh-CN" sz="2000" dirty="0"/>
                        <a:t>C/S</a:t>
                      </a:r>
                      <a:r>
                        <a:rPr lang="zh-CN" altLang="en-US" sz="2000" dirty="0"/>
                        <a:t>、</a:t>
                      </a:r>
                      <a:r>
                        <a:rPr lang="en-US" altLang="zh-CN" sz="2000" dirty="0"/>
                        <a:t>B/S……</a:t>
                      </a:r>
                      <a:endParaRPr lang="zh-CN" altLang="en-US" sz="2000" dirty="0"/>
                    </a:p>
                  </a:txBody>
                  <a:tcPr/>
                </a:tc>
                <a:extLst>
                  <a:ext uri="{0D108BD9-81ED-4DB2-BD59-A6C34878D82A}">
                    <a16:rowId xmlns:a16="http://schemas.microsoft.com/office/drawing/2014/main" val="4020159243"/>
                  </a:ext>
                </a:extLst>
              </a:tr>
            </a:tbl>
          </a:graphicData>
        </a:graphic>
      </p:graphicFrame>
    </p:spTree>
    <p:extLst>
      <p:ext uri="{BB962C8B-B14F-4D97-AF65-F5344CB8AC3E}">
        <p14:creationId xmlns:p14="http://schemas.microsoft.com/office/powerpoint/2010/main" val="3141142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本讲主要内容</a:t>
            </a:r>
            <a:endParaRPr lang="zh-CN" altLang="en-US" dirty="0"/>
          </a:p>
        </p:txBody>
      </p:sp>
      <p:sp>
        <p:nvSpPr>
          <p:cNvPr id="5" name="内容占位符 2"/>
          <p:cNvSpPr txBox="1">
            <a:spLocks/>
          </p:cNvSpPr>
          <p:nvPr/>
        </p:nvSpPr>
        <p:spPr>
          <a:xfrm>
            <a:off x="680321" y="2336873"/>
            <a:ext cx="961386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00000"/>
              </a:lnSpc>
              <a:spcBef>
                <a:spcPts val="600"/>
              </a:spcBef>
            </a:pPr>
            <a:r>
              <a:rPr lang="zh-CN" altLang="en-US" sz="2800" dirty="0">
                <a:sym typeface="Wingdings" panose="05000000000000000000" pitchFamily="2" charset="2"/>
              </a:rPr>
              <a:t>一、工程</a:t>
            </a:r>
          </a:p>
          <a:p>
            <a:pPr>
              <a:lnSpc>
                <a:spcPct val="100000"/>
              </a:lnSpc>
              <a:spcBef>
                <a:spcPts val="600"/>
              </a:spcBef>
            </a:pPr>
            <a:r>
              <a:rPr lang="zh-CN" altLang="en-US" sz="2800" dirty="0">
                <a:sym typeface="Wingdings" panose="05000000000000000000" pitchFamily="2" charset="2"/>
              </a:rPr>
              <a:t>二、软件</a:t>
            </a:r>
          </a:p>
          <a:p>
            <a:pPr>
              <a:lnSpc>
                <a:spcPct val="100000"/>
              </a:lnSpc>
              <a:spcBef>
                <a:spcPts val="600"/>
              </a:spcBef>
            </a:pPr>
            <a:r>
              <a:rPr lang="zh-CN" altLang="en-US" sz="2800" b="1" dirty="0">
                <a:solidFill>
                  <a:srgbClr val="002060"/>
                </a:solidFill>
                <a:sym typeface="Wingdings" panose="05000000000000000000" pitchFamily="2" charset="2"/>
              </a:rPr>
              <a:t>三、软件危机</a:t>
            </a:r>
          </a:p>
          <a:p>
            <a:pPr>
              <a:lnSpc>
                <a:spcPct val="100000"/>
              </a:lnSpc>
              <a:spcBef>
                <a:spcPts val="600"/>
              </a:spcBef>
            </a:pPr>
            <a:r>
              <a:rPr lang="zh-CN" altLang="en-US" sz="2800" dirty="0">
                <a:sym typeface="Wingdings" panose="05000000000000000000" pitchFamily="2" charset="2"/>
              </a:rPr>
              <a:t>四、软件工程</a:t>
            </a:r>
            <a:endParaRPr lang="en-US" altLang="zh-CN" sz="2800" dirty="0">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123909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三、软件危机</a:t>
            </a:r>
          </a:p>
        </p:txBody>
      </p:sp>
      <p:sp>
        <p:nvSpPr>
          <p:cNvPr id="3" name="内容占位符 2"/>
          <p:cNvSpPr>
            <a:spLocks noGrp="1"/>
          </p:cNvSpPr>
          <p:nvPr>
            <p:ph idx="1"/>
          </p:nvPr>
        </p:nvSpPr>
        <p:spPr>
          <a:xfrm>
            <a:off x="680321" y="2336872"/>
            <a:ext cx="10902079" cy="4094407"/>
          </a:xfrm>
        </p:spPr>
        <p:txBody>
          <a:bodyPr>
            <a:noAutofit/>
          </a:bodyPr>
          <a:lstStyle/>
          <a:p>
            <a:pPr>
              <a:lnSpc>
                <a:spcPct val="100000"/>
              </a:lnSpc>
              <a:spcBef>
                <a:spcPts val="600"/>
              </a:spcBef>
              <a:spcAft>
                <a:spcPts val="600"/>
              </a:spcAft>
            </a:pPr>
            <a:r>
              <a:rPr lang="en-US" altLang="zh-CN" sz="2600" dirty="0"/>
              <a:t>20</a:t>
            </a:r>
            <a:r>
              <a:rPr lang="zh-CN" altLang="en-US" sz="2600" dirty="0"/>
              <a:t>世纪</a:t>
            </a:r>
            <a:r>
              <a:rPr lang="en-US" altLang="zh-CN" sz="2600" dirty="0"/>
              <a:t>60</a:t>
            </a:r>
            <a:r>
              <a:rPr lang="zh-CN" altLang="en-US" sz="2600" dirty="0"/>
              <a:t>年代末</a:t>
            </a:r>
            <a:r>
              <a:rPr lang="en-US" altLang="zh-CN" sz="2600" dirty="0"/>
              <a:t>70</a:t>
            </a:r>
            <a:r>
              <a:rPr lang="zh-CN" altLang="en-US" sz="2600" dirty="0"/>
              <a:t>年代初，西方工业发达国家经历了一场“</a:t>
            </a:r>
            <a:r>
              <a:rPr lang="zh-CN" altLang="en-US" sz="2600" b="1" dirty="0">
                <a:solidFill>
                  <a:srgbClr val="002060"/>
                </a:solidFill>
              </a:rPr>
              <a:t>软件危机</a:t>
            </a:r>
            <a:r>
              <a:rPr lang="zh-CN" altLang="en-US" sz="2600" dirty="0"/>
              <a:t>”（</a:t>
            </a:r>
            <a:r>
              <a:rPr lang="en-US" altLang="zh-CN" sz="2600" dirty="0"/>
              <a:t>1968</a:t>
            </a:r>
            <a:r>
              <a:rPr lang="zh-CN" altLang="en-US" sz="2600" dirty="0"/>
              <a:t>年由北大西洋公约组织（</a:t>
            </a:r>
            <a:r>
              <a:rPr lang="en-US" altLang="zh-CN" sz="2600" dirty="0"/>
              <a:t>NATO</a:t>
            </a:r>
            <a:r>
              <a:rPr lang="zh-CN" altLang="en-US" sz="2600" dirty="0"/>
              <a:t>）在德国召开的国际学术会议上首次提出）。</a:t>
            </a:r>
            <a:endParaRPr lang="en-US" altLang="zh-CN" sz="2600" dirty="0"/>
          </a:p>
          <a:p>
            <a:pPr>
              <a:lnSpc>
                <a:spcPct val="100000"/>
              </a:lnSpc>
              <a:spcBef>
                <a:spcPts val="600"/>
              </a:spcBef>
              <a:spcAft>
                <a:spcPts val="600"/>
              </a:spcAft>
            </a:pPr>
            <a:r>
              <a:rPr lang="zh-CN" altLang="en-US" sz="2600" dirty="0"/>
              <a:t>这场软件危机的</a:t>
            </a:r>
            <a:r>
              <a:rPr lang="zh-CN" altLang="en-US" sz="2600" b="1" dirty="0">
                <a:solidFill>
                  <a:srgbClr val="002060"/>
                </a:solidFill>
              </a:rPr>
              <a:t>表现</a:t>
            </a:r>
            <a:r>
              <a:rPr lang="zh-CN" altLang="en-US" sz="2600" dirty="0"/>
              <a:t>：</a:t>
            </a:r>
          </a:p>
          <a:p>
            <a:pPr lvl="1">
              <a:lnSpc>
                <a:spcPct val="100000"/>
              </a:lnSpc>
              <a:spcBef>
                <a:spcPts val="600"/>
              </a:spcBef>
              <a:spcAft>
                <a:spcPts val="600"/>
              </a:spcAft>
            </a:pPr>
            <a:r>
              <a:rPr lang="zh-CN" altLang="en-US" sz="2600" dirty="0"/>
              <a:t>一方面软件十分复杂，价格昂贵，供需差日益增大；</a:t>
            </a:r>
          </a:p>
          <a:p>
            <a:pPr lvl="1">
              <a:lnSpc>
                <a:spcPct val="100000"/>
              </a:lnSpc>
              <a:spcBef>
                <a:spcPts val="600"/>
              </a:spcBef>
              <a:spcAft>
                <a:spcPts val="600"/>
              </a:spcAft>
            </a:pPr>
            <a:r>
              <a:rPr lang="zh-CN" altLang="en-US" sz="2600" dirty="0"/>
              <a:t>另一方面软件开发时又常常受挫，质量差，指定的进度表和完成日期很少能按时实现，研制过程很难管理，即软件的研制往往失去控制</a:t>
            </a:r>
          </a:p>
        </p:txBody>
      </p:sp>
    </p:spTree>
    <p:extLst>
      <p:ext uri="{BB962C8B-B14F-4D97-AF65-F5344CB8AC3E}">
        <p14:creationId xmlns:p14="http://schemas.microsoft.com/office/powerpoint/2010/main" val="3706357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三、软件危机</a:t>
            </a:r>
            <a:r>
              <a:rPr lang="en-US" altLang="zh-CN" sz="3200" dirty="0"/>
              <a:t>——</a:t>
            </a:r>
            <a:r>
              <a:rPr lang="zh-CN" altLang="en-US" sz="3200" dirty="0"/>
              <a:t>定义</a:t>
            </a:r>
            <a:endParaRPr lang="zh-CN" altLang="en-US" dirty="0"/>
          </a:p>
        </p:txBody>
      </p:sp>
      <p:sp>
        <p:nvSpPr>
          <p:cNvPr id="3" name="内容占位符 2"/>
          <p:cNvSpPr>
            <a:spLocks noGrp="1"/>
          </p:cNvSpPr>
          <p:nvPr>
            <p:ph idx="1"/>
          </p:nvPr>
        </p:nvSpPr>
        <p:spPr>
          <a:xfrm>
            <a:off x="680321" y="2336873"/>
            <a:ext cx="10719199" cy="3599316"/>
          </a:xfrm>
        </p:spPr>
        <p:txBody>
          <a:bodyPr>
            <a:normAutofit/>
          </a:bodyPr>
          <a:lstStyle/>
          <a:p>
            <a:pPr algn="just">
              <a:lnSpc>
                <a:spcPct val="100000"/>
              </a:lnSpc>
              <a:spcBef>
                <a:spcPts val="600"/>
              </a:spcBef>
              <a:spcAft>
                <a:spcPts val="600"/>
              </a:spcAft>
            </a:pPr>
            <a:r>
              <a:rPr lang="zh-CN" altLang="en-US" sz="2800" b="1" dirty="0">
                <a:solidFill>
                  <a:srgbClr val="002060"/>
                </a:solidFill>
                <a:latin typeface="宋体" panose="02010600030101010101" pitchFamily="2" charset="-122"/>
              </a:rPr>
              <a:t>软件危机</a:t>
            </a:r>
            <a:r>
              <a:rPr lang="zh-CN" altLang="en-US" sz="2800" b="1" dirty="0">
                <a:latin typeface="宋体" panose="02010600030101010101" pitchFamily="2" charset="-122"/>
              </a:rPr>
              <a:t>是指软件开发和维护过程中所遇到的一系列严重问题</a:t>
            </a:r>
            <a:r>
              <a:rPr lang="zh-CN" altLang="en-US" sz="2800" dirty="0">
                <a:latin typeface="宋体" panose="02010600030101010101" pitchFamily="2" charset="-122"/>
              </a:rPr>
              <a:t>。</a:t>
            </a:r>
            <a:endParaRPr lang="en-US" altLang="zh-CN" sz="2800" dirty="0">
              <a:latin typeface="宋体" panose="02010600030101010101" pitchFamily="2" charset="-122"/>
            </a:endParaRPr>
          </a:p>
          <a:p>
            <a:pPr algn="just">
              <a:lnSpc>
                <a:spcPct val="100000"/>
              </a:lnSpc>
              <a:spcBef>
                <a:spcPts val="600"/>
              </a:spcBef>
              <a:spcAft>
                <a:spcPts val="600"/>
              </a:spcAft>
            </a:pPr>
            <a:r>
              <a:rPr lang="zh-CN" altLang="en-US" sz="2800" b="1" dirty="0">
                <a:latin typeface="宋体" panose="02010600030101010101" pitchFamily="2" charset="-122"/>
              </a:rPr>
              <a:t>软件危机包含下述两方面的问题：</a:t>
            </a:r>
          </a:p>
          <a:p>
            <a:pPr lvl="1" algn="just">
              <a:lnSpc>
                <a:spcPct val="100000"/>
              </a:lnSpc>
              <a:spcBef>
                <a:spcPts val="600"/>
              </a:spcBef>
              <a:spcAft>
                <a:spcPts val="600"/>
              </a:spcAft>
            </a:pPr>
            <a:r>
              <a:rPr lang="zh-CN" altLang="en-US" sz="2800" b="1" dirty="0">
                <a:latin typeface="宋体" panose="02010600030101010101" pitchFamily="2" charset="-122"/>
              </a:rPr>
              <a:t>如何</a:t>
            </a:r>
            <a:r>
              <a:rPr lang="zh-CN" altLang="en-US" sz="2800" b="1" dirty="0">
                <a:solidFill>
                  <a:srgbClr val="FFFF00"/>
                </a:solidFill>
                <a:latin typeface="宋体" panose="02010600030101010101" pitchFamily="2" charset="-122"/>
              </a:rPr>
              <a:t>开发</a:t>
            </a:r>
            <a:r>
              <a:rPr lang="zh-CN" altLang="en-US" sz="2800" b="1" dirty="0">
                <a:latin typeface="宋体" panose="02010600030101010101" pitchFamily="2" charset="-122"/>
              </a:rPr>
              <a:t>软件，以满足对软件日益增长的需求；</a:t>
            </a:r>
          </a:p>
          <a:p>
            <a:pPr lvl="1" algn="just">
              <a:lnSpc>
                <a:spcPct val="100000"/>
              </a:lnSpc>
              <a:spcBef>
                <a:spcPts val="600"/>
              </a:spcBef>
              <a:spcAft>
                <a:spcPts val="600"/>
              </a:spcAft>
            </a:pPr>
            <a:r>
              <a:rPr lang="zh-CN" altLang="en-US" sz="2800" b="1" dirty="0">
                <a:latin typeface="宋体" panose="02010600030101010101" pitchFamily="2" charset="-122"/>
              </a:rPr>
              <a:t>如何</a:t>
            </a:r>
            <a:r>
              <a:rPr lang="zh-CN" altLang="en-US" sz="2800" b="1" dirty="0">
                <a:solidFill>
                  <a:srgbClr val="FFFF00"/>
                </a:solidFill>
                <a:latin typeface="宋体" panose="02010600030101010101" pitchFamily="2" charset="-122"/>
              </a:rPr>
              <a:t>维护</a:t>
            </a:r>
            <a:r>
              <a:rPr lang="zh-CN" altLang="en-US" sz="2800" b="1" dirty="0">
                <a:latin typeface="宋体" panose="02010600030101010101" pitchFamily="2" charset="-122"/>
              </a:rPr>
              <a:t>数量不断膨胀的已有软件。</a:t>
            </a:r>
            <a:endParaRPr lang="zh-CN" altLang="en-US" sz="2800" dirty="0"/>
          </a:p>
        </p:txBody>
      </p:sp>
    </p:spTree>
    <p:extLst>
      <p:ext uri="{BB962C8B-B14F-4D97-AF65-F5344CB8AC3E}">
        <p14:creationId xmlns:p14="http://schemas.microsoft.com/office/powerpoint/2010/main" val="2313635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三、软件危机</a:t>
            </a:r>
            <a:r>
              <a:rPr lang="en-US" altLang="zh-CN" sz="3200" dirty="0"/>
              <a:t>——</a:t>
            </a:r>
            <a:r>
              <a:rPr lang="zh-CN" altLang="en-US" sz="3200" dirty="0"/>
              <a:t>典型表现</a:t>
            </a:r>
            <a:endParaRPr lang="zh-CN" altLang="en-US" dirty="0"/>
          </a:p>
        </p:txBody>
      </p:sp>
      <p:sp>
        <p:nvSpPr>
          <p:cNvPr id="3" name="内容占位符 2"/>
          <p:cNvSpPr>
            <a:spLocks noGrp="1"/>
          </p:cNvSpPr>
          <p:nvPr>
            <p:ph idx="1"/>
          </p:nvPr>
        </p:nvSpPr>
        <p:spPr>
          <a:xfrm>
            <a:off x="680321" y="2336872"/>
            <a:ext cx="10444879" cy="4102027"/>
          </a:xfrm>
        </p:spPr>
        <p:txBody>
          <a:bodyPr>
            <a:normAutofit fontScale="92500" lnSpcReduction="10000"/>
          </a:bodyPr>
          <a:lstStyle/>
          <a:p>
            <a:pPr algn="just">
              <a:lnSpc>
                <a:spcPct val="120000"/>
              </a:lnSpc>
              <a:spcBef>
                <a:spcPts val="600"/>
              </a:spcBef>
              <a:spcAft>
                <a:spcPts val="600"/>
              </a:spcAft>
            </a:pPr>
            <a:r>
              <a:rPr lang="zh-CN" altLang="en-US" sz="2600" b="1" dirty="0">
                <a:latin typeface="宋体" panose="02010600030101010101" pitchFamily="2" charset="-122"/>
              </a:rPr>
              <a:t>成本和进度估计不准确</a:t>
            </a:r>
          </a:p>
          <a:p>
            <a:pPr algn="just">
              <a:lnSpc>
                <a:spcPct val="120000"/>
              </a:lnSpc>
              <a:spcBef>
                <a:spcPts val="600"/>
              </a:spcBef>
              <a:spcAft>
                <a:spcPts val="600"/>
              </a:spcAft>
            </a:pPr>
            <a:r>
              <a:rPr lang="zh-CN" altLang="en-US" sz="2600" b="1" dirty="0">
                <a:latin typeface="宋体" panose="02010600030101010101" pitchFamily="2" charset="-122"/>
              </a:rPr>
              <a:t>用户不满意</a:t>
            </a:r>
          </a:p>
          <a:p>
            <a:pPr algn="just">
              <a:lnSpc>
                <a:spcPct val="120000"/>
              </a:lnSpc>
              <a:spcBef>
                <a:spcPts val="600"/>
              </a:spcBef>
              <a:spcAft>
                <a:spcPts val="600"/>
              </a:spcAft>
            </a:pPr>
            <a:r>
              <a:rPr lang="zh-CN" altLang="en-US" sz="2600" b="1" dirty="0">
                <a:latin typeface="宋体" panose="02010600030101010101" pitchFamily="2" charset="-122"/>
              </a:rPr>
              <a:t>质量靠不住</a:t>
            </a:r>
          </a:p>
          <a:p>
            <a:pPr algn="just">
              <a:lnSpc>
                <a:spcPct val="120000"/>
              </a:lnSpc>
              <a:spcBef>
                <a:spcPts val="600"/>
              </a:spcBef>
              <a:spcAft>
                <a:spcPts val="600"/>
              </a:spcAft>
            </a:pPr>
            <a:r>
              <a:rPr lang="zh-CN" altLang="en-US" sz="2600" b="1" dirty="0">
                <a:latin typeface="宋体" panose="02010600030101010101" pitchFamily="2" charset="-122"/>
              </a:rPr>
              <a:t>软件不可维护</a:t>
            </a:r>
          </a:p>
          <a:p>
            <a:pPr algn="just">
              <a:lnSpc>
                <a:spcPct val="120000"/>
              </a:lnSpc>
              <a:spcBef>
                <a:spcPts val="600"/>
              </a:spcBef>
              <a:spcAft>
                <a:spcPts val="600"/>
              </a:spcAft>
            </a:pPr>
            <a:r>
              <a:rPr lang="zh-CN" altLang="en-US" sz="2600" b="1" dirty="0">
                <a:latin typeface="宋体" panose="02010600030101010101" pitchFamily="2" charset="-122"/>
              </a:rPr>
              <a:t>没有适当的文档（对于管理人员、开发人员、维护人员）</a:t>
            </a:r>
          </a:p>
          <a:p>
            <a:pPr algn="just">
              <a:lnSpc>
                <a:spcPct val="120000"/>
              </a:lnSpc>
              <a:spcBef>
                <a:spcPts val="600"/>
              </a:spcBef>
              <a:spcAft>
                <a:spcPts val="600"/>
              </a:spcAft>
            </a:pPr>
            <a:r>
              <a:rPr lang="zh-CN" altLang="en-US" sz="2600" b="1" dirty="0">
                <a:latin typeface="宋体" panose="02010600030101010101" pitchFamily="2" charset="-122"/>
              </a:rPr>
              <a:t>软件成本占计算机系统总成本比例逐年上升</a:t>
            </a:r>
            <a:endParaRPr lang="en-US" altLang="zh-CN" sz="2600" b="1" dirty="0">
              <a:latin typeface="宋体" panose="02010600030101010101" pitchFamily="2" charset="-122"/>
            </a:endParaRPr>
          </a:p>
          <a:p>
            <a:pPr algn="just">
              <a:lnSpc>
                <a:spcPct val="120000"/>
              </a:lnSpc>
              <a:spcBef>
                <a:spcPts val="600"/>
              </a:spcBef>
              <a:spcAft>
                <a:spcPts val="600"/>
              </a:spcAft>
            </a:pPr>
            <a:r>
              <a:rPr lang="zh-CN" altLang="en-US" sz="2600" b="1" dirty="0">
                <a:latin typeface="宋体" panose="02010600030101010101" pitchFamily="2" charset="-122"/>
              </a:rPr>
              <a:t>软件开发速度跟不上硬件和应用普及</a:t>
            </a:r>
          </a:p>
          <a:p>
            <a:pPr marL="0" indent="0" algn="just">
              <a:spcBef>
                <a:spcPts val="600"/>
              </a:spcBef>
              <a:spcAft>
                <a:spcPts val="600"/>
              </a:spcAft>
              <a:buNone/>
            </a:pPr>
            <a:endParaRPr lang="zh-CN" altLang="en-US" sz="2400" dirty="0"/>
          </a:p>
        </p:txBody>
      </p:sp>
      <p:sp>
        <p:nvSpPr>
          <p:cNvPr id="4" name="文本框 3"/>
          <p:cNvSpPr txBox="1"/>
          <p:nvPr/>
        </p:nvSpPr>
        <p:spPr>
          <a:xfrm>
            <a:off x="7231380" y="693532"/>
            <a:ext cx="3300904" cy="1200329"/>
          </a:xfrm>
          <a:prstGeom prst="rect">
            <a:avLst/>
          </a:prstGeom>
          <a:noFill/>
        </p:spPr>
        <p:txBody>
          <a:bodyPr wrap="none" rtlCol="0">
            <a:spAutoFit/>
          </a:bodyPr>
          <a:lstStyle/>
          <a:p>
            <a:pPr marL="342900" indent="-342900">
              <a:buFont typeface="Arial" panose="020B0604020202020204" pitchFamily="34" charset="0"/>
              <a:buChar char="•"/>
            </a:pPr>
            <a:r>
              <a:rPr lang="zh-CN" altLang="en-US" sz="2400" dirty="0"/>
              <a:t>成本、进度；</a:t>
            </a:r>
            <a:endParaRPr lang="en-US" altLang="zh-CN" sz="2400" dirty="0"/>
          </a:p>
          <a:p>
            <a:pPr marL="342900" indent="-342900">
              <a:buFont typeface="Arial" panose="020B0604020202020204" pitchFamily="34" charset="0"/>
              <a:buChar char="•"/>
            </a:pPr>
            <a:r>
              <a:rPr lang="zh-CN" altLang="en-US" sz="2400" dirty="0"/>
              <a:t>用户、满意、质量；</a:t>
            </a:r>
            <a:endParaRPr lang="en-US" altLang="zh-CN" sz="2400" dirty="0"/>
          </a:p>
          <a:p>
            <a:pPr marL="342900" indent="-342900">
              <a:buFont typeface="Arial" panose="020B0604020202020204" pitchFamily="34" charset="0"/>
              <a:buChar char="•"/>
            </a:pPr>
            <a:r>
              <a:rPr lang="zh-CN" altLang="en-US" sz="2400" dirty="0"/>
              <a:t>维护、文档；</a:t>
            </a:r>
            <a:endParaRPr lang="en-US" altLang="zh-CN" sz="2400" dirty="0"/>
          </a:p>
        </p:txBody>
      </p:sp>
      <p:sp>
        <p:nvSpPr>
          <p:cNvPr id="5" name="椭圆形标注 4"/>
          <p:cNvSpPr/>
          <p:nvPr/>
        </p:nvSpPr>
        <p:spPr>
          <a:xfrm>
            <a:off x="8519160" y="2277177"/>
            <a:ext cx="3429000" cy="1043940"/>
          </a:xfrm>
          <a:prstGeom prst="wedgeEllipseCallout">
            <a:avLst>
              <a:gd name="adj1" fmla="val -15958"/>
              <a:gd name="adj2" fmla="val -97354"/>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a:t>软件工程的目标以此为基础</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2578" y="1893861"/>
            <a:ext cx="4010025"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椭圆 6"/>
          <p:cNvSpPr/>
          <p:nvPr/>
        </p:nvSpPr>
        <p:spPr>
          <a:xfrm>
            <a:off x="9549322" y="3480758"/>
            <a:ext cx="1368675" cy="1399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Why</a:t>
            </a:r>
            <a:endParaRPr lang="zh-CN" altLang="en-US" sz="2400" dirty="0"/>
          </a:p>
        </p:txBody>
      </p:sp>
    </p:spTree>
    <p:extLst>
      <p:ext uri="{BB962C8B-B14F-4D97-AF65-F5344CB8AC3E}">
        <p14:creationId xmlns:p14="http://schemas.microsoft.com/office/powerpoint/2010/main" val="220007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三、软件危机</a:t>
            </a:r>
            <a:r>
              <a:rPr lang="en-US" altLang="zh-CN" sz="3200" dirty="0"/>
              <a:t>——</a:t>
            </a:r>
            <a:r>
              <a:rPr lang="zh-CN" altLang="en-US" sz="3200" dirty="0"/>
              <a:t>产生的原因</a:t>
            </a:r>
            <a:endParaRPr lang="zh-CN" altLang="en-US" dirty="0"/>
          </a:p>
        </p:txBody>
      </p:sp>
      <p:sp>
        <p:nvSpPr>
          <p:cNvPr id="3" name="内容占位符 2"/>
          <p:cNvSpPr>
            <a:spLocks noGrp="1"/>
          </p:cNvSpPr>
          <p:nvPr>
            <p:ph idx="1"/>
          </p:nvPr>
        </p:nvSpPr>
        <p:spPr>
          <a:xfrm>
            <a:off x="680321" y="1950720"/>
            <a:ext cx="10444879" cy="4792980"/>
          </a:xfrm>
        </p:spPr>
        <p:txBody>
          <a:bodyPr>
            <a:normAutofit fontScale="92500" lnSpcReduction="10000"/>
          </a:bodyPr>
          <a:lstStyle/>
          <a:p>
            <a:pPr algn="just">
              <a:lnSpc>
                <a:spcPct val="120000"/>
              </a:lnSpc>
              <a:spcBef>
                <a:spcPts val="600"/>
              </a:spcBef>
            </a:pPr>
            <a:r>
              <a:rPr lang="zh-CN" altLang="en-US" sz="2800" b="1" dirty="0">
                <a:latin typeface="宋体" panose="02010600030101010101" pitchFamily="2" charset="-122"/>
              </a:rPr>
              <a:t>一、</a:t>
            </a:r>
            <a:r>
              <a:rPr lang="zh-CN" altLang="en-US" sz="2800" b="1" dirty="0">
                <a:solidFill>
                  <a:srgbClr val="002060"/>
                </a:solidFill>
                <a:latin typeface="宋体" panose="02010600030101010101" pitchFamily="2" charset="-122"/>
              </a:rPr>
              <a:t>软件本身</a:t>
            </a:r>
          </a:p>
          <a:p>
            <a:pPr lvl="1" algn="just">
              <a:lnSpc>
                <a:spcPct val="120000"/>
              </a:lnSpc>
              <a:spcBef>
                <a:spcPts val="600"/>
              </a:spcBef>
            </a:pPr>
            <a:r>
              <a:rPr lang="zh-CN" altLang="en-US" sz="2400" b="1" dirty="0">
                <a:latin typeface="宋体" panose="02010600030101010101" pitchFamily="2" charset="-122"/>
              </a:rPr>
              <a:t>缺乏“可见性”，开发过程难于管理</a:t>
            </a:r>
          </a:p>
          <a:p>
            <a:pPr lvl="1" algn="just">
              <a:lnSpc>
                <a:spcPct val="120000"/>
              </a:lnSpc>
              <a:spcBef>
                <a:spcPts val="600"/>
              </a:spcBef>
            </a:pPr>
            <a:r>
              <a:rPr lang="zh-CN" altLang="en-US" sz="2400" b="1" dirty="0">
                <a:latin typeface="宋体" panose="02010600030101010101" pitchFamily="2" charset="-122"/>
              </a:rPr>
              <a:t>软件维护意味着对软件原来设计的修改</a:t>
            </a:r>
          </a:p>
          <a:p>
            <a:pPr lvl="1" algn="just">
              <a:lnSpc>
                <a:spcPct val="120000"/>
              </a:lnSpc>
              <a:spcBef>
                <a:spcPts val="600"/>
              </a:spcBef>
            </a:pPr>
            <a:r>
              <a:rPr lang="zh-CN" altLang="en-US" sz="2400" b="1" dirty="0">
                <a:latin typeface="宋体" panose="02010600030101010101" pitchFamily="2" charset="-122"/>
              </a:rPr>
              <a:t>大型软件合作开发困难</a:t>
            </a:r>
          </a:p>
          <a:p>
            <a:pPr algn="just">
              <a:lnSpc>
                <a:spcPct val="120000"/>
              </a:lnSpc>
              <a:spcBef>
                <a:spcPts val="600"/>
              </a:spcBef>
            </a:pPr>
            <a:r>
              <a:rPr lang="zh-CN" altLang="en-US" sz="2800" b="1" dirty="0">
                <a:latin typeface="宋体" panose="02010600030101010101" pitchFamily="2" charset="-122"/>
              </a:rPr>
              <a:t>二、软件开发和维护的</a:t>
            </a:r>
            <a:r>
              <a:rPr lang="zh-CN" altLang="en-US" sz="2800" b="1" dirty="0">
                <a:solidFill>
                  <a:srgbClr val="002060"/>
                </a:solidFill>
                <a:latin typeface="宋体" panose="02010600030101010101" pitchFamily="2" charset="-122"/>
              </a:rPr>
              <a:t>方法不正确</a:t>
            </a:r>
          </a:p>
          <a:p>
            <a:pPr lvl="1" algn="just">
              <a:lnSpc>
                <a:spcPct val="120000"/>
              </a:lnSpc>
              <a:spcBef>
                <a:spcPts val="600"/>
              </a:spcBef>
            </a:pPr>
            <a:r>
              <a:rPr lang="zh-CN" altLang="en-US" sz="2400" b="1" dirty="0">
                <a:latin typeface="宋体" panose="02010600030101010101" pitchFamily="2" charset="-122"/>
              </a:rPr>
              <a:t>没有真正把握用户需求</a:t>
            </a:r>
          </a:p>
          <a:p>
            <a:pPr lvl="1" algn="just">
              <a:lnSpc>
                <a:spcPct val="120000"/>
              </a:lnSpc>
              <a:spcBef>
                <a:spcPts val="600"/>
              </a:spcBef>
            </a:pPr>
            <a:r>
              <a:rPr lang="zh-CN" altLang="en-US" sz="2400" b="1" dirty="0">
                <a:latin typeface="宋体" panose="02010600030101010101" pitchFamily="2" charset="-122"/>
              </a:rPr>
              <a:t>软件生命周期的认识不准确。（</a:t>
            </a:r>
            <a:r>
              <a:rPr lang="zh-CN" altLang="en-US" sz="1900" b="1" dirty="0">
                <a:latin typeface="宋体" panose="02010600030101010101" pitchFamily="2" charset="-122"/>
              </a:rPr>
              <a:t>注：编程在软件生命周期中占</a:t>
            </a:r>
            <a:r>
              <a:rPr lang="en-US" altLang="zh-CN" sz="1900" b="1" dirty="0">
                <a:latin typeface="宋体" panose="02010600030101010101" pitchFamily="2" charset="-122"/>
              </a:rPr>
              <a:t>10-20%</a:t>
            </a:r>
            <a:r>
              <a:rPr lang="zh-CN" altLang="en-US" sz="1900" b="1" dirty="0">
                <a:latin typeface="宋体" panose="02010600030101010101" pitchFamily="2" charset="-122"/>
              </a:rPr>
              <a:t>工作量</a:t>
            </a:r>
            <a:r>
              <a:rPr lang="en-US" altLang="zh-CN" sz="1900" b="1" dirty="0">
                <a:latin typeface="宋体" panose="02010600030101010101" pitchFamily="2" charset="-122"/>
              </a:rPr>
              <a:t>)</a:t>
            </a:r>
            <a:endParaRPr lang="zh-CN" altLang="en-US" sz="2400" b="1" dirty="0">
              <a:latin typeface="宋体" panose="02010600030101010101" pitchFamily="2" charset="-122"/>
            </a:endParaRPr>
          </a:p>
          <a:p>
            <a:pPr lvl="1" algn="just">
              <a:lnSpc>
                <a:spcPct val="120000"/>
              </a:lnSpc>
              <a:spcBef>
                <a:spcPts val="600"/>
              </a:spcBef>
            </a:pPr>
            <a:r>
              <a:rPr lang="zh-CN" altLang="en-US" sz="2400" b="1" dirty="0">
                <a:latin typeface="宋体" panose="02010600030101010101" pitchFamily="2" charset="-122"/>
              </a:rPr>
              <a:t>软件由一个完整配置组成，程序只是软件的一部分</a:t>
            </a:r>
          </a:p>
          <a:p>
            <a:pPr lvl="1" algn="just">
              <a:lnSpc>
                <a:spcPct val="120000"/>
              </a:lnSpc>
              <a:spcBef>
                <a:spcPts val="600"/>
              </a:spcBef>
            </a:pPr>
            <a:r>
              <a:rPr lang="zh-CN" altLang="en-US" sz="2400" b="1" dirty="0">
                <a:latin typeface="宋体" panose="02010600030101010101" pitchFamily="2" charset="-122"/>
              </a:rPr>
              <a:t>没有做好软件定义（不同阶段修改付出的代价大不相同）</a:t>
            </a:r>
          </a:p>
          <a:p>
            <a:pPr lvl="1" algn="just">
              <a:lnSpc>
                <a:spcPct val="120000"/>
              </a:lnSpc>
              <a:spcBef>
                <a:spcPts val="600"/>
              </a:spcBef>
            </a:pPr>
            <a:r>
              <a:rPr lang="zh-CN" altLang="en-US" sz="2400" b="1" dirty="0">
                <a:latin typeface="宋体" panose="02010600030101010101" pitchFamily="2" charset="-122"/>
              </a:rPr>
              <a:t>轻视维护</a:t>
            </a:r>
            <a:endParaRPr lang="zh-CN" altLang="en-US" sz="2400" dirty="0"/>
          </a:p>
        </p:txBody>
      </p:sp>
    </p:spTree>
    <p:extLst>
      <p:ext uri="{BB962C8B-B14F-4D97-AF65-F5344CB8AC3E}">
        <p14:creationId xmlns:p14="http://schemas.microsoft.com/office/powerpoint/2010/main" val="873069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4" descr="新图像.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668780" y="279602"/>
            <a:ext cx="8762683" cy="6185406"/>
          </a:xfrm>
        </p:spPr>
      </p:pic>
      <p:sp>
        <p:nvSpPr>
          <p:cNvPr id="5" name="矩形 4"/>
          <p:cNvSpPr/>
          <p:nvPr/>
        </p:nvSpPr>
        <p:spPr>
          <a:xfrm>
            <a:off x="3473133" y="347165"/>
            <a:ext cx="1632268" cy="2959555"/>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6" name="矩形 5"/>
          <p:cNvSpPr/>
          <p:nvPr/>
        </p:nvSpPr>
        <p:spPr>
          <a:xfrm>
            <a:off x="5235099" y="324665"/>
            <a:ext cx="1636556" cy="2982055"/>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7" name="矩形 6"/>
          <p:cNvSpPr/>
          <p:nvPr/>
        </p:nvSpPr>
        <p:spPr>
          <a:xfrm>
            <a:off x="6999048" y="331925"/>
            <a:ext cx="1672672" cy="2974795"/>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8" name="矩形 7"/>
          <p:cNvSpPr/>
          <p:nvPr/>
        </p:nvSpPr>
        <p:spPr>
          <a:xfrm>
            <a:off x="8765302" y="331925"/>
            <a:ext cx="1650921" cy="2974795"/>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9" name="矩形 8"/>
          <p:cNvSpPr/>
          <p:nvPr/>
        </p:nvSpPr>
        <p:spPr>
          <a:xfrm>
            <a:off x="1714500" y="3436238"/>
            <a:ext cx="1615440" cy="300228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10" name="矩形 9"/>
          <p:cNvSpPr/>
          <p:nvPr/>
        </p:nvSpPr>
        <p:spPr>
          <a:xfrm>
            <a:off x="3470911" y="3436238"/>
            <a:ext cx="1625284" cy="300228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11" name="矩形 10"/>
          <p:cNvSpPr/>
          <p:nvPr/>
        </p:nvSpPr>
        <p:spPr>
          <a:xfrm>
            <a:off x="5235099" y="3439868"/>
            <a:ext cx="1636556" cy="300990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12" name="矩形 11"/>
          <p:cNvSpPr/>
          <p:nvPr/>
        </p:nvSpPr>
        <p:spPr>
          <a:xfrm>
            <a:off x="7010560" y="3439868"/>
            <a:ext cx="1661159" cy="300990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
        <p:nvSpPr>
          <p:cNvPr id="13" name="矩形 12"/>
          <p:cNvSpPr/>
          <p:nvPr/>
        </p:nvSpPr>
        <p:spPr>
          <a:xfrm>
            <a:off x="8776814" y="3439868"/>
            <a:ext cx="1639409" cy="3009900"/>
          </a:xfrm>
          <a:prstGeom prst="rect">
            <a:avLst/>
          </a:prstGeom>
        </p:spPr>
        <p:style>
          <a:lnRef idx="1">
            <a:schemeClr val="dk1"/>
          </a:lnRef>
          <a:fillRef idx="3">
            <a:schemeClr val="dk1"/>
          </a:fillRef>
          <a:effectRef idx="2">
            <a:schemeClr val="dk1"/>
          </a:effectRef>
          <a:fontRef idx="minor">
            <a:schemeClr val="lt1"/>
          </a:fontRef>
        </p:style>
        <p:txBody>
          <a:bodyPr anchor="ctr"/>
          <a:lstStyle/>
          <a:p>
            <a:pPr algn="ctr" eaLnBrk="1" hangingPunct="1">
              <a:defRPr/>
            </a:pPr>
            <a:endParaRPr lang="zh-CN" altLang="en-US">
              <a:solidFill>
                <a:srgbClr val="FFFFFF"/>
              </a:solidFill>
            </a:endParaRPr>
          </a:p>
        </p:txBody>
      </p:sp>
    </p:spTree>
    <p:extLst>
      <p:ext uri="{BB962C8B-B14F-4D97-AF65-F5344CB8AC3E}">
        <p14:creationId xmlns:p14="http://schemas.microsoft.com/office/powerpoint/2010/main" val="18048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0-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1" fill="hold"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0-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1" fill="hold" nodeType="clickEffect">
                                  <p:stCondLst>
                                    <p:cond delay="0"/>
                                  </p:stCondLst>
                                  <p:childTnLst>
                                    <p:anim calcmode="lin" valueType="num">
                                      <p:cBhvr additive="base">
                                        <p:cTn id="18" dur="500"/>
                                        <p:tgtEl>
                                          <p:spTgt spid="7"/>
                                        </p:tgtEl>
                                        <p:attrNameLst>
                                          <p:attrName>ppt_x</p:attrName>
                                        </p:attrNameLst>
                                      </p:cBhvr>
                                      <p:tavLst>
                                        <p:tav tm="0">
                                          <p:val>
                                            <p:strVal val="ppt_x"/>
                                          </p:val>
                                        </p:tav>
                                        <p:tav tm="100000">
                                          <p:val>
                                            <p:strVal val="ppt_x"/>
                                          </p:val>
                                        </p:tav>
                                      </p:tavLst>
                                    </p:anim>
                                    <p:anim calcmode="lin" valueType="num">
                                      <p:cBhvr additive="base">
                                        <p:cTn id="19" dur="500"/>
                                        <p:tgtEl>
                                          <p:spTgt spid="7"/>
                                        </p:tgtEl>
                                        <p:attrNameLst>
                                          <p:attrName>ppt_y</p:attrName>
                                        </p:attrNameLst>
                                      </p:cBhvr>
                                      <p:tavLst>
                                        <p:tav tm="0">
                                          <p:val>
                                            <p:strVal val="ppt_y"/>
                                          </p:val>
                                        </p:tav>
                                        <p:tav tm="100000">
                                          <p:val>
                                            <p:strVal val="0-ppt_h/2"/>
                                          </p:val>
                                        </p:tav>
                                      </p:tavLst>
                                    </p:anim>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1" fill="hold" nodeType="clickEffect">
                                  <p:stCondLst>
                                    <p:cond delay="0"/>
                                  </p:stCondLst>
                                  <p:childTnLst>
                                    <p:anim calcmode="lin" valueType="num">
                                      <p:cBhvr additive="base">
                                        <p:cTn id="24" dur="500"/>
                                        <p:tgtEl>
                                          <p:spTgt spid="8"/>
                                        </p:tgtEl>
                                        <p:attrNameLst>
                                          <p:attrName>ppt_x</p:attrName>
                                        </p:attrNameLst>
                                      </p:cBhvr>
                                      <p:tavLst>
                                        <p:tav tm="0">
                                          <p:val>
                                            <p:strVal val="ppt_x"/>
                                          </p:val>
                                        </p:tav>
                                        <p:tav tm="100000">
                                          <p:val>
                                            <p:strVal val="ppt_x"/>
                                          </p:val>
                                        </p:tav>
                                      </p:tavLst>
                                    </p:anim>
                                    <p:anim calcmode="lin" valueType="num">
                                      <p:cBhvr additive="base">
                                        <p:cTn id="25" dur="500"/>
                                        <p:tgtEl>
                                          <p:spTgt spid="8"/>
                                        </p:tgtEl>
                                        <p:attrNameLst>
                                          <p:attrName>ppt_y</p:attrName>
                                        </p:attrNameLst>
                                      </p:cBhvr>
                                      <p:tavLst>
                                        <p:tav tm="0">
                                          <p:val>
                                            <p:strVal val="ppt_y"/>
                                          </p:val>
                                        </p:tav>
                                        <p:tav tm="100000">
                                          <p:val>
                                            <p:strVal val="0-ppt_h/2"/>
                                          </p:val>
                                        </p:tav>
                                      </p:tavLst>
                                    </p:anim>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nodeType="clickEffect">
                                  <p:stCondLst>
                                    <p:cond delay="0"/>
                                  </p:stCondLst>
                                  <p:childTnLst>
                                    <p:anim calcmode="lin" valueType="num">
                                      <p:cBhvr additive="base">
                                        <p:cTn id="30" dur="500"/>
                                        <p:tgtEl>
                                          <p:spTgt spid="9"/>
                                        </p:tgtEl>
                                        <p:attrNameLst>
                                          <p:attrName>ppt_x</p:attrName>
                                        </p:attrNameLst>
                                      </p:cBhvr>
                                      <p:tavLst>
                                        <p:tav tm="0">
                                          <p:val>
                                            <p:strVal val="ppt_x"/>
                                          </p:val>
                                        </p:tav>
                                        <p:tav tm="100000">
                                          <p:val>
                                            <p:strVal val="ppt_x"/>
                                          </p:val>
                                        </p:tav>
                                      </p:tavLst>
                                    </p:anim>
                                    <p:anim calcmode="lin" valueType="num">
                                      <p:cBhvr additive="base">
                                        <p:cTn id="31" dur="500"/>
                                        <p:tgtEl>
                                          <p:spTgt spid="9"/>
                                        </p:tgtEl>
                                        <p:attrNameLst>
                                          <p:attrName>ppt_y</p:attrName>
                                        </p:attrNameLst>
                                      </p:cBhvr>
                                      <p:tavLst>
                                        <p:tav tm="0">
                                          <p:val>
                                            <p:strVal val="ppt_y"/>
                                          </p:val>
                                        </p:tav>
                                        <p:tav tm="100000">
                                          <p:val>
                                            <p:strVal val="1+ppt_h/2"/>
                                          </p:val>
                                        </p:tav>
                                      </p:tavLst>
                                    </p:anim>
                                    <p:set>
                                      <p:cBhvr>
                                        <p:cTn id="32" dur="1" fill="hold">
                                          <p:stCondLst>
                                            <p:cond delay="4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nodeType="clickEffect">
                                  <p:stCondLst>
                                    <p:cond delay="0"/>
                                  </p:stCondLst>
                                  <p:childTnLst>
                                    <p:anim calcmode="lin" valueType="num">
                                      <p:cBhvr additive="base">
                                        <p:cTn id="36" dur="500"/>
                                        <p:tgtEl>
                                          <p:spTgt spid="10"/>
                                        </p:tgtEl>
                                        <p:attrNameLst>
                                          <p:attrName>ppt_x</p:attrName>
                                        </p:attrNameLst>
                                      </p:cBhvr>
                                      <p:tavLst>
                                        <p:tav tm="0">
                                          <p:val>
                                            <p:strVal val="ppt_x"/>
                                          </p:val>
                                        </p:tav>
                                        <p:tav tm="100000">
                                          <p:val>
                                            <p:strVal val="ppt_x"/>
                                          </p:val>
                                        </p:tav>
                                      </p:tavLst>
                                    </p:anim>
                                    <p:anim calcmode="lin" valueType="num">
                                      <p:cBhvr additive="base">
                                        <p:cTn id="37" dur="500"/>
                                        <p:tgtEl>
                                          <p:spTgt spid="10"/>
                                        </p:tgtEl>
                                        <p:attrNameLst>
                                          <p:attrName>ppt_y</p:attrName>
                                        </p:attrNameLst>
                                      </p:cBhvr>
                                      <p:tavLst>
                                        <p:tav tm="0">
                                          <p:val>
                                            <p:strVal val="ppt_y"/>
                                          </p:val>
                                        </p:tav>
                                        <p:tav tm="100000">
                                          <p:val>
                                            <p:strVal val="1+ppt_h/2"/>
                                          </p:val>
                                        </p:tav>
                                      </p:tavLst>
                                    </p:anim>
                                    <p:set>
                                      <p:cBhvr>
                                        <p:cTn id="38" dur="1" fill="hold">
                                          <p:stCondLst>
                                            <p:cond delay="499"/>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nodeType="clickEffect">
                                  <p:stCondLst>
                                    <p:cond delay="0"/>
                                  </p:stCondLst>
                                  <p:childTnLst>
                                    <p:anim calcmode="lin" valueType="num">
                                      <p:cBhvr additive="base">
                                        <p:cTn id="42" dur="500"/>
                                        <p:tgtEl>
                                          <p:spTgt spid="11"/>
                                        </p:tgtEl>
                                        <p:attrNameLst>
                                          <p:attrName>ppt_x</p:attrName>
                                        </p:attrNameLst>
                                      </p:cBhvr>
                                      <p:tavLst>
                                        <p:tav tm="0">
                                          <p:val>
                                            <p:strVal val="ppt_x"/>
                                          </p:val>
                                        </p:tav>
                                        <p:tav tm="100000">
                                          <p:val>
                                            <p:strVal val="ppt_x"/>
                                          </p:val>
                                        </p:tav>
                                      </p:tavLst>
                                    </p:anim>
                                    <p:anim calcmode="lin" valueType="num">
                                      <p:cBhvr additive="base">
                                        <p:cTn id="43" dur="500"/>
                                        <p:tgtEl>
                                          <p:spTgt spid="11"/>
                                        </p:tgtEl>
                                        <p:attrNameLst>
                                          <p:attrName>ppt_y</p:attrName>
                                        </p:attrNameLst>
                                      </p:cBhvr>
                                      <p:tavLst>
                                        <p:tav tm="0">
                                          <p:val>
                                            <p:strVal val="ppt_y"/>
                                          </p:val>
                                        </p:tav>
                                        <p:tav tm="100000">
                                          <p:val>
                                            <p:strVal val="1+ppt_h/2"/>
                                          </p:val>
                                        </p:tav>
                                      </p:tavLst>
                                    </p:anim>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nodeType="clickEffect">
                                  <p:stCondLst>
                                    <p:cond delay="0"/>
                                  </p:stCondLst>
                                  <p:childTnLst>
                                    <p:anim calcmode="lin" valueType="num">
                                      <p:cBhvr additive="base">
                                        <p:cTn id="48" dur="500"/>
                                        <p:tgtEl>
                                          <p:spTgt spid="12"/>
                                        </p:tgtEl>
                                        <p:attrNameLst>
                                          <p:attrName>ppt_x</p:attrName>
                                        </p:attrNameLst>
                                      </p:cBhvr>
                                      <p:tavLst>
                                        <p:tav tm="0">
                                          <p:val>
                                            <p:strVal val="ppt_x"/>
                                          </p:val>
                                        </p:tav>
                                        <p:tav tm="100000">
                                          <p:val>
                                            <p:strVal val="ppt_x"/>
                                          </p:val>
                                        </p:tav>
                                      </p:tavLst>
                                    </p:anim>
                                    <p:anim calcmode="lin" valueType="num">
                                      <p:cBhvr additive="base">
                                        <p:cTn id="49" dur="500"/>
                                        <p:tgtEl>
                                          <p:spTgt spid="12"/>
                                        </p:tgtEl>
                                        <p:attrNameLst>
                                          <p:attrName>ppt_y</p:attrName>
                                        </p:attrNameLst>
                                      </p:cBhvr>
                                      <p:tavLst>
                                        <p:tav tm="0">
                                          <p:val>
                                            <p:strVal val="ppt_y"/>
                                          </p:val>
                                        </p:tav>
                                        <p:tav tm="100000">
                                          <p:val>
                                            <p:strVal val="1+ppt_h/2"/>
                                          </p:val>
                                        </p:tav>
                                      </p:tavLst>
                                    </p:anim>
                                    <p:set>
                                      <p:cBhvr>
                                        <p:cTn id="50" dur="1" fill="hold">
                                          <p:stCondLst>
                                            <p:cond delay="499"/>
                                          </p:stCondLst>
                                        </p:cTn>
                                        <p:tgtEl>
                                          <p:spTgt spid="1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nodeType="clickEffect">
                                  <p:stCondLst>
                                    <p:cond delay="0"/>
                                  </p:stCondLst>
                                  <p:childTnLst>
                                    <p:anim calcmode="lin" valueType="num">
                                      <p:cBhvr additive="base">
                                        <p:cTn id="54" dur="500"/>
                                        <p:tgtEl>
                                          <p:spTgt spid="13"/>
                                        </p:tgtEl>
                                        <p:attrNameLst>
                                          <p:attrName>ppt_x</p:attrName>
                                        </p:attrNameLst>
                                      </p:cBhvr>
                                      <p:tavLst>
                                        <p:tav tm="0">
                                          <p:val>
                                            <p:strVal val="ppt_x"/>
                                          </p:val>
                                        </p:tav>
                                        <p:tav tm="100000">
                                          <p:val>
                                            <p:strVal val="ppt_x"/>
                                          </p:val>
                                        </p:tav>
                                      </p:tavLst>
                                    </p:anim>
                                    <p:anim calcmode="lin" valueType="num">
                                      <p:cBhvr additive="base">
                                        <p:cTn id="55" dur="500"/>
                                        <p:tgtEl>
                                          <p:spTgt spid="13"/>
                                        </p:tgtEl>
                                        <p:attrNameLst>
                                          <p:attrName>ppt_y</p:attrName>
                                        </p:attrNameLst>
                                      </p:cBhvr>
                                      <p:tavLst>
                                        <p:tav tm="0">
                                          <p:val>
                                            <p:strVal val="ppt_y"/>
                                          </p:val>
                                        </p:tav>
                                        <p:tav tm="100000">
                                          <p:val>
                                            <p:strVal val="1+ppt_h/2"/>
                                          </p:val>
                                        </p:tav>
                                      </p:tavLst>
                                    </p:anim>
                                    <p:set>
                                      <p:cBhvr>
                                        <p:cTn id="56"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人月神话</a:t>
            </a:r>
            <a:r>
              <a:rPr lang="en-US" altLang="zh-CN" dirty="0"/>
              <a:t>》</a:t>
            </a:r>
            <a:r>
              <a:rPr lang="zh-CN" altLang="en-US" dirty="0"/>
              <a:t>和</a:t>
            </a:r>
            <a:r>
              <a:rPr lang="en-US" altLang="zh-CN" dirty="0"/>
              <a:t>《</a:t>
            </a:r>
            <a:r>
              <a:rPr lang="zh-CN" altLang="en-US" dirty="0"/>
              <a:t>没有银弹</a:t>
            </a:r>
            <a:r>
              <a:rPr lang="en-US" altLang="zh-CN" dirty="0"/>
              <a:t>》</a:t>
            </a:r>
            <a:endParaRPr lang="zh-CN" altLang="en-US" dirty="0"/>
          </a:p>
        </p:txBody>
      </p:sp>
      <p:sp>
        <p:nvSpPr>
          <p:cNvPr id="3" name="内容占位符 2"/>
          <p:cNvSpPr>
            <a:spLocks noGrp="1"/>
          </p:cNvSpPr>
          <p:nvPr>
            <p:ph idx="1"/>
          </p:nvPr>
        </p:nvSpPr>
        <p:spPr>
          <a:xfrm>
            <a:off x="680321" y="2336873"/>
            <a:ext cx="10861439" cy="3599316"/>
          </a:xfrm>
        </p:spPr>
        <p:txBody>
          <a:bodyPr>
            <a:noAutofit/>
          </a:bodyPr>
          <a:lstStyle/>
          <a:p>
            <a:pPr>
              <a:lnSpc>
                <a:spcPct val="100000"/>
              </a:lnSpc>
              <a:spcBef>
                <a:spcPts val="600"/>
              </a:spcBef>
              <a:spcAft>
                <a:spcPts val="600"/>
              </a:spcAft>
            </a:pPr>
            <a:r>
              <a:rPr lang="zh-CN" altLang="en-US" sz="2800" b="1" dirty="0"/>
              <a:t>由</a:t>
            </a:r>
            <a:r>
              <a:rPr lang="en-US" altLang="zh-CN" sz="2800" b="1" dirty="0"/>
              <a:t>Brooks</a:t>
            </a:r>
            <a:r>
              <a:rPr lang="zh-CN" altLang="en-US" sz="2800" b="1" dirty="0"/>
              <a:t>分别在</a:t>
            </a:r>
            <a:r>
              <a:rPr lang="en-US" altLang="zh-CN" sz="2800" b="1" dirty="0"/>
              <a:t>1975</a:t>
            </a:r>
            <a:r>
              <a:rPr lang="zh-CN" altLang="en-US" sz="2800" b="1" dirty="0"/>
              <a:t>年和</a:t>
            </a:r>
            <a:r>
              <a:rPr lang="en-US" altLang="zh-CN" sz="2800" b="1" dirty="0"/>
              <a:t>1987</a:t>
            </a:r>
            <a:r>
              <a:rPr lang="zh-CN" altLang="en-US" sz="2800" b="1" dirty="0"/>
              <a:t>年出版；</a:t>
            </a:r>
            <a:endParaRPr lang="en-US" altLang="zh-CN" sz="2800" b="1" dirty="0"/>
          </a:p>
          <a:p>
            <a:pPr>
              <a:lnSpc>
                <a:spcPct val="100000"/>
              </a:lnSpc>
              <a:spcBef>
                <a:spcPts val="600"/>
              </a:spcBef>
              <a:spcAft>
                <a:spcPts val="600"/>
              </a:spcAft>
            </a:pPr>
            <a:r>
              <a:rPr lang="en-US" altLang="zh-CN" sz="2800" b="1" dirty="0" err="1"/>
              <a:t>F.P.Brooks</a:t>
            </a:r>
            <a:r>
              <a:rPr lang="zh-CN" altLang="en-US" sz="2800" b="1" dirty="0"/>
              <a:t>是</a:t>
            </a:r>
            <a:r>
              <a:rPr lang="en-US" altLang="zh-CN" sz="2800" b="1" dirty="0"/>
              <a:t>IBM</a:t>
            </a:r>
            <a:r>
              <a:rPr lang="zh-CN" altLang="en-US" sz="2800" b="1" dirty="0"/>
              <a:t>公司在</a:t>
            </a:r>
            <a:r>
              <a:rPr lang="en-US" altLang="zh-CN" sz="2800" b="1" dirty="0"/>
              <a:t>1963</a:t>
            </a:r>
            <a:r>
              <a:rPr lang="zh-CN" altLang="en-US" sz="2800" b="1" dirty="0"/>
              <a:t>年</a:t>
            </a:r>
            <a:r>
              <a:rPr lang="en-US" altLang="zh-CN" sz="2800" b="1" dirty="0"/>
              <a:t>—1966</a:t>
            </a:r>
            <a:r>
              <a:rPr lang="zh-CN" altLang="en-US" sz="2800" b="1" dirty="0"/>
              <a:t>年开发的</a:t>
            </a:r>
            <a:r>
              <a:rPr lang="en-US" altLang="zh-CN" sz="2800" b="1" dirty="0"/>
              <a:t>IBM360</a:t>
            </a:r>
            <a:r>
              <a:rPr lang="zh-CN" altLang="en-US" sz="2800" b="1" dirty="0"/>
              <a:t>机操作系统的项目负责人；</a:t>
            </a:r>
            <a:endParaRPr lang="en-US" altLang="zh-CN" sz="2800" b="1" dirty="0"/>
          </a:p>
          <a:p>
            <a:pPr>
              <a:lnSpc>
                <a:spcPct val="100000"/>
              </a:lnSpc>
              <a:spcBef>
                <a:spcPts val="600"/>
              </a:spcBef>
              <a:spcAft>
                <a:spcPts val="600"/>
              </a:spcAft>
            </a:pPr>
            <a:r>
              <a:rPr lang="zh-CN" altLang="en-US" sz="2800" b="1" dirty="0"/>
              <a:t>该项目花费</a:t>
            </a:r>
            <a:r>
              <a:rPr lang="en-US" altLang="zh-CN" sz="2800" b="1" dirty="0"/>
              <a:t>5000</a:t>
            </a:r>
            <a:r>
              <a:rPr lang="zh-CN" altLang="en-US" sz="2800" b="1" dirty="0"/>
              <a:t>人一年的工作量，近</a:t>
            </a:r>
            <a:r>
              <a:rPr lang="en-US" altLang="zh-CN" sz="2800" b="1" dirty="0"/>
              <a:t>100</a:t>
            </a:r>
            <a:r>
              <a:rPr lang="zh-CN" altLang="en-US" sz="2800" b="1" dirty="0"/>
              <a:t>万行代码，但结果非常糟糕：每个新版本都是从前一版本中找出</a:t>
            </a:r>
            <a:r>
              <a:rPr lang="en-US" altLang="zh-CN" sz="2800" b="1" dirty="0"/>
              <a:t>1000</a:t>
            </a:r>
            <a:r>
              <a:rPr lang="zh-CN" altLang="en-US" sz="2800" b="1" dirty="0"/>
              <a:t>个程序错误而修正的结果。“</a:t>
            </a:r>
            <a:r>
              <a:rPr lang="zh-CN" altLang="en-US" sz="2800" b="1" dirty="0">
                <a:solidFill>
                  <a:srgbClr val="002060"/>
                </a:solidFill>
              </a:rPr>
              <a:t>正像一只逃亡的野兽落到泥潭中做垂死的挣扎，越是挣扎，陷得越深，最后无法逃脱灭顶的灾难</a:t>
            </a:r>
            <a:r>
              <a:rPr lang="zh-CN" altLang="en-US" sz="2800" b="1" dirty="0"/>
              <a:t>”（摘自</a:t>
            </a:r>
            <a:r>
              <a:rPr lang="en-US" altLang="zh-CN" sz="2800" b="1" dirty="0"/>
              <a:t>《</a:t>
            </a:r>
            <a:r>
              <a:rPr lang="zh-CN" altLang="en-US" sz="2800" b="1" dirty="0"/>
              <a:t>人月神话</a:t>
            </a:r>
            <a:r>
              <a:rPr lang="en-US" altLang="zh-CN" sz="2800" b="1" dirty="0"/>
              <a:t>》</a:t>
            </a:r>
            <a:r>
              <a:rPr lang="zh-CN" altLang="en-US" sz="2800" b="1" dirty="0"/>
              <a:t>）。</a:t>
            </a:r>
            <a:endParaRPr lang="zh-CN" altLang="en-US" sz="2800" dirty="0"/>
          </a:p>
        </p:txBody>
      </p:sp>
    </p:spTree>
    <p:extLst>
      <p:ext uri="{BB962C8B-B14F-4D97-AF65-F5344CB8AC3E}">
        <p14:creationId xmlns:p14="http://schemas.microsoft.com/office/powerpoint/2010/main" val="563113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人月神话</a:t>
            </a:r>
            <a:r>
              <a:rPr lang="en-US" altLang="zh-CN" dirty="0"/>
              <a:t>》</a:t>
            </a:r>
            <a:r>
              <a:rPr lang="zh-CN" altLang="en-US" dirty="0"/>
              <a:t>和</a:t>
            </a:r>
            <a:r>
              <a:rPr lang="en-US" altLang="zh-CN" dirty="0"/>
              <a:t>《</a:t>
            </a:r>
            <a:r>
              <a:rPr lang="zh-CN" altLang="en-US" dirty="0"/>
              <a:t>没有银弹</a:t>
            </a:r>
            <a:r>
              <a:rPr lang="en-US" altLang="zh-CN" dirty="0"/>
              <a:t>》</a:t>
            </a:r>
            <a:endParaRPr lang="zh-CN" altLang="en-US" dirty="0"/>
          </a:p>
        </p:txBody>
      </p:sp>
      <p:sp>
        <p:nvSpPr>
          <p:cNvPr id="3" name="内容占位符 2"/>
          <p:cNvSpPr>
            <a:spLocks noGrp="1"/>
          </p:cNvSpPr>
          <p:nvPr>
            <p:ph idx="1"/>
          </p:nvPr>
        </p:nvSpPr>
        <p:spPr>
          <a:xfrm>
            <a:off x="680321" y="2336873"/>
            <a:ext cx="10681099" cy="3599316"/>
          </a:xfrm>
        </p:spPr>
        <p:txBody>
          <a:bodyPr>
            <a:normAutofit/>
          </a:bodyPr>
          <a:lstStyle/>
          <a:p>
            <a:pPr>
              <a:lnSpc>
                <a:spcPct val="100000"/>
              </a:lnSpc>
              <a:spcBef>
                <a:spcPts val="600"/>
              </a:spcBef>
              <a:spcAft>
                <a:spcPts val="600"/>
              </a:spcAft>
            </a:pPr>
            <a:r>
              <a:rPr lang="zh-CN" altLang="en-US" sz="2800" b="1" dirty="0"/>
              <a:t>在</a:t>
            </a:r>
            <a:r>
              <a:rPr lang="en-US" altLang="zh-CN" sz="2800" b="1" dirty="0"/>
              <a:t>《</a:t>
            </a:r>
            <a:r>
              <a:rPr lang="zh-CN" altLang="en-US" sz="2800" b="1" dirty="0"/>
              <a:t>没有银弹</a:t>
            </a:r>
            <a:r>
              <a:rPr lang="en-US" altLang="zh-CN" sz="2800" b="1" dirty="0"/>
              <a:t>》</a:t>
            </a:r>
            <a:r>
              <a:rPr lang="zh-CN" altLang="en-US" sz="2800" b="1" dirty="0"/>
              <a:t>中，</a:t>
            </a:r>
            <a:r>
              <a:rPr lang="en-US" altLang="zh-CN" sz="2800" b="1" dirty="0"/>
              <a:t>Brooks</a:t>
            </a:r>
            <a:r>
              <a:rPr lang="zh-CN" altLang="en-US" sz="2800" b="1" dirty="0"/>
              <a:t>有一个著名论断：</a:t>
            </a:r>
            <a:endParaRPr lang="en-US" altLang="zh-CN" sz="2800" b="1" dirty="0"/>
          </a:p>
          <a:p>
            <a:pPr lvl="1">
              <a:lnSpc>
                <a:spcPct val="100000"/>
              </a:lnSpc>
              <a:spcBef>
                <a:spcPts val="600"/>
              </a:spcBef>
              <a:spcAft>
                <a:spcPts val="600"/>
              </a:spcAft>
            </a:pPr>
            <a:r>
              <a:rPr lang="zh-CN" altLang="en-US" sz="2800" b="1" dirty="0">
                <a:solidFill>
                  <a:srgbClr val="FFFF00"/>
                </a:solidFill>
              </a:rPr>
              <a:t>软件工作是人类所从事的最复杂的工作</a:t>
            </a:r>
            <a:r>
              <a:rPr lang="zh-CN" altLang="en-US" sz="2800" b="1" dirty="0"/>
              <a:t>。在他看来，对于软件的突破性技术（即所谓的银弹）而言，不管是过去、现在还是将来，类似于“银弹”的各种“屠龙之技”都不可能解决软件复杂性的问题。这让人们意识到了软件工程的本质，</a:t>
            </a:r>
            <a:r>
              <a:rPr lang="zh-CN" altLang="en-US" sz="2800" b="1" dirty="0">
                <a:solidFill>
                  <a:srgbClr val="FFFF00"/>
                </a:solidFill>
              </a:rPr>
              <a:t>放弃寻找“放之四海而皆准”的幻想</a:t>
            </a:r>
            <a:r>
              <a:rPr lang="zh-CN" altLang="en-US" sz="2800" b="1" dirty="0"/>
              <a:t>。</a:t>
            </a:r>
          </a:p>
        </p:txBody>
      </p:sp>
    </p:spTree>
    <p:extLst>
      <p:ext uri="{BB962C8B-B14F-4D97-AF65-F5344CB8AC3E}">
        <p14:creationId xmlns:p14="http://schemas.microsoft.com/office/powerpoint/2010/main" val="1432742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本讲主要内容</a:t>
            </a:r>
            <a:endParaRPr lang="zh-CN" altLang="en-US" dirty="0"/>
          </a:p>
        </p:txBody>
      </p:sp>
      <p:sp>
        <p:nvSpPr>
          <p:cNvPr id="5" name="内容占位符 2"/>
          <p:cNvSpPr txBox="1">
            <a:spLocks/>
          </p:cNvSpPr>
          <p:nvPr/>
        </p:nvSpPr>
        <p:spPr>
          <a:xfrm>
            <a:off x="680321" y="2336873"/>
            <a:ext cx="9613861" cy="35993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nSpc>
                <a:spcPct val="100000"/>
              </a:lnSpc>
              <a:spcBef>
                <a:spcPts val="600"/>
              </a:spcBef>
            </a:pPr>
            <a:r>
              <a:rPr lang="zh-CN" altLang="en-US" sz="2800" dirty="0">
                <a:sym typeface="Wingdings" panose="05000000000000000000" pitchFamily="2" charset="2"/>
              </a:rPr>
              <a:t>一、工程</a:t>
            </a:r>
          </a:p>
          <a:p>
            <a:pPr>
              <a:lnSpc>
                <a:spcPct val="100000"/>
              </a:lnSpc>
              <a:spcBef>
                <a:spcPts val="600"/>
              </a:spcBef>
            </a:pPr>
            <a:r>
              <a:rPr lang="zh-CN" altLang="en-US" sz="2800" dirty="0">
                <a:sym typeface="Wingdings" panose="05000000000000000000" pitchFamily="2" charset="2"/>
              </a:rPr>
              <a:t>二、软件</a:t>
            </a:r>
          </a:p>
          <a:p>
            <a:pPr>
              <a:lnSpc>
                <a:spcPct val="100000"/>
              </a:lnSpc>
              <a:spcBef>
                <a:spcPts val="600"/>
              </a:spcBef>
            </a:pPr>
            <a:r>
              <a:rPr lang="zh-CN" altLang="en-US" sz="2800" dirty="0">
                <a:sym typeface="Wingdings" panose="05000000000000000000" pitchFamily="2" charset="2"/>
              </a:rPr>
              <a:t>三、软件危机</a:t>
            </a:r>
          </a:p>
          <a:p>
            <a:pPr>
              <a:lnSpc>
                <a:spcPct val="100000"/>
              </a:lnSpc>
              <a:spcBef>
                <a:spcPts val="600"/>
              </a:spcBef>
            </a:pPr>
            <a:r>
              <a:rPr lang="zh-CN" altLang="en-US" sz="2800" b="1" dirty="0">
                <a:solidFill>
                  <a:srgbClr val="002060"/>
                </a:solidFill>
                <a:sym typeface="Wingdings" panose="05000000000000000000" pitchFamily="2" charset="2"/>
              </a:rPr>
              <a:t>四、软件工程</a:t>
            </a:r>
            <a:endParaRPr lang="en-US" altLang="zh-CN" sz="2800" b="1" dirty="0">
              <a:solidFill>
                <a:srgbClr val="002060"/>
              </a:solidFill>
              <a:sym typeface="Wingdings" panose="05000000000000000000" pitchFamily="2" charset="2"/>
            </a:endParaRPr>
          </a:p>
          <a:p>
            <a:pPr lvl="1">
              <a:lnSpc>
                <a:spcPct val="100000"/>
              </a:lnSpc>
              <a:spcBef>
                <a:spcPts val="600"/>
              </a:spcBef>
            </a:pPr>
            <a:endParaRPr lang="en-US" altLang="zh-CN" sz="2400" dirty="0"/>
          </a:p>
          <a:p>
            <a:pPr lvl="1"/>
            <a:endParaRPr lang="zh-CN" altLang="en-US" dirty="0"/>
          </a:p>
        </p:txBody>
      </p:sp>
    </p:spTree>
    <p:extLst>
      <p:ext uri="{BB962C8B-B14F-4D97-AF65-F5344CB8AC3E}">
        <p14:creationId xmlns:p14="http://schemas.microsoft.com/office/powerpoint/2010/main" val="371318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500"/>
                                        <p:tgtEl>
                                          <p:spTgt spid="5">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p>
        </p:txBody>
      </p:sp>
      <p:sp>
        <p:nvSpPr>
          <p:cNvPr id="3" name="内容占位符 2"/>
          <p:cNvSpPr>
            <a:spLocks noGrp="1"/>
          </p:cNvSpPr>
          <p:nvPr>
            <p:ph idx="1"/>
          </p:nvPr>
        </p:nvSpPr>
        <p:spPr>
          <a:xfrm>
            <a:off x="680321" y="2336872"/>
            <a:ext cx="10681099" cy="4287447"/>
          </a:xfrm>
        </p:spPr>
        <p:txBody>
          <a:bodyPr>
            <a:normAutofit/>
          </a:bodyPr>
          <a:lstStyle/>
          <a:p>
            <a:pPr>
              <a:lnSpc>
                <a:spcPct val="110000"/>
              </a:lnSpc>
              <a:spcBef>
                <a:spcPts val="600"/>
              </a:spcBef>
              <a:spcAft>
                <a:spcPts val="600"/>
              </a:spcAft>
            </a:pPr>
            <a:r>
              <a:rPr lang="en-US" altLang="zh-CN" sz="2600" b="1" dirty="0"/>
              <a:t>1968</a:t>
            </a:r>
            <a:r>
              <a:rPr lang="zh-CN" altLang="en-US" sz="2600" b="1" dirty="0"/>
              <a:t>年北大西洋公约组织（</a:t>
            </a:r>
            <a:r>
              <a:rPr lang="en-US" altLang="zh-CN" sz="2600" b="1" dirty="0"/>
              <a:t>NATO</a:t>
            </a:r>
            <a:r>
              <a:rPr lang="zh-CN" altLang="en-US" sz="2600" b="1" dirty="0"/>
              <a:t>）的计算机科学家在国际学术会议上，针对软件开发长期以来存在的“</a:t>
            </a:r>
            <a:r>
              <a:rPr lang="zh-CN" altLang="en-US" sz="2600" b="1" dirty="0">
                <a:solidFill>
                  <a:srgbClr val="002060"/>
                </a:solidFill>
              </a:rPr>
              <a:t>开发周期长、成本高、质量差、适应性差、难维护</a:t>
            </a:r>
            <a:r>
              <a:rPr lang="zh-CN" altLang="en-US" sz="2600" b="1" dirty="0"/>
              <a:t>”这五大难题，提出了“软件危机”的概念。并为解决这些难题，首次提出“软件工程”的概念，</a:t>
            </a:r>
            <a:r>
              <a:rPr lang="zh-CN" altLang="en-US" sz="2600" b="1" dirty="0">
                <a:solidFill>
                  <a:srgbClr val="002060"/>
                </a:solidFill>
              </a:rPr>
              <a:t>提出</a:t>
            </a:r>
            <a:r>
              <a:rPr lang="zh-CN" altLang="en-US" sz="2600" b="1" i="1" u="sng" dirty="0">
                <a:effectLst>
                  <a:outerShdw blurRad="38100" dist="38100" dir="2700000" algn="tl">
                    <a:srgbClr val="000000">
                      <a:alpha val="43137"/>
                    </a:srgbClr>
                  </a:outerShdw>
                </a:effectLst>
              </a:rPr>
              <a:t>把软件开发从“艺术”和“个体行为”向“工程”和“群体协同工作”转化</a:t>
            </a:r>
            <a:r>
              <a:rPr lang="zh-CN" altLang="en-US" sz="2600" b="1" dirty="0"/>
              <a:t>。</a:t>
            </a:r>
          </a:p>
          <a:p>
            <a:pPr>
              <a:lnSpc>
                <a:spcPct val="110000"/>
              </a:lnSpc>
              <a:spcBef>
                <a:spcPts val="600"/>
              </a:spcBef>
              <a:spcAft>
                <a:spcPts val="600"/>
              </a:spcAft>
            </a:pPr>
            <a:r>
              <a:rPr lang="zh-CN" altLang="en-US" sz="2600" b="1" dirty="0">
                <a:solidFill>
                  <a:srgbClr val="002060"/>
                </a:solidFill>
              </a:rPr>
              <a:t>基本思想</a:t>
            </a:r>
            <a:r>
              <a:rPr lang="zh-CN" altLang="en-US" sz="2600" b="1" dirty="0"/>
              <a:t>是应用计算机科学理论和技术以及工程管理原则和方法，按照预算和进度，实现满足用户要求的软件产品的定义、开发、发布和维护的工程。</a:t>
            </a:r>
          </a:p>
        </p:txBody>
      </p:sp>
    </p:spTree>
    <p:extLst>
      <p:ext uri="{BB962C8B-B14F-4D97-AF65-F5344CB8AC3E}">
        <p14:creationId xmlns:p14="http://schemas.microsoft.com/office/powerpoint/2010/main" val="2797761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七条基本定理</a:t>
            </a:r>
            <a:endParaRPr lang="zh-CN" altLang="en-US" dirty="0"/>
          </a:p>
        </p:txBody>
      </p:sp>
      <p:sp>
        <p:nvSpPr>
          <p:cNvPr id="3" name="内容占位符 2"/>
          <p:cNvSpPr>
            <a:spLocks noGrp="1"/>
          </p:cNvSpPr>
          <p:nvPr>
            <p:ph idx="1"/>
          </p:nvPr>
        </p:nvSpPr>
        <p:spPr>
          <a:xfrm>
            <a:off x="680321" y="2103192"/>
            <a:ext cx="10681099" cy="4460168"/>
          </a:xfrm>
        </p:spPr>
        <p:txBody>
          <a:bodyPr>
            <a:noAutofit/>
          </a:bodyPr>
          <a:lstStyle/>
          <a:p>
            <a:pPr>
              <a:lnSpc>
                <a:spcPct val="100000"/>
              </a:lnSpc>
              <a:spcBef>
                <a:spcPts val="600"/>
              </a:spcBef>
              <a:spcAft>
                <a:spcPts val="600"/>
              </a:spcAft>
            </a:pPr>
            <a:r>
              <a:rPr lang="zh-CN" altLang="en-US" sz="2600" b="1" dirty="0"/>
              <a:t>它们是相互独立的，是缺一不可的最小集合；同时，它们又是相当完备的。</a:t>
            </a:r>
          </a:p>
          <a:p>
            <a:pPr>
              <a:lnSpc>
                <a:spcPct val="100000"/>
              </a:lnSpc>
              <a:spcBef>
                <a:spcPts val="600"/>
              </a:spcBef>
              <a:spcAft>
                <a:spcPts val="600"/>
              </a:spcAft>
            </a:pPr>
            <a:r>
              <a:rPr lang="en-US" altLang="zh-CN" sz="2600" b="1" dirty="0">
                <a:solidFill>
                  <a:srgbClr val="002060"/>
                </a:solidFill>
              </a:rPr>
              <a:t>1</a:t>
            </a:r>
            <a:r>
              <a:rPr lang="zh-CN" altLang="en-US" sz="2600" b="1" dirty="0">
                <a:solidFill>
                  <a:srgbClr val="002060"/>
                </a:solidFill>
              </a:rPr>
              <a:t>）用分阶段的生命周期计划严格管理</a:t>
            </a:r>
          </a:p>
          <a:p>
            <a:pPr marL="0" indent="0">
              <a:lnSpc>
                <a:spcPct val="100000"/>
              </a:lnSpc>
              <a:spcBef>
                <a:spcPts val="600"/>
              </a:spcBef>
              <a:spcAft>
                <a:spcPts val="600"/>
              </a:spcAft>
              <a:buNone/>
            </a:pPr>
            <a:r>
              <a:rPr lang="zh-CN" altLang="en-US" sz="2600" b="1" dirty="0"/>
              <a:t>       把软件生命周期划分成若干个阶段，并相应地制定出切实可行的计划，然后严格按照计划对软件的开发与维护进行管理。（项目概要计划、里程碑计划、项目控制计划、产品控制计划、验证计划、运行维护计划等）</a:t>
            </a:r>
          </a:p>
          <a:p>
            <a:pPr>
              <a:lnSpc>
                <a:spcPct val="100000"/>
              </a:lnSpc>
              <a:spcBef>
                <a:spcPts val="600"/>
              </a:spcBef>
              <a:spcAft>
                <a:spcPts val="600"/>
              </a:spcAft>
            </a:pPr>
            <a:r>
              <a:rPr lang="en-US" altLang="zh-CN" sz="2600" b="1" dirty="0">
                <a:solidFill>
                  <a:srgbClr val="002060"/>
                </a:solidFill>
              </a:rPr>
              <a:t>2</a:t>
            </a:r>
            <a:r>
              <a:rPr lang="zh-CN" altLang="en-US" sz="2600" b="1" dirty="0">
                <a:solidFill>
                  <a:srgbClr val="002060"/>
                </a:solidFill>
              </a:rPr>
              <a:t>）坚持进行阶段评审</a:t>
            </a:r>
          </a:p>
          <a:p>
            <a:pPr marL="0" indent="0">
              <a:lnSpc>
                <a:spcPct val="100000"/>
              </a:lnSpc>
              <a:spcBef>
                <a:spcPts val="600"/>
              </a:spcBef>
              <a:spcAft>
                <a:spcPts val="600"/>
              </a:spcAft>
              <a:buNone/>
            </a:pPr>
            <a:r>
              <a:rPr lang="zh-CN" altLang="en-US" sz="2600" b="1" dirty="0"/>
              <a:t>       设计错误</a:t>
            </a:r>
            <a:r>
              <a:rPr lang="en-US" altLang="zh-CN" sz="2600" b="1" dirty="0"/>
              <a:t>63%</a:t>
            </a:r>
            <a:r>
              <a:rPr lang="zh-CN" altLang="en-US" sz="2600" b="1" dirty="0"/>
              <a:t>，编码错误</a:t>
            </a:r>
            <a:r>
              <a:rPr lang="en-US" altLang="zh-CN" sz="2600" b="1" dirty="0"/>
              <a:t>37%,</a:t>
            </a:r>
            <a:r>
              <a:rPr lang="zh-CN" altLang="en-US" sz="2600" b="1" dirty="0"/>
              <a:t>发现越晚成本越高。</a:t>
            </a:r>
          </a:p>
        </p:txBody>
      </p:sp>
    </p:spTree>
    <p:extLst>
      <p:ext uri="{BB962C8B-B14F-4D97-AF65-F5344CB8AC3E}">
        <p14:creationId xmlns:p14="http://schemas.microsoft.com/office/powerpoint/2010/main" val="2937603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七条基本定理</a:t>
            </a:r>
            <a:endParaRPr lang="zh-CN" altLang="en-US" dirty="0"/>
          </a:p>
        </p:txBody>
      </p:sp>
      <p:sp>
        <p:nvSpPr>
          <p:cNvPr id="3" name="内容占位符 2"/>
          <p:cNvSpPr>
            <a:spLocks noGrp="1"/>
          </p:cNvSpPr>
          <p:nvPr>
            <p:ph idx="1"/>
          </p:nvPr>
        </p:nvSpPr>
        <p:spPr>
          <a:xfrm>
            <a:off x="588881" y="1912620"/>
            <a:ext cx="10681099" cy="4945380"/>
          </a:xfrm>
        </p:spPr>
        <p:txBody>
          <a:bodyPr>
            <a:noAutofit/>
          </a:bodyPr>
          <a:lstStyle/>
          <a:p>
            <a:pPr>
              <a:lnSpc>
                <a:spcPct val="110000"/>
              </a:lnSpc>
              <a:spcBef>
                <a:spcPts val="600"/>
              </a:spcBef>
              <a:spcAft>
                <a:spcPts val="600"/>
              </a:spcAft>
            </a:pPr>
            <a:r>
              <a:rPr lang="en-US" altLang="zh-CN" b="1" dirty="0">
                <a:solidFill>
                  <a:srgbClr val="002060"/>
                </a:solidFill>
              </a:rPr>
              <a:t>3</a:t>
            </a:r>
            <a:r>
              <a:rPr lang="zh-CN" altLang="en-US" b="1" dirty="0">
                <a:solidFill>
                  <a:srgbClr val="002060"/>
                </a:solidFill>
              </a:rPr>
              <a:t>）实行严格的产品控制</a:t>
            </a:r>
          </a:p>
          <a:p>
            <a:pPr marL="0" indent="0">
              <a:lnSpc>
                <a:spcPct val="110000"/>
              </a:lnSpc>
              <a:spcBef>
                <a:spcPts val="600"/>
              </a:spcBef>
              <a:spcAft>
                <a:spcPts val="600"/>
              </a:spcAft>
              <a:buNone/>
            </a:pPr>
            <a:r>
              <a:rPr lang="zh-CN" altLang="en-US" b="1" dirty="0"/>
              <a:t>        需求变更不可避免，需经过变更评审。实行基准（基线）配置管理。</a:t>
            </a:r>
          </a:p>
          <a:p>
            <a:pPr>
              <a:lnSpc>
                <a:spcPct val="110000"/>
              </a:lnSpc>
              <a:spcBef>
                <a:spcPts val="600"/>
              </a:spcBef>
              <a:spcAft>
                <a:spcPts val="600"/>
              </a:spcAft>
            </a:pPr>
            <a:r>
              <a:rPr lang="en-US" altLang="zh-CN" b="1" dirty="0">
                <a:solidFill>
                  <a:srgbClr val="002060"/>
                </a:solidFill>
              </a:rPr>
              <a:t>4</a:t>
            </a:r>
            <a:r>
              <a:rPr lang="zh-CN" altLang="en-US" b="1" dirty="0">
                <a:solidFill>
                  <a:srgbClr val="002060"/>
                </a:solidFill>
              </a:rPr>
              <a:t>）采用现代程序设计技术</a:t>
            </a:r>
          </a:p>
          <a:p>
            <a:pPr marL="0" indent="0">
              <a:lnSpc>
                <a:spcPct val="110000"/>
              </a:lnSpc>
              <a:spcBef>
                <a:spcPts val="600"/>
              </a:spcBef>
              <a:spcAft>
                <a:spcPts val="600"/>
              </a:spcAft>
              <a:buNone/>
            </a:pPr>
            <a:r>
              <a:rPr lang="zh-CN" altLang="en-US" b="1" dirty="0"/>
              <a:t>        结构化、面向对象、面向服务、面向切面</a:t>
            </a:r>
            <a:r>
              <a:rPr lang="en-US" altLang="zh-CN" b="1" dirty="0"/>
              <a:t>…</a:t>
            </a:r>
          </a:p>
          <a:p>
            <a:pPr>
              <a:lnSpc>
                <a:spcPct val="110000"/>
              </a:lnSpc>
              <a:spcBef>
                <a:spcPts val="600"/>
              </a:spcBef>
              <a:spcAft>
                <a:spcPts val="600"/>
              </a:spcAft>
            </a:pPr>
            <a:r>
              <a:rPr lang="en-US" altLang="zh-CN" b="1" dirty="0">
                <a:solidFill>
                  <a:srgbClr val="002060"/>
                </a:solidFill>
              </a:rPr>
              <a:t>5</a:t>
            </a:r>
            <a:r>
              <a:rPr lang="zh-CN" altLang="en-US" b="1" dirty="0">
                <a:solidFill>
                  <a:srgbClr val="002060"/>
                </a:solidFill>
              </a:rPr>
              <a:t>）结果应能清楚的审查</a:t>
            </a:r>
          </a:p>
          <a:p>
            <a:pPr marL="0" indent="0">
              <a:lnSpc>
                <a:spcPct val="110000"/>
              </a:lnSpc>
              <a:spcBef>
                <a:spcPts val="600"/>
              </a:spcBef>
              <a:spcAft>
                <a:spcPts val="600"/>
              </a:spcAft>
              <a:buNone/>
            </a:pPr>
            <a:r>
              <a:rPr lang="zh-CN" altLang="en-US" b="1" dirty="0"/>
              <a:t>        根据开发总目标和期限规定开发组织的责任和产品标准</a:t>
            </a:r>
          </a:p>
          <a:p>
            <a:pPr>
              <a:lnSpc>
                <a:spcPct val="110000"/>
              </a:lnSpc>
              <a:spcBef>
                <a:spcPts val="600"/>
              </a:spcBef>
              <a:spcAft>
                <a:spcPts val="600"/>
              </a:spcAft>
            </a:pPr>
            <a:r>
              <a:rPr lang="en-US" altLang="zh-CN" b="1" dirty="0">
                <a:solidFill>
                  <a:srgbClr val="002060"/>
                </a:solidFill>
              </a:rPr>
              <a:t>6</a:t>
            </a:r>
            <a:r>
              <a:rPr lang="zh-CN" altLang="en-US" b="1" dirty="0">
                <a:solidFill>
                  <a:srgbClr val="002060"/>
                </a:solidFill>
              </a:rPr>
              <a:t>）开发小组的人员应该少而精</a:t>
            </a:r>
          </a:p>
          <a:p>
            <a:pPr>
              <a:lnSpc>
                <a:spcPct val="110000"/>
              </a:lnSpc>
              <a:spcBef>
                <a:spcPts val="600"/>
              </a:spcBef>
              <a:spcAft>
                <a:spcPts val="600"/>
              </a:spcAft>
            </a:pPr>
            <a:r>
              <a:rPr lang="en-US" altLang="zh-CN" b="1" dirty="0">
                <a:solidFill>
                  <a:srgbClr val="002060"/>
                </a:solidFill>
              </a:rPr>
              <a:t>7</a:t>
            </a:r>
            <a:r>
              <a:rPr lang="zh-CN" altLang="en-US" b="1" dirty="0">
                <a:solidFill>
                  <a:srgbClr val="002060"/>
                </a:solidFill>
              </a:rPr>
              <a:t>）承认不断改进软件工程实践的必要性</a:t>
            </a:r>
          </a:p>
          <a:p>
            <a:pPr marL="0" indent="0">
              <a:lnSpc>
                <a:spcPct val="110000"/>
              </a:lnSpc>
              <a:spcBef>
                <a:spcPts val="600"/>
              </a:spcBef>
              <a:spcAft>
                <a:spcPts val="600"/>
              </a:spcAft>
              <a:buNone/>
            </a:pPr>
            <a:r>
              <a:rPr lang="zh-CN" altLang="en-US" b="1" dirty="0"/>
              <a:t>        积极主动地采纳新的软件技术，注意不断总结经验。</a:t>
            </a:r>
          </a:p>
        </p:txBody>
      </p:sp>
    </p:spTree>
    <p:extLst>
      <p:ext uri="{BB962C8B-B14F-4D97-AF65-F5344CB8AC3E}">
        <p14:creationId xmlns:p14="http://schemas.microsoft.com/office/powerpoint/2010/main" val="3324842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框架</a:t>
            </a:r>
            <a:endParaRPr lang="zh-CN" altLang="en-US" dirty="0"/>
          </a:p>
        </p:txBody>
      </p:sp>
      <p:grpSp>
        <p:nvGrpSpPr>
          <p:cNvPr id="24" name="组合 23"/>
          <p:cNvGrpSpPr/>
          <p:nvPr/>
        </p:nvGrpSpPr>
        <p:grpSpPr>
          <a:xfrm>
            <a:off x="0" y="2039217"/>
            <a:ext cx="9053513" cy="3502025"/>
            <a:chOff x="1480815" y="2768890"/>
            <a:chExt cx="9053513" cy="3502025"/>
          </a:xfrm>
        </p:grpSpPr>
        <p:sp>
          <p:nvSpPr>
            <p:cNvPr id="23" name="矩形 22"/>
            <p:cNvSpPr/>
            <p:nvPr/>
          </p:nvSpPr>
          <p:spPr>
            <a:xfrm>
              <a:off x="1516680" y="2768890"/>
              <a:ext cx="8643938" cy="35020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eaLnBrk="1" hangingPunct="1">
                <a:defRPr/>
              </a:pPr>
              <a:endParaRPr lang="zh-CN" altLang="en-US">
                <a:solidFill>
                  <a:srgbClr val="000000"/>
                </a:solidFill>
              </a:endParaRPr>
            </a:p>
          </p:txBody>
        </p:sp>
        <p:grpSp>
          <p:nvGrpSpPr>
            <p:cNvPr id="22" name="组合 21"/>
            <p:cNvGrpSpPr/>
            <p:nvPr/>
          </p:nvGrpSpPr>
          <p:grpSpPr>
            <a:xfrm>
              <a:off x="1480815" y="2803670"/>
              <a:ext cx="9053513" cy="3297237"/>
              <a:chOff x="1480815" y="2803670"/>
              <a:chExt cx="9053513" cy="3297237"/>
            </a:xfrm>
          </p:grpSpPr>
          <p:sp>
            <p:nvSpPr>
              <p:cNvPr id="5" name="Oval 4"/>
              <p:cNvSpPr>
                <a:spLocks noChangeArrowheads="1"/>
              </p:cNvSpPr>
              <p:nvPr/>
            </p:nvSpPr>
            <p:spPr bwMode="auto">
              <a:xfrm>
                <a:off x="2461612" y="5065659"/>
                <a:ext cx="5281216" cy="357156"/>
              </a:xfrm>
              <a:prstGeom prst="ellipse">
                <a:avLst/>
              </a:prstGeom>
              <a:noFill/>
              <a:ln w="25400">
                <a:round/>
                <a:headEnd/>
                <a:tailEnd/>
              </a:ln>
              <a:effectLst/>
              <a:scene3d>
                <a:camera prst="legacyPerspectiveBottom"/>
                <a:lightRig rig="legacyFlat3" dir="t"/>
              </a:scene3d>
              <a:sp3d extrusionH="887400" prstMaterial="legacyMatte">
                <a:bevelT w="13500" h="13500" prst="angle"/>
                <a:bevelB w="13500" h="13500" prst="angle"/>
                <a:extrusionClr>
                  <a:srgbClr val="C0C0C0"/>
                </a:extrusionClr>
              </a:sp3d>
            </p:spPr>
            <p:txBody>
              <a:bodyPr wrap="none" anchor="ctr">
                <a:flatTx/>
              </a:bodyPr>
              <a:lstStyle/>
              <a:p>
                <a:pPr algn="ctr" eaLnBrk="1" hangingPunct="1">
                  <a:defRPr/>
                </a:pPr>
                <a:r>
                  <a:rPr lang="zh-CN" altLang="en-US" sz="2000">
                    <a:ln>
                      <a:solidFill>
                        <a:schemeClr val="accent5">
                          <a:lumMod val="25000"/>
                        </a:schemeClr>
                      </a:solidFill>
                    </a:ln>
                    <a:solidFill>
                      <a:schemeClr val="bg2">
                        <a:lumMod val="50000"/>
                      </a:schemeClr>
                    </a:solidFill>
                    <a:latin typeface="Arial" charset="0"/>
                  </a:rPr>
                  <a:t>软件过程</a:t>
                </a:r>
              </a:p>
            </p:txBody>
          </p:sp>
          <p:sp>
            <p:nvSpPr>
              <p:cNvPr id="6" name="Line 5"/>
              <p:cNvSpPr>
                <a:spLocks noChangeShapeType="1"/>
              </p:cNvSpPr>
              <p:nvPr/>
            </p:nvSpPr>
            <p:spPr bwMode="auto">
              <a:xfrm>
                <a:off x="2461890" y="3637107"/>
                <a:ext cx="5054600" cy="0"/>
              </a:xfrm>
              <a:prstGeom prst="line">
                <a:avLst/>
              </a:prstGeom>
              <a:noFill/>
              <a:ln>
                <a:headEnd/>
                <a:tailEnd type="triangle" w="med" len="me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zh-CN" altLang="en-US">
                  <a:solidFill>
                    <a:schemeClr val="bg2">
                      <a:lumMod val="50000"/>
                    </a:schemeClr>
                  </a:solidFill>
                </a:endParaRPr>
              </a:p>
            </p:txBody>
          </p:sp>
          <p:sp>
            <p:nvSpPr>
              <p:cNvPr id="7" name="Text Box 6"/>
              <p:cNvSpPr txBox="1">
                <a:spLocks noChangeArrowheads="1"/>
              </p:cNvSpPr>
              <p:nvPr/>
            </p:nvSpPr>
            <p:spPr bwMode="auto">
              <a:xfrm>
                <a:off x="4574853" y="3398982"/>
                <a:ext cx="1206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50000"/>
                  </a:spcBef>
                  <a:buFontTx/>
                  <a:buNone/>
                </a:pPr>
                <a:r>
                  <a:rPr lang="zh-CN" altLang="en-US" sz="1800">
                    <a:solidFill>
                      <a:srgbClr val="404040"/>
                    </a:solidFill>
                    <a:latin typeface="Arial" panose="020B0604020202020204" pitchFamily="34" charset="0"/>
                  </a:rPr>
                  <a:t>软件管理</a:t>
                </a:r>
              </a:p>
            </p:txBody>
          </p:sp>
          <p:sp>
            <p:nvSpPr>
              <p:cNvPr id="8" name="AutoShape 7"/>
              <p:cNvSpPr>
                <a:spLocks noChangeArrowheads="1"/>
              </p:cNvSpPr>
              <p:nvPr/>
            </p:nvSpPr>
            <p:spPr bwMode="auto">
              <a:xfrm>
                <a:off x="2990528" y="4232420"/>
                <a:ext cx="979487" cy="296862"/>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角色</a:t>
                </a:r>
              </a:p>
            </p:txBody>
          </p:sp>
          <p:sp>
            <p:nvSpPr>
              <p:cNvPr id="9" name="Line 8"/>
              <p:cNvSpPr>
                <a:spLocks noChangeShapeType="1"/>
              </p:cNvSpPr>
              <p:nvPr/>
            </p:nvSpPr>
            <p:spPr bwMode="auto">
              <a:xfrm>
                <a:off x="2461890" y="5661170"/>
                <a:ext cx="5205413" cy="0"/>
              </a:xfrm>
              <a:prstGeom prst="line">
                <a:avLst/>
              </a:prstGeom>
              <a:noFill/>
              <a:ln>
                <a:headEnd/>
                <a:tailEn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zh-CN" altLang="en-US">
                  <a:solidFill>
                    <a:schemeClr val="bg2">
                      <a:lumMod val="50000"/>
                    </a:schemeClr>
                  </a:solidFill>
                </a:endParaRPr>
              </a:p>
            </p:txBody>
          </p:sp>
          <p:sp>
            <p:nvSpPr>
              <p:cNvPr id="10" name="Text Box 10"/>
              <p:cNvSpPr txBox="1">
                <a:spLocks noChangeArrowheads="1"/>
              </p:cNvSpPr>
              <p:nvPr/>
            </p:nvSpPr>
            <p:spPr bwMode="auto">
              <a:xfrm>
                <a:off x="4800278" y="5731020"/>
                <a:ext cx="1208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50000"/>
                  </a:spcBef>
                  <a:buFontTx/>
                  <a:buNone/>
                </a:pPr>
                <a:r>
                  <a:rPr lang="zh-CN" altLang="en-US" sz="1800">
                    <a:solidFill>
                      <a:srgbClr val="404040"/>
                    </a:solidFill>
                    <a:latin typeface="Arial" panose="020B0604020202020204" pitchFamily="34" charset="0"/>
                  </a:rPr>
                  <a:t>环境</a:t>
                </a:r>
              </a:p>
            </p:txBody>
          </p:sp>
          <p:sp>
            <p:nvSpPr>
              <p:cNvPr id="11" name="AutoShape 11"/>
              <p:cNvSpPr>
                <a:spLocks noChangeArrowheads="1"/>
              </p:cNvSpPr>
              <p:nvPr/>
            </p:nvSpPr>
            <p:spPr bwMode="auto">
              <a:xfrm>
                <a:off x="4197028" y="4232420"/>
                <a:ext cx="981075" cy="296862"/>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流程</a:t>
                </a:r>
              </a:p>
            </p:txBody>
          </p:sp>
          <p:sp>
            <p:nvSpPr>
              <p:cNvPr id="12" name="AutoShape 12"/>
              <p:cNvSpPr>
                <a:spLocks noChangeArrowheads="1"/>
              </p:cNvSpPr>
              <p:nvPr/>
            </p:nvSpPr>
            <p:spPr bwMode="auto">
              <a:xfrm>
                <a:off x="5403528" y="4232420"/>
                <a:ext cx="981075" cy="296862"/>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活动</a:t>
                </a:r>
              </a:p>
            </p:txBody>
          </p:sp>
          <p:sp>
            <p:nvSpPr>
              <p:cNvPr id="13" name="AutoShape 13"/>
              <p:cNvSpPr>
                <a:spLocks noChangeArrowheads="1"/>
              </p:cNvSpPr>
              <p:nvPr/>
            </p:nvSpPr>
            <p:spPr bwMode="auto">
              <a:xfrm>
                <a:off x="5403528" y="3814907"/>
                <a:ext cx="981075" cy="298450"/>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方法</a:t>
                </a:r>
              </a:p>
            </p:txBody>
          </p:sp>
          <p:sp>
            <p:nvSpPr>
              <p:cNvPr id="14" name="AutoShape 14"/>
              <p:cNvSpPr>
                <a:spLocks noChangeArrowheads="1"/>
              </p:cNvSpPr>
              <p:nvPr/>
            </p:nvSpPr>
            <p:spPr bwMode="auto">
              <a:xfrm>
                <a:off x="5403528" y="4648345"/>
                <a:ext cx="981075" cy="298450"/>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工具</a:t>
                </a:r>
              </a:p>
            </p:txBody>
          </p:sp>
          <p:sp>
            <p:nvSpPr>
              <p:cNvPr id="15" name="AutoShape 15"/>
              <p:cNvSpPr>
                <a:spLocks noChangeArrowheads="1"/>
              </p:cNvSpPr>
              <p:nvPr/>
            </p:nvSpPr>
            <p:spPr bwMode="auto">
              <a:xfrm>
                <a:off x="6611615" y="4232420"/>
                <a:ext cx="981075" cy="296862"/>
              </a:xfrm>
              <a:prstGeom prst="roundRect">
                <a:avLst>
                  <a:gd name="adj" fmla="val 16667"/>
                </a:avLst>
              </a:prstGeom>
              <a:noFill/>
              <a:ln>
                <a:headEnd/>
                <a:tailEnd/>
              </a:ln>
            </p:spPr>
            <p:style>
              <a:lnRef idx="2">
                <a:schemeClr val="accent2"/>
              </a:lnRef>
              <a:fillRef idx="1">
                <a:schemeClr val="lt1"/>
              </a:fillRef>
              <a:effectRef idx="0">
                <a:schemeClr val="accent2"/>
              </a:effectRef>
              <a:fontRef idx="minor">
                <a:schemeClr val="dk1"/>
              </a:fontRef>
            </p:style>
            <p:txBody>
              <a:bodyPr wrap="none" anchor="ctr"/>
              <a:lstStyle/>
              <a:p>
                <a:pPr algn="ctr" eaLnBrk="1" hangingPunct="1">
                  <a:defRPr/>
                </a:pPr>
                <a:r>
                  <a:rPr lang="zh-CN" altLang="en-US" sz="2000">
                    <a:solidFill>
                      <a:srgbClr val="404040"/>
                    </a:solidFill>
                  </a:rPr>
                  <a:t>成果</a:t>
                </a:r>
              </a:p>
            </p:txBody>
          </p:sp>
          <p:sp>
            <p:nvSpPr>
              <p:cNvPr id="16" name="Line 17"/>
              <p:cNvSpPr>
                <a:spLocks noChangeShapeType="1"/>
              </p:cNvSpPr>
              <p:nvPr/>
            </p:nvSpPr>
            <p:spPr bwMode="auto">
              <a:xfrm>
                <a:off x="2461890" y="3100532"/>
                <a:ext cx="5054600" cy="0"/>
              </a:xfrm>
              <a:prstGeom prst="line">
                <a:avLst/>
              </a:prstGeom>
              <a:noFill/>
              <a:ln>
                <a:headEnd/>
                <a:tailEnd type="triangle" w="med" len="me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zh-CN" altLang="en-US">
                  <a:solidFill>
                    <a:schemeClr val="bg2">
                      <a:lumMod val="50000"/>
                    </a:schemeClr>
                  </a:solidFill>
                </a:endParaRPr>
              </a:p>
            </p:txBody>
          </p:sp>
          <p:sp>
            <p:nvSpPr>
              <p:cNvPr id="17" name="Text Box 18"/>
              <p:cNvSpPr txBox="1">
                <a:spLocks noChangeArrowheads="1"/>
              </p:cNvSpPr>
              <p:nvPr/>
            </p:nvSpPr>
            <p:spPr bwMode="auto">
              <a:xfrm>
                <a:off x="4800278" y="2803670"/>
                <a:ext cx="904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50000"/>
                  </a:spcBef>
                  <a:buFontTx/>
                  <a:buNone/>
                </a:pPr>
                <a:r>
                  <a:rPr lang="zh-CN" altLang="en-US" sz="1800">
                    <a:solidFill>
                      <a:srgbClr val="404040"/>
                    </a:solidFill>
                    <a:latin typeface="Arial" panose="020B0604020202020204" pitchFamily="34" charset="0"/>
                  </a:rPr>
                  <a:t>评价</a:t>
                </a:r>
              </a:p>
            </p:txBody>
          </p:sp>
          <p:sp>
            <p:nvSpPr>
              <p:cNvPr id="18" name="Line 19"/>
              <p:cNvSpPr>
                <a:spLocks noChangeShapeType="1"/>
              </p:cNvSpPr>
              <p:nvPr/>
            </p:nvSpPr>
            <p:spPr bwMode="auto">
              <a:xfrm>
                <a:off x="7624440" y="4376882"/>
                <a:ext cx="830263" cy="0"/>
              </a:xfrm>
              <a:prstGeom prst="line">
                <a:avLst/>
              </a:prstGeom>
              <a:noFill/>
              <a:ln>
                <a:headEnd/>
                <a:tailEnd type="triangle" w="med" len="med"/>
              </a:ln>
            </p:spPr>
            <p:style>
              <a:lnRef idx="2">
                <a:schemeClr val="accent4"/>
              </a:lnRef>
              <a:fillRef idx="0">
                <a:schemeClr val="accent4"/>
              </a:fillRef>
              <a:effectRef idx="1">
                <a:schemeClr val="accent4"/>
              </a:effectRef>
              <a:fontRef idx="minor">
                <a:schemeClr val="tx1"/>
              </a:fontRef>
            </p:style>
            <p:txBody>
              <a:bodyPr/>
              <a:lstStyle/>
              <a:p>
                <a:pPr eaLnBrk="1" hangingPunct="1">
                  <a:defRPr/>
                </a:pPr>
                <a:endParaRPr lang="zh-CN" altLang="en-US">
                  <a:solidFill>
                    <a:schemeClr val="bg2">
                      <a:lumMod val="50000"/>
                    </a:schemeClr>
                  </a:solidFill>
                </a:endParaRPr>
              </a:p>
            </p:txBody>
          </p:sp>
          <p:sp>
            <p:nvSpPr>
              <p:cNvPr id="19" name="Text Box 20"/>
              <p:cNvSpPr txBox="1">
                <a:spLocks noChangeArrowheads="1"/>
              </p:cNvSpPr>
              <p:nvPr/>
            </p:nvSpPr>
            <p:spPr bwMode="auto">
              <a:xfrm>
                <a:off x="8497565" y="4232420"/>
                <a:ext cx="20367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50000"/>
                  </a:spcBef>
                  <a:buFontTx/>
                  <a:buNone/>
                </a:pPr>
                <a:r>
                  <a:rPr lang="zh-CN" altLang="en-US" sz="1600" dirty="0">
                    <a:solidFill>
                      <a:srgbClr val="404040"/>
                    </a:solidFill>
                    <a:latin typeface="Arial" panose="020B0604020202020204" pitchFamily="34" charset="0"/>
                  </a:rPr>
                  <a:t>目标（软件产品）</a:t>
                </a:r>
              </a:p>
            </p:txBody>
          </p:sp>
          <p:sp>
            <p:nvSpPr>
              <p:cNvPr id="20" name="Rectangle 21"/>
              <p:cNvSpPr>
                <a:spLocks noChangeArrowheads="1"/>
              </p:cNvSpPr>
              <p:nvPr/>
            </p:nvSpPr>
            <p:spPr bwMode="auto">
              <a:xfrm>
                <a:off x="2234878" y="3279920"/>
                <a:ext cx="5583237" cy="2738437"/>
              </a:xfrm>
              <a:prstGeom prst="rect">
                <a:avLst/>
              </a:prstGeom>
              <a:noFill/>
              <a:ln w="25400">
                <a:solidFill>
                  <a:srgbClr val="00206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pPr>
                <a:endParaRPr lang="zh-CN" altLang="en-US" sz="1800">
                  <a:solidFill>
                    <a:srgbClr val="404040"/>
                  </a:solidFill>
                  <a:latin typeface="Arial" panose="020B0604020202020204" pitchFamily="34" charset="0"/>
                </a:endParaRPr>
              </a:p>
            </p:txBody>
          </p:sp>
          <p:sp>
            <p:nvSpPr>
              <p:cNvPr id="21" name="Text Box 23"/>
              <p:cNvSpPr txBox="1">
                <a:spLocks noChangeArrowheads="1"/>
              </p:cNvSpPr>
              <p:nvPr/>
            </p:nvSpPr>
            <p:spPr bwMode="auto">
              <a:xfrm>
                <a:off x="1480815" y="3637107"/>
                <a:ext cx="6794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50000"/>
                  </a:spcBef>
                  <a:buFontTx/>
                  <a:buNone/>
                </a:pPr>
                <a:r>
                  <a:rPr lang="zh-CN" altLang="en-US" sz="1800">
                    <a:solidFill>
                      <a:srgbClr val="404040"/>
                    </a:solidFill>
                    <a:latin typeface="Arial" panose="020B0604020202020204" pitchFamily="34" charset="0"/>
                  </a:rPr>
                  <a:t>软件工程框架</a:t>
                </a:r>
              </a:p>
            </p:txBody>
          </p:sp>
        </p:grpSp>
      </p:grpSp>
      <p:sp>
        <p:nvSpPr>
          <p:cNvPr id="25" name="矩形 24"/>
          <p:cNvSpPr/>
          <p:nvPr/>
        </p:nvSpPr>
        <p:spPr>
          <a:xfrm>
            <a:off x="6488747" y="3918672"/>
            <a:ext cx="5559955" cy="2862322"/>
          </a:xfrm>
          <a:prstGeom prst="rect">
            <a:avLst/>
          </a:prstGeom>
          <a:solidFill>
            <a:schemeClr val="tx2">
              <a:lumMod val="25000"/>
            </a:schemeClr>
          </a:solidFill>
        </p:spPr>
        <p:style>
          <a:lnRef idx="0">
            <a:schemeClr val="accent4"/>
          </a:lnRef>
          <a:fillRef idx="3">
            <a:schemeClr val="accent4"/>
          </a:fillRef>
          <a:effectRef idx="3">
            <a:schemeClr val="accent4"/>
          </a:effectRef>
          <a:fontRef idx="minor">
            <a:schemeClr val="lt1"/>
          </a:fontRef>
        </p:style>
        <p:txBody>
          <a:bodyPr wrap="square">
            <a:spAutoFit/>
          </a:bodyPr>
          <a:lstStyle/>
          <a:p>
            <a:pPr>
              <a:defRPr/>
            </a:pPr>
            <a:r>
              <a:rPr lang="zh-CN" altLang="en-US" sz="2000" b="1" dirty="0"/>
              <a:t>软件工程描述一个团队为达到某个既定</a:t>
            </a:r>
            <a:r>
              <a:rPr lang="zh-CN" altLang="en-US" sz="2000" b="1" dirty="0">
                <a:solidFill>
                  <a:srgbClr val="FFFF00"/>
                </a:solidFill>
              </a:rPr>
              <a:t>目标</a:t>
            </a:r>
            <a:r>
              <a:rPr lang="zh-CN" altLang="en-US" sz="2000" b="1" dirty="0"/>
              <a:t>，在一定</a:t>
            </a:r>
            <a:r>
              <a:rPr lang="zh-CN" altLang="en-US" sz="2000" b="1" dirty="0">
                <a:solidFill>
                  <a:srgbClr val="FFFF00"/>
                </a:solidFill>
              </a:rPr>
              <a:t>环境</a:t>
            </a:r>
            <a:r>
              <a:rPr lang="zh-CN" altLang="en-US" sz="2000" b="1" dirty="0"/>
              <a:t>中的</a:t>
            </a:r>
            <a:r>
              <a:rPr lang="zh-CN" altLang="en-US" sz="2000" b="1" dirty="0">
                <a:solidFill>
                  <a:srgbClr val="FFFF00"/>
                </a:solidFill>
              </a:rPr>
              <a:t>工作步骤</a:t>
            </a:r>
            <a:r>
              <a:rPr lang="zh-CN" altLang="en-US" sz="2000" b="1" dirty="0"/>
              <a:t>，以及在这些工作步骤中如何对团队的成员进行</a:t>
            </a:r>
            <a:r>
              <a:rPr lang="zh-CN" altLang="en-US" sz="2000" b="1" dirty="0">
                <a:solidFill>
                  <a:srgbClr val="FFFF00"/>
                </a:solidFill>
              </a:rPr>
              <a:t>角色</a:t>
            </a:r>
            <a:r>
              <a:rPr lang="zh-CN" altLang="en-US" sz="2000" b="1" dirty="0"/>
              <a:t>分工，如何为各种角色确定具体的</a:t>
            </a:r>
            <a:r>
              <a:rPr lang="zh-CN" altLang="en-US" sz="2000" b="1" dirty="0">
                <a:solidFill>
                  <a:srgbClr val="FFFF00"/>
                </a:solidFill>
              </a:rPr>
              <a:t>工作流程</a:t>
            </a:r>
            <a:r>
              <a:rPr lang="zh-CN" altLang="en-US" sz="2000" b="1" dirty="0"/>
              <a:t>，并指明在工作流程中应从事哪些</a:t>
            </a:r>
            <a:r>
              <a:rPr lang="zh-CN" altLang="en-US" sz="2000" b="1" dirty="0">
                <a:solidFill>
                  <a:srgbClr val="FFFF00"/>
                </a:solidFill>
              </a:rPr>
              <a:t>活动</a:t>
            </a:r>
            <a:r>
              <a:rPr lang="zh-CN" altLang="en-US" sz="2000" b="1" dirty="0"/>
              <a:t>，使用什么样的</a:t>
            </a:r>
            <a:r>
              <a:rPr lang="zh-CN" altLang="en-US" sz="2000" b="1" dirty="0">
                <a:solidFill>
                  <a:srgbClr val="FFFF00"/>
                </a:solidFill>
              </a:rPr>
              <a:t>方法</a:t>
            </a:r>
            <a:r>
              <a:rPr lang="zh-CN" altLang="en-US" sz="2000" b="1" dirty="0"/>
              <a:t>、</a:t>
            </a:r>
            <a:r>
              <a:rPr lang="zh-CN" altLang="en-US" sz="2000" b="1" dirty="0">
                <a:solidFill>
                  <a:srgbClr val="FFFF00"/>
                </a:solidFill>
              </a:rPr>
              <a:t>工具</a:t>
            </a:r>
            <a:r>
              <a:rPr lang="zh-CN" altLang="en-US" sz="2000" b="1" dirty="0"/>
              <a:t>，产生哪些</a:t>
            </a:r>
            <a:r>
              <a:rPr lang="zh-CN" altLang="en-US" sz="2000" b="1" dirty="0">
                <a:solidFill>
                  <a:srgbClr val="FFFF00"/>
                </a:solidFill>
              </a:rPr>
              <a:t>阶段性成果</a:t>
            </a:r>
            <a:r>
              <a:rPr lang="zh-CN" altLang="en-US" sz="2000" b="1" dirty="0"/>
              <a:t>。 此外软件工程还指明上述内容应如何进行有效</a:t>
            </a:r>
            <a:r>
              <a:rPr lang="zh-CN" altLang="en-US" sz="2000" b="1" dirty="0">
                <a:solidFill>
                  <a:srgbClr val="FFFF00"/>
                </a:solidFill>
              </a:rPr>
              <a:t>管理</a:t>
            </a:r>
            <a:r>
              <a:rPr lang="zh-CN" altLang="en-US" sz="2000" b="1" dirty="0"/>
              <a:t>以确保成功，以及工程进行过程中和结束后怎样对工程进行</a:t>
            </a:r>
            <a:r>
              <a:rPr lang="zh-CN" altLang="en-US" sz="2000" b="1" dirty="0">
                <a:solidFill>
                  <a:srgbClr val="FFFF00"/>
                </a:solidFill>
              </a:rPr>
              <a:t>评价</a:t>
            </a:r>
            <a:r>
              <a:rPr lang="zh-CN" altLang="en-US" sz="2000" b="1" dirty="0"/>
              <a:t>，以期不断改进。</a:t>
            </a:r>
          </a:p>
        </p:txBody>
      </p:sp>
      <p:sp>
        <p:nvSpPr>
          <p:cNvPr id="26" name="文本框 25"/>
          <p:cNvSpPr txBox="1"/>
          <p:nvPr/>
        </p:nvSpPr>
        <p:spPr>
          <a:xfrm>
            <a:off x="6337300" y="570422"/>
            <a:ext cx="4134465" cy="1446550"/>
          </a:xfrm>
          <a:prstGeom prst="rect">
            <a:avLst/>
          </a:prstGeom>
          <a:noFill/>
        </p:spPr>
        <p:txBody>
          <a:bodyPr wrap="none" rtlCol="0">
            <a:spAutoFit/>
          </a:bodyPr>
          <a:lstStyle/>
          <a:p>
            <a:r>
              <a:rPr lang="zh-CN" altLang="en-US" sz="2200" dirty="0"/>
              <a:t>管理、过程、评价；</a:t>
            </a:r>
            <a:endParaRPr lang="en-US" altLang="zh-CN" sz="2200" dirty="0"/>
          </a:p>
          <a:p>
            <a:r>
              <a:rPr lang="zh-CN" altLang="en-US" sz="2200" dirty="0"/>
              <a:t>角色（分工）、流程（步骤）；</a:t>
            </a:r>
            <a:endParaRPr lang="en-US" altLang="zh-CN" sz="2200" dirty="0"/>
          </a:p>
          <a:p>
            <a:r>
              <a:rPr lang="zh-CN" altLang="en-US" sz="2200" dirty="0"/>
              <a:t>方法、工具、活动（任务）；</a:t>
            </a:r>
            <a:endParaRPr lang="en-US" altLang="zh-CN" sz="2200" dirty="0"/>
          </a:p>
          <a:p>
            <a:r>
              <a:rPr lang="zh-CN" altLang="en-US" sz="2200" dirty="0"/>
              <a:t>成果、目标；</a:t>
            </a:r>
          </a:p>
        </p:txBody>
      </p:sp>
    </p:spTree>
    <p:extLst>
      <p:ext uri="{BB962C8B-B14F-4D97-AF65-F5344CB8AC3E}">
        <p14:creationId xmlns:p14="http://schemas.microsoft.com/office/powerpoint/2010/main" val="32111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randombar(horizontal)">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三要素</a:t>
            </a:r>
            <a:endParaRPr lang="zh-CN" altLang="en-US" dirty="0"/>
          </a:p>
        </p:txBody>
      </p:sp>
      <p:sp>
        <p:nvSpPr>
          <p:cNvPr id="25" name="矩形 24"/>
          <p:cNvSpPr/>
          <p:nvPr/>
        </p:nvSpPr>
        <p:spPr>
          <a:xfrm>
            <a:off x="5014923" y="3634753"/>
            <a:ext cx="6603037" cy="249299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defRPr/>
            </a:pPr>
            <a:r>
              <a:rPr lang="zh-CN" altLang="en-US" sz="2600" b="1" dirty="0">
                <a:solidFill>
                  <a:srgbClr val="002060"/>
                </a:solidFill>
              </a:rPr>
              <a:t>方法</a:t>
            </a:r>
            <a:r>
              <a:rPr lang="zh-CN" altLang="en-US" sz="2600" dirty="0"/>
              <a:t>：包括</a:t>
            </a:r>
            <a:r>
              <a:rPr lang="zh-CN" altLang="en-US" sz="2600" b="1" dirty="0">
                <a:solidFill>
                  <a:srgbClr val="002060"/>
                </a:solidFill>
              </a:rPr>
              <a:t>管理</a:t>
            </a:r>
            <a:r>
              <a:rPr lang="zh-CN" altLang="en-US" sz="2600" dirty="0"/>
              <a:t>方法（如项目管理）和</a:t>
            </a:r>
            <a:r>
              <a:rPr lang="zh-CN" altLang="en-US" sz="2600" b="1" dirty="0">
                <a:solidFill>
                  <a:srgbClr val="002060"/>
                </a:solidFill>
              </a:rPr>
              <a:t>技术</a:t>
            </a:r>
            <a:r>
              <a:rPr lang="zh-CN" altLang="en-US" sz="2600" dirty="0"/>
              <a:t>方法（如系统分析、设计、测试技术等）。</a:t>
            </a:r>
          </a:p>
          <a:p>
            <a:pPr>
              <a:defRPr/>
            </a:pPr>
            <a:r>
              <a:rPr lang="zh-CN" altLang="en-US" sz="2600" b="1" dirty="0">
                <a:solidFill>
                  <a:srgbClr val="002060"/>
                </a:solidFill>
              </a:rPr>
              <a:t>工具</a:t>
            </a:r>
            <a:r>
              <a:rPr lang="zh-CN" altLang="en-US" sz="2600" dirty="0"/>
              <a:t>；为方法提供支持，为方法的运用提供自动或半自动的支撑环境和软件工具。</a:t>
            </a:r>
          </a:p>
          <a:p>
            <a:pPr>
              <a:defRPr/>
            </a:pPr>
            <a:r>
              <a:rPr lang="zh-CN" altLang="en-US" sz="2600" b="1" dirty="0">
                <a:solidFill>
                  <a:srgbClr val="002060"/>
                </a:solidFill>
              </a:rPr>
              <a:t>过程</a:t>
            </a:r>
            <a:r>
              <a:rPr lang="zh-CN" altLang="en-US" sz="2600" dirty="0"/>
              <a:t>：是将方法与工具相结合，为开发高质量软件规定各项任务的工作步骤。</a:t>
            </a:r>
          </a:p>
        </p:txBody>
      </p:sp>
      <p:grpSp>
        <p:nvGrpSpPr>
          <p:cNvPr id="27" name="组合 12"/>
          <p:cNvGrpSpPr>
            <a:grpSpLocks/>
          </p:cNvGrpSpPr>
          <p:nvPr/>
        </p:nvGrpSpPr>
        <p:grpSpPr bwMode="auto">
          <a:xfrm>
            <a:off x="311784" y="2209165"/>
            <a:ext cx="4138295" cy="2220595"/>
            <a:chOff x="5292080" y="2708920"/>
            <a:chExt cx="3456384" cy="1521460"/>
          </a:xfrm>
        </p:grpSpPr>
        <p:sp>
          <p:nvSpPr>
            <p:cNvPr id="28" name="椭圆 27"/>
            <p:cNvSpPr/>
            <p:nvPr/>
          </p:nvSpPr>
          <p:spPr>
            <a:xfrm>
              <a:off x="5292080" y="3429194"/>
              <a:ext cx="3456384" cy="791667"/>
            </a:xfrm>
            <a:prstGeom prst="ellipse">
              <a:avLst/>
            </a:prstGeom>
            <a:solidFill>
              <a:srgbClr val="C0000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29" name="椭圆 28"/>
            <p:cNvSpPr/>
            <p:nvPr/>
          </p:nvSpPr>
          <p:spPr>
            <a:xfrm>
              <a:off x="5508005" y="3140450"/>
              <a:ext cx="3024535" cy="720274"/>
            </a:xfrm>
            <a:prstGeom prst="ellipse">
              <a:avLst/>
            </a:prstGeom>
            <a:solidFill>
              <a:srgbClr val="92D05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30" name="椭圆 29"/>
            <p:cNvSpPr/>
            <p:nvPr/>
          </p:nvSpPr>
          <p:spPr>
            <a:xfrm>
              <a:off x="5723929" y="2924685"/>
              <a:ext cx="2521239" cy="575902"/>
            </a:xfrm>
            <a:prstGeom prst="ellipse">
              <a:avLst/>
            </a:prstGeom>
            <a:solidFill>
              <a:srgbClr val="00B0F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31" name="椭圆 30"/>
            <p:cNvSpPr/>
            <p:nvPr/>
          </p:nvSpPr>
          <p:spPr>
            <a:xfrm>
              <a:off x="5939854" y="2708920"/>
              <a:ext cx="2016356" cy="431530"/>
            </a:xfrm>
            <a:prstGeom prst="ellipse">
              <a:avLst/>
            </a:prstGeom>
            <a:solidFill>
              <a:schemeClr val="bg1">
                <a:lumMod val="85000"/>
              </a:schemeClr>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endParaRPr lang="zh-CN" altLang="en-US">
                <a:solidFill>
                  <a:srgbClr val="FFFFFF"/>
                </a:solidFill>
              </a:endParaRPr>
            </a:p>
          </p:txBody>
        </p:sp>
        <p:sp>
          <p:nvSpPr>
            <p:cNvPr id="32" name="TextBox 8"/>
            <p:cNvSpPr txBox="1">
              <a:spLocks noChangeArrowheads="1"/>
            </p:cNvSpPr>
            <p:nvPr/>
          </p:nvSpPr>
          <p:spPr bwMode="auto">
            <a:xfrm>
              <a:off x="6444208" y="386104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pPr>
              <a:r>
                <a:rPr lang="zh-CN" altLang="en-US" sz="1800" b="1">
                  <a:solidFill>
                    <a:schemeClr val="bg1"/>
                  </a:solidFill>
                  <a:latin typeface="Arial" panose="020B0604020202020204" pitchFamily="34" charset="0"/>
                </a:rPr>
                <a:t>关注质量</a:t>
              </a:r>
            </a:p>
          </p:txBody>
        </p:sp>
        <p:sp>
          <p:nvSpPr>
            <p:cNvPr id="33" name="TextBox 9"/>
            <p:cNvSpPr txBox="1">
              <a:spLocks noChangeArrowheads="1"/>
            </p:cNvSpPr>
            <p:nvPr/>
          </p:nvSpPr>
          <p:spPr bwMode="auto">
            <a:xfrm>
              <a:off x="6658767" y="3501008"/>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pPr>
              <a:r>
                <a:rPr lang="zh-CN" altLang="en-US" sz="1800" b="1">
                  <a:latin typeface="Arial" panose="020B0604020202020204" pitchFamily="34" charset="0"/>
                </a:rPr>
                <a:t>过程</a:t>
              </a:r>
            </a:p>
          </p:txBody>
        </p:sp>
        <p:sp>
          <p:nvSpPr>
            <p:cNvPr id="34" name="TextBox 10"/>
            <p:cNvSpPr txBox="1">
              <a:spLocks noChangeArrowheads="1"/>
            </p:cNvSpPr>
            <p:nvPr/>
          </p:nvSpPr>
          <p:spPr bwMode="auto">
            <a:xfrm>
              <a:off x="6658767" y="3140968"/>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pPr>
              <a:r>
                <a:rPr lang="zh-CN" altLang="en-US" sz="1800" b="1">
                  <a:latin typeface="Arial" panose="020B0604020202020204" pitchFamily="34" charset="0"/>
                </a:rPr>
                <a:t>方法</a:t>
              </a:r>
            </a:p>
          </p:txBody>
        </p:sp>
        <p:sp>
          <p:nvSpPr>
            <p:cNvPr id="35" name="TextBox 11"/>
            <p:cNvSpPr txBox="1">
              <a:spLocks noChangeArrowheads="1"/>
            </p:cNvSpPr>
            <p:nvPr/>
          </p:nvSpPr>
          <p:spPr bwMode="auto">
            <a:xfrm>
              <a:off x="6658767" y="2708920"/>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pPr>
              <a:r>
                <a:rPr lang="zh-CN" altLang="en-US" sz="1800" b="1">
                  <a:latin typeface="Arial" panose="020B0604020202020204" pitchFamily="34" charset="0"/>
                </a:rPr>
                <a:t>工具</a:t>
              </a:r>
            </a:p>
          </p:txBody>
        </p:sp>
      </p:grpSp>
    </p:spTree>
    <p:extLst>
      <p:ext uri="{BB962C8B-B14F-4D97-AF65-F5344CB8AC3E}">
        <p14:creationId xmlns:p14="http://schemas.microsoft.com/office/powerpoint/2010/main" val="42330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1+#ppt_w/2"/>
                                          </p:val>
                                        </p:tav>
                                        <p:tav tm="100000">
                                          <p:val>
                                            <p:strVal val="#ppt_x"/>
                                          </p:val>
                                        </p:tav>
                                      </p:tavLst>
                                    </p:anim>
                                    <p:anim calcmode="lin" valueType="num">
                                      <p:cBhvr additive="base">
                                        <p:cTn id="1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知识体系</a:t>
            </a:r>
            <a:endParaRPr lang="zh-CN" altLang="en-US" dirty="0"/>
          </a:p>
        </p:txBody>
      </p:sp>
      <p:sp>
        <p:nvSpPr>
          <p:cNvPr id="13" name="内容占位符 2"/>
          <p:cNvSpPr>
            <a:spLocks noGrp="1"/>
          </p:cNvSpPr>
          <p:nvPr>
            <p:ph idx="1"/>
          </p:nvPr>
        </p:nvSpPr>
        <p:spPr>
          <a:xfrm>
            <a:off x="680321" y="1975485"/>
            <a:ext cx="8001000" cy="4860925"/>
          </a:xfrm>
        </p:spPr>
        <p:txBody>
          <a:bodyPr rtlCol="0">
            <a:normAutofit/>
          </a:bodyPr>
          <a:lstStyle/>
          <a:p>
            <a:pPr eaLnBrk="1" fontAlgn="auto" hangingPunct="1">
              <a:spcAft>
                <a:spcPts val="0"/>
              </a:spcAft>
              <a:defRPr/>
            </a:pPr>
            <a:r>
              <a:rPr lang="zh-CN" altLang="en-US" dirty="0"/>
              <a:t>软件需求（</a:t>
            </a:r>
            <a:r>
              <a:rPr lang="en-US" altLang="zh-CN" dirty="0"/>
              <a:t>Software Requirements</a:t>
            </a:r>
            <a:r>
              <a:rPr lang="zh-CN" altLang="en-US" dirty="0"/>
              <a:t>）</a:t>
            </a:r>
            <a:endParaRPr lang="en-US" altLang="zh-CN" dirty="0"/>
          </a:p>
          <a:p>
            <a:pPr eaLnBrk="1" fontAlgn="auto" hangingPunct="1">
              <a:spcAft>
                <a:spcPts val="0"/>
              </a:spcAft>
              <a:defRPr/>
            </a:pPr>
            <a:r>
              <a:rPr lang="zh-CN" altLang="en-US" dirty="0"/>
              <a:t>软件设计（</a:t>
            </a:r>
            <a:r>
              <a:rPr lang="en-US" altLang="zh-CN" dirty="0"/>
              <a:t>Software Design</a:t>
            </a:r>
            <a:r>
              <a:rPr lang="zh-CN" altLang="en-US" dirty="0"/>
              <a:t>）</a:t>
            </a:r>
            <a:endParaRPr lang="en-US" altLang="zh-CN" dirty="0"/>
          </a:p>
          <a:p>
            <a:pPr eaLnBrk="1" fontAlgn="auto" hangingPunct="1">
              <a:spcAft>
                <a:spcPts val="0"/>
              </a:spcAft>
              <a:defRPr/>
            </a:pPr>
            <a:r>
              <a:rPr lang="zh-CN" altLang="en-US" dirty="0"/>
              <a:t>软件构造（</a:t>
            </a:r>
            <a:r>
              <a:rPr lang="en-US" altLang="zh-CN" dirty="0"/>
              <a:t>Software Construction</a:t>
            </a:r>
            <a:r>
              <a:rPr lang="zh-CN" altLang="en-US" dirty="0"/>
              <a:t>）</a:t>
            </a:r>
            <a:endParaRPr lang="en-US" altLang="zh-CN" dirty="0"/>
          </a:p>
          <a:p>
            <a:pPr eaLnBrk="1" fontAlgn="auto" hangingPunct="1">
              <a:spcAft>
                <a:spcPts val="0"/>
              </a:spcAft>
              <a:defRPr/>
            </a:pPr>
            <a:r>
              <a:rPr lang="zh-CN" altLang="en-US" dirty="0"/>
              <a:t>软件测试（</a:t>
            </a:r>
            <a:r>
              <a:rPr lang="en-US" altLang="zh-CN" dirty="0"/>
              <a:t>Software Testing</a:t>
            </a:r>
            <a:r>
              <a:rPr lang="zh-CN" altLang="en-US" dirty="0"/>
              <a:t>）</a:t>
            </a:r>
            <a:endParaRPr lang="en-US" altLang="zh-CN" dirty="0"/>
          </a:p>
          <a:p>
            <a:pPr eaLnBrk="1" fontAlgn="auto" hangingPunct="1">
              <a:spcAft>
                <a:spcPts val="0"/>
              </a:spcAft>
              <a:defRPr/>
            </a:pPr>
            <a:r>
              <a:rPr lang="zh-CN" altLang="en-US" dirty="0"/>
              <a:t>软件维护（</a:t>
            </a:r>
            <a:r>
              <a:rPr lang="en-US" altLang="zh-CN" dirty="0"/>
              <a:t>Software Maintenance</a:t>
            </a:r>
            <a:r>
              <a:rPr lang="zh-CN" altLang="en-US" dirty="0"/>
              <a:t>）</a:t>
            </a:r>
            <a:endParaRPr lang="en-US" altLang="zh-CN" dirty="0"/>
          </a:p>
          <a:p>
            <a:pPr eaLnBrk="1" fontAlgn="auto" hangingPunct="1">
              <a:spcAft>
                <a:spcPts val="0"/>
              </a:spcAft>
              <a:defRPr/>
            </a:pPr>
            <a:r>
              <a:rPr lang="zh-CN" altLang="en-US" dirty="0"/>
              <a:t>软件配置管理（</a:t>
            </a:r>
            <a:r>
              <a:rPr lang="en-US" altLang="zh-CN" dirty="0"/>
              <a:t>Software Configuration Management</a:t>
            </a:r>
            <a:r>
              <a:rPr lang="zh-CN" altLang="en-US" dirty="0"/>
              <a:t>）</a:t>
            </a:r>
            <a:endParaRPr lang="en-US" altLang="zh-CN" dirty="0"/>
          </a:p>
          <a:p>
            <a:pPr eaLnBrk="1" fontAlgn="auto" hangingPunct="1">
              <a:spcAft>
                <a:spcPts val="0"/>
              </a:spcAft>
              <a:defRPr/>
            </a:pPr>
            <a:r>
              <a:rPr lang="zh-CN" altLang="en-US" dirty="0"/>
              <a:t>软件工程管理（</a:t>
            </a:r>
            <a:r>
              <a:rPr lang="en-US" altLang="zh-CN" dirty="0"/>
              <a:t>Software Engineering Management</a:t>
            </a:r>
            <a:r>
              <a:rPr lang="zh-CN" altLang="en-US" dirty="0"/>
              <a:t>）</a:t>
            </a:r>
            <a:endParaRPr lang="en-US" altLang="zh-CN" dirty="0"/>
          </a:p>
          <a:p>
            <a:pPr eaLnBrk="1" fontAlgn="auto" hangingPunct="1">
              <a:spcAft>
                <a:spcPts val="0"/>
              </a:spcAft>
              <a:defRPr/>
            </a:pPr>
            <a:r>
              <a:rPr lang="zh-CN" altLang="en-US" dirty="0"/>
              <a:t>软件工程过程（</a:t>
            </a:r>
            <a:r>
              <a:rPr lang="en-US" altLang="zh-CN" dirty="0"/>
              <a:t>Software Engineering Process</a:t>
            </a:r>
            <a:r>
              <a:rPr lang="zh-CN" altLang="en-US" dirty="0"/>
              <a:t>）</a:t>
            </a:r>
            <a:endParaRPr lang="en-US" altLang="zh-CN" dirty="0"/>
          </a:p>
          <a:p>
            <a:pPr eaLnBrk="1" fontAlgn="auto" hangingPunct="1">
              <a:spcAft>
                <a:spcPts val="0"/>
              </a:spcAft>
              <a:defRPr/>
            </a:pPr>
            <a:r>
              <a:rPr lang="zh-CN" altLang="en-US" dirty="0"/>
              <a:t>软件工程工具与方法（</a:t>
            </a:r>
            <a:r>
              <a:rPr lang="en-US" altLang="zh-CN" dirty="0"/>
              <a:t>Software Engineering Tools and Methods</a:t>
            </a:r>
            <a:r>
              <a:rPr lang="zh-CN" altLang="en-US" dirty="0"/>
              <a:t>）</a:t>
            </a:r>
            <a:endParaRPr lang="en-US" altLang="zh-CN" dirty="0"/>
          </a:p>
          <a:p>
            <a:pPr eaLnBrk="1" fontAlgn="auto" hangingPunct="1">
              <a:spcAft>
                <a:spcPts val="0"/>
              </a:spcAft>
              <a:defRPr/>
            </a:pPr>
            <a:r>
              <a:rPr lang="zh-CN" altLang="en-US" dirty="0"/>
              <a:t>软件质量（</a:t>
            </a:r>
            <a:r>
              <a:rPr lang="en-US" altLang="zh-CN" dirty="0"/>
              <a:t>Software Process and Product Quality</a:t>
            </a:r>
            <a:r>
              <a:rPr lang="zh-CN" altLang="en-US" dirty="0"/>
              <a:t>）</a:t>
            </a:r>
            <a:endParaRPr lang="en-US" altLang="zh-CN" dirty="0"/>
          </a:p>
          <a:p>
            <a:pPr eaLnBrk="1" fontAlgn="auto" hangingPunct="1">
              <a:spcAft>
                <a:spcPts val="0"/>
              </a:spcAft>
              <a:defRPr/>
            </a:pPr>
            <a:endParaRPr lang="en-US" altLang="zh-CN" dirty="0"/>
          </a:p>
          <a:p>
            <a:pPr lvl="1" eaLnBrk="1" fontAlgn="auto" hangingPunct="1">
              <a:spcAft>
                <a:spcPts val="0"/>
              </a:spcAft>
              <a:defRPr/>
            </a:pPr>
            <a:endParaRPr lang="zh-CN" altLang="en-US" dirty="0"/>
          </a:p>
        </p:txBody>
      </p:sp>
      <p:sp>
        <p:nvSpPr>
          <p:cNvPr id="3" name="矩形 2"/>
          <p:cNvSpPr/>
          <p:nvPr/>
        </p:nvSpPr>
        <p:spPr>
          <a:xfrm>
            <a:off x="7246620" y="2046655"/>
            <a:ext cx="4846320"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marL="285750" indent="-285750">
              <a:buFont typeface="Arial" panose="020B0604020202020204" pitchFamily="34" charset="0"/>
              <a:buChar char="•"/>
            </a:pPr>
            <a:r>
              <a:rPr lang="en-US" altLang="zh-CN" dirty="0"/>
              <a:t>2001</a:t>
            </a:r>
            <a:r>
              <a:rPr lang="zh-CN" altLang="en-US" dirty="0"/>
              <a:t>年</a:t>
            </a:r>
            <a:r>
              <a:rPr lang="en-US" altLang="zh-CN" dirty="0"/>
              <a:t>5</a:t>
            </a:r>
            <a:r>
              <a:rPr lang="zh-CN" altLang="en-US" dirty="0"/>
              <a:t>月，</a:t>
            </a:r>
            <a:r>
              <a:rPr lang="en-US" altLang="zh-CN" dirty="0"/>
              <a:t>ISO</a:t>
            </a:r>
            <a:r>
              <a:rPr lang="zh-CN" altLang="en-US" dirty="0"/>
              <a:t>和</a:t>
            </a:r>
            <a:r>
              <a:rPr lang="en-US" altLang="zh-CN" dirty="0"/>
              <a:t>IEC</a:t>
            </a:r>
            <a:r>
              <a:rPr lang="zh-CN" altLang="en-US" dirty="0"/>
              <a:t>共同发布了一份标准化文件</a:t>
            </a:r>
            <a:r>
              <a:rPr lang="en-US" altLang="zh-CN" dirty="0"/>
              <a:t>——《</a:t>
            </a:r>
            <a:r>
              <a:rPr lang="zh-CN" altLang="en-US" dirty="0"/>
              <a:t>软件工程知识体系指南</a:t>
            </a:r>
            <a:r>
              <a:rPr lang="en-US" altLang="zh-CN" dirty="0"/>
              <a:t>》</a:t>
            </a:r>
          </a:p>
          <a:p>
            <a:pPr marL="285750" indent="-285750">
              <a:buFont typeface="Arial" panose="020B0604020202020204" pitchFamily="34" charset="0"/>
              <a:buChar char="•"/>
            </a:pPr>
            <a:r>
              <a:rPr lang="en-US" altLang="zh-CN" dirty="0"/>
              <a:t>2004</a:t>
            </a:r>
            <a:r>
              <a:rPr lang="zh-CN" altLang="en-US" dirty="0"/>
              <a:t>年的版本中，软件工程知识体系（</a:t>
            </a:r>
            <a:r>
              <a:rPr lang="en-US" altLang="zh-CN" dirty="0"/>
              <a:t>SWEBOK, Software Engineering Body of Knowledge</a:t>
            </a:r>
            <a:r>
              <a:rPr lang="zh-CN" altLang="en-US" dirty="0"/>
              <a:t>）的主要内容包括</a:t>
            </a:r>
            <a:r>
              <a:rPr lang="en-US" altLang="zh-CN" dirty="0"/>
              <a:t>10</a:t>
            </a:r>
            <a:r>
              <a:rPr lang="zh-CN" altLang="en-US" dirty="0"/>
              <a:t>个知识域（</a:t>
            </a:r>
            <a:r>
              <a:rPr lang="en-US" altLang="zh-CN" dirty="0"/>
              <a:t>Knowledge Area</a:t>
            </a:r>
            <a:r>
              <a:rPr lang="zh-CN" altLang="en-US" dirty="0"/>
              <a:t>）。</a:t>
            </a:r>
          </a:p>
        </p:txBody>
      </p:sp>
    </p:spTree>
    <p:extLst>
      <p:ext uri="{BB962C8B-B14F-4D97-AF65-F5344CB8AC3E}">
        <p14:creationId xmlns:p14="http://schemas.microsoft.com/office/powerpoint/2010/main" val="2279995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四、软件工程</a:t>
            </a:r>
            <a:r>
              <a:rPr lang="en-US" altLang="zh-CN" sz="3200" dirty="0"/>
              <a:t>——</a:t>
            </a:r>
            <a:r>
              <a:rPr lang="zh-CN" altLang="en-US" sz="3200" dirty="0"/>
              <a:t>软件开发方法</a:t>
            </a:r>
            <a:r>
              <a:rPr lang="zh-CN" altLang="en-US" sz="2400" dirty="0">
                <a:solidFill>
                  <a:srgbClr val="FFFF00"/>
                </a:solidFill>
              </a:rPr>
              <a:t>（本学期主要学习内容）</a:t>
            </a:r>
          </a:p>
        </p:txBody>
      </p:sp>
      <p:sp>
        <p:nvSpPr>
          <p:cNvPr id="13" name="内容占位符 2"/>
          <p:cNvSpPr>
            <a:spLocks noGrp="1"/>
          </p:cNvSpPr>
          <p:nvPr>
            <p:ph idx="1"/>
          </p:nvPr>
        </p:nvSpPr>
        <p:spPr>
          <a:xfrm>
            <a:off x="680320" y="2026920"/>
            <a:ext cx="11074800" cy="4396740"/>
          </a:xfrm>
        </p:spPr>
        <p:txBody>
          <a:bodyPr rtlCol="0">
            <a:normAutofit/>
          </a:bodyPr>
          <a:lstStyle/>
          <a:p>
            <a:pPr eaLnBrk="1" fontAlgn="auto" hangingPunct="1">
              <a:lnSpc>
                <a:spcPct val="100000"/>
              </a:lnSpc>
              <a:spcBef>
                <a:spcPts val="600"/>
              </a:spcBef>
              <a:defRPr/>
            </a:pPr>
            <a:r>
              <a:rPr lang="zh-CN" altLang="en-US" b="1" dirty="0">
                <a:solidFill>
                  <a:srgbClr val="002060"/>
                </a:solidFill>
              </a:rPr>
              <a:t>软件开发方法是一种</a:t>
            </a:r>
            <a:r>
              <a:rPr lang="zh-CN" altLang="en-US" b="1" dirty="0">
                <a:solidFill>
                  <a:srgbClr val="FFFF00"/>
                </a:solidFill>
              </a:rPr>
              <a:t>认知观</a:t>
            </a:r>
            <a:endParaRPr lang="en-US" altLang="zh-CN" dirty="0"/>
          </a:p>
          <a:p>
            <a:pPr>
              <a:lnSpc>
                <a:spcPct val="100000"/>
              </a:lnSpc>
              <a:spcBef>
                <a:spcPts val="600"/>
              </a:spcBef>
              <a:buFont typeface="Wingdings" panose="05000000000000000000" pitchFamily="2" charset="2"/>
              <a:buChar char="ü"/>
              <a:defRPr/>
            </a:pPr>
            <a:r>
              <a:rPr lang="zh-CN" altLang="en-US" dirty="0"/>
              <a:t>软件主要涉及“现实世界”、“概念世界”、“计算机世界”三个空间。其</a:t>
            </a:r>
            <a:r>
              <a:rPr lang="zh-CN" altLang="en-US" b="1" dirty="0">
                <a:solidFill>
                  <a:srgbClr val="002060"/>
                </a:solidFill>
              </a:rPr>
              <a:t>实质是人以计算机语言为桥梁，将现实世界映射于计算机世界中</a:t>
            </a:r>
            <a:r>
              <a:rPr lang="zh-CN" altLang="en-US" dirty="0"/>
              <a:t>，已解决人们在客观感知世界中的问题。</a:t>
            </a:r>
          </a:p>
          <a:p>
            <a:pPr>
              <a:lnSpc>
                <a:spcPct val="100000"/>
              </a:lnSpc>
              <a:spcBef>
                <a:spcPts val="600"/>
              </a:spcBef>
              <a:buFont typeface="Wingdings" panose="05000000000000000000" pitchFamily="2" charset="2"/>
              <a:buChar char="ü"/>
              <a:defRPr/>
            </a:pPr>
            <a:r>
              <a:rPr lang="zh-CN" altLang="en-US" dirty="0"/>
              <a:t>在很多工程领域中，从事工程设计开发的都是熟悉本领域的工程师或专家；但是在软件工程领域，一般由计算机专业背景的人</a:t>
            </a:r>
            <a:r>
              <a:rPr lang="zh-CN" altLang="en-US" b="1" dirty="0">
                <a:solidFill>
                  <a:srgbClr val="002060"/>
                </a:solidFill>
              </a:rPr>
              <a:t>在另一个不熟悉的领域中从事软件开发</a:t>
            </a:r>
            <a:r>
              <a:rPr lang="zh-CN" altLang="en-US" dirty="0"/>
              <a:t>。</a:t>
            </a:r>
          </a:p>
          <a:p>
            <a:pPr lvl="1">
              <a:lnSpc>
                <a:spcPct val="100000"/>
              </a:lnSpc>
              <a:spcBef>
                <a:spcPts val="600"/>
              </a:spcBef>
              <a:buFont typeface="Wingdings" panose="05000000000000000000" pitchFamily="2" charset="2"/>
              <a:buChar char="ü"/>
              <a:defRPr/>
            </a:pPr>
            <a:r>
              <a:rPr lang="zh-CN" altLang="en-US" sz="2400" dirty="0"/>
              <a:t>这就要求一个学习、调研、表述、论证的过程，做到对应用领域的真正认知，而后进行软件实现。</a:t>
            </a:r>
          </a:p>
          <a:p>
            <a:pPr lvl="1">
              <a:lnSpc>
                <a:spcPct val="100000"/>
              </a:lnSpc>
              <a:spcBef>
                <a:spcPts val="600"/>
              </a:spcBef>
              <a:buFont typeface="Wingdings" panose="05000000000000000000" pitchFamily="2" charset="2"/>
              <a:buChar char="ü"/>
              <a:defRPr/>
            </a:pPr>
            <a:r>
              <a:rPr lang="zh-CN" altLang="en-US" sz="2400" dirty="0"/>
              <a:t>软件开发方法正是为了解决这个问题而产生的。</a:t>
            </a:r>
          </a:p>
        </p:txBody>
      </p:sp>
    </p:spTree>
    <p:extLst>
      <p:ext uri="{BB962C8B-B14F-4D97-AF65-F5344CB8AC3E}">
        <p14:creationId xmlns:p14="http://schemas.microsoft.com/office/powerpoint/2010/main" val="24492358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本讲主要内容结束</a:t>
            </a:r>
          </a:p>
        </p:txBody>
      </p:sp>
      <p:sp>
        <p:nvSpPr>
          <p:cNvPr id="7" name="文本占位符 6"/>
          <p:cNvSpPr>
            <a:spLocks noGrp="1"/>
          </p:cNvSpPr>
          <p:nvPr>
            <p:ph type="body" idx="1"/>
          </p:nvPr>
        </p:nvSpPr>
        <p:spPr/>
        <p:txBody>
          <a:bodyPr>
            <a:normAutofit/>
          </a:bodyPr>
          <a:lstStyle/>
          <a:p>
            <a:r>
              <a:rPr lang="zh-CN" altLang="en-US" sz="2400" dirty="0"/>
              <a:t>后面的内容用来加深理解</a:t>
            </a:r>
          </a:p>
        </p:txBody>
      </p:sp>
    </p:spTree>
    <p:extLst>
      <p:ext uri="{BB962C8B-B14F-4D97-AF65-F5344CB8AC3E}">
        <p14:creationId xmlns:p14="http://schemas.microsoft.com/office/powerpoint/2010/main" val="9374909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*工程对比</a:t>
            </a:r>
          </a:p>
        </p:txBody>
      </p:sp>
      <p:sp>
        <p:nvSpPr>
          <p:cNvPr id="5" name="内容占位符 4"/>
          <p:cNvSpPr>
            <a:spLocks noGrp="1"/>
          </p:cNvSpPr>
          <p:nvPr>
            <p:ph idx="1"/>
          </p:nvPr>
        </p:nvSpPr>
        <p:spPr>
          <a:xfrm>
            <a:off x="680321" y="1935480"/>
            <a:ext cx="10536319" cy="4831080"/>
          </a:xfrm>
        </p:spPr>
        <p:txBody>
          <a:bodyPr>
            <a:normAutofit fontScale="92500"/>
          </a:bodyPr>
          <a:lstStyle/>
          <a:p>
            <a:pPr>
              <a:lnSpc>
                <a:spcPct val="120000"/>
              </a:lnSpc>
              <a:spcBef>
                <a:spcPts val="600"/>
              </a:spcBef>
            </a:pPr>
            <a:r>
              <a:rPr lang="zh-CN" altLang="en-US" sz="2800" b="1" dirty="0">
                <a:solidFill>
                  <a:srgbClr val="002060"/>
                </a:solidFill>
              </a:rPr>
              <a:t>一、盖房子</a:t>
            </a:r>
          </a:p>
          <a:p>
            <a:pPr lvl="1">
              <a:lnSpc>
                <a:spcPct val="120000"/>
              </a:lnSpc>
              <a:spcBef>
                <a:spcPts val="600"/>
              </a:spcBef>
            </a:pPr>
            <a:r>
              <a:rPr lang="zh-CN" altLang="en-US" sz="2600" dirty="0"/>
              <a:t>确定和分析</a:t>
            </a:r>
            <a:r>
              <a:rPr lang="zh-CN" altLang="en-US" sz="2600" dirty="0">
                <a:solidFill>
                  <a:srgbClr val="FFFF00"/>
                </a:solidFill>
              </a:rPr>
              <a:t>需求</a:t>
            </a:r>
            <a:r>
              <a:rPr lang="zh-CN" altLang="en-US" sz="2600" dirty="0"/>
              <a:t>；</a:t>
            </a:r>
          </a:p>
          <a:p>
            <a:pPr lvl="1">
              <a:lnSpc>
                <a:spcPct val="120000"/>
              </a:lnSpc>
              <a:spcBef>
                <a:spcPts val="600"/>
              </a:spcBef>
            </a:pPr>
            <a:r>
              <a:rPr lang="zh-CN" altLang="en-US" sz="2600" dirty="0"/>
              <a:t>提出并文档化房子的</a:t>
            </a:r>
            <a:r>
              <a:rPr lang="zh-CN" altLang="en-US" sz="2600" dirty="0">
                <a:solidFill>
                  <a:srgbClr val="FFFF00"/>
                </a:solidFill>
              </a:rPr>
              <a:t>总体设计</a:t>
            </a:r>
            <a:r>
              <a:rPr lang="zh-CN" altLang="en-US" sz="2600" dirty="0"/>
              <a:t>；</a:t>
            </a:r>
          </a:p>
          <a:p>
            <a:pPr lvl="1">
              <a:lnSpc>
                <a:spcPct val="120000"/>
              </a:lnSpc>
              <a:spcBef>
                <a:spcPts val="600"/>
              </a:spcBef>
            </a:pPr>
            <a:r>
              <a:rPr lang="zh-CN" altLang="en-US" sz="2600" dirty="0"/>
              <a:t>提出房子的详细规格说明；</a:t>
            </a:r>
          </a:p>
          <a:p>
            <a:pPr lvl="1">
              <a:lnSpc>
                <a:spcPct val="120000"/>
              </a:lnSpc>
              <a:spcBef>
                <a:spcPts val="600"/>
              </a:spcBef>
            </a:pPr>
            <a:r>
              <a:rPr lang="zh-CN" altLang="en-US" sz="2600" dirty="0"/>
              <a:t>识别并</a:t>
            </a:r>
            <a:r>
              <a:rPr lang="zh-CN" altLang="en-US" sz="2600" dirty="0">
                <a:solidFill>
                  <a:srgbClr val="FFFF00"/>
                </a:solidFill>
              </a:rPr>
              <a:t>设计</a:t>
            </a:r>
            <a:r>
              <a:rPr lang="zh-CN" altLang="en-US" sz="2600" dirty="0"/>
              <a:t>房子的组成部分；</a:t>
            </a:r>
          </a:p>
          <a:p>
            <a:pPr lvl="1">
              <a:lnSpc>
                <a:spcPct val="120000"/>
              </a:lnSpc>
              <a:spcBef>
                <a:spcPts val="600"/>
              </a:spcBef>
            </a:pPr>
            <a:r>
              <a:rPr lang="zh-CN" altLang="en-US" sz="2600" dirty="0">
                <a:solidFill>
                  <a:srgbClr val="FFFF00"/>
                </a:solidFill>
              </a:rPr>
              <a:t>构建</a:t>
            </a:r>
            <a:r>
              <a:rPr lang="zh-CN" altLang="en-US" sz="2600" dirty="0"/>
              <a:t>房子的每一个组成部分；</a:t>
            </a:r>
          </a:p>
          <a:p>
            <a:pPr lvl="1">
              <a:lnSpc>
                <a:spcPct val="120000"/>
              </a:lnSpc>
              <a:spcBef>
                <a:spcPts val="600"/>
              </a:spcBef>
            </a:pPr>
            <a:r>
              <a:rPr lang="zh-CN" altLang="en-US" sz="2600" dirty="0">
                <a:solidFill>
                  <a:srgbClr val="FFFF00"/>
                </a:solidFill>
              </a:rPr>
              <a:t>测试</a:t>
            </a:r>
            <a:r>
              <a:rPr lang="zh-CN" altLang="en-US" sz="2600" dirty="0"/>
              <a:t>房子的每一个组成部分；</a:t>
            </a:r>
          </a:p>
          <a:p>
            <a:pPr lvl="1">
              <a:lnSpc>
                <a:spcPct val="120000"/>
              </a:lnSpc>
              <a:spcBef>
                <a:spcPts val="600"/>
              </a:spcBef>
            </a:pPr>
            <a:r>
              <a:rPr lang="zh-CN" altLang="en-US" sz="2600" dirty="0"/>
              <a:t>把房子的各个组成部分</a:t>
            </a:r>
            <a:r>
              <a:rPr lang="zh-CN" altLang="en-US" sz="2600" dirty="0">
                <a:solidFill>
                  <a:srgbClr val="FFFF00"/>
                </a:solidFill>
              </a:rPr>
              <a:t>集成</a:t>
            </a:r>
            <a:r>
              <a:rPr lang="zh-CN" altLang="en-US" sz="2600" dirty="0"/>
              <a:t>在一起，在住户搬进来之前做最后的</a:t>
            </a:r>
            <a:r>
              <a:rPr lang="zh-CN" altLang="en-US" sz="2600" dirty="0">
                <a:solidFill>
                  <a:srgbClr val="FFFF00"/>
                </a:solidFill>
              </a:rPr>
              <a:t>修改</a:t>
            </a:r>
            <a:r>
              <a:rPr lang="zh-CN" altLang="en-US" sz="2600" dirty="0"/>
              <a:t>；</a:t>
            </a:r>
          </a:p>
          <a:p>
            <a:pPr lvl="1">
              <a:lnSpc>
                <a:spcPct val="120000"/>
              </a:lnSpc>
              <a:spcBef>
                <a:spcPts val="600"/>
              </a:spcBef>
            </a:pPr>
            <a:r>
              <a:rPr lang="zh-CN" altLang="en-US" sz="2600" dirty="0"/>
              <a:t>由房子的住户持续进行</a:t>
            </a:r>
            <a:r>
              <a:rPr lang="zh-CN" altLang="en-US" sz="2600" dirty="0">
                <a:solidFill>
                  <a:srgbClr val="FFFF00"/>
                </a:solidFill>
              </a:rPr>
              <a:t>维护</a:t>
            </a:r>
            <a:r>
              <a:rPr lang="zh-CN" altLang="en-US" sz="2600" dirty="0"/>
              <a:t>。</a:t>
            </a:r>
          </a:p>
        </p:txBody>
      </p:sp>
    </p:spTree>
    <p:extLst>
      <p:ext uri="{BB962C8B-B14F-4D97-AF65-F5344CB8AC3E}">
        <p14:creationId xmlns:p14="http://schemas.microsoft.com/office/powerpoint/2010/main" val="4015616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*工程对比</a:t>
            </a:r>
          </a:p>
        </p:txBody>
      </p:sp>
      <p:sp>
        <p:nvSpPr>
          <p:cNvPr id="5" name="内容占位符 4"/>
          <p:cNvSpPr>
            <a:spLocks noGrp="1"/>
          </p:cNvSpPr>
          <p:nvPr>
            <p:ph idx="1"/>
          </p:nvPr>
        </p:nvSpPr>
        <p:spPr>
          <a:xfrm>
            <a:off x="680321" y="2026920"/>
            <a:ext cx="10383919" cy="4587240"/>
          </a:xfrm>
        </p:spPr>
        <p:txBody>
          <a:bodyPr>
            <a:normAutofit/>
          </a:bodyPr>
          <a:lstStyle/>
          <a:p>
            <a:pPr>
              <a:lnSpc>
                <a:spcPct val="120000"/>
              </a:lnSpc>
              <a:spcBef>
                <a:spcPts val="600"/>
              </a:spcBef>
            </a:pPr>
            <a:r>
              <a:rPr lang="zh-CN" altLang="en-US" sz="2800" b="1" dirty="0">
                <a:solidFill>
                  <a:srgbClr val="002060"/>
                </a:solidFill>
              </a:rPr>
              <a:t>二、注意事项</a:t>
            </a:r>
          </a:p>
          <a:p>
            <a:pPr lvl="1">
              <a:lnSpc>
                <a:spcPct val="120000"/>
              </a:lnSpc>
              <a:spcBef>
                <a:spcPts val="600"/>
              </a:spcBef>
            </a:pPr>
            <a:r>
              <a:rPr lang="en-US" altLang="zh-CN" sz="2600" dirty="0"/>
              <a:t>1</a:t>
            </a:r>
            <a:r>
              <a:rPr lang="zh-CN" altLang="en-US" sz="2600" dirty="0"/>
              <a:t>、房子是在社会、经济以及它所处的政府体系的</a:t>
            </a:r>
            <a:r>
              <a:rPr lang="zh-CN" altLang="en-US" sz="2600" dirty="0">
                <a:solidFill>
                  <a:srgbClr val="FFFF00"/>
                </a:solidFill>
              </a:rPr>
              <a:t>背景</a:t>
            </a:r>
            <a:r>
              <a:rPr lang="zh-CN" altLang="en-US" sz="2600" dirty="0"/>
              <a:t>下建造的。即房子的建造要遵守建设法规、建设标准、生活和风俗习惯、质量保证规定和常识等。</a:t>
            </a:r>
          </a:p>
          <a:p>
            <a:pPr lvl="1">
              <a:lnSpc>
                <a:spcPct val="120000"/>
              </a:lnSpc>
              <a:spcBef>
                <a:spcPts val="600"/>
              </a:spcBef>
            </a:pPr>
            <a:r>
              <a:rPr lang="en-US" altLang="zh-CN" sz="2600" dirty="0"/>
              <a:t>2</a:t>
            </a:r>
            <a:r>
              <a:rPr lang="zh-CN" altLang="en-US" sz="2600" dirty="0"/>
              <a:t>、不可能确切的规定建造房子的活动，必须根据</a:t>
            </a:r>
            <a:r>
              <a:rPr lang="zh-CN" altLang="en-US" sz="2600" dirty="0">
                <a:solidFill>
                  <a:srgbClr val="FFFF00"/>
                </a:solidFill>
              </a:rPr>
              <a:t>经验</a:t>
            </a:r>
            <a:r>
              <a:rPr lang="zh-CN" altLang="en-US" sz="2600" dirty="0"/>
              <a:t>为决策留有余地，用来处理未预料到的或非标准的情形。这正是</a:t>
            </a:r>
            <a:r>
              <a:rPr lang="zh-CN" altLang="en-US" sz="2600" dirty="0">
                <a:solidFill>
                  <a:srgbClr val="FFFF00"/>
                </a:solidFill>
              </a:rPr>
              <a:t>艺术和专业技术</a:t>
            </a:r>
            <a:r>
              <a:rPr lang="zh-CN" altLang="en-US" sz="2600" dirty="0"/>
              <a:t>发挥作用的地方。</a:t>
            </a:r>
            <a:endParaRPr lang="en-US" altLang="zh-CN" sz="2600" dirty="0"/>
          </a:p>
          <a:p>
            <a:pPr lvl="1">
              <a:lnSpc>
                <a:spcPct val="120000"/>
              </a:lnSpc>
              <a:spcBef>
                <a:spcPts val="600"/>
              </a:spcBef>
            </a:pPr>
            <a:r>
              <a:rPr lang="en-US" altLang="zh-CN" sz="2600" dirty="0"/>
              <a:t>……</a:t>
            </a:r>
            <a:endParaRPr lang="zh-CN" altLang="en-US" sz="2600" dirty="0"/>
          </a:p>
        </p:txBody>
      </p:sp>
    </p:spTree>
    <p:extLst>
      <p:ext uri="{BB962C8B-B14F-4D97-AF65-F5344CB8AC3E}">
        <p14:creationId xmlns:p14="http://schemas.microsoft.com/office/powerpoint/2010/main" val="3508214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*工程对比</a:t>
            </a:r>
          </a:p>
        </p:txBody>
      </p:sp>
      <p:graphicFrame>
        <p:nvGraphicFramePr>
          <p:cNvPr id="6" name="表格 5"/>
          <p:cNvGraphicFramePr>
            <a:graphicFrameLocks noGrp="1"/>
          </p:cNvGraphicFramePr>
          <p:nvPr>
            <p:extLst>
              <p:ext uri="{D42A27DB-BD31-4B8C-83A1-F6EECF244321}">
                <p14:modId xmlns:p14="http://schemas.microsoft.com/office/powerpoint/2010/main" val="202246869"/>
              </p:ext>
            </p:extLst>
          </p:nvPr>
        </p:nvGraphicFramePr>
        <p:xfrm>
          <a:off x="838200" y="2091654"/>
          <a:ext cx="10462260" cy="4488367"/>
        </p:xfrm>
        <a:graphic>
          <a:graphicData uri="http://schemas.openxmlformats.org/drawingml/2006/table">
            <a:tbl>
              <a:tblPr/>
              <a:tblGrid>
                <a:gridCol w="5232179">
                  <a:extLst>
                    <a:ext uri="{9D8B030D-6E8A-4147-A177-3AD203B41FA5}">
                      <a16:colId xmlns:a16="http://schemas.microsoft.com/office/drawing/2014/main" val="20000"/>
                    </a:ext>
                  </a:extLst>
                </a:gridCol>
                <a:gridCol w="5230081">
                  <a:extLst>
                    <a:ext uri="{9D8B030D-6E8A-4147-A177-3AD203B41FA5}">
                      <a16:colId xmlns:a16="http://schemas.microsoft.com/office/drawing/2014/main" val="20001"/>
                    </a:ext>
                  </a:extLst>
                </a:gridCol>
              </a:tblGrid>
              <a:tr h="48590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1"/>
                          </a:solidFill>
                          <a:effectLst/>
                          <a:latin typeface="Times New Roman" pitchFamily="18" charset="0"/>
                          <a:ea typeface="宋体" charset="-122"/>
                        </a:rPr>
                        <a:t>盖房子</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1"/>
                          </a:solidFill>
                          <a:effectLst/>
                          <a:latin typeface="Times New Roman" pitchFamily="18" charset="0"/>
                          <a:ea typeface="宋体" charset="-122"/>
                        </a:rPr>
                        <a:t>软件项目</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确定</a:t>
                      </a:r>
                      <a:r>
                        <a:rPr kumimoji="0" lang="en-US" altLang="zh-CN" sz="2200" b="0" i="0" u="none" strike="noStrike" cap="none" normalizeH="0" baseline="0">
                          <a:ln>
                            <a:noFill/>
                          </a:ln>
                          <a:solidFill>
                            <a:srgbClr val="000000"/>
                          </a:solidFill>
                          <a:effectLst/>
                          <a:latin typeface="Times New Roman" pitchFamily="18" charset="0"/>
                          <a:ea typeface="宋体" charset="-122"/>
                        </a:rPr>
                        <a:t>Smith</a:t>
                      </a:r>
                      <a:r>
                        <a:rPr kumimoji="0" lang="zh-CN" altLang="en-US" sz="2200" b="0" i="0" u="none" strike="noStrike" cap="none" normalizeH="0" baseline="0">
                          <a:ln>
                            <a:noFill/>
                          </a:ln>
                          <a:solidFill>
                            <a:srgbClr val="000000"/>
                          </a:solidFill>
                          <a:effectLst/>
                          <a:latin typeface="Times New Roman" pitchFamily="18" charset="0"/>
                          <a:ea typeface="宋体" charset="-122"/>
                        </a:rPr>
                        <a:t>夫妇、</a:t>
                      </a:r>
                      <a:r>
                        <a:rPr kumimoji="0" lang="en-US" altLang="zh-CN" sz="2200" b="0" i="0" u="none" strike="noStrike" cap="none" normalizeH="0" baseline="0">
                          <a:ln>
                            <a:noFill/>
                          </a:ln>
                          <a:solidFill>
                            <a:srgbClr val="000000"/>
                          </a:solidFill>
                          <a:effectLst/>
                          <a:latin typeface="Times New Roman" pitchFamily="18" charset="0"/>
                          <a:ea typeface="宋体" charset="-122"/>
                        </a:rPr>
                        <a:t>Smith</a:t>
                      </a:r>
                      <a:r>
                        <a:rPr kumimoji="0" lang="zh-CN" altLang="en-US" sz="2200" b="0" i="0" u="none" strike="noStrike" cap="none" normalizeH="0" baseline="0">
                          <a:ln>
                            <a:noFill/>
                          </a:ln>
                          <a:solidFill>
                            <a:srgbClr val="000000"/>
                          </a:solidFill>
                          <a:effectLst/>
                          <a:latin typeface="Times New Roman" pitchFamily="18" charset="0"/>
                          <a:ea typeface="宋体" charset="-122"/>
                        </a:rPr>
                        <a:t>父母、工程队</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确定客户、用户、开发团队</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确定需求：边界、实体、活动</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确定需求：边界、实体、活动</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6802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设计建筑平面图、透视图</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向客户展示图片、报表、文字描述、原型</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客户评审；设计细化；开始施工</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客户评审；设计细化；设计编写代码</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68027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变更（增加一个天窗；追加预算用另外一种材料；增加设施）</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需求变更</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单个房间测试；供电、供水整体测试</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单元测试；集成测试</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6"/>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交付使用</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验收测试及交付</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7"/>
                  </a:ext>
                </a:extLst>
              </a:tr>
              <a:tr h="3947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a:ln>
                            <a:noFill/>
                          </a:ln>
                          <a:solidFill>
                            <a:srgbClr val="000000"/>
                          </a:solidFill>
                          <a:effectLst/>
                          <a:latin typeface="Times New Roman" pitchFamily="18" charset="0"/>
                          <a:ea typeface="宋体" charset="-122"/>
                        </a:rPr>
                        <a:t>住户维护；工程队维修</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200" b="0" i="0" u="none" strike="noStrike" cap="none" normalizeH="0" baseline="0" dirty="0">
                          <a:ln>
                            <a:noFill/>
                          </a:ln>
                          <a:solidFill>
                            <a:srgbClr val="000000"/>
                          </a:solidFill>
                          <a:effectLst/>
                          <a:latin typeface="Times New Roman" pitchFamily="18" charset="0"/>
                          <a:ea typeface="宋体" charset="-122"/>
                        </a:rPr>
                        <a:t>用户使用；开发商维护</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797570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*软件工程的概念再理解</a:t>
            </a:r>
          </a:p>
        </p:txBody>
      </p:sp>
      <p:sp>
        <p:nvSpPr>
          <p:cNvPr id="5" name="内容占位符 4"/>
          <p:cNvSpPr>
            <a:spLocks noGrp="1"/>
          </p:cNvSpPr>
          <p:nvPr>
            <p:ph idx="1"/>
          </p:nvPr>
        </p:nvSpPr>
        <p:spPr>
          <a:xfrm>
            <a:off x="680321" y="2164080"/>
            <a:ext cx="10861439" cy="4030980"/>
          </a:xfrm>
        </p:spPr>
        <p:txBody>
          <a:bodyPr>
            <a:normAutofit/>
          </a:bodyPr>
          <a:lstStyle/>
          <a:p>
            <a:pPr>
              <a:lnSpc>
                <a:spcPct val="120000"/>
              </a:lnSpc>
              <a:spcBef>
                <a:spcPts val="600"/>
              </a:spcBef>
            </a:pPr>
            <a:r>
              <a:rPr lang="zh-CN" altLang="en-US" sz="2800" dirty="0"/>
              <a:t>从本质上讲，软件开发的创造性成分很大、发挥的余地也很大，很接近于艺术。从这点来看，它应该归于</a:t>
            </a:r>
            <a:r>
              <a:rPr lang="zh-CN" altLang="en-US" sz="2800" b="1" dirty="0">
                <a:solidFill>
                  <a:srgbClr val="FFFF00"/>
                </a:solidFill>
              </a:rPr>
              <a:t>工程和艺术之间</a:t>
            </a:r>
            <a:r>
              <a:rPr lang="zh-CN" altLang="en-US" sz="2800" dirty="0"/>
              <a:t>的某一点，并逐步向工程一端漂移，但很难发展到完全的工程。</a:t>
            </a:r>
          </a:p>
          <a:p>
            <a:pPr>
              <a:lnSpc>
                <a:spcPct val="120000"/>
              </a:lnSpc>
              <a:spcBef>
                <a:spcPts val="600"/>
              </a:spcBef>
            </a:pPr>
            <a:r>
              <a:rPr lang="zh-CN" altLang="en-US" sz="2800" dirty="0"/>
              <a:t>软件活动跨域两个世界：</a:t>
            </a:r>
            <a:r>
              <a:rPr lang="zh-CN" altLang="en-US" sz="2800" dirty="0">
                <a:solidFill>
                  <a:srgbClr val="FFFF00"/>
                </a:solidFill>
              </a:rPr>
              <a:t>问题（问题域、现实世界）</a:t>
            </a:r>
            <a:r>
              <a:rPr lang="zh-CN" altLang="en-US" sz="2800" dirty="0"/>
              <a:t>和</a:t>
            </a:r>
            <a:r>
              <a:rPr lang="zh-CN" altLang="en-US" sz="2800" dirty="0">
                <a:solidFill>
                  <a:srgbClr val="FFFF00"/>
                </a:solidFill>
              </a:rPr>
              <a:t>方案（求解域、计算机世界）</a:t>
            </a:r>
            <a:r>
              <a:rPr lang="zh-CN" altLang="en-US" sz="2800" dirty="0"/>
              <a:t>。</a:t>
            </a:r>
          </a:p>
          <a:p>
            <a:pPr>
              <a:lnSpc>
                <a:spcPct val="120000"/>
              </a:lnSpc>
              <a:spcBef>
                <a:spcPts val="600"/>
              </a:spcBef>
            </a:pPr>
            <a:r>
              <a:rPr lang="zh-CN" altLang="en-US" sz="2800" dirty="0"/>
              <a:t>软件工程的</a:t>
            </a:r>
            <a:r>
              <a:rPr lang="zh-CN" altLang="en-US" sz="2800" b="1" dirty="0">
                <a:solidFill>
                  <a:srgbClr val="FFFF00"/>
                </a:solidFill>
              </a:rPr>
              <a:t>重心</a:t>
            </a:r>
            <a:r>
              <a:rPr lang="zh-CN" altLang="en-US" sz="2800" dirty="0"/>
              <a:t>在方案，但</a:t>
            </a:r>
            <a:r>
              <a:rPr lang="zh-CN" altLang="en-US" sz="2800" dirty="0">
                <a:solidFill>
                  <a:srgbClr val="FFFF00"/>
                </a:solidFill>
              </a:rPr>
              <a:t>开始于</a:t>
            </a:r>
            <a:r>
              <a:rPr lang="zh-CN" altLang="en-US" sz="2800" dirty="0"/>
              <a:t>现实问题世界，并最后又</a:t>
            </a:r>
            <a:r>
              <a:rPr lang="zh-CN" altLang="en-US" sz="2800" dirty="0">
                <a:solidFill>
                  <a:srgbClr val="FFFF00"/>
                </a:solidFill>
              </a:rPr>
              <a:t>回到</a:t>
            </a:r>
            <a:r>
              <a:rPr lang="zh-CN" altLang="en-US" sz="2800" dirty="0"/>
              <a:t>问题世界接受实践的检验。</a:t>
            </a:r>
          </a:p>
        </p:txBody>
      </p:sp>
    </p:spTree>
    <p:extLst>
      <p:ext uri="{BB962C8B-B14F-4D97-AF65-F5344CB8AC3E}">
        <p14:creationId xmlns:p14="http://schemas.microsoft.com/office/powerpoint/2010/main" val="38915407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*软件项目的特点</a:t>
            </a:r>
          </a:p>
        </p:txBody>
      </p:sp>
      <p:sp>
        <p:nvSpPr>
          <p:cNvPr id="5" name="内容占位符 4"/>
          <p:cNvSpPr>
            <a:spLocks noGrp="1"/>
          </p:cNvSpPr>
          <p:nvPr>
            <p:ph idx="1"/>
          </p:nvPr>
        </p:nvSpPr>
        <p:spPr>
          <a:xfrm>
            <a:off x="868681" y="2225040"/>
            <a:ext cx="10454640" cy="4030980"/>
          </a:xfrm>
        </p:spPr>
        <p:txBody>
          <a:bodyPr>
            <a:normAutofit/>
          </a:bodyPr>
          <a:lstStyle/>
          <a:p>
            <a:pPr>
              <a:lnSpc>
                <a:spcPct val="120000"/>
              </a:lnSpc>
              <a:spcBef>
                <a:spcPts val="600"/>
              </a:spcBef>
            </a:pPr>
            <a:r>
              <a:rPr lang="zh-CN" altLang="en-US" sz="2600" b="1" dirty="0"/>
              <a:t>（</a:t>
            </a:r>
            <a:r>
              <a:rPr lang="en-US" altLang="zh-CN" sz="2600" b="1" dirty="0"/>
              <a:t>1</a:t>
            </a:r>
            <a:r>
              <a:rPr lang="zh-CN" altLang="en-US" sz="2600" b="1" dirty="0"/>
              <a:t>）每个项目都是新的，不是简单重复。</a:t>
            </a:r>
          </a:p>
          <a:p>
            <a:pPr marL="0" indent="0">
              <a:lnSpc>
                <a:spcPct val="120000"/>
              </a:lnSpc>
              <a:spcBef>
                <a:spcPts val="600"/>
              </a:spcBef>
              <a:buNone/>
            </a:pPr>
            <a:r>
              <a:rPr lang="zh-CN" altLang="en-US" sz="2600" b="1" dirty="0"/>
              <a:t>           </a:t>
            </a:r>
            <a:r>
              <a:rPr lang="zh-CN" altLang="en-US" b="1" dirty="0"/>
              <a:t>新的需求；新的技术实现手段；新的编程语言；新的部署方式</a:t>
            </a:r>
            <a:r>
              <a:rPr lang="en-US" altLang="zh-CN" b="1" dirty="0"/>
              <a:t>…</a:t>
            </a:r>
          </a:p>
          <a:p>
            <a:pPr>
              <a:lnSpc>
                <a:spcPct val="120000"/>
              </a:lnSpc>
              <a:spcBef>
                <a:spcPts val="600"/>
              </a:spcBef>
            </a:pPr>
            <a:r>
              <a:rPr lang="zh-CN" altLang="en-US" sz="2600" b="1" dirty="0"/>
              <a:t>（</a:t>
            </a:r>
            <a:r>
              <a:rPr lang="en-US" altLang="zh-CN" sz="2600" b="1" dirty="0"/>
              <a:t>2</a:t>
            </a:r>
            <a:r>
              <a:rPr lang="zh-CN" altLang="en-US" sz="2600" b="1" dirty="0"/>
              <a:t>）每个项目不变的只有“变化”这个事实本身。</a:t>
            </a:r>
          </a:p>
          <a:p>
            <a:pPr>
              <a:lnSpc>
                <a:spcPct val="120000"/>
              </a:lnSpc>
              <a:spcBef>
                <a:spcPts val="600"/>
              </a:spcBef>
            </a:pPr>
            <a:r>
              <a:rPr lang="zh-CN" altLang="en-US" sz="2600" b="1" dirty="0"/>
              <a:t>（</a:t>
            </a:r>
            <a:r>
              <a:rPr lang="en-US" altLang="zh-CN" sz="2600" b="1" dirty="0"/>
              <a:t>3</a:t>
            </a:r>
            <a:r>
              <a:rPr lang="zh-CN" altLang="en-US" sz="2600" b="1" dirty="0"/>
              <a:t>）软件项目一般胜算不大（预算超支、项目延期、中途搁浅</a:t>
            </a:r>
            <a:r>
              <a:rPr lang="en-US" altLang="zh-CN" sz="2600" b="1" dirty="0"/>
              <a:t>…</a:t>
            </a:r>
            <a:r>
              <a:rPr lang="zh-CN" altLang="en-US" sz="2600" b="1" dirty="0"/>
              <a:t>）。</a:t>
            </a:r>
            <a:endParaRPr lang="en-US" altLang="zh-CN" sz="2600" b="1" dirty="0"/>
          </a:p>
          <a:p>
            <a:pPr>
              <a:lnSpc>
                <a:spcPct val="120000"/>
              </a:lnSpc>
              <a:spcBef>
                <a:spcPts val="600"/>
              </a:spcBef>
            </a:pPr>
            <a:r>
              <a:rPr lang="zh-CN" altLang="en-US" sz="2600" b="1" dirty="0"/>
              <a:t>（</a:t>
            </a:r>
            <a:r>
              <a:rPr lang="en-US" altLang="zh-CN" sz="2600" b="1" dirty="0"/>
              <a:t>4</a:t>
            </a:r>
            <a:r>
              <a:rPr lang="zh-CN" altLang="en-US" sz="2600" b="1" dirty="0"/>
              <a:t>）通常是团队活动，生产力和人数不成正比。</a:t>
            </a:r>
          </a:p>
        </p:txBody>
      </p:sp>
    </p:spTree>
    <p:extLst>
      <p:ext uri="{BB962C8B-B14F-4D97-AF65-F5344CB8AC3E}">
        <p14:creationId xmlns:p14="http://schemas.microsoft.com/office/powerpoint/2010/main" val="2844603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体会</a:t>
            </a:r>
          </a:p>
        </p:txBody>
      </p:sp>
      <p:graphicFrame>
        <p:nvGraphicFramePr>
          <p:cNvPr id="4" name="表格 3"/>
          <p:cNvGraphicFramePr>
            <a:graphicFrameLocks noGrp="1"/>
          </p:cNvGraphicFramePr>
          <p:nvPr>
            <p:extLst>
              <p:ext uri="{D42A27DB-BD31-4B8C-83A1-F6EECF244321}">
                <p14:modId xmlns:p14="http://schemas.microsoft.com/office/powerpoint/2010/main" val="2024435208"/>
              </p:ext>
            </p:extLst>
          </p:nvPr>
        </p:nvGraphicFramePr>
        <p:xfrm>
          <a:off x="1893570" y="2372360"/>
          <a:ext cx="8477250" cy="3505836"/>
        </p:xfrm>
        <a:graphic>
          <a:graphicData uri="http://schemas.openxmlformats.org/drawingml/2006/table">
            <a:tbl>
              <a:tblPr/>
              <a:tblGrid>
                <a:gridCol w="3139722">
                  <a:extLst>
                    <a:ext uri="{9D8B030D-6E8A-4147-A177-3AD203B41FA5}">
                      <a16:colId xmlns:a16="http://schemas.microsoft.com/office/drawing/2014/main" val="20000"/>
                    </a:ext>
                  </a:extLst>
                </a:gridCol>
                <a:gridCol w="5337528">
                  <a:extLst>
                    <a:ext uri="{9D8B030D-6E8A-4147-A177-3AD203B41FA5}">
                      <a16:colId xmlns:a16="http://schemas.microsoft.com/office/drawing/2014/main" val="20001"/>
                    </a:ext>
                  </a:extLst>
                </a:gridCol>
              </a:tblGrid>
              <a:tr h="4649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1"/>
                          </a:solidFill>
                          <a:effectLst/>
                          <a:latin typeface="Times New Roman" pitchFamily="18" charset="0"/>
                          <a:ea typeface="宋体" charset="-122"/>
                        </a:rPr>
                        <a:t>滚雪球</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1"/>
                          </a:solidFill>
                          <a:effectLst/>
                          <a:latin typeface="Times New Roman" pitchFamily="18" charset="0"/>
                          <a:ea typeface="宋体" charset="-122"/>
                        </a:rPr>
                        <a:t>软件项目开发</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6499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Times New Roman" pitchFamily="18" charset="0"/>
                          <a:ea typeface="宋体" charset="-122"/>
                        </a:rPr>
                        <a:t>坚实内核作起点</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重视体系结构的规划和设计</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46499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从小到大慢慢来</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循序渐进的建造</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64005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Times New Roman" pitchFamily="18" charset="0"/>
                          <a:ea typeface="宋体" charset="-122"/>
                        </a:rPr>
                        <a:t>边滚边看边调整</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连续验证，对整个软件生产过程提供及时、可靠的信息反馈</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46499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Times New Roman" pitchFamily="18" charset="0"/>
                          <a:ea typeface="宋体" charset="-122"/>
                        </a:rPr>
                        <a:t>任何时候都近圆</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及早集成</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64005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a:ln>
                            <a:noFill/>
                          </a:ln>
                          <a:solidFill>
                            <a:srgbClr val="000000"/>
                          </a:solidFill>
                          <a:effectLst/>
                          <a:latin typeface="Times New Roman" pitchFamily="18" charset="0"/>
                          <a:ea typeface="宋体" charset="-122"/>
                        </a:rPr>
                        <a:t>早晚一天要崩溃</a:t>
                      </a: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itchFamily="18" charset="0"/>
                          <a:ea typeface="宋体" charset="-122"/>
                        </a:rPr>
                        <a:t>一个软件总有一天会寿终正寝，更新不如从头设计新系统</a:t>
                      </a:r>
                      <a:endParaRPr kumimoji="0" lang="en-US" altLang="zh-CN" sz="2400" b="0" i="0" u="none" strike="noStrike" cap="none" normalizeH="0" baseline="0" dirty="0">
                        <a:ln>
                          <a:noFill/>
                        </a:ln>
                        <a:solidFill>
                          <a:srgbClr val="000000"/>
                        </a:solidFill>
                        <a:effectLst/>
                        <a:latin typeface="Times New Roman" pitchFamily="18" charset="0"/>
                        <a:ea typeface="宋体" charset="-122"/>
                      </a:endParaRPr>
                    </a:p>
                  </a:txBody>
                  <a:tcPr marT="45707" marB="4570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196037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竖排标题 3"/>
          <p:cNvSpPr>
            <a:spLocks noGrp="1"/>
          </p:cNvSpPr>
          <p:nvPr>
            <p:ph type="title" orient="vert"/>
          </p:nvPr>
        </p:nvSpPr>
        <p:spPr/>
        <p:txBody>
          <a:bodyPr/>
          <a:lstStyle/>
          <a:p>
            <a:r>
              <a:rPr lang="zh-CN" altLang="en-US" dirty="0"/>
              <a:t>本  讲  结  束</a:t>
            </a:r>
          </a:p>
        </p:txBody>
      </p:sp>
    </p:spTree>
    <p:extLst>
      <p:ext uri="{BB962C8B-B14F-4D97-AF65-F5344CB8AC3E}">
        <p14:creationId xmlns:p14="http://schemas.microsoft.com/office/powerpoint/2010/main" val="2384469998"/>
      </p:ext>
    </p:extLst>
  </p:cSld>
  <p:clrMapOvr>
    <a:masterClrMapping/>
  </p:clrMapOvr>
</p:sld>
</file>

<file path=ppt/theme/theme1.xml><?xml version="1.0" encoding="utf-8"?>
<a:theme xmlns:a="http://schemas.openxmlformats.org/drawingml/2006/main" name="柏林">
  <a:themeElements>
    <a:clrScheme name="柏林">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柏林">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柏林">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TM04033917[[fn=柏林]]</Template>
  <TotalTime>10042</TotalTime>
  <Words>3785</Words>
  <Application>Microsoft Office PowerPoint</Application>
  <PresentationFormat>宽屏</PresentationFormat>
  <Paragraphs>382</Paragraphs>
  <Slides>45</Slides>
  <Notes>16</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45</vt:i4>
      </vt:variant>
    </vt:vector>
  </HeadingPairs>
  <TitlesOfParts>
    <vt:vector size="53" baseType="lpstr">
      <vt:lpstr>等线</vt:lpstr>
      <vt:lpstr>宋体</vt:lpstr>
      <vt:lpstr>Arial</vt:lpstr>
      <vt:lpstr>Times New Roman</vt:lpstr>
      <vt:lpstr>Trebuchet MS</vt:lpstr>
      <vt:lpstr>Verdana</vt:lpstr>
      <vt:lpstr>Wingdings</vt:lpstr>
      <vt:lpstr>柏林</vt:lpstr>
      <vt:lpstr>第一讲 软件危机与软件工程</vt:lpstr>
      <vt:lpstr>课程前言</vt:lpstr>
      <vt:lpstr>课程前言</vt:lpstr>
      <vt:lpstr>课程前言</vt:lpstr>
      <vt:lpstr>课程前言</vt:lpstr>
      <vt:lpstr>课程前言</vt:lpstr>
      <vt:lpstr>课程前言</vt:lpstr>
      <vt:lpstr>思考一个问题</vt:lpstr>
      <vt:lpstr>继续这个问题</vt:lpstr>
      <vt:lpstr>学习好软件工程，才能真正具备软件开发能力</vt:lpstr>
      <vt:lpstr>本讲主要内容</vt:lpstr>
      <vt:lpstr>初识软件工程</vt:lpstr>
      <vt:lpstr>一、工程</vt:lpstr>
      <vt:lpstr>一、工程</vt:lpstr>
      <vt:lpstr>再来看软件工程的定义</vt:lpstr>
      <vt:lpstr>本讲主要内容</vt:lpstr>
      <vt:lpstr>二、软件——定义</vt:lpstr>
      <vt:lpstr>二、软件——特点</vt:lpstr>
      <vt:lpstr>二、软件——计算机系统发展历程</vt:lpstr>
      <vt:lpstr>二、软件——计算机系统发展历程的根本变化</vt:lpstr>
      <vt:lpstr>二、软件——大致分类</vt:lpstr>
      <vt:lpstr>本讲主要内容</vt:lpstr>
      <vt:lpstr>三、软件危机</vt:lpstr>
      <vt:lpstr>三、软件危机——定义</vt:lpstr>
      <vt:lpstr>三、软件危机——典型表现</vt:lpstr>
      <vt:lpstr>三、软件危机——产生的原因</vt:lpstr>
      <vt:lpstr>PowerPoint 演示文稿</vt:lpstr>
      <vt:lpstr>*《人月神话》和《没有银弹》</vt:lpstr>
      <vt:lpstr>*《人月神话》和《没有银弹》</vt:lpstr>
      <vt:lpstr>本讲主要内容</vt:lpstr>
      <vt:lpstr>四、软件工程</vt:lpstr>
      <vt:lpstr>四、软件工程——七条基本定理</vt:lpstr>
      <vt:lpstr>四、软件工程——七条基本定理</vt:lpstr>
      <vt:lpstr>四、软件工程——框架</vt:lpstr>
      <vt:lpstr>四、软件工程——三要素</vt:lpstr>
      <vt:lpstr>四、软件工程——知识体系</vt:lpstr>
      <vt:lpstr>四、软件工程——软件开发方法（本学期主要学习内容）</vt:lpstr>
      <vt:lpstr>本讲主要内容结束</vt:lpstr>
      <vt:lpstr>*工程对比</vt:lpstr>
      <vt:lpstr>*工程对比</vt:lpstr>
      <vt:lpstr>*工程对比</vt:lpstr>
      <vt:lpstr>*软件工程的概念再理解</vt:lpstr>
      <vt:lpstr>*软件项目的特点</vt:lpstr>
      <vt:lpstr>体会</vt:lpstr>
      <vt:lpstr>本  讲  结  束</vt:lpstr>
    </vt:vector>
  </TitlesOfParts>
  <Company>cuc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第一讲 软件危机与软件工程</dc:title>
  <dc:creator>zhangchi</dc:creator>
  <cp:lastModifiedBy>zhch</cp:lastModifiedBy>
  <cp:revision>97</cp:revision>
  <dcterms:created xsi:type="dcterms:W3CDTF">2018-09-09T10:44:48Z</dcterms:created>
  <dcterms:modified xsi:type="dcterms:W3CDTF">2023-02-27T04:07:50Z</dcterms:modified>
</cp:coreProperties>
</file>
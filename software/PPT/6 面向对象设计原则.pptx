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49"/>
  </p:notesMasterIdLst>
  <p:sldIdLst>
    <p:sldId id="256" r:id="rId2"/>
    <p:sldId id="257" r:id="rId3"/>
    <p:sldId id="258" r:id="rId4"/>
    <p:sldId id="259" r:id="rId5"/>
    <p:sldId id="286" r:id="rId6"/>
    <p:sldId id="287" r:id="rId7"/>
    <p:sldId id="295" r:id="rId8"/>
    <p:sldId id="296" r:id="rId9"/>
    <p:sldId id="288" r:id="rId10"/>
    <p:sldId id="289" r:id="rId11"/>
    <p:sldId id="290" r:id="rId12"/>
    <p:sldId id="291" r:id="rId13"/>
    <p:sldId id="292" r:id="rId14"/>
    <p:sldId id="293" r:id="rId15"/>
    <p:sldId id="294" r:id="rId16"/>
    <p:sldId id="266" r:id="rId17"/>
    <p:sldId id="269" r:id="rId18"/>
    <p:sldId id="270" r:id="rId19"/>
    <p:sldId id="271" r:id="rId20"/>
    <p:sldId id="272" r:id="rId21"/>
    <p:sldId id="274" r:id="rId22"/>
    <p:sldId id="275" r:id="rId23"/>
    <p:sldId id="276" r:id="rId24"/>
    <p:sldId id="273" r:id="rId25"/>
    <p:sldId id="277" r:id="rId26"/>
    <p:sldId id="278" r:id="rId27"/>
    <p:sldId id="279" r:id="rId28"/>
    <p:sldId id="281" r:id="rId29"/>
    <p:sldId id="282" r:id="rId30"/>
    <p:sldId id="283" r:id="rId31"/>
    <p:sldId id="284" r:id="rId32"/>
    <p:sldId id="285" r:id="rId33"/>
    <p:sldId id="298" r:id="rId34"/>
    <p:sldId id="297" r:id="rId35"/>
    <p:sldId id="311" r:id="rId36"/>
    <p:sldId id="299" r:id="rId37"/>
    <p:sldId id="300" r:id="rId38"/>
    <p:sldId id="301" r:id="rId39"/>
    <p:sldId id="303" r:id="rId40"/>
    <p:sldId id="304" r:id="rId41"/>
    <p:sldId id="302" r:id="rId42"/>
    <p:sldId id="305" r:id="rId43"/>
    <p:sldId id="307" r:id="rId44"/>
    <p:sldId id="312" r:id="rId45"/>
    <p:sldId id="308" r:id="rId46"/>
    <p:sldId id="309" r:id="rId47"/>
    <p:sldId id="310"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0F0"/>
    <a:srgbClr val="F3F3F3"/>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502" autoAdjust="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F0E0F0-C4FB-43BE-9694-1952106F6C59}" type="datetimeFigureOut">
              <a:rPr lang="en-US" smtClean="0"/>
              <a:t>4/22/2021</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6661CD-B085-4967-B1C8-E5DE84058DC7}" type="slidenum">
              <a:rPr lang="en-US" smtClean="0"/>
              <a:t>‹#›</a:t>
            </a:fld>
            <a:endParaRPr lang="en-US"/>
          </a:p>
        </p:txBody>
      </p:sp>
    </p:spTree>
    <p:extLst>
      <p:ext uri="{BB962C8B-B14F-4D97-AF65-F5344CB8AC3E}">
        <p14:creationId xmlns:p14="http://schemas.microsoft.com/office/powerpoint/2010/main" val="4138283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40.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smtClean="0"/>
              <a:t>简单例子：下拉框</a:t>
            </a:r>
            <a:r>
              <a:rPr lang="en-US" altLang="zh-CN" sz="1200" dirty="0" smtClean="0">
                <a:sym typeface="Wingdings" panose="05000000000000000000" pitchFamily="2" charset="2"/>
              </a:rPr>
              <a:t></a:t>
            </a:r>
            <a:r>
              <a:rPr lang="zh-CN" altLang="en-US" sz="1200" dirty="0" smtClean="0">
                <a:sym typeface="Wingdings" panose="05000000000000000000" pitchFamily="2" charset="2"/>
              </a:rPr>
              <a:t>枚举绑定，而不是写死</a:t>
            </a:r>
            <a:endParaRPr lang="en-US" altLang="zh-CN" sz="1200" dirty="0" smtClean="0"/>
          </a:p>
          <a:p>
            <a:r>
              <a:rPr lang="zh-CN" altLang="en-US" sz="1200" dirty="0" smtClean="0"/>
              <a:t>“需求总是变化的。</a:t>
            </a:r>
            <a:r>
              <a:rPr lang="en-US" altLang="zh-CN" sz="1200" dirty="0" smtClean="0"/>
              <a:t>” </a:t>
            </a:r>
            <a:r>
              <a:rPr lang="zh-CN" altLang="en-US" sz="1200" dirty="0" smtClean="0"/>
              <a:t>拥抱变化似乎就是软件开发的真理之一。</a:t>
            </a:r>
            <a:r>
              <a:rPr lang="en-US" altLang="zh-CN" sz="1200" dirty="0" smtClean="0"/>
              <a:t> </a:t>
            </a:r>
            <a:r>
              <a:rPr lang="zh-CN" altLang="en-US" sz="1200" dirty="0" smtClean="0"/>
              <a:t>经常会有这样令人沮丧的情景出现：新的需求来了，对不起，我的代码设计必须大幅度推倒重来。</a:t>
            </a:r>
            <a:endParaRPr lang="en-US" altLang="zh-CN" sz="1200" dirty="0" smtClean="0"/>
          </a:p>
          <a:p>
            <a:r>
              <a:rPr lang="zh-CN" altLang="en-US" sz="1200" dirty="0" smtClean="0"/>
              <a:t>设计的坏味道让我们深受其害，那么怎样的设计才能面对需求的改变却可以保持相对稳定呢？针对这样的问题，</a:t>
            </a:r>
            <a:r>
              <a:rPr lang="en-US" altLang="zh-CN" sz="1200" dirty="0" smtClean="0"/>
              <a:t>OCP</a:t>
            </a:r>
            <a:r>
              <a:rPr lang="zh-CN" altLang="en-US" sz="1200" dirty="0" smtClean="0"/>
              <a:t>给了我们如下的建议：在发生变化的时候，不要修改类的源代码，要通过添加新代码来增强现有类的行为</a:t>
            </a:r>
            <a:endParaRPr lang="en-US" dirty="0"/>
          </a:p>
        </p:txBody>
      </p:sp>
      <p:sp>
        <p:nvSpPr>
          <p:cNvPr id="4" name="灯片编号占位符 3"/>
          <p:cNvSpPr>
            <a:spLocks noGrp="1"/>
          </p:cNvSpPr>
          <p:nvPr>
            <p:ph type="sldNum" sz="quarter" idx="10"/>
          </p:nvPr>
        </p:nvSpPr>
        <p:spPr/>
        <p:txBody>
          <a:bodyPr/>
          <a:lstStyle/>
          <a:p>
            <a:fld id="{B06661CD-B085-4967-B1C8-E5DE84058DC7}" type="slidenum">
              <a:rPr lang="en-US" smtClean="0"/>
              <a:t>6</a:t>
            </a:fld>
            <a:endParaRPr lang="en-US"/>
          </a:p>
        </p:txBody>
      </p:sp>
    </p:spTree>
    <p:extLst>
      <p:ext uri="{BB962C8B-B14F-4D97-AF65-F5344CB8AC3E}">
        <p14:creationId xmlns:p14="http://schemas.microsoft.com/office/powerpoint/2010/main" val="1984766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引入了抽象图表类</a:t>
            </a:r>
            <a:r>
              <a:rPr lang="en-US" altLang="zh-CN" sz="1200" b="0" i="0" kern="1200" dirty="0" err="1" smtClean="0">
                <a:solidFill>
                  <a:schemeClr val="tx1"/>
                </a:solidFill>
                <a:effectLst/>
                <a:latin typeface="+mn-lt"/>
                <a:ea typeface="+mn-ea"/>
                <a:cs typeface="+mn-cs"/>
              </a:rPr>
              <a:t>AbstractChart</a:t>
            </a:r>
            <a:r>
              <a:rPr lang="zh-CN" altLang="en-US" sz="1200" b="0" i="0" kern="1200" dirty="0" smtClean="0">
                <a:solidFill>
                  <a:schemeClr val="tx1"/>
                </a:solidFill>
                <a:effectLst/>
                <a:latin typeface="+mn-lt"/>
                <a:ea typeface="+mn-ea"/>
                <a:cs typeface="+mn-cs"/>
              </a:rPr>
              <a:t>，且</a:t>
            </a:r>
            <a:r>
              <a:rPr lang="en-US" altLang="zh-CN" sz="1200" b="0" i="0" kern="1200" dirty="0" err="1" smtClean="0">
                <a:solidFill>
                  <a:schemeClr val="tx1"/>
                </a:solidFill>
                <a:effectLst/>
                <a:latin typeface="+mn-lt"/>
                <a:ea typeface="+mn-ea"/>
                <a:cs typeface="+mn-cs"/>
              </a:rPr>
              <a:t>ChartDisplay</a:t>
            </a:r>
            <a:r>
              <a:rPr lang="zh-CN" altLang="en-US" sz="1200" b="0" i="0" kern="1200" dirty="0" smtClean="0">
                <a:solidFill>
                  <a:schemeClr val="tx1"/>
                </a:solidFill>
                <a:effectLst/>
                <a:latin typeface="+mn-lt"/>
                <a:ea typeface="+mn-ea"/>
                <a:cs typeface="+mn-cs"/>
              </a:rPr>
              <a:t>针对抽象图表类进行编程，并通过</a:t>
            </a:r>
            <a:r>
              <a:rPr lang="en-US" altLang="zh-CN" sz="1200" b="0" i="0" kern="1200" dirty="0" err="1" smtClean="0">
                <a:solidFill>
                  <a:schemeClr val="tx1"/>
                </a:solidFill>
                <a:effectLst/>
                <a:latin typeface="+mn-lt"/>
                <a:ea typeface="+mn-ea"/>
                <a:cs typeface="+mn-cs"/>
              </a:rPr>
              <a:t>setChart</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方法由客户端来设置实例化的具体图表对象，在</a:t>
            </a:r>
            <a:r>
              <a:rPr lang="en-US" altLang="zh-CN" sz="1200" b="0" i="0" kern="1200" dirty="0" err="1" smtClean="0">
                <a:solidFill>
                  <a:schemeClr val="tx1"/>
                </a:solidFill>
                <a:effectLst/>
                <a:latin typeface="+mn-lt"/>
                <a:ea typeface="+mn-ea"/>
                <a:cs typeface="+mn-cs"/>
              </a:rPr>
              <a:t>ChartDisplay</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display()</a:t>
            </a:r>
            <a:r>
              <a:rPr lang="zh-CN" altLang="en-US" sz="1200" b="0" i="0" kern="1200" dirty="0" smtClean="0">
                <a:solidFill>
                  <a:schemeClr val="tx1"/>
                </a:solidFill>
                <a:effectLst/>
                <a:latin typeface="+mn-lt"/>
                <a:ea typeface="+mn-ea"/>
                <a:cs typeface="+mn-cs"/>
              </a:rPr>
              <a:t>方法中调用</a:t>
            </a:r>
            <a:r>
              <a:rPr lang="en-US" altLang="zh-CN" sz="1200" b="0" i="0" kern="1200" dirty="0" smtClean="0">
                <a:solidFill>
                  <a:schemeClr val="tx1"/>
                </a:solidFill>
                <a:effectLst/>
                <a:latin typeface="+mn-lt"/>
                <a:ea typeface="+mn-ea"/>
                <a:cs typeface="+mn-cs"/>
              </a:rPr>
              <a:t>chart</a:t>
            </a:r>
            <a:r>
              <a:rPr lang="zh-CN" altLang="en-US" sz="1200" b="0" i="0" kern="1200" dirty="0" smtClean="0">
                <a:solidFill>
                  <a:schemeClr val="tx1"/>
                </a:solidFill>
                <a:effectLst/>
                <a:latin typeface="+mn-lt"/>
                <a:ea typeface="+mn-ea"/>
                <a:cs typeface="+mn-cs"/>
              </a:rPr>
              <a:t>对象的</a:t>
            </a:r>
            <a:r>
              <a:rPr lang="en-US" altLang="zh-CN" sz="1200" b="0" i="0" kern="1200" dirty="0" smtClean="0">
                <a:solidFill>
                  <a:schemeClr val="tx1"/>
                </a:solidFill>
                <a:effectLst/>
                <a:latin typeface="+mn-lt"/>
                <a:ea typeface="+mn-ea"/>
                <a:cs typeface="+mn-cs"/>
              </a:rPr>
              <a:t>display()</a:t>
            </a:r>
            <a:r>
              <a:rPr lang="zh-CN" altLang="en-US" sz="1200" b="0" i="0" kern="1200" dirty="0" smtClean="0">
                <a:solidFill>
                  <a:schemeClr val="tx1"/>
                </a:solidFill>
                <a:effectLst/>
                <a:latin typeface="+mn-lt"/>
                <a:ea typeface="+mn-ea"/>
                <a:cs typeface="+mn-cs"/>
              </a:rPr>
              <a:t>方法显示图表。如果需要增加一种新的图表，如折线图</a:t>
            </a:r>
            <a:r>
              <a:rPr lang="en-US" altLang="zh-CN" sz="1200" b="0" i="0" kern="1200" dirty="0" err="1" smtClean="0">
                <a:solidFill>
                  <a:schemeClr val="tx1"/>
                </a:solidFill>
                <a:effectLst/>
                <a:latin typeface="+mn-lt"/>
                <a:ea typeface="+mn-ea"/>
                <a:cs typeface="+mn-cs"/>
              </a:rPr>
              <a:t>LineChart</a:t>
            </a:r>
            <a:r>
              <a:rPr lang="zh-CN" altLang="en-US" sz="1200" b="0" i="0" kern="1200" dirty="0" smtClean="0">
                <a:solidFill>
                  <a:schemeClr val="tx1"/>
                </a:solidFill>
                <a:effectLst/>
                <a:latin typeface="+mn-lt"/>
                <a:ea typeface="+mn-ea"/>
                <a:cs typeface="+mn-cs"/>
              </a:rPr>
              <a:t>，只需要将</a:t>
            </a:r>
            <a:r>
              <a:rPr lang="en-US" altLang="zh-CN" sz="1200" b="0" i="0" kern="1200" dirty="0" err="1" smtClean="0">
                <a:solidFill>
                  <a:schemeClr val="tx1"/>
                </a:solidFill>
                <a:effectLst/>
                <a:latin typeface="+mn-lt"/>
                <a:ea typeface="+mn-ea"/>
                <a:cs typeface="+mn-cs"/>
              </a:rPr>
              <a:t>LineChart</a:t>
            </a:r>
            <a:r>
              <a:rPr lang="zh-CN" altLang="en-US" sz="1200" b="0" i="0" kern="1200" dirty="0" smtClean="0">
                <a:solidFill>
                  <a:schemeClr val="tx1"/>
                </a:solidFill>
                <a:effectLst/>
                <a:latin typeface="+mn-lt"/>
                <a:ea typeface="+mn-ea"/>
                <a:cs typeface="+mn-cs"/>
              </a:rPr>
              <a:t>也作为</a:t>
            </a:r>
            <a:r>
              <a:rPr lang="en-US" altLang="zh-CN" sz="1200" b="0" i="0" kern="1200" dirty="0" err="1" smtClean="0">
                <a:solidFill>
                  <a:schemeClr val="tx1"/>
                </a:solidFill>
                <a:effectLst/>
                <a:latin typeface="+mn-lt"/>
                <a:ea typeface="+mn-ea"/>
                <a:cs typeface="+mn-cs"/>
              </a:rPr>
              <a:t>AbstractChart</a:t>
            </a:r>
            <a:r>
              <a:rPr lang="zh-CN" altLang="en-US" sz="1200" b="0" i="0" kern="1200" dirty="0" smtClean="0">
                <a:solidFill>
                  <a:schemeClr val="tx1"/>
                </a:solidFill>
                <a:effectLst/>
                <a:latin typeface="+mn-lt"/>
                <a:ea typeface="+mn-ea"/>
                <a:cs typeface="+mn-cs"/>
              </a:rPr>
              <a:t>的子类，在客户端向</a:t>
            </a:r>
            <a:r>
              <a:rPr lang="en-US" altLang="zh-CN" sz="1200" b="0" i="0" kern="1200" dirty="0" err="1" smtClean="0">
                <a:solidFill>
                  <a:schemeClr val="tx1"/>
                </a:solidFill>
                <a:effectLst/>
                <a:latin typeface="+mn-lt"/>
                <a:ea typeface="+mn-ea"/>
                <a:cs typeface="+mn-cs"/>
              </a:rPr>
              <a:t>ChartDisplay</a:t>
            </a:r>
            <a:r>
              <a:rPr lang="zh-CN" altLang="en-US" sz="1200" b="0" i="0" kern="1200" dirty="0" smtClean="0">
                <a:solidFill>
                  <a:schemeClr val="tx1"/>
                </a:solidFill>
                <a:effectLst/>
                <a:latin typeface="+mn-lt"/>
                <a:ea typeface="+mn-ea"/>
                <a:cs typeface="+mn-cs"/>
              </a:rPr>
              <a:t>中注入一个</a:t>
            </a:r>
            <a:r>
              <a:rPr lang="en-US" altLang="zh-CN" sz="1200" b="0" i="0" kern="1200" dirty="0" err="1" smtClean="0">
                <a:solidFill>
                  <a:schemeClr val="tx1"/>
                </a:solidFill>
                <a:effectLst/>
                <a:latin typeface="+mn-lt"/>
                <a:ea typeface="+mn-ea"/>
                <a:cs typeface="+mn-cs"/>
              </a:rPr>
              <a:t>LineChart</a:t>
            </a:r>
            <a:r>
              <a:rPr lang="zh-CN" altLang="en-US" sz="1200" b="0" i="0" kern="1200" dirty="0" smtClean="0">
                <a:solidFill>
                  <a:schemeClr val="tx1"/>
                </a:solidFill>
                <a:effectLst/>
                <a:latin typeface="+mn-lt"/>
                <a:ea typeface="+mn-ea"/>
                <a:cs typeface="+mn-cs"/>
              </a:rPr>
              <a:t>对象即可，无须修改现有类库的源代码。     </a:t>
            </a:r>
          </a:p>
          <a:p>
            <a:r>
              <a:rPr lang="zh-CN" altLang="en-US" sz="1200" b="0" i="0" kern="1200" dirty="0" smtClean="0">
                <a:solidFill>
                  <a:schemeClr val="tx1"/>
                </a:solidFill>
                <a:effectLst/>
                <a:latin typeface="+mn-lt"/>
                <a:ea typeface="+mn-ea"/>
                <a:cs typeface="+mn-cs"/>
              </a:rPr>
              <a:t>       注意：因为</a:t>
            </a:r>
            <a:r>
              <a:rPr lang="en-US" altLang="zh-CN" sz="1200" b="0" i="0" kern="1200" dirty="0" smtClean="0">
                <a:solidFill>
                  <a:schemeClr val="tx1"/>
                </a:solidFill>
                <a:effectLst/>
                <a:latin typeface="+mn-lt"/>
                <a:ea typeface="+mn-ea"/>
                <a:cs typeface="+mn-cs"/>
              </a:rPr>
              <a:t>xml</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properties</a:t>
            </a:r>
            <a:r>
              <a:rPr lang="zh-CN" altLang="en-US" sz="1200" b="0" i="0" kern="1200" dirty="0" smtClean="0">
                <a:solidFill>
                  <a:schemeClr val="tx1"/>
                </a:solidFill>
                <a:effectLst/>
                <a:latin typeface="+mn-lt"/>
                <a:ea typeface="+mn-ea"/>
                <a:cs typeface="+mn-cs"/>
              </a:rPr>
              <a:t>等格式的配置文件是纯文本文件，可以直接通过</a:t>
            </a:r>
            <a:r>
              <a:rPr lang="en-US" altLang="zh-CN" sz="1200" b="0" i="0" kern="1200" dirty="0" smtClean="0">
                <a:solidFill>
                  <a:schemeClr val="tx1"/>
                </a:solidFill>
                <a:effectLst/>
                <a:latin typeface="+mn-lt"/>
                <a:ea typeface="+mn-ea"/>
                <a:cs typeface="+mn-cs"/>
              </a:rPr>
              <a:t>VI</a:t>
            </a:r>
            <a:r>
              <a:rPr lang="zh-CN" altLang="en-US" sz="1200" b="0" i="0" kern="1200" dirty="0" smtClean="0">
                <a:solidFill>
                  <a:schemeClr val="tx1"/>
                </a:solidFill>
                <a:effectLst/>
                <a:latin typeface="+mn-lt"/>
                <a:ea typeface="+mn-ea"/>
                <a:cs typeface="+mn-cs"/>
              </a:rPr>
              <a:t>编辑器或记事本进行编辑，且无须编译，因此在软件开发中，一般不把对配置文件的修改认为是对系统源代码的修改。如果一个系统在扩展时只涉及到修改配置文件，而原有的</a:t>
            </a:r>
            <a:r>
              <a:rPr lang="en-US" altLang="zh-CN" sz="1200" b="0" i="0" kern="1200" dirty="0" smtClean="0">
                <a:solidFill>
                  <a:schemeClr val="tx1"/>
                </a:solidFill>
                <a:effectLst/>
                <a:latin typeface="+mn-lt"/>
                <a:ea typeface="+mn-ea"/>
                <a:cs typeface="+mn-cs"/>
              </a:rPr>
              <a:t>Java</a:t>
            </a:r>
            <a:r>
              <a:rPr lang="zh-CN" altLang="en-US" sz="1200" b="0" i="0" kern="1200" dirty="0" smtClean="0">
                <a:solidFill>
                  <a:schemeClr val="tx1"/>
                </a:solidFill>
                <a:effectLst/>
                <a:latin typeface="+mn-lt"/>
                <a:ea typeface="+mn-ea"/>
                <a:cs typeface="+mn-cs"/>
              </a:rPr>
              <a:t>代码或</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代码没有做任何修改，该系统即可认为是一个符合开闭原则的系统。</a:t>
            </a:r>
          </a:p>
          <a:p>
            <a:endParaRPr lang="en-US" dirty="0"/>
          </a:p>
        </p:txBody>
      </p:sp>
      <p:sp>
        <p:nvSpPr>
          <p:cNvPr id="4" name="灯片编号占位符 3"/>
          <p:cNvSpPr>
            <a:spLocks noGrp="1"/>
          </p:cNvSpPr>
          <p:nvPr>
            <p:ph type="sldNum" sz="quarter" idx="10"/>
          </p:nvPr>
        </p:nvSpPr>
        <p:spPr/>
        <p:txBody>
          <a:bodyPr/>
          <a:lstStyle/>
          <a:p>
            <a:fld id="{B06661CD-B085-4967-B1C8-E5DE84058DC7}" type="slidenum">
              <a:rPr lang="en-US" smtClean="0"/>
              <a:t>8</a:t>
            </a:fld>
            <a:endParaRPr lang="en-US"/>
          </a:p>
        </p:txBody>
      </p:sp>
    </p:spTree>
    <p:extLst>
      <p:ext uri="{BB962C8B-B14F-4D97-AF65-F5344CB8AC3E}">
        <p14:creationId xmlns:p14="http://schemas.microsoft.com/office/powerpoint/2010/main" val="999978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注意：因为</a:t>
            </a:r>
            <a:r>
              <a:rPr lang="en-US" altLang="zh-CN" sz="1200" b="0" i="0" kern="1200" dirty="0" smtClean="0">
                <a:solidFill>
                  <a:schemeClr val="tx1"/>
                </a:solidFill>
                <a:effectLst/>
                <a:latin typeface="+mn-lt"/>
                <a:ea typeface="+mn-ea"/>
                <a:cs typeface="+mn-cs"/>
              </a:rPr>
              <a:t>xml</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properties</a:t>
            </a:r>
            <a:r>
              <a:rPr lang="zh-CN" altLang="en-US" sz="1200" b="0" i="0" kern="1200" dirty="0" smtClean="0">
                <a:solidFill>
                  <a:schemeClr val="tx1"/>
                </a:solidFill>
                <a:effectLst/>
                <a:latin typeface="+mn-lt"/>
                <a:ea typeface="+mn-ea"/>
                <a:cs typeface="+mn-cs"/>
              </a:rPr>
              <a:t>等格式的配置文件是纯文本文件，可以直接通过</a:t>
            </a:r>
            <a:r>
              <a:rPr lang="en-US" altLang="zh-CN" sz="1200" b="0" i="0" kern="1200" dirty="0" smtClean="0">
                <a:solidFill>
                  <a:schemeClr val="tx1"/>
                </a:solidFill>
                <a:effectLst/>
                <a:latin typeface="+mn-lt"/>
                <a:ea typeface="+mn-ea"/>
                <a:cs typeface="+mn-cs"/>
              </a:rPr>
              <a:t>VI</a:t>
            </a:r>
            <a:r>
              <a:rPr lang="zh-CN" altLang="en-US" sz="1200" b="0" i="0" kern="1200" dirty="0" smtClean="0">
                <a:solidFill>
                  <a:schemeClr val="tx1"/>
                </a:solidFill>
                <a:effectLst/>
                <a:latin typeface="+mn-lt"/>
                <a:ea typeface="+mn-ea"/>
                <a:cs typeface="+mn-cs"/>
              </a:rPr>
              <a:t>编辑器或记事本进行编辑，且无须编译，因此在软件开发中，一般不把对配置文件的修改认为是对系统源代码的修改。如果一个系统在扩展时只涉及到修改配置文件，而原有的</a:t>
            </a:r>
            <a:r>
              <a:rPr lang="en-US" altLang="zh-CN" sz="1200" b="0" i="0" kern="1200" dirty="0" smtClean="0">
                <a:solidFill>
                  <a:schemeClr val="tx1"/>
                </a:solidFill>
                <a:effectLst/>
                <a:latin typeface="+mn-lt"/>
                <a:ea typeface="+mn-ea"/>
                <a:cs typeface="+mn-cs"/>
              </a:rPr>
              <a:t>Java</a:t>
            </a:r>
            <a:r>
              <a:rPr lang="zh-CN" altLang="en-US" sz="1200" b="0" i="0" kern="1200" dirty="0" smtClean="0">
                <a:solidFill>
                  <a:schemeClr val="tx1"/>
                </a:solidFill>
                <a:effectLst/>
                <a:latin typeface="+mn-lt"/>
                <a:ea typeface="+mn-ea"/>
                <a:cs typeface="+mn-cs"/>
              </a:rPr>
              <a:t>代码或</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代码没有做任何修改，该系统即可认为是一个符合开闭原则的系统。</a:t>
            </a:r>
          </a:p>
        </p:txBody>
      </p:sp>
      <p:sp>
        <p:nvSpPr>
          <p:cNvPr id="4" name="灯片编号占位符 3"/>
          <p:cNvSpPr>
            <a:spLocks noGrp="1"/>
          </p:cNvSpPr>
          <p:nvPr>
            <p:ph type="sldNum" sz="quarter" idx="10"/>
          </p:nvPr>
        </p:nvSpPr>
        <p:spPr/>
        <p:txBody>
          <a:bodyPr/>
          <a:lstStyle/>
          <a:p>
            <a:fld id="{B06661CD-B085-4967-B1C8-E5DE84058DC7}" type="slidenum">
              <a:rPr lang="en-US" smtClean="0"/>
              <a:t>9</a:t>
            </a:fld>
            <a:endParaRPr lang="en-US"/>
          </a:p>
        </p:txBody>
      </p:sp>
    </p:spTree>
    <p:extLst>
      <p:ext uri="{BB962C8B-B14F-4D97-AF65-F5344CB8AC3E}">
        <p14:creationId xmlns:p14="http://schemas.microsoft.com/office/powerpoint/2010/main" val="3088467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fld id="{084BEE2A-0F7E-48C4-BE43-76B3A74F1762}" type="slidenum">
              <a:rPr lang="en-US" altLang="zh-CN" sz="1200"/>
              <a:pPr/>
              <a:t>10</a:t>
            </a:fld>
            <a:endParaRPr lang="en-US" altLang="zh-CN" sz="120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r>
              <a:rPr lang="zh-CN" altLang="en-US" smtClean="0"/>
              <a:t>我们以收音机的例子为例，我们收听节目时需要打开收音机电源，对准电台频率和进行音量调节。但是对于不同的收音机，实现这三个步骤的细节往往有所不同。比如自动收缩电台的收音机和按钮式收缩在操作细节上并不相同。因此，我们不太可能针对每种不同类型的收音机通过一个收音机类来实现（通过重载）这些不同的操作方式。但是我们可以定义一个收音机接口，提供开机、关机、增加频率、降低频率、增加音量、降低音量六个抽象方法。不同的收音机继承并实现这六个抽象方法。这样新增收音机类型不会影响其它原有的收音机类型，收音机类型扩展极为方便。此外，已存在的收音机类型在修改其操作方法时也不会影响到其它类型的收音机。</a:t>
            </a:r>
          </a:p>
        </p:txBody>
      </p:sp>
    </p:spTree>
    <p:extLst>
      <p:ext uri="{BB962C8B-B14F-4D97-AF65-F5344CB8AC3E}">
        <p14:creationId xmlns:p14="http://schemas.microsoft.com/office/powerpoint/2010/main" val="2609312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举例：学校收发室，只需要告诉转送的人这个是哪里的信（是</a:t>
            </a:r>
            <a:r>
              <a:rPr lang="en-US" altLang="zh-CN" sz="1200" b="0" i="0" kern="1200" dirty="0" smtClean="0">
                <a:solidFill>
                  <a:schemeClr val="tx1"/>
                </a:solidFill>
                <a:effectLst/>
                <a:latin typeface="+mn-lt"/>
                <a:ea typeface="+mn-ea"/>
                <a:cs typeface="+mn-cs"/>
              </a:rPr>
              <a:t>common</a:t>
            </a:r>
            <a:r>
              <a:rPr lang="zh-CN" altLang="en-US" sz="1200" b="0" i="0" kern="1200" dirty="0" smtClean="0">
                <a:solidFill>
                  <a:schemeClr val="tx1"/>
                </a:solidFill>
                <a:effectLst/>
                <a:latin typeface="+mn-lt"/>
                <a:ea typeface="+mn-ea"/>
                <a:cs typeface="+mn-cs"/>
              </a:rPr>
              <a:t>还是</a:t>
            </a:r>
            <a:r>
              <a:rPr lang="en-US" altLang="zh-CN" sz="1200" b="0" i="0" kern="1200" dirty="0" err="1" smtClean="0">
                <a:solidFill>
                  <a:schemeClr val="tx1"/>
                </a:solidFill>
                <a:effectLst/>
                <a:latin typeface="+mn-lt"/>
                <a:ea typeface="+mn-ea"/>
                <a:cs typeface="+mn-cs"/>
              </a:rPr>
              <a:t>vip</a:t>
            </a:r>
            <a:r>
              <a:rPr lang="zh-CN" altLang="en-US" sz="1200" b="0" i="0" kern="1200" dirty="0" smtClean="0">
                <a:solidFill>
                  <a:schemeClr val="tx1"/>
                </a:solidFill>
                <a:effectLst/>
                <a:latin typeface="+mn-lt"/>
                <a:ea typeface="+mn-ea"/>
                <a:cs typeface="+mn-cs"/>
              </a:rPr>
              <a:t>），甚至这个“哪里”都不是收发室明说的，而是运行时自动变化的。</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增加一个新的抽象客户类</a:t>
            </a:r>
            <a:r>
              <a:rPr lang="en-US" altLang="zh-CN" sz="1200" b="0" i="0" kern="1200" dirty="0" smtClean="0">
                <a:solidFill>
                  <a:schemeClr val="tx1"/>
                </a:solidFill>
                <a:effectLst/>
                <a:latin typeface="+mn-lt"/>
                <a:ea typeface="+mn-ea"/>
                <a:cs typeface="+mn-cs"/>
              </a:rPr>
              <a:t>Customer</a:t>
            </a:r>
            <a:r>
              <a:rPr lang="zh-CN" altLang="en-US" sz="1200" b="0" i="0" kern="1200" dirty="0" smtClean="0">
                <a:solidFill>
                  <a:schemeClr val="tx1"/>
                </a:solidFill>
                <a:effectLst/>
                <a:latin typeface="+mn-lt"/>
                <a:ea typeface="+mn-ea"/>
                <a:cs typeface="+mn-cs"/>
              </a:rPr>
              <a:t>，而将</a:t>
            </a:r>
            <a:r>
              <a:rPr lang="en-US" altLang="zh-CN" sz="1200" b="0" i="0" kern="1200" dirty="0" err="1" smtClean="0">
                <a:solidFill>
                  <a:schemeClr val="tx1"/>
                </a:solidFill>
                <a:effectLst/>
                <a:latin typeface="+mn-lt"/>
                <a:ea typeface="+mn-ea"/>
                <a:cs typeface="+mn-cs"/>
              </a:rPr>
              <a:t>CommonCustomer</a:t>
            </a:r>
            <a:r>
              <a:rPr lang="zh-CN" altLang="en-US" sz="1200" b="0" i="0" kern="1200" dirty="0" smtClean="0">
                <a:solidFill>
                  <a:schemeClr val="tx1"/>
                </a:solidFill>
                <a:effectLst/>
                <a:latin typeface="+mn-lt"/>
                <a:ea typeface="+mn-ea"/>
                <a:cs typeface="+mn-cs"/>
              </a:rPr>
              <a:t>和</a:t>
            </a:r>
            <a:r>
              <a:rPr lang="en-US" altLang="zh-CN" sz="1200" b="0" i="0" kern="1200" dirty="0" err="1" smtClean="0">
                <a:solidFill>
                  <a:schemeClr val="tx1"/>
                </a:solidFill>
                <a:effectLst/>
                <a:latin typeface="+mn-lt"/>
                <a:ea typeface="+mn-ea"/>
                <a:cs typeface="+mn-cs"/>
              </a:rPr>
              <a:t>VIPCustomer</a:t>
            </a:r>
            <a:r>
              <a:rPr lang="zh-CN" altLang="en-US" sz="1200" b="0" i="0" kern="1200" dirty="0" smtClean="0">
                <a:solidFill>
                  <a:schemeClr val="tx1"/>
                </a:solidFill>
                <a:effectLst/>
                <a:latin typeface="+mn-lt"/>
                <a:ea typeface="+mn-ea"/>
                <a:cs typeface="+mn-cs"/>
              </a:rPr>
              <a:t>类作为其子类，邮件发送类</a:t>
            </a:r>
            <a:r>
              <a:rPr lang="en-US" altLang="zh-CN" sz="1200" b="0" i="0" kern="1200" dirty="0" err="1" smtClean="0">
                <a:solidFill>
                  <a:schemeClr val="tx1"/>
                </a:solidFill>
                <a:effectLst/>
                <a:latin typeface="+mn-lt"/>
                <a:ea typeface="+mn-ea"/>
                <a:cs typeface="+mn-cs"/>
              </a:rPr>
              <a:t>EmailSender</a:t>
            </a:r>
            <a:r>
              <a:rPr lang="zh-CN" altLang="en-US" sz="1200" b="0" i="0" kern="1200" dirty="0" smtClean="0">
                <a:solidFill>
                  <a:schemeClr val="tx1"/>
                </a:solidFill>
                <a:effectLst/>
                <a:latin typeface="+mn-lt"/>
                <a:ea typeface="+mn-ea"/>
                <a:cs typeface="+mn-cs"/>
              </a:rPr>
              <a:t>类针对抽象客户类</a:t>
            </a:r>
            <a:r>
              <a:rPr lang="en-US" altLang="zh-CN" sz="1200" b="0" i="0" kern="1200" dirty="0" smtClean="0">
                <a:solidFill>
                  <a:schemeClr val="tx1"/>
                </a:solidFill>
                <a:effectLst/>
                <a:latin typeface="+mn-lt"/>
                <a:ea typeface="+mn-ea"/>
                <a:cs typeface="+mn-cs"/>
              </a:rPr>
              <a:t>Customer</a:t>
            </a:r>
            <a:r>
              <a:rPr lang="zh-CN" altLang="en-US" sz="1200" b="0" i="0" kern="1200" dirty="0" smtClean="0">
                <a:solidFill>
                  <a:schemeClr val="tx1"/>
                </a:solidFill>
                <a:effectLst/>
                <a:latin typeface="+mn-lt"/>
                <a:ea typeface="+mn-ea"/>
                <a:cs typeface="+mn-cs"/>
              </a:rPr>
              <a:t>编程，根据里氏代换原则，能够接受基类对象的地方必然能够接受子类对象，因此将</a:t>
            </a:r>
            <a:r>
              <a:rPr lang="en-US" altLang="zh-CN" sz="1200" b="0" i="0" kern="1200" dirty="0" err="1" smtClean="0">
                <a:solidFill>
                  <a:schemeClr val="tx1"/>
                </a:solidFill>
                <a:effectLst/>
                <a:latin typeface="+mn-lt"/>
                <a:ea typeface="+mn-ea"/>
                <a:cs typeface="+mn-cs"/>
              </a:rPr>
              <a:t>EmailSender</a:t>
            </a:r>
            <a:r>
              <a:rPr lang="zh-CN" altLang="en-US" sz="1200" b="0" i="0" kern="1200" dirty="0" smtClean="0">
                <a:solidFill>
                  <a:schemeClr val="tx1"/>
                </a:solidFill>
                <a:effectLst/>
                <a:latin typeface="+mn-lt"/>
                <a:ea typeface="+mn-ea"/>
                <a:cs typeface="+mn-cs"/>
              </a:rPr>
              <a:t>中的</a:t>
            </a:r>
            <a:r>
              <a:rPr lang="en-US" altLang="zh-CN" sz="1200" b="0" i="0" kern="1200" dirty="0" smtClean="0">
                <a:solidFill>
                  <a:schemeClr val="tx1"/>
                </a:solidFill>
                <a:effectLst/>
                <a:latin typeface="+mn-lt"/>
                <a:ea typeface="+mn-ea"/>
                <a:cs typeface="+mn-cs"/>
              </a:rPr>
              <a:t>send()</a:t>
            </a:r>
            <a:r>
              <a:rPr lang="zh-CN" altLang="en-US" sz="1200" b="0" i="0" kern="1200" dirty="0" smtClean="0">
                <a:solidFill>
                  <a:schemeClr val="tx1"/>
                </a:solidFill>
                <a:effectLst/>
                <a:latin typeface="+mn-lt"/>
                <a:ea typeface="+mn-ea"/>
                <a:cs typeface="+mn-cs"/>
              </a:rPr>
              <a:t>方法的参数类型改为</a:t>
            </a:r>
            <a:r>
              <a:rPr lang="en-US" altLang="zh-CN" sz="1200" b="0" i="0" kern="1200" dirty="0" smtClean="0">
                <a:solidFill>
                  <a:schemeClr val="tx1"/>
                </a:solidFill>
                <a:effectLst/>
                <a:latin typeface="+mn-lt"/>
                <a:ea typeface="+mn-ea"/>
                <a:cs typeface="+mn-cs"/>
              </a:rPr>
              <a:t>Customer</a:t>
            </a:r>
            <a:r>
              <a:rPr lang="zh-CN" altLang="en-US" sz="1200" b="0" i="0" kern="1200" dirty="0" smtClean="0">
                <a:solidFill>
                  <a:schemeClr val="tx1"/>
                </a:solidFill>
                <a:effectLst/>
                <a:latin typeface="+mn-lt"/>
                <a:ea typeface="+mn-ea"/>
                <a:cs typeface="+mn-cs"/>
              </a:rPr>
              <a:t>，如果需要增加新类型的客户，只需将其作为</a:t>
            </a:r>
            <a:r>
              <a:rPr lang="en-US" altLang="zh-CN" sz="1200" b="0" i="0" kern="1200" dirty="0" smtClean="0">
                <a:solidFill>
                  <a:schemeClr val="tx1"/>
                </a:solidFill>
                <a:effectLst/>
                <a:latin typeface="+mn-lt"/>
                <a:ea typeface="+mn-ea"/>
                <a:cs typeface="+mn-cs"/>
              </a:rPr>
              <a:t>Customer</a:t>
            </a:r>
            <a:r>
              <a:rPr lang="zh-CN" altLang="en-US" sz="1200" b="0" i="0" kern="1200" dirty="0" smtClean="0">
                <a:solidFill>
                  <a:schemeClr val="tx1"/>
                </a:solidFill>
                <a:effectLst/>
                <a:latin typeface="+mn-lt"/>
                <a:ea typeface="+mn-ea"/>
                <a:cs typeface="+mn-cs"/>
              </a:rPr>
              <a:t>类的子类即可。</a:t>
            </a:r>
            <a:endParaRPr lang="en-US" dirty="0"/>
          </a:p>
        </p:txBody>
      </p:sp>
      <p:sp>
        <p:nvSpPr>
          <p:cNvPr id="4" name="灯片编号占位符 3"/>
          <p:cNvSpPr>
            <a:spLocks noGrp="1"/>
          </p:cNvSpPr>
          <p:nvPr>
            <p:ph type="sldNum" sz="quarter" idx="10"/>
          </p:nvPr>
        </p:nvSpPr>
        <p:spPr/>
        <p:txBody>
          <a:bodyPr/>
          <a:lstStyle/>
          <a:p>
            <a:fld id="{B06661CD-B085-4967-B1C8-E5DE84058DC7}" type="slidenum">
              <a:rPr lang="en-US" smtClean="0"/>
              <a:t>19</a:t>
            </a:fld>
            <a:endParaRPr lang="en-US"/>
          </a:p>
        </p:txBody>
      </p:sp>
    </p:spTree>
    <p:extLst>
      <p:ext uri="{BB962C8B-B14F-4D97-AF65-F5344CB8AC3E}">
        <p14:creationId xmlns:p14="http://schemas.microsoft.com/office/powerpoint/2010/main" val="2312221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依赖于实现：就类似于收发室知道具体跑腿的人是谁，收发室还要和他联系。将来多了几个学院，还要告诉收发室，其实收发室仅仅是各中转站。具体跑腿送是一个专门的部门。</a:t>
            </a:r>
            <a:endParaRPr lang="en-US" altLang="zh-CN" dirty="0" smtClean="0"/>
          </a:p>
          <a:p>
            <a:r>
              <a:rPr lang="zh-CN" altLang="en-US" dirty="0" smtClean="0"/>
              <a:t>收发室可能仅仅负责分类：比如挂号信、包裹、普通信件。。。</a:t>
            </a:r>
            <a:endParaRPr lang="zh-CN" altLang="en-US" dirty="0"/>
          </a:p>
        </p:txBody>
      </p:sp>
      <p:sp>
        <p:nvSpPr>
          <p:cNvPr id="4" name="灯片编号占位符 3"/>
          <p:cNvSpPr>
            <a:spLocks noGrp="1"/>
          </p:cNvSpPr>
          <p:nvPr>
            <p:ph type="sldNum" sz="quarter" idx="10"/>
          </p:nvPr>
        </p:nvSpPr>
        <p:spPr/>
        <p:txBody>
          <a:bodyPr/>
          <a:lstStyle/>
          <a:p>
            <a:fld id="{B06661CD-B085-4967-B1C8-E5DE84058DC7}" type="slidenum">
              <a:rPr lang="en-US" smtClean="0"/>
              <a:t>20</a:t>
            </a:fld>
            <a:endParaRPr lang="en-US"/>
          </a:p>
        </p:txBody>
      </p:sp>
    </p:spTree>
    <p:extLst>
      <p:ext uri="{BB962C8B-B14F-4D97-AF65-F5344CB8AC3E}">
        <p14:creationId xmlns:p14="http://schemas.microsoft.com/office/powerpoint/2010/main" val="1675293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fld id="{B366BB48-CC56-4493-BBD8-EF01FA3AB491}" type="slidenum">
              <a:rPr lang="en-US" altLang="zh-CN" sz="1200"/>
              <a:pPr/>
              <a:t>21</a:t>
            </a:fld>
            <a:endParaRPr lang="en-US" altLang="zh-CN" sz="12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spcBef>
                <a:spcPct val="50000"/>
              </a:spcBef>
            </a:pPr>
            <a:r>
              <a:rPr lang="en-US" altLang="zh-CN" dirty="0" smtClean="0"/>
              <a:t> </a:t>
            </a:r>
            <a:r>
              <a:rPr lang="zh-CN" altLang="en-US" dirty="0" smtClean="0"/>
              <a:t>某系统提供一个数据转换模块，可以将来自不同数据源的数据转换成多种格式，如可以转换来自数据库的数据</a:t>
            </a:r>
            <a:r>
              <a:rPr lang="en-US" altLang="zh-CN" dirty="0" smtClean="0"/>
              <a:t>(</a:t>
            </a:r>
            <a:r>
              <a:rPr lang="en-US" altLang="zh-CN" dirty="0" err="1" smtClean="0"/>
              <a:t>DatabaseSource</a:t>
            </a:r>
            <a:r>
              <a:rPr lang="en-US" altLang="zh-CN" dirty="0" smtClean="0"/>
              <a:t>)</a:t>
            </a:r>
            <a:r>
              <a:rPr lang="zh-CN" altLang="en-US" dirty="0" smtClean="0"/>
              <a:t>、也可以转换来自文本文件的数据</a:t>
            </a:r>
            <a:r>
              <a:rPr lang="en-US" altLang="zh-CN" dirty="0" smtClean="0"/>
              <a:t>(</a:t>
            </a:r>
            <a:r>
              <a:rPr lang="en-US" altLang="zh-CN" dirty="0" err="1" smtClean="0"/>
              <a:t>TextSource</a:t>
            </a:r>
            <a:r>
              <a:rPr lang="en-US" altLang="zh-CN" dirty="0" smtClean="0"/>
              <a:t>)</a:t>
            </a:r>
            <a:r>
              <a:rPr lang="zh-CN" altLang="en-US" dirty="0" smtClean="0"/>
              <a:t>，转换后的格式可以是</a:t>
            </a:r>
            <a:r>
              <a:rPr lang="en-US" altLang="zh-CN" dirty="0" smtClean="0"/>
              <a:t>XML</a:t>
            </a:r>
            <a:r>
              <a:rPr lang="zh-CN" altLang="en-US" dirty="0" smtClean="0"/>
              <a:t>文件</a:t>
            </a:r>
            <a:r>
              <a:rPr lang="en-US" altLang="zh-CN" dirty="0" smtClean="0"/>
              <a:t>(</a:t>
            </a:r>
            <a:r>
              <a:rPr lang="en-US" altLang="zh-CN" dirty="0" err="1" smtClean="0"/>
              <a:t>XMLTransformer</a:t>
            </a:r>
            <a:r>
              <a:rPr lang="en-US" altLang="zh-CN" dirty="0" smtClean="0"/>
              <a:t>)</a:t>
            </a:r>
            <a:r>
              <a:rPr lang="zh-CN" altLang="en-US" dirty="0" smtClean="0"/>
              <a:t>、也可以是</a:t>
            </a:r>
            <a:r>
              <a:rPr lang="en-US" altLang="zh-CN" dirty="0" smtClean="0"/>
              <a:t>XLS</a:t>
            </a:r>
            <a:r>
              <a:rPr lang="zh-CN" altLang="en-US" dirty="0" smtClean="0"/>
              <a:t>文件</a:t>
            </a:r>
            <a:r>
              <a:rPr lang="en-US" altLang="zh-CN" dirty="0" smtClean="0"/>
              <a:t>(</a:t>
            </a:r>
            <a:r>
              <a:rPr lang="en-US" altLang="zh-CN" dirty="0" err="1" smtClean="0"/>
              <a:t>XLSTransformer</a:t>
            </a:r>
            <a:r>
              <a:rPr lang="zh-CN" altLang="en-US" dirty="0" smtClean="0"/>
              <a:t>）</a:t>
            </a:r>
          </a:p>
          <a:p>
            <a:pPr eaLnBrk="1" hangingPunct="1"/>
            <a:endParaRPr lang="zh-CN" altLang="en-US" dirty="0" smtClean="0"/>
          </a:p>
        </p:txBody>
      </p:sp>
    </p:spTree>
    <p:extLst>
      <p:ext uri="{BB962C8B-B14F-4D97-AF65-F5344CB8AC3E}">
        <p14:creationId xmlns:p14="http://schemas.microsoft.com/office/powerpoint/2010/main" val="227604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fld id="{EEBAB4A3-07A6-4271-A2E0-9501718A0D6C}" type="slidenum">
              <a:rPr lang="en-US" altLang="zh-CN" sz="1200"/>
              <a:pPr/>
              <a:t>22</a:t>
            </a:fld>
            <a:endParaRPr lang="en-US" altLang="zh-CN" sz="120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r>
              <a:rPr lang="zh-CN" altLang="en-US" smtClean="0"/>
              <a:t>高层模块</a:t>
            </a:r>
            <a:r>
              <a:rPr lang="en-US" altLang="zh-CN" smtClean="0"/>
              <a:t>ProductService</a:t>
            </a:r>
            <a:r>
              <a:rPr lang="zh-CN" altLang="en-US" smtClean="0"/>
              <a:t>类中引用了底层模块具体类</a:t>
            </a:r>
            <a:r>
              <a:rPr lang="en-US" altLang="zh-CN" smtClean="0"/>
              <a:t>ProductRepository</a:t>
            </a:r>
            <a:r>
              <a:rPr lang="zh-CN" altLang="en-US" smtClean="0"/>
              <a:t>，所以</a:t>
            </a:r>
            <a:r>
              <a:rPr lang="en-US" altLang="zh-CN" smtClean="0"/>
              <a:t>ProductService</a:t>
            </a:r>
            <a:r>
              <a:rPr lang="zh-CN" altLang="en-US" smtClean="0"/>
              <a:t>类就直接依赖于</a:t>
            </a:r>
            <a:r>
              <a:rPr lang="en-US" altLang="zh-CN" smtClean="0"/>
              <a:t>ProductRepository</a:t>
            </a:r>
            <a:r>
              <a:rPr lang="zh-CN" altLang="en-US" smtClean="0"/>
              <a:t>了。 </a:t>
            </a:r>
          </a:p>
          <a:p>
            <a:pPr eaLnBrk="1" hangingPunct="1"/>
            <a:r>
              <a:rPr lang="zh-CN" altLang="en-US" smtClean="0"/>
              <a:t>由于高层模块依赖于底层模块，现在底层模块</a:t>
            </a:r>
            <a:r>
              <a:rPr lang="en-US" altLang="zh-CN" smtClean="0"/>
              <a:t>ProductRepository</a:t>
            </a:r>
            <a:r>
              <a:rPr lang="zh-CN" altLang="en-US" smtClean="0"/>
              <a:t>发生了更改，高层模块</a:t>
            </a:r>
            <a:r>
              <a:rPr lang="en-US" altLang="zh-CN" smtClean="0"/>
              <a:t>ProductService</a:t>
            </a:r>
            <a:r>
              <a:rPr lang="zh-CN" altLang="en-US" smtClean="0"/>
              <a:t>也需要跟着一起修改，违反了</a:t>
            </a:r>
            <a:r>
              <a:rPr lang="en-US" altLang="zh-CN" smtClean="0"/>
              <a:t>OCP</a:t>
            </a:r>
          </a:p>
          <a:p>
            <a:pPr eaLnBrk="1" hangingPunct="1"/>
            <a:r>
              <a:rPr lang="en-US" altLang="zh-CN" smtClean="0"/>
              <a:t>OCP</a:t>
            </a:r>
            <a:r>
              <a:rPr lang="zh-CN" altLang="en-US" smtClean="0"/>
              <a:t>的核心思想是对抽象编程，</a:t>
            </a:r>
            <a:r>
              <a:rPr lang="en-US" altLang="zh-CN" smtClean="0"/>
              <a:t>DIP</a:t>
            </a:r>
            <a:r>
              <a:rPr lang="zh-CN" altLang="en-US" smtClean="0"/>
              <a:t>的思想是依赖于抽象 </a:t>
            </a:r>
          </a:p>
        </p:txBody>
      </p:sp>
    </p:spTree>
    <p:extLst>
      <p:ext uri="{BB962C8B-B14F-4D97-AF65-F5344CB8AC3E}">
        <p14:creationId xmlns:p14="http://schemas.microsoft.com/office/powerpoint/2010/main" val="2474169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上层调用</a:t>
            </a:r>
            <a:r>
              <a:rPr lang="en-US" altLang="zh-CN" dirty="0" smtClean="0"/>
              <a:t>service</a:t>
            </a:r>
            <a:r>
              <a:rPr lang="zh-CN" altLang="en-US" dirty="0" smtClean="0"/>
              <a:t>时，就可以从配置文件加载来确定注入的时哪一个</a:t>
            </a:r>
            <a:r>
              <a:rPr lang="en-US" altLang="zh-CN" dirty="0" err="1" smtClean="0"/>
              <a:t>ProductRespository</a:t>
            </a:r>
            <a:r>
              <a:rPr lang="zh-CN" altLang="en-US" dirty="0" smtClean="0"/>
              <a:t>持久化类。</a:t>
            </a:r>
            <a:endParaRPr lang="zh-CN" altLang="en-US" dirty="0"/>
          </a:p>
        </p:txBody>
      </p:sp>
      <p:sp>
        <p:nvSpPr>
          <p:cNvPr id="4" name="灯片编号占位符 3"/>
          <p:cNvSpPr>
            <a:spLocks noGrp="1"/>
          </p:cNvSpPr>
          <p:nvPr>
            <p:ph type="sldNum" sz="quarter" idx="10"/>
          </p:nvPr>
        </p:nvSpPr>
        <p:spPr/>
        <p:txBody>
          <a:bodyPr/>
          <a:lstStyle/>
          <a:p>
            <a:fld id="{B06661CD-B085-4967-B1C8-E5DE84058DC7}" type="slidenum">
              <a:rPr lang="en-US" smtClean="0"/>
              <a:t>23</a:t>
            </a:fld>
            <a:endParaRPr lang="en-US"/>
          </a:p>
        </p:txBody>
      </p:sp>
    </p:spTree>
    <p:extLst>
      <p:ext uri="{BB962C8B-B14F-4D97-AF65-F5344CB8AC3E}">
        <p14:creationId xmlns:p14="http://schemas.microsoft.com/office/powerpoint/2010/main" val="2488619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根据里氏代换原则，程序运行时，具体数据转换类对象将替换</a:t>
            </a:r>
            <a:r>
              <a:rPr lang="en-US" altLang="zh-CN" dirty="0" err="1" smtClean="0"/>
              <a:t>DataConvertor</a:t>
            </a:r>
            <a:r>
              <a:rPr lang="zh-CN" altLang="en-US" dirty="0" smtClean="0"/>
              <a:t>类型的对象，程序不会出现任何问题。更换具体数据转换类时无须修改源代码，只需要修改配置文件；如果需要增加新的具体数据转换类，只要将新增数据转换类作为</a:t>
            </a:r>
            <a:r>
              <a:rPr lang="en-US" altLang="zh-CN" dirty="0" err="1" smtClean="0"/>
              <a:t>DataConvertor</a:t>
            </a:r>
            <a:r>
              <a:rPr lang="zh-CN" altLang="en-US" dirty="0" smtClean="0"/>
              <a:t>的子类并修改配置文件即可，原有代码无须做任何修改，满足开闭原则。</a:t>
            </a:r>
            <a:endParaRPr lang="en-US" dirty="0"/>
          </a:p>
        </p:txBody>
      </p:sp>
      <p:sp>
        <p:nvSpPr>
          <p:cNvPr id="4" name="灯片编号占位符 3"/>
          <p:cNvSpPr>
            <a:spLocks noGrp="1"/>
          </p:cNvSpPr>
          <p:nvPr>
            <p:ph type="sldNum" sz="quarter" idx="10"/>
          </p:nvPr>
        </p:nvSpPr>
        <p:spPr/>
        <p:txBody>
          <a:bodyPr/>
          <a:lstStyle/>
          <a:p>
            <a:fld id="{B06661CD-B085-4967-B1C8-E5DE84058DC7}" type="slidenum">
              <a:rPr lang="en-US" smtClean="0"/>
              <a:t>25</a:t>
            </a:fld>
            <a:endParaRPr lang="en-US"/>
          </a:p>
        </p:txBody>
      </p:sp>
    </p:spTree>
    <p:extLst>
      <p:ext uri="{BB962C8B-B14F-4D97-AF65-F5344CB8AC3E}">
        <p14:creationId xmlns:p14="http://schemas.microsoft.com/office/powerpoint/2010/main" val="1427110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对比</a:t>
            </a:r>
            <a:r>
              <a:rPr lang="en-US" altLang="zh-CN" dirty="0" smtClean="0"/>
              <a:t>java</a:t>
            </a:r>
            <a:r>
              <a:rPr lang="zh-CN" altLang="en-US" dirty="0" smtClean="0"/>
              <a:t>的分层结构：</a:t>
            </a:r>
            <a:endParaRPr lang="en-US" altLang="zh-CN" dirty="0" smtClean="0"/>
          </a:p>
          <a:p>
            <a:r>
              <a:rPr lang="en-US" altLang="zh-CN" dirty="0" err="1" smtClean="0"/>
              <a:t>Web</a:t>
            </a:r>
            <a:r>
              <a:rPr lang="en-US" altLang="zh-CN" dirty="0" err="1" smtClean="0">
                <a:sym typeface="Wingdings" panose="05000000000000000000" pitchFamily="2" charset="2"/>
              </a:rPr>
              <a:t>IserviceserviceImplIdaodao</a:t>
            </a:r>
            <a:endParaRPr lang="en-US" altLang="zh-CN" dirty="0" smtClean="0">
              <a:sym typeface="Wingdings" panose="05000000000000000000" pitchFamily="2" charset="2"/>
            </a:endParaRPr>
          </a:p>
          <a:p>
            <a:r>
              <a:rPr lang="zh-CN" altLang="en-US" dirty="0" smtClean="0"/>
              <a:t>好处在于：利用</a:t>
            </a:r>
            <a:r>
              <a:rPr lang="en-US" altLang="zh-CN" dirty="0" smtClean="0"/>
              <a:t>spring</a:t>
            </a:r>
            <a:r>
              <a:rPr lang="zh-CN" altLang="en-US" dirty="0" smtClean="0"/>
              <a:t>框架的依赖注入，不是显示的声明对象实例化，可以动态修改对接口的实现。</a:t>
            </a:r>
            <a:endParaRPr lang="zh-CN" altLang="en-US" dirty="0"/>
          </a:p>
        </p:txBody>
      </p:sp>
      <p:sp>
        <p:nvSpPr>
          <p:cNvPr id="4" name="灯片编号占位符 3"/>
          <p:cNvSpPr>
            <a:spLocks noGrp="1"/>
          </p:cNvSpPr>
          <p:nvPr>
            <p:ph type="sldNum" sz="quarter" idx="10"/>
          </p:nvPr>
        </p:nvSpPr>
        <p:spPr/>
        <p:txBody>
          <a:bodyPr/>
          <a:lstStyle/>
          <a:p>
            <a:fld id="{B06661CD-B085-4967-B1C8-E5DE84058DC7}" type="slidenum">
              <a:rPr lang="en-US" smtClean="0"/>
              <a:t>26</a:t>
            </a:fld>
            <a:endParaRPr lang="en-US"/>
          </a:p>
        </p:txBody>
      </p:sp>
    </p:spTree>
    <p:extLst>
      <p:ext uri="{BB962C8B-B14F-4D97-AF65-F5344CB8AC3E}">
        <p14:creationId xmlns:p14="http://schemas.microsoft.com/office/powerpoint/2010/main" val="1329557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b="0" i="0" dirty="0" smtClean="0">
                <a:solidFill>
                  <a:srgbClr val="000000"/>
                </a:solidFill>
                <a:effectLst/>
                <a:latin typeface="Verdana" panose="020B0604030504040204" pitchFamily="34" charset="0"/>
              </a:rPr>
              <a:t>SRP:</a:t>
            </a:r>
          </a:p>
          <a:p>
            <a:r>
              <a:rPr lang="en-US" sz="1200" b="0" i="0" dirty="0" smtClean="0">
                <a:solidFill>
                  <a:srgbClr val="000000"/>
                </a:solidFill>
                <a:effectLst/>
                <a:latin typeface="Verdana" panose="020B0604030504040204" pitchFamily="34" charset="0"/>
              </a:rPr>
              <a:t>This is sometimes hard to see</a:t>
            </a:r>
            <a:endParaRPr lang="en-US" sz="1200" dirty="0" smtClean="0"/>
          </a:p>
          <a:p>
            <a:endParaRPr lang="en-US" dirty="0"/>
          </a:p>
        </p:txBody>
      </p:sp>
      <p:sp>
        <p:nvSpPr>
          <p:cNvPr id="4" name="灯片编号占位符 3"/>
          <p:cNvSpPr>
            <a:spLocks noGrp="1"/>
          </p:cNvSpPr>
          <p:nvPr>
            <p:ph type="sldNum" sz="quarter" idx="10"/>
          </p:nvPr>
        </p:nvSpPr>
        <p:spPr/>
        <p:txBody>
          <a:bodyPr/>
          <a:lstStyle/>
          <a:p>
            <a:fld id="{B06661CD-B085-4967-B1C8-E5DE84058DC7}" type="slidenum">
              <a:rPr lang="en-US" smtClean="0"/>
              <a:t>33</a:t>
            </a:fld>
            <a:endParaRPr lang="en-US"/>
          </a:p>
        </p:txBody>
      </p:sp>
    </p:spTree>
    <p:extLst>
      <p:ext uri="{BB962C8B-B14F-4D97-AF65-F5344CB8AC3E}">
        <p14:creationId xmlns:p14="http://schemas.microsoft.com/office/powerpoint/2010/main" val="2662690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409575" y="754063"/>
            <a:ext cx="5854700" cy="3294062"/>
          </a:xfrm>
        </p:spPr>
      </p:sp>
      <p:sp>
        <p:nvSpPr>
          <p:cNvPr id="22531" name="Rectangle 3"/>
          <p:cNvSpPr>
            <a:spLocks noGrp="1" noChangeArrowheads="1"/>
          </p:cNvSpPr>
          <p:nvPr>
            <p:ph type="body" idx="1"/>
          </p:nvPr>
        </p:nvSpPr>
        <p:spPr>
          <a:noFill/>
        </p:spPr>
        <p:txBody>
          <a:bodyPr/>
          <a:lstStyle/>
          <a:p>
            <a:r>
              <a:rPr lang="zh-CN" altLang="en-US" smtClean="0"/>
              <a:t>这样类B只需要实现1、2、3类D只需要实现1、4、5，不需要它不需要的方法。</a:t>
            </a:r>
          </a:p>
        </p:txBody>
      </p:sp>
    </p:spTree>
    <p:extLst>
      <p:ext uri="{BB962C8B-B14F-4D97-AF65-F5344CB8AC3E}">
        <p14:creationId xmlns:p14="http://schemas.microsoft.com/office/powerpoint/2010/main" val="3757140871"/>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95D9686-2909-49E1-906E-5DE6E21AA137}" type="datetimeFigureOut">
              <a:rPr lang="en-US" smtClean="0"/>
              <a:t>4/22/2021</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1511935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E95D9686-2909-49E1-906E-5DE6E21AA137}" type="datetimeFigureOut">
              <a:rPr lang="en-US" smtClean="0"/>
              <a:t>4/22/2021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650969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E95D9686-2909-49E1-906E-5DE6E21AA137}" type="datetimeFigureOut">
              <a:rPr lang="en-US" smtClean="0"/>
              <a:t>4/22/2021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2068823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E95D9686-2909-49E1-906E-5DE6E21AA137}" type="datetimeFigureOut">
              <a:rPr lang="en-US" smtClean="0"/>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2516526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1141410" y="3073397"/>
            <a:ext cx="4878391" cy="271780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0" y="3073397"/>
            <a:ext cx="4875210" cy="271780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E95D9686-2909-49E1-906E-5DE6E21AA137}" type="datetimeFigureOut">
              <a:rPr lang="en-US" smtClean="0"/>
              <a:t>4/22/2021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440402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E95D9686-2909-49E1-906E-5DE6E21AA137}" type="datetimeFigureOut">
              <a:rPr lang="en-US" smtClean="0"/>
              <a:t>4/22/2021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1899662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D9686-2909-49E1-906E-5DE6E21AA137}" type="datetimeFigureOut">
              <a:rPr lang="en-US" smtClean="0"/>
              <a:t>4/22/2021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1095125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E95D9686-2909-49E1-906E-5DE6E21AA137}" type="datetimeFigureOut">
              <a:rPr lang="en-US" smtClean="0"/>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2536670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E95D9686-2909-49E1-906E-5DE6E21AA137}" type="datetimeFigureOut">
              <a:rPr lang="en-US" smtClean="0"/>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3015455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zh-CN" altLang="en-US" smtClean="0"/>
              <a:t>单击图标添加图片</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E95D9686-2909-49E1-906E-5DE6E21AA137}" type="datetimeFigureOut">
              <a:rPr lang="en-US" smtClean="0"/>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2706424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E95D9686-2909-49E1-906E-5DE6E21AA137}" type="datetimeFigureOut">
              <a:rPr lang="en-US" smtClean="0"/>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798830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zh-CN" altLang="en-US" smtClean="0"/>
              <a:t>单击此处编辑母版标题样式</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E95D9686-2909-49E1-906E-5DE6E21AA137}" type="datetimeFigureOut">
              <a:rPr lang="en-US" smtClean="0"/>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6F6C1A-7F9A-4AA0-911F-D7977021341F}"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763365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E95D9686-2909-49E1-906E-5DE6E21AA137}" type="datetimeFigureOut">
              <a:rPr lang="en-US" smtClean="0"/>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10223066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zh-CN" altLang="en-US" smtClean="0"/>
              <a:t>单击此处编辑母版标题样式</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3" name="Date Placeholder 2"/>
          <p:cNvSpPr>
            <a:spLocks noGrp="1"/>
          </p:cNvSpPr>
          <p:nvPr>
            <p:ph type="dt" sz="half" idx="10"/>
          </p:nvPr>
        </p:nvSpPr>
        <p:spPr/>
        <p:txBody>
          <a:bodyPr/>
          <a:lstStyle/>
          <a:p>
            <a:fld id="{E95D9686-2909-49E1-906E-5DE6E21AA137}" type="datetimeFigureOut">
              <a:rPr lang="en-US" smtClean="0"/>
              <a:t>4/22/2021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28049576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zh-CN" altLang="en-US" smtClean="0"/>
              <a:t>单击此处编辑母版标题样式</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smtClean="0"/>
              <a:t>单击图标添加图片</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smtClean="0"/>
              <a:t>单击图标添加图片</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smtClean="0"/>
              <a:t>单击图标添加图片</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3" name="Date Placeholder 2"/>
          <p:cNvSpPr>
            <a:spLocks noGrp="1"/>
          </p:cNvSpPr>
          <p:nvPr>
            <p:ph type="dt" sz="half" idx="10"/>
          </p:nvPr>
        </p:nvSpPr>
        <p:spPr/>
        <p:txBody>
          <a:bodyPr/>
          <a:lstStyle/>
          <a:p>
            <a:fld id="{E95D9686-2909-49E1-906E-5DE6E21AA137}" type="datetimeFigureOut">
              <a:rPr lang="en-US" smtClean="0"/>
              <a:t>4/22/2021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77788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E95D9686-2909-49E1-906E-5DE6E21AA137}" type="datetimeFigureOut">
              <a:rPr lang="en-US" smtClean="0"/>
              <a:t>4/22/2021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5039074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E95D9686-2909-49E1-906E-5DE6E21AA137}" type="datetimeFigureOut">
              <a:rPr lang="en-US" smtClean="0"/>
              <a:t>4/22/2021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6F6C1A-7F9A-4AA0-911F-D7977021341F}" type="slidenum">
              <a:rPr lang="en-US" smtClean="0"/>
              <a:t>‹#›</a:t>
            </a:fld>
            <a:endParaRPr lang="en-US"/>
          </a:p>
        </p:txBody>
      </p:sp>
    </p:spTree>
    <p:extLst>
      <p:ext uri="{BB962C8B-B14F-4D97-AF65-F5344CB8AC3E}">
        <p14:creationId xmlns:p14="http://schemas.microsoft.com/office/powerpoint/2010/main" val="3828278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95D9686-2909-49E1-906E-5DE6E21AA137}" type="datetimeFigureOut">
              <a:rPr lang="en-US" smtClean="0"/>
              <a:t>4/22/2021</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B6F6C1A-7F9A-4AA0-911F-D7977021341F}" type="slidenum">
              <a:rPr lang="en-US" smtClean="0"/>
              <a:t>‹#›</a:t>
            </a:fld>
            <a:endParaRPr lang="en-US"/>
          </a:p>
        </p:txBody>
      </p:sp>
    </p:spTree>
    <p:extLst>
      <p:ext uri="{BB962C8B-B14F-4D97-AF65-F5344CB8AC3E}">
        <p14:creationId xmlns:p14="http://schemas.microsoft.com/office/powerpoint/2010/main" val="3610313384"/>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solidFill>
                  <a:srgbClr val="000000"/>
                </a:solidFill>
              </a:rPr>
              <a:t>面向对象设计原则</a:t>
            </a:r>
            <a:endParaRPr lang="en-US" dirty="0">
              <a:solidFill>
                <a:srgbClr val="000000"/>
              </a:solidFill>
            </a:endParaRPr>
          </a:p>
        </p:txBody>
      </p:sp>
      <p:sp>
        <p:nvSpPr>
          <p:cNvPr id="3" name="副标题 2"/>
          <p:cNvSpPr>
            <a:spLocks noGrp="1"/>
          </p:cNvSpPr>
          <p:nvPr>
            <p:ph type="subTitle" idx="1"/>
          </p:nvPr>
        </p:nvSpPr>
        <p:spPr/>
        <p:txBody>
          <a:bodyPr>
            <a:normAutofit/>
          </a:bodyPr>
          <a:lstStyle/>
          <a:p>
            <a:r>
              <a:rPr lang="zh-CN" altLang="en-US" sz="2800" dirty="0" smtClean="0"/>
              <a:t>计算机学院 张弛</a:t>
            </a:r>
            <a:endParaRPr lang="en-US" sz="2800" dirty="0"/>
          </a:p>
        </p:txBody>
      </p:sp>
    </p:spTree>
    <p:extLst>
      <p:ext uri="{BB962C8B-B14F-4D97-AF65-F5344CB8AC3E}">
        <p14:creationId xmlns:p14="http://schemas.microsoft.com/office/powerpoint/2010/main" val="27209874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en-US" dirty="0"/>
          </a:p>
        </p:txBody>
      </p:sp>
      <p:sp>
        <p:nvSpPr>
          <p:cNvPr id="3" name="内容占位符 2"/>
          <p:cNvSpPr>
            <a:spLocks noGrp="1"/>
          </p:cNvSpPr>
          <p:nvPr>
            <p:ph idx="1"/>
          </p:nvPr>
        </p:nvSpPr>
        <p:spPr>
          <a:xfrm>
            <a:off x="1141412" y="2249486"/>
            <a:ext cx="9905999" cy="4151313"/>
          </a:xfrm>
        </p:spPr>
        <p:txBody>
          <a:bodyPr>
            <a:normAutofit/>
          </a:bodyPr>
          <a:lstStyle/>
          <a:p>
            <a:r>
              <a:rPr lang="zh-CN" altLang="en-US" sz="2800" b="1" dirty="0"/>
              <a:t>开放－封闭原则</a:t>
            </a:r>
            <a:endParaRPr lang="en-US" sz="2800" b="1" dirty="0"/>
          </a:p>
          <a:p>
            <a:r>
              <a:rPr lang="zh-CN" altLang="en-US" sz="2800" b="1" dirty="0" smtClean="0"/>
              <a:t>里</a:t>
            </a:r>
            <a:r>
              <a:rPr lang="zh-CN" altLang="en-US" sz="2800" b="1" dirty="0"/>
              <a:t>氏代换</a:t>
            </a:r>
            <a:r>
              <a:rPr lang="zh-CN" altLang="en-US" sz="2800" b="1" dirty="0" smtClean="0"/>
              <a:t>原则</a:t>
            </a:r>
            <a:endParaRPr lang="en-US" altLang="zh-CN" sz="2800" b="1" dirty="0" smtClean="0"/>
          </a:p>
          <a:p>
            <a:r>
              <a:rPr lang="zh-CN" altLang="en-US" sz="2800" b="1" dirty="0"/>
              <a:t>依赖倒置</a:t>
            </a:r>
            <a:r>
              <a:rPr lang="zh-CN" altLang="en-US" sz="2800" b="1" dirty="0" smtClean="0"/>
              <a:t>原则</a:t>
            </a:r>
            <a:endParaRPr lang="en-US" altLang="zh-CN" sz="2800" b="1" dirty="0" smtClean="0"/>
          </a:p>
          <a:p>
            <a:r>
              <a:rPr lang="zh-CN" altLang="en-US" sz="2800" b="1" dirty="0"/>
              <a:t>单一职责原则</a:t>
            </a:r>
            <a:endParaRPr lang="en-US" altLang="zh-CN" sz="2800" b="1" dirty="0"/>
          </a:p>
          <a:p>
            <a:r>
              <a:rPr lang="zh-CN" altLang="en-US" sz="2800" b="1" dirty="0" smtClean="0"/>
              <a:t>接口</a:t>
            </a:r>
            <a:r>
              <a:rPr lang="zh-CN" altLang="en-US" sz="2800" b="1" dirty="0"/>
              <a:t>隔离</a:t>
            </a:r>
            <a:r>
              <a:rPr lang="zh-CN" altLang="en-US" sz="2800" b="1" dirty="0" smtClean="0"/>
              <a:t>原则</a:t>
            </a:r>
            <a:endParaRPr lang="en-US" altLang="zh-CN" sz="2800" b="1" dirty="0" smtClean="0"/>
          </a:p>
          <a:p>
            <a:r>
              <a:rPr lang="zh-CN" altLang="en-US" sz="2800" b="1" dirty="0"/>
              <a:t>迪米特</a:t>
            </a:r>
            <a:r>
              <a:rPr lang="zh-CN" altLang="en-US" sz="2800" b="1" dirty="0" smtClean="0"/>
              <a:t>原则</a:t>
            </a:r>
            <a:endParaRPr lang="en-US" altLang="zh-CN" sz="2800" b="1" dirty="0" smtClean="0"/>
          </a:p>
        </p:txBody>
      </p:sp>
    </p:spTree>
    <p:extLst>
      <p:ext uri="{BB962C8B-B14F-4D97-AF65-F5344CB8AC3E}">
        <p14:creationId xmlns:p14="http://schemas.microsoft.com/office/powerpoint/2010/main" val="7604831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400" dirty="0"/>
              <a:t>概述</a:t>
            </a:r>
            <a:endParaRPr lang="en-US" sz="4400" dirty="0"/>
          </a:p>
        </p:txBody>
      </p:sp>
      <p:sp>
        <p:nvSpPr>
          <p:cNvPr id="3" name="内容占位符 2"/>
          <p:cNvSpPr>
            <a:spLocks noGrp="1"/>
          </p:cNvSpPr>
          <p:nvPr>
            <p:ph idx="1"/>
          </p:nvPr>
        </p:nvSpPr>
        <p:spPr>
          <a:xfrm>
            <a:off x="1141412" y="1976218"/>
            <a:ext cx="9905999" cy="3541714"/>
          </a:xfrm>
        </p:spPr>
        <p:txBody>
          <a:bodyPr>
            <a:normAutofit/>
          </a:bodyPr>
          <a:lstStyle/>
          <a:p>
            <a:r>
              <a:rPr lang="zh-CN" altLang="en-US" sz="2800" dirty="0" smtClean="0"/>
              <a:t>经典</a:t>
            </a:r>
            <a:r>
              <a:rPr lang="zh-CN" altLang="en-US" sz="2800" dirty="0"/>
              <a:t>的</a:t>
            </a:r>
            <a:r>
              <a:rPr lang="en-US" altLang="zh-CN" sz="2800" dirty="0"/>
              <a:t>23</a:t>
            </a:r>
            <a:r>
              <a:rPr lang="zh-CN" altLang="en-US" sz="2800" dirty="0" smtClean="0"/>
              <a:t>个设计模式</a:t>
            </a:r>
            <a:r>
              <a:rPr lang="zh-CN" altLang="en-US" sz="2800" dirty="0"/>
              <a:t>背后，其实都遵循着一些</a:t>
            </a:r>
            <a:r>
              <a:rPr lang="zh-CN" altLang="en-US" sz="2800" dirty="0" smtClean="0"/>
              <a:t>基本原则。设计</a:t>
            </a:r>
            <a:r>
              <a:rPr lang="zh-CN" altLang="en-US" sz="2800" dirty="0"/>
              <a:t>原则又由设计模式来</a:t>
            </a:r>
            <a:r>
              <a:rPr lang="zh-CN" altLang="en-US" sz="2800" dirty="0" smtClean="0"/>
              <a:t>实现</a:t>
            </a:r>
            <a:r>
              <a:rPr lang="zh-CN" altLang="en-US" sz="2800" dirty="0"/>
              <a:t>。</a:t>
            </a:r>
            <a:r>
              <a:rPr lang="zh-CN" altLang="en-US" sz="2800" dirty="0" smtClean="0"/>
              <a:t>二者是相辅相成</a:t>
            </a:r>
            <a:r>
              <a:rPr lang="zh-CN" altLang="en-US" sz="2800" dirty="0"/>
              <a:t>的关系</a:t>
            </a:r>
            <a:r>
              <a:rPr lang="zh-CN" altLang="en-US" sz="2800" dirty="0" smtClean="0"/>
              <a:t>，了解</a:t>
            </a:r>
            <a:r>
              <a:rPr lang="zh-CN" altLang="en-US" sz="2800" dirty="0"/>
              <a:t>原则对于了解模式</a:t>
            </a:r>
            <a:r>
              <a:rPr lang="zh-CN" altLang="en-US" sz="2800" dirty="0" smtClean="0"/>
              <a:t>具有</a:t>
            </a:r>
            <a:r>
              <a:rPr lang="zh-CN" altLang="en-US" sz="2800" dirty="0"/>
              <a:t>重要</a:t>
            </a:r>
            <a:r>
              <a:rPr lang="zh-CN" altLang="en-US" sz="2800" dirty="0" smtClean="0"/>
              <a:t>指导意义。</a:t>
            </a:r>
            <a:endParaRPr lang="en-US" altLang="zh-CN" sz="2800" dirty="0" smtClean="0"/>
          </a:p>
          <a:p>
            <a:r>
              <a:rPr lang="zh-CN" altLang="en-US" sz="2800" dirty="0" smtClean="0"/>
              <a:t>“</a:t>
            </a:r>
            <a:r>
              <a:rPr lang="zh-CN" altLang="en-US" sz="2800" dirty="0"/>
              <a:t>美的东西比丑的东西创建起来更廉价，也更快捷</a:t>
            </a:r>
            <a:r>
              <a:rPr lang="zh-CN" altLang="en-US" sz="2800" dirty="0" smtClean="0"/>
              <a:t>”。</a:t>
            </a:r>
            <a:r>
              <a:rPr lang="en-US" altLang="zh-CN" sz="2800" dirty="0" smtClean="0"/>
              <a:t/>
            </a:r>
            <a:br>
              <a:rPr lang="en-US" altLang="zh-CN" sz="2800" dirty="0" smtClean="0"/>
            </a:br>
            <a:r>
              <a:rPr lang="en-US" altLang="zh-CN" sz="2800" dirty="0" smtClean="0"/>
              <a:t>                                            ——</a:t>
            </a:r>
            <a:r>
              <a:rPr lang="en-US" altLang="zh-CN" sz="2000" dirty="0" smtClean="0"/>
              <a:t>《</a:t>
            </a:r>
            <a:r>
              <a:rPr lang="zh-CN" altLang="en-US" sz="2000" dirty="0"/>
              <a:t>敏捷软件开发</a:t>
            </a:r>
            <a:r>
              <a:rPr lang="en-US" altLang="zh-CN" sz="2000" dirty="0"/>
              <a:t>—</a:t>
            </a:r>
            <a:r>
              <a:rPr lang="zh-CN" altLang="en-US" sz="2000" dirty="0"/>
              <a:t>原则、模式与实践</a:t>
            </a:r>
            <a:r>
              <a:rPr lang="en-US" altLang="zh-CN" sz="2000" dirty="0" smtClean="0"/>
              <a:t>》</a:t>
            </a:r>
            <a:endParaRPr lang="en-US" sz="2000" dirty="0"/>
          </a:p>
        </p:txBody>
      </p:sp>
    </p:spTree>
    <p:extLst>
      <p:ext uri="{BB962C8B-B14F-4D97-AF65-F5344CB8AC3E}">
        <p14:creationId xmlns:p14="http://schemas.microsoft.com/office/powerpoint/2010/main" val="29566759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概述</a:t>
            </a:r>
            <a:endParaRPr lang="en-US" dirty="0"/>
          </a:p>
        </p:txBody>
      </p:sp>
      <p:pic>
        <p:nvPicPr>
          <p:cNvPr id="6" name="图片 5"/>
          <p:cNvPicPr>
            <a:picLocks noChangeAspect="1"/>
          </p:cNvPicPr>
          <p:nvPr/>
        </p:nvPicPr>
        <p:blipFill>
          <a:blip r:embed="rId2"/>
          <a:stretch>
            <a:fillRect/>
          </a:stretch>
        </p:blipFill>
        <p:spPr>
          <a:xfrm>
            <a:off x="5186731" y="351011"/>
            <a:ext cx="6705984" cy="3031016"/>
          </a:xfrm>
          <a:prstGeom prst="rect">
            <a:avLst/>
          </a:prstGeom>
        </p:spPr>
      </p:pic>
      <p:pic>
        <p:nvPicPr>
          <p:cNvPr id="7" name="图片 6"/>
          <p:cNvPicPr>
            <a:picLocks noChangeAspect="1"/>
          </p:cNvPicPr>
          <p:nvPr/>
        </p:nvPicPr>
        <p:blipFill>
          <a:blip r:embed="rId3"/>
          <a:stretch>
            <a:fillRect/>
          </a:stretch>
        </p:blipFill>
        <p:spPr>
          <a:xfrm>
            <a:off x="323589" y="3187700"/>
            <a:ext cx="6776790" cy="3375938"/>
          </a:xfrm>
          <a:prstGeom prst="rect">
            <a:avLst/>
          </a:prstGeom>
        </p:spPr>
      </p:pic>
    </p:spTree>
    <p:extLst>
      <p:ext uri="{BB962C8B-B14F-4D97-AF65-F5344CB8AC3E}">
        <p14:creationId xmlns:p14="http://schemas.microsoft.com/office/powerpoint/2010/main" val="10783035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一、开放</a:t>
            </a:r>
            <a:r>
              <a:rPr lang="en-US" altLang="zh-CN" dirty="0" smtClean="0"/>
              <a:t>-</a:t>
            </a:r>
            <a:r>
              <a:rPr lang="zh-CN" altLang="en-US" dirty="0" smtClean="0"/>
              <a:t>封闭原则（</a:t>
            </a:r>
            <a:r>
              <a:rPr lang="en-US" altLang="zh-CN" sz="2400" cap="none" dirty="0"/>
              <a:t>Open-Closed Principle, OCP</a:t>
            </a:r>
            <a:r>
              <a:rPr lang="zh-CN" altLang="en-US" dirty="0" smtClean="0"/>
              <a:t>）</a:t>
            </a:r>
            <a:endParaRPr lang="en-US" dirty="0"/>
          </a:p>
        </p:txBody>
      </p:sp>
      <p:sp>
        <p:nvSpPr>
          <p:cNvPr id="3" name="内容占位符 2"/>
          <p:cNvSpPr>
            <a:spLocks noGrp="1"/>
          </p:cNvSpPr>
          <p:nvPr>
            <p:ph idx="1"/>
          </p:nvPr>
        </p:nvSpPr>
        <p:spPr/>
        <p:txBody>
          <a:bodyPr>
            <a:normAutofit/>
          </a:bodyPr>
          <a:lstStyle/>
          <a:p>
            <a:r>
              <a:rPr lang="zh-CN" altLang="en-US" sz="2800" dirty="0"/>
              <a:t>一个软件实体应当</a:t>
            </a:r>
            <a:r>
              <a:rPr lang="zh-CN" altLang="en-US" sz="2800" b="1" dirty="0">
                <a:solidFill>
                  <a:srgbClr val="FFFF00"/>
                </a:solidFill>
              </a:rPr>
              <a:t>对扩展开放，对修改</a:t>
            </a:r>
            <a:r>
              <a:rPr lang="zh-CN" altLang="en-US" sz="2800" b="1" dirty="0" smtClean="0">
                <a:solidFill>
                  <a:srgbClr val="FFFF00"/>
                </a:solidFill>
              </a:rPr>
              <a:t>关闭</a:t>
            </a:r>
            <a:r>
              <a:rPr lang="zh-CN" altLang="en-US" sz="2800" dirty="0"/>
              <a:t>，</a:t>
            </a:r>
            <a:r>
              <a:rPr lang="zh-CN" altLang="en-US" sz="2800" dirty="0" smtClean="0"/>
              <a:t>即</a:t>
            </a:r>
            <a:r>
              <a:rPr lang="zh-CN" altLang="en-US" sz="2800" dirty="0"/>
              <a:t>软件实体应尽量在不修改原有代码的情况下进行扩展。</a:t>
            </a:r>
            <a:endParaRPr lang="en-US" altLang="zh-CN" sz="2800" dirty="0"/>
          </a:p>
          <a:p>
            <a:r>
              <a:rPr lang="zh-CN" altLang="en-US" sz="2800" dirty="0"/>
              <a:t>软件实体可以指一个软件模块、一个由多个类组成的局部结构或一个独立的</a:t>
            </a:r>
            <a:r>
              <a:rPr lang="zh-CN" altLang="en-US" sz="2800" dirty="0" smtClean="0"/>
              <a:t>类。</a:t>
            </a:r>
            <a:endParaRPr lang="en-US" sz="2800" dirty="0"/>
          </a:p>
        </p:txBody>
      </p:sp>
    </p:spTree>
    <p:extLst>
      <p:ext uri="{BB962C8B-B14F-4D97-AF65-F5344CB8AC3E}">
        <p14:creationId xmlns:p14="http://schemas.microsoft.com/office/powerpoint/2010/main" val="25915236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一、开放</a:t>
            </a:r>
            <a:r>
              <a:rPr lang="en-US" altLang="zh-CN" dirty="0" smtClean="0"/>
              <a:t>-</a:t>
            </a:r>
            <a:r>
              <a:rPr lang="zh-CN" altLang="en-US" dirty="0" smtClean="0"/>
              <a:t>封闭原则（</a:t>
            </a:r>
            <a:r>
              <a:rPr lang="en-US" altLang="zh-CN" sz="2400" cap="none" dirty="0"/>
              <a:t>Open-Closed Principle, OCP</a:t>
            </a:r>
            <a:r>
              <a:rPr lang="zh-CN" altLang="en-US" dirty="0" smtClean="0"/>
              <a:t>）</a:t>
            </a:r>
            <a:endParaRPr lang="en-US" dirty="0"/>
          </a:p>
        </p:txBody>
      </p:sp>
      <p:sp>
        <p:nvSpPr>
          <p:cNvPr id="3" name="内容占位符 2"/>
          <p:cNvSpPr>
            <a:spLocks noGrp="1"/>
          </p:cNvSpPr>
          <p:nvPr>
            <p:ph idx="1"/>
          </p:nvPr>
        </p:nvSpPr>
        <p:spPr>
          <a:xfrm>
            <a:off x="1141412" y="2249486"/>
            <a:ext cx="9905999" cy="4035699"/>
          </a:xfrm>
        </p:spPr>
        <p:txBody>
          <a:bodyPr>
            <a:normAutofit/>
          </a:bodyPr>
          <a:lstStyle/>
          <a:p>
            <a:r>
              <a:rPr lang="zh-CN" altLang="en-US" sz="2800" dirty="0"/>
              <a:t>当软件系统需要面对新的需求时，我们应该尽量保证系统的设计框架是稳定的</a:t>
            </a:r>
            <a:r>
              <a:rPr lang="zh-CN" altLang="en-US" sz="2800" dirty="0" smtClean="0"/>
              <a:t>。</a:t>
            </a:r>
            <a:endParaRPr lang="en-US" altLang="zh-CN" sz="2800" dirty="0" smtClean="0"/>
          </a:p>
          <a:p>
            <a:r>
              <a:rPr lang="zh-CN" altLang="en-US" sz="2800" dirty="0" smtClean="0"/>
              <a:t>符合</a:t>
            </a:r>
            <a:r>
              <a:rPr lang="zh-CN" altLang="en-US" sz="2800" dirty="0"/>
              <a:t>开闭原则</a:t>
            </a:r>
            <a:r>
              <a:rPr lang="zh-CN" altLang="en-US" sz="2800" dirty="0" smtClean="0"/>
              <a:t>，可方便</a:t>
            </a:r>
            <a:r>
              <a:rPr lang="zh-CN" altLang="en-US" sz="2800" dirty="0"/>
              <a:t>地对系统进行扩展</a:t>
            </a:r>
            <a:r>
              <a:rPr lang="zh-CN" altLang="en-US" sz="2800" dirty="0" smtClean="0"/>
              <a:t>，且</a:t>
            </a:r>
            <a:r>
              <a:rPr lang="zh-CN" altLang="en-US" sz="2800" dirty="0">
                <a:solidFill>
                  <a:srgbClr val="FFFF00"/>
                </a:solidFill>
              </a:rPr>
              <a:t>在扩展时无须修改现有代码</a:t>
            </a:r>
            <a:r>
              <a:rPr lang="zh-CN" altLang="en-US" sz="2800" dirty="0"/>
              <a:t>，使得软件系统在拥有适应性和灵活性的同时具备较好的稳定性和延续性</a:t>
            </a:r>
            <a:r>
              <a:rPr lang="zh-CN" altLang="en-US" sz="2800" dirty="0" smtClean="0"/>
              <a:t>。</a:t>
            </a:r>
            <a:endParaRPr lang="en-US" altLang="zh-CN" sz="2800" dirty="0" smtClean="0"/>
          </a:p>
          <a:p>
            <a:r>
              <a:rPr lang="zh-CN" altLang="en-US" sz="2800" dirty="0"/>
              <a:t>随着</a:t>
            </a:r>
            <a:r>
              <a:rPr lang="zh-CN" altLang="en-US" sz="2800" dirty="0" smtClean="0"/>
              <a:t>软件维护</a:t>
            </a:r>
            <a:r>
              <a:rPr lang="zh-CN" altLang="en-US" sz="2800" dirty="0"/>
              <a:t>成本越来越高，设计满足开闭原则的软件系统也变得越来越重要。</a:t>
            </a:r>
            <a:endParaRPr lang="en-US" sz="2800" dirty="0"/>
          </a:p>
        </p:txBody>
      </p:sp>
      <p:sp>
        <p:nvSpPr>
          <p:cNvPr id="4" name="矩形 3"/>
          <p:cNvSpPr/>
          <p:nvPr/>
        </p:nvSpPr>
        <p:spPr>
          <a:xfrm>
            <a:off x="4601941" y="1907656"/>
            <a:ext cx="6822803" cy="1384995"/>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altLang="zh-CN" sz="2800" dirty="0"/>
              <a:t>OCP</a:t>
            </a:r>
            <a:r>
              <a:rPr lang="zh-CN" altLang="en-US" sz="2800" dirty="0"/>
              <a:t>给了我们如下的建议</a:t>
            </a:r>
            <a:r>
              <a:rPr lang="zh-CN" altLang="en-US" sz="2800" dirty="0" smtClean="0"/>
              <a:t>：</a:t>
            </a:r>
            <a:endParaRPr lang="en-US" altLang="zh-CN" sz="2800" dirty="0" smtClean="0"/>
          </a:p>
          <a:p>
            <a:r>
              <a:rPr lang="zh-CN" altLang="en-US" sz="2800" dirty="0" smtClean="0"/>
              <a:t>在</a:t>
            </a:r>
            <a:r>
              <a:rPr lang="zh-CN" altLang="en-US" sz="2800" dirty="0"/>
              <a:t>发生变化的时候，不要修改类</a:t>
            </a:r>
            <a:r>
              <a:rPr lang="zh-CN" altLang="en-US" sz="2800" dirty="0" smtClean="0"/>
              <a:t>的原代码</a:t>
            </a:r>
            <a:r>
              <a:rPr lang="zh-CN" altLang="en-US" sz="2800" dirty="0"/>
              <a:t>，要通过添加新代码来增强现有类的行为</a:t>
            </a:r>
          </a:p>
        </p:txBody>
      </p:sp>
    </p:spTree>
    <p:extLst>
      <p:ext uri="{BB962C8B-B14F-4D97-AF65-F5344CB8AC3E}">
        <p14:creationId xmlns:p14="http://schemas.microsoft.com/office/powerpoint/2010/main" val="22917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539272" y="382435"/>
            <a:ext cx="6153150" cy="2686050"/>
          </a:xfrm>
          <a:prstGeom prst="rect">
            <a:avLst/>
          </a:prstGeom>
        </p:spPr>
      </p:pic>
      <p:sp>
        <p:nvSpPr>
          <p:cNvPr id="6" name="矩形 5"/>
          <p:cNvSpPr/>
          <p:nvPr/>
        </p:nvSpPr>
        <p:spPr>
          <a:xfrm>
            <a:off x="539272" y="3332639"/>
            <a:ext cx="6870521" cy="304698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2400" b="1" i="0" dirty="0" smtClean="0">
                <a:solidFill>
                  <a:srgbClr val="006699"/>
                </a:solidFill>
                <a:effectLst/>
                <a:latin typeface="Consolas" panose="020B0609020204030204" pitchFamily="49" charset="0"/>
              </a:rPr>
              <a:t>if</a:t>
            </a:r>
            <a:r>
              <a:rPr lang="en-US" sz="2400" b="0" i="0" dirty="0" smtClean="0">
                <a:solidFill>
                  <a:srgbClr val="000000"/>
                </a:solidFill>
                <a:effectLst/>
                <a:latin typeface="Consolas" panose="020B0609020204030204" pitchFamily="49" charset="0"/>
              </a:rPr>
              <a:t> (</a:t>
            </a:r>
            <a:r>
              <a:rPr lang="en-US" sz="2400" b="0" i="0" dirty="0" err="1" smtClean="0">
                <a:solidFill>
                  <a:srgbClr val="000000"/>
                </a:solidFill>
                <a:effectLst/>
                <a:latin typeface="Consolas" panose="020B0609020204030204" pitchFamily="49" charset="0"/>
              </a:rPr>
              <a:t>type.equals</a:t>
            </a:r>
            <a:r>
              <a:rPr lang="en-US" sz="2400" b="0" i="0" dirty="0" smtClean="0">
                <a:solidFill>
                  <a:srgbClr val="000000"/>
                </a:solidFill>
                <a:effectLst/>
                <a:latin typeface="Consolas" panose="020B0609020204030204" pitchFamily="49" charset="0"/>
              </a:rPr>
              <a:t>(</a:t>
            </a:r>
            <a:r>
              <a:rPr lang="en-US" sz="2400" b="0" i="0" dirty="0" smtClean="0">
                <a:solidFill>
                  <a:srgbClr val="0000FF"/>
                </a:solidFill>
                <a:effectLst/>
                <a:latin typeface="Consolas" panose="020B0609020204030204" pitchFamily="49" charset="0"/>
              </a:rPr>
              <a:t>"pie"</a:t>
            </a:r>
            <a:r>
              <a:rPr lang="en-US" sz="2400" b="0" i="0" dirty="0" smtClean="0">
                <a:solidFill>
                  <a:srgbClr val="000000"/>
                </a:solidFill>
                <a:effectLst/>
                <a:latin typeface="Consolas" panose="020B0609020204030204" pitchFamily="49" charset="0"/>
              </a:rPr>
              <a:t>)) {  </a:t>
            </a:r>
            <a:endParaRPr lang="en-US" sz="2400" b="0" i="0" dirty="0" smtClean="0">
              <a:solidFill>
                <a:srgbClr val="5C5C5C"/>
              </a:solidFill>
              <a:effectLst/>
              <a:latin typeface="Consolas" panose="020B0609020204030204" pitchFamily="49" charset="0"/>
            </a:endParaRPr>
          </a:p>
          <a:p>
            <a:r>
              <a:rPr lang="en-US" sz="2400" b="0" i="0" dirty="0" smtClean="0">
                <a:solidFill>
                  <a:srgbClr val="000000"/>
                </a:solidFill>
                <a:effectLst/>
                <a:latin typeface="Consolas" panose="020B0609020204030204" pitchFamily="49" charset="0"/>
              </a:rPr>
              <a:t>    </a:t>
            </a:r>
            <a:r>
              <a:rPr lang="en-US" sz="2400" b="0" i="0" dirty="0" err="1" smtClean="0">
                <a:solidFill>
                  <a:srgbClr val="000000"/>
                </a:solidFill>
                <a:effectLst/>
                <a:latin typeface="Consolas" panose="020B0609020204030204" pitchFamily="49" charset="0"/>
              </a:rPr>
              <a:t>PieChart</a:t>
            </a:r>
            <a:r>
              <a:rPr lang="en-US" sz="2400" b="0" i="0" dirty="0" smtClean="0">
                <a:solidFill>
                  <a:srgbClr val="000000"/>
                </a:solidFill>
                <a:effectLst/>
                <a:latin typeface="Consolas" panose="020B0609020204030204" pitchFamily="49" charset="0"/>
              </a:rPr>
              <a:t> chart = </a:t>
            </a:r>
            <a:r>
              <a:rPr lang="en-US" sz="2400" b="1" i="0" dirty="0" smtClean="0">
                <a:solidFill>
                  <a:srgbClr val="006699"/>
                </a:solidFill>
                <a:effectLst/>
                <a:latin typeface="Consolas" panose="020B0609020204030204" pitchFamily="49" charset="0"/>
              </a:rPr>
              <a:t>new</a:t>
            </a:r>
            <a:r>
              <a:rPr lang="en-US" sz="2400" b="0" i="0" dirty="0" smtClean="0">
                <a:solidFill>
                  <a:srgbClr val="000000"/>
                </a:solidFill>
                <a:effectLst/>
                <a:latin typeface="Consolas" panose="020B0609020204030204" pitchFamily="49" charset="0"/>
              </a:rPr>
              <a:t> </a:t>
            </a:r>
            <a:r>
              <a:rPr lang="en-US" sz="2400" b="0" i="0" dirty="0" err="1" smtClean="0">
                <a:solidFill>
                  <a:srgbClr val="000000"/>
                </a:solidFill>
                <a:effectLst/>
                <a:latin typeface="Consolas" panose="020B0609020204030204" pitchFamily="49" charset="0"/>
              </a:rPr>
              <a:t>PieChart</a:t>
            </a:r>
            <a:r>
              <a:rPr lang="en-US" sz="2400" b="0" i="0" dirty="0" smtClean="0">
                <a:solidFill>
                  <a:srgbClr val="000000"/>
                </a:solidFill>
                <a:effectLst/>
                <a:latin typeface="Consolas" panose="020B0609020204030204" pitchFamily="49" charset="0"/>
              </a:rPr>
              <a:t>();  </a:t>
            </a:r>
            <a:endParaRPr lang="en-US" sz="2400" b="0" i="0" dirty="0" smtClean="0">
              <a:solidFill>
                <a:srgbClr val="5C5C5C"/>
              </a:solidFill>
              <a:effectLst/>
              <a:latin typeface="Consolas" panose="020B0609020204030204" pitchFamily="49" charset="0"/>
            </a:endParaRPr>
          </a:p>
          <a:p>
            <a:r>
              <a:rPr lang="en-US" sz="2400" b="0" i="0" dirty="0" smtClean="0">
                <a:solidFill>
                  <a:srgbClr val="000000"/>
                </a:solidFill>
                <a:effectLst/>
                <a:latin typeface="Consolas" panose="020B0609020204030204" pitchFamily="49" charset="0"/>
              </a:rPr>
              <a:t>    </a:t>
            </a:r>
            <a:r>
              <a:rPr lang="en-US" sz="2400" b="0" i="0" dirty="0" err="1" smtClean="0">
                <a:solidFill>
                  <a:srgbClr val="000000"/>
                </a:solidFill>
                <a:effectLst/>
                <a:latin typeface="Consolas" panose="020B0609020204030204" pitchFamily="49" charset="0"/>
              </a:rPr>
              <a:t>chart.display</a:t>
            </a:r>
            <a:r>
              <a:rPr lang="en-US" sz="2400" b="0" i="0" dirty="0" smtClean="0">
                <a:solidFill>
                  <a:srgbClr val="000000"/>
                </a:solidFill>
                <a:effectLst/>
                <a:latin typeface="Consolas" panose="020B0609020204030204" pitchFamily="49" charset="0"/>
              </a:rPr>
              <a:t>();  </a:t>
            </a:r>
            <a:endParaRPr lang="en-US" sz="2400" b="0" i="0" dirty="0" smtClean="0">
              <a:solidFill>
                <a:srgbClr val="5C5C5C"/>
              </a:solidFill>
              <a:effectLst/>
              <a:latin typeface="Consolas" panose="020B0609020204030204" pitchFamily="49" charset="0"/>
            </a:endParaRPr>
          </a:p>
          <a:p>
            <a:r>
              <a:rPr lang="en-US" sz="2400" b="0" i="0" dirty="0" smtClean="0">
                <a:solidFill>
                  <a:srgbClr val="000000"/>
                </a:solidFill>
                <a:effectLst/>
                <a:latin typeface="Consolas" panose="020B0609020204030204" pitchFamily="49" charset="0"/>
              </a:rPr>
              <a:t>}  </a:t>
            </a:r>
            <a:endParaRPr lang="en-US" sz="2400" b="0" i="0" dirty="0" smtClean="0">
              <a:solidFill>
                <a:srgbClr val="5C5C5C"/>
              </a:solidFill>
              <a:effectLst/>
              <a:latin typeface="Consolas" panose="020B0609020204030204" pitchFamily="49" charset="0"/>
            </a:endParaRPr>
          </a:p>
          <a:p>
            <a:r>
              <a:rPr lang="en-US" sz="2400" b="1" i="0" dirty="0" smtClean="0">
                <a:solidFill>
                  <a:srgbClr val="006699"/>
                </a:solidFill>
                <a:effectLst/>
                <a:latin typeface="Consolas" panose="020B0609020204030204" pitchFamily="49" charset="0"/>
              </a:rPr>
              <a:t>else</a:t>
            </a:r>
            <a:r>
              <a:rPr lang="en-US" sz="2400" b="0" i="0" dirty="0" smtClean="0">
                <a:solidFill>
                  <a:srgbClr val="000000"/>
                </a:solidFill>
                <a:effectLst/>
                <a:latin typeface="Consolas" panose="020B0609020204030204" pitchFamily="49" charset="0"/>
              </a:rPr>
              <a:t> </a:t>
            </a:r>
            <a:r>
              <a:rPr lang="en-US" sz="2400" b="1" i="0" dirty="0" smtClean="0">
                <a:solidFill>
                  <a:srgbClr val="006699"/>
                </a:solidFill>
                <a:effectLst/>
                <a:latin typeface="Consolas" panose="020B0609020204030204" pitchFamily="49" charset="0"/>
              </a:rPr>
              <a:t>if</a:t>
            </a:r>
            <a:r>
              <a:rPr lang="en-US" sz="2400" b="0" i="0" dirty="0" smtClean="0">
                <a:solidFill>
                  <a:srgbClr val="000000"/>
                </a:solidFill>
                <a:effectLst/>
                <a:latin typeface="Consolas" panose="020B0609020204030204" pitchFamily="49" charset="0"/>
              </a:rPr>
              <a:t> (</a:t>
            </a:r>
            <a:r>
              <a:rPr lang="en-US" sz="2400" b="0" i="0" dirty="0" err="1" smtClean="0">
                <a:solidFill>
                  <a:srgbClr val="000000"/>
                </a:solidFill>
                <a:effectLst/>
                <a:latin typeface="Consolas" panose="020B0609020204030204" pitchFamily="49" charset="0"/>
              </a:rPr>
              <a:t>type.equals</a:t>
            </a:r>
            <a:r>
              <a:rPr lang="en-US" sz="2400" b="0" i="0" dirty="0" smtClean="0">
                <a:solidFill>
                  <a:srgbClr val="000000"/>
                </a:solidFill>
                <a:effectLst/>
                <a:latin typeface="Consolas" panose="020B0609020204030204" pitchFamily="49" charset="0"/>
              </a:rPr>
              <a:t>(</a:t>
            </a:r>
            <a:r>
              <a:rPr lang="en-US" sz="2400" b="0" i="0" dirty="0" smtClean="0">
                <a:solidFill>
                  <a:srgbClr val="0000FF"/>
                </a:solidFill>
                <a:effectLst/>
                <a:latin typeface="Consolas" panose="020B0609020204030204" pitchFamily="49" charset="0"/>
              </a:rPr>
              <a:t>"bar"</a:t>
            </a:r>
            <a:r>
              <a:rPr lang="en-US" sz="2400" b="0" i="0" dirty="0" smtClean="0">
                <a:solidFill>
                  <a:srgbClr val="000000"/>
                </a:solidFill>
                <a:effectLst/>
                <a:latin typeface="Consolas" panose="020B0609020204030204" pitchFamily="49" charset="0"/>
              </a:rPr>
              <a:t>)) {  </a:t>
            </a:r>
            <a:endParaRPr lang="en-US" sz="2400" b="0" i="0" dirty="0" smtClean="0">
              <a:solidFill>
                <a:srgbClr val="5C5C5C"/>
              </a:solidFill>
              <a:effectLst/>
              <a:latin typeface="Consolas" panose="020B0609020204030204" pitchFamily="49" charset="0"/>
            </a:endParaRPr>
          </a:p>
          <a:p>
            <a:r>
              <a:rPr lang="en-US" sz="2400" b="0" i="0" dirty="0" smtClean="0">
                <a:solidFill>
                  <a:srgbClr val="000000"/>
                </a:solidFill>
                <a:effectLst/>
                <a:latin typeface="Consolas" panose="020B0609020204030204" pitchFamily="49" charset="0"/>
              </a:rPr>
              <a:t>    </a:t>
            </a:r>
            <a:r>
              <a:rPr lang="en-US" sz="2400" b="0" i="0" dirty="0" err="1" smtClean="0">
                <a:solidFill>
                  <a:srgbClr val="000000"/>
                </a:solidFill>
                <a:effectLst/>
                <a:latin typeface="Consolas" panose="020B0609020204030204" pitchFamily="49" charset="0"/>
              </a:rPr>
              <a:t>BarChart</a:t>
            </a:r>
            <a:r>
              <a:rPr lang="en-US" sz="2400" b="0" i="0" dirty="0" smtClean="0">
                <a:solidFill>
                  <a:srgbClr val="000000"/>
                </a:solidFill>
                <a:effectLst/>
                <a:latin typeface="Consolas" panose="020B0609020204030204" pitchFamily="49" charset="0"/>
              </a:rPr>
              <a:t> chart = </a:t>
            </a:r>
            <a:r>
              <a:rPr lang="en-US" sz="2400" b="1" i="0" dirty="0" smtClean="0">
                <a:solidFill>
                  <a:srgbClr val="006699"/>
                </a:solidFill>
                <a:effectLst/>
                <a:latin typeface="Consolas" panose="020B0609020204030204" pitchFamily="49" charset="0"/>
              </a:rPr>
              <a:t>new</a:t>
            </a:r>
            <a:r>
              <a:rPr lang="en-US" sz="2400" b="0" i="0" dirty="0" smtClean="0">
                <a:solidFill>
                  <a:srgbClr val="000000"/>
                </a:solidFill>
                <a:effectLst/>
                <a:latin typeface="Consolas" panose="020B0609020204030204" pitchFamily="49" charset="0"/>
              </a:rPr>
              <a:t> </a:t>
            </a:r>
            <a:r>
              <a:rPr lang="en-US" sz="2400" b="0" i="0" dirty="0" err="1" smtClean="0">
                <a:solidFill>
                  <a:srgbClr val="000000"/>
                </a:solidFill>
                <a:effectLst/>
                <a:latin typeface="Consolas" panose="020B0609020204030204" pitchFamily="49" charset="0"/>
              </a:rPr>
              <a:t>BarChart</a:t>
            </a:r>
            <a:r>
              <a:rPr lang="en-US" sz="2400" b="0" i="0" dirty="0" smtClean="0">
                <a:solidFill>
                  <a:srgbClr val="000000"/>
                </a:solidFill>
                <a:effectLst/>
                <a:latin typeface="Consolas" panose="020B0609020204030204" pitchFamily="49" charset="0"/>
              </a:rPr>
              <a:t>();  </a:t>
            </a:r>
            <a:endParaRPr lang="en-US" sz="2400" b="0" i="0" dirty="0" smtClean="0">
              <a:solidFill>
                <a:srgbClr val="5C5C5C"/>
              </a:solidFill>
              <a:effectLst/>
              <a:latin typeface="Consolas" panose="020B0609020204030204" pitchFamily="49" charset="0"/>
            </a:endParaRPr>
          </a:p>
          <a:p>
            <a:r>
              <a:rPr lang="en-US" sz="2400" b="0" i="0" dirty="0" smtClean="0">
                <a:solidFill>
                  <a:srgbClr val="000000"/>
                </a:solidFill>
                <a:effectLst/>
                <a:latin typeface="Consolas" panose="020B0609020204030204" pitchFamily="49" charset="0"/>
              </a:rPr>
              <a:t>    </a:t>
            </a:r>
            <a:r>
              <a:rPr lang="en-US" sz="2400" b="0" i="0" dirty="0" err="1" smtClean="0">
                <a:solidFill>
                  <a:srgbClr val="000000"/>
                </a:solidFill>
                <a:effectLst/>
                <a:latin typeface="Consolas" panose="020B0609020204030204" pitchFamily="49" charset="0"/>
              </a:rPr>
              <a:t>chart.display</a:t>
            </a:r>
            <a:r>
              <a:rPr lang="en-US" sz="2400" b="0" i="0" dirty="0" smtClean="0">
                <a:solidFill>
                  <a:srgbClr val="000000"/>
                </a:solidFill>
                <a:effectLst/>
                <a:latin typeface="Consolas" panose="020B0609020204030204" pitchFamily="49" charset="0"/>
              </a:rPr>
              <a:t>();  </a:t>
            </a:r>
            <a:endParaRPr lang="en-US" sz="2400" b="0" i="0" dirty="0" smtClean="0">
              <a:solidFill>
                <a:srgbClr val="5C5C5C"/>
              </a:solidFill>
              <a:effectLst/>
              <a:latin typeface="Consolas" panose="020B0609020204030204" pitchFamily="49" charset="0"/>
            </a:endParaRPr>
          </a:p>
          <a:p>
            <a:r>
              <a:rPr lang="en-US" sz="2400" b="0" i="0" dirty="0" smtClean="0">
                <a:solidFill>
                  <a:srgbClr val="000000"/>
                </a:solidFill>
                <a:effectLst/>
                <a:latin typeface="Consolas" panose="020B0609020204030204" pitchFamily="49" charset="0"/>
              </a:rPr>
              <a:t>}</a:t>
            </a:r>
            <a:endParaRPr lang="en-US" sz="2400" b="0" i="0" dirty="0">
              <a:solidFill>
                <a:srgbClr val="5C5C5C"/>
              </a:solidFill>
              <a:effectLst/>
              <a:latin typeface="Consolas" panose="020B0609020204030204" pitchFamily="49" charset="0"/>
            </a:endParaRPr>
          </a:p>
        </p:txBody>
      </p:sp>
      <p:sp>
        <p:nvSpPr>
          <p:cNvPr id="7" name="矩形 6"/>
          <p:cNvSpPr/>
          <p:nvPr/>
        </p:nvSpPr>
        <p:spPr>
          <a:xfrm>
            <a:off x="7504531" y="390829"/>
            <a:ext cx="4329829" cy="2677656"/>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800" b="0" i="0" dirty="0" smtClean="0">
                <a:solidFill>
                  <a:srgbClr val="000000"/>
                </a:solidFill>
                <a:effectLst/>
                <a:latin typeface="Arial" panose="020B0604020202020204" pitchFamily="34" charset="0"/>
              </a:rPr>
              <a:t>如果需要增加一个新的图表类，如折线图</a:t>
            </a:r>
            <a:r>
              <a:rPr lang="en-US" altLang="zh-CN" sz="2800" b="0" i="0" dirty="0" err="1" smtClean="0">
                <a:solidFill>
                  <a:srgbClr val="000000"/>
                </a:solidFill>
                <a:effectLst/>
                <a:latin typeface="Times New Roman" panose="02020603050405020304" pitchFamily="18" charset="0"/>
              </a:rPr>
              <a:t>LineChart</a:t>
            </a:r>
            <a:r>
              <a:rPr lang="zh-CN" altLang="en-US" sz="2800" b="0" i="0" dirty="0" smtClean="0">
                <a:solidFill>
                  <a:srgbClr val="000000"/>
                </a:solidFill>
                <a:effectLst/>
                <a:latin typeface="Arial" panose="020B0604020202020204" pitchFamily="34" charset="0"/>
              </a:rPr>
              <a:t>，则需要修改</a:t>
            </a:r>
            <a:r>
              <a:rPr lang="en-US" altLang="zh-CN" sz="2800" b="0" i="0" dirty="0" err="1" smtClean="0">
                <a:solidFill>
                  <a:srgbClr val="000000"/>
                </a:solidFill>
                <a:effectLst/>
                <a:latin typeface="Times New Roman" panose="02020603050405020304" pitchFamily="18" charset="0"/>
              </a:rPr>
              <a:t>ChartDisplay</a:t>
            </a:r>
            <a:r>
              <a:rPr lang="zh-CN" altLang="en-US" sz="2800" b="0" i="0" dirty="0" smtClean="0">
                <a:solidFill>
                  <a:srgbClr val="000000"/>
                </a:solidFill>
                <a:effectLst/>
                <a:latin typeface="Arial" panose="020B0604020202020204" pitchFamily="34" charset="0"/>
              </a:rPr>
              <a:t>类的</a:t>
            </a:r>
            <a:r>
              <a:rPr lang="en-US" altLang="zh-CN" sz="2800" b="0" i="0" dirty="0" smtClean="0">
                <a:solidFill>
                  <a:srgbClr val="000000"/>
                </a:solidFill>
                <a:effectLst/>
                <a:latin typeface="Times New Roman" panose="02020603050405020304" pitchFamily="18" charset="0"/>
              </a:rPr>
              <a:t>display()</a:t>
            </a:r>
            <a:r>
              <a:rPr lang="zh-CN" altLang="en-US" sz="2800" b="0" i="0" dirty="0" smtClean="0">
                <a:solidFill>
                  <a:srgbClr val="000000"/>
                </a:solidFill>
                <a:effectLst/>
                <a:latin typeface="Arial" panose="020B0604020202020204" pitchFamily="34" charset="0"/>
              </a:rPr>
              <a:t>方法的源代码，增加新的判断逻辑，违反了开闭原则。</a:t>
            </a:r>
            <a:endParaRPr lang="en-US" sz="2800" dirty="0"/>
          </a:p>
        </p:txBody>
      </p:sp>
    </p:spTree>
    <p:extLst>
      <p:ext uri="{BB962C8B-B14F-4D97-AF65-F5344CB8AC3E}">
        <p14:creationId xmlns:p14="http://schemas.microsoft.com/office/powerpoint/2010/main" val="2894138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3450790" y="2812550"/>
            <a:ext cx="8459292" cy="3513094"/>
          </a:xfrm>
          <a:prstGeom prst="rect">
            <a:avLst/>
          </a:prstGeom>
        </p:spPr>
      </p:pic>
      <p:pic>
        <p:nvPicPr>
          <p:cNvPr id="5" name="图片 4"/>
          <p:cNvPicPr>
            <a:picLocks noChangeAspect="1"/>
          </p:cNvPicPr>
          <p:nvPr/>
        </p:nvPicPr>
        <p:blipFill>
          <a:blip r:embed="rId4"/>
          <a:stretch>
            <a:fillRect/>
          </a:stretch>
        </p:blipFill>
        <p:spPr>
          <a:xfrm>
            <a:off x="276225" y="219597"/>
            <a:ext cx="4746712" cy="2072094"/>
          </a:xfrm>
          <a:prstGeom prst="rect">
            <a:avLst/>
          </a:prstGeom>
        </p:spPr>
      </p:pic>
      <p:sp>
        <p:nvSpPr>
          <p:cNvPr id="6" name="右箭头 5"/>
          <p:cNvSpPr/>
          <p:nvPr/>
        </p:nvSpPr>
        <p:spPr>
          <a:xfrm rot="2967646">
            <a:off x="2696529" y="2395546"/>
            <a:ext cx="1127342" cy="3131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44754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1337080257_59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7198" y="668564"/>
            <a:ext cx="7401568"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 Box 5"/>
          <p:cNvSpPr txBox="1">
            <a:spLocks noChangeArrowheads="1"/>
          </p:cNvSpPr>
          <p:nvPr/>
        </p:nvSpPr>
        <p:spPr bwMode="auto">
          <a:xfrm>
            <a:off x="2495550" y="3644901"/>
            <a:ext cx="67691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t>客户端的一个方法直接调用加法类，但是若想添加一个减法类，就会发现添加减法类就</a:t>
            </a:r>
            <a:r>
              <a:rPr lang="zh-CN" altLang="en-US"/>
              <a:t>得</a:t>
            </a:r>
            <a:r>
              <a:rPr lang="zh-CN" altLang="en-US" smtClean="0"/>
              <a:t>改变客户端类中</a:t>
            </a:r>
            <a:r>
              <a:rPr lang="zh-CN" altLang="en-US" dirty="0"/>
              <a:t>代码（用</a:t>
            </a:r>
            <a:r>
              <a:rPr lang="en-US" altLang="zh-CN" dirty="0"/>
              <a:t>switch</a:t>
            </a:r>
            <a:r>
              <a:rPr lang="zh-CN" altLang="en-US" dirty="0"/>
              <a:t>语句实现），这就违背了“开闭原则”，于是我们就应该重新重构。 </a:t>
            </a:r>
          </a:p>
        </p:txBody>
      </p:sp>
    </p:spTree>
    <p:extLst>
      <p:ext uri="{BB962C8B-B14F-4D97-AF65-F5344CB8AC3E}">
        <p14:creationId xmlns:p14="http://schemas.microsoft.com/office/powerpoint/2010/main" val="17839951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linds(horizontal)">
                                      <p:cBhvr>
                                        <p:cTn id="7" dur="500"/>
                                        <p:tgtEl>
                                          <p:spTgt spid="92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221"/>
                                        </p:tgtEl>
                                        <p:attrNameLst>
                                          <p:attrName>style.visibility</p:attrName>
                                        </p:attrNameLst>
                                      </p:cBhvr>
                                      <p:to>
                                        <p:strVal val="visible"/>
                                      </p:to>
                                    </p:set>
                                    <p:anim calcmode="lin" valueType="num">
                                      <p:cBhvr additive="base">
                                        <p:cTn id="12" dur="500" fill="hold"/>
                                        <p:tgtEl>
                                          <p:spTgt spid="9221"/>
                                        </p:tgtEl>
                                        <p:attrNameLst>
                                          <p:attrName>ppt_x</p:attrName>
                                        </p:attrNameLst>
                                      </p:cBhvr>
                                      <p:tavLst>
                                        <p:tav tm="0">
                                          <p:val>
                                            <p:strVal val="#ppt_x"/>
                                          </p:val>
                                        </p:tav>
                                        <p:tav tm="100000">
                                          <p:val>
                                            <p:strVal val="#ppt_x"/>
                                          </p:val>
                                        </p:tav>
                                      </p:tavLst>
                                    </p:anim>
                                    <p:anim calcmode="lin" valueType="num">
                                      <p:cBhvr additive="base">
                                        <p:cTn id="13" dur="500" fill="hold"/>
                                        <p:tgtEl>
                                          <p:spTgt spid="92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Text Box 5"/>
          <p:cNvSpPr txBox="1">
            <a:spLocks noChangeArrowheads="1"/>
          </p:cNvSpPr>
          <p:nvPr/>
        </p:nvSpPr>
        <p:spPr bwMode="auto">
          <a:xfrm>
            <a:off x="2843387" y="5056755"/>
            <a:ext cx="648176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t>添加了一个运算类的父类，这样我们再添加减法类的时候就不用修改客户端类。 </a:t>
            </a:r>
          </a:p>
        </p:txBody>
      </p:sp>
      <p:pic>
        <p:nvPicPr>
          <p:cNvPr id="2" name="图片 1"/>
          <p:cNvPicPr>
            <a:picLocks noChangeAspect="1"/>
          </p:cNvPicPr>
          <p:nvPr/>
        </p:nvPicPr>
        <p:blipFill>
          <a:blip r:embed="rId3"/>
          <a:stretch>
            <a:fillRect/>
          </a:stretch>
        </p:blipFill>
        <p:spPr>
          <a:xfrm>
            <a:off x="1853180" y="259440"/>
            <a:ext cx="9073845" cy="4552046"/>
          </a:xfrm>
          <a:prstGeom prst="rect">
            <a:avLst/>
          </a:prstGeom>
        </p:spPr>
      </p:pic>
    </p:spTree>
    <p:extLst>
      <p:ext uri="{BB962C8B-B14F-4D97-AF65-F5344CB8AC3E}">
        <p14:creationId xmlns:p14="http://schemas.microsoft.com/office/powerpoint/2010/main" val="28957396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 calcmode="lin" valueType="num">
                                      <p:cBhvr additive="base">
                                        <p:cTn id="7" dur="500" fill="hold"/>
                                        <p:tgtEl>
                                          <p:spTgt spid="10245"/>
                                        </p:tgtEl>
                                        <p:attrNameLst>
                                          <p:attrName>ppt_x</p:attrName>
                                        </p:attrNameLst>
                                      </p:cBhvr>
                                      <p:tavLst>
                                        <p:tav tm="0">
                                          <p:val>
                                            <p:strVal val="#ppt_x"/>
                                          </p:val>
                                        </p:tav>
                                        <p:tav tm="100000">
                                          <p:val>
                                            <p:strVal val="#ppt_x"/>
                                          </p:val>
                                        </p:tav>
                                      </p:tavLst>
                                    </p:anim>
                                    <p:anim calcmode="lin" valueType="num">
                                      <p:cBhvr additive="base">
                                        <p:cTn id="8" dur="500" fill="hold"/>
                                        <p:tgtEl>
                                          <p:spTgt spid="102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2"/>
          <p:cNvSpPr txBox="1">
            <a:spLocks noChangeArrowheads="1"/>
          </p:cNvSpPr>
          <p:nvPr/>
        </p:nvSpPr>
        <p:spPr bwMode="auto">
          <a:xfrm>
            <a:off x="816429" y="87611"/>
            <a:ext cx="103414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err="1">
                <a:solidFill>
                  <a:srgbClr val="FFFF00"/>
                </a:solidFill>
              </a:rPr>
              <a:t>eg</a:t>
            </a:r>
            <a:r>
              <a:rPr lang="zh-CN" altLang="en-US" sz="2400" b="1" dirty="0">
                <a:solidFill>
                  <a:srgbClr val="FFFF00"/>
                </a:solidFill>
              </a:rPr>
              <a:t>： 实现一个能够根据客户端的调用要求绘制圆形和长方形的应用程序 </a:t>
            </a:r>
          </a:p>
        </p:txBody>
      </p:sp>
      <p:sp>
        <p:nvSpPr>
          <p:cNvPr id="12301" name="Text Box 13"/>
          <p:cNvSpPr txBox="1">
            <a:spLocks noChangeArrowheads="1"/>
          </p:cNvSpPr>
          <p:nvPr/>
        </p:nvSpPr>
        <p:spPr bwMode="auto">
          <a:xfrm>
            <a:off x="1071902" y="549276"/>
            <a:ext cx="4807405"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a:t>public</a:t>
            </a:r>
            <a:r>
              <a:rPr lang="en-US" altLang="zh-CN" sz="2000" dirty="0"/>
              <a:t> </a:t>
            </a:r>
            <a:r>
              <a:rPr lang="en-US" altLang="zh-CN" sz="2000" b="1" dirty="0"/>
              <a:t>class</a:t>
            </a:r>
            <a:r>
              <a:rPr lang="en-US" altLang="zh-CN" sz="2000" dirty="0"/>
              <a:t> Draw  </a:t>
            </a:r>
          </a:p>
          <a:p>
            <a:pPr eaLnBrk="1" hangingPunct="1"/>
            <a:r>
              <a:rPr lang="en-US" altLang="zh-CN" sz="2000" dirty="0"/>
              <a:t>{  </a:t>
            </a:r>
          </a:p>
          <a:p>
            <a:pPr eaLnBrk="1" hangingPunct="1"/>
            <a:r>
              <a:rPr lang="en-US" altLang="zh-CN" sz="2000" dirty="0"/>
              <a:t>    </a:t>
            </a:r>
            <a:r>
              <a:rPr lang="en-US" altLang="zh-CN" sz="2000" b="1" dirty="0"/>
              <a:t>public</a:t>
            </a:r>
            <a:r>
              <a:rPr lang="en-US" altLang="zh-CN" sz="2000" dirty="0"/>
              <a:t> </a:t>
            </a:r>
            <a:r>
              <a:rPr lang="en-US" altLang="zh-CN" sz="2000" b="1" dirty="0"/>
              <a:t>void</a:t>
            </a:r>
            <a:r>
              <a:rPr lang="en-US" altLang="zh-CN" sz="2000" dirty="0"/>
              <a:t> </a:t>
            </a:r>
            <a:r>
              <a:rPr lang="en-US" altLang="zh-CN" sz="2000" dirty="0" err="1"/>
              <a:t>DrawRectangle</a:t>
            </a:r>
            <a:r>
              <a:rPr lang="en-US" altLang="zh-CN" sz="2000" dirty="0"/>
              <a:t>()  {  </a:t>
            </a:r>
          </a:p>
          <a:p>
            <a:pPr eaLnBrk="1" hangingPunct="1"/>
            <a:r>
              <a:rPr lang="en-US" altLang="zh-CN" sz="2000" dirty="0"/>
              <a:t>        //</a:t>
            </a:r>
            <a:r>
              <a:rPr lang="zh-CN" altLang="en-US" sz="2000" dirty="0"/>
              <a:t>绘制长方形  </a:t>
            </a:r>
          </a:p>
          <a:p>
            <a:pPr eaLnBrk="1" hangingPunct="1"/>
            <a:r>
              <a:rPr lang="zh-CN" altLang="en-US" sz="2000" dirty="0"/>
              <a:t>    </a:t>
            </a:r>
            <a:r>
              <a:rPr lang="en-US" altLang="zh-CN" sz="2000" dirty="0"/>
              <a:t>}   </a:t>
            </a:r>
          </a:p>
          <a:p>
            <a:pPr eaLnBrk="1" hangingPunct="1"/>
            <a:r>
              <a:rPr lang="en-US" altLang="zh-CN" sz="2000" dirty="0"/>
              <a:t>    </a:t>
            </a:r>
            <a:r>
              <a:rPr lang="en-US" altLang="zh-CN" sz="2000" b="1" dirty="0"/>
              <a:t>public</a:t>
            </a:r>
            <a:r>
              <a:rPr lang="en-US" altLang="zh-CN" sz="2000" dirty="0"/>
              <a:t> </a:t>
            </a:r>
            <a:r>
              <a:rPr lang="en-US" altLang="zh-CN" sz="2000" b="1" dirty="0"/>
              <a:t>void</a:t>
            </a:r>
            <a:r>
              <a:rPr lang="en-US" altLang="zh-CN" sz="2000" dirty="0"/>
              <a:t> </a:t>
            </a:r>
            <a:r>
              <a:rPr lang="en-US" altLang="zh-CN" sz="2000" dirty="0" err="1"/>
              <a:t>DrawCircle</a:t>
            </a:r>
            <a:r>
              <a:rPr lang="en-US" altLang="zh-CN" sz="2000" dirty="0"/>
              <a:t>()   {  </a:t>
            </a:r>
          </a:p>
          <a:p>
            <a:pPr eaLnBrk="1" hangingPunct="1"/>
            <a:r>
              <a:rPr lang="en-US" altLang="zh-CN" sz="2000" dirty="0"/>
              <a:t>        //</a:t>
            </a:r>
            <a:r>
              <a:rPr lang="zh-CN" altLang="en-US" sz="2000" dirty="0"/>
              <a:t>绘制圆形  </a:t>
            </a:r>
          </a:p>
          <a:p>
            <a:pPr eaLnBrk="1" hangingPunct="1"/>
            <a:r>
              <a:rPr lang="zh-CN" altLang="en-US" sz="2000" dirty="0"/>
              <a:t>    </a:t>
            </a:r>
            <a:r>
              <a:rPr lang="en-US" altLang="zh-CN" sz="2000" dirty="0"/>
              <a:t>}  </a:t>
            </a:r>
          </a:p>
          <a:p>
            <a:pPr eaLnBrk="1" hangingPunct="1"/>
            <a:r>
              <a:rPr lang="en-US" altLang="zh-CN" sz="2000" dirty="0"/>
              <a:t>}  </a:t>
            </a:r>
            <a:endParaRPr lang="en-US" altLang="zh-CN" sz="2000" b="1" dirty="0"/>
          </a:p>
          <a:p>
            <a:pPr eaLnBrk="1" hangingPunct="1"/>
            <a:r>
              <a:rPr lang="en-US" altLang="zh-CN" sz="2000" b="1" dirty="0"/>
              <a:t>public</a:t>
            </a:r>
            <a:r>
              <a:rPr lang="en-US" altLang="zh-CN" sz="2000" dirty="0"/>
              <a:t> </a:t>
            </a:r>
            <a:r>
              <a:rPr lang="en-US" altLang="zh-CN" sz="2000" b="1" dirty="0" err="1"/>
              <a:t>enum</a:t>
            </a:r>
            <a:r>
              <a:rPr lang="en-US" altLang="zh-CN" sz="2000" dirty="0"/>
              <a:t> Sharp  </a:t>
            </a:r>
          </a:p>
          <a:p>
            <a:pPr eaLnBrk="1" hangingPunct="1"/>
            <a:r>
              <a:rPr lang="en-US" altLang="zh-CN" sz="2000" dirty="0"/>
              <a:t>{  </a:t>
            </a:r>
          </a:p>
          <a:p>
            <a:pPr eaLnBrk="1" hangingPunct="1"/>
            <a:r>
              <a:rPr lang="en-US" altLang="zh-CN" sz="2000" dirty="0"/>
              <a:t>    /// &lt;summary&gt;  </a:t>
            </a:r>
          </a:p>
          <a:p>
            <a:pPr eaLnBrk="1" hangingPunct="1"/>
            <a:r>
              <a:rPr lang="en-US" altLang="zh-CN" sz="2000" dirty="0"/>
              <a:t>    /// </a:t>
            </a:r>
            <a:r>
              <a:rPr lang="zh-CN" altLang="en-US" sz="2000" dirty="0"/>
              <a:t>长方形  </a:t>
            </a:r>
          </a:p>
          <a:p>
            <a:pPr eaLnBrk="1" hangingPunct="1"/>
            <a:r>
              <a:rPr lang="zh-CN" altLang="en-US" sz="2000" dirty="0"/>
              <a:t>    </a:t>
            </a:r>
            <a:r>
              <a:rPr lang="en-US" altLang="zh-CN" sz="2000" dirty="0"/>
              <a:t>/// &lt;/summary&gt;  </a:t>
            </a:r>
          </a:p>
          <a:p>
            <a:pPr eaLnBrk="1" hangingPunct="1"/>
            <a:r>
              <a:rPr lang="en-US" altLang="zh-CN" sz="2000" dirty="0"/>
              <a:t>    Rectangle ,   </a:t>
            </a:r>
          </a:p>
          <a:p>
            <a:pPr eaLnBrk="1" hangingPunct="1"/>
            <a:r>
              <a:rPr lang="en-US" altLang="zh-CN" sz="2000" dirty="0"/>
              <a:t>    /// &lt;summary&gt;  </a:t>
            </a:r>
          </a:p>
          <a:p>
            <a:pPr eaLnBrk="1" hangingPunct="1"/>
            <a:r>
              <a:rPr lang="en-US" altLang="zh-CN" sz="2000" dirty="0"/>
              <a:t>    /// </a:t>
            </a:r>
            <a:r>
              <a:rPr lang="zh-CN" altLang="en-US" sz="2000" dirty="0"/>
              <a:t>圆形  </a:t>
            </a:r>
          </a:p>
          <a:p>
            <a:pPr eaLnBrk="1" hangingPunct="1"/>
            <a:r>
              <a:rPr lang="zh-CN" altLang="en-US" sz="2000" dirty="0"/>
              <a:t>    </a:t>
            </a:r>
            <a:r>
              <a:rPr lang="en-US" altLang="zh-CN" sz="2000" dirty="0"/>
              <a:t>/// &lt;/summary&gt;  </a:t>
            </a:r>
          </a:p>
          <a:p>
            <a:pPr eaLnBrk="1" hangingPunct="1"/>
            <a:r>
              <a:rPr lang="en-US" altLang="zh-CN" sz="2000" dirty="0"/>
              <a:t>    Circle ,  </a:t>
            </a:r>
          </a:p>
          <a:p>
            <a:pPr eaLnBrk="1" hangingPunct="1"/>
            <a:r>
              <a:rPr lang="en-US" altLang="zh-CN" sz="2000" dirty="0"/>
              <a:t>}   </a:t>
            </a:r>
            <a:endParaRPr lang="en-US" altLang="zh-CN" sz="2000" b="1" dirty="0"/>
          </a:p>
        </p:txBody>
      </p:sp>
      <p:sp>
        <p:nvSpPr>
          <p:cNvPr id="12303" name="Text Box 15"/>
          <p:cNvSpPr txBox="1">
            <a:spLocks noChangeArrowheads="1"/>
          </p:cNvSpPr>
          <p:nvPr/>
        </p:nvSpPr>
        <p:spPr bwMode="auto">
          <a:xfrm>
            <a:off x="5807473" y="549276"/>
            <a:ext cx="5422218"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dirty="0"/>
              <a:t>public</a:t>
            </a:r>
            <a:r>
              <a:rPr lang="en-US" altLang="zh-CN" sz="1800" dirty="0"/>
              <a:t> </a:t>
            </a:r>
            <a:r>
              <a:rPr lang="en-US" altLang="zh-CN" sz="1800" b="1" dirty="0"/>
              <a:t>class</a:t>
            </a:r>
            <a:r>
              <a:rPr lang="en-US" altLang="zh-CN" sz="1800" dirty="0"/>
              <a:t> </a:t>
            </a:r>
            <a:r>
              <a:rPr lang="en-US" altLang="zh-CN" sz="1800" dirty="0" err="1"/>
              <a:t>DrawProcess</a:t>
            </a:r>
            <a:r>
              <a:rPr lang="en-US" altLang="zh-CN" sz="1800" dirty="0"/>
              <a:t>  </a:t>
            </a:r>
          </a:p>
          <a:p>
            <a:pPr eaLnBrk="1" hangingPunct="1"/>
            <a:r>
              <a:rPr lang="en-US" altLang="zh-CN" sz="1800" dirty="0"/>
              <a:t>{  </a:t>
            </a:r>
          </a:p>
          <a:p>
            <a:pPr eaLnBrk="1" hangingPunct="1"/>
            <a:r>
              <a:rPr lang="en-US" altLang="zh-CN" sz="1800" dirty="0"/>
              <a:t>    </a:t>
            </a:r>
            <a:r>
              <a:rPr lang="en-US" altLang="zh-CN" sz="1800" b="1" dirty="0"/>
              <a:t>private</a:t>
            </a:r>
            <a:r>
              <a:rPr lang="en-US" altLang="zh-CN" sz="1800" dirty="0"/>
              <a:t> Draw _draw = </a:t>
            </a:r>
            <a:r>
              <a:rPr lang="en-US" altLang="zh-CN" sz="1800" b="1" dirty="0"/>
              <a:t>new</a:t>
            </a:r>
            <a:r>
              <a:rPr lang="en-US" altLang="zh-CN" sz="1800" dirty="0"/>
              <a:t> Draw();  </a:t>
            </a:r>
          </a:p>
          <a:p>
            <a:pPr eaLnBrk="1" hangingPunct="1"/>
            <a:r>
              <a:rPr lang="en-US" altLang="zh-CN" sz="1800" dirty="0"/>
              <a:t> </a:t>
            </a:r>
          </a:p>
          <a:p>
            <a:pPr eaLnBrk="1" hangingPunct="1"/>
            <a:r>
              <a:rPr lang="en-US" altLang="zh-CN" sz="1800" dirty="0"/>
              <a:t>    </a:t>
            </a:r>
            <a:r>
              <a:rPr lang="en-US" altLang="zh-CN" sz="1800" b="1" dirty="0"/>
              <a:t>public</a:t>
            </a:r>
            <a:r>
              <a:rPr lang="en-US" altLang="zh-CN" sz="1800" dirty="0"/>
              <a:t> </a:t>
            </a:r>
            <a:r>
              <a:rPr lang="en-US" altLang="zh-CN" sz="1800" b="1" dirty="0"/>
              <a:t>void</a:t>
            </a:r>
            <a:r>
              <a:rPr lang="en-US" altLang="zh-CN" sz="1800" dirty="0"/>
              <a:t> Draw(Sharp sharp)  {  </a:t>
            </a:r>
          </a:p>
          <a:p>
            <a:pPr eaLnBrk="1" hangingPunct="1"/>
            <a:r>
              <a:rPr lang="en-US" altLang="zh-CN" sz="1800" dirty="0"/>
              <a:t>        </a:t>
            </a:r>
            <a:r>
              <a:rPr lang="en-US" altLang="zh-CN" sz="1800" b="1" dirty="0"/>
              <a:t>switch</a:t>
            </a:r>
            <a:r>
              <a:rPr lang="en-US" altLang="zh-CN" sz="1800" dirty="0"/>
              <a:t> (sharp)  </a:t>
            </a:r>
            <a:r>
              <a:rPr lang="en-US" altLang="zh-CN" sz="1800" dirty="0" smtClean="0"/>
              <a:t>{ </a:t>
            </a:r>
            <a:r>
              <a:rPr lang="en-US" altLang="zh-CN" sz="1800" dirty="0"/>
              <a:t> </a:t>
            </a:r>
          </a:p>
          <a:p>
            <a:pPr eaLnBrk="1" hangingPunct="1"/>
            <a:r>
              <a:rPr lang="en-US" altLang="zh-CN" sz="1800" dirty="0"/>
              <a:t>            </a:t>
            </a:r>
            <a:r>
              <a:rPr lang="en-US" altLang="zh-CN" sz="1800" b="1" dirty="0"/>
              <a:t>case</a:t>
            </a:r>
            <a:r>
              <a:rPr lang="en-US" altLang="zh-CN" sz="1800" dirty="0"/>
              <a:t> </a:t>
            </a:r>
            <a:r>
              <a:rPr lang="en-US" altLang="zh-CN" sz="1800" dirty="0" err="1"/>
              <a:t>Sharp.Rectangle</a:t>
            </a:r>
            <a:r>
              <a:rPr lang="en-US" altLang="zh-CN" sz="1800" dirty="0"/>
              <a:t>:  </a:t>
            </a:r>
          </a:p>
          <a:p>
            <a:pPr eaLnBrk="1" hangingPunct="1"/>
            <a:r>
              <a:rPr lang="en-US" altLang="zh-CN" sz="1800" dirty="0"/>
              <a:t>                _</a:t>
            </a:r>
            <a:r>
              <a:rPr lang="en-US" altLang="zh-CN" sz="1800" dirty="0" err="1"/>
              <a:t>draw.DrawRectangle</a:t>
            </a:r>
            <a:r>
              <a:rPr lang="en-US" altLang="zh-CN" sz="1800" dirty="0"/>
              <a:t>();  </a:t>
            </a:r>
          </a:p>
          <a:p>
            <a:pPr eaLnBrk="1" hangingPunct="1"/>
            <a:r>
              <a:rPr lang="en-US" altLang="zh-CN" sz="1800" dirty="0"/>
              <a:t>                </a:t>
            </a:r>
            <a:r>
              <a:rPr lang="en-US" altLang="zh-CN" sz="1800" b="1" dirty="0"/>
              <a:t>break</a:t>
            </a:r>
            <a:r>
              <a:rPr lang="en-US" altLang="zh-CN" sz="1800" dirty="0"/>
              <a:t>;  </a:t>
            </a:r>
          </a:p>
          <a:p>
            <a:pPr eaLnBrk="1" hangingPunct="1"/>
            <a:r>
              <a:rPr lang="en-US" altLang="zh-CN" sz="1800" dirty="0"/>
              <a:t>            </a:t>
            </a:r>
            <a:r>
              <a:rPr lang="en-US" altLang="zh-CN" sz="1800" b="1" dirty="0"/>
              <a:t>case</a:t>
            </a:r>
            <a:r>
              <a:rPr lang="en-US" altLang="zh-CN" sz="1800" dirty="0"/>
              <a:t> </a:t>
            </a:r>
            <a:r>
              <a:rPr lang="en-US" altLang="zh-CN" sz="1800" dirty="0" err="1"/>
              <a:t>Sharp.Circle</a:t>
            </a:r>
            <a:r>
              <a:rPr lang="en-US" altLang="zh-CN" sz="1800" dirty="0"/>
              <a:t>:  </a:t>
            </a:r>
          </a:p>
          <a:p>
            <a:pPr eaLnBrk="1" hangingPunct="1"/>
            <a:r>
              <a:rPr lang="en-US" altLang="zh-CN" sz="1800" dirty="0"/>
              <a:t>                _</a:t>
            </a:r>
            <a:r>
              <a:rPr lang="en-US" altLang="zh-CN" sz="1800" dirty="0" err="1"/>
              <a:t>draw.DrawCircle</a:t>
            </a:r>
            <a:r>
              <a:rPr lang="en-US" altLang="zh-CN" sz="1800" dirty="0"/>
              <a:t>();  </a:t>
            </a:r>
          </a:p>
          <a:p>
            <a:pPr eaLnBrk="1" hangingPunct="1"/>
            <a:r>
              <a:rPr lang="en-US" altLang="zh-CN" sz="1800" dirty="0"/>
              <a:t>                </a:t>
            </a:r>
            <a:r>
              <a:rPr lang="en-US" altLang="zh-CN" sz="1800" b="1" dirty="0"/>
              <a:t>break</a:t>
            </a:r>
            <a:r>
              <a:rPr lang="en-US" altLang="zh-CN" sz="1800" dirty="0"/>
              <a:t>;  </a:t>
            </a:r>
          </a:p>
          <a:p>
            <a:pPr eaLnBrk="1" hangingPunct="1"/>
            <a:r>
              <a:rPr lang="en-US" altLang="zh-CN" sz="1800" dirty="0"/>
              <a:t>            </a:t>
            </a:r>
            <a:r>
              <a:rPr lang="en-US" altLang="zh-CN" sz="1800" b="1" dirty="0"/>
              <a:t>default</a:t>
            </a:r>
            <a:r>
              <a:rPr lang="en-US" altLang="zh-CN" sz="1800" dirty="0"/>
              <a:t>:  </a:t>
            </a:r>
          </a:p>
          <a:p>
            <a:pPr eaLnBrk="1" hangingPunct="1"/>
            <a:r>
              <a:rPr lang="en-US" altLang="zh-CN" sz="1800" dirty="0"/>
              <a:t>                </a:t>
            </a:r>
            <a:r>
              <a:rPr lang="en-US" altLang="zh-CN" sz="1800" b="1" dirty="0"/>
              <a:t>throw</a:t>
            </a:r>
            <a:r>
              <a:rPr lang="en-US" altLang="zh-CN" sz="1800" dirty="0"/>
              <a:t> </a:t>
            </a:r>
            <a:r>
              <a:rPr lang="en-US" altLang="zh-CN" sz="1800" b="1" dirty="0"/>
              <a:t>new</a:t>
            </a:r>
            <a:r>
              <a:rPr lang="en-US" altLang="zh-CN" sz="1800" dirty="0"/>
              <a:t> Exception("</a:t>
            </a:r>
            <a:r>
              <a:rPr lang="zh-CN" altLang="en-US" sz="1800" dirty="0"/>
              <a:t>调用出错</a:t>
            </a:r>
            <a:r>
              <a:rPr lang="en-US" altLang="zh-CN" sz="1800" dirty="0"/>
              <a:t>!");  </a:t>
            </a:r>
          </a:p>
          <a:p>
            <a:pPr eaLnBrk="1" hangingPunct="1"/>
            <a:r>
              <a:rPr lang="en-US" altLang="zh-CN" sz="1800" dirty="0"/>
              <a:t>        }  </a:t>
            </a:r>
          </a:p>
          <a:p>
            <a:pPr eaLnBrk="1" hangingPunct="1"/>
            <a:r>
              <a:rPr lang="en-US" altLang="zh-CN" sz="1800" dirty="0"/>
              <a:t>    }  </a:t>
            </a:r>
          </a:p>
          <a:p>
            <a:pPr eaLnBrk="1" hangingPunct="1"/>
            <a:r>
              <a:rPr lang="en-US" altLang="zh-CN" sz="2000" dirty="0"/>
              <a:t>} </a:t>
            </a:r>
          </a:p>
          <a:p>
            <a:pPr eaLnBrk="1" hangingPunct="1"/>
            <a:r>
              <a:rPr lang="en-US" altLang="zh-CN" sz="2000" dirty="0"/>
              <a:t>//</a:t>
            </a:r>
            <a:r>
              <a:rPr lang="zh-CN" altLang="en-US" sz="2000" dirty="0"/>
              <a:t>调用代码  </a:t>
            </a:r>
          </a:p>
          <a:p>
            <a:pPr eaLnBrk="1" hangingPunct="1"/>
            <a:r>
              <a:rPr lang="en-US" altLang="zh-CN" sz="2000" dirty="0" err="1"/>
              <a:t>DrawProcess</a:t>
            </a:r>
            <a:r>
              <a:rPr lang="en-US" altLang="zh-CN" sz="2000" dirty="0"/>
              <a:t> draw = </a:t>
            </a:r>
            <a:r>
              <a:rPr lang="en-US" altLang="zh-CN" sz="2000" b="1" dirty="0"/>
              <a:t>new</a:t>
            </a:r>
            <a:r>
              <a:rPr lang="en-US" altLang="zh-CN" sz="2000" dirty="0"/>
              <a:t> </a:t>
            </a:r>
            <a:r>
              <a:rPr lang="en-US" altLang="zh-CN" sz="2000" dirty="0" err="1"/>
              <a:t>DrawProcess</a:t>
            </a:r>
            <a:r>
              <a:rPr lang="en-US" altLang="zh-CN" sz="2000" dirty="0"/>
              <a:t>();  </a:t>
            </a:r>
          </a:p>
          <a:p>
            <a:pPr eaLnBrk="1" hangingPunct="1"/>
            <a:r>
              <a:rPr lang="en-US" altLang="zh-CN" sz="2000" dirty="0" err="1"/>
              <a:t>draw.Draw</a:t>
            </a:r>
            <a:r>
              <a:rPr lang="en-US" altLang="zh-CN" sz="2000" dirty="0"/>
              <a:t>(</a:t>
            </a:r>
            <a:r>
              <a:rPr lang="en-US" altLang="zh-CN" sz="2000" dirty="0" err="1"/>
              <a:t>Sharp.Circle</a:t>
            </a:r>
            <a:r>
              <a:rPr lang="en-US" altLang="zh-CN" sz="2000" dirty="0"/>
              <a:t>); </a:t>
            </a:r>
          </a:p>
        </p:txBody>
      </p:sp>
    </p:spTree>
    <p:extLst>
      <p:ext uri="{BB962C8B-B14F-4D97-AF65-F5344CB8AC3E}">
        <p14:creationId xmlns:p14="http://schemas.microsoft.com/office/powerpoint/2010/main" val="23932674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301"/>
                                        </p:tgtEl>
                                        <p:attrNameLst>
                                          <p:attrName>style.visibility</p:attrName>
                                        </p:attrNameLst>
                                      </p:cBhvr>
                                      <p:to>
                                        <p:strVal val="visible"/>
                                      </p:to>
                                    </p:set>
                                    <p:animEffect transition="in" filter="box(in)">
                                      <p:cBhvr>
                                        <p:cTn id="7" dur="500"/>
                                        <p:tgtEl>
                                          <p:spTgt spid="123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303"/>
                                        </p:tgtEl>
                                        <p:attrNameLst>
                                          <p:attrName>style.visibility</p:attrName>
                                        </p:attrNameLst>
                                      </p:cBhvr>
                                      <p:to>
                                        <p:strVal val="visible"/>
                                      </p:to>
                                    </p:set>
                                    <p:animEffect transition="in" filter="box(in)">
                                      <p:cBhvr>
                                        <p:cTn id="12" dur="500"/>
                                        <p:tgtEl>
                                          <p:spTgt spid="12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1" grpId="0"/>
      <p:bldP spid="1230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4"/>
          <p:cNvSpPr txBox="1">
            <a:spLocks noChangeArrowheads="1"/>
          </p:cNvSpPr>
          <p:nvPr/>
        </p:nvSpPr>
        <p:spPr bwMode="auto">
          <a:xfrm>
            <a:off x="816428" y="-33396"/>
            <a:ext cx="91938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FF00"/>
                </a:solidFill>
              </a:rPr>
              <a:t>现在程序要求要实现可以绘制正方形</a:t>
            </a:r>
            <a:r>
              <a:rPr lang="en-US" altLang="zh-CN" sz="2000" b="1" dirty="0">
                <a:solidFill>
                  <a:srgbClr val="FFFF00"/>
                </a:solidFill>
              </a:rPr>
              <a:t>. </a:t>
            </a:r>
            <a:r>
              <a:rPr lang="zh-CN" altLang="en-US" sz="2000" b="1" dirty="0">
                <a:solidFill>
                  <a:srgbClr val="FFFF00"/>
                </a:solidFill>
              </a:rPr>
              <a:t>在原本的代码设计下</a:t>
            </a:r>
            <a:r>
              <a:rPr lang="en-US" altLang="zh-CN" sz="2000" b="1" dirty="0">
                <a:solidFill>
                  <a:srgbClr val="FFFF00"/>
                </a:solidFill>
              </a:rPr>
              <a:t>,</a:t>
            </a:r>
            <a:r>
              <a:rPr lang="zh-CN" altLang="en-US" sz="2000" b="1" dirty="0">
                <a:solidFill>
                  <a:srgbClr val="FFFF00"/>
                </a:solidFill>
              </a:rPr>
              <a:t>必须做如下的改动 </a:t>
            </a:r>
          </a:p>
        </p:txBody>
      </p:sp>
      <p:sp>
        <p:nvSpPr>
          <p:cNvPr id="18437" name="Rectangle 5"/>
          <p:cNvSpPr>
            <a:spLocks noChangeArrowheads="1"/>
          </p:cNvSpPr>
          <p:nvPr/>
        </p:nvSpPr>
        <p:spPr bwMode="auto">
          <a:xfrm>
            <a:off x="1447800" y="366714"/>
            <a:ext cx="4572000" cy="6647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1400" b="1" dirty="0"/>
              <a:t>public</a:t>
            </a:r>
            <a:r>
              <a:rPr lang="en-US" altLang="zh-CN" sz="1400" dirty="0"/>
              <a:t> </a:t>
            </a:r>
            <a:r>
              <a:rPr lang="en-US" altLang="zh-CN" sz="1400" b="1" dirty="0"/>
              <a:t>class</a:t>
            </a:r>
            <a:r>
              <a:rPr lang="en-US" altLang="zh-CN" sz="1400" dirty="0"/>
              <a:t> Draw  </a:t>
            </a:r>
          </a:p>
          <a:p>
            <a:pPr eaLnBrk="1" hangingPunct="1"/>
            <a:r>
              <a:rPr lang="en-US" altLang="zh-CN" sz="1400" dirty="0"/>
              <a:t>{  </a:t>
            </a:r>
          </a:p>
          <a:p>
            <a:pPr eaLnBrk="1" hangingPunct="1"/>
            <a:r>
              <a:rPr lang="en-US" altLang="zh-CN" sz="1400" dirty="0"/>
              <a:t>    </a:t>
            </a:r>
            <a:r>
              <a:rPr lang="en-US" altLang="zh-CN" sz="1400" b="1" dirty="0"/>
              <a:t>public</a:t>
            </a:r>
            <a:r>
              <a:rPr lang="en-US" altLang="zh-CN" sz="1400" dirty="0"/>
              <a:t> </a:t>
            </a:r>
            <a:r>
              <a:rPr lang="en-US" altLang="zh-CN" sz="1400" b="1" dirty="0"/>
              <a:t>void</a:t>
            </a:r>
            <a:r>
              <a:rPr lang="en-US" altLang="zh-CN" sz="1400" dirty="0"/>
              <a:t> </a:t>
            </a:r>
            <a:r>
              <a:rPr lang="en-US" altLang="zh-CN" sz="1400" dirty="0" err="1"/>
              <a:t>DrawRectangle</a:t>
            </a:r>
            <a:r>
              <a:rPr lang="en-US" altLang="zh-CN" sz="1400" dirty="0"/>
              <a:t>()  </a:t>
            </a:r>
            <a:endParaRPr lang="en-US" altLang="zh-CN" sz="1400" dirty="0" smtClean="0"/>
          </a:p>
          <a:p>
            <a:pPr eaLnBrk="1" hangingPunct="1"/>
            <a:r>
              <a:rPr lang="en-US" altLang="zh-CN" sz="1400" dirty="0" smtClean="0"/>
              <a:t>    {        //</a:t>
            </a:r>
            <a:r>
              <a:rPr lang="zh-CN" altLang="en-US" sz="1400" dirty="0" smtClean="0"/>
              <a:t>绘制长方形   </a:t>
            </a:r>
            <a:r>
              <a:rPr lang="en-US" altLang="zh-CN" sz="1400" dirty="0" smtClean="0"/>
              <a:t>}   </a:t>
            </a:r>
          </a:p>
          <a:p>
            <a:pPr eaLnBrk="1" hangingPunct="1"/>
            <a:r>
              <a:rPr lang="en-US" altLang="zh-CN" sz="1400" dirty="0"/>
              <a:t>    </a:t>
            </a:r>
            <a:r>
              <a:rPr lang="en-US" altLang="zh-CN" sz="1400" b="1" dirty="0"/>
              <a:t>public</a:t>
            </a:r>
            <a:r>
              <a:rPr lang="en-US" altLang="zh-CN" sz="1400" dirty="0"/>
              <a:t> </a:t>
            </a:r>
            <a:r>
              <a:rPr lang="en-US" altLang="zh-CN" sz="1400" b="1" dirty="0"/>
              <a:t>void</a:t>
            </a:r>
            <a:r>
              <a:rPr lang="en-US" altLang="zh-CN" sz="1400" dirty="0"/>
              <a:t> </a:t>
            </a:r>
            <a:r>
              <a:rPr lang="en-US" altLang="zh-CN" sz="1400" dirty="0" err="1"/>
              <a:t>DrawCircle</a:t>
            </a:r>
            <a:r>
              <a:rPr lang="en-US" altLang="zh-CN" sz="1400" dirty="0"/>
              <a:t>()  </a:t>
            </a:r>
          </a:p>
          <a:p>
            <a:pPr eaLnBrk="1" hangingPunct="1"/>
            <a:r>
              <a:rPr lang="en-US" altLang="zh-CN" sz="1400" dirty="0"/>
              <a:t>    {       //</a:t>
            </a:r>
            <a:r>
              <a:rPr lang="zh-CN" altLang="en-US" sz="1400" dirty="0"/>
              <a:t>绘制圆形       </a:t>
            </a:r>
            <a:r>
              <a:rPr lang="en-US" altLang="zh-CN" sz="1400" dirty="0"/>
              <a:t>}  </a:t>
            </a:r>
          </a:p>
          <a:p>
            <a:pPr eaLnBrk="1" hangingPunct="1"/>
            <a:r>
              <a:rPr lang="en-US" altLang="zh-CN" sz="1600" dirty="0">
                <a:solidFill>
                  <a:srgbClr val="FFFF00"/>
                </a:solidFill>
              </a:rPr>
              <a:t>       //</a:t>
            </a:r>
            <a:r>
              <a:rPr lang="zh-CN" altLang="en-US" sz="1600" dirty="0">
                <a:solidFill>
                  <a:srgbClr val="FFFF00"/>
                </a:solidFill>
              </a:rPr>
              <a:t>在</a:t>
            </a:r>
            <a:r>
              <a:rPr lang="en-US" altLang="zh-CN" sz="1600" dirty="0">
                <a:solidFill>
                  <a:srgbClr val="FFFF00"/>
                </a:solidFill>
              </a:rPr>
              <a:t>Draw</a:t>
            </a:r>
            <a:r>
              <a:rPr lang="zh-CN" altLang="en-US" sz="1600" dirty="0">
                <a:solidFill>
                  <a:srgbClr val="FFFF00"/>
                </a:solidFill>
              </a:rPr>
              <a:t>类中添加  </a:t>
            </a:r>
            <a:endParaRPr lang="zh-CN" altLang="en-US" sz="1600" b="1" dirty="0">
              <a:solidFill>
                <a:srgbClr val="FFFF00"/>
              </a:solidFill>
            </a:endParaRPr>
          </a:p>
          <a:p>
            <a:pPr eaLnBrk="1" hangingPunct="1"/>
            <a:r>
              <a:rPr lang="zh-CN" altLang="en-US" sz="1600" b="1" dirty="0">
                <a:solidFill>
                  <a:srgbClr val="FFFF00"/>
                </a:solidFill>
              </a:rPr>
              <a:t>    </a:t>
            </a:r>
            <a:r>
              <a:rPr lang="en-US" altLang="zh-CN" sz="1600" b="1" dirty="0">
                <a:solidFill>
                  <a:srgbClr val="FFFF00"/>
                </a:solidFill>
              </a:rPr>
              <a:t>public</a:t>
            </a:r>
            <a:r>
              <a:rPr lang="en-US" altLang="zh-CN" sz="1600" dirty="0">
                <a:solidFill>
                  <a:srgbClr val="FFFF00"/>
                </a:solidFill>
              </a:rPr>
              <a:t> </a:t>
            </a:r>
            <a:r>
              <a:rPr lang="en-US" altLang="zh-CN" sz="1600" b="1" dirty="0">
                <a:solidFill>
                  <a:srgbClr val="FFFF00"/>
                </a:solidFill>
              </a:rPr>
              <a:t>void</a:t>
            </a:r>
            <a:r>
              <a:rPr lang="en-US" altLang="zh-CN" sz="1600" dirty="0">
                <a:solidFill>
                  <a:srgbClr val="FFFF00"/>
                </a:solidFill>
              </a:rPr>
              <a:t> </a:t>
            </a:r>
            <a:r>
              <a:rPr lang="en-US" altLang="zh-CN" sz="1600" dirty="0" err="1">
                <a:solidFill>
                  <a:srgbClr val="FFFF00"/>
                </a:solidFill>
              </a:rPr>
              <a:t>DrawSquare</a:t>
            </a:r>
            <a:r>
              <a:rPr lang="en-US" altLang="zh-CN" sz="1600" dirty="0">
                <a:solidFill>
                  <a:srgbClr val="FFFF00"/>
                </a:solidFill>
              </a:rPr>
              <a:t>()  </a:t>
            </a:r>
          </a:p>
          <a:p>
            <a:pPr eaLnBrk="1" hangingPunct="1"/>
            <a:r>
              <a:rPr lang="en-US" altLang="zh-CN" sz="1600" dirty="0">
                <a:solidFill>
                  <a:srgbClr val="FFFF00"/>
                </a:solidFill>
              </a:rPr>
              <a:t>    {  </a:t>
            </a:r>
          </a:p>
          <a:p>
            <a:pPr eaLnBrk="1" hangingPunct="1"/>
            <a:r>
              <a:rPr lang="en-US" altLang="zh-CN" sz="1600" dirty="0">
                <a:solidFill>
                  <a:srgbClr val="FFFF00"/>
                </a:solidFill>
              </a:rPr>
              <a:t>       //</a:t>
            </a:r>
            <a:r>
              <a:rPr lang="zh-CN" altLang="en-US" sz="1600" dirty="0">
                <a:solidFill>
                  <a:srgbClr val="FFFF00"/>
                </a:solidFill>
              </a:rPr>
              <a:t>绘制正方形  </a:t>
            </a:r>
          </a:p>
          <a:p>
            <a:pPr eaLnBrk="1" hangingPunct="1"/>
            <a:r>
              <a:rPr lang="zh-CN" altLang="en-US" sz="1600" dirty="0">
                <a:solidFill>
                  <a:srgbClr val="FFFF00"/>
                </a:solidFill>
              </a:rPr>
              <a:t>    </a:t>
            </a:r>
            <a:r>
              <a:rPr lang="en-US" altLang="zh-CN" sz="1600" dirty="0">
                <a:solidFill>
                  <a:srgbClr val="FFFF00"/>
                </a:solidFill>
              </a:rPr>
              <a:t>}  </a:t>
            </a:r>
          </a:p>
          <a:p>
            <a:pPr eaLnBrk="1" hangingPunct="1"/>
            <a:r>
              <a:rPr lang="en-US" altLang="zh-CN" sz="1400" dirty="0"/>
              <a:t>}  </a:t>
            </a:r>
            <a:endParaRPr lang="en-US" altLang="zh-CN" sz="1400" b="1" dirty="0"/>
          </a:p>
          <a:p>
            <a:pPr eaLnBrk="1" hangingPunct="1"/>
            <a:r>
              <a:rPr lang="en-US" altLang="zh-CN" sz="1400" b="1" dirty="0"/>
              <a:t>public</a:t>
            </a:r>
            <a:r>
              <a:rPr lang="en-US" altLang="zh-CN" sz="1400" dirty="0"/>
              <a:t> </a:t>
            </a:r>
            <a:r>
              <a:rPr lang="en-US" altLang="zh-CN" sz="1400" b="1" dirty="0" err="1"/>
              <a:t>enum</a:t>
            </a:r>
            <a:r>
              <a:rPr lang="en-US" altLang="zh-CN" sz="1400" dirty="0"/>
              <a:t> Sharp  </a:t>
            </a:r>
          </a:p>
          <a:p>
            <a:pPr eaLnBrk="1" hangingPunct="1"/>
            <a:r>
              <a:rPr lang="en-US" altLang="zh-CN" sz="1400" dirty="0"/>
              <a:t>{  </a:t>
            </a:r>
          </a:p>
          <a:p>
            <a:pPr eaLnBrk="1" hangingPunct="1"/>
            <a:r>
              <a:rPr lang="en-US" altLang="zh-CN" sz="1400" dirty="0"/>
              <a:t>    /// &lt;summary&gt;  </a:t>
            </a:r>
          </a:p>
          <a:p>
            <a:pPr eaLnBrk="1" hangingPunct="1"/>
            <a:r>
              <a:rPr lang="en-US" altLang="zh-CN" sz="1400" dirty="0"/>
              <a:t>    /// </a:t>
            </a:r>
            <a:r>
              <a:rPr lang="zh-CN" altLang="en-US" sz="1400" dirty="0"/>
              <a:t>长方形  </a:t>
            </a:r>
          </a:p>
          <a:p>
            <a:pPr eaLnBrk="1" hangingPunct="1"/>
            <a:r>
              <a:rPr lang="zh-CN" altLang="en-US" sz="1400" dirty="0"/>
              <a:t>    </a:t>
            </a:r>
            <a:r>
              <a:rPr lang="en-US" altLang="zh-CN" sz="1400" dirty="0"/>
              <a:t>/// &lt;/summary&gt;  </a:t>
            </a:r>
          </a:p>
          <a:p>
            <a:pPr eaLnBrk="1" hangingPunct="1"/>
            <a:r>
              <a:rPr lang="en-US" altLang="zh-CN" sz="1400" dirty="0"/>
              <a:t>    Rectangle ,   </a:t>
            </a:r>
          </a:p>
          <a:p>
            <a:pPr eaLnBrk="1" hangingPunct="1"/>
            <a:r>
              <a:rPr lang="en-US" altLang="zh-CN" sz="1400" dirty="0"/>
              <a:t>    /// &lt;summary&gt;  </a:t>
            </a:r>
          </a:p>
          <a:p>
            <a:pPr eaLnBrk="1" hangingPunct="1"/>
            <a:r>
              <a:rPr lang="en-US" altLang="zh-CN" sz="1400" dirty="0"/>
              <a:t>    /// </a:t>
            </a:r>
            <a:r>
              <a:rPr lang="zh-CN" altLang="en-US" sz="1400" dirty="0"/>
              <a:t>圆形  </a:t>
            </a:r>
          </a:p>
          <a:p>
            <a:pPr eaLnBrk="1" hangingPunct="1"/>
            <a:r>
              <a:rPr lang="zh-CN" altLang="en-US" sz="1400" dirty="0"/>
              <a:t>    </a:t>
            </a:r>
            <a:r>
              <a:rPr lang="en-US" altLang="zh-CN" sz="1400" dirty="0"/>
              <a:t>/// &lt;/summary&gt;  </a:t>
            </a:r>
          </a:p>
          <a:p>
            <a:pPr eaLnBrk="1" hangingPunct="1"/>
            <a:r>
              <a:rPr lang="en-US" altLang="zh-CN" sz="1400" dirty="0"/>
              <a:t>    Circle ,  </a:t>
            </a:r>
          </a:p>
          <a:p>
            <a:pPr eaLnBrk="1" hangingPunct="1"/>
            <a:r>
              <a:rPr lang="en-US" altLang="zh-CN" sz="1600" dirty="0">
                <a:solidFill>
                  <a:srgbClr val="FFFF00"/>
                </a:solidFill>
              </a:rPr>
              <a:t>   //</a:t>
            </a:r>
            <a:r>
              <a:rPr lang="zh-CN" altLang="en-US" sz="1600" dirty="0">
                <a:solidFill>
                  <a:srgbClr val="FFFF00"/>
                </a:solidFill>
              </a:rPr>
              <a:t>在枚举</a:t>
            </a:r>
            <a:r>
              <a:rPr lang="en-US" altLang="zh-CN" sz="1600" dirty="0">
                <a:solidFill>
                  <a:srgbClr val="FFFF00"/>
                </a:solidFill>
              </a:rPr>
              <a:t>Sharp</a:t>
            </a:r>
            <a:r>
              <a:rPr lang="zh-CN" altLang="en-US" sz="1600" dirty="0">
                <a:solidFill>
                  <a:srgbClr val="FFFF00"/>
                </a:solidFill>
              </a:rPr>
              <a:t>中添加  </a:t>
            </a:r>
          </a:p>
          <a:p>
            <a:pPr eaLnBrk="1" hangingPunct="1"/>
            <a:r>
              <a:rPr lang="zh-CN" altLang="en-US" sz="1600" dirty="0">
                <a:solidFill>
                  <a:srgbClr val="FFFF00"/>
                </a:solidFill>
              </a:rPr>
              <a:t>   </a:t>
            </a:r>
            <a:r>
              <a:rPr lang="en-US" altLang="zh-CN" sz="1600" dirty="0">
                <a:solidFill>
                  <a:srgbClr val="FFFF00"/>
                </a:solidFill>
              </a:rPr>
              <a:t>/// &lt;summary&gt;  </a:t>
            </a:r>
          </a:p>
          <a:p>
            <a:pPr eaLnBrk="1" hangingPunct="1"/>
            <a:r>
              <a:rPr lang="en-US" altLang="zh-CN" sz="1600" dirty="0">
                <a:solidFill>
                  <a:srgbClr val="FFFF00"/>
                </a:solidFill>
              </a:rPr>
              <a:t>   /// </a:t>
            </a:r>
            <a:r>
              <a:rPr lang="zh-CN" altLang="en-US" sz="1600" dirty="0">
                <a:solidFill>
                  <a:srgbClr val="FFFF00"/>
                </a:solidFill>
              </a:rPr>
              <a:t>正方形  </a:t>
            </a:r>
          </a:p>
          <a:p>
            <a:pPr eaLnBrk="1" hangingPunct="1"/>
            <a:r>
              <a:rPr lang="zh-CN" altLang="en-US" sz="1600" dirty="0">
                <a:solidFill>
                  <a:srgbClr val="FFFF00"/>
                </a:solidFill>
              </a:rPr>
              <a:t> </a:t>
            </a:r>
            <a:r>
              <a:rPr lang="en-US" altLang="zh-CN" sz="1600" dirty="0">
                <a:solidFill>
                  <a:srgbClr val="FFFF00"/>
                </a:solidFill>
              </a:rPr>
              <a:t>/// &lt;/summary&gt;  </a:t>
            </a:r>
          </a:p>
          <a:p>
            <a:pPr eaLnBrk="1" hangingPunct="1"/>
            <a:r>
              <a:rPr lang="en-US" altLang="zh-CN" sz="1600" dirty="0">
                <a:solidFill>
                  <a:srgbClr val="FFFF00"/>
                </a:solidFill>
              </a:rPr>
              <a:t>Square ,  </a:t>
            </a:r>
          </a:p>
          <a:p>
            <a:pPr eaLnBrk="1" hangingPunct="1"/>
            <a:r>
              <a:rPr lang="en-US" altLang="zh-CN" sz="1400" dirty="0"/>
              <a:t>}  </a:t>
            </a:r>
          </a:p>
        </p:txBody>
      </p:sp>
      <p:sp>
        <p:nvSpPr>
          <p:cNvPr id="18439" name="Text Box 7"/>
          <p:cNvSpPr txBox="1">
            <a:spLocks noChangeArrowheads="1"/>
          </p:cNvSpPr>
          <p:nvPr/>
        </p:nvSpPr>
        <p:spPr bwMode="auto">
          <a:xfrm>
            <a:off x="5915819" y="366714"/>
            <a:ext cx="4932362"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t>public</a:t>
            </a:r>
            <a:r>
              <a:rPr lang="en-US" altLang="zh-CN" sz="1600" dirty="0"/>
              <a:t> </a:t>
            </a:r>
            <a:r>
              <a:rPr lang="en-US" altLang="zh-CN" sz="1600" b="1" dirty="0"/>
              <a:t>class</a:t>
            </a:r>
            <a:r>
              <a:rPr lang="en-US" altLang="zh-CN" sz="1600" dirty="0"/>
              <a:t> </a:t>
            </a:r>
            <a:r>
              <a:rPr lang="en-US" altLang="zh-CN" sz="1600" dirty="0" err="1"/>
              <a:t>DrawProcess</a:t>
            </a:r>
            <a:r>
              <a:rPr lang="en-US" altLang="zh-CN" sz="1600" dirty="0"/>
              <a:t>  </a:t>
            </a:r>
          </a:p>
          <a:p>
            <a:pPr eaLnBrk="1" hangingPunct="1"/>
            <a:r>
              <a:rPr lang="en-US" altLang="zh-CN" sz="1600" dirty="0"/>
              <a:t>{  </a:t>
            </a:r>
          </a:p>
          <a:p>
            <a:pPr eaLnBrk="1" hangingPunct="1"/>
            <a:r>
              <a:rPr lang="en-US" altLang="zh-CN" sz="1600" dirty="0"/>
              <a:t>    </a:t>
            </a:r>
            <a:r>
              <a:rPr lang="en-US" altLang="zh-CN" sz="1600" b="1" dirty="0"/>
              <a:t>private</a:t>
            </a:r>
            <a:r>
              <a:rPr lang="en-US" altLang="zh-CN" sz="1600" dirty="0"/>
              <a:t> Draw _draw = </a:t>
            </a:r>
            <a:r>
              <a:rPr lang="en-US" altLang="zh-CN" sz="1600" b="1" dirty="0"/>
              <a:t>new</a:t>
            </a:r>
            <a:r>
              <a:rPr lang="en-US" altLang="zh-CN" sz="1600" dirty="0"/>
              <a:t> Draw();  </a:t>
            </a:r>
          </a:p>
          <a:p>
            <a:pPr eaLnBrk="1" hangingPunct="1"/>
            <a:r>
              <a:rPr lang="en-US" altLang="zh-CN" sz="1600" dirty="0"/>
              <a:t> </a:t>
            </a:r>
          </a:p>
          <a:p>
            <a:pPr eaLnBrk="1" hangingPunct="1"/>
            <a:r>
              <a:rPr lang="en-US" altLang="zh-CN" sz="1600" dirty="0"/>
              <a:t>    </a:t>
            </a:r>
            <a:r>
              <a:rPr lang="en-US" altLang="zh-CN" sz="1600" b="1" dirty="0"/>
              <a:t>public</a:t>
            </a:r>
            <a:r>
              <a:rPr lang="en-US" altLang="zh-CN" sz="1600" dirty="0"/>
              <a:t> </a:t>
            </a:r>
            <a:r>
              <a:rPr lang="en-US" altLang="zh-CN" sz="1600" b="1" dirty="0"/>
              <a:t>void</a:t>
            </a:r>
            <a:r>
              <a:rPr lang="en-US" altLang="zh-CN" sz="1600" dirty="0"/>
              <a:t> Draw(Sharp sharp)   {  </a:t>
            </a:r>
          </a:p>
          <a:p>
            <a:pPr eaLnBrk="1" hangingPunct="1"/>
            <a:r>
              <a:rPr lang="en-US" altLang="zh-CN" sz="1600" dirty="0"/>
              <a:t>        </a:t>
            </a:r>
            <a:r>
              <a:rPr lang="en-US" altLang="zh-CN" sz="1600" b="1" dirty="0"/>
              <a:t>switch</a:t>
            </a:r>
            <a:r>
              <a:rPr lang="en-US" altLang="zh-CN" sz="1600" dirty="0"/>
              <a:t> (sharp) </a:t>
            </a:r>
            <a:r>
              <a:rPr lang="en-US" altLang="zh-CN" sz="1600" dirty="0" smtClean="0"/>
              <a:t>{ </a:t>
            </a:r>
            <a:r>
              <a:rPr lang="en-US" altLang="zh-CN" sz="1600" dirty="0"/>
              <a:t> </a:t>
            </a:r>
          </a:p>
          <a:p>
            <a:pPr eaLnBrk="1" hangingPunct="1"/>
            <a:r>
              <a:rPr lang="en-US" altLang="zh-CN" sz="1600" dirty="0"/>
              <a:t>            </a:t>
            </a:r>
            <a:r>
              <a:rPr lang="en-US" altLang="zh-CN" sz="1600" b="1" dirty="0"/>
              <a:t>case</a:t>
            </a:r>
            <a:r>
              <a:rPr lang="en-US" altLang="zh-CN" sz="1600" dirty="0"/>
              <a:t> </a:t>
            </a:r>
            <a:r>
              <a:rPr lang="en-US" altLang="zh-CN" sz="1600" dirty="0" err="1"/>
              <a:t>Sharp.Rectangle</a:t>
            </a:r>
            <a:r>
              <a:rPr lang="en-US" altLang="zh-CN" sz="1600" dirty="0"/>
              <a:t>:  </a:t>
            </a:r>
          </a:p>
          <a:p>
            <a:pPr eaLnBrk="1" hangingPunct="1"/>
            <a:r>
              <a:rPr lang="en-US" altLang="zh-CN" sz="1600" dirty="0"/>
              <a:t>                _</a:t>
            </a:r>
            <a:r>
              <a:rPr lang="en-US" altLang="zh-CN" sz="1600" dirty="0" err="1"/>
              <a:t>draw.DrawRectangle</a:t>
            </a:r>
            <a:r>
              <a:rPr lang="en-US" altLang="zh-CN" sz="1600" dirty="0"/>
              <a:t>();  </a:t>
            </a:r>
          </a:p>
          <a:p>
            <a:pPr eaLnBrk="1" hangingPunct="1"/>
            <a:r>
              <a:rPr lang="en-US" altLang="zh-CN" sz="1600" dirty="0"/>
              <a:t>                </a:t>
            </a:r>
            <a:r>
              <a:rPr lang="en-US" altLang="zh-CN" sz="1600" b="1" dirty="0"/>
              <a:t>break</a:t>
            </a:r>
            <a:r>
              <a:rPr lang="en-US" altLang="zh-CN" sz="1600" dirty="0"/>
              <a:t>;  </a:t>
            </a:r>
          </a:p>
          <a:p>
            <a:pPr eaLnBrk="1" hangingPunct="1"/>
            <a:r>
              <a:rPr lang="en-US" altLang="zh-CN" sz="1600" dirty="0"/>
              <a:t>            </a:t>
            </a:r>
            <a:r>
              <a:rPr lang="en-US" altLang="zh-CN" sz="1600" b="1" dirty="0"/>
              <a:t>case</a:t>
            </a:r>
            <a:r>
              <a:rPr lang="en-US" altLang="zh-CN" sz="1600" dirty="0"/>
              <a:t> </a:t>
            </a:r>
            <a:r>
              <a:rPr lang="en-US" altLang="zh-CN" sz="1600" dirty="0" err="1"/>
              <a:t>Sharp.Circle</a:t>
            </a:r>
            <a:r>
              <a:rPr lang="en-US" altLang="zh-CN" sz="1600" dirty="0"/>
              <a:t>:  </a:t>
            </a:r>
          </a:p>
          <a:p>
            <a:pPr eaLnBrk="1" hangingPunct="1"/>
            <a:r>
              <a:rPr lang="en-US" altLang="zh-CN" sz="1600" dirty="0"/>
              <a:t>                _</a:t>
            </a:r>
            <a:r>
              <a:rPr lang="en-US" altLang="zh-CN" sz="1600" dirty="0" err="1"/>
              <a:t>draw.DrawCircle</a:t>
            </a:r>
            <a:r>
              <a:rPr lang="en-US" altLang="zh-CN" sz="1600" dirty="0"/>
              <a:t>();  </a:t>
            </a:r>
          </a:p>
          <a:p>
            <a:pPr eaLnBrk="1" hangingPunct="1"/>
            <a:r>
              <a:rPr lang="en-US" altLang="zh-CN" sz="1600" dirty="0"/>
              <a:t>                </a:t>
            </a:r>
            <a:r>
              <a:rPr lang="en-US" altLang="zh-CN" sz="1600" b="1" dirty="0"/>
              <a:t>break</a:t>
            </a:r>
            <a:r>
              <a:rPr lang="en-US" altLang="zh-CN" sz="1600" dirty="0"/>
              <a:t>;</a:t>
            </a:r>
          </a:p>
          <a:p>
            <a:pPr eaLnBrk="1" hangingPunct="1"/>
            <a:r>
              <a:rPr lang="en-US" altLang="zh-CN" sz="1600" dirty="0"/>
              <a:t>            </a:t>
            </a:r>
            <a:r>
              <a:rPr lang="en-US" altLang="zh-CN" sz="1600" dirty="0">
                <a:solidFill>
                  <a:srgbClr val="FFFF00"/>
                </a:solidFill>
              </a:rPr>
              <a:t>//</a:t>
            </a:r>
            <a:r>
              <a:rPr lang="zh-CN" altLang="en-US" sz="1600" dirty="0">
                <a:solidFill>
                  <a:srgbClr val="FFFF00"/>
                </a:solidFill>
              </a:rPr>
              <a:t>在</a:t>
            </a:r>
            <a:r>
              <a:rPr lang="en-US" altLang="zh-CN" sz="1600" dirty="0" err="1">
                <a:solidFill>
                  <a:srgbClr val="FFFF00"/>
                </a:solidFill>
              </a:rPr>
              <a:t>DrawProcess</a:t>
            </a:r>
            <a:r>
              <a:rPr lang="zh-CN" altLang="en-US" sz="1600" dirty="0">
                <a:solidFill>
                  <a:srgbClr val="FFFF00"/>
                </a:solidFill>
              </a:rPr>
              <a:t>类的</a:t>
            </a:r>
            <a:r>
              <a:rPr lang="en-US" altLang="zh-CN" sz="1600" dirty="0">
                <a:solidFill>
                  <a:srgbClr val="FFFF00"/>
                </a:solidFill>
              </a:rPr>
              <a:t>switch</a:t>
            </a:r>
            <a:r>
              <a:rPr lang="zh-CN" altLang="en-US" sz="1600" dirty="0">
                <a:solidFill>
                  <a:srgbClr val="FFFF00"/>
                </a:solidFill>
              </a:rPr>
              <a:t>判断中添加  </a:t>
            </a:r>
            <a:endParaRPr lang="zh-CN" altLang="en-US" sz="1600" b="1" dirty="0">
              <a:solidFill>
                <a:srgbClr val="FFFF00"/>
              </a:solidFill>
            </a:endParaRPr>
          </a:p>
          <a:p>
            <a:pPr eaLnBrk="1" hangingPunct="1"/>
            <a:r>
              <a:rPr lang="en-US" altLang="zh-CN" sz="1600" b="1" dirty="0">
                <a:solidFill>
                  <a:srgbClr val="FFFF00"/>
                </a:solidFill>
              </a:rPr>
              <a:t>            case</a:t>
            </a:r>
            <a:r>
              <a:rPr lang="en-US" altLang="zh-CN" sz="1600" dirty="0">
                <a:solidFill>
                  <a:srgbClr val="FFFF00"/>
                </a:solidFill>
              </a:rPr>
              <a:t> </a:t>
            </a:r>
            <a:r>
              <a:rPr lang="en-US" altLang="zh-CN" sz="1600" dirty="0" err="1">
                <a:solidFill>
                  <a:srgbClr val="FFFF00"/>
                </a:solidFill>
              </a:rPr>
              <a:t>Sharp.Square</a:t>
            </a:r>
            <a:r>
              <a:rPr lang="en-US" altLang="zh-CN" sz="1600" dirty="0">
                <a:solidFill>
                  <a:srgbClr val="FFFF00"/>
                </a:solidFill>
              </a:rPr>
              <a:t>:  </a:t>
            </a:r>
          </a:p>
          <a:p>
            <a:pPr eaLnBrk="1" hangingPunct="1"/>
            <a:r>
              <a:rPr lang="en-US" altLang="zh-CN" sz="1600" dirty="0">
                <a:solidFill>
                  <a:srgbClr val="FFFF00"/>
                </a:solidFill>
              </a:rPr>
              <a:t>                _</a:t>
            </a:r>
            <a:r>
              <a:rPr lang="en-US" altLang="zh-CN" sz="1600" dirty="0" err="1">
                <a:solidFill>
                  <a:srgbClr val="FFFF00"/>
                </a:solidFill>
              </a:rPr>
              <a:t>draw.DrawSquare</a:t>
            </a:r>
            <a:r>
              <a:rPr lang="en-US" altLang="zh-CN" sz="1600" dirty="0">
                <a:solidFill>
                  <a:srgbClr val="FFFF00"/>
                </a:solidFill>
              </a:rPr>
              <a:t>();  </a:t>
            </a:r>
          </a:p>
          <a:p>
            <a:pPr eaLnBrk="1" hangingPunct="1"/>
            <a:r>
              <a:rPr lang="en-US" altLang="zh-CN" sz="1600" dirty="0">
                <a:solidFill>
                  <a:srgbClr val="FFFF00"/>
                </a:solidFill>
              </a:rPr>
              <a:t>                 </a:t>
            </a:r>
            <a:r>
              <a:rPr lang="en-US" altLang="zh-CN" sz="1600" b="1" dirty="0">
                <a:solidFill>
                  <a:srgbClr val="FFFF00"/>
                </a:solidFill>
              </a:rPr>
              <a:t>break</a:t>
            </a:r>
            <a:r>
              <a:rPr lang="en-US" altLang="zh-CN" sz="1600" dirty="0">
                <a:solidFill>
                  <a:srgbClr val="FFFF00"/>
                </a:solidFill>
              </a:rPr>
              <a:t>; </a:t>
            </a:r>
            <a:r>
              <a:rPr lang="en-US" altLang="zh-CN" sz="1600" dirty="0"/>
              <a:t>  </a:t>
            </a:r>
          </a:p>
          <a:p>
            <a:pPr eaLnBrk="1" hangingPunct="1"/>
            <a:r>
              <a:rPr lang="en-US" altLang="zh-CN" sz="1600" dirty="0"/>
              <a:t>            </a:t>
            </a:r>
            <a:r>
              <a:rPr lang="en-US" altLang="zh-CN" sz="1600" b="1" dirty="0"/>
              <a:t>default</a:t>
            </a:r>
            <a:r>
              <a:rPr lang="en-US" altLang="zh-CN" sz="1600" dirty="0"/>
              <a:t>:  </a:t>
            </a:r>
          </a:p>
          <a:p>
            <a:pPr eaLnBrk="1" hangingPunct="1"/>
            <a:r>
              <a:rPr lang="en-US" altLang="zh-CN" sz="1600" dirty="0"/>
              <a:t>                </a:t>
            </a:r>
            <a:r>
              <a:rPr lang="en-US" altLang="zh-CN" sz="1600" b="1" dirty="0"/>
              <a:t>throw</a:t>
            </a:r>
            <a:r>
              <a:rPr lang="en-US" altLang="zh-CN" sz="1600" dirty="0"/>
              <a:t> </a:t>
            </a:r>
            <a:r>
              <a:rPr lang="en-US" altLang="zh-CN" sz="1600" b="1" dirty="0"/>
              <a:t>new</a:t>
            </a:r>
            <a:r>
              <a:rPr lang="en-US" altLang="zh-CN" sz="1600" dirty="0"/>
              <a:t> Exception("</a:t>
            </a:r>
            <a:r>
              <a:rPr lang="zh-CN" altLang="en-US" sz="1600" dirty="0"/>
              <a:t>调用出错</a:t>
            </a:r>
            <a:r>
              <a:rPr lang="en-US" altLang="zh-CN" sz="1600" dirty="0"/>
              <a:t>!");  </a:t>
            </a:r>
          </a:p>
          <a:p>
            <a:pPr eaLnBrk="1" hangingPunct="1"/>
            <a:r>
              <a:rPr lang="en-US" altLang="zh-CN" sz="1600" dirty="0"/>
              <a:t>        }  </a:t>
            </a:r>
          </a:p>
          <a:p>
            <a:pPr eaLnBrk="1" hangingPunct="1"/>
            <a:r>
              <a:rPr lang="en-US" altLang="zh-CN" sz="1600" dirty="0"/>
              <a:t>    }  </a:t>
            </a:r>
          </a:p>
          <a:p>
            <a:pPr eaLnBrk="1" hangingPunct="1"/>
            <a:r>
              <a:rPr lang="en-US" altLang="zh-CN" sz="1600" dirty="0"/>
              <a:t>} </a:t>
            </a:r>
          </a:p>
          <a:p>
            <a:pPr eaLnBrk="1" hangingPunct="1"/>
            <a:r>
              <a:rPr lang="en-US" altLang="zh-CN" sz="1600" dirty="0"/>
              <a:t>//</a:t>
            </a:r>
            <a:r>
              <a:rPr lang="zh-CN" altLang="en-US" sz="1600" dirty="0"/>
              <a:t>调用代码  </a:t>
            </a:r>
          </a:p>
          <a:p>
            <a:pPr eaLnBrk="1" hangingPunct="1"/>
            <a:r>
              <a:rPr lang="en-US" altLang="zh-CN" sz="1600" dirty="0" err="1"/>
              <a:t>DrawProcess</a:t>
            </a:r>
            <a:r>
              <a:rPr lang="en-US" altLang="zh-CN" sz="1600" dirty="0"/>
              <a:t> draw = </a:t>
            </a:r>
            <a:r>
              <a:rPr lang="en-US" altLang="zh-CN" sz="1600" b="1" dirty="0"/>
              <a:t>new</a:t>
            </a:r>
            <a:r>
              <a:rPr lang="en-US" altLang="zh-CN" sz="1600" dirty="0"/>
              <a:t> </a:t>
            </a:r>
            <a:r>
              <a:rPr lang="en-US" altLang="zh-CN" sz="1600" dirty="0" err="1"/>
              <a:t>DrawProcess</a:t>
            </a:r>
            <a:r>
              <a:rPr lang="en-US" altLang="zh-CN" sz="1600" dirty="0"/>
              <a:t>();  </a:t>
            </a:r>
          </a:p>
          <a:p>
            <a:pPr eaLnBrk="1" hangingPunct="1"/>
            <a:r>
              <a:rPr lang="en-US" altLang="zh-CN" sz="1600" dirty="0" err="1"/>
              <a:t>draw.Draw</a:t>
            </a:r>
            <a:r>
              <a:rPr lang="en-US" altLang="zh-CN" sz="1600" dirty="0"/>
              <a:t>(</a:t>
            </a:r>
            <a:r>
              <a:rPr lang="en-US" altLang="zh-CN" sz="1600" dirty="0" err="1"/>
              <a:t>Sharp.Circle</a:t>
            </a:r>
            <a:r>
              <a:rPr lang="en-US" altLang="zh-CN" sz="1600" dirty="0"/>
              <a:t>); </a:t>
            </a:r>
          </a:p>
        </p:txBody>
      </p:sp>
    </p:spTree>
    <p:extLst>
      <p:ext uri="{BB962C8B-B14F-4D97-AF65-F5344CB8AC3E}">
        <p14:creationId xmlns:p14="http://schemas.microsoft.com/office/powerpoint/2010/main" val="20819282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animEffect transition="in" filter="box(in)">
                                      <p:cBhvr>
                                        <p:cTn id="7" dur="500"/>
                                        <p:tgtEl>
                                          <p:spTgt spid="184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8439"/>
                                        </p:tgtEl>
                                        <p:attrNameLst>
                                          <p:attrName>style.visibility</p:attrName>
                                        </p:attrNameLst>
                                      </p:cBhvr>
                                      <p:to>
                                        <p:strVal val="visible"/>
                                      </p:to>
                                    </p:set>
                                    <p:animEffect transition="in" filter="box(in)">
                                      <p:cBhvr>
                                        <p:cTn id="12" dur="500"/>
                                        <p:tgtEl>
                                          <p:spTgt spid="18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p:bldP spid="1843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p:cNvSpPr txBox="1">
            <a:spLocks noChangeArrowheads="1"/>
          </p:cNvSpPr>
          <p:nvPr/>
        </p:nvSpPr>
        <p:spPr bwMode="auto">
          <a:xfrm>
            <a:off x="1121683" y="97066"/>
            <a:ext cx="56710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FF00"/>
                </a:solidFill>
              </a:rPr>
              <a:t>运用</a:t>
            </a:r>
            <a:r>
              <a:rPr lang="en-US" altLang="zh-CN" sz="2000" b="1" dirty="0">
                <a:solidFill>
                  <a:srgbClr val="FFFF00"/>
                </a:solidFill>
              </a:rPr>
              <a:t>OCP, </a:t>
            </a:r>
            <a:r>
              <a:rPr lang="zh-CN" altLang="en-US" sz="2000" b="1" dirty="0">
                <a:solidFill>
                  <a:srgbClr val="FFFF00"/>
                </a:solidFill>
              </a:rPr>
              <a:t>来看一下如何对代码进行一次重构 </a:t>
            </a:r>
          </a:p>
        </p:txBody>
      </p:sp>
      <p:sp>
        <p:nvSpPr>
          <p:cNvPr id="19461" name="Text Box 5"/>
          <p:cNvSpPr txBox="1">
            <a:spLocks noChangeArrowheads="1"/>
          </p:cNvSpPr>
          <p:nvPr/>
        </p:nvSpPr>
        <p:spPr bwMode="auto">
          <a:xfrm>
            <a:off x="1510393" y="800557"/>
            <a:ext cx="352969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1800" dirty="0"/>
              <a:t>/// &lt;summary&gt;  </a:t>
            </a:r>
          </a:p>
          <a:p>
            <a:pPr eaLnBrk="1" hangingPunct="1"/>
            <a:r>
              <a:rPr lang="en-US" altLang="zh-CN" sz="1800" dirty="0"/>
              <a:t>/// </a:t>
            </a:r>
            <a:r>
              <a:rPr lang="zh-CN" altLang="en-US" sz="1800" dirty="0"/>
              <a:t>绘制接口  </a:t>
            </a:r>
          </a:p>
          <a:p>
            <a:pPr eaLnBrk="1" hangingPunct="1"/>
            <a:r>
              <a:rPr lang="en-US" altLang="zh-CN" sz="1800" dirty="0"/>
              <a:t>/// &lt;/summary&gt;  </a:t>
            </a:r>
            <a:endParaRPr lang="en-US" altLang="zh-CN" sz="1800" b="1" dirty="0"/>
          </a:p>
          <a:p>
            <a:pPr eaLnBrk="1" hangingPunct="1"/>
            <a:r>
              <a:rPr lang="en-US" altLang="zh-CN" sz="1800" b="1" dirty="0"/>
              <a:t>public</a:t>
            </a:r>
            <a:r>
              <a:rPr lang="en-US" altLang="zh-CN" sz="1800" dirty="0"/>
              <a:t> </a:t>
            </a:r>
            <a:r>
              <a:rPr lang="en-US" altLang="zh-CN" sz="1800" b="1" dirty="0"/>
              <a:t>interface</a:t>
            </a:r>
            <a:r>
              <a:rPr lang="en-US" altLang="zh-CN" sz="1800" dirty="0"/>
              <a:t> </a:t>
            </a:r>
            <a:r>
              <a:rPr lang="en-US" altLang="zh-CN" sz="1800" dirty="0" err="1"/>
              <a:t>IDraw</a:t>
            </a:r>
            <a:r>
              <a:rPr lang="en-US" altLang="zh-CN" sz="1800" dirty="0"/>
              <a:t> </a:t>
            </a:r>
            <a:r>
              <a:rPr lang="en-US" altLang="zh-CN" sz="1800" dirty="0" smtClean="0"/>
              <a:t>{ </a:t>
            </a:r>
            <a:r>
              <a:rPr lang="en-US" altLang="zh-CN" sz="1800" dirty="0"/>
              <a:t> </a:t>
            </a:r>
          </a:p>
          <a:p>
            <a:pPr eaLnBrk="1" hangingPunct="1"/>
            <a:r>
              <a:rPr lang="en-US" altLang="zh-CN" sz="1800" dirty="0"/>
              <a:t>    </a:t>
            </a:r>
            <a:r>
              <a:rPr lang="en-US" altLang="zh-CN" sz="1800" b="1" dirty="0"/>
              <a:t>void</a:t>
            </a:r>
            <a:r>
              <a:rPr lang="en-US" altLang="zh-CN" sz="1800" dirty="0"/>
              <a:t> Draw();  </a:t>
            </a:r>
          </a:p>
          <a:p>
            <a:pPr eaLnBrk="1" hangingPunct="1"/>
            <a:r>
              <a:rPr lang="en-US" altLang="zh-CN" sz="1800" dirty="0"/>
              <a:t>}  </a:t>
            </a:r>
          </a:p>
          <a:p>
            <a:pPr eaLnBrk="1" hangingPunct="1"/>
            <a:r>
              <a:rPr lang="en-US" altLang="zh-CN" sz="1800" dirty="0"/>
              <a:t> </a:t>
            </a:r>
            <a:endParaRPr lang="en-US" altLang="zh-CN" sz="1800" b="1" dirty="0"/>
          </a:p>
          <a:p>
            <a:pPr eaLnBrk="1" hangingPunct="1"/>
            <a:r>
              <a:rPr lang="en-US" altLang="zh-CN" sz="1800" b="1" dirty="0"/>
              <a:t>public</a:t>
            </a:r>
            <a:r>
              <a:rPr lang="en-US" altLang="zh-CN" sz="1800" dirty="0"/>
              <a:t> </a:t>
            </a:r>
            <a:r>
              <a:rPr lang="en-US" altLang="zh-CN" sz="1800" b="1" dirty="0"/>
              <a:t>class</a:t>
            </a:r>
            <a:r>
              <a:rPr lang="en-US" altLang="zh-CN" sz="1800" dirty="0"/>
              <a:t> </a:t>
            </a:r>
            <a:r>
              <a:rPr lang="en-US" altLang="zh-CN" sz="1800" dirty="0" err="1"/>
              <a:t>Circle:IDraw</a:t>
            </a:r>
            <a:r>
              <a:rPr lang="en-US" altLang="zh-CN" sz="1800" dirty="0"/>
              <a:t> </a:t>
            </a:r>
            <a:r>
              <a:rPr lang="en-US" altLang="zh-CN" sz="1800" dirty="0" smtClean="0"/>
              <a:t>{ </a:t>
            </a:r>
            <a:r>
              <a:rPr lang="en-US" altLang="zh-CN" sz="1800" dirty="0"/>
              <a:t> </a:t>
            </a:r>
          </a:p>
          <a:p>
            <a:pPr eaLnBrk="1" hangingPunct="1"/>
            <a:r>
              <a:rPr lang="en-US" altLang="zh-CN" sz="1800" dirty="0"/>
              <a:t>    </a:t>
            </a:r>
            <a:r>
              <a:rPr lang="en-US" altLang="zh-CN" sz="1800" b="1" dirty="0"/>
              <a:t>public</a:t>
            </a:r>
            <a:r>
              <a:rPr lang="en-US" altLang="zh-CN" sz="1800" dirty="0"/>
              <a:t> </a:t>
            </a:r>
            <a:r>
              <a:rPr lang="en-US" altLang="zh-CN" sz="1800" b="1" dirty="0"/>
              <a:t>void</a:t>
            </a:r>
            <a:r>
              <a:rPr lang="en-US" altLang="zh-CN" sz="1800" dirty="0"/>
              <a:t> Draw()   {  </a:t>
            </a:r>
          </a:p>
          <a:p>
            <a:pPr eaLnBrk="1" hangingPunct="1"/>
            <a:r>
              <a:rPr lang="en-US" altLang="zh-CN" sz="1800" dirty="0"/>
              <a:t>        //</a:t>
            </a:r>
            <a:r>
              <a:rPr lang="zh-CN" altLang="en-US" sz="1800" dirty="0"/>
              <a:t>绘制圆形  </a:t>
            </a:r>
          </a:p>
          <a:p>
            <a:pPr eaLnBrk="1" hangingPunct="1"/>
            <a:r>
              <a:rPr lang="zh-CN" altLang="en-US" sz="1800" dirty="0"/>
              <a:t>    </a:t>
            </a:r>
            <a:r>
              <a:rPr lang="en-US" altLang="zh-CN" sz="1800" dirty="0"/>
              <a:t>}  </a:t>
            </a:r>
          </a:p>
          <a:p>
            <a:pPr eaLnBrk="1" hangingPunct="1"/>
            <a:r>
              <a:rPr lang="en-US" altLang="zh-CN" sz="1800" dirty="0"/>
              <a:t>}  </a:t>
            </a:r>
          </a:p>
          <a:p>
            <a:pPr eaLnBrk="1" hangingPunct="1"/>
            <a:r>
              <a:rPr lang="en-US" altLang="zh-CN" sz="1800" dirty="0"/>
              <a:t> </a:t>
            </a:r>
            <a:endParaRPr lang="en-US" altLang="zh-CN" sz="1800" b="1" dirty="0"/>
          </a:p>
          <a:p>
            <a:pPr eaLnBrk="1" hangingPunct="1"/>
            <a:r>
              <a:rPr lang="en-US" altLang="zh-CN" sz="1800" b="1" dirty="0"/>
              <a:t>public</a:t>
            </a:r>
            <a:r>
              <a:rPr lang="en-US" altLang="zh-CN" sz="1800" dirty="0"/>
              <a:t> </a:t>
            </a:r>
            <a:r>
              <a:rPr lang="en-US" altLang="zh-CN" sz="1800" b="1" dirty="0"/>
              <a:t>class</a:t>
            </a:r>
            <a:r>
              <a:rPr lang="en-US" altLang="zh-CN" sz="1800" dirty="0"/>
              <a:t> </a:t>
            </a:r>
            <a:r>
              <a:rPr lang="en-US" altLang="zh-CN" sz="1800" dirty="0" err="1"/>
              <a:t>Rectangle:IDraw</a:t>
            </a:r>
            <a:r>
              <a:rPr lang="en-US" altLang="zh-CN" sz="1800" dirty="0"/>
              <a:t>  </a:t>
            </a:r>
            <a:r>
              <a:rPr lang="en-US" altLang="zh-CN" sz="1800" dirty="0" smtClean="0"/>
              <a:t>{ </a:t>
            </a:r>
            <a:r>
              <a:rPr lang="en-US" altLang="zh-CN" sz="1800" dirty="0"/>
              <a:t> </a:t>
            </a:r>
          </a:p>
          <a:p>
            <a:pPr eaLnBrk="1" hangingPunct="1"/>
            <a:r>
              <a:rPr lang="en-US" altLang="zh-CN" sz="1800" dirty="0"/>
              <a:t>    </a:t>
            </a:r>
            <a:r>
              <a:rPr lang="en-US" altLang="zh-CN" sz="1800" b="1" dirty="0"/>
              <a:t>public</a:t>
            </a:r>
            <a:r>
              <a:rPr lang="en-US" altLang="zh-CN" sz="1800" dirty="0"/>
              <a:t> </a:t>
            </a:r>
            <a:r>
              <a:rPr lang="en-US" altLang="zh-CN" sz="1800" b="1" dirty="0"/>
              <a:t>void</a:t>
            </a:r>
            <a:r>
              <a:rPr lang="en-US" altLang="zh-CN" sz="1800" dirty="0"/>
              <a:t> Draw()      {  </a:t>
            </a:r>
          </a:p>
          <a:p>
            <a:pPr eaLnBrk="1" hangingPunct="1"/>
            <a:r>
              <a:rPr lang="en-US" altLang="zh-CN" sz="1800" dirty="0"/>
              <a:t>        //</a:t>
            </a:r>
            <a:r>
              <a:rPr lang="zh-CN" altLang="en-US" sz="1800" dirty="0"/>
              <a:t>绘制长方形  </a:t>
            </a:r>
          </a:p>
          <a:p>
            <a:pPr eaLnBrk="1" hangingPunct="1"/>
            <a:r>
              <a:rPr lang="zh-CN" altLang="en-US" sz="1800" dirty="0"/>
              <a:t>    </a:t>
            </a:r>
            <a:r>
              <a:rPr lang="en-US" altLang="zh-CN" sz="1800" dirty="0"/>
              <a:t>}  </a:t>
            </a:r>
          </a:p>
          <a:p>
            <a:pPr eaLnBrk="1" hangingPunct="1"/>
            <a:r>
              <a:rPr lang="en-US" altLang="zh-CN" sz="1800" dirty="0"/>
              <a:t>}  </a:t>
            </a:r>
          </a:p>
        </p:txBody>
      </p:sp>
      <p:sp>
        <p:nvSpPr>
          <p:cNvPr id="19462" name="Text Box 6"/>
          <p:cNvSpPr txBox="1">
            <a:spLocks noChangeArrowheads="1"/>
          </p:cNvSpPr>
          <p:nvPr/>
        </p:nvSpPr>
        <p:spPr bwMode="auto">
          <a:xfrm>
            <a:off x="5563280" y="662057"/>
            <a:ext cx="5877606"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a:t>public</a:t>
            </a:r>
            <a:r>
              <a:rPr lang="en-US" altLang="zh-CN" sz="2000" dirty="0"/>
              <a:t> </a:t>
            </a:r>
            <a:r>
              <a:rPr lang="en-US" altLang="zh-CN" sz="2000" b="1" dirty="0"/>
              <a:t>class</a:t>
            </a:r>
            <a:r>
              <a:rPr lang="en-US" altLang="zh-CN" sz="2000" dirty="0"/>
              <a:t> </a:t>
            </a:r>
            <a:r>
              <a:rPr lang="en-US" altLang="zh-CN" sz="2000" dirty="0" err="1"/>
              <a:t>DrawProcess</a:t>
            </a:r>
            <a:r>
              <a:rPr lang="en-US" altLang="zh-CN" sz="2000" dirty="0"/>
              <a:t>  </a:t>
            </a:r>
          </a:p>
          <a:p>
            <a:pPr eaLnBrk="1" hangingPunct="1"/>
            <a:r>
              <a:rPr lang="en-US" altLang="zh-CN" sz="2000" dirty="0"/>
              <a:t>{  </a:t>
            </a:r>
          </a:p>
          <a:p>
            <a:pPr eaLnBrk="1" hangingPunct="1"/>
            <a:r>
              <a:rPr lang="en-US" altLang="zh-CN" sz="2000" dirty="0"/>
              <a:t>    </a:t>
            </a:r>
            <a:r>
              <a:rPr lang="en-US" altLang="zh-CN" sz="2000" b="1" dirty="0"/>
              <a:t>private</a:t>
            </a:r>
            <a:r>
              <a:rPr lang="en-US" altLang="zh-CN" sz="2000" dirty="0"/>
              <a:t> </a:t>
            </a:r>
            <a:r>
              <a:rPr lang="en-US" altLang="zh-CN" sz="2000" dirty="0" err="1"/>
              <a:t>IDraw</a:t>
            </a:r>
            <a:r>
              <a:rPr lang="en-US" altLang="zh-CN" sz="2000" dirty="0"/>
              <a:t> _draw</a:t>
            </a:r>
            <a:r>
              <a:rPr lang="en-US" altLang="zh-CN" sz="2000" dirty="0" smtClean="0"/>
              <a:t>;</a:t>
            </a:r>
          </a:p>
          <a:p>
            <a:pPr eaLnBrk="1" hangingPunct="1"/>
            <a:r>
              <a:rPr lang="en-US" altLang="zh-CN" sz="2000" dirty="0"/>
              <a:t>    </a:t>
            </a:r>
            <a:r>
              <a:rPr lang="en-US" altLang="zh-CN" sz="2000" b="1" dirty="0"/>
              <a:t>public</a:t>
            </a:r>
            <a:r>
              <a:rPr lang="en-US" altLang="zh-CN" sz="2000" dirty="0"/>
              <a:t> </a:t>
            </a:r>
            <a:r>
              <a:rPr lang="en-US" altLang="zh-CN" sz="2000" dirty="0" err="1"/>
              <a:t>IDraw</a:t>
            </a:r>
            <a:r>
              <a:rPr lang="en-US" altLang="zh-CN" sz="2000" dirty="0"/>
              <a:t> Draw { set { _draw = value; } }  </a:t>
            </a:r>
          </a:p>
          <a:p>
            <a:pPr eaLnBrk="1" hangingPunct="1"/>
            <a:r>
              <a:rPr lang="en-US" altLang="zh-CN" sz="2000" dirty="0"/>
              <a:t>      </a:t>
            </a:r>
          </a:p>
          <a:p>
            <a:pPr eaLnBrk="1" hangingPunct="1"/>
            <a:r>
              <a:rPr lang="en-US" altLang="zh-CN" sz="2000" dirty="0"/>
              <a:t>    </a:t>
            </a:r>
            <a:r>
              <a:rPr lang="en-US" altLang="zh-CN" sz="2000" b="1" dirty="0"/>
              <a:t>private</a:t>
            </a:r>
            <a:r>
              <a:rPr lang="en-US" altLang="zh-CN" sz="2000" dirty="0"/>
              <a:t> </a:t>
            </a:r>
            <a:r>
              <a:rPr lang="en-US" altLang="zh-CN" sz="2000" dirty="0" err="1"/>
              <a:t>DrawProcess</a:t>
            </a:r>
            <a:r>
              <a:rPr lang="en-US" altLang="zh-CN" sz="2000" dirty="0"/>
              <a:t>() { }   </a:t>
            </a:r>
          </a:p>
          <a:p>
            <a:pPr eaLnBrk="1" hangingPunct="1"/>
            <a:r>
              <a:rPr lang="en-US" altLang="zh-CN" sz="2000" dirty="0"/>
              <a:t>    </a:t>
            </a:r>
            <a:r>
              <a:rPr lang="en-US" altLang="zh-CN" sz="2000" b="1" dirty="0"/>
              <a:t>public</a:t>
            </a:r>
            <a:r>
              <a:rPr lang="en-US" altLang="zh-CN" sz="2000" dirty="0"/>
              <a:t> </a:t>
            </a:r>
            <a:r>
              <a:rPr lang="en-US" altLang="zh-CN" sz="2000" dirty="0" err="1"/>
              <a:t>DrawProcess</a:t>
            </a:r>
            <a:r>
              <a:rPr lang="en-US" altLang="zh-CN" sz="2000" dirty="0"/>
              <a:t>(</a:t>
            </a:r>
            <a:r>
              <a:rPr lang="en-US" altLang="zh-CN" sz="2000" dirty="0" err="1"/>
              <a:t>IDraw</a:t>
            </a:r>
            <a:r>
              <a:rPr lang="en-US" altLang="zh-CN" sz="2000" dirty="0"/>
              <a:t> draw)   {  </a:t>
            </a:r>
          </a:p>
          <a:p>
            <a:pPr eaLnBrk="1" hangingPunct="1"/>
            <a:r>
              <a:rPr lang="en-US" altLang="zh-CN" sz="2000" dirty="0"/>
              <a:t>        _draw = draw;  </a:t>
            </a:r>
          </a:p>
          <a:p>
            <a:pPr eaLnBrk="1" hangingPunct="1"/>
            <a:r>
              <a:rPr lang="en-US" altLang="zh-CN" sz="2000" dirty="0"/>
              <a:t>    }   </a:t>
            </a:r>
          </a:p>
          <a:p>
            <a:pPr eaLnBrk="1" hangingPunct="1"/>
            <a:r>
              <a:rPr lang="en-US" altLang="zh-CN" sz="2000" dirty="0"/>
              <a:t>    </a:t>
            </a:r>
            <a:r>
              <a:rPr lang="en-US" altLang="zh-CN" sz="2000" b="1" dirty="0"/>
              <a:t>public</a:t>
            </a:r>
            <a:r>
              <a:rPr lang="en-US" altLang="zh-CN" sz="2000" dirty="0"/>
              <a:t> </a:t>
            </a:r>
            <a:r>
              <a:rPr lang="en-US" altLang="zh-CN" sz="2000" b="1" dirty="0"/>
              <a:t>void</a:t>
            </a:r>
            <a:r>
              <a:rPr lang="en-US" altLang="zh-CN" sz="2000" dirty="0"/>
              <a:t> </a:t>
            </a:r>
            <a:r>
              <a:rPr lang="en-US" altLang="zh-CN" sz="2000" dirty="0" err="1"/>
              <a:t>DrawSharp</a:t>
            </a:r>
            <a:r>
              <a:rPr lang="en-US" altLang="zh-CN" sz="2000" dirty="0"/>
              <a:t>()   {  </a:t>
            </a:r>
          </a:p>
          <a:p>
            <a:pPr eaLnBrk="1" hangingPunct="1"/>
            <a:r>
              <a:rPr lang="en-US" altLang="zh-CN" sz="2000" dirty="0"/>
              <a:t>        _</a:t>
            </a:r>
            <a:r>
              <a:rPr lang="en-US" altLang="zh-CN" sz="2000" dirty="0" err="1"/>
              <a:t>draw.Draw</a:t>
            </a:r>
            <a:r>
              <a:rPr lang="en-US" altLang="zh-CN" sz="2000" dirty="0"/>
              <a:t>();  </a:t>
            </a:r>
          </a:p>
          <a:p>
            <a:pPr eaLnBrk="1" hangingPunct="1"/>
            <a:r>
              <a:rPr lang="en-US" altLang="zh-CN" sz="2000" dirty="0"/>
              <a:t>    }  </a:t>
            </a:r>
          </a:p>
          <a:p>
            <a:pPr eaLnBrk="1" hangingPunct="1"/>
            <a:r>
              <a:rPr lang="en-US" altLang="zh-CN" sz="2000" dirty="0"/>
              <a:t>}   </a:t>
            </a:r>
          </a:p>
          <a:p>
            <a:pPr eaLnBrk="1" hangingPunct="1"/>
            <a:r>
              <a:rPr lang="en-US" altLang="zh-CN" sz="2000" dirty="0"/>
              <a:t> </a:t>
            </a:r>
          </a:p>
          <a:p>
            <a:pPr eaLnBrk="1" hangingPunct="1"/>
            <a:r>
              <a:rPr lang="en-US" altLang="zh-CN" sz="2000" dirty="0"/>
              <a:t>//</a:t>
            </a:r>
            <a:r>
              <a:rPr lang="zh-CN" altLang="en-US" sz="2000" dirty="0"/>
              <a:t>调用代码  </a:t>
            </a:r>
          </a:p>
          <a:p>
            <a:pPr eaLnBrk="1" hangingPunct="1"/>
            <a:r>
              <a:rPr lang="en-US" altLang="zh-CN" sz="2000" dirty="0" err="1"/>
              <a:t>IDraw</a:t>
            </a:r>
            <a:r>
              <a:rPr lang="en-US" altLang="zh-CN" sz="2000" dirty="0"/>
              <a:t> circle = </a:t>
            </a:r>
            <a:r>
              <a:rPr lang="en-US" altLang="zh-CN" sz="2000" b="1" dirty="0"/>
              <a:t>new</a:t>
            </a:r>
            <a:r>
              <a:rPr lang="en-US" altLang="zh-CN" sz="2000" dirty="0"/>
              <a:t> Circle();  </a:t>
            </a:r>
          </a:p>
          <a:p>
            <a:pPr eaLnBrk="1" hangingPunct="1"/>
            <a:r>
              <a:rPr lang="en-US" altLang="zh-CN" sz="2000" dirty="0" err="1"/>
              <a:t>DrawProcess</a:t>
            </a:r>
            <a:r>
              <a:rPr lang="en-US" altLang="zh-CN" sz="2000" dirty="0"/>
              <a:t> draw = </a:t>
            </a:r>
            <a:r>
              <a:rPr lang="en-US" altLang="zh-CN" sz="2000" b="1" dirty="0"/>
              <a:t>new</a:t>
            </a:r>
            <a:r>
              <a:rPr lang="en-US" altLang="zh-CN" sz="2000" dirty="0"/>
              <a:t> </a:t>
            </a:r>
            <a:r>
              <a:rPr lang="en-US" altLang="zh-CN" sz="2000" dirty="0" err="1"/>
              <a:t>DrawProcess</a:t>
            </a:r>
            <a:r>
              <a:rPr lang="en-US" altLang="zh-CN" sz="2000" dirty="0"/>
              <a:t>(circle);  </a:t>
            </a:r>
          </a:p>
          <a:p>
            <a:pPr eaLnBrk="1" hangingPunct="1"/>
            <a:r>
              <a:rPr lang="en-US" altLang="zh-CN" sz="2000" dirty="0" err="1"/>
              <a:t>draw.DrawSharp</a:t>
            </a:r>
            <a:r>
              <a:rPr lang="en-US" altLang="zh-CN" sz="2000" dirty="0"/>
              <a:t>(); </a:t>
            </a:r>
          </a:p>
        </p:txBody>
      </p:sp>
    </p:spTree>
    <p:extLst>
      <p:ext uri="{BB962C8B-B14F-4D97-AF65-F5344CB8AC3E}">
        <p14:creationId xmlns:p14="http://schemas.microsoft.com/office/powerpoint/2010/main" val="7007905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 calcmode="lin" valueType="num">
                                      <p:cBhvr additive="base">
                                        <p:cTn id="7" dur="500" fill="hold"/>
                                        <p:tgtEl>
                                          <p:spTgt spid="19461"/>
                                        </p:tgtEl>
                                        <p:attrNameLst>
                                          <p:attrName>ppt_x</p:attrName>
                                        </p:attrNameLst>
                                      </p:cBhvr>
                                      <p:tavLst>
                                        <p:tav tm="0">
                                          <p:val>
                                            <p:strVal val="#ppt_x"/>
                                          </p:val>
                                        </p:tav>
                                        <p:tav tm="100000">
                                          <p:val>
                                            <p:strVal val="#ppt_x"/>
                                          </p:val>
                                        </p:tav>
                                      </p:tavLst>
                                    </p:anim>
                                    <p:anim calcmode="lin" valueType="num">
                                      <p:cBhvr additive="base">
                                        <p:cTn id="8" dur="500" fill="hold"/>
                                        <p:tgtEl>
                                          <p:spTgt spid="1946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62"/>
                                        </p:tgtEl>
                                        <p:attrNameLst>
                                          <p:attrName>style.visibility</p:attrName>
                                        </p:attrNameLst>
                                      </p:cBhvr>
                                      <p:to>
                                        <p:strVal val="visible"/>
                                      </p:to>
                                    </p:set>
                                    <p:anim calcmode="lin" valueType="num">
                                      <p:cBhvr additive="base">
                                        <p:cTn id="13" dur="500" fill="hold"/>
                                        <p:tgtEl>
                                          <p:spTgt spid="19462"/>
                                        </p:tgtEl>
                                        <p:attrNameLst>
                                          <p:attrName>ppt_x</p:attrName>
                                        </p:attrNameLst>
                                      </p:cBhvr>
                                      <p:tavLst>
                                        <p:tav tm="0">
                                          <p:val>
                                            <p:strVal val="#ppt_x"/>
                                          </p:val>
                                        </p:tav>
                                        <p:tav tm="100000">
                                          <p:val>
                                            <p:strVal val="#ppt_x"/>
                                          </p:val>
                                        </p:tav>
                                      </p:tavLst>
                                    </p:anim>
                                    <p:anim calcmode="lin" valueType="num">
                                      <p:cBhvr additive="base">
                                        <p:cTn id="14" dur="500" fill="hold"/>
                                        <p:tgtEl>
                                          <p:spTgt spid="194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p:bldP spid="1946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3"/>
          <p:cNvSpPr txBox="1">
            <a:spLocks noChangeArrowheads="1"/>
          </p:cNvSpPr>
          <p:nvPr/>
        </p:nvSpPr>
        <p:spPr bwMode="auto">
          <a:xfrm>
            <a:off x="1774825" y="188913"/>
            <a:ext cx="3168650" cy="522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1600" dirty="0"/>
              <a:t>/// &lt;summary&gt;  </a:t>
            </a:r>
          </a:p>
          <a:p>
            <a:pPr eaLnBrk="1" hangingPunct="1"/>
            <a:r>
              <a:rPr lang="en-US" altLang="zh-CN" sz="1600" dirty="0"/>
              <a:t>/// </a:t>
            </a:r>
            <a:r>
              <a:rPr lang="zh-CN" altLang="en-US" sz="1600" dirty="0"/>
              <a:t>绘制接口  </a:t>
            </a:r>
          </a:p>
          <a:p>
            <a:pPr eaLnBrk="1" hangingPunct="1"/>
            <a:r>
              <a:rPr lang="en-US" altLang="zh-CN" sz="1600" dirty="0"/>
              <a:t>/// &lt;/summary&gt;  </a:t>
            </a:r>
            <a:endParaRPr lang="en-US" altLang="zh-CN" sz="1600" b="1" dirty="0"/>
          </a:p>
          <a:p>
            <a:pPr eaLnBrk="1" hangingPunct="1"/>
            <a:r>
              <a:rPr lang="en-US" altLang="zh-CN" sz="1600" b="1" dirty="0"/>
              <a:t>public</a:t>
            </a:r>
            <a:r>
              <a:rPr lang="en-US" altLang="zh-CN" sz="1600" dirty="0"/>
              <a:t> </a:t>
            </a:r>
            <a:r>
              <a:rPr lang="en-US" altLang="zh-CN" sz="1600" b="1" dirty="0"/>
              <a:t>interface</a:t>
            </a:r>
            <a:r>
              <a:rPr lang="en-US" altLang="zh-CN" sz="1600" dirty="0"/>
              <a:t> </a:t>
            </a:r>
            <a:r>
              <a:rPr lang="en-US" altLang="zh-CN" sz="1600" dirty="0" err="1"/>
              <a:t>IDraw</a:t>
            </a:r>
            <a:r>
              <a:rPr lang="en-US" altLang="zh-CN" sz="1600" dirty="0"/>
              <a:t>  </a:t>
            </a:r>
          </a:p>
          <a:p>
            <a:pPr eaLnBrk="1" hangingPunct="1"/>
            <a:r>
              <a:rPr lang="en-US" altLang="zh-CN" sz="1600" dirty="0"/>
              <a:t>{  </a:t>
            </a:r>
          </a:p>
          <a:p>
            <a:pPr eaLnBrk="1" hangingPunct="1"/>
            <a:r>
              <a:rPr lang="en-US" altLang="zh-CN" sz="1600" dirty="0"/>
              <a:t>    </a:t>
            </a:r>
            <a:r>
              <a:rPr lang="en-US" altLang="zh-CN" sz="1600" b="1" dirty="0"/>
              <a:t>void</a:t>
            </a:r>
            <a:r>
              <a:rPr lang="en-US" altLang="zh-CN" sz="1600" dirty="0"/>
              <a:t> Draw();  </a:t>
            </a:r>
          </a:p>
          <a:p>
            <a:pPr eaLnBrk="1" hangingPunct="1"/>
            <a:r>
              <a:rPr lang="en-US" altLang="zh-CN" sz="1600" dirty="0"/>
              <a:t>}  </a:t>
            </a:r>
            <a:endParaRPr lang="en-US" altLang="zh-CN" sz="1600" b="1" dirty="0"/>
          </a:p>
          <a:p>
            <a:pPr eaLnBrk="1" hangingPunct="1"/>
            <a:r>
              <a:rPr lang="en-US" altLang="zh-CN" sz="1600" b="1" dirty="0"/>
              <a:t>public</a:t>
            </a:r>
            <a:r>
              <a:rPr lang="en-US" altLang="zh-CN" sz="1600" dirty="0"/>
              <a:t> </a:t>
            </a:r>
            <a:r>
              <a:rPr lang="en-US" altLang="zh-CN" sz="1600" b="1" dirty="0"/>
              <a:t>class</a:t>
            </a:r>
            <a:r>
              <a:rPr lang="en-US" altLang="zh-CN" sz="1600" dirty="0"/>
              <a:t> </a:t>
            </a:r>
            <a:r>
              <a:rPr lang="en-US" altLang="zh-CN" sz="1600" dirty="0" err="1"/>
              <a:t>Circle:IDraw</a:t>
            </a:r>
            <a:r>
              <a:rPr lang="en-US" altLang="zh-CN" sz="1600" dirty="0"/>
              <a:t>  </a:t>
            </a:r>
          </a:p>
          <a:p>
            <a:pPr eaLnBrk="1" hangingPunct="1"/>
            <a:r>
              <a:rPr lang="en-US" altLang="zh-CN" sz="1600" dirty="0"/>
              <a:t>{  </a:t>
            </a:r>
          </a:p>
          <a:p>
            <a:pPr eaLnBrk="1" hangingPunct="1"/>
            <a:r>
              <a:rPr lang="en-US" altLang="zh-CN" sz="1600" dirty="0"/>
              <a:t>    </a:t>
            </a:r>
            <a:r>
              <a:rPr lang="en-US" altLang="zh-CN" sz="1600" b="1" dirty="0"/>
              <a:t>public</a:t>
            </a:r>
            <a:r>
              <a:rPr lang="en-US" altLang="zh-CN" sz="1600" dirty="0"/>
              <a:t> </a:t>
            </a:r>
            <a:r>
              <a:rPr lang="en-US" altLang="zh-CN" sz="1600" b="1" dirty="0"/>
              <a:t>void</a:t>
            </a:r>
            <a:r>
              <a:rPr lang="en-US" altLang="zh-CN" sz="1600" dirty="0"/>
              <a:t> Draw()  </a:t>
            </a:r>
          </a:p>
          <a:p>
            <a:pPr eaLnBrk="1" hangingPunct="1"/>
            <a:r>
              <a:rPr lang="en-US" altLang="zh-CN" sz="1600" dirty="0"/>
              <a:t>    {  </a:t>
            </a:r>
          </a:p>
          <a:p>
            <a:pPr eaLnBrk="1" hangingPunct="1"/>
            <a:r>
              <a:rPr lang="en-US" altLang="zh-CN" sz="1600" dirty="0"/>
              <a:t>        //</a:t>
            </a:r>
            <a:r>
              <a:rPr lang="zh-CN" altLang="en-US" sz="1600" dirty="0"/>
              <a:t>绘制圆形  </a:t>
            </a:r>
          </a:p>
          <a:p>
            <a:pPr eaLnBrk="1" hangingPunct="1"/>
            <a:r>
              <a:rPr lang="zh-CN" altLang="en-US" sz="1600" dirty="0"/>
              <a:t>    </a:t>
            </a:r>
            <a:r>
              <a:rPr lang="en-US" altLang="zh-CN" sz="1600" dirty="0"/>
              <a:t>}  </a:t>
            </a:r>
          </a:p>
          <a:p>
            <a:pPr eaLnBrk="1" hangingPunct="1"/>
            <a:r>
              <a:rPr lang="en-US" altLang="zh-CN" sz="1600" dirty="0"/>
              <a:t>}  </a:t>
            </a:r>
            <a:endParaRPr lang="en-US" altLang="zh-CN" sz="1600" b="1" dirty="0"/>
          </a:p>
          <a:p>
            <a:pPr eaLnBrk="1" hangingPunct="1"/>
            <a:r>
              <a:rPr lang="en-US" altLang="zh-CN" sz="1600" b="1" dirty="0"/>
              <a:t>public</a:t>
            </a:r>
            <a:r>
              <a:rPr lang="en-US" altLang="zh-CN" sz="1600" dirty="0"/>
              <a:t> </a:t>
            </a:r>
            <a:r>
              <a:rPr lang="en-US" altLang="zh-CN" sz="1600" b="1" dirty="0"/>
              <a:t>class</a:t>
            </a:r>
            <a:r>
              <a:rPr lang="en-US" altLang="zh-CN" sz="1600" dirty="0"/>
              <a:t> </a:t>
            </a:r>
            <a:r>
              <a:rPr lang="en-US" altLang="zh-CN" sz="1600" dirty="0" err="1"/>
              <a:t>Rectangle:IDraw</a:t>
            </a:r>
            <a:r>
              <a:rPr lang="en-US" altLang="zh-CN" sz="1600" dirty="0"/>
              <a:t>  </a:t>
            </a:r>
          </a:p>
          <a:p>
            <a:pPr eaLnBrk="1" hangingPunct="1"/>
            <a:r>
              <a:rPr lang="en-US" altLang="zh-CN" sz="1600" dirty="0"/>
              <a:t>{  </a:t>
            </a:r>
          </a:p>
          <a:p>
            <a:pPr eaLnBrk="1" hangingPunct="1"/>
            <a:r>
              <a:rPr lang="en-US" altLang="zh-CN" sz="1600" dirty="0"/>
              <a:t>    </a:t>
            </a:r>
            <a:r>
              <a:rPr lang="en-US" altLang="zh-CN" sz="1600" b="1" dirty="0"/>
              <a:t>public</a:t>
            </a:r>
            <a:r>
              <a:rPr lang="en-US" altLang="zh-CN" sz="1600" dirty="0"/>
              <a:t> </a:t>
            </a:r>
            <a:r>
              <a:rPr lang="en-US" altLang="zh-CN" sz="1600" b="1" dirty="0"/>
              <a:t>void</a:t>
            </a:r>
            <a:r>
              <a:rPr lang="en-US" altLang="zh-CN" sz="1600" dirty="0"/>
              <a:t> Draw()  </a:t>
            </a:r>
          </a:p>
          <a:p>
            <a:pPr eaLnBrk="1" hangingPunct="1"/>
            <a:r>
              <a:rPr lang="en-US" altLang="zh-CN" sz="1600" dirty="0"/>
              <a:t>    {  </a:t>
            </a:r>
          </a:p>
          <a:p>
            <a:pPr eaLnBrk="1" hangingPunct="1"/>
            <a:r>
              <a:rPr lang="en-US" altLang="zh-CN" sz="1600" dirty="0"/>
              <a:t>        //</a:t>
            </a:r>
            <a:r>
              <a:rPr lang="zh-CN" altLang="en-US" sz="1600" dirty="0"/>
              <a:t>绘制长方形  </a:t>
            </a:r>
          </a:p>
          <a:p>
            <a:pPr eaLnBrk="1" hangingPunct="1"/>
            <a:r>
              <a:rPr lang="zh-CN" altLang="en-US" sz="1600" dirty="0"/>
              <a:t>    </a:t>
            </a:r>
            <a:r>
              <a:rPr lang="en-US" altLang="zh-CN" sz="1600" dirty="0"/>
              <a:t>}  </a:t>
            </a:r>
          </a:p>
          <a:p>
            <a:pPr eaLnBrk="1" hangingPunct="1"/>
            <a:r>
              <a:rPr lang="en-US" altLang="zh-CN" sz="1600" dirty="0"/>
              <a:t>}  </a:t>
            </a:r>
          </a:p>
        </p:txBody>
      </p:sp>
      <p:sp>
        <p:nvSpPr>
          <p:cNvPr id="16387" name="Text Box 4"/>
          <p:cNvSpPr txBox="1">
            <a:spLocks noChangeArrowheads="1"/>
          </p:cNvSpPr>
          <p:nvPr/>
        </p:nvSpPr>
        <p:spPr bwMode="auto">
          <a:xfrm>
            <a:off x="5735638" y="333375"/>
            <a:ext cx="4608512"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t>public</a:t>
            </a:r>
            <a:r>
              <a:rPr lang="en-US" altLang="zh-CN" sz="1600"/>
              <a:t> </a:t>
            </a:r>
            <a:r>
              <a:rPr lang="en-US" altLang="zh-CN" sz="1600" b="1"/>
              <a:t>class</a:t>
            </a:r>
            <a:r>
              <a:rPr lang="en-US" altLang="zh-CN" sz="1600"/>
              <a:t> DrawProcess  </a:t>
            </a:r>
          </a:p>
          <a:p>
            <a:pPr eaLnBrk="1" hangingPunct="1"/>
            <a:r>
              <a:rPr lang="en-US" altLang="zh-CN" sz="1600"/>
              <a:t>{  </a:t>
            </a:r>
          </a:p>
          <a:p>
            <a:pPr eaLnBrk="1" hangingPunct="1"/>
            <a:r>
              <a:rPr lang="en-US" altLang="zh-CN" sz="1600"/>
              <a:t>    </a:t>
            </a:r>
            <a:r>
              <a:rPr lang="en-US" altLang="zh-CN" sz="1600" b="1"/>
              <a:t>private</a:t>
            </a:r>
            <a:r>
              <a:rPr lang="en-US" altLang="zh-CN" sz="1600"/>
              <a:t> IDraw _draw;  </a:t>
            </a:r>
          </a:p>
          <a:p>
            <a:pPr eaLnBrk="1" hangingPunct="1"/>
            <a:r>
              <a:rPr lang="en-US" altLang="zh-CN" sz="1600"/>
              <a:t> </a:t>
            </a:r>
          </a:p>
          <a:p>
            <a:pPr eaLnBrk="1" hangingPunct="1"/>
            <a:r>
              <a:rPr lang="en-US" altLang="zh-CN" sz="1600"/>
              <a:t>    </a:t>
            </a:r>
            <a:r>
              <a:rPr lang="en-US" altLang="zh-CN" sz="1600" b="1"/>
              <a:t>public</a:t>
            </a:r>
            <a:r>
              <a:rPr lang="en-US" altLang="zh-CN" sz="1600"/>
              <a:t> IDraw Draw { set { _draw = value; } }  </a:t>
            </a:r>
          </a:p>
          <a:p>
            <a:pPr eaLnBrk="1" hangingPunct="1"/>
            <a:r>
              <a:rPr lang="en-US" altLang="zh-CN" sz="1600"/>
              <a:t>      </a:t>
            </a:r>
          </a:p>
          <a:p>
            <a:pPr eaLnBrk="1" hangingPunct="1"/>
            <a:r>
              <a:rPr lang="en-US" altLang="zh-CN" sz="1600"/>
              <a:t>    </a:t>
            </a:r>
            <a:r>
              <a:rPr lang="en-US" altLang="zh-CN" sz="1600" b="1"/>
              <a:t>private</a:t>
            </a:r>
            <a:r>
              <a:rPr lang="en-US" altLang="zh-CN" sz="1600"/>
              <a:t> DrawProcess() { }  </a:t>
            </a:r>
          </a:p>
          <a:p>
            <a:pPr eaLnBrk="1" hangingPunct="1"/>
            <a:r>
              <a:rPr lang="en-US" altLang="zh-CN" sz="1600"/>
              <a:t> </a:t>
            </a:r>
          </a:p>
          <a:p>
            <a:pPr eaLnBrk="1" hangingPunct="1"/>
            <a:r>
              <a:rPr lang="en-US" altLang="zh-CN" sz="1600"/>
              <a:t>    </a:t>
            </a:r>
            <a:r>
              <a:rPr lang="en-US" altLang="zh-CN" sz="1600" b="1"/>
              <a:t>public</a:t>
            </a:r>
            <a:r>
              <a:rPr lang="en-US" altLang="zh-CN" sz="1600"/>
              <a:t> DrawProcess(IDraw draw)  </a:t>
            </a:r>
          </a:p>
          <a:p>
            <a:pPr eaLnBrk="1" hangingPunct="1"/>
            <a:r>
              <a:rPr lang="en-US" altLang="zh-CN" sz="1600"/>
              <a:t>    {  </a:t>
            </a:r>
          </a:p>
          <a:p>
            <a:pPr eaLnBrk="1" hangingPunct="1"/>
            <a:r>
              <a:rPr lang="en-US" altLang="zh-CN" sz="1600"/>
              <a:t>        _draw = draw;  </a:t>
            </a:r>
          </a:p>
          <a:p>
            <a:pPr eaLnBrk="1" hangingPunct="1"/>
            <a:r>
              <a:rPr lang="en-US" altLang="zh-CN" sz="1600"/>
              <a:t>    }  </a:t>
            </a:r>
          </a:p>
          <a:p>
            <a:pPr eaLnBrk="1" hangingPunct="1"/>
            <a:r>
              <a:rPr lang="en-US" altLang="zh-CN" sz="1600"/>
              <a:t> </a:t>
            </a:r>
          </a:p>
          <a:p>
            <a:pPr eaLnBrk="1" hangingPunct="1"/>
            <a:r>
              <a:rPr lang="en-US" altLang="zh-CN" sz="1600"/>
              <a:t>    </a:t>
            </a:r>
            <a:r>
              <a:rPr lang="en-US" altLang="zh-CN" sz="1600" b="1"/>
              <a:t>public</a:t>
            </a:r>
            <a:r>
              <a:rPr lang="en-US" altLang="zh-CN" sz="1600"/>
              <a:t> </a:t>
            </a:r>
            <a:r>
              <a:rPr lang="en-US" altLang="zh-CN" sz="1600" b="1"/>
              <a:t>void</a:t>
            </a:r>
            <a:r>
              <a:rPr lang="en-US" altLang="zh-CN" sz="1600"/>
              <a:t> DrawSharp()  </a:t>
            </a:r>
          </a:p>
          <a:p>
            <a:pPr eaLnBrk="1" hangingPunct="1"/>
            <a:r>
              <a:rPr lang="en-US" altLang="zh-CN" sz="1600"/>
              <a:t>    {  </a:t>
            </a:r>
          </a:p>
          <a:p>
            <a:pPr eaLnBrk="1" hangingPunct="1"/>
            <a:r>
              <a:rPr lang="en-US" altLang="zh-CN" sz="1600"/>
              <a:t>        _draw.Draw();  </a:t>
            </a:r>
          </a:p>
          <a:p>
            <a:pPr eaLnBrk="1" hangingPunct="1"/>
            <a:r>
              <a:rPr lang="en-US" altLang="zh-CN" sz="1600"/>
              <a:t>    }  </a:t>
            </a:r>
          </a:p>
          <a:p>
            <a:pPr eaLnBrk="1" hangingPunct="1"/>
            <a:r>
              <a:rPr lang="en-US" altLang="zh-CN" sz="1600"/>
              <a:t>}   </a:t>
            </a:r>
          </a:p>
          <a:p>
            <a:pPr eaLnBrk="1" hangingPunct="1"/>
            <a:r>
              <a:rPr lang="en-US" altLang="zh-CN" sz="1600"/>
              <a:t> </a:t>
            </a:r>
          </a:p>
          <a:p>
            <a:pPr eaLnBrk="1" hangingPunct="1"/>
            <a:r>
              <a:rPr lang="en-US" altLang="zh-CN" sz="1600"/>
              <a:t>//</a:t>
            </a:r>
            <a:r>
              <a:rPr lang="zh-CN" altLang="en-US" sz="1600"/>
              <a:t>调用代码  </a:t>
            </a:r>
          </a:p>
          <a:p>
            <a:pPr eaLnBrk="1" hangingPunct="1"/>
            <a:r>
              <a:rPr lang="en-US" altLang="zh-CN" sz="1600"/>
              <a:t>IDraw circle = </a:t>
            </a:r>
            <a:r>
              <a:rPr lang="en-US" altLang="zh-CN" sz="1600" b="1"/>
              <a:t>new</a:t>
            </a:r>
            <a:r>
              <a:rPr lang="en-US" altLang="zh-CN" sz="1600"/>
              <a:t> Circle();  </a:t>
            </a:r>
          </a:p>
          <a:p>
            <a:pPr eaLnBrk="1" hangingPunct="1"/>
            <a:r>
              <a:rPr lang="en-US" altLang="zh-CN" sz="1600"/>
              <a:t>DrawProcess draw = </a:t>
            </a:r>
            <a:r>
              <a:rPr lang="en-US" altLang="zh-CN" sz="1600" b="1"/>
              <a:t>new</a:t>
            </a:r>
            <a:r>
              <a:rPr lang="en-US" altLang="zh-CN" sz="1600"/>
              <a:t> DrawProcess(circle);  </a:t>
            </a:r>
          </a:p>
          <a:p>
            <a:pPr eaLnBrk="1" hangingPunct="1"/>
            <a:r>
              <a:rPr lang="en-US" altLang="zh-CN" sz="1600"/>
              <a:t>draw.DrawSharp(); </a:t>
            </a:r>
          </a:p>
        </p:txBody>
      </p:sp>
      <p:sp>
        <p:nvSpPr>
          <p:cNvPr id="21509" name="Text Box 5"/>
          <p:cNvSpPr txBox="1">
            <a:spLocks noChangeArrowheads="1"/>
          </p:cNvSpPr>
          <p:nvPr/>
        </p:nvSpPr>
        <p:spPr bwMode="auto">
          <a:xfrm>
            <a:off x="1992313" y="5054600"/>
            <a:ext cx="3384550"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FFFF00"/>
                </a:solidFill>
              </a:rPr>
              <a:t>public</a:t>
            </a:r>
            <a:r>
              <a:rPr lang="en-US" altLang="zh-CN" sz="1600" dirty="0">
                <a:solidFill>
                  <a:srgbClr val="FFFF00"/>
                </a:solidFill>
              </a:rPr>
              <a:t> </a:t>
            </a:r>
            <a:r>
              <a:rPr lang="en-US" altLang="zh-CN" sz="1600" b="1" dirty="0">
                <a:solidFill>
                  <a:srgbClr val="FFFF00"/>
                </a:solidFill>
              </a:rPr>
              <a:t>class</a:t>
            </a:r>
            <a:r>
              <a:rPr lang="en-US" altLang="zh-CN" sz="1600" dirty="0">
                <a:solidFill>
                  <a:srgbClr val="FFFF00"/>
                </a:solidFill>
              </a:rPr>
              <a:t> </a:t>
            </a:r>
            <a:r>
              <a:rPr lang="en-US" altLang="zh-CN" sz="1600" dirty="0" err="1">
                <a:solidFill>
                  <a:srgbClr val="FFFF00"/>
                </a:solidFill>
              </a:rPr>
              <a:t>Square:IDraw</a:t>
            </a:r>
            <a:r>
              <a:rPr lang="en-US" altLang="zh-CN" sz="1600" dirty="0">
                <a:solidFill>
                  <a:srgbClr val="FFFF00"/>
                </a:solidFill>
              </a:rPr>
              <a:t>  </a:t>
            </a:r>
          </a:p>
          <a:p>
            <a:pPr eaLnBrk="1" hangingPunct="1"/>
            <a:r>
              <a:rPr lang="en-US" altLang="zh-CN" sz="1600" dirty="0">
                <a:solidFill>
                  <a:srgbClr val="FFFF00"/>
                </a:solidFill>
              </a:rPr>
              <a:t>{  </a:t>
            </a:r>
          </a:p>
          <a:p>
            <a:pPr eaLnBrk="1" hangingPunct="1"/>
            <a:r>
              <a:rPr lang="en-US" altLang="zh-CN" sz="1600" dirty="0">
                <a:solidFill>
                  <a:srgbClr val="FFFF00"/>
                </a:solidFill>
              </a:rPr>
              <a:t>    </a:t>
            </a:r>
            <a:r>
              <a:rPr lang="en-US" altLang="zh-CN" sz="1600" b="1" dirty="0">
                <a:solidFill>
                  <a:srgbClr val="FFFF00"/>
                </a:solidFill>
              </a:rPr>
              <a:t>public</a:t>
            </a:r>
            <a:r>
              <a:rPr lang="en-US" altLang="zh-CN" sz="1600" dirty="0">
                <a:solidFill>
                  <a:srgbClr val="FFFF00"/>
                </a:solidFill>
              </a:rPr>
              <a:t> </a:t>
            </a:r>
            <a:r>
              <a:rPr lang="en-US" altLang="zh-CN" sz="1600" b="1" dirty="0">
                <a:solidFill>
                  <a:srgbClr val="FFFF00"/>
                </a:solidFill>
              </a:rPr>
              <a:t>void</a:t>
            </a:r>
            <a:r>
              <a:rPr lang="en-US" altLang="zh-CN" sz="1600" dirty="0">
                <a:solidFill>
                  <a:srgbClr val="FFFF00"/>
                </a:solidFill>
              </a:rPr>
              <a:t> Draw()  </a:t>
            </a:r>
          </a:p>
          <a:p>
            <a:pPr eaLnBrk="1" hangingPunct="1"/>
            <a:r>
              <a:rPr lang="en-US" altLang="zh-CN" sz="1600" dirty="0">
                <a:solidFill>
                  <a:srgbClr val="FFFF00"/>
                </a:solidFill>
              </a:rPr>
              <a:t>    {  </a:t>
            </a:r>
          </a:p>
          <a:p>
            <a:pPr eaLnBrk="1" hangingPunct="1"/>
            <a:r>
              <a:rPr lang="en-US" altLang="zh-CN" sz="1600" dirty="0">
                <a:solidFill>
                  <a:srgbClr val="FFFF00"/>
                </a:solidFill>
              </a:rPr>
              <a:t>        //</a:t>
            </a:r>
            <a:r>
              <a:rPr lang="zh-CN" altLang="en-US" sz="1600" dirty="0">
                <a:solidFill>
                  <a:srgbClr val="FFFF00"/>
                </a:solidFill>
              </a:rPr>
              <a:t>绘制正方形  </a:t>
            </a:r>
          </a:p>
          <a:p>
            <a:pPr eaLnBrk="1" hangingPunct="1"/>
            <a:r>
              <a:rPr lang="zh-CN" altLang="en-US" sz="1600" dirty="0">
                <a:solidFill>
                  <a:srgbClr val="FFFF00"/>
                </a:solidFill>
              </a:rPr>
              <a:t>    </a:t>
            </a:r>
            <a:r>
              <a:rPr lang="en-US" altLang="zh-CN" sz="1600" dirty="0">
                <a:solidFill>
                  <a:srgbClr val="FFFF00"/>
                </a:solidFill>
              </a:rPr>
              <a:t>}  </a:t>
            </a:r>
          </a:p>
          <a:p>
            <a:pPr eaLnBrk="1" hangingPunct="1"/>
            <a:r>
              <a:rPr lang="en-US" altLang="zh-CN" sz="1600" dirty="0">
                <a:solidFill>
                  <a:srgbClr val="FFFF00"/>
                </a:solidFill>
              </a:rPr>
              <a:t>} </a:t>
            </a:r>
          </a:p>
        </p:txBody>
      </p:sp>
    </p:spTree>
    <p:extLst>
      <p:ext uri="{BB962C8B-B14F-4D97-AF65-F5344CB8AC3E}">
        <p14:creationId xmlns:p14="http://schemas.microsoft.com/office/powerpoint/2010/main" val="35060425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checkerboard(across)">
                                      <p:cBhvr>
                                        <p:cTn id="7" dur="500"/>
                                        <p:tgtEl>
                                          <p:spTgt spid="2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一、开放</a:t>
            </a:r>
            <a:r>
              <a:rPr lang="en-US" altLang="zh-CN" dirty="0"/>
              <a:t>-</a:t>
            </a:r>
            <a:r>
              <a:rPr lang="zh-CN" altLang="en-US" dirty="0"/>
              <a:t>封闭原则（</a:t>
            </a:r>
            <a:r>
              <a:rPr lang="en-US" altLang="zh-CN" sz="2800" cap="none" dirty="0"/>
              <a:t>Open-Closed Principle, OCP</a:t>
            </a:r>
            <a:r>
              <a:rPr lang="zh-CN" altLang="en-US" dirty="0"/>
              <a:t>）</a:t>
            </a:r>
            <a:endParaRPr lang="en-US" dirty="0"/>
          </a:p>
        </p:txBody>
      </p:sp>
      <p:sp>
        <p:nvSpPr>
          <p:cNvPr id="3" name="内容占位符 2"/>
          <p:cNvSpPr>
            <a:spLocks noGrp="1"/>
          </p:cNvSpPr>
          <p:nvPr>
            <p:ph idx="1"/>
          </p:nvPr>
        </p:nvSpPr>
        <p:spPr>
          <a:xfrm>
            <a:off x="1141412" y="2007476"/>
            <a:ext cx="9905999" cy="4280589"/>
          </a:xfrm>
        </p:spPr>
        <p:txBody>
          <a:bodyPr/>
          <a:lstStyle/>
          <a:p>
            <a:r>
              <a:rPr lang="zh-CN" altLang="en-US" sz="2800" b="1" dirty="0">
                <a:solidFill>
                  <a:srgbClr val="FFFF00"/>
                </a:solidFill>
              </a:rPr>
              <a:t>抽象化是开闭原则的关键</a:t>
            </a:r>
            <a:r>
              <a:rPr lang="zh-CN" altLang="en-US" sz="2800" dirty="0" smtClean="0">
                <a:solidFill>
                  <a:srgbClr val="FFFF00"/>
                </a:solidFill>
              </a:rPr>
              <a:t>。</a:t>
            </a:r>
            <a:endParaRPr lang="en-US" altLang="zh-CN" sz="2800" dirty="0" smtClean="0">
              <a:solidFill>
                <a:srgbClr val="FFFF00"/>
              </a:solidFill>
            </a:endParaRPr>
          </a:p>
          <a:p>
            <a:r>
              <a:rPr lang="zh-CN" altLang="en-US" sz="2600" dirty="0" smtClean="0"/>
              <a:t>在</a:t>
            </a:r>
            <a:r>
              <a:rPr lang="en-US" altLang="zh-CN" sz="2600" dirty="0"/>
              <a:t>Java</a:t>
            </a:r>
            <a:r>
              <a:rPr lang="zh-CN" altLang="en-US" sz="2600" dirty="0"/>
              <a:t>、</a:t>
            </a:r>
            <a:r>
              <a:rPr lang="en-US" altLang="zh-CN" sz="2600" dirty="0"/>
              <a:t>C#</a:t>
            </a:r>
            <a:r>
              <a:rPr lang="zh-CN" altLang="en-US" sz="2600" dirty="0"/>
              <a:t>等编程语言中，可以为系统定义一个相对稳定的</a:t>
            </a:r>
            <a:r>
              <a:rPr lang="zh-CN" altLang="en-US" sz="2600" dirty="0">
                <a:solidFill>
                  <a:srgbClr val="FFFF00"/>
                </a:solidFill>
              </a:rPr>
              <a:t>抽象层</a:t>
            </a:r>
            <a:r>
              <a:rPr lang="zh-CN" altLang="en-US" sz="2600" dirty="0"/>
              <a:t>，而将不同的实现行为移至具体的实现层中完成</a:t>
            </a:r>
            <a:r>
              <a:rPr lang="zh-CN" altLang="en-US" sz="2600" dirty="0" smtClean="0"/>
              <a:t>。</a:t>
            </a:r>
            <a:endParaRPr lang="en-US" altLang="zh-CN" sz="2600" dirty="0" smtClean="0"/>
          </a:p>
          <a:p>
            <a:r>
              <a:rPr lang="zh-CN" altLang="en-US" sz="2600" dirty="0" smtClean="0"/>
              <a:t>在</a:t>
            </a:r>
            <a:r>
              <a:rPr lang="zh-CN" altLang="en-US" sz="2600" dirty="0"/>
              <a:t>很多面向对象编程语言中都提供了</a:t>
            </a:r>
            <a:r>
              <a:rPr lang="zh-CN" altLang="en-US" sz="2600" dirty="0">
                <a:solidFill>
                  <a:srgbClr val="FFFF00"/>
                </a:solidFill>
              </a:rPr>
              <a:t>接口、抽象类</a:t>
            </a:r>
            <a:r>
              <a:rPr lang="zh-CN" altLang="en-US" sz="2600" dirty="0"/>
              <a:t>等机制</a:t>
            </a:r>
            <a:r>
              <a:rPr lang="zh-CN" altLang="en-US" sz="2600" dirty="0" smtClean="0"/>
              <a:t>，先定义</a:t>
            </a:r>
            <a:r>
              <a:rPr lang="zh-CN" altLang="en-US" sz="2600" dirty="0"/>
              <a:t>系统的抽象层，再通过具体类来进行扩展。如果需要修改系统的行为，无须对抽象层进行任何改动，只需要增加新的具体类来实现新的业务功能即可，实现在不修改已有代码的基础上扩展系统的功能，达到开闭原则的</a:t>
            </a:r>
            <a:r>
              <a:rPr lang="zh-CN" altLang="en-US" sz="2600" dirty="0" smtClean="0"/>
              <a:t>要求</a:t>
            </a:r>
            <a:r>
              <a:rPr lang="zh-CN" altLang="en-US" sz="2600" dirty="0"/>
              <a:t>。</a:t>
            </a:r>
            <a:endParaRPr lang="en-US" sz="2600" dirty="0"/>
          </a:p>
        </p:txBody>
      </p:sp>
    </p:spTree>
    <p:extLst>
      <p:ext uri="{BB962C8B-B14F-4D97-AF65-F5344CB8AC3E}">
        <p14:creationId xmlns:p14="http://schemas.microsoft.com/office/powerpoint/2010/main" val="21252022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1412" y="618518"/>
            <a:ext cx="10139859" cy="1478570"/>
          </a:xfrm>
        </p:spPr>
        <p:txBody>
          <a:bodyPr/>
          <a:lstStyle/>
          <a:p>
            <a:r>
              <a:rPr lang="zh-CN" altLang="en-US" dirty="0"/>
              <a:t>二、里氏代换</a:t>
            </a:r>
            <a:r>
              <a:rPr lang="zh-CN" altLang="en-US" dirty="0" smtClean="0"/>
              <a:t>原则（</a:t>
            </a:r>
            <a:r>
              <a:rPr lang="en-US" altLang="zh-CN" sz="2800" cap="none" dirty="0" err="1"/>
              <a:t>Liskov</a:t>
            </a:r>
            <a:r>
              <a:rPr lang="en-US" altLang="zh-CN" sz="2800" cap="none" dirty="0"/>
              <a:t> </a:t>
            </a:r>
            <a:r>
              <a:rPr lang="en-US" altLang="zh-CN" sz="2800" cap="none" dirty="0" err="1"/>
              <a:t>Subsitution</a:t>
            </a:r>
            <a:r>
              <a:rPr lang="en-US" altLang="zh-CN" sz="2800" cap="none" dirty="0"/>
              <a:t> </a:t>
            </a:r>
            <a:r>
              <a:rPr lang="en-US" altLang="zh-CN" sz="2800" cap="none" dirty="0" smtClean="0"/>
              <a:t>Principle</a:t>
            </a:r>
            <a:r>
              <a:rPr lang="en-US" altLang="zh-CN" sz="2800" cap="none" dirty="0"/>
              <a:t>,</a:t>
            </a:r>
            <a:r>
              <a:rPr lang="en-US" altLang="zh-CN" sz="2800" cap="none" dirty="0" smtClean="0"/>
              <a:t> </a:t>
            </a:r>
            <a:r>
              <a:rPr lang="en-US" altLang="zh-CN" sz="2800" cap="none" dirty="0"/>
              <a:t>LSP</a:t>
            </a:r>
            <a:r>
              <a:rPr lang="en-US" altLang="zh-CN" dirty="0"/>
              <a:t> </a:t>
            </a:r>
            <a:r>
              <a:rPr lang="zh-CN" altLang="en-US" dirty="0" smtClean="0"/>
              <a:t>）</a:t>
            </a:r>
            <a:endParaRPr lang="en-US" dirty="0"/>
          </a:p>
        </p:txBody>
      </p:sp>
      <p:sp>
        <p:nvSpPr>
          <p:cNvPr id="3" name="内容占位符 2"/>
          <p:cNvSpPr>
            <a:spLocks noGrp="1"/>
          </p:cNvSpPr>
          <p:nvPr>
            <p:ph idx="1"/>
          </p:nvPr>
        </p:nvSpPr>
        <p:spPr>
          <a:xfrm>
            <a:off x="1141412" y="2249487"/>
            <a:ext cx="9905999" cy="3688605"/>
          </a:xfrm>
        </p:spPr>
        <p:txBody>
          <a:bodyPr>
            <a:normAutofit/>
          </a:bodyPr>
          <a:lstStyle/>
          <a:p>
            <a:r>
              <a:rPr lang="zh-CN" altLang="en-US" b="1" dirty="0">
                <a:solidFill>
                  <a:srgbClr val="FFFF00"/>
                </a:solidFill>
              </a:rPr>
              <a:t>在任何父类出现的地方都可以用它的子类来</a:t>
            </a:r>
            <a:r>
              <a:rPr lang="zh-CN" altLang="en-US" b="1" dirty="0" smtClean="0">
                <a:solidFill>
                  <a:srgbClr val="FFFF00"/>
                </a:solidFill>
              </a:rPr>
              <a:t>替代</a:t>
            </a:r>
            <a:r>
              <a:rPr lang="zh-CN" altLang="en-US" b="1" dirty="0">
                <a:solidFill>
                  <a:srgbClr val="FFFF00"/>
                </a:solidFill>
              </a:rPr>
              <a:t>。</a:t>
            </a:r>
            <a:endParaRPr lang="en-US" altLang="zh-CN" b="1" dirty="0" smtClean="0"/>
          </a:p>
          <a:p>
            <a:r>
              <a:rPr lang="zh-CN" altLang="en-US" dirty="0"/>
              <a:t>如果对每一个类型为</a:t>
            </a:r>
            <a:r>
              <a:rPr lang="en-US" altLang="zh-CN" dirty="0"/>
              <a:t>S</a:t>
            </a:r>
            <a:r>
              <a:rPr lang="zh-CN" altLang="en-US" dirty="0"/>
              <a:t>的对象</a:t>
            </a:r>
            <a:r>
              <a:rPr lang="en-US" altLang="zh-CN" dirty="0"/>
              <a:t>o1</a:t>
            </a:r>
            <a:r>
              <a:rPr lang="zh-CN" altLang="en-US" dirty="0"/>
              <a:t>，都有类型为</a:t>
            </a:r>
            <a:r>
              <a:rPr lang="en-US" altLang="zh-CN" dirty="0"/>
              <a:t>T</a:t>
            </a:r>
            <a:r>
              <a:rPr lang="zh-CN" altLang="en-US" dirty="0"/>
              <a:t>的对象</a:t>
            </a:r>
            <a:r>
              <a:rPr lang="en-US" altLang="zh-CN" dirty="0"/>
              <a:t>o2</a:t>
            </a:r>
            <a:r>
              <a:rPr lang="zh-CN" altLang="en-US" dirty="0"/>
              <a:t>，使得以</a:t>
            </a:r>
            <a:r>
              <a:rPr lang="en-US" altLang="zh-CN" dirty="0"/>
              <a:t>T</a:t>
            </a:r>
            <a:r>
              <a:rPr lang="zh-CN" altLang="en-US" dirty="0"/>
              <a:t>定义的所有程序</a:t>
            </a:r>
            <a:r>
              <a:rPr lang="en-US" altLang="zh-CN" dirty="0"/>
              <a:t>P</a:t>
            </a:r>
            <a:r>
              <a:rPr lang="zh-CN" altLang="en-US" dirty="0"/>
              <a:t>在所有的对象</a:t>
            </a:r>
            <a:r>
              <a:rPr lang="en-US" altLang="zh-CN" dirty="0"/>
              <a:t>o2</a:t>
            </a:r>
            <a:r>
              <a:rPr lang="zh-CN" altLang="en-US" dirty="0"/>
              <a:t>都代换成</a:t>
            </a:r>
            <a:r>
              <a:rPr lang="en-US" altLang="zh-CN" dirty="0"/>
              <a:t>o1</a:t>
            </a:r>
            <a:r>
              <a:rPr lang="zh-CN" altLang="en-US" dirty="0"/>
              <a:t>时，程序</a:t>
            </a:r>
            <a:r>
              <a:rPr lang="en-US" altLang="zh-CN" dirty="0"/>
              <a:t>P</a:t>
            </a:r>
            <a:r>
              <a:rPr lang="zh-CN" altLang="en-US" dirty="0"/>
              <a:t>的行为没有变化，那么类型</a:t>
            </a:r>
            <a:r>
              <a:rPr lang="en-US" altLang="zh-CN" dirty="0"/>
              <a:t>S</a:t>
            </a:r>
            <a:r>
              <a:rPr lang="zh-CN" altLang="en-US" dirty="0"/>
              <a:t>是类型</a:t>
            </a:r>
            <a:r>
              <a:rPr lang="en-US" altLang="zh-CN" dirty="0"/>
              <a:t>T</a:t>
            </a:r>
            <a:r>
              <a:rPr lang="zh-CN" altLang="en-US" dirty="0"/>
              <a:t>的子类型。</a:t>
            </a:r>
          </a:p>
          <a:p>
            <a:r>
              <a:rPr lang="zh-CN" altLang="en-US" dirty="0"/>
              <a:t>所有引用基类（父类）的地方必须能透明地使用其子类的对象</a:t>
            </a:r>
            <a:r>
              <a:rPr lang="zh-CN" altLang="en-US" dirty="0" smtClean="0"/>
              <a:t>。</a:t>
            </a:r>
            <a:endParaRPr lang="en-US" altLang="zh-CN" dirty="0" smtClean="0"/>
          </a:p>
          <a:p>
            <a:r>
              <a:rPr lang="zh-CN" altLang="en-US" b="1" dirty="0" smtClean="0">
                <a:solidFill>
                  <a:srgbClr val="FFFF00"/>
                </a:solidFill>
              </a:rPr>
              <a:t>里</a:t>
            </a:r>
            <a:r>
              <a:rPr lang="zh-CN" altLang="en-US" b="1" dirty="0">
                <a:solidFill>
                  <a:srgbClr val="FFFF00"/>
                </a:solidFill>
              </a:rPr>
              <a:t>氏代换原则是实现开闭原则的重要方式之一。</a:t>
            </a:r>
            <a:endParaRPr lang="en-US" b="1" dirty="0">
              <a:solidFill>
                <a:srgbClr val="FFFF00"/>
              </a:solidFill>
            </a:endParaRPr>
          </a:p>
        </p:txBody>
      </p:sp>
    </p:spTree>
    <p:extLst>
      <p:ext uri="{BB962C8B-B14F-4D97-AF65-F5344CB8AC3E}">
        <p14:creationId xmlns:p14="http://schemas.microsoft.com/office/powerpoint/2010/main" val="26335627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1412" y="618518"/>
            <a:ext cx="10139859" cy="1478570"/>
          </a:xfrm>
        </p:spPr>
        <p:txBody>
          <a:bodyPr/>
          <a:lstStyle/>
          <a:p>
            <a:r>
              <a:rPr lang="zh-CN" altLang="en-US" dirty="0"/>
              <a:t>二、里氏代换</a:t>
            </a:r>
            <a:r>
              <a:rPr lang="zh-CN" altLang="en-US" dirty="0" smtClean="0"/>
              <a:t>原则（</a:t>
            </a:r>
            <a:r>
              <a:rPr lang="en-US" altLang="zh-CN" sz="2800" cap="none" dirty="0" err="1"/>
              <a:t>Liskov</a:t>
            </a:r>
            <a:r>
              <a:rPr lang="en-US" altLang="zh-CN" sz="2800" cap="none" dirty="0"/>
              <a:t> </a:t>
            </a:r>
            <a:r>
              <a:rPr lang="en-US" altLang="zh-CN" sz="2800" cap="none" dirty="0" err="1"/>
              <a:t>Subsitution</a:t>
            </a:r>
            <a:r>
              <a:rPr lang="en-US" altLang="zh-CN" sz="2800" cap="none" dirty="0"/>
              <a:t> </a:t>
            </a:r>
            <a:r>
              <a:rPr lang="en-US" altLang="zh-CN" sz="2800" cap="none" dirty="0" smtClean="0"/>
              <a:t>Principle</a:t>
            </a:r>
            <a:r>
              <a:rPr lang="en-US" altLang="zh-CN" sz="2800" cap="none" dirty="0"/>
              <a:t>,</a:t>
            </a:r>
            <a:r>
              <a:rPr lang="en-US" altLang="zh-CN" sz="2800" cap="none" dirty="0" smtClean="0"/>
              <a:t> </a:t>
            </a:r>
            <a:r>
              <a:rPr lang="en-US" altLang="zh-CN" sz="2800" cap="none" dirty="0"/>
              <a:t>LSP</a:t>
            </a:r>
            <a:r>
              <a:rPr lang="en-US" altLang="zh-CN" dirty="0"/>
              <a:t> </a:t>
            </a:r>
            <a:r>
              <a:rPr lang="zh-CN" altLang="en-US" dirty="0" smtClean="0"/>
              <a:t>）</a:t>
            </a:r>
            <a:endParaRPr lang="en-US" dirty="0"/>
          </a:p>
        </p:txBody>
      </p:sp>
      <p:sp>
        <p:nvSpPr>
          <p:cNvPr id="3" name="内容占位符 2"/>
          <p:cNvSpPr>
            <a:spLocks noGrp="1"/>
          </p:cNvSpPr>
          <p:nvPr>
            <p:ph idx="1"/>
          </p:nvPr>
        </p:nvSpPr>
        <p:spPr>
          <a:xfrm>
            <a:off x="1141412" y="1894900"/>
            <a:ext cx="10139859" cy="4583017"/>
          </a:xfrm>
        </p:spPr>
        <p:txBody>
          <a:bodyPr>
            <a:normAutofit/>
          </a:bodyPr>
          <a:lstStyle/>
          <a:p>
            <a:r>
              <a:rPr lang="zh-CN" altLang="en-US" dirty="0"/>
              <a:t>在软件中如果能够使用基类对象，那么一定能够使用其子类对象。把基类都替换成它的子类，程序将不会产生任何错误和异常，</a:t>
            </a:r>
            <a:r>
              <a:rPr lang="zh-CN" altLang="en-US" dirty="0" smtClean="0">
                <a:solidFill>
                  <a:srgbClr val="FFFF00"/>
                </a:solidFill>
              </a:rPr>
              <a:t>反过来不成立</a:t>
            </a:r>
            <a:r>
              <a:rPr lang="zh-CN" altLang="en-US" dirty="0" smtClean="0"/>
              <a:t>。</a:t>
            </a:r>
          </a:p>
          <a:p>
            <a:r>
              <a:rPr lang="zh-CN" altLang="en-US" dirty="0" smtClean="0">
                <a:solidFill>
                  <a:srgbClr val="FFFF00"/>
                </a:solidFill>
              </a:rPr>
              <a:t>子</a:t>
            </a:r>
            <a:r>
              <a:rPr lang="zh-CN" altLang="en-US" dirty="0">
                <a:solidFill>
                  <a:srgbClr val="FFFF00"/>
                </a:solidFill>
              </a:rPr>
              <a:t>类的所有方法必须在父类中声明，或子类必须实现父类中声明的所有方法</a:t>
            </a:r>
            <a:r>
              <a:rPr lang="zh-CN" altLang="en-US" dirty="0" smtClean="0"/>
              <a:t>。如果</a:t>
            </a:r>
            <a:r>
              <a:rPr lang="zh-CN" altLang="en-US" dirty="0"/>
              <a:t>一个方法只存在子类中，在父类中不提供相应的声明，则无法在以父类定义的对象中使用该方法。</a:t>
            </a:r>
          </a:p>
          <a:p>
            <a:r>
              <a:rPr lang="zh-CN" altLang="en-US" dirty="0" smtClean="0"/>
              <a:t>尽量</a:t>
            </a:r>
            <a:r>
              <a:rPr lang="zh-CN" altLang="en-US" dirty="0"/>
              <a:t>把父类设计为</a:t>
            </a:r>
            <a:r>
              <a:rPr lang="zh-CN" altLang="en-US" dirty="0">
                <a:solidFill>
                  <a:srgbClr val="FFFF00"/>
                </a:solidFill>
              </a:rPr>
              <a:t>抽象类或者接口</a:t>
            </a:r>
            <a:r>
              <a:rPr lang="zh-CN" altLang="en-US" dirty="0"/>
              <a:t>，让子类继承父类或实现父接口，并实现在父类中声明的方法，运行时，子类实例替换父类实例</a:t>
            </a:r>
            <a:r>
              <a:rPr lang="zh-CN" altLang="en-US" dirty="0" smtClean="0"/>
              <a:t>，可以</a:t>
            </a:r>
            <a:r>
              <a:rPr lang="zh-CN" altLang="en-US" dirty="0"/>
              <a:t>很方便地扩展系统的功能</a:t>
            </a:r>
            <a:r>
              <a:rPr lang="zh-CN" altLang="en-US" dirty="0" smtClean="0"/>
              <a:t>，无须</a:t>
            </a:r>
            <a:r>
              <a:rPr lang="zh-CN" altLang="en-US" dirty="0"/>
              <a:t>修改原有子类的代码，</a:t>
            </a:r>
            <a:r>
              <a:rPr lang="zh-CN" altLang="en-US" dirty="0">
                <a:solidFill>
                  <a:srgbClr val="FFFF00"/>
                </a:solidFill>
              </a:rPr>
              <a:t>增加新的功能可以通过增加一个新的子类来</a:t>
            </a:r>
            <a:r>
              <a:rPr lang="zh-CN" altLang="en-US" dirty="0" smtClean="0">
                <a:solidFill>
                  <a:srgbClr val="FFFF00"/>
                </a:solidFill>
              </a:rPr>
              <a:t>实现</a:t>
            </a:r>
            <a:r>
              <a:rPr lang="zh-CN" altLang="en-US" dirty="0" smtClean="0"/>
              <a:t>。</a:t>
            </a:r>
            <a:endParaRPr lang="en-US" dirty="0"/>
          </a:p>
        </p:txBody>
      </p:sp>
    </p:spTree>
    <p:extLst>
      <p:ext uri="{BB962C8B-B14F-4D97-AF65-F5344CB8AC3E}">
        <p14:creationId xmlns:p14="http://schemas.microsoft.com/office/powerpoint/2010/main" val="27690639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Grp="1" noChangeArrowheads="1"/>
          </p:cNvSpPr>
          <p:nvPr>
            <p:ph idx="1"/>
          </p:nvPr>
        </p:nvSpPr>
        <p:spPr bwMode="auto">
          <a:xfrm>
            <a:off x="1129478" y="3988054"/>
            <a:ext cx="9905999"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dirty="0"/>
              <a:t>运用替换原则时，我们尽量把类</a:t>
            </a:r>
            <a:r>
              <a:rPr lang="en-US" altLang="zh-CN" dirty="0"/>
              <a:t>B</a:t>
            </a:r>
            <a:r>
              <a:rPr lang="zh-CN" altLang="en-US" dirty="0"/>
              <a:t>设计为抽象类或者接口，让</a:t>
            </a:r>
            <a:r>
              <a:rPr lang="en-US" altLang="zh-CN" dirty="0"/>
              <a:t>C</a:t>
            </a:r>
            <a:r>
              <a:rPr lang="zh-CN" altLang="en-US" dirty="0"/>
              <a:t>类继承类</a:t>
            </a:r>
            <a:r>
              <a:rPr lang="en-US" altLang="zh-CN" dirty="0"/>
              <a:t>B</a:t>
            </a:r>
            <a:r>
              <a:rPr lang="zh-CN" altLang="en-US" dirty="0"/>
              <a:t>（接口</a:t>
            </a:r>
            <a:r>
              <a:rPr lang="en-US" altLang="zh-CN" dirty="0"/>
              <a:t>B</a:t>
            </a:r>
            <a:r>
              <a:rPr lang="zh-CN" altLang="en-US" dirty="0"/>
              <a:t>）并实现操作</a:t>
            </a:r>
            <a:r>
              <a:rPr lang="en-US" altLang="zh-CN" dirty="0"/>
              <a:t>A</a:t>
            </a:r>
            <a:r>
              <a:rPr lang="zh-CN" altLang="en-US" dirty="0"/>
              <a:t>和操作</a:t>
            </a:r>
            <a:r>
              <a:rPr lang="en-US" altLang="zh-CN" dirty="0"/>
              <a:t>B</a:t>
            </a:r>
            <a:r>
              <a:rPr lang="zh-CN" altLang="en-US" dirty="0"/>
              <a:t>，运行时，类</a:t>
            </a:r>
            <a:r>
              <a:rPr lang="en-US" altLang="zh-CN" dirty="0"/>
              <a:t>C</a:t>
            </a:r>
            <a:r>
              <a:rPr lang="zh-CN" altLang="en-US" dirty="0"/>
              <a:t>实例替换</a:t>
            </a:r>
            <a:r>
              <a:rPr lang="en-US" altLang="zh-CN" dirty="0"/>
              <a:t>B</a:t>
            </a:r>
            <a:r>
              <a:rPr lang="zh-CN" altLang="en-US" dirty="0"/>
              <a:t>，这样</a:t>
            </a:r>
            <a:r>
              <a:rPr lang="zh-CN" altLang="en-US" dirty="0" smtClean="0"/>
              <a:t>我们既可以进行</a:t>
            </a:r>
            <a:r>
              <a:rPr lang="zh-CN" altLang="en-US" dirty="0"/>
              <a:t>新类的扩展（继承类</a:t>
            </a:r>
            <a:r>
              <a:rPr lang="en-US" altLang="zh-CN" dirty="0"/>
              <a:t>B</a:t>
            </a:r>
            <a:r>
              <a:rPr lang="zh-CN" altLang="en-US" dirty="0"/>
              <a:t>或接口</a:t>
            </a:r>
            <a:r>
              <a:rPr lang="en-US" altLang="zh-CN" dirty="0"/>
              <a:t>B</a:t>
            </a:r>
            <a:r>
              <a:rPr lang="zh-CN" altLang="en-US" dirty="0"/>
              <a:t>），同时无须对类</a:t>
            </a:r>
            <a:r>
              <a:rPr lang="en-US" altLang="zh-CN" dirty="0"/>
              <a:t>A</a:t>
            </a:r>
            <a:r>
              <a:rPr lang="zh-CN" altLang="en-US" dirty="0"/>
              <a:t>进行修改</a:t>
            </a:r>
            <a:r>
              <a:rPr lang="zh-CN" altLang="en-US" dirty="0" smtClean="0"/>
              <a:t>。</a:t>
            </a:r>
            <a:endParaRPr lang="zh-CN" altLang="en-US" dirty="0"/>
          </a:p>
        </p:txBody>
      </p:sp>
      <p:pic>
        <p:nvPicPr>
          <p:cNvPr id="5" name="Picture 5" descr="Liskovd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3183" y="541144"/>
            <a:ext cx="4540472" cy="3051142"/>
          </a:xfrm>
          <a:prstGeom prst="rect">
            <a:avLst/>
          </a:prstGeom>
          <a:solidFill>
            <a:schemeClr val="accent1">
              <a:lumMod val="40000"/>
              <a:lumOff val="60000"/>
            </a:schemeClr>
          </a:solidFill>
          <a:ln>
            <a:noFill/>
          </a:ln>
        </p:spPr>
      </p:pic>
    </p:spTree>
    <p:extLst>
      <p:ext uri="{BB962C8B-B14F-4D97-AF65-F5344CB8AC3E}">
        <p14:creationId xmlns:p14="http://schemas.microsoft.com/office/powerpoint/2010/main" val="26238850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0" y="-1"/>
            <a:ext cx="6768822" cy="4223657"/>
          </a:xfrm>
          <a:prstGeom prst="rect">
            <a:avLst/>
          </a:prstGeom>
        </p:spPr>
      </p:pic>
      <p:pic>
        <p:nvPicPr>
          <p:cNvPr id="6" name="图片 5"/>
          <p:cNvPicPr>
            <a:picLocks noChangeAspect="1"/>
          </p:cNvPicPr>
          <p:nvPr/>
        </p:nvPicPr>
        <p:blipFill>
          <a:blip r:embed="rId4"/>
          <a:stretch>
            <a:fillRect/>
          </a:stretch>
        </p:blipFill>
        <p:spPr>
          <a:xfrm>
            <a:off x="7135399" y="766"/>
            <a:ext cx="4860658" cy="6818981"/>
          </a:xfrm>
          <a:prstGeom prst="rect">
            <a:avLst/>
          </a:prstGeom>
        </p:spPr>
      </p:pic>
      <p:sp>
        <p:nvSpPr>
          <p:cNvPr id="7" name="右箭头 6"/>
          <p:cNvSpPr/>
          <p:nvPr/>
        </p:nvSpPr>
        <p:spPr>
          <a:xfrm>
            <a:off x="6662057" y="1861679"/>
            <a:ext cx="583630" cy="4039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213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三、依赖倒置</a:t>
            </a:r>
            <a:r>
              <a:rPr lang="zh-CN" altLang="en-US" dirty="0" smtClean="0"/>
              <a:t>原则</a:t>
            </a:r>
            <a:r>
              <a:rPr lang="en-US" altLang="zh-CN" dirty="0" smtClean="0"/>
              <a:t/>
            </a:r>
            <a:br>
              <a:rPr lang="en-US" altLang="zh-CN" dirty="0" smtClean="0"/>
            </a:br>
            <a:r>
              <a:rPr lang="zh-CN" altLang="en-US" dirty="0" smtClean="0"/>
              <a:t>（</a:t>
            </a:r>
            <a:r>
              <a:rPr lang="en-US" altLang="zh-CN" sz="2800" cap="none" dirty="0"/>
              <a:t>the Dependency Inversion </a:t>
            </a:r>
            <a:r>
              <a:rPr lang="en-US" altLang="zh-CN" sz="2800" cap="none" dirty="0" smtClean="0"/>
              <a:t>Principle, DIP</a:t>
            </a:r>
            <a:r>
              <a:rPr lang="zh-CN" altLang="en-US" dirty="0" smtClean="0"/>
              <a:t>）</a:t>
            </a:r>
            <a:endParaRPr lang="en-US" dirty="0"/>
          </a:p>
        </p:txBody>
      </p:sp>
      <p:sp>
        <p:nvSpPr>
          <p:cNvPr id="3" name="内容占位符 2"/>
          <p:cNvSpPr>
            <a:spLocks noGrp="1"/>
          </p:cNvSpPr>
          <p:nvPr>
            <p:ph idx="1"/>
          </p:nvPr>
        </p:nvSpPr>
        <p:spPr/>
        <p:txBody>
          <a:bodyPr>
            <a:normAutofit/>
          </a:bodyPr>
          <a:lstStyle/>
          <a:p>
            <a:r>
              <a:rPr lang="zh-CN" altLang="en-US" sz="2800" dirty="0"/>
              <a:t>抽象不应该依赖于细节，细节应当依赖于抽象。换言之，要</a:t>
            </a:r>
            <a:r>
              <a:rPr lang="zh-CN" altLang="en-US" sz="2800" dirty="0">
                <a:solidFill>
                  <a:srgbClr val="FFFF00"/>
                </a:solidFill>
              </a:rPr>
              <a:t>针对接口编程，而不是针对实现编程</a:t>
            </a:r>
            <a:r>
              <a:rPr lang="zh-CN" altLang="en-US" sz="2800" dirty="0"/>
              <a:t>。</a:t>
            </a:r>
            <a:endParaRPr lang="en-US" sz="2800" dirty="0"/>
          </a:p>
        </p:txBody>
      </p:sp>
    </p:spTree>
    <p:extLst>
      <p:ext uri="{BB962C8B-B14F-4D97-AF65-F5344CB8AC3E}">
        <p14:creationId xmlns:p14="http://schemas.microsoft.com/office/powerpoint/2010/main" val="5305401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4"/>
          <p:cNvSpPr txBox="1">
            <a:spLocks noChangeArrowheads="1"/>
          </p:cNvSpPr>
          <p:nvPr/>
        </p:nvSpPr>
        <p:spPr bwMode="auto">
          <a:xfrm>
            <a:off x="2208213" y="333375"/>
            <a:ext cx="7632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en-US" altLang="en-US" sz="1600"/>
          </a:p>
        </p:txBody>
      </p:sp>
      <p:pic>
        <p:nvPicPr>
          <p:cNvPr id="20483" name="Picture 5" descr="1338121701_66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085" y="63511"/>
            <a:ext cx="7092950" cy="250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6" descr="1338121705_25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6317" y="1529904"/>
            <a:ext cx="6824365" cy="4805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7"/>
          <p:cNvSpPr txBox="1">
            <a:spLocks noChangeArrowheads="1"/>
          </p:cNvSpPr>
          <p:nvPr/>
        </p:nvSpPr>
        <p:spPr bwMode="auto">
          <a:xfrm>
            <a:off x="2640014" y="3573463"/>
            <a:ext cx="28082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en-US" altLang="en-US"/>
          </a:p>
        </p:txBody>
      </p:sp>
      <p:sp>
        <p:nvSpPr>
          <p:cNvPr id="25609" name="Text Box 9"/>
          <p:cNvSpPr txBox="1">
            <a:spLocks noChangeArrowheads="1"/>
          </p:cNvSpPr>
          <p:nvPr/>
        </p:nvSpPr>
        <p:spPr bwMode="auto">
          <a:xfrm>
            <a:off x="121086" y="3408878"/>
            <a:ext cx="5225232"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t>该系统可能需要增加新的数据源或者新的文件格式，每增加一个新的类型的数据源或者新的类型的文件格式，客户类</a:t>
            </a:r>
            <a:r>
              <a:rPr lang="en-US" altLang="zh-CN" sz="2400" dirty="0" err="1"/>
              <a:t>MainClass</a:t>
            </a:r>
            <a:r>
              <a:rPr lang="zh-CN" altLang="en-US" sz="2400" dirty="0"/>
              <a:t>都需要修改源代码，以便使用新的类</a:t>
            </a:r>
            <a:r>
              <a:rPr lang="zh-CN" altLang="en-US" sz="2400" dirty="0" smtClean="0"/>
              <a:t>，违背</a:t>
            </a:r>
            <a:r>
              <a:rPr lang="zh-CN" altLang="en-US" sz="2400" dirty="0"/>
              <a:t>了开闭原则</a:t>
            </a:r>
            <a:r>
              <a:rPr lang="zh-CN" altLang="en-US" sz="2400" dirty="0" smtClean="0"/>
              <a:t>。</a:t>
            </a:r>
            <a:endParaRPr lang="en-US" altLang="zh-CN" sz="2400" dirty="0" smtClean="0"/>
          </a:p>
          <a:p>
            <a:pPr eaLnBrk="1" hangingPunct="1">
              <a:spcBef>
                <a:spcPct val="50000"/>
              </a:spcBef>
            </a:pPr>
            <a:r>
              <a:rPr lang="zh-CN" altLang="en-US" sz="2400" dirty="0" smtClean="0"/>
              <a:t>现</a:t>
            </a:r>
            <a:r>
              <a:rPr lang="zh-CN" altLang="en-US" sz="2400" dirty="0"/>
              <a:t>使用依赖倒转原则对其进行重构。 </a:t>
            </a:r>
          </a:p>
        </p:txBody>
      </p:sp>
    </p:spTree>
    <p:extLst>
      <p:ext uri="{BB962C8B-B14F-4D97-AF65-F5344CB8AC3E}">
        <p14:creationId xmlns:p14="http://schemas.microsoft.com/office/powerpoint/2010/main" val="894480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9"/>
                                        </p:tgtEl>
                                        <p:attrNameLst>
                                          <p:attrName>style.visibility</p:attrName>
                                        </p:attrNameLst>
                                      </p:cBhvr>
                                      <p:to>
                                        <p:strVal val="visible"/>
                                      </p:to>
                                    </p:set>
                                    <p:animEffect transition="in" filter="blinds(horizontal)">
                                      <p:cBhvr>
                                        <p:cTn id="7" dur="500"/>
                                        <p:tgtEl>
                                          <p:spTgt spid="256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xit" presetSubtype="4" fill="hold" grpId="1" nodeType="clickEffect">
                                  <p:stCondLst>
                                    <p:cond delay="0"/>
                                  </p:stCondLst>
                                  <p:childTnLst>
                                    <p:anim calcmode="lin" valueType="num">
                                      <p:cBhvr additive="base">
                                        <p:cTn id="11" dur="500"/>
                                        <p:tgtEl>
                                          <p:spTgt spid="25609"/>
                                        </p:tgtEl>
                                        <p:attrNameLst>
                                          <p:attrName>ppt_x</p:attrName>
                                        </p:attrNameLst>
                                      </p:cBhvr>
                                      <p:tavLst>
                                        <p:tav tm="0">
                                          <p:val>
                                            <p:strVal val="ppt_x"/>
                                          </p:val>
                                        </p:tav>
                                        <p:tav tm="100000">
                                          <p:val>
                                            <p:strVal val="ppt_x"/>
                                          </p:val>
                                        </p:tav>
                                      </p:tavLst>
                                    </p:anim>
                                    <p:anim calcmode="lin" valueType="num">
                                      <p:cBhvr additive="base">
                                        <p:cTn id="12" dur="500"/>
                                        <p:tgtEl>
                                          <p:spTgt spid="25609"/>
                                        </p:tgtEl>
                                        <p:attrNameLst>
                                          <p:attrName>ppt_y</p:attrName>
                                        </p:attrNameLst>
                                      </p:cBhvr>
                                      <p:tavLst>
                                        <p:tav tm="0">
                                          <p:val>
                                            <p:strVal val="ppt_y"/>
                                          </p:val>
                                        </p:tav>
                                        <p:tav tm="100000">
                                          <p:val>
                                            <p:strVal val="1+ppt_h/2"/>
                                          </p:val>
                                        </p:tav>
                                      </p:tavLst>
                                    </p:anim>
                                    <p:set>
                                      <p:cBhvr>
                                        <p:cTn id="13" dur="1" fill="hold">
                                          <p:stCondLst>
                                            <p:cond delay="499"/>
                                          </p:stCondLst>
                                        </p:cTn>
                                        <p:tgtEl>
                                          <p:spTgt spid="25609"/>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5606"/>
                                        </p:tgtEl>
                                        <p:attrNameLst>
                                          <p:attrName>style.visibility</p:attrName>
                                        </p:attrNameLst>
                                      </p:cBhvr>
                                      <p:to>
                                        <p:strVal val="visible"/>
                                      </p:to>
                                    </p:set>
                                    <p:animEffect transition="in" filter="blinds(horizontal)">
                                      <p:cBhvr>
                                        <p:cTn id="18" dur="500"/>
                                        <p:tgtEl>
                                          <p:spTgt spid="25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9" grpId="0"/>
      <p:bldP spid="25609"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4"/>
          <p:cNvSpPr txBox="1">
            <a:spLocks noChangeArrowheads="1"/>
          </p:cNvSpPr>
          <p:nvPr/>
        </p:nvSpPr>
        <p:spPr bwMode="auto">
          <a:xfrm>
            <a:off x="1453019" y="191871"/>
            <a:ext cx="5248406"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1800" dirty="0"/>
              <a:t>/// &lt;summary&gt;  </a:t>
            </a:r>
          </a:p>
          <a:p>
            <a:pPr eaLnBrk="1" hangingPunct="1"/>
            <a:r>
              <a:rPr lang="en-US" altLang="zh-CN" sz="1800" dirty="0"/>
              <a:t>/// </a:t>
            </a:r>
            <a:r>
              <a:rPr lang="zh-CN" altLang="en-US" sz="1800" dirty="0"/>
              <a:t>商品类  </a:t>
            </a:r>
          </a:p>
          <a:p>
            <a:pPr eaLnBrk="1" hangingPunct="1"/>
            <a:r>
              <a:rPr lang="en-US" altLang="zh-CN" sz="1800" dirty="0"/>
              <a:t>/// &lt;/summary&gt;  </a:t>
            </a:r>
            <a:endParaRPr lang="en-US" altLang="zh-CN" sz="1800" b="1" dirty="0"/>
          </a:p>
          <a:p>
            <a:pPr eaLnBrk="1" hangingPunct="1"/>
            <a:r>
              <a:rPr lang="en-US" altLang="zh-CN" sz="1800" b="1" dirty="0"/>
              <a:t>public</a:t>
            </a:r>
            <a:r>
              <a:rPr lang="en-US" altLang="zh-CN" sz="1800" dirty="0"/>
              <a:t> </a:t>
            </a:r>
            <a:r>
              <a:rPr lang="en-US" altLang="zh-CN" sz="1800" b="1" dirty="0"/>
              <a:t>class</a:t>
            </a:r>
            <a:r>
              <a:rPr lang="en-US" altLang="zh-CN" sz="1800" dirty="0"/>
              <a:t> Product  </a:t>
            </a:r>
          </a:p>
          <a:p>
            <a:pPr eaLnBrk="1" hangingPunct="1"/>
            <a:r>
              <a:rPr lang="en-US" altLang="zh-CN" sz="1800" dirty="0"/>
              <a:t>{  </a:t>
            </a:r>
          </a:p>
          <a:p>
            <a:pPr eaLnBrk="1" hangingPunct="1"/>
            <a:r>
              <a:rPr lang="en-US" altLang="zh-CN" sz="1800" dirty="0"/>
              <a:t>    </a:t>
            </a:r>
            <a:r>
              <a:rPr lang="en-US" altLang="zh-CN" sz="1800" b="1" dirty="0"/>
              <a:t>public</a:t>
            </a:r>
            <a:r>
              <a:rPr lang="en-US" altLang="zh-CN" sz="1800" dirty="0"/>
              <a:t> </a:t>
            </a:r>
            <a:r>
              <a:rPr lang="en-US" altLang="zh-CN" sz="1800" b="1" dirty="0" err="1"/>
              <a:t>int</a:t>
            </a:r>
            <a:r>
              <a:rPr lang="en-US" altLang="zh-CN" sz="1800" dirty="0"/>
              <a:t> Id { get; set; }  </a:t>
            </a:r>
          </a:p>
          <a:p>
            <a:pPr eaLnBrk="1" hangingPunct="1"/>
            <a:r>
              <a:rPr lang="en-US" altLang="zh-CN" sz="1800" dirty="0"/>
              <a:t>}  </a:t>
            </a:r>
          </a:p>
          <a:p>
            <a:pPr eaLnBrk="1" hangingPunct="1"/>
            <a:r>
              <a:rPr lang="en-US" altLang="zh-CN" sz="1800" dirty="0"/>
              <a:t> </a:t>
            </a:r>
            <a:r>
              <a:rPr lang="en-US" altLang="zh-CN" sz="1800" dirty="0" smtClean="0"/>
              <a:t>///</a:t>
            </a:r>
            <a:r>
              <a:rPr lang="en-US" altLang="zh-CN" sz="1800" dirty="0"/>
              <a:t> &lt;summary&gt;  </a:t>
            </a:r>
          </a:p>
          <a:p>
            <a:pPr eaLnBrk="1" hangingPunct="1"/>
            <a:r>
              <a:rPr lang="en-US" altLang="zh-CN" sz="1800" dirty="0"/>
              <a:t>/// </a:t>
            </a:r>
            <a:r>
              <a:rPr lang="zh-CN" altLang="en-US" sz="1800" dirty="0"/>
              <a:t>商品持久化类  </a:t>
            </a:r>
          </a:p>
          <a:p>
            <a:pPr eaLnBrk="1" hangingPunct="1"/>
            <a:r>
              <a:rPr lang="en-US" altLang="zh-CN" sz="1800" dirty="0"/>
              <a:t>/// &lt;/summary&gt;  </a:t>
            </a:r>
            <a:endParaRPr lang="en-US" altLang="zh-CN" sz="1800" b="1" dirty="0"/>
          </a:p>
          <a:p>
            <a:pPr eaLnBrk="1" hangingPunct="1"/>
            <a:r>
              <a:rPr lang="en-US" altLang="zh-CN" sz="1800" b="1" dirty="0"/>
              <a:t>public</a:t>
            </a:r>
            <a:r>
              <a:rPr lang="en-US" altLang="zh-CN" sz="1800" dirty="0"/>
              <a:t> </a:t>
            </a:r>
            <a:r>
              <a:rPr lang="en-US" altLang="zh-CN" sz="1800" b="1" dirty="0"/>
              <a:t>class</a:t>
            </a:r>
            <a:r>
              <a:rPr lang="en-US" altLang="zh-CN" sz="1800" dirty="0"/>
              <a:t> </a:t>
            </a:r>
            <a:r>
              <a:rPr lang="en-US" altLang="zh-CN" sz="1800" dirty="0" err="1"/>
              <a:t>ProductRepository</a:t>
            </a:r>
            <a:r>
              <a:rPr lang="en-US" altLang="zh-CN" sz="1800" dirty="0"/>
              <a:t>  </a:t>
            </a:r>
          </a:p>
          <a:p>
            <a:pPr eaLnBrk="1" hangingPunct="1"/>
            <a:r>
              <a:rPr lang="en-US" altLang="zh-CN" sz="1800" dirty="0"/>
              <a:t>{  </a:t>
            </a:r>
          </a:p>
          <a:p>
            <a:pPr eaLnBrk="1" hangingPunct="1"/>
            <a:r>
              <a:rPr lang="en-US" altLang="zh-CN" sz="1800" dirty="0"/>
              <a:t>    </a:t>
            </a:r>
            <a:r>
              <a:rPr lang="en-US" altLang="zh-CN" sz="1800" b="1" dirty="0"/>
              <a:t>public</a:t>
            </a:r>
            <a:r>
              <a:rPr lang="en-US" altLang="zh-CN" sz="1800" dirty="0"/>
              <a:t> </a:t>
            </a:r>
            <a:r>
              <a:rPr lang="en-US" altLang="zh-CN" sz="1800" dirty="0" err="1"/>
              <a:t>IList</a:t>
            </a:r>
            <a:r>
              <a:rPr lang="en-US" altLang="zh-CN" sz="1800" dirty="0"/>
              <a:t>&lt;Product&gt; </a:t>
            </a:r>
            <a:r>
              <a:rPr lang="en-US" altLang="zh-CN" sz="1800" dirty="0" err="1"/>
              <a:t>FindAll</a:t>
            </a:r>
            <a:r>
              <a:rPr lang="en-US" altLang="zh-CN" sz="1800" dirty="0"/>
              <a:t>()  </a:t>
            </a:r>
          </a:p>
          <a:p>
            <a:pPr eaLnBrk="1" hangingPunct="1"/>
            <a:r>
              <a:rPr lang="en-US" altLang="zh-CN" sz="1800" dirty="0"/>
              <a:t>    {  </a:t>
            </a:r>
          </a:p>
          <a:p>
            <a:pPr eaLnBrk="1" hangingPunct="1"/>
            <a:r>
              <a:rPr lang="en-US" altLang="zh-CN" sz="1800" dirty="0"/>
              <a:t>        //</a:t>
            </a:r>
            <a:r>
              <a:rPr lang="zh-CN" altLang="en-US" sz="1800" dirty="0"/>
              <a:t>假设从</a:t>
            </a:r>
            <a:r>
              <a:rPr lang="en-US" altLang="zh-CN" sz="1800" dirty="0"/>
              <a:t>SQL Server</a:t>
            </a:r>
            <a:r>
              <a:rPr lang="zh-CN" altLang="en-US" sz="1800" dirty="0"/>
              <a:t>数据库中获取数据  </a:t>
            </a:r>
          </a:p>
          <a:p>
            <a:pPr eaLnBrk="1" hangingPunct="1"/>
            <a:r>
              <a:rPr lang="zh-CN" altLang="en-US" sz="1800" dirty="0"/>
              <a:t>        </a:t>
            </a:r>
            <a:r>
              <a:rPr lang="en-US" altLang="zh-CN" sz="1800" b="1" dirty="0"/>
              <a:t>return</a:t>
            </a:r>
            <a:r>
              <a:rPr lang="en-US" altLang="zh-CN" sz="1800" dirty="0"/>
              <a:t> </a:t>
            </a:r>
            <a:r>
              <a:rPr lang="en-US" altLang="zh-CN" sz="1800" b="1" dirty="0"/>
              <a:t>null</a:t>
            </a:r>
            <a:r>
              <a:rPr lang="en-US" altLang="zh-CN" sz="1800" dirty="0"/>
              <a:t>;  </a:t>
            </a:r>
          </a:p>
          <a:p>
            <a:pPr eaLnBrk="1" hangingPunct="1"/>
            <a:r>
              <a:rPr lang="en-US" altLang="zh-CN" sz="1800" dirty="0"/>
              <a:t>    }  </a:t>
            </a:r>
          </a:p>
          <a:p>
            <a:pPr eaLnBrk="1" hangingPunct="1"/>
            <a:r>
              <a:rPr lang="en-US" altLang="zh-CN" sz="1800" dirty="0"/>
              <a:t>}  </a:t>
            </a:r>
          </a:p>
          <a:p>
            <a:pPr eaLnBrk="1" hangingPunct="1"/>
            <a:r>
              <a:rPr lang="en-US" altLang="zh-CN" sz="1800" dirty="0"/>
              <a:t> </a:t>
            </a:r>
          </a:p>
        </p:txBody>
      </p:sp>
      <p:sp>
        <p:nvSpPr>
          <p:cNvPr id="22531" name="Text Box 6"/>
          <p:cNvSpPr txBox="1">
            <a:spLocks noChangeArrowheads="1"/>
          </p:cNvSpPr>
          <p:nvPr/>
        </p:nvSpPr>
        <p:spPr bwMode="auto">
          <a:xfrm>
            <a:off x="6313118" y="417340"/>
            <a:ext cx="5611659" cy="438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1800" dirty="0"/>
              <a:t>/// &lt;summary&gt;  </a:t>
            </a:r>
          </a:p>
          <a:p>
            <a:pPr eaLnBrk="1" hangingPunct="1"/>
            <a:r>
              <a:rPr lang="en-US" altLang="zh-CN" sz="1800" dirty="0"/>
              <a:t>/// </a:t>
            </a:r>
            <a:r>
              <a:rPr lang="zh-CN" altLang="en-US" sz="1800" dirty="0"/>
              <a:t>商品服务类  </a:t>
            </a:r>
          </a:p>
          <a:p>
            <a:pPr eaLnBrk="1" hangingPunct="1"/>
            <a:r>
              <a:rPr lang="en-US" altLang="zh-CN" sz="1800" dirty="0"/>
              <a:t>/// &lt;/summary&gt;  </a:t>
            </a:r>
            <a:endParaRPr lang="en-US" altLang="zh-CN" sz="1800" b="1" dirty="0"/>
          </a:p>
          <a:p>
            <a:pPr eaLnBrk="1" hangingPunct="1"/>
            <a:r>
              <a:rPr lang="en-US" altLang="zh-CN" sz="1800" b="1" dirty="0"/>
              <a:t>public</a:t>
            </a:r>
            <a:r>
              <a:rPr lang="en-US" altLang="zh-CN" sz="1800" dirty="0"/>
              <a:t> </a:t>
            </a:r>
            <a:r>
              <a:rPr lang="en-US" altLang="zh-CN" sz="1800" b="1" dirty="0"/>
              <a:t>class</a:t>
            </a:r>
            <a:r>
              <a:rPr lang="en-US" altLang="zh-CN" sz="1800" dirty="0"/>
              <a:t> </a:t>
            </a:r>
            <a:r>
              <a:rPr lang="en-US" altLang="zh-CN" sz="1800" dirty="0" err="1"/>
              <a:t>ProductService</a:t>
            </a:r>
            <a:r>
              <a:rPr lang="en-US" altLang="zh-CN" sz="1800" dirty="0"/>
              <a:t>  </a:t>
            </a:r>
          </a:p>
          <a:p>
            <a:pPr eaLnBrk="1" hangingPunct="1"/>
            <a:r>
              <a:rPr lang="en-US" altLang="zh-CN" sz="1800" dirty="0"/>
              <a:t>{  </a:t>
            </a:r>
          </a:p>
          <a:p>
            <a:pPr eaLnBrk="1" hangingPunct="1"/>
            <a:r>
              <a:rPr lang="en-US" altLang="zh-CN" sz="1800" dirty="0"/>
              <a:t>    </a:t>
            </a:r>
            <a:r>
              <a:rPr lang="en-US" altLang="zh-CN" sz="1800" b="1" dirty="0"/>
              <a:t>private</a:t>
            </a:r>
            <a:r>
              <a:rPr lang="en-US" altLang="zh-CN" sz="1800" dirty="0"/>
              <a:t> </a:t>
            </a:r>
            <a:r>
              <a:rPr lang="en-US" altLang="zh-CN" sz="1800" dirty="0" err="1"/>
              <a:t>ProductRepository</a:t>
            </a:r>
            <a:r>
              <a:rPr lang="en-US" altLang="zh-CN" sz="1800" dirty="0"/>
              <a:t> _</a:t>
            </a:r>
            <a:r>
              <a:rPr lang="en-US" altLang="zh-CN" sz="1800" dirty="0" err="1"/>
              <a:t>productRepository</a:t>
            </a:r>
            <a:r>
              <a:rPr lang="en-US" altLang="zh-CN" sz="1800" dirty="0"/>
              <a:t>;  </a:t>
            </a:r>
          </a:p>
          <a:p>
            <a:pPr eaLnBrk="1" hangingPunct="1"/>
            <a:r>
              <a:rPr lang="en-US" altLang="zh-CN" sz="1800" dirty="0"/>
              <a:t> </a:t>
            </a:r>
          </a:p>
          <a:p>
            <a:pPr eaLnBrk="1" hangingPunct="1"/>
            <a:r>
              <a:rPr lang="en-US" altLang="zh-CN" sz="1800" dirty="0"/>
              <a:t>    </a:t>
            </a:r>
            <a:r>
              <a:rPr lang="en-US" altLang="zh-CN" sz="1800" b="1" dirty="0"/>
              <a:t>public</a:t>
            </a:r>
            <a:r>
              <a:rPr lang="en-US" altLang="zh-CN" sz="1800" dirty="0"/>
              <a:t> </a:t>
            </a:r>
            <a:r>
              <a:rPr lang="en-US" altLang="zh-CN" sz="1800" dirty="0" err="1"/>
              <a:t>IList</a:t>
            </a:r>
            <a:r>
              <a:rPr lang="en-US" altLang="zh-CN" sz="1800" dirty="0"/>
              <a:t>&lt;Product&gt; </a:t>
            </a:r>
            <a:r>
              <a:rPr lang="en-US" altLang="zh-CN" sz="1800" dirty="0" err="1"/>
              <a:t>GetProducts</a:t>
            </a:r>
            <a:r>
              <a:rPr lang="en-US" altLang="zh-CN" sz="1800" dirty="0"/>
              <a:t>()  </a:t>
            </a:r>
          </a:p>
          <a:p>
            <a:pPr eaLnBrk="1" hangingPunct="1"/>
            <a:r>
              <a:rPr lang="en-US" altLang="zh-CN" sz="1800" dirty="0"/>
              <a:t>    {  </a:t>
            </a:r>
          </a:p>
          <a:p>
            <a:pPr eaLnBrk="1" hangingPunct="1"/>
            <a:r>
              <a:rPr lang="en-US" altLang="zh-CN" sz="1800" dirty="0"/>
              <a:t>        _</a:t>
            </a:r>
            <a:r>
              <a:rPr lang="en-US" altLang="zh-CN" sz="1800" dirty="0" err="1"/>
              <a:t>productRepository</a:t>
            </a:r>
            <a:r>
              <a:rPr lang="en-US" altLang="zh-CN" sz="1800" dirty="0"/>
              <a:t> = </a:t>
            </a:r>
            <a:r>
              <a:rPr lang="en-US" altLang="zh-CN" sz="1800" b="1" dirty="0"/>
              <a:t>new</a:t>
            </a:r>
            <a:r>
              <a:rPr lang="en-US" altLang="zh-CN" sz="1800" dirty="0"/>
              <a:t> </a:t>
            </a:r>
            <a:r>
              <a:rPr lang="en-US" altLang="zh-CN" sz="1800" dirty="0" err="1"/>
              <a:t>ProductRepository</a:t>
            </a:r>
            <a:r>
              <a:rPr lang="en-US" altLang="zh-CN" sz="1800" dirty="0"/>
              <a:t>();  </a:t>
            </a:r>
          </a:p>
          <a:p>
            <a:pPr eaLnBrk="1" hangingPunct="1"/>
            <a:r>
              <a:rPr lang="en-US" altLang="zh-CN" sz="1800" dirty="0"/>
              <a:t>         </a:t>
            </a:r>
            <a:r>
              <a:rPr lang="en-US" altLang="zh-CN" sz="1800" b="1" dirty="0"/>
              <a:t>return</a:t>
            </a:r>
            <a:r>
              <a:rPr lang="en-US" altLang="zh-CN" sz="1800" dirty="0"/>
              <a:t> _</a:t>
            </a:r>
            <a:r>
              <a:rPr lang="en-US" altLang="zh-CN" sz="1800" dirty="0" err="1"/>
              <a:t>productRepository.FindAll</a:t>
            </a:r>
            <a:r>
              <a:rPr lang="en-US" altLang="zh-CN" sz="1800" dirty="0"/>
              <a:t>();  </a:t>
            </a:r>
          </a:p>
          <a:p>
            <a:pPr eaLnBrk="1" hangingPunct="1"/>
            <a:r>
              <a:rPr lang="en-US" altLang="zh-CN" sz="1800" dirty="0"/>
              <a:t>    }  </a:t>
            </a:r>
          </a:p>
          <a:p>
            <a:pPr eaLnBrk="1" hangingPunct="1"/>
            <a:r>
              <a:rPr lang="en-US" altLang="zh-CN" sz="1800" dirty="0"/>
              <a:t>} </a:t>
            </a:r>
          </a:p>
          <a:p>
            <a:pPr eaLnBrk="1" hangingPunct="1">
              <a:spcBef>
                <a:spcPct val="50000"/>
              </a:spcBef>
            </a:pPr>
            <a:endParaRPr lang="en-US" altLang="zh-CN" sz="1800" dirty="0"/>
          </a:p>
        </p:txBody>
      </p:sp>
      <p:sp>
        <p:nvSpPr>
          <p:cNvPr id="27655" name="Text Box 7"/>
          <p:cNvSpPr txBox="1">
            <a:spLocks noChangeArrowheads="1"/>
          </p:cNvSpPr>
          <p:nvPr/>
        </p:nvSpPr>
        <p:spPr bwMode="auto">
          <a:xfrm>
            <a:off x="3131507" y="5244710"/>
            <a:ext cx="782339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t>原本</a:t>
            </a:r>
            <a:r>
              <a:rPr lang="en-US" altLang="zh-CN" sz="2400" dirty="0" err="1"/>
              <a:t>ProductRepository</a:t>
            </a:r>
            <a:r>
              <a:rPr lang="zh-CN" altLang="en-US" sz="2400" dirty="0"/>
              <a:t>是从</a:t>
            </a:r>
            <a:r>
              <a:rPr lang="en-US" altLang="zh-CN" sz="2400" dirty="0"/>
              <a:t>SQL Server</a:t>
            </a:r>
            <a:r>
              <a:rPr lang="zh-CN" altLang="en-US" sz="2400" dirty="0"/>
              <a:t>数据库中读存数据，现在要求从</a:t>
            </a:r>
            <a:r>
              <a:rPr lang="en-US" altLang="zh-CN" sz="2400" dirty="0"/>
              <a:t>MySQL</a:t>
            </a:r>
            <a:r>
              <a:rPr lang="zh-CN" altLang="en-US" sz="2400" dirty="0"/>
              <a:t>数据库中读存数据。 怎么办？</a:t>
            </a:r>
          </a:p>
        </p:txBody>
      </p:sp>
    </p:spTree>
    <p:extLst>
      <p:ext uri="{BB962C8B-B14F-4D97-AF65-F5344CB8AC3E}">
        <p14:creationId xmlns:p14="http://schemas.microsoft.com/office/powerpoint/2010/main" val="13238515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7655"/>
                                        </p:tgtEl>
                                        <p:attrNameLst>
                                          <p:attrName>style.visibility</p:attrName>
                                        </p:attrNameLst>
                                      </p:cBhvr>
                                      <p:to>
                                        <p:strVal val="visible"/>
                                      </p:to>
                                    </p:set>
                                    <p:animEffect transition="in" filter="diamond(in)">
                                      <p:cBhvr>
                                        <p:cTn id="7" dur="2000"/>
                                        <p:tgtEl>
                                          <p:spTgt spid="27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a:spLocks noChangeArrowheads="1"/>
          </p:cNvSpPr>
          <p:nvPr/>
        </p:nvSpPr>
        <p:spPr bwMode="auto">
          <a:xfrm>
            <a:off x="1189972" y="79231"/>
            <a:ext cx="99209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800" dirty="0"/>
              <a:t>在依赖之间定义一个接口，使得高层模块调用接口，而底层模块实现接口，以此来控制耦合关系。 </a:t>
            </a:r>
          </a:p>
        </p:txBody>
      </p:sp>
      <p:sp>
        <p:nvSpPr>
          <p:cNvPr id="24579" name="Text Box 5"/>
          <p:cNvSpPr txBox="1">
            <a:spLocks noChangeArrowheads="1"/>
          </p:cNvSpPr>
          <p:nvPr/>
        </p:nvSpPr>
        <p:spPr bwMode="auto">
          <a:xfrm>
            <a:off x="685800" y="448563"/>
            <a:ext cx="5606142"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1800" dirty="0"/>
              <a:t>/// &lt;summary&gt;  </a:t>
            </a:r>
          </a:p>
          <a:p>
            <a:pPr eaLnBrk="1" hangingPunct="1"/>
            <a:r>
              <a:rPr lang="en-US" altLang="zh-CN" sz="1800" dirty="0"/>
              <a:t>/// </a:t>
            </a:r>
            <a:r>
              <a:rPr lang="zh-CN" altLang="en-US" sz="1800" dirty="0"/>
              <a:t>商品类  </a:t>
            </a:r>
          </a:p>
          <a:p>
            <a:pPr eaLnBrk="1" hangingPunct="1"/>
            <a:r>
              <a:rPr lang="en-US" altLang="zh-CN" sz="1800" dirty="0"/>
              <a:t>/// &lt;/summary&gt;  </a:t>
            </a:r>
            <a:endParaRPr lang="en-US" altLang="zh-CN" sz="1800" b="1" dirty="0"/>
          </a:p>
          <a:p>
            <a:pPr eaLnBrk="1" hangingPunct="1"/>
            <a:r>
              <a:rPr lang="en-US" altLang="zh-CN" sz="1800" b="1" dirty="0"/>
              <a:t>public</a:t>
            </a:r>
            <a:r>
              <a:rPr lang="en-US" altLang="zh-CN" sz="1800" dirty="0"/>
              <a:t> </a:t>
            </a:r>
            <a:r>
              <a:rPr lang="en-US" altLang="zh-CN" sz="1800" b="1" dirty="0"/>
              <a:t>class</a:t>
            </a:r>
            <a:r>
              <a:rPr lang="en-US" altLang="zh-CN" sz="1800" dirty="0"/>
              <a:t> </a:t>
            </a:r>
            <a:r>
              <a:rPr lang="en-US" altLang="zh-CN" sz="1800" dirty="0" smtClean="0"/>
              <a:t>Product { </a:t>
            </a:r>
            <a:r>
              <a:rPr lang="en-US" altLang="zh-CN" sz="1800" dirty="0"/>
              <a:t> </a:t>
            </a:r>
          </a:p>
          <a:p>
            <a:pPr eaLnBrk="1" hangingPunct="1"/>
            <a:r>
              <a:rPr lang="en-US" altLang="zh-CN" sz="1800" dirty="0"/>
              <a:t>    </a:t>
            </a:r>
            <a:r>
              <a:rPr lang="en-US" altLang="zh-CN" sz="1800" b="1" dirty="0"/>
              <a:t>public</a:t>
            </a:r>
            <a:r>
              <a:rPr lang="en-US" altLang="zh-CN" sz="1800" dirty="0"/>
              <a:t> </a:t>
            </a:r>
            <a:r>
              <a:rPr lang="en-US" altLang="zh-CN" sz="1800" b="1" dirty="0" err="1"/>
              <a:t>int</a:t>
            </a:r>
            <a:r>
              <a:rPr lang="en-US" altLang="zh-CN" sz="1800" dirty="0"/>
              <a:t> Id { get; set; }  </a:t>
            </a:r>
          </a:p>
          <a:p>
            <a:pPr eaLnBrk="1" hangingPunct="1"/>
            <a:r>
              <a:rPr lang="en-US" altLang="zh-CN" sz="1800" dirty="0"/>
              <a:t>} </a:t>
            </a:r>
          </a:p>
          <a:p>
            <a:pPr eaLnBrk="1" hangingPunct="1"/>
            <a:r>
              <a:rPr lang="en-US" altLang="zh-CN" sz="1800" dirty="0">
                <a:solidFill>
                  <a:srgbClr val="FFFF00"/>
                </a:solidFill>
              </a:rPr>
              <a:t>/// &lt;summary&gt;  </a:t>
            </a:r>
          </a:p>
          <a:p>
            <a:pPr eaLnBrk="1" hangingPunct="1"/>
            <a:r>
              <a:rPr lang="en-US" altLang="zh-CN" sz="1800" dirty="0">
                <a:solidFill>
                  <a:srgbClr val="FFFF00"/>
                </a:solidFill>
              </a:rPr>
              <a:t>/// </a:t>
            </a:r>
            <a:r>
              <a:rPr lang="zh-CN" altLang="en-US" sz="1800" dirty="0">
                <a:solidFill>
                  <a:srgbClr val="FFFF00"/>
                </a:solidFill>
              </a:rPr>
              <a:t>商品持久化接口  </a:t>
            </a:r>
          </a:p>
          <a:p>
            <a:pPr eaLnBrk="1" hangingPunct="1"/>
            <a:r>
              <a:rPr lang="en-US" altLang="zh-CN" sz="1800" dirty="0">
                <a:solidFill>
                  <a:srgbClr val="FFFF00"/>
                </a:solidFill>
              </a:rPr>
              <a:t>/// &lt;/summary&gt;  </a:t>
            </a:r>
            <a:endParaRPr lang="en-US" altLang="zh-CN" sz="1800" b="1" dirty="0">
              <a:solidFill>
                <a:srgbClr val="FFFF00"/>
              </a:solidFill>
            </a:endParaRPr>
          </a:p>
          <a:p>
            <a:pPr eaLnBrk="1" hangingPunct="1"/>
            <a:r>
              <a:rPr lang="en-US" altLang="zh-CN" sz="1800" b="1" dirty="0">
                <a:solidFill>
                  <a:srgbClr val="FFFF00"/>
                </a:solidFill>
              </a:rPr>
              <a:t>public</a:t>
            </a:r>
            <a:r>
              <a:rPr lang="en-US" altLang="zh-CN" sz="1800" dirty="0">
                <a:solidFill>
                  <a:srgbClr val="FFFF00"/>
                </a:solidFill>
              </a:rPr>
              <a:t> </a:t>
            </a:r>
            <a:r>
              <a:rPr lang="en-US" altLang="zh-CN" sz="1800" b="1" dirty="0">
                <a:solidFill>
                  <a:srgbClr val="FFFF00"/>
                </a:solidFill>
              </a:rPr>
              <a:t>interface</a:t>
            </a:r>
            <a:r>
              <a:rPr lang="en-US" altLang="zh-CN" sz="1800" dirty="0">
                <a:solidFill>
                  <a:srgbClr val="FFFF00"/>
                </a:solidFill>
              </a:rPr>
              <a:t> </a:t>
            </a:r>
            <a:r>
              <a:rPr lang="en-US" altLang="zh-CN" sz="1800" dirty="0" err="1">
                <a:solidFill>
                  <a:srgbClr val="FFFF00"/>
                </a:solidFill>
              </a:rPr>
              <a:t>IProductRepository</a:t>
            </a:r>
            <a:r>
              <a:rPr lang="en-US" altLang="zh-CN" sz="1800" dirty="0">
                <a:solidFill>
                  <a:srgbClr val="FFFF00"/>
                </a:solidFill>
              </a:rPr>
              <a:t>  </a:t>
            </a:r>
            <a:r>
              <a:rPr lang="en-US" altLang="zh-CN" sz="1800" dirty="0" smtClean="0">
                <a:solidFill>
                  <a:srgbClr val="FFFF00"/>
                </a:solidFill>
              </a:rPr>
              <a:t>{ </a:t>
            </a:r>
            <a:r>
              <a:rPr lang="en-US" altLang="zh-CN" sz="1800" dirty="0">
                <a:solidFill>
                  <a:srgbClr val="FFFF00"/>
                </a:solidFill>
              </a:rPr>
              <a:t> </a:t>
            </a:r>
          </a:p>
          <a:p>
            <a:pPr eaLnBrk="1" hangingPunct="1"/>
            <a:r>
              <a:rPr lang="en-US" altLang="zh-CN" sz="1800" dirty="0">
                <a:solidFill>
                  <a:srgbClr val="FFFF00"/>
                </a:solidFill>
              </a:rPr>
              <a:t>    List&lt;Product&gt; </a:t>
            </a:r>
            <a:r>
              <a:rPr lang="en-US" altLang="zh-CN" sz="1800" dirty="0" err="1">
                <a:solidFill>
                  <a:srgbClr val="FFFF00"/>
                </a:solidFill>
              </a:rPr>
              <a:t>FindAll</a:t>
            </a:r>
            <a:r>
              <a:rPr lang="en-US" altLang="zh-CN" sz="1800" dirty="0">
                <a:solidFill>
                  <a:srgbClr val="FFFF00"/>
                </a:solidFill>
              </a:rPr>
              <a:t>();  </a:t>
            </a:r>
          </a:p>
          <a:p>
            <a:pPr eaLnBrk="1" hangingPunct="1"/>
            <a:r>
              <a:rPr lang="en-US" altLang="zh-CN" sz="1800" dirty="0">
                <a:solidFill>
                  <a:srgbClr val="FFFF00"/>
                </a:solidFill>
              </a:rPr>
              <a:t>}   </a:t>
            </a:r>
          </a:p>
          <a:p>
            <a:pPr eaLnBrk="1" hangingPunct="1"/>
            <a:r>
              <a:rPr lang="en-US" altLang="zh-CN" sz="1800" dirty="0">
                <a:solidFill>
                  <a:srgbClr val="FFFF00"/>
                </a:solidFill>
              </a:rPr>
              <a:t>/// &lt;summary&gt;  </a:t>
            </a:r>
          </a:p>
          <a:p>
            <a:pPr eaLnBrk="1" hangingPunct="1"/>
            <a:r>
              <a:rPr lang="en-US" altLang="zh-CN" sz="1800" dirty="0">
                <a:solidFill>
                  <a:srgbClr val="FFFF00"/>
                </a:solidFill>
              </a:rPr>
              <a:t>/// </a:t>
            </a:r>
            <a:r>
              <a:rPr lang="zh-CN" altLang="en-US" sz="1800" dirty="0">
                <a:solidFill>
                  <a:srgbClr val="FFFF00"/>
                </a:solidFill>
              </a:rPr>
              <a:t>商品持久化类  </a:t>
            </a:r>
          </a:p>
          <a:p>
            <a:pPr eaLnBrk="1" hangingPunct="1"/>
            <a:r>
              <a:rPr lang="en-US" altLang="zh-CN" sz="1800" dirty="0">
                <a:solidFill>
                  <a:srgbClr val="FFFF00"/>
                </a:solidFill>
              </a:rPr>
              <a:t>/// &lt;/summary&gt;  </a:t>
            </a:r>
            <a:endParaRPr lang="en-US" altLang="zh-CN" sz="1800" b="1" dirty="0">
              <a:solidFill>
                <a:srgbClr val="FFFF00"/>
              </a:solidFill>
            </a:endParaRPr>
          </a:p>
          <a:p>
            <a:pPr eaLnBrk="1" hangingPunct="1"/>
            <a:r>
              <a:rPr lang="en-US" altLang="zh-CN" sz="1800" b="1" dirty="0">
                <a:solidFill>
                  <a:srgbClr val="FFFF00"/>
                </a:solidFill>
              </a:rPr>
              <a:t>public</a:t>
            </a:r>
            <a:r>
              <a:rPr lang="en-US" altLang="zh-CN" sz="1800" dirty="0">
                <a:solidFill>
                  <a:srgbClr val="FFFF00"/>
                </a:solidFill>
              </a:rPr>
              <a:t> </a:t>
            </a:r>
            <a:r>
              <a:rPr lang="en-US" altLang="zh-CN" sz="1800" b="1" dirty="0">
                <a:solidFill>
                  <a:srgbClr val="FFFF00"/>
                </a:solidFill>
              </a:rPr>
              <a:t>class</a:t>
            </a:r>
            <a:r>
              <a:rPr lang="en-US" altLang="zh-CN" sz="1800" dirty="0">
                <a:solidFill>
                  <a:srgbClr val="FFFF00"/>
                </a:solidFill>
              </a:rPr>
              <a:t> </a:t>
            </a:r>
            <a:r>
              <a:rPr lang="en-US" altLang="zh-CN" sz="1800" dirty="0" err="1" smtClean="0">
                <a:solidFill>
                  <a:srgbClr val="FFFF00"/>
                </a:solidFill>
              </a:rPr>
              <a:t>ProductRepository</a:t>
            </a:r>
            <a:r>
              <a:rPr lang="en-US" altLang="zh-CN" sz="1800" b="1" dirty="0" smtClean="0">
                <a:solidFill>
                  <a:srgbClr val="FFFF00"/>
                </a:solidFill>
              </a:rPr>
              <a:t> :</a:t>
            </a:r>
            <a:r>
              <a:rPr lang="en-US" altLang="zh-CN" sz="1800" dirty="0" err="1" smtClean="0">
                <a:solidFill>
                  <a:srgbClr val="FFFF00"/>
                </a:solidFill>
              </a:rPr>
              <a:t>IProductRepository</a:t>
            </a:r>
            <a:r>
              <a:rPr lang="en-US" altLang="zh-CN" sz="1800" dirty="0" smtClean="0">
                <a:solidFill>
                  <a:srgbClr val="FFFF00"/>
                </a:solidFill>
              </a:rPr>
              <a:t> { </a:t>
            </a:r>
            <a:r>
              <a:rPr lang="en-US" altLang="zh-CN" sz="1800" dirty="0">
                <a:solidFill>
                  <a:srgbClr val="FFFF00"/>
                </a:solidFill>
              </a:rPr>
              <a:t> </a:t>
            </a:r>
          </a:p>
          <a:p>
            <a:pPr eaLnBrk="1" hangingPunct="1"/>
            <a:r>
              <a:rPr lang="en-US" altLang="zh-CN" sz="1800" dirty="0">
                <a:solidFill>
                  <a:srgbClr val="FFFF00"/>
                </a:solidFill>
              </a:rPr>
              <a:t>    </a:t>
            </a:r>
            <a:r>
              <a:rPr lang="en-US" altLang="zh-CN" sz="1800" b="1" dirty="0">
                <a:solidFill>
                  <a:srgbClr val="FFFF00"/>
                </a:solidFill>
              </a:rPr>
              <a:t>public</a:t>
            </a:r>
            <a:r>
              <a:rPr lang="en-US" altLang="zh-CN" sz="1800" dirty="0">
                <a:solidFill>
                  <a:srgbClr val="FFFF00"/>
                </a:solidFill>
              </a:rPr>
              <a:t> </a:t>
            </a:r>
            <a:r>
              <a:rPr lang="en-US" altLang="zh-CN" sz="1800" dirty="0" err="1">
                <a:solidFill>
                  <a:srgbClr val="FFFF00"/>
                </a:solidFill>
              </a:rPr>
              <a:t>IList</a:t>
            </a:r>
            <a:r>
              <a:rPr lang="en-US" altLang="zh-CN" sz="1800" dirty="0">
                <a:solidFill>
                  <a:srgbClr val="FFFF00"/>
                </a:solidFill>
              </a:rPr>
              <a:t>&lt;Product&gt; </a:t>
            </a:r>
            <a:r>
              <a:rPr lang="en-US" altLang="zh-CN" sz="1800" dirty="0" err="1">
                <a:solidFill>
                  <a:srgbClr val="FFFF00"/>
                </a:solidFill>
              </a:rPr>
              <a:t>FindAll</a:t>
            </a:r>
            <a:r>
              <a:rPr lang="en-US" altLang="zh-CN" sz="1800" dirty="0">
                <a:solidFill>
                  <a:srgbClr val="FFFF00"/>
                </a:solidFill>
              </a:rPr>
              <a:t>()    {  </a:t>
            </a:r>
          </a:p>
          <a:p>
            <a:pPr eaLnBrk="1" hangingPunct="1"/>
            <a:r>
              <a:rPr lang="en-US" altLang="zh-CN" sz="1800" dirty="0">
                <a:solidFill>
                  <a:srgbClr val="FFFF00"/>
                </a:solidFill>
              </a:rPr>
              <a:t>        //</a:t>
            </a:r>
            <a:r>
              <a:rPr lang="zh-CN" altLang="en-US" sz="1800" dirty="0">
                <a:solidFill>
                  <a:srgbClr val="FFFF00"/>
                </a:solidFill>
              </a:rPr>
              <a:t>假设从</a:t>
            </a:r>
            <a:r>
              <a:rPr lang="en-US" altLang="zh-CN" sz="1800" dirty="0">
                <a:solidFill>
                  <a:srgbClr val="FFFF00"/>
                </a:solidFill>
              </a:rPr>
              <a:t>SQL Server</a:t>
            </a:r>
            <a:r>
              <a:rPr lang="zh-CN" altLang="en-US" sz="1800" dirty="0">
                <a:solidFill>
                  <a:srgbClr val="FFFF00"/>
                </a:solidFill>
              </a:rPr>
              <a:t>数据库中获取数据  </a:t>
            </a:r>
          </a:p>
          <a:p>
            <a:pPr eaLnBrk="1" hangingPunct="1"/>
            <a:r>
              <a:rPr lang="zh-CN" altLang="en-US" sz="1800" dirty="0">
                <a:solidFill>
                  <a:srgbClr val="FFFF00"/>
                </a:solidFill>
              </a:rPr>
              <a:t>        </a:t>
            </a:r>
            <a:r>
              <a:rPr lang="en-US" altLang="zh-CN" sz="1800" b="1" dirty="0">
                <a:solidFill>
                  <a:srgbClr val="FFFF00"/>
                </a:solidFill>
              </a:rPr>
              <a:t>return</a:t>
            </a:r>
            <a:r>
              <a:rPr lang="en-US" altLang="zh-CN" sz="1800" dirty="0">
                <a:solidFill>
                  <a:srgbClr val="FFFF00"/>
                </a:solidFill>
              </a:rPr>
              <a:t> </a:t>
            </a:r>
            <a:r>
              <a:rPr lang="en-US" altLang="zh-CN" sz="1800" b="1" dirty="0">
                <a:solidFill>
                  <a:srgbClr val="FFFF00"/>
                </a:solidFill>
              </a:rPr>
              <a:t>null</a:t>
            </a:r>
            <a:r>
              <a:rPr lang="en-US" altLang="zh-CN" sz="1800" dirty="0">
                <a:solidFill>
                  <a:srgbClr val="FFFF00"/>
                </a:solidFill>
              </a:rPr>
              <a:t>;  </a:t>
            </a:r>
          </a:p>
          <a:p>
            <a:pPr eaLnBrk="1" hangingPunct="1"/>
            <a:r>
              <a:rPr lang="en-US" altLang="zh-CN" sz="1800" dirty="0">
                <a:solidFill>
                  <a:srgbClr val="FFFF00"/>
                </a:solidFill>
              </a:rPr>
              <a:t>    }  </a:t>
            </a:r>
          </a:p>
          <a:p>
            <a:pPr eaLnBrk="1" hangingPunct="1"/>
            <a:r>
              <a:rPr lang="en-US" altLang="zh-CN" sz="1800" dirty="0"/>
              <a:t>}  </a:t>
            </a:r>
          </a:p>
        </p:txBody>
      </p:sp>
      <p:sp>
        <p:nvSpPr>
          <p:cNvPr id="24580" name="Text Box 6"/>
          <p:cNvSpPr txBox="1">
            <a:spLocks noChangeArrowheads="1"/>
          </p:cNvSpPr>
          <p:nvPr/>
        </p:nvSpPr>
        <p:spPr bwMode="auto">
          <a:xfrm>
            <a:off x="6291942" y="640406"/>
            <a:ext cx="550817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r>
              <a:rPr lang="en-US" altLang="zh-CN" sz="1800" dirty="0"/>
              <a:t>/// &lt;summary&gt;  </a:t>
            </a:r>
          </a:p>
          <a:p>
            <a:pPr eaLnBrk="1" hangingPunct="1"/>
            <a:r>
              <a:rPr lang="en-US" altLang="zh-CN" sz="1800" dirty="0"/>
              <a:t>/// </a:t>
            </a:r>
            <a:r>
              <a:rPr lang="zh-CN" altLang="en-US" sz="1800" dirty="0"/>
              <a:t>商品服务类  </a:t>
            </a:r>
          </a:p>
          <a:p>
            <a:pPr eaLnBrk="1" hangingPunct="1"/>
            <a:r>
              <a:rPr lang="en-US" altLang="zh-CN" sz="1800" dirty="0"/>
              <a:t>/// &lt;/summary&gt;  </a:t>
            </a:r>
            <a:endParaRPr lang="en-US" altLang="zh-CN" sz="1800" b="1" dirty="0"/>
          </a:p>
          <a:p>
            <a:pPr eaLnBrk="1" hangingPunct="1"/>
            <a:r>
              <a:rPr lang="en-US" altLang="zh-CN" sz="1800" b="1" dirty="0"/>
              <a:t>public</a:t>
            </a:r>
            <a:r>
              <a:rPr lang="en-US" altLang="zh-CN" sz="1800" dirty="0"/>
              <a:t> </a:t>
            </a:r>
            <a:r>
              <a:rPr lang="en-US" altLang="zh-CN" sz="1800" b="1" dirty="0"/>
              <a:t>class</a:t>
            </a:r>
            <a:r>
              <a:rPr lang="en-US" altLang="zh-CN" sz="1800" dirty="0"/>
              <a:t> </a:t>
            </a:r>
            <a:r>
              <a:rPr lang="en-US" altLang="zh-CN" sz="1800" dirty="0" err="1"/>
              <a:t>ProductService</a:t>
            </a:r>
            <a:r>
              <a:rPr lang="en-US" altLang="zh-CN" sz="1800" dirty="0"/>
              <a:t>  </a:t>
            </a:r>
          </a:p>
          <a:p>
            <a:pPr eaLnBrk="1" hangingPunct="1"/>
            <a:r>
              <a:rPr lang="en-US" altLang="zh-CN" sz="1800" dirty="0"/>
              <a:t>{  </a:t>
            </a:r>
          </a:p>
          <a:p>
            <a:pPr eaLnBrk="1" hangingPunct="1"/>
            <a:r>
              <a:rPr lang="en-US" altLang="zh-CN" sz="1800" dirty="0"/>
              <a:t>    </a:t>
            </a:r>
            <a:r>
              <a:rPr lang="en-US" altLang="zh-CN" sz="1800" b="1" dirty="0"/>
              <a:t>private</a:t>
            </a:r>
            <a:r>
              <a:rPr lang="en-US" altLang="zh-CN" sz="1800" dirty="0"/>
              <a:t> </a:t>
            </a:r>
            <a:r>
              <a:rPr lang="en-US" altLang="zh-CN" sz="1800" dirty="0" err="1"/>
              <a:t>IProductRepository</a:t>
            </a:r>
            <a:r>
              <a:rPr lang="en-US" altLang="zh-CN" sz="1800" dirty="0"/>
              <a:t> _</a:t>
            </a:r>
            <a:r>
              <a:rPr lang="en-US" altLang="zh-CN" sz="1800" dirty="0" err="1"/>
              <a:t>productRepository</a:t>
            </a:r>
            <a:r>
              <a:rPr lang="en-US" altLang="zh-CN" sz="1800" dirty="0"/>
              <a:t>;  </a:t>
            </a:r>
          </a:p>
          <a:p>
            <a:pPr eaLnBrk="1" hangingPunct="1"/>
            <a:r>
              <a:rPr lang="en-US" altLang="zh-CN" sz="1800" dirty="0"/>
              <a:t> </a:t>
            </a:r>
          </a:p>
          <a:p>
            <a:pPr eaLnBrk="1" hangingPunct="1"/>
            <a:r>
              <a:rPr lang="en-US" altLang="zh-CN" sz="1800" dirty="0"/>
              <a:t>    </a:t>
            </a:r>
            <a:r>
              <a:rPr lang="en-US" altLang="zh-CN" sz="1800" b="1" dirty="0">
                <a:solidFill>
                  <a:srgbClr val="FFFF00"/>
                </a:solidFill>
              </a:rPr>
              <a:t>private</a:t>
            </a:r>
            <a:r>
              <a:rPr lang="en-US" altLang="zh-CN" sz="1800" dirty="0">
                <a:solidFill>
                  <a:srgbClr val="FFFF00"/>
                </a:solidFill>
              </a:rPr>
              <a:t> </a:t>
            </a:r>
            <a:r>
              <a:rPr lang="en-US" altLang="zh-CN" sz="1800" dirty="0" err="1">
                <a:solidFill>
                  <a:srgbClr val="FFFF00"/>
                </a:solidFill>
              </a:rPr>
              <a:t>ProductService</a:t>
            </a:r>
            <a:r>
              <a:rPr lang="en-US" altLang="zh-CN" sz="1800" dirty="0">
                <a:solidFill>
                  <a:srgbClr val="FFFF00"/>
                </a:solidFill>
              </a:rPr>
              <a:t>() { }  </a:t>
            </a:r>
          </a:p>
          <a:p>
            <a:pPr eaLnBrk="1" hangingPunct="1"/>
            <a:r>
              <a:rPr lang="en-US" altLang="zh-CN" sz="1800" dirty="0">
                <a:solidFill>
                  <a:srgbClr val="FFFF00"/>
                </a:solidFill>
              </a:rPr>
              <a:t> </a:t>
            </a:r>
          </a:p>
          <a:p>
            <a:pPr eaLnBrk="1" hangingPunct="1"/>
            <a:r>
              <a:rPr lang="en-US" altLang="zh-CN" sz="1800" dirty="0">
                <a:solidFill>
                  <a:srgbClr val="FFFF00"/>
                </a:solidFill>
              </a:rPr>
              <a:t>    //</a:t>
            </a:r>
            <a:r>
              <a:rPr lang="zh-CN" altLang="en-US" sz="1800" dirty="0">
                <a:solidFill>
                  <a:srgbClr val="FFFF00"/>
                </a:solidFill>
              </a:rPr>
              <a:t>使用构造函数依赖注入  </a:t>
            </a:r>
          </a:p>
          <a:p>
            <a:pPr eaLnBrk="1" hangingPunct="1"/>
            <a:r>
              <a:rPr lang="zh-CN" altLang="en-US" sz="1800" dirty="0">
                <a:solidFill>
                  <a:srgbClr val="FFFF00"/>
                </a:solidFill>
              </a:rPr>
              <a:t>    </a:t>
            </a:r>
            <a:r>
              <a:rPr lang="en-US" altLang="zh-CN" sz="1800" b="1" dirty="0">
                <a:solidFill>
                  <a:srgbClr val="FFFF00"/>
                </a:solidFill>
              </a:rPr>
              <a:t>public</a:t>
            </a:r>
            <a:r>
              <a:rPr lang="en-US" altLang="zh-CN" sz="1800" dirty="0">
                <a:solidFill>
                  <a:srgbClr val="FFFF00"/>
                </a:solidFill>
              </a:rPr>
              <a:t> </a:t>
            </a:r>
            <a:r>
              <a:rPr lang="en-US" altLang="zh-CN" sz="1800" dirty="0" err="1">
                <a:solidFill>
                  <a:srgbClr val="FFFF00"/>
                </a:solidFill>
              </a:rPr>
              <a:t>ProductService</a:t>
            </a:r>
            <a:r>
              <a:rPr lang="en-US" altLang="zh-CN" sz="1800" dirty="0" smtClean="0">
                <a:solidFill>
                  <a:srgbClr val="FFFF00"/>
                </a:solidFill>
              </a:rPr>
              <a:t>( </a:t>
            </a:r>
            <a:r>
              <a:rPr lang="en-US" altLang="zh-CN" sz="1800" dirty="0" err="1" smtClean="0">
                <a:solidFill>
                  <a:srgbClr val="FFFF00"/>
                </a:solidFill>
              </a:rPr>
              <a:t>IProductRepository</a:t>
            </a:r>
            <a:r>
              <a:rPr lang="en-US" altLang="zh-CN" sz="1800" dirty="0">
                <a:solidFill>
                  <a:srgbClr val="FFFF00"/>
                </a:solidFill>
              </a:rPr>
              <a:t> </a:t>
            </a:r>
            <a:r>
              <a:rPr lang="en-US" altLang="zh-CN" sz="1800" dirty="0" err="1">
                <a:solidFill>
                  <a:srgbClr val="FFFF00"/>
                </a:solidFill>
              </a:rPr>
              <a:t>productRepository</a:t>
            </a:r>
            <a:r>
              <a:rPr lang="en-US" altLang="zh-CN" sz="1800" dirty="0">
                <a:solidFill>
                  <a:srgbClr val="FFFF00"/>
                </a:solidFill>
              </a:rPr>
              <a:t>)      {  </a:t>
            </a:r>
          </a:p>
          <a:p>
            <a:pPr eaLnBrk="1" hangingPunct="1"/>
            <a:r>
              <a:rPr lang="en-US" altLang="zh-CN" sz="1800" dirty="0">
                <a:solidFill>
                  <a:srgbClr val="FFFF00"/>
                </a:solidFill>
              </a:rPr>
              <a:t>        _</a:t>
            </a:r>
            <a:r>
              <a:rPr lang="en-US" altLang="zh-CN" sz="1800" dirty="0" err="1">
                <a:solidFill>
                  <a:srgbClr val="FFFF00"/>
                </a:solidFill>
              </a:rPr>
              <a:t>productRepository</a:t>
            </a:r>
            <a:r>
              <a:rPr lang="en-US" altLang="zh-CN" sz="1800" dirty="0">
                <a:solidFill>
                  <a:srgbClr val="FFFF00"/>
                </a:solidFill>
              </a:rPr>
              <a:t> = </a:t>
            </a:r>
            <a:r>
              <a:rPr lang="en-US" altLang="zh-CN" sz="1800" dirty="0" err="1">
                <a:solidFill>
                  <a:srgbClr val="FFFF00"/>
                </a:solidFill>
              </a:rPr>
              <a:t>productRepository</a:t>
            </a:r>
            <a:r>
              <a:rPr lang="en-US" altLang="zh-CN" sz="1800" dirty="0">
                <a:solidFill>
                  <a:srgbClr val="FFFF00"/>
                </a:solidFill>
              </a:rPr>
              <a:t>;  </a:t>
            </a:r>
          </a:p>
          <a:p>
            <a:pPr eaLnBrk="1" hangingPunct="1"/>
            <a:r>
              <a:rPr lang="en-US" altLang="zh-CN" sz="1800" dirty="0">
                <a:solidFill>
                  <a:srgbClr val="FFFF00"/>
                </a:solidFill>
              </a:rPr>
              <a:t>    }  </a:t>
            </a:r>
          </a:p>
          <a:p>
            <a:pPr eaLnBrk="1" hangingPunct="1"/>
            <a:r>
              <a:rPr lang="en-US" altLang="zh-CN" sz="1800" dirty="0"/>
              <a:t> </a:t>
            </a:r>
          </a:p>
          <a:p>
            <a:pPr eaLnBrk="1" hangingPunct="1"/>
            <a:r>
              <a:rPr lang="en-US" altLang="zh-CN" sz="1800" dirty="0"/>
              <a:t>    </a:t>
            </a:r>
            <a:r>
              <a:rPr lang="en-US" altLang="zh-CN" sz="1800" b="1" dirty="0"/>
              <a:t>public</a:t>
            </a:r>
            <a:r>
              <a:rPr lang="en-US" altLang="zh-CN" sz="1800" dirty="0"/>
              <a:t> </a:t>
            </a:r>
            <a:r>
              <a:rPr lang="en-US" altLang="zh-CN" sz="1800" dirty="0" err="1"/>
              <a:t>IList</a:t>
            </a:r>
            <a:r>
              <a:rPr lang="en-US" altLang="zh-CN" sz="1800" dirty="0"/>
              <a:t>&lt;Product&gt; </a:t>
            </a:r>
            <a:r>
              <a:rPr lang="en-US" altLang="zh-CN" sz="1800" dirty="0" err="1"/>
              <a:t>GetProducts</a:t>
            </a:r>
            <a:r>
              <a:rPr lang="en-US" altLang="zh-CN" sz="1800" dirty="0"/>
              <a:t>()    {  </a:t>
            </a:r>
          </a:p>
          <a:p>
            <a:pPr eaLnBrk="1" hangingPunct="1"/>
            <a:r>
              <a:rPr lang="en-US" altLang="zh-CN" sz="1800" dirty="0"/>
              <a:t>        </a:t>
            </a:r>
            <a:r>
              <a:rPr lang="en-US" altLang="zh-CN" sz="1800" b="1" dirty="0"/>
              <a:t>return</a:t>
            </a:r>
            <a:r>
              <a:rPr lang="en-US" altLang="zh-CN" sz="1800" dirty="0"/>
              <a:t> _</a:t>
            </a:r>
            <a:r>
              <a:rPr lang="en-US" altLang="zh-CN" sz="1800" dirty="0" err="1"/>
              <a:t>productRepository.FindAll</a:t>
            </a:r>
            <a:r>
              <a:rPr lang="en-US" altLang="zh-CN" sz="1800" dirty="0"/>
              <a:t>();  </a:t>
            </a:r>
          </a:p>
          <a:p>
            <a:pPr eaLnBrk="1" hangingPunct="1"/>
            <a:r>
              <a:rPr lang="en-US" altLang="zh-CN" sz="1800" dirty="0"/>
              <a:t>    }  </a:t>
            </a:r>
          </a:p>
          <a:p>
            <a:pPr eaLnBrk="1" hangingPunct="1"/>
            <a:r>
              <a:rPr lang="en-US" altLang="zh-CN" sz="1800" dirty="0"/>
              <a:t>} </a:t>
            </a:r>
          </a:p>
        </p:txBody>
      </p:sp>
    </p:spTree>
    <p:extLst>
      <p:ext uri="{BB962C8B-B14F-4D97-AF65-F5344CB8AC3E}">
        <p14:creationId xmlns:p14="http://schemas.microsoft.com/office/powerpoint/2010/main" val="17988809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8782" y="345531"/>
            <a:ext cx="9905999" cy="1946732"/>
          </a:xfrm>
        </p:spPr>
        <p:txBody>
          <a:bodyPr/>
          <a:lstStyle/>
          <a:p>
            <a:r>
              <a:rPr lang="zh-CN" altLang="en-US" dirty="0"/>
              <a:t>软件公司开发人员在开发某</a:t>
            </a:r>
            <a:r>
              <a:rPr lang="en-US" altLang="zh-CN" dirty="0"/>
              <a:t>CRM</a:t>
            </a:r>
            <a:r>
              <a:rPr lang="zh-CN" altLang="en-US" dirty="0"/>
              <a:t>系统时发现：该系统经常需要将存储在</a:t>
            </a:r>
            <a:r>
              <a:rPr lang="en-US" altLang="zh-CN" dirty="0"/>
              <a:t>TXT</a:t>
            </a:r>
            <a:r>
              <a:rPr lang="zh-CN" altLang="en-US" dirty="0"/>
              <a:t>或</a:t>
            </a:r>
            <a:r>
              <a:rPr lang="en-US" altLang="zh-CN" dirty="0"/>
              <a:t>Excel</a:t>
            </a:r>
            <a:r>
              <a:rPr lang="zh-CN" altLang="en-US" dirty="0"/>
              <a:t>文件中的客户信息转存到数据库中，因此需要进行数据格式转换。在客户数据操作类中将调用数据格式转换类的方法实现格式转换和数据库插入操作，初始设计方案结构如</a:t>
            </a:r>
            <a:r>
              <a:rPr lang="zh-CN" altLang="en-US" dirty="0" smtClean="0"/>
              <a:t>图</a:t>
            </a:r>
            <a:r>
              <a:rPr lang="zh-CN" altLang="en-US" dirty="0"/>
              <a:t>。</a:t>
            </a:r>
            <a:endParaRPr lang="en-US" dirty="0"/>
          </a:p>
        </p:txBody>
      </p:sp>
      <p:pic>
        <p:nvPicPr>
          <p:cNvPr id="4" name="图片 3"/>
          <p:cNvPicPr>
            <a:picLocks noChangeAspect="1"/>
          </p:cNvPicPr>
          <p:nvPr/>
        </p:nvPicPr>
        <p:blipFill>
          <a:blip r:embed="rId2"/>
          <a:stretch>
            <a:fillRect/>
          </a:stretch>
        </p:blipFill>
        <p:spPr>
          <a:xfrm>
            <a:off x="2700629" y="2555310"/>
            <a:ext cx="7200363" cy="3344747"/>
          </a:xfrm>
          <a:prstGeom prst="rect">
            <a:avLst/>
          </a:prstGeom>
        </p:spPr>
      </p:pic>
    </p:spTree>
    <p:extLst>
      <p:ext uri="{BB962C8B-B14F-4D97-AF65-F5344CB8AC3E}">
        <p14:creationId xmlns:p14="http://schemas.microsoft.com/office/powerpoint/2010/main" val="2026490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16358" y="370638"/>
            <a:ext cx="9905999" cy="4978030"/>
          </a:xfrm>
        </p:spPr>
        <p:txBody>
          <a:bodyPr>
            <a:normAutofit/>
          </a:bodyPr>
          <a:lstStyle/>
          <a:p>
            <a:r>
              <a:rPr lang="zh-CN" altLang="en-US" dirty="0"/>
              <a:t>由于</a:t>
            </a:r>
            <a:r>
              <a:rPr lang="en-US" altLang="zh-CN" dirty="0" err="1"/>
              <a:t>CustomerDAO</a:t>
            </a:r>
            <a:r>
              <a:rPr lang="zh-CN" altLang="en-US" dirty="0"/>
              <a:t>针对具体数据转换类编程，因此在增加新的数据转换类或者更换数据转换类时都不得不修改</a:t>
            </a:r>
            <a:r>
              <a:rPr lang="en-US" altLang="zh-CN" dirty="0" err="1"/>
              <a:t>CustomerDAO</a:t>
            </a:r>
            <a:r>
              <a:rPr lang="zh-CN" altLang="en-US" dirty="0"/>
              <a:t>的源代码。我们可以通过引入抽象数据转换类解决该问题，在引入抽象数据转换类</a:t>
            </a:r>
            <a:r>
              <a:rPr lang="en-US" altLang="zh-CN" dirty="0" err="1"/>
              <a:t>DataConvertor</a:t>
            </a:r>
            <a:r>
              <a:rPr lang="zh-CN" altLang="en-US" dirty="0"/>
              <a:t>之后，</a:t>
            </a:r>
            <a:r>
              <a:rPr lang="en-US" altLang="zh-CN" dirty="0" err="1"/>
              <a:t>CustomerDAO</a:t>
            </a:r>
            <a:r>
              <a:rPr lang="zh-CN" altLang="en-US" dirty="0"/>
              <a:t>针对抽象类</a:t>
            </a:r>
            <a:r>
              <a:rPr lang="en-US" altLang="zh-CN" dirty="0" err="1"/>
              <a:t>DataConvertor</a:t>
            </a:r>
            <a:r>
              <a:rPr lang="zh-CN" altLang="en-US" dirty="0"/>
              <a:t>编程，而将具体数据转换类名存储在配置文件中，符合依赖倒转</a:t>
            </a:r>
            <a:r>
              <a:rPr lang="zh-CN" altLang="en-US" dirty="0" smtClean="0"/>
              <a:t>原则。</a:t>
            </a:r>
            <a:endParaRPr lang="en-US" altLang="zh-CN" dirty="0" smtClean="0"/>
          </a:p>
          <a:p>
            <a:endParaRPr lang="en-US" dirty="0"/>
          </a:p>
        </p:txBody>
      </p:sp>
      <p:pic>
        <p:nvPicPr>
          <p:cNvPr id="4" name="图片 3"/>
          <p:cNvPicPr>
            <a:picLocks noChangeAspect="1"/>
          </p:cNvPicPr>
          <p:nvPr/>
        </p:nvPicPr>
        <p:blipFill>
          <a:blip r:embed="rId3"/>
          <a:stretch>
            <a:fillRect/>
          </a:stretch>
        </p:blipFill>
        <p:spPr>
          <a:xfrm>
            <a:off x="1447870" y="2734393"/>
            <a:ext cx="9474279" cy="3916928"/>
          </a:xfrm>
          <a:prstGeom prst="rect">
            <a:avLst/>
          </a:prstGeom>
        </p:spPr>
      </p:pic>
    </p:spTree>
    <p:extLst>
      <p:ext uri="{BB962C8B-B14F-4D97-AF65-F5344CB8AC3E}">
        <p14:creationId xmlns:p14="http://schemas.microsoft.com/office/powerpoint/2010/main" val="3298168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p>
        </p:txBody>
      </p:sp>
      <p:sp>
        <p:nvSpPr>
          <p:cNvPr id="3" name="内容占位符 2"/>
          <p:cNvSpPr>
            <a:spLocks noGrp="1"/>
          </p:cNvSpPr>
          <p:nvPr>
            <p:ph idx="1"/>
          </p:nvPr>
        </p:nvSpPr>
        <p:spPr/>
        <p:txBody>
          <a:bodyPr>
            <a:normAutofit/>
          </a:bodyPr>
          <a:lstStyle/>
          <a:p>
            <a:r>
              <a:rPr lang="zh-CN" altLang="en-US" sz="2800" dirty="0">
                <a:solidFill>
                  <a:srgbClr val="FFFF00"/>
                </a:solidFill>
              </a:rPr>
              <a:t>开闭原则</a:t>
            </a:r>
            <a:r>
              <a:rPr lang="zh-CN" altLang="en-US" sz="2800" dirty="0"/>
              <a:t>是目标，</a:t>
            </a:r>
            <a:r>
              <a:rPr lang="zh-CN" altLang="en-US" sz="2800" dirty="0">
                <a:solidFill>
                  <a:srgbClr val="FFFF00"/>
                </a:solidFill>
              </a:rPr>
              <a:t>里氏代换原则</a:t>
            </a:r>
            <a:r>
              <a:rPr lang="zh-CN" altLang="en-US" sz="2800" dirty="0"/>
              <a:t>是基础，</a:t>
            </a:r>
            <a:r>
              <a:rPr lang="zh-CN" altLang="en-US" sz="2800" dirty="0">
                <a:solidFill>
                  <a:srgbClr val="FFFF00"/>
                </a:solidFill>
              </a:rPr>
              <a:t>依赖倒转原则</a:t>
            </a:r>
            <a:r>
              <a:rPr lang="zh-CN" altLang="en-US" sz="2800" dirty="0"/>
              <a:t>是手段，它们相辅相成，相互补充，目标一致，只是分析问题时所站角度不同而已。</a:t>
            </a:r>
            <a:endParaRPr lang="en-US" sz="2800" dirty="0"/>
          </a:p>
        </p:txBody>
      </p:sp>
    </p:spTree>
    <p:extLst>
      <p:ext uri="{BB962C8B-B14F-4D97-AF65-F5344CB8AC3E}">
        <p14:creationId xmlns:p14="http://schemas.microsoft.com/office/powerpoint/2010/main" val="247739662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1413" y="618518"/>
            <a:ext cx="10657652" cy="1478570"/>
          </a:xfrm>
        </p:spPr>
        <p:txBody>
          <a:bodyPr/>
          <a:lstStyle/>
          <a:p>
            <a:r>
              <a:rPr lang="zh-CN" altLang="en-US" dirty="0"/>
              <a:t>四</a:t>
            </a:r>
            <a:r>
              <a:rPr lang="zh-CN" altLang="en-US" dirty="0" smtClean="0"/>
              <a:t>、单一职责原则</a:t>
            </a:r>
            <a:r>
              <a:rPr lang="zh-CN" altLang="en-US" sz="2400" dirty="0" smtClean="0"/>
              <a:t>（</a:t>
            </a:r>
            <a:r>
              <a:rPr lang="en-US" altLang="zh-CN" sz="2800" cap="none" dirty="0"/>
              <a:t>Single-Responsibility </a:t>
            </a:r>
            <a:r>
              <a:rPr lang="en-US" altLang="zh-CN" sz="2800" cap="none" dirty="0" smtClean="0"/>
              <a:t>Principle</a:t>
            </a:r>
            <a:r>
              <a:rPr lang="zh-CN" altLang="en-US" sz="2800" cap="none" dirty="0" smtClean="0"/>
              <a:t>，</a:t>
            </a:r>
            <a:r>
              <a:rPr lang="en-US" altLang="zh-CN" sz="2800" cap="none" dirty="0" smtClean="0"/>
              <a:t>SRP</a:t>
            </a:r>
            <a:r>
              <a:rPr lang="zh-CN" altLang="en-US" sz="2400" dirty="0" smtClean="0"/>
              <a:t>）</a:t>
            </a:r>
            <a:endParaRPr lang="en-US" sz="2400" dirty="0"/>
          </a:p>
        </p:txBody>
      </p:sp>
      <p:sp>
        <p:nvSpPr>
          <p:cNvPr id="3" name="内容占位符 2"/>
          <p:cNvSpPr>
            <a:spLocks noGrp="1"/>
          </p:cNvSpPr>
          <p:nvPr>
            <p:ph idx="1"/>
          </p:nvPr>
        </p:nvSpPr>
        <p:spPr/>
        <p:txBody>
          <a:bodyPr/>
          <a:lstStyle/>
          <a:p>
            <a:r>
              <a:rPr lang="zh-CN" altLang="en-US" b="1" dirty="0">
                <a:solidFill>
                  <a:srgbClr val="FFFF00"/>
                </a:solidFill>
              </a:rPr>
              <a:t>就一个类而言，应该只专注于做一件事和仅有一个引起它变化的原因</a:t>
            </a:r>
            <a:r>
              <a:rPr lang="zh-CN" altLang="en-US" dirty="0" smtClean="0"/>
              <a:t>。即应该</a:t>
            </a:r>
            <a:r>
              <a:rPr lang="zh-CN" altLang="en-US" dirty="0"/>
              <a:t>有且仅有一个原因引起类的</a:t>
            </a:r>
            <a:r>
              <a:rPr lang="zh-CN" altLang="en-US" dirty="0" smtClean="0"/>
              <a:t>变更。</a:t>
            </a:r>
            <a:endParaRPr lang="en-US" altLang="zh-CN" dirty="0" smtClean="0"/>
          </a:p>
          <a:p>
            <a:r>
              <a:rPr lang="zh-CN" altLang="en-US" dirty="0" smtClean="0"/>
              <a:t>所谓</a:t>
            </a:r>
            <a:r>
              <a:rPr lang="zh-CN" altLang="en-US" dirty="0"/>
              <a:t>职责，我们可以</a:t>
            </a:r>
            <a:r>
              <a:rPr lang="zh-CN" altLang="en-US" dirty="0" smtClean="0"/>
              <a:t>理解为</a:t>
            </a:r>
            <a:r>
              <a:rPr lang="zh-CN" altLang="en-US" dirty="0"/>
              <a:t>功能，就是设计的这个类功能应该只有一个，而不是两个或更多。也可以理解</a:t>
            </a:r>
            <a:r>
              <a:rPr lang="zh-CN" altLang="en-US" dirty="0" smtClean="0"/>
              <a:t>为引起变化</a:t>
            </a:r>
            <a:r>
              <a:rPr lang="zh-CN" altLang="en-US" dirty="0"/>
              <a:t>的原因，当你发现有两个变化会要求我们修改这个类，那么你就要</a:t>
            </a:r>
            <a:r>
              <a:rPr lang="zh-CN" altLang="en-US" dirty="0" smtClean="0"/>
              <a:t>考虑拆分</a:t>
            </a:r>
            <a:r>
              <a:rPr lang="zh-CN" altLang="en-US" dirty="0"/>
              <a:t>这个类了。</a:t>
            </a:r>
            <a:endParaRPr lang="en-US" dirty="0"/>
          </a:p>
        </p:txBody>
      </p:sp>
    </p:spTree>
    <p:extLst>
      <p:ext uri="{BB962C8B-B14F-4D97-AF65-F5344CB8AC3E}">
        <p14:creationId xmlns:p14="http://schemas.microsoft.com/office/powerpoint/2010/main" val="29604129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77119" y="66102"/>
            <a:ext cx="4181475" cy="4791075"/>
          </a:xfrm>
          <a:prstGeom prst="rect">
            <a:avLst/>
          </a:prstGeom>
        </p:spPr>
      </p:pic>
      <p:pic>
        <p:nvPicPr>
          <p:cNvPr id="2" name="图片 1"/>
          <p:cNvPicPr>
            <a:picLocks noChangeAspect="1"/>
          </p:cNvPicPr>
          <p:nvPr/>
        </p:nvPicPr>
        <p:blipFill>
          <a:blip r:embed="rId3"/>
          <a:stretch>
            <a:fillRect/>
          </a:stretch>
        </p:blipFill>
        <p:spPr>
          <a:xfrm>
            <a:off x="5920921" y="4268151"/>
            <a:ext cx="4159514" cy="2439715"/>
          </a:xfrm>
          <a:prstGeom prst="rect">
            <a:avLst/>
          </a:prstGeom>
        </p:spPr>
      </p:pic>
      <p:pic>
        <p:nvPicPr>
          <p:cNvPr id="3" name="图片 2"/>
          <p:cNvPicPr>
            <a:picLocks noChangeAspect="1"/>
          </p:cNvPicPr>
          <p:nvPr/>
        </p:nvPicPr>
        <p:blipFill>
          <a:blip r:embed="rId4"/>
          <a:stretch>
            <a:fillRect/>
          </a:stretch>
        </p:blipFill>
        <p:spPr>
          <a:xfrm>
            <a:off x="5112010" y="66102"/>
            <a:ext cx="5911210" cy="3690651"/>
          </a:xfrm>
          <a:prstGeom prst="rect">
            <a:avLst/>
          </a:prstGeom>
        </p:spPr>
      </p:pic>
      <p:sp>
        <p:nvSpPr>
          <p:cNvPr id="4" name="右箭头 3"/>
          <p:cNvSpPr/>
          <p:nvPr/>
        </p:nvSpPr>
        <p:spPr>
          <a:xfrm>
            <a:off x="4250583" y="2038120"/>
            <a:ext cx="1125648" cy="2809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右箭头 21"/>
          <p:cNvSpPr/>
          <p:nvPr/>
        </p:nvSpPr>
        <p:spPr>
          <a:xfrm rot="5400000">
            <a:off x="7629145" y="3987820"/>
            <a:ext cx="743064" cy="2809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6942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up)">
                                      <p:cBhvr>
                                        <p:cTn id="15" dur="500"/>
                                        <p:tgtEl>
                                          <p:spTgt spid="22"/>
                                        </p:tgtEl>
                                      </p:cBhvr>
                                    </p:animEffect>
                                  </p:childTnLst>
                                </p:cTn>
                              </p:par>
                              <p:par>
                                <p:cTn id="16" presetID="22" presetClass="entr" presetSubtype="1"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428681" y="166114"/>
            <a:ext cx="4254942" cy="1960142"/>
          </a:xfrm>
          <a:prstGeom prst="rect">
            <a:avLst/>
          </a:prstGeom>
        </p:spPr>
      </p:pic>
      <p:sp>
        <p:nvSpPr>
          <p:cNvPr id="5" name="内容占位符 2"/>
          <p:cNvSpPr>
            <a:spLocks noGrp="1"/>
          </p:cNvSpPr>
          <p:nvPr>
            <p:ph idx="1"/>
          </p:nvPr>
        </p:nvSpPr>
        <p:spPr>
          <a:xfrm>
            <a:off x="4898165" y="255434"/>
            <a:ext cx="6658530" cy="1870822"/>
          </a:xfrm>
        </p:spPr>
        <p:txBody>
          <a:bodyPr>
            <a:normAutofit/>
          </a:bodyPr>
          <a:lstStyle/>
          <a:p>
            <a:r>
              <a:rPr lang="zh-CN" altLang="en-US" dirty="0"/>
              <a:t>单一职责原则要求一个接口或类只有一个原因引起变化，也就是一个接口或类只有一个职责，它就负责一件</a:t>
            </a:r>
            <a:r>
              <a:rPr lang="zh-CN" altLang="en-US" dirty="0" smtClean="0"/>
              <a:t>事情</a:t>
            </a:r>
            <a:r>
              <a:rPr lang="zh-CN" altLang="en-US" dirty="0"/>
              <a:t>。</a:t>
            </a:r>
            <a:r>
              <a:rPr lang="zh-CN" altLang="en-US" dirty="0" smtClean="0"/>
              <a:t>看看这个接口只</a:t>
            </a:r>
            <a:r>
              <a:rPr lang="zh-CN" altLang="en-US" dirty="0"/>
              <a:t>负责一件事情吗？是只有一个原因引起变化吗？</a:t>
            </a:r>
            <a:endParaRPr lang="en-US" dirty="0"/>
          </a:p>
        </p:txBody>
      </p:sp>
      <p:sp>
        <p:nvSpPr>
          <p:cNvPr id="6" name="内容占位符 3"/>
          <p:cNvSpPr txBox="1">
            <a:spLocks/>
          </p:cNvSpPr>
          <p:nvPr/>
        </p:nvSpPr>
        <p:spPr>
          <a:xfrm>
            <a:off x="910058" y="2434728"/>
            <a:ext cx="10889007" cy="385223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zh-CN" altLang="en-US" dirty="0" smtClean="0"/>
              <a:t>这个接口可不是只有一个职责，它包含了两个职责：协议管理、数据传送。</a:t>
            </a:r>
            <a:endParaRPr lang="en-US" altLang="zh-CN" dirty="0" smtClean="0"/>
          </a:p>
          <a:p>
            <a:r>
              <a:rPr lang="en-US" altLang="zh-CN" dirty="0" smtClean="0"/>
              <a:t>dial()</a:t>
            </a:r>
            <a:r>
              <a:rPr lang="zh-CN" altLang="en-US" dirty="0" smtClean="0"/>
              <a:t>和</a:t>
            </a:r>
            <a:r>
              <a:rPr lang="en-US" altLang="zh-CN" dirty="0" err="1" smtClean="0"/>
              <a:t>hangup</a:t>
            </a:r>
            <a:r>
              <a:rPr lang="en-US" altLang="zh-CN" dirty="0" smtClean="0"/>
              <a:t>()</a:t>
            </a:r>
            <a:r>
              <a:rPr lang="zh-CN" altLang="en-US" dirty="0" smtClean="0"/>
              <a:t>两个方法实现的是</a:t>
            </a:r>
            <a:r>
              <a:rPr lang="zh-CN" altLang="en-US" dirty="0" smtClean="0">
                <a:solidFill>
                  <a:srgbClr val="FFFF00"/>
                </a:solidFill>
              </a:rPr>
              <a:t>协议管理</a:t>
            </a:r>
            <a:r>
              <a:rPr lang="zh-CN" altLang="en-US" dirty="0" smtClean="0"/>
              <a:t>，分别负责拨号接通和挂机；</a:t>
            </a:r>
            <a:r>
              <a:rPr lang="en-US" altLang="zh-CN" dirty="0" smtClean="0"/>
              <a:t>chat()</a:t>
            </a:r>
            <a:r>
              <a:rPr lang="zh-CN" altLang="en-US" dirty="0" smtClean="0"/>
              <a:t>和</a:t>
            </a:r>
            <a:r>
              <a:rPr lang="en-US" altLang="zh-CN" dirty="0" smtClean="0"/>
              <a:t>answer()</a:t>
            </a:r>
            <a:r>
              <a:rPr lang="zh-CN" altLang="en-US" dirty="0" smtClean="0"/>
              <a:t>是</a:t>
            </a:r>
            <a:r>
              <a:rPr lang="zh-CN" altLang="en-US" dirty="0" smtClean="0">
                <a:solidFill>
                  <a:srgbClr val="FFFF00"/>
                </a:solidFill>
              </a:rPr>
              <a:t>数据传送</a:t>
            </a:r>
            <a:r>
              <a:rPr lang="zh-CN" altLang="en-US" dirty="0" smtClean="0"/>
              <a:t>，把我们说的话转换成模拟信号或数字信号传递到对方，然后再把对方传递过来的信号还原成我们听得懂</a:t>
            </a:r>
            <a:r>
              <a:rPr lang="zh-CN" altLang="en-US" dirty="0"/>
              <a:t>的</a:t>
            </a:r>
            <a:r>
              <a:rPr lang="zh-CN" altLang="en-US" dirty="0" smtClean="0"/>
              <a:t>语言。</a:t>
            </a:r>
            <a:endParaRPr lang="en-US" altLang="zh-CN" dirty="0" smtClean="0"/>
          </a:p>
          <a:p>
            <a:r>
              <a:rPr lang="zh-CN" altLang="en-US" dirty="0" smtClean="0"/>
              <a:t>协议的变化会引起这个接口或实现类的变化吗？会的！</a:t>
            </a:r>
            <a:endParaRPr lang="en-US" altLang="zh-CN" dirty="0" smtClean="0"/>
          </a:p>
          <a:p>
            <a:r>
              <a:rPr lang="zh-CN" altLang="en-US" dirty="0" smtClean="0"/>
              <a:t>数据传送（想想看，电话不仅仅可以通话，还可以上网）的变化会引起这个接口或实现类的变化吗？会的！</a:t>
            </a:r>
            <a:endParaRPr lang="en-US" altLang="zh-CN" dirty="0" smtClean="0"/>
          </a:p>
          <a:p>
            <a:r>
              <a:rPr lang="zh-CN" altLang="en-US" dirty="0" smtClean="0"/>
              <a:t>这里有两个原因都引起了类的变化，而且这两个职责会相互影响吗？电话拨号，我只要能接通就成，甭管是电信的还是网通的协议；电话连接后还关心传递的是什么数据吗？不关心，你要是乐意使用</a:t>
            </a:r>
            <a:r>
              <a:rPr lang="en-US" altLang="zh-CN" dirty="0" smtClean="0"/>
              <a:t>56K</a:t>
            </a:r>
            <a:r>
              <a:rPr lang="zh-CN" altLang="en-US" dirty="0" smtClean="0"/>
              <a:t>的小猫传递一个高清的片子，那也没有问题。</a:t>
            </a:r>
            <a:endParaRPr lang="en-US" dirty="0"/>
          </a:p>
        </p:txBody>
      </p:sp>
    </p:spTree>
    <p:extLst>
      <p:ext uri="{BB962C8B-B14F-4D97-AF65-F5344CB8AC3E}">
        <p14:creationId xmlns:p14="http://schemas.microsoft.com/office/powerpoint/2010/main" val="237263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wipe(down)">
                                      <p:cBhvr>
                                        <p:cTn id="15" dur="5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wipe(down)">
                                      <p:cBhvr>
                                        <p:cTn id="20" dur="500"/>
                                        <p:tgtEl>
                                          <p:spTgt spid="6">
                                            <p:txEl>
                                              <p:pRg st="2" end="2"/>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Effect transition="in" filter="wipe(down)">
                                      <p:cBhvr>
                                        <p:cTn id="23" dur="500"/>
                                        <p:tgtEl>
                                          <p:spTgt spid="6">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6">
                                            <p:txEl>
                                              <p:pRg st="4" end="4"/>
                                            </p:txEl>
                                          </p:spTgt>
                                        </p:tgtEl>
                                        <p:attrNameLst>
                                          <p:attrName>style.visibility</p:attrName>
                                        </p:attrNameLst>
                                      </p:cBhvr>
                                      <p:to>
                                        <p:strVal val="visible"/>
                                      </p:to>
                                    </p:set>
                                    <p:animEffect transition="in" filter="wipe(down)">
                                      <p:cBhvr>
                                        <p:cTn id="28"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658575" y="2642155"/>
            <a:ext cx="7627310" cy="3604410"/>
          </a:xfrm>
          <a:prstGeom prst="rect">
            <a:avLst/>
          </a:prstGeom>
        </p:spPr>
      </p:pic>
      <p:pic>
        <p:nvPicPr>
          <p:cNvPr id="5" name="图片 4"/>
          <p:cNvPicPr>
            <a:picLocks noChangeAspect="1"/>
          </p:cNvPicPr>
          <p:nvPr/>
        </p:nvPicPr>
        <p:blipFill>
          <a:blip r:embed="rId3"/>
          <a:stretch>
            <a:fillRect/>
          </a:stretch>
        </p:blipFill>
        <p:spPr>
          <a:xfrm>
            <a:off x="296479" y="218443"/>
            <a:ext cx="4254942" cy="1960142"/>
          </a:xfrm>
          <a:prstGeom prst="rect">
            <a:avLst/>
          </a:prstGeom>
        </p:spPr>
      </p:pic>
      <p:sp>
        <p:nvSpPr>
          <p:cNvPr id="6" name="右箭头 5"/>
          <p:cNvSpPr/>
          <p:nvPr/>
        </p:nvSpPr>
        <p:spPr>
          <a:xfrm rot="2364448">
            <a:off x="4512636" y="2038119"/>
            <a:ext cx="1125648" cy="2809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41385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5707711" y="218443"/>
            <a:ext cx="6018721" cy="2844245"/>
          </a:xfrm>
          <a:prstGeom prst="rect">
            <a:avLst/>
          </a:prstGeom>
        </p:spPr>
      </p:pic>
      <p:pic>
        <p:nvPicPr>
          <p:cNvPr id="5" name="图片 4"/>
          <p:cNvPicPr>
            <a:picLocks noChangeAspect="1"/>
          </p:cNvPicPr>
          <p:nvPr/>
        </p:nvPicPr>
        <p:blipFill>
          <a:blip r:embed="rId3"/>
          <a:stretch>
            <a:fillRect/>
          </a:stretch>
        </p:blipFill>
        <p:spPr>
          <a:xfrm>
            <a:off x="296479" y="218443"/>
            <a:ext cx="4254942" cy="1960142"/>
          </a:xfrm>
          <a:prstGeom prst="rect">
            <a:avLst/>
          </a:prstGeom>
        </p:spPr>
      </p:pic>
      <p:sp>
        <p:nvSpPr>
          <p:cNvPr id="6" name="右箭头 5"/>
          <p:cNvSpPr/>
          <p:nvPr/>
        </p:nvSpPr>
        <p:spPr>
          <a:xfrm>
            <a:off x="4582063" y="1500099"/>
            <a:ext cx="1125648" cy="2809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图片 1"/>
          <p:cNvPicPr>
            <a:picLocks noChangeAspect="1"/>
          </p:cNvPicPr>
          <p:nvPr/>
        </p:nvPicPr>
        <p:blipFill>
          <a:blip r:embed="rId4"/>
          <a:stretch>
            <a:fillRect/>
          </a:stretch>
        </p:blipFill>
        <p:spPr>
          <a:xfrm>
            <a:off x="963917" y="3574629"/>
            <a:ext cx="8073913" cy="2969390"/>
          </a:xfrm>
          <a:prstGeom prst="rect">
            <a:avLst/>
          </a:prstGeom>
        </p:spPr>
      </p:pic>
      <p:sp>
        <p:nvSpPr>
          <p:cNvPr id="7" name="右箭头 6"/>
          <p:cNvSpPr/>
          <p:nvPr/>
        </p:nvSpPr>
        <p:spPr>
          <a:xfrm rot="7063131">
            <a:off x="8849339" y="3434163"/>
            <a:ext cx="1125648" cy="2809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内容占位符 2"/>
          <p:cNvSpPr>
            <a:spLocks noGrp="1"/>
          </p:cNvSpPr>
          <p:nvPr>
            <p:ph idx="1"/>
          </p:nvPr>
        </p:nvSpPr>
        <p:spPr>
          <a:xfrm>
            <a:off x="1927952" y="223588"/>
            <a:ext cx="9900431" cy="3015371"/>
          </a:xfrm>
        </p:spPr>
        <p:style>
          <a:lnRef idx="2">
            <a:schemeClr val="accent3">
              <a:shade val="50000"/>
            </a:schemeClr>
          </a:lnRef>
          <a:fillRef idx="1">
            <a:schemeClr val="accent3"/>
          </a:fillRef>
          <a:effectRef idx="0">
            <a:schemeClr val="accent3"/>
          </a:effectRef>
          <a:fontRef idx="minor">
            <a:schemeClr val="lt1"/>
          </a:fontRef>
        </p:style>
        <p:txBody>
          <a:bodyPr/>
          <a:lstStyle/>
          <a:p>
            <a:r>
              <a:rPr lang="zh-CN" altLang="en-US" dirty="0"/>
              <a:t>一个类实现了两个接口，把两个职责融合在一个类中</a:t>
            </a:r>
            <a:r>
              <a:rPr lang="zh-CN" altLang="en-US" dirty="0" smtClean="0"/>
              <a:t>。</a:t>
            </a:r>
            <a:endParaRPr lang="en-US" altLang="zh-CN" dirty="0" smtClean="0"/>
          </a:p>
          <a:p>
            <a:r>
              <a:rPr lang="zh-CN" altLang="en-US" dirty="0" smtClean="0"/>
              <a:t>你</a:t>
            </a:r>
            <a:r>
              <a:rPr lang="zh-CN" altLang="en-US" dirty="0"/>
              <a:t>会觉得这个</a:t>
            </a:r>
            <a:r>
              <a:rPr lang="en-US" altLang="zh-CN" dirty="0"/>
              <a:t>Phone</a:t>
            </a:r>
            <a:r>
              <a:rPr lang="zh-CN" altLang="en-US" dirty="0"/>
              <a:t>有两个原因引起变化了呀，是</a:t>
            </a:r>
            <a:r>
              <a:rPr lang="zh-CN" altLang="en-US" dirty="0" smtClean="0"/>
              <a:t>的。</a:t>
            </a:r>
            <a:endParaRPr lang="en-US" altLang="zh-CN" dirty="0" smtClean="0"/>
          </a:p>
          <a:p>
            <a:r>
              <a:rPr lang="zh-CN" altLang="en-US" dirty="0" smtClean="0"/>
              <a:t>但是这里是</a:t>
            </a:r>
            <a:r>
              <a:rPr lang="zh-CN" altLang="en-US" dirty="0"/>
              <a:t>面向接口编程</a:t>
            </a:r>
            <a:r>
              <a:rPr lang="zh-CN" altLang="en-US" dirty="0" smtClean="0"/>
              <a:t>，对外</a:t>
            </a:r>
            <a:r>
              <a:rPr lang="zh-CN" altLang="en-US" dirty="0"/>
              <a:t>公布的是接口而不是实现类</a:t>
            </a:r>
            <a:r>
              <a:rPr lang="zh-CN" altLang="en-US" dirty="0" smtClean="0"/>
              <a:t>。况且如</a:t>
            </a:r>
            <a:r>
              <a:rPr lang="zh-CN" altLang="en-US" dirty="0"/>
              <a:t>果真要实现类的单一职责，这个就必须</a:t>
            </a:r>
            <a:r>
              <a:rPr lang="zh-CN" altLang="en-US" dirty="0" smtClean="0"/>
              <a:t>使用之前的组合模式</a:t>
            </a:r>
            <a:r>
              <a:rPr lang="zh-CN" altLang="en-US" dirty="0"/>
              <a:t>了，这会引起类间耦合过重、类的数量增加等问题，人为的增加了设计的复杂性。</a:t>
            </a:r>
            <a:endParaRPr lang="en-US" dirty="0"/>
          </a:p>
        </p:txBody>
      </p:sp>
    </p:spTree>
    <p:extLst>
      <p:ext uri="{BB962C8B-B14F-4D97-AF65-F5344CB8AC3E}">
        <p14:creationId xmlns:p14="http://schemas.microsoft.com/office/powerpoint/2010/main" val="791053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wipe(up)">
                                      <p:cBhvr>
                                        <p:cTn id="7" dur="500"/>
                                        <p:tgtEl>
                                          <p:spTgt spid="8">
                                            <p:bg/>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8">
                                            <p:txEl>
                                              <p:pRg st="1" end="1"/>
                                            </p:txEl>
                                          </p:spTgt>
                                        </p:tgtEl>
                                        <p:attrNameLst>
                                          <p:attrName>style.visibility</p:attrName>
                                        </p:attrNameLst>
                                      </p:cBhvr>
                                      <p:to>
                                        <p:strVal val="visible"/>
                                      </p:to>
                                    </p:set>
                                    <p:animEffect transition="in" filter="wipe(up)">
                                      <p:cBhvr>
                                        <p:cTn id="16" dur="500"/>
                                        <p:tgtEl>
                                          <p:spTgt spid="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wipe(up)">
                                      <p:cBhvr>
                                        <p:cTn id="21"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492357" y="1514641"/>
            <a:ext cx="6446700" cy="1200035"/>
          </a:xfrm>
          <a:prstGeom prst="rect">
            <a:avLst/>
          </a:prstGeom>
        </p:spPr>
      </p:pic>
      <p:pic>
        <p:nvPicPr>
          <p:cNvPr id="5" name="图片 4"/>
          <p:cNvPicPr>
            <a:picLocks noChangeAspect="1"/>
          </p:cNvPicPr>
          <p:nvPr/>
        </p:nvPicPr>
        <p:blipFill>
          <a:blip r:embed="rId3"/>
          <a:stretch>
            <a:fillRect/>
          </a:stretch>
        </p:blipFill>
        <p:spPr>
          <a:xfrm>
            <a:off x="2492357" y="3641929"/>
            <a:ext cx="5242423" cy="1837981"/>
          </a:xfrm>
          <a:prstGeom prst="rect">
            <a:avLst/>
          </a:prstGeom>
        </p:spPr>
      </p:pic>
      <p:sp>
        <p:nvSpPr>
          <p:cNvPr id="6" name="右箭头 5"/>
          <p:cNvSpPr/>
          <p:nvPr/>
        </p:nvSpPr>
        <p:spPr>
          <a:xfrm rot="5400000">
            <a:off x="6584780" y="3128729"/>
            <a:ext cx="1452392" cy="2754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2415393" y="825975"/>
            <a:ext cx="2698175" cy="523220"/>
          </a:xfrm>
          <a:prstGeom prst="rect">
            <a:avLst/>
          </a:prstGeom>
          <a:noFill/>
        </p:spPr>
        <p:txBody>
          <a:bodyPr wrap="none" rtlCol="0">
            <a:spAutoFit/>
          </a:bodyPr>
          <a:lstStyle/>
          <a:p>
            <a:r>
              <a:rPr lang="zh-CN" altLang="en-US" sz="2800" dirty="0" smtClean="0"/>
              <a:t>对于方法也适用</a:t>
            </a:r>
            <a:endParaRPr lang="en-US" sz="2800" dirty="0"/>
          </a:p>
        </p:txBody>
      </p:sp>
    </p:spTree>
    <p:extLst>
      <p:ext uri="{BB962C8B-B14F-4D97-AF65-F5344CB8AC3E}">
        <p14:creationId xmlns:p14="http://schemas.microsoft.com/office/powerpoint/2010/main" val="365510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单一职责的优点</a:t>
            </a:r>
            <a:endParaRPr lang="en-US" dirty="0"/>
          </a:p>
        </p:txBody>
      </p:sp>
      <p:sp>
        <p:nvSpPr>
          <p:cNvPr id="3" name="内容占位符 2"/>
          <p:cNvSpPr>
            <a:spLocks noGrp="1"/>
          </p:cNvSpPr>
          <p:nvPr>
            <p:ph idx="1"/>
          </p:nvPr>
        </p:nvSpPr>
        <p:spPr/>
        <p:txBody>
          <a:bodyPr>
            <a:noAutofit/>
          </a:bodyPr>
          <a:lstStyle/>
          <a:p>
            <a:r>
              <a:rPr lang="en-US" altLang="zh-CN" sz="2800" dirty="0" smtClean="0"/>
              <a:t>1. </a:t>
            </a:r>
            <a:r>
              <a:rPr lang="zh-CN" altLang="en-US" sz="2800" dirty="0" smtClean="0"/>
              <a:t>降低类（接口）的</a:t>
            </a:r>
            <a:r>
              <a:rPr lang="zh-CN" altLang="en-US" sz="2800" dirty="0"/>
              <a:t>复杂度，一个类只负责一项职责，其</a:t>
            </a:r>
            <a:r>
              <a:rPr lang="zh-CN" altLang="en-US" sz="2800" dirty="0" smtClean="0"/>
              <a:t>逻辑</a:t>
            </a:r>
            <a:r>
              <a:rPr lang="zh-CN" altLang="en-US" sz="2800" dirty="0"/>
              <a:t>肯定比负责多项职责简单得多</a:t>
            </a:r>
            <a:r>
              <a:rPr lang="zh-CN" altLang="en-US" sz="2800" dirty="0" smtClean="0"/>
              <a:t>。</a:t>
            </a:r>
            <a:endParaRPr lang="zh-CN" altLang="en-US" sz="2800" dirty="0"/>
          </a:p>
          <a:p>
            <a:r>
              <a:rPr lang="en-US" altLang="zh-CN" sz="2800" dirty="0"/>
              <a:t>2</a:t>
            </a:r>
            <a:r>
              <a:rPr lang="en-US" altLang="zh-CN" sz="2800" dirty="0" smtClean="0"/>
              <a:t>. </a:t>
            </a:r>
            <a:r>
              <a:rPr lang="zh-CN" altLang="en-US" sz="2800" dirty="0" smtClean="0"/>
              <a:t>提高可读性</a:t>
            </a:r>
            <a:r>
              <a:rPr lang="zh-CN" altLang="en-US" sz="2800" dirty="0"/>
              <a:t>，提高系统的可维护性</a:t>
            </a:r>
            <a:r>
              <a:rPr lang="zh-CN" altLang="en-US" sz="2800" dirty="0" smtClean="0"/>
              <a:t>。</a:t>
            </a:r>
            <a:endParaRPr lang="zh-CN" altLang="en-US" sz="2800" dirty="0"/>
          </a:p>
          <a:p>
            <a:r>
              <a:rPr lang="en-US" altLang="zh-CN" sz="2800" dirty="0"/>
              <a:t>3</a:t>
            </a:r>
            <a:r>
              <a:rPr lang="en-US" altLang="zh-CN" sz="2800" dirty="0" smtClean="0"/>
              <a:t>. </a:t>
            </a:r>
            <a:r>
              <a:rPr lang="zh-CN" altLang="en-US" sz="2800" dirty="0" smtClean="0"/>
              <a:t>降低</a:t>
            </a:r>
            <a:r>
              <a:rPr lang="zh-CN" altLang="en-US" sz="2800" dirty="0"/>
              <a:t>变更引起的风险</a:t>
            </a:r>
            <a:r>
              <a:rPr lang="zh-CN" altLang="en-US" sz="2800" dirty="0" smtClean="0"/>
              <a:t>。</a:t>
            </a:r>
            <a:endParaRPr lang="zh-CN" altLang="en-US" sz="2800" dirty="0"/>
          </a:p>
          <a:p>
            <a:r>
              <a:rPr lang="en-US" altLang="zh-CN" sz="2800" dirty="0"/>
              <a:t>4</a:t>
            </a:r>
            <a:r>
              <a:rPr lang="en-US" altLang="zh-CN" sz="2800" dirty="0" smtClean="0"/>
              <a:t>. </a:t>
            </a:r>
            <a:r>
              <a:rPr lang="zh-CN" altLang="en-US" sz="2800" dirty="0" smtClean="0"/>
              <a:t>提高复用性。</a:t>
            </a:r>
            <a:endParaRPr lang="en-US" sz="2800" dirty="0"/>
          </a:p>
        </p:txBody>
      </p:sp>
    </p:spTree>
    <p:extLst>
      <p:ext uri="{BB962C8B-B14F-4D97-AF65-F5344CB8AC3E}">
        <p14:creationId xmlns:p14="http://schemas.microsoft.com/office/powerpoint/2010/main" val="92563537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五、接口隔离</a:t>
            </a:r>
            <a:r>
              <a:rPr lang="zh-CN" altLang="en-US" dirty="0" smtClean="0"/>
              <a:t>原则</a:t>
            </a:r>
            <a:r>
              <a:rPr lang="zh-CN" altLang="en-US" sz="2800" cap="none" dirty="0" smtClean="0"/>
              <a:t>（</a:t>
            </a:r>
            <a:r>
              <a:rPr lang="en-US" altLang="zh-CN" sz="2800" cap="none" dirty="0"/>
              <a:t>Interface  Segregation Principle, ISP</a:t>
            </a:r>
            <a:r>
              <a:rPr lang="zh-CN" altLang="en-US" sz="2800" cap="none" dirty="0" smtClean="0"/>
              <a:t>）</a:t>
            </a:r>
            <a:endParaRPr lang="en-US" sz="2800" cap="none" dirty="0"/>
          </a:p>
        </p:txBody>
      </p:sp>
      <p:sp>
        <p:nvSpPr>
          <p:cNvPr id="3" name="内容占位符 2"/>
          <p:cNvSpPr>
            <a:spLocks noGrp="1"/>
          </p:cNvSpPr>
          <p:nvPr>
            <p:ph idx="1"/>
          </p:nvPr>
        </p:nvSpPr>
        <p:spPr/>
        <p:txBody>
          <a:bodyPr>
            <a:normAutofit/>
          </a:bodyPr>
          <a:lstStyle/>
          <a:p>
            <a:r>
              <a:rPr lang="zh-CN" altLang="en-US" sz="2800" dirty="0">
                <a:solidFill>
                  <a:srgbClr val="FFFF00"/>
                </a:solidFill>
              </a:rPr>
              <a:t>使用多个专门的接口，而不使用单一的总接口，即客户端不应该依赖那些它不需要的接口</a:t>
            </a:r>
            <a:r>
              <a:rPr lang="zh-CN" altLang="en-US" sz="2800" dirty="0" smtClean="0">
                <a:solidFill>
                  <a:srgbClr val="FFFF00"/>
                </a:solidFill>
              </a:rPr>
              <a:t>。</a:t>
            </a:r>
            <a:endParaRPr lang="en-US" altLang="zh-CN" sz="2800" dirty="0" smtClean="0">
              <a:solidFill>
                <a:srgbClr val="FFFF00"/>
              </a:solidFill>
            </a:endParaRPr>
          </a:p>
          <a:p>
            <a:endParaRPr lang="en-US" sz="2800" dirty="0">
              <a:solidFill>
                <a:srgbClr val="FFFF00"/>
              </a:solidFill>
            </a:endParaRPr>
          </a:p>
        </p:txBody>
      </p:sp>
    </p:spTree>
    <p:extLst>
      <p:ext uri="{BB962C8B-B14F-4D97-AF65-F5344CB8AC3E}">
        <p14:creationId xmlns:p14="http://schemas.microsoft.com/office/powerpoint/2010/main" val="242118333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五、接口隔离</a:t>
            </a:r>
            <a:r>
              <a:rPr lang="zh-CN" altLang="en-US" dirty="0" smtClean="0"/>
              <a:t>原则</a:t>
            </a:r>
            <a:r>
              <a:rPr lang="zh-CN" altLang="en-US" sz="2800" cap="none" dirty="0" smtClean="0"/>
              <a:t>（</a:t>
            </a:r>
            <a:r>
              <a:rPr lang="en-US" altLang="zh-CN" sz="2800" cap="none" dirty="0"/>
              <a:t>Interface  Segregation Principle, ISP</a:t>
            </a:r>
            <a:r>
              <a:rPr lang="zh-CN" altLang="en-US" sz="2800" cap="none" dirty="0" smtClean="0"/>
              <a:t>）</a:t>
            </a:r>
            <a:endParaRPr lang="en-US" sz="2800" cap="none" dirty="0"/>
          </a:p>
        </p:txBody>
      </p:sp>
      <p:sp>
        <p:nvSpPr>
          <p:cNvPr id="3" name="内容占位符 2"/>
          <p:cNvSpPr>
            <a:spLocks noGrp="1"/>
          </p:cNvSpPr>
          <p:nvPr>
            <p:ph idx="1"/>
          </p:nvPr>
        </p:nvSpPr>
        <p:spPr>
          <a:xfrm>
            <a:off x="1141412" y="2249487"/>
            <a:ext cx="10193338" cy="3541714"/>
          </a:xfrm>
        </p:spPr>
        <p:txBody>
          <a:bodyPr>
            <a:normAutofit/>
          </a:bodyPr>
          <a:lstStyle/>
          <a:p>
            <a:r>
              <a:rPr lang="zh-CN" altLang="en-US" sz="2800" dirty="0" smtClean="0"/>
              <a:t>使用</a:t>
            </a:r>
            <a:r>
              <a:rPr lang="zh-CN" altLang="en-US" sz="2800" dirty="0"/>
              <a:t>接口隔离原则拆分接口时，首先必须满足单一职责</a:t>
            </a:r>
            <a:r>
              <a:rPr lang="zh-CN" altLang="en-US" sz="2800" dirty="0" smtClean="0"/>
              <a:t>原则</a:t>
            </a:r>
            <a:endParaRPr lang="en-US" altLang="zh-CN" sz="2800" dirty="0" smtClean="0"/>
          </a:p>
          <a:p>
            <a:pPr lvl="1"/>
            <a:r>
              <a:rPr lang="zh-CN" altLang="en-US" sz="2600" dirty="0" smtClean="0"/>
              <a:t>将</a:t>
            </a:r>
            <a:r>
              <a:rPr lang="zh-CN" altLang="en-US" sz="2600" dirty="0"/>
              <a:t>一组相关的操作定义在一个接口中</a:t>
            </a:r>
            <a:r>
              <a:rPr lang="zh-CN" altLang="en-US" sz="2600" dirty="0" smtClean="0"/>
              <a:t>。</a:t>
            </a:r>
            <a:endParaRPr lang="en-US" altLang="zh-CN" sz="2600" dirty="0" smtClean="0"/>
          </a:p>
          <a:p>
            <a:pPr lvl="1"/>
            <a:r>
              <a:rPr lang="zh-CN" altLang="en-US" sz="2600" dirty="0" smtClean="0"/>
              <a:t>接口</a:t>
            </a:r>
            <a:r>
              <a:rPr lang="zh-CN" altLang="en-US" sz="2600" dirty="0"/>
              <a:t>应该尽量细化，同时接口中的方法应该尽量少，每个接口中只包含一个客户端（如子模块或业务逻辑类）所需的方法即</a:t>
            </a:r>
            <a:r>
              <a:rPr lang="zh-CN" altLang="en-US" sz="2600" dirty="0" smtClean="0"/>
              <a:t>可。</a:t>
            </a:r>
            <a:endParaRPr lang="en-US" altLang="zh-CN" sz="2600" dirty="0" smtClean="0"/>
          </a:p>
          <a:p>
            <a:pPr lvl="1"/>
            <a:r>
              <a:rPr lang="zh-CN" altLang="en-US" sz="2600" dirty="0" smtClean="0"/>
              <a:t>这种</a:t>
            </a:r>
            <a:r>
              <a:rPr lang="zh-CN" altLang="en-US" sz="2600" dirty="0"/>
              <a:t>机制也称为“定制服务”，即为不同的客户端提供宽窄不同的接口</a:t>
            </a:r>
            <a:r>
              <a:rPr lang="zh-CN" altLang="en-US" sz="2600" dirty="0" smtClean="0"/>
              <a:t>。</a:t>
            </a:r>
            <a:endParaRPr lang="en-US" sz="2600" dirty="0">
              <a:solidFill>
                <a:srgbClr val="FFFF00"/>
              </a:solidFill>
            </a:endParaRPr>
          </a:p>
        </p:txBody>
      </p:sp>
    </p:spTree>
    <p:extLst>
      <p:ext uri="{BB962C8B-B14F-4D97-AF65-F5344CB8AC3E}">
        <p14:creationId xmlns:p14="http://schemas.microsoft.com/office/powerpoint/2010/main" val="145298036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五、接口隔离</a:t>
            </a:r>
            <a:r>
              <a:rPr lang="zh-CN" altLang="en-US" dirty="0" smtClean="0"/>
              <a:t>原则</a:t>
            </a:r>
            <a:r>
              <a:rPr lang="zh-CN" altLang="en-US" sz="2800" cap="none" dirty="0" smtClean="0"/>
              <a:t>（</a:t>
            </a:r>
            <a:r>
              <a:rPr lang="en-US" altLang="zh-CN" sz="2800" cap="none" dirty="0"/>
              <a:t>Interface  Segregation Principle, ISP</a:t>
            </a:r>
            <a:r>
              <a:rPr lang="zh-CN" altLang="en-US" sz="2800" cap="none" dirty="0" smtClean="0"/>
              <a:t>）</a:t>
            </a:r>
            <a:endParaRPr lang="en-US" sz="2800" cap="none" dirty="0"/>
          </a:p>
        </p:txBody>
      </p:sp>
      <p:sp>
        <p:nvSpPr>
          <p:cNvPr id="3" name="内容占位符 2"/>
          <p:cNvSpPr>
            <a:spLocks noGrp="1"/>
          </p:cNvSpPr>
          <p:nvPr>
            <p:ph idx="1"/>
          </p:nvPr>
        </p:nvSpPr>
        <p:spPr>
          <a:xfrm>
            <a:off x="1141412" y="2249486"/>
            <a:ext cx="9905999" cy="4051105"/>
          </a:xfrm>
        </p:spPr>
        <p:txBody>
          <a:bodyPr>
            <a:normAutofit/>
          </a:bodyPr>
          <a:lstStyle/>
          <a:p>
            <a:r>
              <a:rPr lang="zh-CN" altLang="en-US" sz="2800" dirty="0"/>
              <a:t>在面向对象编程语言中，实现一个接口就需要实现该接口中定义的所有方法，因此大的总接口使用起来不一定很方便，为了使接口的职责单一，需要将大接口中的方法根据其职责不同分别放在不同的小接口中，以确保每个接口使用起来都较为方便，并都</a:t>
            </a:r>
            <a:r>
              <a:rPr lang="zh-CN" altLang="en-US" sz="2800" dirty="0">
                <a:solidFill>
                  <a:srgbClr val="FFFF00"/>
                </a:solidFill>
              </a:rPr>
              <a:t>承担某一单一角色</a:t>
            </a:r>
            <a:r>
              <a:rPr lang="zh-CN" altLang="en-US" sz="2800" dirty="0" smtClean="0"/>
              <a:t>。</a:t>
            </a:r>
            <a:endParaRPr lang="en-US" altLang="zh-CN" sz="2800" dirty="0" smtClean="0"/>
          </a:p>
        </p:txBody>
      </p:sp>
    </p:spTree>
    <p:extLst>
      <p:ext uri="{BB962C8B-B14F-4D97-AF65-F5344CB8AC3E}">
        <p14:creationId xmlns:p14="http://schemas.microsoft.com/office/powerpoint/2010/main" val="374266308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29785" y="3344450"/>
            <a:ext cx="10031804" cy="3199225"/>
          </a:xfrm>
        </p:spPr>
        <p:txBody>
          <a:bodyPr>
            <a:normAutofit/>
          </a:bodyPr>
          <a:lstStyle/>
          <a:p>
            <a:pPr>
              <a:spcBef>
                <a:spcPts val="0"/>
              </a:spcBef>
            </a:pPr>
            <a:r>
              <a:rPr lang="zh-CN" altLang="en-US" dirty="0"/>
              <a:t>公司开发人员针对某</a:t>
            </a:r>
            <a:r>
              <a:rPr lang="en-US" dirty="0"/>
              <a:t>CRM</a:t>
            </a:r>
            <a:r>
              <a:rPr lang="zh-CN" altLang="en-US" dirty="0"/>
              <a:t>系统的客户数据显示模块设计了如</a:t>
            </a:r>
            <a:r>
              <a:rPr lang="zh-CN" altLang="en-US" dirty="0" smtClean="0"/>
              <a:t>图所</a:t>
            </a:r>
            <a:r>
              <a:rPr lang="zh-CN" altLang="en-US" dirty="0"/>
              <a:t>示</a:t>
            </a:r>
            <a:r>
              <a:rPr lang="zh-CN" altLang="en-US" dirty="0" smtClean="0"/>
              <a:t>接口</a:t>
            </a:r>
            <a:r>
              <a:rPr lang="en-US" altLang="zh-CN" dirty="0" smtClean="0"/>
              <a:t>:</a:t>
            </a:r>
          </a:p>
          <a:p>
            <a:pPr lvl="1">
              <a:spcBef>
                <a:spcPts val="0"/>
              </a:spcBef>
            </a:pPr>
            <a:r>
              <a:rPr lang="en-US" sz="2400" dirty="0" err="1" smtClean="0"/>
              <a:t>dataRead</a:t>
            </a:r>
            <a:r>
              <a:rPr lang="en-US" sz="2400" dirty="0"/>
              <a:t>()</a:t>
            </a:r>
            <a:r>
              <a:rPr lang="zh-CN" altLang="en-US" sz="2400" dirty="0"/>
              <a:t>用于从文件中读取</a:t>
            </a:r>
            <a:r>
              <a:rPr lang="zh-CN" altLang="en-US" sz="2400" dirty="0" smtClean="0"/>
              <a:t>数据</a:t>
            </a:r>
            <a:endParaRPr lang="en-US" altLang="zh-CN" sz="2400" dirty="0"/>
          </a:p>
          <a:p>
            <a:pPr lvl="1">
              <a:spcBef>
                <a:spcPts val="0"/>
              </a:spcBef>
            </a:pPr>
            <a:r>
              <a:rPr lang="en-US" sz="2400" dirty="0" err="1" smtClean="0"/>
              <a:t>transformToXML</a:t>
            </a:r>
            <a:r>
              <a:rPr lang="en-US" sz="2400" dirty="0"/>
              <a:t>()</a:t>
            </a:r>
            <a:r>
              <a:rPr lang="zh-CN" altLang="en-US" sz="2400" dirty="0"/>
              <a:t>用于将数据转换成</a:t>
            </a:r>
            <a:r>
              <a:rPr lang="en-US" sz="2400" dirty="0"/>
              <a:t>XML</a:t>
            </a:r>
            <a:r>
              <a:rPr lang="zh-CN" altLang="en-US" sz="2400" dirty="0" smtClean="0"/>
              <a:t>格式</a:t>
            </a:r>
            <a:endParaRPr lang="en-US" altLang="zh-CN" sz="2400" dirty="0" smtClean="0"/>
          </a:p>
          <a:p>
            <a:pPr lvl="1">
              <a:spcBef>
                <a:spcPts val="0"/>
              </a:spcBef>
            </a:pPr>
            <a:r>
              <a:rPr lang="en-US" sz="2400" dirty="0" err="1" smtClean="0"/>
              <a:t>createChart</a:t>
            </a:r>
            <a:r>
              <a:rPr lang="en-US" sz="2400" dirty="0"/>
              <a:t>()</a:t>
            </a:r>
            <a:r>
              <a:rPr lang="zh-CN" altLang="en-US" sz="2400" dirty="0"/>
              <a:t>用于创建</a:t>
            </a:r>
            <a:r>
              <a:rPr lang="zh-CN" altLang="en-US" sz="2400" dirty="0" smtClean="0"/>
              <a:t>图表</a:t>
            </a:r>
            <a:endParaRPr lang="en-US" altLang="zh-CN" sz="2400" dirty="0"/>
          </a:p>
          <a:p>
            <a:pPr lvl="1">
              <a:spcBef>
                <a:spcPts val="0"/>
              </a:spcBef>
            </a:pPr>
            <a:r>
              <a:rPr lang="en-US" sz="2400" dirty="0" err="1" smtClean="0"/>
              <a:t>displayChart</a:t>
            </a:r>
            <a:r>
              <a:rPr lang="en-US" sz="2400" dirty="0"/>
              <a:t>()</a:t>
            </a:r>
            <a:r>
              <a:rPr lang="zh-CN" altLang="en-US" sz="2400" dirty="0"/>
              <a:t>用于显示</a:t>
            </a:r>
            <a:r>
              <a:rPr lang="zh-CN" altLang="en-US" sz="2400" dirty="0" smtClean="0"/>
              <a:t>图表</a:t>
            </a:r>
            <a:endParaRPr lang="en-US" altLang="zh-CN" sz="2400" dirty="0" smtClean="0"/>
          </a:p>
          <a:p>
            <a:pPr lvl="1">
              <a:spcBef>
                <a:spcPts val="0"/>
              </a:spcBef>
            </a:pPr>
            <a:r>
              <a:rPr lang="en-US" sz="2400" dirty="0" err="1" smtClean="0"/>
              <a:t>createReport</a:t>
            </a:r>
            <a:r>
              <a:rPr lang="en-US" sz="2400" dirty="0"/>
              <a:t>()</a:t>
            </a:r>
            <a:r>
              <a:rPr lang="zh-CN" altLang="en-US" sz="2400" dirty="0"/>
              <a:t>用于创建文字</a:t>
            </a:r>
            <a:r>
              <a:rPr lang="zh-CN" altLang="en-US" sz="2400" dirty="0" smtClean="0"/>
              <a:t>报表</a:t>
            </a:r>
            <a:endParaRPr lang="en-US" altLang="zh-CN" sz="2400" dirty="0" smtClean="0"/>
          </a:p>
          <a:p>
            <a:pPr lvl="1">
              <a:spcBef>
                <a:spcPts val="0"/>
              </a:spcBef>
            </a:pPr>
            <a:r>
              <a:rPr lang="en-US" sz="2400" dirty="0" err="1" smtClean="0"/>
              <a:t>displayReport</a:t>
            </a:r>
            <a:r>
              <a:rPr lang="en-US" sz="2400" dirty="0"/>
              <a:t>()</a:t>
            </a:r>
            <a:r>
              <a:rPr lang="zh-CN" altLang="en-US" sz="2400" dirty="0"/>
              <a:t>用于显示文字</a:t>
            </a:r>
            <a:r>
              <a:rPr lang="zh-CN" altLang="en-US" sz="2400" dirty="0" smtClean="0"/>
              <a:t>报表</a:t>
            </a:r>
            <a:endParaRPr lang="en-US" sz="2400" dirty="0"/>
          </a:p>
        </p:txBody>
      </p:sp>
      <p:pic>
        <p:nvPicPr>
          <p:cNvPr id="5" name="图片 4"/>
          <p:cNvPicPr>
            <a:picLocks noChangeAspect="1"/>
          </p:cNvPicPr>
          <p:nvPr/>
        </p:nvPicPr>
        <p:blipFill>
          <a:blip r:embed="rId2"/>
          <a:stretch>
            <a:fillRect/>
          </a:stretch>
        </p:blipFill>
        <p:spPr>
          <a:xfrm>
            <a:off x="1203150" y="314651"/>
            <a:ext cx="9664049" cy="2779279"/>
          </a:xfrm>
          <a:prstGeom prst="rect">
            <a:avLst/>
          </a:prstGeom>
        </p:spPr>
      </p:pic>
    </p:spTree>
    <p:extLst>
      <p:ext uri="{BB962C8B-B14F-4D97-AF65-F5344CB8AC3E}">
        <p14:creationId xmlns:p14="http://schemas.microsoft.com/office/powerpoint/2010/main" val="151286932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0561" y="212940"/>
            <a:ext cx="5145339" cy="6338169"/>
          </a:xfrm>
        </p:spPr>
        <p:txBody>
          <a:bodyPr>
            <a:normAutofit fontScale="92500" lnSpcReduction="20000"/>
          </a:bodyPr>
          <a:lstStyle/>
          <a:p>
            <a:r>
              <a:rPr lang="zh-CN" altLang="en-US" dirty="0"/>
              <a:t>该接口承担了太多职责，</a:t>
            </a:r>
            <a:r>
              <a:rPr lang="zh-CN" altLang="en-US" b="1" dirty="0">
                <a:solidFill>
                  <a:srgbClr val="FFFF00"/>
                </a:solidFill>
              </a:rPr>
              <a:t>一方面</a:t>
            </a:r>
            <a:r>
              <a:rPr lang="zh-CN" altLang="en-US" dirty="0"/>
              <a:t>导致该接口的实现类很庞大，在不同的实现类中都不得不实现接口中定义的所有方法，灵活性较差，如果出现大量的空方法，将导致系统中产生大量的无用代码，影响代码质量；</a:t>
            </a:r>
            <a:r>
              <a:rPr lang="zh-CN" altLang="en-US" b="1" dirty="0">
                <a:solidFill>
                  <a:srgbClr val="FFFF00"/>
                </a:solidFill>
              </a:rPr>
              <a:t>另一方面</a:t>
            </a:r>
            <a:r>
              <a:rPr lang="zh-CN" altLang="en-US" dirty="0"/>
              <a:t>由于客户端针对大接口编程，将在一定程序上破坏程序的封装性，客户端看到了不应该看到的方法，没有为客户端定制接口</a:t>
            </a:r>
            <a:r>
              <a:rPr lang="zh-CN" altLang="en-US" dirty="0" smtClean="0"/>
              <a:t>。</a:t>
            </a:r>
            <a:endParaRPr lang="en-US" altLang="zh-CN" dirty="0" smtClean="0"/>
          </a:p>
          <a:p>
            <a:r>
              <a:rPr lang="zh-CN" altLang="en-US" dirty="0" smtClean="0"/>
              <a:t>需要</a:t>
            </a:r>
            <a:r>
              <a:rPr lang="zh-CN" altLang="en-US" dirty="0"/>
              <a:t>将该接口按照接口隔离原则和单一职责原则进行重构，将其中的一些方法封装在不同的小接口中，确保每一个接口使用起来都较为方便，并都承担某一单一角色，每个接口中只包含一个客户端（如模块或类）所需的方法即可。</a:t>
            </a:r>
            <a:endParaRPr lang="en-US" dirty="0"/>
          </a:p>
        </p:txBody>
      </p:sp>
      <p:pic>
        <p:nvPicPr>
          <p:cNvPr id="2" name="图片 1"/>
          <p:cNvPicPr>
            <a:picLocks noChangeAspect="1"/>
          </p:cNvPicPr>
          <p:nvPr/>
        </p:nvPicPr>
        <p:blipFill>
          <a:blip r:embed="rId2"/>
          <a:stretch>
            <a:fillRect/>
          </a:stretch>
        </p:blipFill>
        <p:spPr>
          <a:xfrm>
            <a:off x="5158114" y="1319861"/>
            <a:ext cx="6896100" cy="4124325"/>
          </a:xfrm>
          <a:prstGeom prst="rect">
            <a:avLst/>
          </a:prstGeom>
        </p:spPr>
      </p:pic>
    </p:spTree>
    <p:extLst>
      <p:ext uri="{BB962C8B-B14F-4D97-AF65-F5344CB8AC3E}">
        <p14:creationId xmlns:p14="http://schemas.microsoft.com/office/powerpoint/2010/main" val="4238472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2438400" y="2286000"/>
            <a:ext cx="73152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endParaRPr lang="zh-CN" altLang="en-US" sz="2000"/>
          </a:p>
        </p:txBody>
      </p:sp>
      <p:sp>
        <p:nvSpPr>
          <p:cNvPr id="20484" name="Text Box 4"/>
          <p:cNvSpPr txBox="1">
            <a:spLocks noChangeArrowheads="1"/>
          </p:cNvSpPr>
          <p:nvPr/>
        </p:nvSpPr>
        <p:spPr bwMode="auto">
          <a:xfrm>
            <a:off x="1058666" y="652942"/>
            <a:ext cx="10051919"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2400" dirty="0" smtClean="0">
                <a:latin typeface="宋体" panose="02010600030101010101" pitchFamily="2" charset="-122"/>
              </a:rPr>
              <a:t>类</a:t>
            </a:r>
            <a:r>
              <a:rPr lang="zh-CN" altLang="en-US" sz="2400" dirty="0">
                <a:latin typeface="宋体" panose="02010600030101010101" pitchFamily="2" charset="-122"/>
              </a:rPr>
              <a:t>A依赖接口I中的方法1、方法2、方法</a:t>
            </a:r>
            <a:r>
              <a:rPr lang="zh-CN" altLang="en-US" sz="2400" dirty="0" smtClean="0">
                <a:latin typeface="宋体" panose="02010600030101010101" pitchFamily="2" charset="-122"/>
              </a:rPr>
              <a:t>3，类</a:t>
            </a:r>
            <a:r>
              <a:rPr lang="zh-CN" altLang="en-US" sz="2400" dirty="0">
                <a:latin typeface="宋体" panose="02010600030101010101" pitchFamily="2" charset="-122"/>
              </a:rPr>
              <a:t>B是对类A依赖的实现</a:t>
            </a:r>
            <a:r>
              <a:rPr lang="zh-CN" altLang="en-US" sz="2400" dirty="0" smtClean="0">
                <a:latin typeface="宋体" panose="02010600030101010101" pitchFamily="2" charset="-122"/>
              </a:rPr>
              <a:t>。</a:t>
            </a:r>
            <a:endParaRPr lang="en-US" altLang="zh-CN" sz="2400" dirty="0" smtClean="0">
              <a:latin typeface="宋体" panose="02010600030101010101" pitchFamily="2" charset="-122"/>
            </a:endParaRPr>
          </a:p>
          <a:p>
            <a:pPr eaLnBrk="1" hangingPunct="1">
              <a:lnSpc>
                <a:spcPct val="120000"/>
              </a:lnSpc>
              <a:spcBef>
                <a:spcPct val="0"/>
              </a:spcBef>
              <a:buClrTx/>
              <a:buSzTx/>
              <a:buFontTx/>
              <a:buNone/>
            </a:pPr>
            <a:r>
              <a:rPr lang="zh-CN" altLang="en-US" sz="2400" dirty="0" smtClean="0">
                <a:latin typeface="宋体" panose="02010600030101010101" pitchFamily="2" charset="-122"/>
              </a:rPr>
              <a:t>类</a:t>
            </a:r>
            <a:r>
              <a:rPr lang="zh-CN" altLang="en-US" sz="2400" dirty="0">
                <a:latin typeface="宋体" panose="02010600030101010101" pitchFamily="2" charset="-122"/>
              </a:rPr>
              <a:t>C依赖接口I中的方法1、方法4、方法5，类D是对类C依赖的实现</a:t>
            </a:r>
            <a:r>
              <a:rPr lang="zh-CN" altLang="en-US" sz="2400" dirty="0" smtClean="0">
                <a:latin typeface="宋体" panose="02010600030101010101" pitchFamily="2" charset="-122"/>
              </a:rPr>
              <a:t>。</a:t>
            </a:r>
            <a:endParaRPr lang="en-US" altLang="zh-CN" sz="2400" dirty="0" smtClean="0">
              <a:latin typeface="宋体" panose="02010600030101010101" pitchFamily="2" charset="-122"/>
            </a:endParaRPr>
          </a:p>
          <a:p>
            <a:pPr eaLnBrk="1" hangingPunct="1">
              <a:lnSpc>
                <a:spcPct val="120000"/>
              </a:lnSpc>
              <a:spcBef>
                <a:spcPct val="0"/>
              </a:spcBef>
              <a:buClrTx/>
              <a:buSzTx/>
              <a:buFontTx/>
              <a:buNone/>
            </a:pPr>
            <a:r>
              <a:rPr lang="zh-CN" altLang="en-US" sz="2400" dirty="0" smtClean="0">
                <a:latin typeface="宋体" panose="02010600030101010101" pitchFamily="2" charset="-122"/>
              </a:rPr>
              <a:t>对于</a:t>
            </a:r>
            <a:r>
              <a:rPr lang="zh-CN" altLang="en-US" sz="2400" dirty="0">
                <a:latin typeface="宋体" panose="02010600030101010101" pitchFamily="2" charset="-122"/>
              </a:rPr>
              <a:t>类B和类D来说，虽然他们都存在着用不到的方法，由于实现了接口I，所以也必须要实现这些用不到的方法</a:t>
            </a:r>
            <a:r>
              <a:rPr lang="zh-CN" altLang="en-US" sz="2400" dirty="0" smtClean="0">
                <a:latin typeface="宋体" panose="02010600030101010101" pitchFamily="2" charset="-122"/>
              </a:rPr>
              <a:t>。   </a:t>
            </a:r>
            <a:endParaRPr lang="zh-CN" altLang="en-US" sz="2400" dirty="0">
              <a:latin typeface="宋体" panose="02010600030101010101" pitchFamily="2" charset="-122"/>
            </a:endParaRPr>
          </a:p>
          <a:p>
            <a:pPr eaLnBrk="1" hangingPunct="1">
              <a:lnSpc>
                <a:spcPct val="120000"/>
              </a:lnSpc>
              <a:spcBef>
                <a:spcPct val="0"/>
              </a:spcBef>
              <a:buClrTx/>
              <a:buSzTx/>
              <a:buFontTx/>
              <a:buNone/>
            </a:pPr>
            <a:r>
              <a:rPr lang="zh-CN" altLang="en-US" sz="2400" dirty="0">
                <a:latin typeface="宋体" panose="02010600030101010101" pitchFamily="2" charset="-122"/>
              </a:rPr>
              <a:t>            </a:t>
            </a:r>
          </a:p>
          <a:p>
            <a:pPr lvl="1" eaLnBrk="1" hangingPunct="1">
              <a:spcBef>
                <a:spcPct val="0"/>
              </a:spcBef>
              <a:buClrTx/>
              <a:buSzTx/>
              <a:buFontTx/>
              <a:buNone/>
            </a:pPr>
            <a:endParaRPr lang="zh-CN" altLang="en-US" sz="2400" dirty="0">
              <a:latin typeface="宋体" panose="02010600030101010101" pitchFamily="2" charset="-122"/>
            </a:endParaRPr>
          </a:p>
        </p:txBody>
      </p:sp>
      <p:pic>
        <p:nvPicPr>
          <p:cNvPr id="2048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1832" y="2481203"/>
            <a:ext cx="5371502" cy="3931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201825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2438400" y="2286000"/>
            <a:ext cx="73152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endParaRPr lang="zh-CN" altLang="en-US" sz="2000"/>
          </a:p>
        </p:txBody>
      </p:sp>
      <p:sp>
        <p:nvSpPr>
          <p:cNvPr id="21508" name="Text Box 4"/>
          <p:cNvSpPr txBox="1">
            <a:spLocks noChangeArrowheads="1"/>
          </p:cNvSpPr>
          <p:nvPr/>
        </p:nvSpPr>
        <p:spPr bwMode="auto">
          <a:xfrm>
            <a:off x="1998118" y="4402898"/>
            <a:ext cx="901226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2400" dirty="0" smtClean="0">
                <a:latin typeface="宋体" panose="02010600030101010101" pitchFamily="2" charset="-122"/>
              </a:rPr>
              <a:t>可以</a:t>
            </a:r>
            <a:r>
              <a:rPr lang="zh-CN" altLang="en-US" sz="2400" dirty="0">
                <a:latin typeface="宋体" panose="02010600030101010101" pitchFamily="2" charset="-122"/>
              </a:rPr>
              <a:t>看到如果接口过于臃肿，只要接口中出现的方法，不管对依赖于它的类有没有用处，实现类中都必须去实现这些方法，我们将原有的接口I拆分为三个接口，使其满足ISP原则。</a:t>
            </a:r>
          </a:p>
        </p:txBody>
      </p:sp>
      <p:pic>
        <p:nvPicPr>
          <p:cNvPr id="215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929" y="561181"/>
            <a:ext cx="5688013" cy="344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51924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六、迪米特法则</a:t>
            </a:r>
            <a:r>
              <a:rPr lang="zh-CN" altLang="en-US" sz="2800" cap="none" dirty="0" smtClean="0"/>
              <a:t>（</a:t>
            </a:r>
            <a:r>
              <a:rPr lang="en-US" altLang="zh-CN" sz="2800" cap="none" dirty="0"/>
              <a:t>Law of  Demeter, </a:t>
            </a:r>
            <a:r>
              <a:rPr lang="en-US" altLang="zh-CN" sz="2800" cap="none" dirty="0" err="1"/>
              <a:t>LoD</a:t>
            </a:r>
            <a:r>
              <a:rPr lang="zh-CN" altLang="en-US" sz="2800" cap="none" dirty="0" smtClean="0"/>
              <a:t>）</a:t>
            </a:r>
            <a:endParaRPr lang="en-US" sz="2800" cap="none" dirty="0"/>
          </a:p>
        </p:txBody>
      </p:sp>
      <p:sp>
        <p:nvSpPr>
          <p:cNvPr id="3" name="内容占位符 2"/>
          <p:cNvSpPr>
            <a:spLocks noGrp="1"/>
          </p:cNvSpPr>
          <p:nvPr>
            <p:ph idx="1"/>
          </p:nvPr>
        </p:nvSpPr>
        <p:spPr/>
        <p:txBody>
          <a:bodyPr/>
          <a:lstStyle/>
          <a:p>
            <a:r>
              <a:rPr lang="zh-CN" altLang="en-US" dirty="0">
                <a:solidFill>
                  <a:srgbClr val="FFFF00"/>
                </a:solidFill>
              </a:rPr>
              <a:t>一个软件实体应当尽可能少地与其他实体发生</a:t>
            </a:r>
            <a:r>
              <a:rPr lang="zh-CN" altLang="en-US" dirty="0" smtClean="0">
                <a:solidFill>
                  <a:srgbClr val="FFFF00"/>
                </a:solidFill>
              </a:rPr>
              <a:t>相互作用</a:t>
            </a:r>
            <a:r>
              <a:rPr lang="zh-CN" altLang="en-US" dirty="0">
                <a:solidFill>
                  <a:srgbClr val="FFFF00"/>
                </a:solidFill>
              </a:rPr>
              <a:t>。</a:t>
            </a:r>
            <a:r>
              <a:rPr lang="zh-CN" altLang="en-US" dirty="0" smtClean="0"/>
              <a:t>（也称为最少</a:t>
            </a:r>
            <a:r>
              <a:rPr lang="zh-CN" altLang="en-US" dirty="0"/>
              <a:t>知识</a:t>
            </a:r>
            <a:r>
              <a:rPr lang="zh-CN" altLang="en-US" dirty="0" smtClean="0"/>
              <a:t>原则（</a:t>
            </a:r>
            <a:r>
              <a:rPr lang="en-US" altLang="zh-CN" dirty="0" smtClean="0"/>
              <a:t>Least Knowledge </a:t>
            </a:r>
            <a:r>
              <a:rPr lang="en-US" altLang="zh-CN" dirty="0"/>
              <a:t>Principle, LKP</a:t>
            </a:r>
            <a:r>
              <a:rPr lang="zh-CN" altLang="en-US" dirty="0" smtClean="0"/>
              <a:t>）。</a:t>
            </a:r>
            <a:endParaRPr lang="en-US" altLang="zh-CN" dirty="0" smtClean="0"/>
          </a:p>
          <a:p>
            <a:r>
              <a:rPr lang="zh-CN" altLang="en-US" dirty="0"/>
              <a:t>迪米特法则要求限制软件实体之间通信的宽度和深度。</a:t>
            </a:r>
            <a:r>
              <a:rPr lang="zh-CN" altLang="en-US" b="1" dirty="0"/>
              <a:t>迪米特法则可降低系统的耦合度，使类与类之间保持松散的耦合</a:t>
            </a:r>
            <a:r>
              <a:rPr lang="zh-CN" altLang="en-US" b="1" dirty="0" smtClean="0"/>
              <a:t>关系。</a:t>
            </a:r>
            <a:endParaRPr lang="en-US" dirty="0"/>
          </a:p>
        </p:txBody>
      </p:sp>
    </p:spTree>
    <p:extLst>
      <p:ext uri="{BB962C8B-B14F-4D97-AF65-F5344CB8AC3E}">
        <p14:creationId xmlns:p14="http://schemas.microsoft.com/office/powerpoint/2010/main" val="40777544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六、迪米特法则</a:t>
            </a:r>
            <a:r>
              <a:rPr lang="zh-CN" altLang="en-US" sz="2800" cap="none" dirty="0" smtClean="0"/>
              <a:t>（</a:t>
            </a:r>
            <a:r>
              <a:rPr lang="en-US" altLang="zh-CN" sz="2800" cap="none" dirty="0"/>
              <a:t>Law of  Demeter, </a:t>
            </a:r>
            <a:r>
              <a:rPr lang="en-US" altLang="zh-CN" sz="2800" cap="none" dirty="0" err="1"/>
              <a:t>LoD</a:t>
            </a:r>
            <a:r>
              <a:rPr lang="zh-CN" altLang="en-US" sz="2800" cap="none" dirty="0" smtClean="0"/>
              <a:t>）</a:t>
            </a:r>
            <a:endParaRPr lang="en-US" sz="2800" cap="none" dirty="0"/>
          </a:p>
        </p:txBody>
      </p:sp>
      <p:sp>
        <p:nvSpPr>
          <p:cNvPr id="3" name="内容占位符 2"/>
          <p:cNvSpPr>
            <a:spLocks noGrp="1"/>
          </p:cNvSpPr>
          <p:nvPr>
            <p:ph idx="1"/>
          </p:nvPr>
        </p:nvSpPr>
        <p:spPr>
          <a:xfrm>
            <a:off x="926926" y="2097088"/>
            <a:ext cx="10446707" cy="3837141"/>
          </a:xfrm>
        </p:spPr>
        <p:txBody>
          <a:bodyPr>
            <a:normAutofit fontScale="92500"/>
          </a:bodyPr>
          <a:lstStyle/>
          <a:p>
            <a:r>
              <a:rPr lang="zh-CN" altLang="en-US" sz="2600" dirty="0"/>
              <a:t>迪米特</a:t>
            </a:r>
            <a:r>
              <a:rPr lang="zh-CN" altLang="en-US" sz="2600" dirty="0" smtClean="0"/>
              <a:t>法则</a:t>
            </a:r>
            <a:r>
              <a:rPr lang="en-US" altLang="zh-CN" sz="2600" dirty="0" smtClean="0"/>
              <a:t>——</a:t>
            </a:r>
            <a:r>
              <a:rPr lang="zh-CN" altLang="en-US" sz="2600" b="1" dirty="0" smtClean="0"/>
              <a:t>不要</a:t>
            </a:r>
            <a:r>
              <a:rPr lang="zh-CN" altLang="en-US" sz="2600" b="1" dirty="0"/>
              <a:t>和“陌生人”说话</a:t>
            </a:r>
            <a:r>
              <a:rPr lang="zh-CN" altLang="en-US" sz="2600" dirty="0"/>
              <a:t>、</a:t>
            </a:r>
            <a:r>
              <a:rPr lang="zh-CN" altLang="en-US" sz="2600" b="1" dirty="0"/>
              <a:t>只与你的直接朋友</a:t>
            </a:r>
            <a:r>
              <a:rPr lang="zh-CN" altLang="en-US" sz="2600" b="1" dirty="0" smtClean="0"/>
              <a:t>通信</a:t>
            </a:r>
            <a:r>
              <a:rPr lang="zh-CN" altLang="en-US" sz="2600" dirty="0" smtClean="0"/>
              <a:t>。在</a:t>
            </a:r>
            <a:r>
              <a:rPr lang="zh-CN" altLang="en-US" sz="2600" dirty="0"/>
              <a:t>迪米特法则中，对于一个对象，其朋友包括以下几类：</a:t>
            </a:r>
          </a:p>
          <a:p>
            <a:pPr marL="0" indent="0">
              <a:buNone/>
            </a:pPr>
            <a:r>
              <a:rPr lang="en-US" altLang="zh-CN" sz="2600" dirty="0"/>
              <a:t> </a:t>
            </a:r>
            <a:r>
              <a:rPr lang="en-US" altLang="zh-CN" sz="2600" dirty="0" smtClean="0"/>
              <a:t>     (</a:t>
            </a:r>
            <a:r>
              <a:rPr lang="en-US" altLang="zh-CN" sz="2600" dirty="0"/>
              <a:t>1) </a:t>
            </a:r>
            <a:r>
              <a:rPr lang="zh-CN" altLang="en-US" sz="2600" dirty="0"/>
              <a:t>当前对象本身</a:t>
            </a:r>
            <a:r>
              <a:rPr lang="en-US" altLang="zh-CN" sz="2600" dirty="0"/>
              <a:t>(this)</a:t>
            </a:r>
            <a:r>
              <a:rPr lang="zh-CN" altLang="en-US" sz="2600" dirty="0"/>
              <a:t>；</a:t>
            </a:r>
          </a:p>
          <a:p>
            <a:pPr marL="0" indent="0">
              <a:buNone/>
            </a:pPr>
            <a:r>
              <a:rPr lang="en-US" altLang="zh-CN" sz="2600" dirty="0"/>
              <a:t> </a:t>
            </a:r>
            <a:r>
              <a:rPr lang="en-US" altLang="zh-CN" sz="2600" dirty="0" smtClean="0"/>
              <a:t>     (</a:t>
            </a:r>
            <a:r>
              <a:rPr lang="en-US" altLang="zh-CN" sz="2600" dirty="0"/>
              <a:t>2) </a:t>
            </a:r>
            <a:r>
              <a:rPr lang="zh-CN" altLang="en-US" sz="2600" dirty="0"/>
              <a:t>以参数形式传入到当前对象方法中的对象；</a:t>
            </a:r>
          </a:p>
          <a:p>
            <a:pPr marL="0" indent="0">
              <a:buNone/>
            </a:pPr>
            <a:r>
              <a:rPr lang="en-US" altLang="zh-CN" sz="2600" dirty="0"/>
              <a:t> </a:t>
            </a:r>
            <a:r>
              <a:rPr lang="en-US" altLang="zh-CN" sz="2600" dirty="0" smtClean="0"/>
              <a:t>     (</a:t>
            </a:r>
            <a:r>
              <a:rPr lang="en-US" altLang="zh-CN" sz="2600" dirty="0"/>
              <a:t>3) </a:t>
            </a:r>
            <a:r>
              <a:rPr lang="zh-CN" altLang="en-US" sz="2600" dirty="0"/>
              <a:t>当前对象的成员对象；</a:t>
            </a:r>
          </a:p>
          <a:p>
            <a:pPr marL="0" indent="0">
              <a:buNone/>
            </a:pPr>
            <a:r>
              <a:rPr lang="en-US" altLang="zh-CN" sz="2600" dirty="0"/>
              <a:t> </a:t>
            </a:r>
            <a:r>
              <a:rPr lang="en-US" altLang="zh-CN" sz="2600" dirty="0" smtClean="0"/>
              <a:t>     (</a:t>
            </a:r>
            <a:r>
              <a:rPr lang="en-US" altLang="zh-CN" sz="2600" dirty="0"/>
              <a:t>4) </a:t>
            </a:r>
            <a:r>
              <a:rPr lang="zh-CN" altLang="en-US" sz="2600" dirty="0"/>
              <a:t>如果当前对象的成员对象是一个集合，那么集合中的元素</a:t>
            </a:r>
            <a:r>
              <a:rPr lang="zh-CN" altLang="en-US" sz="2600" dirty="0" smtClean="0"/>
              <a:t>也是</a:t>
            </a:r>
            <a:r>
              <a:rPr lang="zh-CN" altLang="en-US" sz="2600" dirty="0"/>
              <a:t>朋友；</a:t>
            </a:r>
          </a:p>
          <a:p>
            <a:pPr marL="0" indent="0">
              <a:buNone/>
            </a:pPr>
            <a:r>
              <a:rPr lang="en-US" altLang="zh-CN" sz="2600" dirty="0"/>
              <a:t> </a:t>
            </a:r>
            <a:r>
              <a:rPr lang="en-US" altLang="zh-CN" sz="2600" dirty="0" smtClean="0"/>
              <a:t>     (</a:t>
            </a:r>
            <a:r>
              <a:rPr lang="en-US" altLang="zh-CN" sz="2600" dirty="0"/>
              <a:t>5) </a:t>
            </a:r>
            <a:r>
              <a:rPr lang="zh-CN" altLang="en-US" sz="2600" dirty="0"/>
              <a:t>当前对象所创建的对象</a:t>
            </a:r>
            <a:r>
              <a:rPr lang="zh-CN" altLang="en-US" sz="2600" dirty="0" smtClean="0"/>
              <a:t>。</a:t>
            </a:r>
            <a:endParaRPr lang="en-US" dirty="0"/>
          </a:p>
        </p:txBody>
      </p:sp>
    </p:spTree>
    <p:extLst>
      <p:ext uri="{BB962C8B-B14F-4D97-AF65-F5344CB8AC3E}">
        <p14:creationId xmlns:p14="http://schemas.microsoft.com/office/powerpoint/2010/main" val="363358915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六、迪米特法则</a:t>
            </a:r>
            <a:r>
              <a:rPr lang="zh-CN" altLang="en-US" sz="2800" cap="none" dirty="0" smtClean="0"/>
              <a:t>（</a:t>
            </a:r>
            <a:r>
              <a:rPr lang="en-US" altLang="zh-CN" sz="2800" cap="none" dirty="0"/>
              <a:t>Law of  Demeter, </a:t>
            </a:r>
            <a:r>
              <a:rPr lang="en-US" altLang="zh-CN" sz="2800" cap="none" dirty="0" err="1"/>
              <a:t>LoD</a:t>
            </a:r>
            <a:r>
              <a:rPr lang="zh-CN" altLang="en-US" sz="2800" cap="none" dirty="0" smtClean="0"/>
              <a:t>）</a:t>
            </a:r>
            <a:endParaRPr lang="en-US" sz="2800" cap="none" dirty="0"/>
          </a:p>
        </p:txBody>
      </p:sp>
      <p:sp>
        <p:nvSpPr>
          <p:cNvPr id="3" name="内容占位符 2"/>
          <p:cNvSpPr>
            <a:spLocks noGrp="1"/>
          </p:cNvSpPr>
          <p:nvPr>
            <p:ph idx="1"/>
          </p:nvPr>
        </p:nvSpPr>
        <p:spPr>
          <a:xfrm>
            <a:off x="926926" y="2097088"/>
            <a:ext cx="10446707" cy="4228556"/>
          </a:xfrm>
        </p:spPr>
        <p:txBody>
          <a:bodyPr>
            <a:normAutofit/>
          </a:bodyPr>
          <a:lstStyle/>
          <a:p>
            <a:r>
              <a:rPr lang="zh-CN" altLang="en-US" sz="2600" dirty="0" smtClean="0"/>
              <a:t>迪</a:t>
            </a:r>
            <a:r>
              <a:rPr lang="zh-CN" altLang="en-US" sz="2600" dirty="0"/>
              <a:t>米特法则要求我们在设计系统时，应该尽量减少对象之间的交互，如果两个对象之间不必彼此直接通信，那么这两个对象就不应当发生任何直接的</a:t>
            </a:r>
            <a:r>
              <a:rPr lang="zh-CN" altLang="en-US" sz="2600" dirty="0" smtClean="0"/>
              <a:t>相互作用。</a:t>
            </a:r>
            <a:endParaRPr lang="en-US" altLang="zh-CN" sz="2600" dirty="0" smtClean="0"/>
          </a:p>
          <a:p>
            <a:r>
              <a:rPr lang="zh-CN" altLang="en-US" sz="2600" dirty="0" smtClean="0"/>
              <a:t>如果</a:t>
            </a:r>
            <a:r>
              <a:rPr lang="zh-CN" altLang="en-US" sz="2600" dirty="0"/>
              <a:t>其中的一个对象需要调用另一个对象的某一个方法的话，可以通过第三者转发这个调用。简言之，就是</a:t>
            </a:r>
            <a:r>
              <a:rPr lang="zh-CN" altLang="en-US" sz="2600" dirty="0">
                <a:solidFill>
                  <a:srgbClr val="FFFF00"/>
                </a:solidFill>
              </a:rPr>
              <a:t>通过引入一个合理的第三者来降低现有对象之间的耦合度</a:t>
            </a:r>
            <a:r>
              <a:rPr lang="zh-CN" altLang="en-US" sz="2600" dirty="0" smtClean="0"/>
              <a:t>。</a:t>
            </a:r>
            <a:endParaRPr lang="en-US" altLang="zh-CN" sz="2600" dirty="0" smtClean="0"/>
          </a:p>
        </p:txBody>
      </p:sp>
    </p:spTree>
    <p:extLst>
      <p:ext uri="{BB962C8B-B14F-4D97-AF65-F5344CB8AC3E}">
        <p14:creationId xmlns:p14="http://schemas.microsoft.com/office/powerpoint/2010/main" val="255440282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六、迪米特法则</a:t>
            </a:r>
            <a:r>
              <a:rPr lang="zh-CN" altLang="en-US" sz="2800" cap="none" dirty="0" smtClean="0"/>
              <a:t>（</a:t>
            </a:r>
            <a:r>
              <a:rPr lang="en-US" altLang="zh-CN" sz="2800" cap="none" dirty="0"/>
              <a:t>Law of  Demeter, </a:t>
            </a:r>
            <a:r>
              <a:rPr lang="en-US" altLang="zh-CN" sz="2800" cap="none" dirty="0" err="1"/>
              <a:t>LoD</a:t>
            </a:r>
            <a:r>
              <a:rPr lang="zh-CN" altLang="en-US" sz="2800" cap="none" dirty="0" smtClean="0"/>
              <a:t>）</a:t>
            </a:r>
            <a:endParaRPr lang="en-US" sz="2800" cap="none" dirty="0"/>
          </a:p>
        </p:txBody>
      </p:sp>
      <p:sp>
        <p:nvSpPr>
          <p:cNvPr id="3" name="内容占位符 2"/>
          <p:cNvSpPr>
            <a:spLocks noGrp="1"/>
          </p:cNvSpPr>
          <p:nvPr>
            <p:ph idx="1"/>
          </p:nvPr>
        </p:nvSpPr>
        <p:spPr>
          <a:xfrm>
            <a:off x="926926" y="2097088"/>
            <a:ext cx="10798349" cy="4228556"/>
          </a:xfrm>
        </p:spPr>
        <p:txBody>
          <a:bodyPr>
            <a:normAutofit/>
          </a:bodyPr>
          <a:lstStyle/>
          <a:p>
            <a:r>
              <a:rPr lang="zh-CN" altLang="en-US" sz="2800" dirty="0" smtClean="0"/>
              <a:t>在</a:t>
            </a:r>
            <a:r>
              <a:rPr lang="zh-CN" altLang="en-US" sz="2800" dirty="0"/>
              <a:t>将迪米特法则运用到系统设计中时，要注意下面的几点</a:t>
            </a:r>
            <a:r>
              <a:rPr lang="zh-CN" altLang="en-US" sz="2800" dirty="0" smtClean="0"/>
              <a:t>：</a:t>
            </a:r>
            <a:endParaRPr lang="en-US" altLang="zh-CN" sz="2800" dirty="0" smtClean="0"/>
          </a:p>
          <a:p>
            <a:pPr lvl="1"/>
            <a:r>
              <a:rPr lang="zh-CN" altLang="en-US" sz="2600" dirty="0" smtClean="0"/>
              <a:t>在</a:t>
            </a:r>
            <a:r>
              <a:rPr lang="zh-CN" altLang="en-US" sz="2600" dirty="0"/>
              <a:t>类的划分上，应当尽量创建松耦合的类</a:t>
            </a:r>
            <a:r>
              <a:rPr lang="zh-CN" altLang="en-US" sz="2600" dirty="0" smtClean="0"/>
              <a:t>，有利于</a:t>
            </a:r>
            <a:r>
              <a:rPr lang="zh-CN" altLang="en-US" sz="2600" dirty="0"/>
              <a:t>复用</a:t>
            </a:r>
            <a:r>
              <a:rPr lang="zh-CN" altLang="en-US" sz="2600" dirty="0" smtClean="0"/>
              <a:t>，有利于修改；</a:t>
            </a:r>
            <a:endParaRPr lang="en-US" altLang="zh-CN" sz="2600" dirty="0" smtClean="0"/>
          </a:p>
          <a:p>
            <a:pPr lvl="1"/>
            <a:r>
              <a:rPr lang="zh-CN" altLang="en-US" sz="2600" dirty="0" smtClean="0"/>
              <a:t>在</a:t>
            </a:r>
            <a:r>
              <a:rPr lang="zh-CN" altLang="en-US" sz="2600" dirty="0"/>
              <a:t>类的结构设计上，每一个类都应当尽量降低其成员变量和成员函数的访问权限</a:t>
            </a:r>
            <a:r>
              <a:rPr lang="zh-CN" altLang="en-US" sz="2600" dirty="0" smtClean="0"/>
              <a:t>；</a:t>
            </a:r>
            <a:endParaRPr lang="en-US" altLang="zh-CN" sz="2600" dirty="0" smtClean="0"/>
          </a:p>
          <a:p>
            <a:pPr lvl="1"/>
            <a:r>
              <a:rPr lang="zh-CN" altLang="en-US" sz="2600" dirty="0" smtClean="0"/>
              <a:t>在</a:t>
            </a:r>
            <a:r>
              <a:rPr lang="zh-CN" altLang="en-US" sz="2600" dirty="0"/>
              <a:t>对其他类的引用上，一个对象对其他对象的引用应当降到最低。</a:t>
            </a:r>
            <a:endParaRPr lang="en-US" sz="2600" dirty="0"/>
          </a:p>
        </p:txBody>
      </p:sp>
    </p:spTree>
    <p:extLst>
      <p:ext uri="{BB962C8B-B14F-4D97-AF65-F5344CB8AC3E}">
        <p14:creationId xmlns:p14="http://schemas.microsoft.com/office/powerpoint/2010/main" val="18944673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78990" y="358057"/>
            <a:ext cx="10119487" cy="2823554"/>
          </a:xfrm>
        </p:spPr>
        <p:txBody>
          <a:bodyPr/>
          <a:lstStyle/>
          <a:p>
            <a:r>
              <a:rPr lang="zh-CN" altLang="en-US" dirty="0"/>
              <a:t>公司所开发</a:t>
            </a:r>
            <a:r>
              <a:rPr lang="en-US" altLang="zh-CN" dirty="0"/>
              <a:t>CRM</a:t>
            </a:r>
            <a:r>
              <a:rPr lang="zh-CN" altLang="en-US" dirty="0"/>
              <a:t>系统包含很多业务操作窗口，在这些窗口中，某些界面控件之间存在复杂的交互关系，一个控件事件的触发将导致多个其他界面控件产生响应，例如，当一个按钮</a:t>
            </a:r>
            <a:r>
              <a:rPr lang="en-US" altLang="zh-CN" dirty="0"/>
              <a:t>(Button)</a:t>
            </a:r>
            <a:r>
              <a:rPr lang="zh-CN" altLang="en-US" dirty="0"/>
              <a:t>被单击时，对应的列表框</a:t>
            </a:r>
            <a:r>
              <a:rPr lang="en-US" altLang="zh-CN" dirty="0"/>
              <a:t>(List)</a:t>
            </a:r>
            <a:r>
              <a:rPr lang="zh-CN" altLang="en-US" dirty="0"/>
              <a:t>、组合框</a:t>
            </a:r>
            <a:r>
              <a:rPr lang="en-US" altLang="zh-CN" dirty="0"/>
              <a:t>(</a:t>
            </a:r>
            <a:r>
              <a:rPr lang="en-US" altLang="zh-CN" dirty="0" err="1"/>
              <a:t>ComboBox</a:t>
            </a:r>
            <a:r>
              <a:rPr lang="en-US" altLang="zh-CN" dirty="0"/>
              <a:t>)</a:t>
            </a:r>
            <a:r>
              <a:rPr lang="zh-CN" altLang="en-US" dirty="0"/>
              <a:t>、文本框</a:t>
            </a:r>
            <a:r>
              <a:rPr lang="en-US" altLang="zh-CN" dirty="0"/>
              <a:t>(</a:t>
            </a:r>
            <a:r>
              <a:rPr lang="en-US" altLang="zh-CN" dirty="0" err="1"/>
              <a:t>TextBox</a:t>
            </a:r>
            <a:r>
              <a:rPr lang="en-US" altLang="zh-CN" dirty="0"/>
              <a:t>)</a:t>
            </a:r>
            <a:r>
              <a:rPr lang="zh-CN" altLang="en-US" dirty="0"/>
              <a:t>、文本标签</a:t>
            </a:r>
            <a:r>
              <a:rPr lang="en-US" altLang="zh-CN" dirty="0"/>
              <a:t>(Label)</a:t>
            </a:r>
            <a:r>
              <a:rPr lang="zh-CN" altLang="en-US" dirty="0"/>
              <a:t>等都将发生改变，在初始设计方案中，界面控件之间的交互关系可简化为如</a:t>
            </a:r>
            <a:r>
              <a:rPr lang="zh-CN" altLang="en-US" dirty="0" smtClean="0"/>
              <a:t>图所</a:t>
            </a:r>
            <a:r>
              <a:rPr lang="zh-CN" altLang="en-US" dirty="0"/>
              <a:t>示</a:t>
            </a:r>
            <a:r>
              <a:rPr lang="zh-CN" altLang="en-US" dirty="0" smtClean="0"/>
              <a:t>结构</a:t>
            </a:r>
            <a:r>
              <a:rPr lang="zh-CN" altLang="en-US" dirty="0"/>
              <a:t>。</a:t>
            </a:r>
            <a:endParaRPr lang="en-US" dirty="0"/>
          </a:p>
        </p:txBody>
      </p:sp>
      <p:pic>
        <p:nvPicPr>
          <p:cNvPr id="4" name="图片 3"/>
          <p:cNvPicPr>
            <a:picLocks noChangeAspect="1"/>
          </p:cNvPicPr>
          <p:nvPr/>
        </p:nvPicPr>
        <p:blipFill>
          <a:blip r:embed="rId2"/>
          <a:stretch>
            <a:fillRect/>
          </a:stretch>
        </p:blipFill>
        <p:spPr>
          <a:xfrm>
            <a:off x="4461809" y="2787042"/>
            <a:ext cx="4957763" cy="3611726"/>
          </a:xfrm>
          <a:prstGeom prst="rect">
            <a:avLst/>
          </a:prstGeom>
        </p:spPr>
      </p:pic>
    </p:spTree>
    <p:extLst>
      <p:ext uri="{BB962C8B-B14F-4D97-AF65-F5344CB8AC3E}">
        <p14:creationId xmlns:p14="http://schemas.microsoft.com/office/powerpoint/2010/main" val="208678809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6301" y="3687948"/>
            <a:ext cx="11073009" cy="2823554"/>
          </a:xfrm>
        </p:spPr>
        <p:txBody>
          <a:bodyPr>
            <a:normAutofit fontScale="92500"/>
          </a:bodyPr>
          <a:lstStyle/>
          <a:p>
            <a:r>
              <a:rPr lang="zh-CN" altLang="en-US" dirty="0"/>
              <a:t>由于界面控件之间的交互关系复杂，导致在该窗口中增加新的界面控件时需要修改与之交互的其他控件的源代码，系统扩展性较差，也不便于增加和删除新</a:t>
            </a:r>
            <a:r>
              <a:rPr lang="zh-CN" altLang="en-US" dirty="0" smtClean="0"/>
              <a:t>控件。</a:t>
            </a:r>
            <a:endParaRPr lang="en-US" altLang="zh-CN" dirty="0" smtClean="0"/>
          </a:p>
          <a:p>
            <a:r>
              <a:rPr lang="zh-CN" altLang="en-US" dirty="0"/>
              <a:t>通过引入一个专门用于控制界面控件交互的中间类</a:t>
            </a:r>
            <a:r>
              <a:rPr lang="en-US" altLang="zh-CN" dirty="0"/>
              <a:t>(Mediator)</a:t>
            </a:r>
            <a:r>
              <a:rPr lang="zh-CN" altLang="en-US" dirty="0"/>
              <a:t>来降低界面控件之间的耦合度。引入中间类之后，界面控件之间不再发生直接引用，而是将请求先转发给中间类，再由中间类来完成对其他控件的调用。当需要增加或删除新的控件时，只需修改中间类即可，无须修改新增控件或已有控件的</a:t>
            </a:r>
            <a:r>
              <a:rPr lang="zh-CN" altLang="en-US" dirty="0" smtClean="0"/>
              <a:t>源代码。</a:t>
            </a:r>
            <a:endParaRPr lang="en-US" dirty="0"/>
          </a:p>
        </p:txBody>
      </p:sp>
      <p:pic>
        <p:nvPicPr>
          <p:cNvPr id="2" name="图片 1"/>
          <p:cNvPicPr>
            <a:picLocks noChangeAspect="1"/>
          </p:cNvPicPr>
          <p:nvPr/>
        </p:nvPicPr>
        <p:blipFill>
          <a:blip r:embed="rId2"/>
          <a:stretch>
            <a:fillRect/>
          </a:stretch>
        </p:blipFill>
        <p:spPr>
          <a:xfrm>
            <a:off x="3562546" y="187684"/>
            <a:ext cx="4804842" cy="3387530"/>
          </a:xfrm>
          <a:prstGeom prst="rect">
            <a:avLst/>
          </a:prstGeom>
        </p:spPr>
      </p:pic>
    </p:spTree>
    <p:extLst>
      <p:ext uri="{BB962C8B-B14F-4D97-AF65-F5344CB8AC3E}">
        <p14:creationId xmlns:p14="http://schemas.microsoft.com/office/powerpoint/2010/main" val="278764318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dirty="0"/>
          </a:p>
        </p:txBody>
      </p:sp>
      <p:sp>
        <p:nvSpPr>
          <p:cNvPr id="3" name="内容占位符 2"/>
          <p:cNvSpPr>
            <a:spLocks noGrp="1"/>
          </p:cNvSpPr>
          <p:nvPr>
            <p:ph idx="1"/>
          </p:nvPr>
        </p:nvSpPr>
        <p:spPr/>
        <p:txBody>
          <a:bodyPr>
            <a:normAutofit/>
          </a:bodyPr>
          <a:lstStyle/>
          <a:p>
            <a:r>
              <a:rPr lang="zh-CN" altLang="en-US" sz="2800" dirty="0" smtClean="0"/>
              <a:t>另，合成</a:t>
            </a:r>
            <a:r>
              <a:rPr lang="zh-CN" altLang="en-US" sz="2800" dirty="0"/>
              <a:t>复用原则</a:t>
            </a:r>
            <a:r>
              <a:rPr lang="en-US" altLang="zh-CN" sz="2800" dirty="0"/>
              <a:t>(</a:t>
            </a:r>
            <a:r>
              <a:rPr lang="en-US" sz="2800" dirty="0"/>
              <a:t>Composite Reuse Principle, CRP</a:t>
            </a:r>
            <a:r>
              <a:rPr lang="en-US" sz="2800" dirty="0" smtClean="0"/>
              <a:t>)</a:t>
            </a:r>
            <a:r>
              <a:rPr lang="zh-CN" altLang="en-US" sz="2800" dirty="0" smtClean="0"/>
              <a:t>，尽量</a:t>
            </a:r>
            <a:r>
              <a:rPr lang="zh-CN" altLang="en-US" sz="2800" dirty="0"/>
              <a:t>使用对象组合，而不是继承来达到复用的目的</a:t>
            </a:r>
            <a:r>
              <a:rPr lang="zh-CN" altLang="en-US" sz="2800" dirty="0" smtClean="0"/>
              <a:t>。</a:t>
            </a:r>
            <a:endParaRPr lang="en-US" altLang="zh-CN" sz="2800" dirty="0" smtClean="0"/>
          </a:p>
          <a:p>
            <a:r>
              <a:rPr lang="zh-CN" altLang="en-US" sz="2800" dirty="0" smtClean="0"/>
              <a:t>同学们课下。。。。。。</a:t>
            </a:r>
            <a:endParaRPr lang="en-US" sz="2800" dirty="0"/>
          </a:p>
        </p:txBody>
      </p:sp>
    </p:spTree>
    <p:extLst>
      <p:ext uri="{BB962C8B-B14F-4D97-AF65-F5344CB8AC3E}">
        <p14:creationId xmlns:p14="http://schemas.microsoft.com/office/powerpoint/2010/main" val="8105956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电路">
  <a:themeElements>
    <a:clrScheme name="电路">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电路">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电路">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TM04033919[[fn=电路]]</Template>
  <TotalTime>11020</TotalTime>
  <Words>3966</Words>
  <Application>Microsoft Office PowerPoint</Application>
  <PresentationFormat>宽屏</PresentationFormat>
  <Paragraphs>408</Paragraphs>
  <Slides>47</Slides>
  <Notes>13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47</vt:i4>
      </vt:variant>
    </vt:vector>
  </HeadingPairs>
  <TitlesOfParts>
    <vt:vector size="58" baseType="lpstr">
      <vt:lpstr>宋体</vt:lpstr>
      <vt:lpstr>Arial</vt:lpstr>
      <vt:lpstr>Calibri</vt:lpstr>
      <vt:lpstr>Consolas</vt:lpstr>
      <vt:lpstr>Tahoma</vt:lpstr>
      <vt:lpstr>Times New Roman</vt:lpstr>
      <vt:lpstr>Trebuchet MS</vt:lpstr>
      <vt:lpstr>Tw Cen MT</vt:lpstr>
      <vt:lpstr>Verdana</vt:lpstr>
      <vt:lpstr>Wingdings</vt:lpstr>
      <vt:lpstr>电路</vt:lpstr>
      <vt:lpstr>面向对象设计原则</vt:lpstr>
      <vt:lpstr>主要内容</vt:lpstr>
      <vt:lpstr>概述</vt:lpstr>
      <vt:lpstr>概述</vt:lpstr>
      <vt:lpstr>一、开放-封闭原则（Open-Closed Principle, OCP）</vt:lpstr>
      <vt:lpstr>一、开放-封闭原则（Open-Closed Principle, OCP）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一、开放-封闭原则（Open-Closed Principle, OCP）</vt:lpstr>
      <vt:lpstr>二、里氏代换原则（Liskov Subsitution Principle, LSP ）</vt:lpstr>
      <vt:lpstr>二、里氏代换原则（Liskov Subsitution Principle, LSP ）</vt:lpstr>
      <vt:lpstr>PowerPoint 演示文稿</vt:lpstr>
      <vt:lpstr>PowerPoint 演示文稿</vt:lpstr>
      <vt:lpstr>三、依赖倒置原则 （the Dependency Inversion Principle, DIP）</vt:lpstr>
      <vt:lpstr>PowerPoint 演示文稿</vt:lpstr>
      <vt:lpstr>PowerPoint 演示文稿</vt:lpstr>
      <vt:lpstr>PowerPoint 演示文稿</vt:lpstr>
      <vt:lpstr>PowerPoint 演示文稿</vt:lpstr>
      <vt:lpstr>PowerPoint 演示文稿</vt:lpstr>
      <vt:lpstr>PowerPoint 演示文稿</vt:lpstr>
      <vt:lpstr>四、单一职责原则（Single-Responsibility Principle，SRP）</vt:lpstr>
      <vt:lpstr>PowerPoint 演示文稿</vt:lpstr>
      <vt:lpstr>PowerPoint 演示文稿</vt:lpstr>
      <vt:lpstr>PowerPoint 演示文稿</vt:lpstr>
      <vt:lpstr>PowerPoint 演示文稿</vt:lpstr>
      <vt:lpstr>PowerPoint 演示文稿</vt:lpstr>
      <vt:lpstr>单一职责的优点</vt:lpstr>
      <vt:lpstr>五、接口隔离原则（Interface  Segregation Principle, ISP）</vt:lpstr>
      <vt:lpstr>五、接口隔离原则（Interface  Segregation Principle, ISP）</vt:lpstr>
      <vt:lpstr>五、接口隔离原则（Interface  Segregation Principle, ISP）</vt:lpstr>
      <vt:lpstr>PowerPoint 演示文稿</vt:lpstr>
      <vt:lpstr>PowerPoint 演示文稿</vt:lpstr>
      <vt:lpstr>PowerPoint 演示文稿</vt:lpstr>
      <vt:lpstr>PowerPoint 演示文稿</vt:lpstr>
      <vt:lpstr>六、迪米特法则（Law of  Demeter, LoD）</vt:lpstr>
      <vt:lpstr>六、迪米特法则（Law of  Demeter, LoD）</vt:lpstr>
      <vt:lpstr>六、迪米特法则（Law of  Demeter, LoD）</vt:lpstr>
      <vt:lpstr>六、迪米特法则（Law of  Demeter, LoD）</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zc</dc:creator>
  <cp:lastModifiedBy>张弛</cp:lastModifiedBy>
  <cp:revision>97</cp:revision>
  <dcterms:created xsi:type="dcterms:W3CDTF">2015-06-09T09:04:15Z</dcterms:created>
  <dcterms:modified xsi:type="dcterms:W3CDTF">2021-04-22T05:20:16Z</dcterms:modified>
</cp:coreProperties>
</file>
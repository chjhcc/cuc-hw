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320" r:id="rId3"/>
    <p:sldId id="257" r:id="rId4"/>
    <p:sldId id="285" r:id="rId5"/>
    <p:sldId id="286" r:id="rId6"/>
    <p:sldId id="283"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84" r:id="rId20"/>
    <p:sldId id="299" r:id="rId21"/>
    <p:sldId id="300" r:id="rId22"/>
    <p:sldId id="301" r:id="rId23"/>
    <p:sldId id="302" r:id="rId24"/>
    <p:sldId id="303" r:id="rId25"/>
    <p:sldId id="304" r:id="rId26"/>
    <p:sldId id="305" r:id="rId27"/>
    <p:sldId id="306" r:id="rId28"/>
    <p:sldId id="307" r:id="rId29"/>
    <p:sldId id="308" r:id="rId30"/>
    <p:sldId id="309" r:id="rId31"/>
    <p:sldId id="310" r:id="rId32"/>
    <p:sldId id="311" r:id="rId33"/>
    <p:sldId id="312" r:id="rId34"/>
    <p:sldId id="313" r:id="rId35"/>
    <p:sldId id="314" r:id="rId36"/>
    <p:sldId id="315" r:id="rId37"/>
    <p:sldId id="316" r:id="rId38"/>
    <p:sldId id="317" r:id="rId39"/>
    <p:sldId id="318" r:id="rId40"/>
    <p:sldId id="319" r:id="rId41"/>
    <p:sldId id="321" r:id="rId42"/>
    <p:sldId id="322" r:id="rId43"/>
    <p:sldId id="323" r:id="rId44"/>
    <p:sldId id="324" r:id="rId45"/>
    <p:sldId id="325" r:id="rId46"/>
    <p:sldId id="326" r:id="rId47"/>
    <p:sldId id="327" r:id="rId48"/>
    <p:sldId id="328" r:id="rId49"/>
    <p:sldId id="329" r:id="rId50"/>
    <p:sldId id="330" r:id="rId51"/>
    <p:sldId id="331" r:id="rId52"/>
    <p:sldId id="332" r:id="rId53"/>
    <p:sldId id="333" r:id="rId54"/>
    <p:sldId id="334" r:id="rId55"/>
    <p:sldId id="335" r:id="rId56"/>
    <p:sldId id="336" r:id="rId57"/>
    <p:sldId id="282"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B0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51" autoAdjust="0"/>
    <p:restoredTop sz="86946" autoAdjust="0"/>
  </p:normalViewPr>
  <p:slideViewPr>
    <p:cSldViewPr snapToGrid="0">
      <p:cViewPr varScale="1">
        <p:scale>
          <a:sx n="76" d="100"/>
          <a:sy n="76" d="100"/>
        </p:scale>
        <p:origin x="84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D37325-2224-4875-A0DB-8792831F71C5}" type="datetimeFigureOut">
              <a:rPr lang="zh-CN" altLang="en-US" smtClean="0"/>
              <a:t>2021/6/17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F1C8F5-2B78-4A52-9B27-C380A39B0E3D}" type="slidenum">
              <a:rPr lang="zh-CN" altLang="en-US" smtClean="0"/>
              <a:t>‹#›</a:t>
            </a:fld>
            <a:endParaRPr lang="zh-CN" altLang="en-US"/>
          </a:p>
        </p:txBody>
      </p:sp>
    </p:spTree>
    <p:extLst>
      <p:ext uri="{BB962C8B-B14F-4D97-AF65-F5344CB8AC3E}">
        <p14:creationId xmlns:p14="http://schemas.microsoft.com/office/powerpoint/2010/main" val="2310247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smtClean="0">
                <a:solidFill>
                  <a:schemeClr val="tx1"/>
                </a:solidFill>
                <a:effectLst/>
                <a:latin typeface="+mn-lt"/>
                <a:ea typeface="+mn-ea"/>
                <a:cs typeface="+mn-cs"/>
              </a:rPr>
              <a:t>认识到不管你的最初所作的规格说明书有多好，但注定代码会很快地与之失去同步，即便是你自己建模自己编码。一个基本的道理就是代码永远只会和代码保持一致。</a:t>
            </a:r>
            <a:endParaRPr lang="zh-CN" altLang="en-US" dirty="0"/>
          </a:p>
        </p:txBody>
      </p:sp>
      <p:sp>
        <p:nvSpPr>
          <p:cNvPr id="4" name="灯片编号占位符 3"/>
          <p:cNvSpPr>
            <a:spLocks noGrp="1"/>
          </p:cNvSpPr>
          <p:nvPr>
            <p:ph type="sldNum" sz="quarter" idx="10"/>
          </p:nvPr>
        </p:nvSpPr>
        <p:spPr/>
        <p:txBody>
          <a:bodyPr/>
          <a:lstStyle/>
          <a:p>
            <a:fld id="{19F1C8F5-2B78-4A52-9B27-C380A39B0E3D}" type="slidenum">
              <a:rPr lang="zh-CN" altLang="en-US" smtClean="0"/>
              <a:t>32</a:t>
            </a:fld>
            <a:endParaRPr lang="zh-CN" altLang="en-US"/>
          </a:p>
        </p:txBody>
      </p:sp>
    </p:spTree>
    <p:extLst>
      <p:ext uri="{BB962C8B-B14F-4D97-AF65-F5344CB8AC3E}">
        <p14:creationId xmlns:p14="http://schemas.microsoft.com/office/powerpoint/2010/main" val="58347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F1C8F5-2B78-4A52-9B27-C380A39B0E3D}" type="slidenum">
              <a:rPr lang="zh-CN" altLang="en-US" smtClean="0"/>
              <a:t>33</a:t>
            </a:fld>
            <a:endParaRPr lang="zh-CN" altLang="en-US"/>
          </a:p>
        </p:txBody>
      </p:sp>
    </p:spTree>
    <p:extLst>
      <p:ext uri="{BB962C8B-B14F-4D97-AF65-F5344CB8AC3E}">
        <p14:creationId xmlns:p14="http://schemas.microsoft.com/office/powerpoint/2010/main" val="1221300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F1C8F5-2B78-4A52-9B27-C380A39B0E3D}" type="slidenum">
              <a:rPr lang="zh-CN" altLang="en-US" smtClean="0"/>
              <a:t>34</a:t>
            </a:fld>
            <a:endParaRPr lang="zh-CN" altLang="en-US"/>
          </a:p>
        </p:txBody>
      </p:sp>
    </p:spTree>
    <p:extLst>
      <p:ext uri="{BB962C8B-B14F-4D97-AF65-F5344CB8AC3E}">
        <p14:creationId xmlns:p14="http://schemas.microsoft.com/office/powerpoint/2010/main" val="3240295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F1C8F5-2B78-4A52-9B27-C380A39B0E3D}" type="slidenum">
              <a:rPr lang="zh-CN" altLang="en-US" smtClean="0"/>
              <a:t>35</a:t>
            </a:fld>
            <a:endParaRPr lang="zh-CN" altLang="en-US"/>
          </a:p>
        </p:txBody>
      </p:sp>
    </p:spTree>
    <p:extLst>
      <p:ext uri="{BB962C8B-B14F-4D97-AF65-F5344CB8AC3E}">
        <p14:creationId xmlns:p14="http://schemas.microsoft.com/office/powerpoint/2010/main" val="2415397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F1C8F5-2B78-4A52-9B27-C380A39B0E3D}" type="slidenum">
              <a:rPr lang="zh-CN" altLang="en-US" smtClean="0"/>
              <a:t>36</a:t>
            </a:fld>
            <a:endParaRPr lang="zh-CN" altLang="en-US"/>
          </a:p>
        </p:txBody>
      </p:sp>
    </p:spTree>
    <p:extLst>
      <p:ext uri="{BB962C8B-B14F-4D97-AF65-F5344CB8AC3E}">
        <p14:creationId xmlns:p14="http://schemas.microsoft.com/office/powerpoint/2010/main" val="2829529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F1C8F5-2B78-4A52-9B27-C380A39B0E3D}" type="slidenum">
              <a:rPr lang="zh-CN" altLang="en-US" smtClean="0"/>
              <a:t>37</a:t>
            </a:fld>
            <a:endParaRPr lang="zh-CN" altLang="en-US"/>
          </a:p>
        </p:txBody>
      </p:sp>
    </p:spTree>
    <p:extLst>
      <p:ext uri="{BB962C8B-B14F-4D97-AF65-F5344CB8AC3E}">
        <p14:creationId xmlns:p14="http://schemas.microsoft.com/office/powerpoint/2010/main" val="955633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F1C8F5-2B78-4A52-9B27-C380A39B0E3D}" type="slidenum">
              <a:rPr lang="zh-CN" altLang="en-US" smtClean="0"/>
              <a:t>38</a:t>
            </a:fld>
            <a:endParaRPr lang="zh-CN" altLang="en-US"/>
          </a:p>
        </p:txBody>
      </p:sp>
    </p:spTree>
    <p:extLst>
      <p:ext uri="{BB962C8B-B14F-4D97-AF65-F5344CB8AC3E}">
        <p14:creationId xmlns:p14="http://schemas.microsoft.com/office/powerpoint/2010/main" val="1796244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F1C8F5-2B78-4A52-9B27-C380A39B0E3D}" type="slidenum">
              <a:rPr lang="zh-CN" altLang="en-US" smtClean="0"/>
              <a:t>39</a:t>
            </a:fld>
            <a:endParaRPr lang="zh-CN" altLang="en-US"/>
          </a:p>
        </p:txBody>
      </p:sp>
    </p:spTree>
    <p:extLst>
      <p:ext uri="{BB962C8B-B14F-4D97-AF65-F5344CB8AC3E}">
        <p14:creationId xmlns:p14="http://schemas.microsoft.com/office/powerpoint/2010/main" val="906848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smtClean="0">
                <a:solidFill>
                  <a:schemeClr val="tx1"/>
                </a:solidFill>
                <a:effectLst/>
                <a:latin typeface="+mn-lt"/>
                <a:ea typeface="+mn-ea"/>
                <a:cs typeface="+mn-cs"/>
              </a:rPr>
              <a:t>古时有三个秀才同时进京赶考，路上偶遇一算命活神仙，这三个秀才就问起前程来，活神仙举起一根手指头，算是结果，并说是天机不可泄漏，自己理解去。秀才离去后，边上的人问活神仙，一根手指头是何意？活神仙笑而不答，一人回答说：这个“一”有很多种理解方式：一个考上了，就是一嘛；二个考上了就是一个没考上嘛；三个都考上了就是一起都考上了嘛，要是都没有考上就是一个都没考上。不知活神仙说的是哪一种？</a:t>
            </a:r>
          </a:p>
          <a:p>
            <a:r>
              <a:rPr lang="zh-CN" altLang="en-US" sz="1200" b="0" i="0" u="none" strike="noStrike" kern="1200" dirty="0" smtClean="0">
                <a:solidFill>
                  <a:schemeClr val="tx1"/>
                </a:solidFill>
                <a:effectLst/>
                <a:latin typeface="+mn-lt"/>
                <a:ea typeface="+mn-ea"/>
                <a:cs typeface="+mn-cs"/>
              </a:rPr>
              <a:t>正如一个手指头可以代表很多种含义，出了 “一个手指头”沟通中的隐喻无处不在，而很多时候我们并不能真正理解其背后的含义。比如在产品开发的过程中，我们的客户提需求的时候，往往就像上面的活神仙一样伸出了一个手指头，然后市场向研发伸出了一个手指头，开发人员在看了这个手指头后，根据自己的理解，开发所代表的需求，而这个需求的目的和范围往往和客户的真实需求相去甚远。有可能客户要头牛，你却给了一只羊，结果后面不得不再次开发；也有可能客户要辆自行车，你却给了一台奔驰车，结果白白浪费了研发人力。现实生活中的沟通隐喻无处不在，对沟通隐喻的理解依赖于一个团队共同体验的多少，改善沟通隐喻的方法就是使用更合理的沟通途径。</a:t>
            </a:r>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40</a:t>
            </a:fld>
            <a:endParaRPr lang="zh-CN" altLang="en-US"/>
          </a:p>
        </p:txBody>
      </p:sp>
    </p:spTree>
    <p:extLst>
      <p:ext uri="{BB962C8B-B14F-4D97-AF65-F5344CB8AC3E}">
        <p14:creationId xmlns:p14="http://schemas.microsoft.com/office/powerpoint/2010/main" val="1796766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smtClean="0">
                <a:solidFill>
                  <a:schemeClr val="tx1"/>
                </a:solidFill>
                <a:effectLst/>
                <a:latin typeface="+mn-lt"/>
                <a:ea typeface="+mn-ea"/>
                <a:cs typeface="+mn-cs"/>
              </a:rPr>
              <a:t>理解瀑布模型：</a:t>
            </a:r>
            <a:endParaRPr lang="en-US" altLang="zh-CN" sz="1200" b="0" i="0" u="none" strike="noStrike" kern="1200" dirty="0" smtClean="0">
              <a:solidFill>
                <a:schemeClr val="tx1"/>
              </a:solidFill>
              <a:effectLst/>
              <a:latin typeface="+mn-lt"/>
              <a:ea typeface="+mn-ea"/>
              <a:cs typeface="+mn-cs"/>
            </a:endParaRPr>
          </a:p>
          <a:p>
            <a:r>
              <a:rPr lang="en-US" altLang="zh-CN" sz="1200" b="0" i="0" u="none" strike="noStrike" kern="1200" dirty="0" smtClean="0">
                <a:solidFill>
                  <a:schemeClr val="tx1"/>
                </a:solidFill>
                <a:effectLst/>
                <a:latin typeface="+mn-lt"/>
                <a:ea typeface="+mn-ea"/>
                <a:cs typeface="+mn-cs"/>
              </a:rPr>
              <a:t>1</a:t>
            </a:r>
            <a:r>
              <a:rPr lang="zh-CN" altLang="en-US" sz="1200" b="0" i="0" u="none" strike="noStrike" kern="1200" dirty="0" smtClean="0">
                <a:solidFill>
                  <a:schemeClr val="tx1"/>
                </a:solidFill>
                <a:effectLst/>
                <a:latin typeface="+mn-lt"/>
                <a:ea typeface="+mn-ea"/>
                <a:cs typeface="+mn-cs"/>
              </a:rPr>
              <a:t>、生命周期自身规律的体现</a:t>
            </a:r>
            <a:endParaRPr lang="en-US" altLang="zh-CN" sz="1200" b="0" i="0" u="none" strike="noStrike" kern="1200" dirty="0" smtClean="0">
              <a:solidFill>
                <a:schemeClr val="tx1"/>
              </a:solidFill>
              <a:effectLst/>
              <a:latin typeface="+mn-lt"/>
              <a:ea typeface="+mn-ea"/>
              <a:cs typeface="+mn-cs"/>
            </a:endParaRPr>
          </a:p>
          <a:p>
            <a:r>
              <a:rPr lang="en-US" altLang="zh-CN" sz="1200" b="0" i="0" u="none" strike="noStrike" kern="1200" dirty="0" smtClean="0">
                <a:solidFill>
                  <a:schemeClr val="tx1"/>
                </a:solidFill>
                <a:effectLst/>
                <a:latin typeface="+mn-lt"/>
                <a:ea typeface="+mn-ea"/>
                <a:cs typeface="+mn-cs"/>
              </a:rPr>
              <a:t>2</a:t>
            </a:r>
            <a:r>
              <a:rPr lang="zh-CN" altLang="en-US" sz="1200" b="0" i="0" u="none" strike="noStrike" kern="1200" dirty="0" smtClean="0">
                <a:solidFill>
                  <a:schemeClr val="tx1"/>
                </a:solidFill>
                <a:effectLst/>
                <a:latin typeface="+mn-lt"/>
                <a:ea typeface="+mn-ea"/>
                <a:cs typeface="+mn-cs"/>
              </a:rPr>
              <a:t>、更重要的是：文档驱动、推迟实现。看似严格把关、提高质量，其实在客观上与软件变化的特性不符。</a:t>
            </a:r>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42</a:t>
            </a:fld>
            <a:endParaRPr lang="zh-CN" altLang="en-US"/>
          </a:p>
        </p:txBody>
      </p:sp>
    </p:spTree>
    <p:extLst>
      <p:ext uri="{BB962C8B-B14F-4D97-AF65-F5344CB8AC3E}">
        <p14:creationId xmlns:p14="http://schemas.microsoft.com/office/powerpoint/2010/main" val="3280786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Scrum</a:t>
            </a:r>
            <a:r>
              <a:rPr lang="zh-CN" altLang="en-US" sz="1200" b="0" i="0" u="none" strike="noStrike" kern="1200" dirty="0" smtClean="0">
                <a:solidFill>
                  <a:schemeClr val="tx1"/>
                </a:solidFill>
                <a:effectLst/>
                <a:latin typeface="+mn-lt"/>
                <a:ea typeface="+mn-ea"/>
                <a:cs typeface="+mn-cs"/>
              </a:rPr>
              <a:t>的英文意思是橄榄球运动的一个专业术语，表示“争球”的动作；把一个开发流程的名字取名为</a:t>
            </a:r>
            <a:r>
              <a:rPr lang="en-US" altLang="zh-CN" sz="1200" b="0" i="0" u="none" strike="noStrike" kern="1200" dirty="0" smtClean="0">
                <a:solidFill>
                  <a:schemeClr val="tx1"/>
                </a:solidFill>
                <a:effectLst/>
                <a:latin typeface="+mn-lt"/>
                <a:ea typeface="+mn-ea"/>
                <a:cs typeface="+mn-cs"/>
              </a:rPr>
              <a:t>Scrum</a:t>
            </a:r>
            <a:r>
              <a:rPr lang="zh-CN" altLang="en-US" sz="1200" b="0" i="0" u="none" strike="noStrike" kern="1200" dirty="0" smtClean="0">
                <a:solidFill>
                  <a:schemeClr val="tx1"/>
                </a:solidFill>
                <a:effectLst/>
                <a:latin typeface="+mn-lt"/>
                <a:ea typeface="+mn-ea"/>
                <a:cs typeface="+mn-cs"/>
              </a:rPr>
              <a:t>，我想你一定能想象出你的开发团队在开发一个项目时，大家像打橄榄球一样迅速、富有战斗激情、人人你争我抢地完成它，你一定会感到非常兴奋的。</a:t>
            </a:r>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44</a:t>
            </a:fld>
            <a:endParaRPr lang="zh-CN" altLang="en-US"/>
          </a:p>
        </p:txBody>
      </p:sp>
    </p:spTree>
    <p:extLst>
      <p:ext uri="{BB962C8B-B14F-4D97-AF65-F5344CB8AC3E}">
        <p14:creationId xmlns:p14="http://schemas.microsoft.com/office/powerpoint/2010/main" val="3921523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Sprint</a:t>
            </a:r>
            <a:r>
              <a:rPr lang="zh-CN" altLang="en-US" sz="1200" b="0" i="0" u="none" strike="noStrike" kern="1200" dirty="0" smtClean="0">
                <a:solidFill>
                  <a:schemeClr val="tx1"/>
                </a:solidFill>
                <a:effectLst/>
                <a:latin typeface="+mn-lt"/>
                <a:ea typeface="+mn-ea"/>
                <a:cs typeface="+mn-cs"/>
              </a:rPr>
              <a:t>指</a:t>
            </a:r>
            <a:r>
              <a:rPr lang="en-US" altLang="zh-CN" sz="1200" b="0" i="0" u="none" strike="noStrike" kern="1200" dirty="0" smtClean="0">
                <a:solidFill>
                  <a:schemeClr val="tx1"/>
                </a:solidFill>
                <a:effectLst/>
                <a:latin typeface="+mn-lt"/>
                <a:ea typeface="+mn-ea"/>
                <a:cs typeface="+mn-cs"/>
              </a:rPr>
              <a:t>Scrum</a:t>
            </a:r>
            <a:r>
              <a:rPr lang="zh-CN" altLang="en-US" sz="1200" b="0" i="0" u="none" strike="noStrike" kern="1200" dirty="0" smtClean="0">
                <a:solidFill>
                  <a:schemeClr val="tx1"/>
                </a:solidFill>
                <a:effectLst/>
                <a:latin typeface="+mn-lt"/>
                <a:ea typeface="+mn-ea"/>
                <a:cs typeface="+mn-cs"/>
              </a:rPr>
              <a:t>团队完成一定数量工作所需的短暂、固定的周期。</a:t>
            </a:r>
            <a:r>
              <a:rPr lang="en-US" altLang="zh-CN" sz="1200" b="0" i="0" u="none" strike="noStrike" kern="1200" dirty="0" smtClean="0">
                <a:solidFill>
                  <a:schemeClr val="tx1"/>
                </a:solidFill>
                <a:effectLst/>
                <a:latin typeface="+mn-lt"/>
                <a:ea typeface="+mn-ea"/>
                <a:cs typeface="+mn-cs"/>
              </a:rPr>
              <a:t>Sprint</a:t>
            </a:r>
            <a:r>
              <a:rPr lang="zh-CN" altLang="en-US" sz="1200" b="0" i="0" u="none" strike="noStrike" kern="1200" dirty="0" smtClean="0">
                <a:solidFill>
                  <a:schemeClr val="tx1"/>
                </a:solidFill>
                <a:effectLst/>
                <a:latin typeface="+mn-lt"/>
                <a:ea typeface="+mn-ea"/>
                <a:cs typeface="+mn-cs"/>
              </a:rPr>
              <a:t>是</a:t>
            </a:r>
            <a:r>
              <a:rPr lang="en-US" altLang="zh-CN" sz="1200" b="0" i="0" u="none" strike="noStrike" kern="1200" dirty="0" smtClean="0">
                <a:solidFill>
                  <a:schemeClr val="tx1"/>
                </a:solidFill>
                <a:effectLst/>
                <a:latin typeface="+mn-lt"/>
                <a:ea typeface="+mn-ea"/>
                <a:cs typeface="+mn-cs"/>
              </a:rPr>
              <a:t>Scrum</a:t>
            </a:r>
            <a:r>
              <a:rPr lang="zh-CN" altLang="en-US" sz="1200" b="0" i="0" u="none" strike="noStrike" kern="1200" dirty="0" smtClean="0">
                <a:solidFill>
                  <a:schemeClr val="tx1"/>
                </a:solidFill>
                <a:effectLst/>
                <a:latin typeface="+mn-lt"/>
                <a:ea typeface="+mn-ea"/>
                <a:cs typeface="+mn-cs"/>
              </a:rPr>
              <a:t>和敏捷的核心，找到正确的</a:t>
            </a:r>
            <a:r>
              <a:rPr lang="en-US" altLang="zh-CN" sz="1200" b="0" i="0" u="none" strike="noStrike" kern="1200" dirty="0" smtClean="0">
                <a:solidFill>
                  <a:schemeClr val="tx1"/>
                </a:solidFill>
                <a:effectLst/>
                <a:latin typeface="+mn-lt"/>
                <a:ea typeface="+mn-ea"/>
                <a:cs typeface="+mn-cs"/>
              </a:rPr>
              <a:t>Sprint</a:t>
            </a:r>
            <a:r>
              <a:rPr lang="zh-CN" altLang="en-US" sz="1200" b="0" i="0" u="none" strike="noStrike" kern="1200" dirty="0" smtClean="0">
                <a:solidFill>
                  <a:schemeClr val="tx1"/>
                </a:solidFill>
                <a:effectLst/>
                <a:latin typeface="+mn-lt"/>
                <a:ea typeface="+mn-ea"/>
                <a:cs typeface="+mn-cs"/>
              </a:rPr>
              <a:t>周期将帮助您的敏捷团队交付更高质量的产品。“在</a:t>
            </a:r>
            <a:r>
              <a:rPr lang="en-US" altLang="zh-CN" sz="1200" b="0" i="0" u="none" strike="noStrike" kern="1200" dirty="0" smtClean="0">
                <a:solidFill>
                  <a:schemeClr val="tx1"/>
                </a:solidFill>
                <a:effectLst/>
                <a:latin typeface="+mn-lt"/>
                <a:ea typeface="+mn-ea"/>
                <a:cs typeface="+mn-cs"/>
              </a:rPr>
              <a:t>Scrum</a:t>
            </a:r>
            <a:r>
              <a:rPr lang="zh-CN" altLang="en-US" sz="1200" b="0" i="0" u="none" strike="noStrike" kern="1200" dirty="0" smtClean="0">
                <a:solidFill>
                  <a:schemeClr val="tx1"/>
                </a:solidFill>
                <a:effectLst/>
                <a:latin typeface="+mn-lt"/>
                <a:ea typeface="+mn-ea"/>
                <a:cs typeface="+mn-cs"/>
              </a:rPr>
              <a:t>框架中，庞大且复杂的产品将被拆分成一个个小的片段，通过一系列被称为“</a:t>
            </a:r>
            <a:r>
              <a:rPr lang="en-US" altLang="zh-CN" sz="1200" b="0" i="0" u="none" strike="noStrike" kern="1200" dirty="0" smtClean="0">
                <a:solidFill>
                  <a:schemeClr val="tx1"/>
                </a:solidFill>
                <a:effectLst/>
                <a:latin typeface="+mn-lt"/>
                <a:ea typeface="+mn-ea"/>
                <a:cs typeface="+mn-cs"/>
              </a:rPr>
              <a:t>Sprint”</a:t>
            </a:r>
            <a:r>
              <a:rPr lang="zh-CN" altLang="en-US" sz="1200" b="0" i="0" u="none" strike="noStrike" kern="1200" dirty="0" smtClean="0">
                <a:solidFill>
                  <a:schemeClr val="tx1"/>
                </a:solidFill>
                <a:effectLst/>
                <a:latin typeface="+mn-lt"/>
                <a:ea typeface="+mn-ea"/>
                <a:cs typeface="+mn-cs"/>
              </a:rPr>
              <a:t>的迭代来完成。”</a:t>
            </a:r>
          </a:p>
          <a:p>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45</a:t>
            </a:fld>
            <a:endParaRPr lang="zh-CN" altLang="en-US"/>
          </a:p>
        </p:txBody>
      </p:sp>
    </p:spTree>
    <p:extLst>
      <p:ext uri="{BB962C8B-B14F-4D97-AF65-F5344CB8AC3E}">
        <p14:creationId xmlns:p14="http://schemas.microsoft.com/office/powerpoint/2010/main" val="2702798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46</a:t>
            </a:fld>
            <a:endParaRPr lang="zh-CN" altLang="en-US"/>
          </a:p>
        </p:txBody>
      </p:sp>
    </p:spTree>
    <p:extLst>
      <p:ext uri="{BB962C8B-B14F-4D97-AF65-F5344CB8AC3E}">
        <p14:creationId xmlns:p14="http://schemas.microsoft.com/office/powerpoint/2010/main" val="327393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47</a:t>
            </a:fld>
            <a:endParaRPr lang="zh-CN" altLang="en-US"/>
          </a:p>
        </p:txBody>
      </p:sp>
    </p:spTree>
    <p:extLst>
      <p:ext uri="{BB962C8B-B14F-4D97-AF65-F5344CB8AC3E}">
        <p14:creationId xmlns:p14="http://schemas.microsoft.com/office/powerpoint/2010/main" val="3554277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48</a:t>
            </a:fld>
            <a:endParaRPr lang="zh-CN" altLang="en-US"/>
          </a:p>
        </p:txBody>
      </p:sp>
    </p:spTree>
    <p:extLst>
      <p:ext uri="{BB962C8B-B14F-4D97-AF65-F5344CB8AC3E}">
        <p14:creationId xmlns:p14="http://schemas.microsoft.com/office/powerpoint/2010/main" val="17146260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https://blog.csdn.net/ympzuelx3aiap7q/article/details/79395255</a:t>
            </a:r>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50</a:t>
            </a:fld>
            <a:endParaRPr lang="zh-CN" altLang="en-US"/>
          </a:p>
        </p:txBody>
      </p:sp>
    </p:spTree>
    <p:extLst>
      <p:ext uri="{BB962C8B-B14F-4D97-AF65-F5344CB8AC3E}">
        <p14:creationId xmlns:p14="http://schemas.microsoft.com/office/powerpoint/2010/main" val="2453663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https://blog.csdn.net/ympzuelx3aiap7q/article/details/79395255</a:t>
            </a:r>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51</a:t>
            </a:fld>
            <a:endParaRPr lang="zh-CN" altLang="en-US"/>
          </a:p>
        </p:txBody>
      </p:sp>
    </p:spTree>
    <p:extLst>
      <p:ext uri="{BB962C8B-B14F-4D97-AF65-F5344CB8AC3E}">
        <p14:creationId xmlns:p14="http://schemas.microsoft.com/office/powerpoint/2010/main" val="26994637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https://blog.csdn.net/ympzuelx3aiap7q/article/details/79395255</a:t>
            </a:r>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52</a:t>
            </a:fld>
            <a:endParaRPr lang="zh-CN" altLang="en-US"/>
          </a:p>
        </p:txBody>
      </p:sp>
    </p:spTree>
    <p:extLst>
      <p:ext uri="{BB962C8B-B14F-4D97-AF65-F5344CB8AC3E}">
        <p14:creationId xmlns:p14="http://schemas.microsoft.com/office/powerpoint/2010/main" val="1338352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https://blog.csdn.net/ympzuelx3aiap7q/article/details/79395255</a:t>
            </a:r>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53</a:t>
            </a:fld>
            <a:endParaRPr lang="zh-CN" altLang="en-US"/>
          </a:p>
        </p:txBody>
      </p:sp>
    </p:spTree>
    <p:extLst>
      <p:ext uri="{BB962C8B-B14F-4D97-AF65-F5344CB8AC3E}">
        <p14:creationId xmlns:p14="http://schemas.microsoft.com/office/powerpoint/2010/main" val="2315823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https://blog.csdn.net/ympzuelx3aiap7q/article/details/79395255</a:t>
            </a:r>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54</a:t>
            </a:fld>
            <a:endParaRPr lang="zh-CN" altLang="en-US"/>
          </a:p>
        </p:txBody>
      </p:sp>
    </p:spTree>
    <p:extLst>
      <p:ext uri="{BB962C8B-B14F-4D97-AF65-F5344CB8AC3E}">
        <p14:creationId xmlns:p14="http://schemas.microsoft.com/office/powerpoint/2010/main" val="2000861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smtClean="0">
                <a:solidFill>
                  <a:schemeClr val="tx1"/>
                </a:solidFill>
                <a:effectLst/>
                <a:latin typeface="+mn-lt"/>
                <a:ea typeface="+mn-ea"/>
                <a:cs typeface="+mn-cs"/>
              </a:rPr>
              <a:t>曾有一个比较大的开发项目，由超过两百名跨国软件工程师团队一同完成。按照当时的敏捷流程，产品构架设计每一次更新都会发给所有的工程师做</a:t>
            </a:r>
            <a:r>
              <a:rPr lang="en-US" altLang="zh-CN" sz="1200" b="0" i="0" u="none" strike="noStrike" kern="1200" dirty="0" smtClean="0">
                <a:solidFill>
                  <a:schemeClr val="tx1"/>
                </a:solidFill>
                <a:effectLst/>
                <a:latin typeface="+mn-lt"/>
                <a:ea typeface="+mn-ea"/>
                <a:cs typeface="+mn-cs"/>
              </a:rPr>
              <a:t>review</a:t>
            </a:r>
            <a:r>
              <a:rPr lang="zh-CN" altLang="en-US" sz="1200" b="0" i="0" u="none" strike="noStrike" kern="1200" dirty="0" smtClean="0">
                <a:solidFill>
                  <a:schemeClr val="tx1"/>
                </a:solidFill>
                <a:effectLst/>
                <a:latin typeface="+mn-lt"/>
                <a:ea typeface="+mn-ea"/>
                <a:cs typeface="+mn-cs"/>
              </a:rPr>
              <a:t>，以让所有工程师了解产品全局的需求和构架设计。有一次的关键构架设计书发出后，一位普通工程师指出了其中一个重要的构架漏洞，而当时所有的技术专家对这个漏洞都无法提出快速有效的解决方案。眼看</a:t>
            </a:r>
            <a:r>
              <a:rPr lang="en-US" altLang="zh-CN" sz="1200" b="0" i="0" u="none" strike="noStrike" kern="1200" dirty="0" smtClean="0">
                <a:solidFill>
                  <a:schemeClr val="tx1"/>
                </a:solidFill>
                <a:effectLst/>
                <a:latin typeface="+mn-lt"/>
                <a:ea typeface="+mn-ea"/>
                <a:cs typeface="+mn-cs"/>
              </a:rPr>
              <a:t>milestone</a:t>
            </a:r>
            <a:r>
              <a:rPr lang="zh-CN" altLang="en-US" sz="1200" b="0" i="0" u="none" strike="noStrike" kern="1200" dirty="0" smtClean="0">
                <a:solidFill>
                  <a:schemeClr val="tx1"/>
                </a:solidFill>
                <a:effectLst/>
                <a:latin typeface="+mn-lt"/>
                <a:ea typeface="+mn-ea"/>
                <a:cs typeface="+mn-cs"/>
              </a:rPr>
              <a:t>就要被推迟，最后还是这位并不在该领域工作的普通工程师通过自己的研究给出了解决方案。</a:t>
            </a:r>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55</a:t>
            </a:fld>
            <a:endParaRPr lang="zh-CN" altLang="en-US"/>
          </a:p>
        </p:txBody>
      </p:sp>
    </p:spTree>
    <p:extLst>
      <p:ext uri="{BB962C8B-B14F-4D97-AF65-F5344CB8AC3E}">
        <p14:creationId xmlns:p14="http://schemas.microsoft.com/office/powerpoint/2010/main" val="38749630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9F1C8F5-2B78-4A52-9B27-C380A39B0E3D}" type="slidenum">
              <a:rPr lang="zh-CN" altLang="en-US" smtClean="0"/>
              <a:t>56</a:t>
            </a:fld>
            <a:endParaRPr lang="zh-CN" altLang="en-US"/>
          </a:p>
        </p:txBody>
      </p:sp>
    </p:spTree>
    <p:extLst>
      <p:ext uri="{BB962C8B-B14F-4D97-AF65-F5344CB8AC3E}">
        <p14:creationId xmlns:p14="http://schemas.microsoft.com/office/powerpoint/2010/main" val="152428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225713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1210360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1929761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4047912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747011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2809176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406899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803920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2364390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795505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126703-6928-4FCA-938E-E3D0F0D5D1EE}" type="datetimeFigureOut">
              <a:rPr lang="zh-CN" altLang="en-US" smtClean="0"/>
              <a:t>2021/6/17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1686360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126703-6928-4FCA-938E-E3D0F0D5D1EE}" type="datetimeFigureOut">
              <a:rPr lang="zh-CN" altLang="en-US" smtClean="0"/>
              <a:t>2021/6/17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22A41E-8EEA-4806-A161-29593D5AEFF6}" type="slidenum">
              <a:rPr lang="zh-CN" altLang="en-US" smtClean="0"/>
              <a:t>‹#›</a:t>
            </a:fld>
            <a:endParaRPr lang="zh-CN" altLang="en-US"/>
          </a:p>
        </p:txBody>
      </p:sp>
    </p:spTree>
    <p:extLst>
      <p:ext uri="{BB962C8B-B14F-4D97-AF65-F5344CB8AC3E}">
        <p14:creationId xmlns:p14="http://schemas.microsoft.com/office/powerpoint/2010/main" val="3080845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6600" b="1" dirty="0" smtClean="0">
                <a:solidFill>
                  <a:srgbClr val="FFFF00"/>
                </a:solidFill>
              </a:rPr>
              <a:t>敏捷过程</a:t>
            </a:r>
            <a:endParaRPr lang="zh-CN" altLang="en-US" sz="6600" b="1" dirty="0">
              <a:solidFill>
                <a:srgbClr val="FFFF00"/>
              </a:solidFill>
            </a:endParaRPr>
          </a:p>
        </p:txBody>
      </p:sp>
      <p:sp>
        <p:nvSpPr>
          <p:cNvPr id="3" name="副标题 2"/>
          <p:cNvSpPr>
            <a:spLocks noGrp="1"/>
          </p:cNvSpPr>
          <p:nvPr>
            <p:ph type="subTitle" idx="1"/>
          </p:nvPr>
        </p:nvSpPr>
        <p:spPr/>
        <p:txBody>
          <a:bodyPr>
            <a:normAutofit/>
          </a:bodyPr>
          <a:lstStyle/>
          <a:p>
            <a:r>
              <a:rPr lang="zh-CN" altLang="en-US" sz="2800" b="1" dirty="0" smtClean="0">
                <a:solidFill>
                  <a:schemeClr val="bg1"/>
                </a:solidFill>
              </a:rPr>
              <a:t>张弛</a:t>
            </a:r>
            <a:endParaRPr lang="zh-CN" altLang="en-US" sz="2800" b="1" dirty="0">
              <a:solidFill>
                <a:schemeClr val="bg1"/>
              </a:solidFill>
            </a:endParaRPr>
          </a:p>
        </p:txBody>
      </p:sp>
    </p:spTree>
    <p:extLst>
      <p:ext uri="{BB962C8B-B14F-4D97-AF65-F5344CB8AC3E}">
        <p14:creationId xmlns:p14="http://schemas.microsoft.com/office/powerpoint/2010/main" val="379270779"/>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smtClean="0"/>
              <a:t>内容目录</a:t>
            </a:r>
            <a:endParaRPr lang="zh-CN" altLang="en-US" sz="4000" b="1" dirty="0"/>
          </a:p>
        </p:txBody>
      </p:sp>
      <p:sp>
        <p:nvSpPr>
          <p:cNvPr id="3" name="内容占位符 2"/>
          <p:cNvSpPr>
            <a:spLocks noGrp="1"/>
          </p:cNvSpPr>
          <p:nvPr>
            <p:ph idx="1"/>
          </p:nvPr>
        </p:nvSpPr>
        <p:spPr>
          <a:xfrm>
            <a:off x="838198" y="1825624"/>
            <a:ext cx="10515602" cy="4464339"/>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solidFill>
                  <a:srgbClr val="C00000"/>
                </a:solidFill>
                <a:latin typeface="等线" panose="02010600030101010101" pitchFamily="2" charset="-122"/>
                <a:ea typeface="等线" panose="02010600030101010101" pitchFamily="2" charset="-122"/>
              </a:rPr>
              <a:t>一、敏捷过程定义及敏捷建模</a:t>
            </a:r>
            <a:endParaRPr lang="en-US" altLang="zh-CN" dirty="0" smtClean="0">
              <a:solidFill>
                <a:srgbClr val="C00000"/>
              </a:solidFill>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定义及产生</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建模原则</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核心实践</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建模误区</a:t>
            </a:r>
            <a:endParaRPr lang="en-US" altLang="zh-CN" dirty="0" smtClean="0">
              <a:latin typeface="等线" panose="02010600030101010101" pitchFamily="2" charset="-122"/>
              <a:ea typeface="等线" panose="02010600030101010101" pitchFamily="2" charset="-122"/>
            </a:endParaRPr>
          </a:p>
          <a:p>
            <a:pPr>
              <a:lnSpc>
                <a:spcPct val="100000"/>
              </a:lnSpc>
              <a:spcBef>
                <a:spcPts val="600"/>
              </a:spcBef>
            </a:pPr>
            <a:r>
              <a:rPr lang="zh-CN" altLang="en-US" dirty="0" smtClean="0">
                <a:latin typeface="等线" panose="02010600030101010101" pitchFamily="2" charset="-122"/>
                <a:ea typeface="等线" panose="02010600030101010101" pitchFamily="2" charset="-122"/>
              </a:rPr>
              <a:t>二、为什么选择敏捷过程</a:t>
            </a:r>
            <a:endParaRPr lang="en-US" altLang="zh-CN" dirty="0" smtClean="0">
              <a:latin typeface="等线" panose="02010600030101010101" pitchFamily="2" charset="-122"/>
              <a:ea typeface="等线" panose="02010600030101010101" pitchFamily="2" charset="-122"/>
            </a:endParaRPr>
          </a:p>
          <a:p>
            <a:pPr>
              <a:lnSpc>
                <a:spcPct val="100000"/>
              </a:lnSpc>
              <a:spcBef>
                <a:spcPts val="600"/>
              </a:spcBef>
            </a:pPr>
            <a:r>
              <a:rPr lang="zh-CN" altLang="en-US" dirty="0" smtClean="0">
                <a:latin typeface="等线" panose="02010600030101010101" pitchFamily="2" charset="-122"/>
                <a:ea typeface="等线" panose="02010600030101010101" pitchFamily="2" charset="-122"/>
              </a:rPr>
              <a:t>三、</a:t>
            </a:r>
            <a:r>
              <a:rPr lang="en-US" altLang="zh-CN" dirty="0" smtClean="0">
                <a:latin typeface="等线" panose="02010600030101010101" pitchFamily="2" charset="-122"/>
                <a:ea typeface="等线" panose="02010600030101010101" pitchFamily="2" charset="-122"/>
              </a:rPr>
              <a:t>Scrum</a:t>
            </a:r>
          </a:p>
          <a:p>
            <a:pPr>
              <a:lnSpc>
                <a:spcPct val="100000"/>
              </a:lnSpc>
              <a:spcBef>
                <a:spcPts val="600"/>
              </a:spcBef>
            </a:pPr>
            <a:r>
              <a:rPr lang="zh-CN" altLang="en-US" dirty="0" smtClean="0">
                <a:latin typeface="等线" panose="02010600030101010101" pitchFamily="2" charset="-122"/>
                <a:ea typeface="等线" panose="02010600030101010101" pitchFamily="2" charset="-122"/>
              </a:rPr>
              <a:t>四、敏捷落地中国难？</a:t>
            </a:r>
            <a:endParaRPr lang="zh-CN" altLang="en-US" dirty="0">
              <a:latin typeface="等线" panose="02010600030101010101" pitchFamily="2" charset="-122"/>
              <a:ea typeface="等线" panose="02010600030101010101" pitchFamily="2" charset="-122"/>
            </a:endParaRPr>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475294257"/>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1. </a:t>
            </a:r>
            <a:r>
              <a:rPr lang="zh-CN" altLang="en-US" sz="4000" b="1" dirty="0"/>
              <a:t>定义</a:t>
            </a:r>
          </a:p>
        </p:txBody>
      </p:sp>
      <p:sp>
        <p:nvSpPr>
          <p:cNvPr id="3" name="内容占位符 2"/>
          <p:cNvSpPr>
            <a:spLocks noGrp="1"/>
          </p:cNvSpPr>
          <p:nvPr>
            <p:ph idx="1"/>
          </p:nvPr>
        </p:nvSpPr>
        <p:spPr>
          <a:xfrm>
            <a:off x="838198" y="1825624"/>
            <a:ext cx="10515602" cy="4464339"/>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a:t>敏捷</a:t>
            </a:r>
            <a:r>
              <a:rPr lang="zh-CN" altLang="en-US" dirty="0" smtClean="0"/>
              <a:t>开发（</a:t>
            </a:r>
            <a:r>
              <a:rPr lang="en-US" altLang="zh-CN" dirty="0" smtClean="0"/>
              <a:t>Agile Development</a:t>
            </a:r>
            <a:r>
              <a:rPr lang="zh-CN" altLang="en-US" dirty="0" smtClean="0"/>
              <a:t>）以</a:t>
            </a:r>
            <a:r>
              <a:rPr lang="zh-CN" altLang="en-US" dirty="0"/>
              <a:t>用户的需求进化为</a:t>
            </a:r>
            <a:r>
              <a:rPr lang="zh-CN" altLang="en-US" dirty="0">
                <a:solidFill>
                  <a:srgbClr val="C00000"/>
                </a:solidFill>
              </a:rPr>
              <a:t>核心</a:t>
            </a:r>
            <a:r>
              <a:rPr lang="zh-CN" altLang="en-US" dirty="0"/>
              <a:t>，采用迭代、循序渐进的</a:t>
            </a:r>
            <a:r>
              <a:rPr lang="zh-CN" altLang="en-US" dirty="0">
                <a:solidFill>
                  <a:srgbClr val="C00000"/>
                </a:solidFill>
              </a:rPr>
              <a:t>方法</a:t>
            </a:r>
            <a:r>
              <a:rPr lang="zh-CN" altLang="en-US" dirty="0"/>
              <a:t>进行</a:t>
            </a:r>
            <a:r>
              <a:rPr lang="zh-CN" altLang="en-US" dirty="0" smtClean="0"/>
              <a:t>软件开发，注重人与人之间的面对面交流。</a:t>
            </a:r>
            <a:endParaRPr lang="en-US" altLang="zh-CN" dirty="0" smtClean="0"/>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在</a:t>
            </a:r>
            <a:r>
              <a:rPr lang="zh-CN" altLang="en-US" dirty="0">
                <a:latin typeface="等线" panose="02010600030101010101" pitchFamily="2" charset="-122"/>
                <a:ea typeface="等线" panose="02010600030101010101" pitchFamily="2" charset="-122"/>
              </a:rPr>
              <a:t>构建</a:t>
            </a:r>
            <a:r>
              <a:rPr lang="zh-CN" altLang="en-US" dirty="0">
                <a:latin typeface="等线" panose="02010600030101010101" pitchFamily="2" charset="-122"/>
              </a:rPr>
              <a:t>初期，把软件项目切分</a:t>
            </a:r>
            <a:r>
              <a:rPr lang="zh-CN" altLang="en-US" dirty="0">
                <a:latin typeface="等线" panose="02010600030101010101" pitchFamily="2" charset="-122"/>
                <a:ea typeface="等线" panose="02010600030101010101" pitchFamily="2" charset="-122"/>
              </a:rPr>
              <a:t>成多个子项目，各个子项目的成果都经过测试，具备可视、可集成和可运行使用的特征</a:t>
            </a:r>
            <a:r>
              <a:rPr lang="zh-CN" altLang="en-US" dirty="0" smtClean="0">
                <a:latin typeface="等线" panose="02010600030101010101" pitchFamily="2" charset="-122"/>
                <a:ea typeface="等线" panose="02010600030101010101" pitchFamily="2" charset="-122"/>
              </a:rPr>
              <a:t>。</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a:t>就是把一个大项目分为多个相互联系，但也可独立运行的小项目，并分别完成，在此过程中软件一直处于可使用状态</a:t>
            </a:r>
            <a:r>
              <a:rPr lang="zh-CN" altLang="en-US" dirty="0" smtClean="0"/>
              <a:t>。</a:t>
            </a:r>
            <a:endParaRPr lang="zh-CN" altLang="en-US" dirty="0">
              <a:latin typeface="等线" panose="02010600030101010101" pitchFamily="2" charset="-122"/>
              <a:ea typeface="等线" panose="02010600030101010101" pitchFamily="2" charset="-122"/>
            </a:endParaRPr>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3024583347"/>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2</a:t>
            </a:r>
            <a:r>
              <a:rPr lang="en-US" altLang="zh-CN" sz="4000" b="1" dirty="0" smtClean="0"/>
              <a:t>. </a:t>
            </a:r>
            <a:r>
              <a:rPr lang="zh-CN" altLang="en-US" sz="4000" b="1" dirty="0" smtClean="0"/>
              <a:t>产生</a:t>
            </a:r>
            <a:endParaRPr lang="zh-CN" altLang="en-US" sz="4000" b="1" dirty="0"/>
          </a:p>
        </p:txBody>
      </p:sp>
      <p:sp>
        <p:nvSpPr>
          <p:cNvPr id="3" name="内容占位符 2"/>
          <p:cNvSpPr>
            <a:spLocks noGrp="1"/>
          </p:cNvSpPr>
          <p:nvPr>
            <p:ph idx="1"/>
          </p:nvPr>
        </p:nvSpPr>
        <p:spPr>
          <a:xfrm>
            <a:off x="838198" y="1825624"/>
            <a:ext cx="10515602" cy="2763001"/>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en-US" altLang="zh-CN" dirty="0" smtClean="0"/>
              <a:t>CMMI</a:t>
            </a:r>
            <a:r>
              <a:rPr lang="zh-CN" altLang="en-US" dirty="0" smtClean="0"/>
              <a:t>、</a:t>
            </a:r>
            <a:r>
              <a:rPr lang="en-US" altLang="zh-CN" dirty="0" smtClean="0"/>
              <a:t>ISO9000</a:t>
            </a:r>
            <a:r>
              <a:rPr lang="zh-CN" altLang="en-US" dirty="0" smtClean="0"/>
              <a:t>、</a:t>
            </a:r>
            <a:r>
              <a:rPr lang="en-US" altLang="zh-CN" dirty="0"/>
              <a:t>SPICE</a:t>
            </a:r>
            <a:r>
              <a:rPr lang="zh-CN" altLang="en-US" dirty="0"/>
              <a:t>目前已被公认为软件质量保障方面的事实</a:t>
            </a:r>
            <a:r>
              <a:rPr lang="zh-CN" altLang="en-US" dirty="0" smtClean="0"/>
              <a:t>标准。</a:t>
            </a:r>
            <a:endParaRPr lang="en-US" altLang="zh-CN" dirty="0" smtClean="0"/>
          </a:p>
          <a:p>
            <a:pPr lvl="1">
              <a:lnSpc>
                <a:spcPct val="100000"/>
              </a:lnSpc>
              <a:spcBef>
                <a:spcPts val="600"/>
              </a:spcBef>
            </a:pPr>
            <a:r>
              <a:rPr lang="zh-CN" altLang="en-US" dirty="0" smtClean="0"/>
              <a:t>由于</a:t>
            </a:r>
            <a:r>
              <a:rPr lang="zh-CN" altLang="en-US" dirty="0"/>
              <a:t>其强调管理和控制，追求项目的可预测性和过程状态的可视性，在提高生产率方面并未予以足够的</a:t>
            </a:r>
            <a:r>
              <a:rPr lang="zh-CN" altLang="en-US" dirty="0" smtClean="0"/>
              <a:t>重视；</a:t>
            </a:r>
            <a:endParaRPr lang="en-US" altLang="zh-CN" dirty="0" smtClean="0"/>
          </a:p>
          <a:p>
            <a:pPr lvl="1">
              <a:lnSpc>
                <a:spcPct val="100000"/>
              </a:lnSpc>
              <a:spcBef>
                <a:spcPts val="600"/>
              </a:spcBef>
            </a:pPr>
            <a:r>
              <a:rPr lang="zh-CN" altLang="en-US" dirty="0" smtClean="0"/>
              <a:t>一方面，需要</a:t>
            </a:r>
            <a:r>
              <a:rPr lang="zh-CN" altLang="en-US" dirty="0"/>
              <a:t>大量中间制品（过程文档）的制作，给开发人员</a:t>
            </a:r>
            <a:r>
              <a:rPr lang="zh-CN" altLang="en-US" dirty="0" smtClean="0"/>
              <a:t>带来负担；</a:t>
            </a:r>
            <a:endParaRPr lang="en-US" altLang="zh-CN" dirty="0" smtClean="0"/>
          </a:p>
          <a:p>
            <a:pPr lvl="1">
              <a:lnSpc>
                <a:spcPct val="100000"/>
              </a:lnSpc>
              <a:spcBef>
                <a:spcPts val="600"/>
              </a:spcBef>
            </a:pPr>
            <a:r>
              <a:rPr lang="zh-CN" altLang="en-US" dirty="0" smtClean="0"/>
              <a:t>一方面</a:t>
            </a:r>
            <a:r>
              <a:rPr lang="zh-CN" altLang="en-US" dirty="0"/>
              <a:t>，追求可预测性与实际需求的模糊和快速变化不相协调</a:t>
            </a:r>
            <a:r>
              <a:rPr lang="zh-CN" altLang="en-US" dirty="0" smtClean="0"/>
              <a:t>。</a:t>
            </a:r>
            <a:endParaRPr lang="zh-CN" altLang="en-US" dirty="0">
              <a:latin typeface="等线" panose="02010600030101010101" pitchFamily="2" charset="-122"/>
              <a:ea typeface="等线" panose="02010600030101010101" pitchFamily="2" charset="-122"/>
            </a:endParaRPr>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下箭头 3"/>
          <p:cNvSpPr/>
          <p:nvPr/>
        </p:nvSpPr>
        <p:spPr>
          <a:xfrm>
            <a:off x="5685904" y="4688378"/>
            <a:ext cx="1039091" cy="5652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497290" y="5353396"/>
            <a:ext cx="3416320"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zh-CN" altLang="en-US" sz="2800" dirty="0" smtClean="0"/>
              <a:t>出现了一些新的方法</a:t>
            </a:r>
            <a:endParaRPr lang="zh-CN" altLang="en-US" sz="2800" dirty="0"/>
          </a:p>
        </p:txBody>
      </p:sp>
    </p:spTree>
    <p:extLst>
      <p:ext uri="{BB962C8B-B14F-4D97-AF65-F5344CB8AC3E}">
        <p14:creationId xmlns:p14="http://schemas.microsoft.com/office/powerpoint/2010/main" val="2628708437"/>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2</a:t>
            </a:r>
            <a:r>
              <a:rPr lang="en-US" altLang="zh-CN" sz="4000" b="1" dirty="0" smtClean="0"/>
              <a:t>. </a:t>
            </a:r>
            <a:r>
              <a:rPr lang="zh-CN" altLang="en-US" sz="4000" b="1" dirty="0" smtClean="0"/>
              <a:t>产生</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下箭头 3"/>
          <p:cNvSpPr/>
          <p:nvPr/>
        </p:nvSpPr>
        <p:spPr>
          <a:xfrm>
            <a:off x="5619403" y="844637"/>
            <a:ext cx="1039091" cy="5652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430787" y="1561957"/>
            <a:ext cx="3416320"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zh-CN" altLang="en-US" sz="2800" dirty="0" smtClean="0"/>
              <a:t>出现了一些新的方法</a:t>
            </a:r>
            <a:endParaRPr lang="zh-CN" altLang="en-US" sz="2800" dirty="0"/>
          </a:p>
        </p:txBody>
      </p:sp>
      <p:sp>
        <p:nvSpPr>
          <p:cNvPr id="10" name="内容占位符 2"/>
          <p:cNvSpPr>
            <a:spLocks noGrp="1"/>
          </p:cNvSpPr>
          <p:nvPr>
            <p:ph idx="1"/>
          </p:nvPr>
        </p:nvSpPr>
        <p:spPr>
          <a:xfrm>
            <a:off x="838198" y="2132629"/>
            <a:ext cx="10515602" cy="1732789"/>
          </a:xfrm>
        </p:spPr>
        <p:style>
          <a:lnRef idx="2">
            <a:schemeClr val="accent1"/>
          </a:lnRef>
          <a:fillRef idx="1">
            <a:schemeClr val="lt1"/>
          </a:fillRef>
          <a:effectRef idx="0">
            <a:schemeClr val="accent1"/>
          </a:effectRef>
          <a:fontRef idx="minor">
            <a:schemeClr val="dk1"/>
          </a:fontRef>
        </p:style>
        <p:txBody>
          <a:bodyPr>
            <a:normAutofit/>
          </a:bodyPr>
          <a:lstStyle/>
          <a:p>
            <a:pPr>
              <a:lnSpc>
                <a:spcPct val="100000"/>
              </a:lnSpc>
              <a:spcBef>
                <a:spcPts val="600"/>
              </a:spcBef>
            </a:pPr>
            <a:r>
              <a:rPr lang="en-US" altLang="zh-CN" sz="2600" dirty="0"/>
              <a:t>Extreme Programming (</a:t>
            </a:r>
            <a:r>
              <a:rPr lang="zh-CN" altLang="en-US" sz="2600" dirty="0"/>
              <a:t>简称</a:t>
            </a:r>
            <a:r>
              <a:rPr lang="en-US" altLang="zh-CN" sz="2600" b="1" dirty="0">
                <a:solidFill>
                  <a:srgbClr val="C00000"/>
                </a:solidFill>
              </a:rPr>
              <a:t>XP</a:t>
            </a:r>
            <a:r>
              <a:rPr lang="en-US" altLang="zh-CN" sz="2600" dirty="0"/>
              <a:t>)</a:t>
            </a:r>
            <a:r>
              <a:rPr lang="zh-CN" altLang="en-US" sz="2600" dirty="0"/>
              <a:t>、</a:t>
            </a:r>
            <a:r>
              <a:rPr lang="en-US" altLang="zh-CN" sz="2600" b="1" dirty="0">
                <a:solidFill>
                  <a:srgbClr val="C00000"/>
                </a:solidFill>
              </a:rPr>
              <a:t>SCRUM</a:t>
            </a:r>
            <a:r>
              <a:rPr lang="zh-CN" altLang="en-US" sz="2600" dirty="0"/>
              <a:t>、</a:t>
            </a:r>
            <a:r>
              <a:rPr lang="en-US" altLang="zh-CN" sz="2600" b="1" dirty="0">
                <a:solidFill>
                  <a:srgbClr val="C00000"/>
                </a:solidFill>
              </a:rPr>
              <a:t>Crystal</a:t>
            </a:r>
            <a:r>
              <a:rPr lang="en-US" altLang="zh-CN" sz="2600" dirty="0"/>
              <a:t> Methodologies</a:t>
            </a:r>
            <a:r>
              <a:rPr lang="zh-CN" altLang="en-US" sz="2600" dirty="0"/>
              <a:t>、</a:t>
            </a:r>
            <a:r>
              <a:rPr lang="en-US" altLang="zh-CN" sz="2600" dirty="0"/>
              <a:t>Feature Driven Development(</a:t>
            </a:r>
            <a:r>
              <a:rPr lang="zh-CN" altLang="en-US" sz="2600" dirty="0"/>
              <a:t>简称</a:t>
            </a:r>
            <a:r>
              <a:rPr lang="en-US" altLang="zh-CN" sz="2600" b="1" dirty="0">
                <a:solidFill>
                  <a:srgbClr val="C00000"/>
                </a:solidFill>
              </a:rPr>
              <a:t>FDD</a:t>
            </a:r>
            <a:r>
              <a:rPr lang="en-US" altLang="zh-CN" sz="2600" dirty="0"/>
              <a:t>)</a:t>
            </a:r>
            <a:r>
              <a:rPr lang="zh-CN" altLang="en-US" sz="2600" dirty="0"/>
              <a:t>、</a:t>
            </a:r>
            <a:r>
              <a:rPr lang="en-US" altLang="zh-CN" sz="2600" dirty="0"/>
              <a:t>Dynamic Systems Development Methodology(</a:t>
            </a:r>
            <a:r>
              <a:rPr lang="zh-CN" altLang="en-US" sz="2600" dirty="0"/>
              <a:t>简称</a:t>
            </a:r>
            <a:r>
              <a:rPr lang="en-US" altLang="zh-CN" sz="2600" b="1" dirty="0">
                <a:solidFill>
                  <a:srgbClr val="C00000"/>
                </a:solidFill>
              </a:rPr>
              <a:t>DSDM</a:t>
            </a:r>
            <a:r>
              <a:rPr lang="en-US" altLang="zh-CN" sz="2600" dirty="0"/>
              <a:t>) </a:t>
            </a:r>
            <a:r>
              <a:rPr lang="zh-CN" altLang="en-US" sz="2600" dirty="0"/>
              <a:t>、</a:t>
            </a:r>
            <a:r>
              <a:rPr lang="en-US" altLang="zh-CN" sz="2600" dirty="0"/>
              <a:t>Adaptive Software Development(</a:t>
            </a:r>
            <a:r>
              <a:rPr lang="zh-CN" altLang="en-US" sz="2600" dirty="0"/>
              <a:t>简称</a:t>
            </a:r>
            <a:r>
              <a:rPr lang="en-US" altLang="zh-CN" sz="2600" b="1" dirty="0">
                <a:solidFill>
                  <a:srgbClr val="C00000"/>
                </a:solidFill>
              </a:rPr>
              <a:t>ASD</a:t>
            </a:r>
            <a:r>
              <a:rPr lang="en-US" altLang="zh-CN" sz="2600" dirty="0"/>
              <a:t>)</a:t>
            </a:r>
            <a:r>
              <a:rPr lang="zh-CN" altLang="en-US" sz="2600" dirty="0"/>
              <a:t>、</a:t>
            </a:r>
            <a:r>
              <a:rPr lang="en-US" altLang="zh-CN" sz="2600" b="1" dirty="0">
                <a:solidFill>
                  <a:srgbClr val="C00000"/>
                </a:solidFill>
              </a:rPr>
              <a:t>Pragmatic</a:t>
            </a:r>
            <a:r>
              <a:rPr lang="en-US" altLang="zh-CN" sz="2600" dirty="0"/>
              <a:t> Programming</a:t>
            </a:r>
            <a:r>
              <a:rPr lang="zh-CN" altLang="en-US" sz="2600" dirty="0" smtClean="0"/>
              <a:t>等。</a:t>
            </a:r>
            <a:endParaRPr lang="zh-CN" altLang="en-US" sz="2600" dirty="0">
              <a:latin typeface="等线" panose="02010600030101010101" pitchFamily="2" charset="-122"/>
              <a:ea typeface="等线" panose="02010600030101010101" pitchFamily="2" charset="-122"/>
            </a:endParaRPr>
          </a:p>
        </p:txBody>
      </p:sp>
      <p:sp>
        <p:nvSpPr>
          <p:cNvPr id="11" name="下箭头 10"/>
          <p:cNvSpPr/>
          <p:nvPr/>
        </p:nvSpPr>
        <p:spPr>
          <a:xfrm>
            <a:off x="5619403" y="3931922"/>
            <a:ext cx="1039091" cy="5652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4108583" y="4534907"/>
            <a:ext cx="4060727" cy="46166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zh-CN" altLang="en-US" sz="2400" dirty="0" smtClean="0"/>
              <a:t>统称为轻量方法</a:t>
            </a:r>
            <a:r>
              <a:rPr lang="en-US" altLang="zh-CN" sz="2400" dirty="0" smtClean="0"/>
              <a:t>(Lightweight)</a:t>
            </a:r>
            <a:endParaRPr lang="zh-CN" altLang="en-US" sz="2400" dirty="0"/>
          </a:p>
        </p:txBody>
      </p:sp>
      <p:sp>
        <p:nvSpPr>
          <p:cNvPr id="13" name="内容占位符 2"/>
          <p:cNvSpPr txBox="1">
            <a:spLocks/>
          </p:cNvSpPr>
          <p:nvPr/>
        </p:nvSpPr>
        <p:spPr>
          <a:xfrm>
            <a:off x="881145" y="5046450"/>
            <a:ext cx="10515602" cy="1732789"/>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nSpc>
                <a:spcPct val="100000"/>
              </a:lnSpc>
              <a:spcBef>
                <a:spcPts val="600"/>
              </a:spcBef>
            </a:pPr>
            <a:r>
              <a:rPr lang="en-US" altLang="zh-CN" sz="2600" dirty="0" smtClean="0"/>
              <a:t>2001</a:t>
            </a:r>
            <a:r>
              <a:rPr lang="zh-CN" altLang="en-US" sz="2600" dirty="0" smtClean="0"/>
              <a:t>年成立</a:t>
            </a:r>
            <a:r>
              <a:rPr lang="en-US" altLang="zh-CN" sz="2600" dirty="0" smtClean="0"/>
              <a:t>Agile</a:t>
            </a:r>
            <a:r>
              <a:rPr lang="zh-CN" altLang="en-US" sz="2600" dirty="0" smtClean="0"/>
              <a:t>联盟，更名为</a:t>
            </a:r>
            <a:r>
              <a:rPr lang="en-US" altLang="zh-CN" sz="2600" dirty="0" smtClean="0"/>
              <a:t>Agile</a:t>
            </a:r>
            <a:r>
              <a:rPr lang="zh-CN" altLang="en-US" sz="2600" dirty="0" smtClean="0"/>
              <a:t>方法。</a:t>
            </a:r>
            <a:endParaRPr lang="en-US" altLang="zh-CN" sz="2600" dirty="0" smtClean="0"/>
          </a:p>
          <a:p>
            <a:pPr>
              <a:lnSpc>
                <a:spcPct val="100000"/>
              </a:lnSpc>
              <a:spcBef>
                <a:spcPts val="600"/>
              </a:spcBef>
            </a:pPr>
            <a:r>
              <a:rPr lang="zh-CN" altLang="en-US" sz="2600" dirty="0"/>
              <a:t>在需求和技术不断变化的情况下实现快节奏的</a:t>
            </a:r>
            <a:r>
              <a:rPr lang="zh-CN" altLang="en-US" sz="2600" dirty="0" smtClean="0"/>
              <a:t>软件开发。</a:t>
            </a:r>
            <a:endParaRPr lang="en-US" altLang="zh-CN" sz="2600" dirty="0" smtClean="0"/>
          </a:p>
          <a:p>
            <a:pPr>
              <a:lnSpc>
                <a:spcPct val="100000"/>
              </a:lnSpc>
              <a:spcBef>
                <a:spcPts val="600"/>
              </a:spcBef>
            </a:pPr>
            <a:r>
              <a:rPr lang="en-US" altLang="zh-CN" sz="2600" dirty="0" smtClean="0"/>
              <a:t>"</a:t>
            </a:r>
            <a:r>
              <a:rPr lang="zh-CN" altLang="en-US" sz="2600" dirty="0"/>
              <a:t>刚刚好</a:t>
            </a:r>
            <a:r>
              <a:rPr lang="en-US" altLang="zh-CN" sz="2600" dirty="0"/>
              <a:t>"</a:t>
            </a:r>
            <a:r>
              <a:rPr lang="zh-CN" altLang="en-US" sz="2600" dirty="0"/>
              <a:t>（</a:t>
            </a:r>
            <a:r>
              <a:rPr lang="en-US" altLang="zh-CN" sz="2600" dirty="0"/>
              <a:t>Just enough</a:t>
            </a:r>
            <a:r>
              <a:rPr lang="zh-CN" altLang="en-US" sz="2600" dirty="0"/>
              <a:t>），即开发中的活动及制品既不要太多也不要太少，在满足所需的软件质量要求的前提下，力求提高开发效率。</a:t>
            </a:r>
          </a:p>
        </p:txBody>
      </p:sp>
    </p:spTree>
    <p:extLst>
      <p:ext uri="{BB962C8B-B14F-4D97-AF65-F5344CB8AC3E}">
        <p14:creationId xmlns:p14="http://schemas.microsoft.com/office/powerpoint/2010/main" val="7540383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sp>
        <p:nvSpPr>
          <p:cNvPr id="3" name="内容占位符 2"/>
          <p:cNvSpPr>
            <a:spLocks noGrp="1"/>
          </p:cNvSpPr>
          <p:nvPr>
            <p:ph idx="1"/>
          </p:nvPr>
        </p:nvSpPr>
        <p:spPr>
          <a:xfrm>
            <a:off x="838198" y="1825624"/>
            <a:ext cx="10515602" cy="4464339"/>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a:latin typeface="+mn-ea"/>
              </a:rPr>
              <a:t>敏捷建模（</a:t>
            </a:r>
            <a:r>
              <a:rPr lang="en-US" altLang="zh-CN" dirty="0">
                <a:latin typeface="+mn-ea"/>
              </a:rPr>
              <a:t>AM</a:t>
            </a:r>
            <a:r>
              <a:rPr lang="zh-CN" altLang="en-US" dirty="0">
                <a:latin typeface="+mn-ea"/>
              </a:rPr>
              <a:t>）定义了一系列的核心原则和辅助原则，为软件开发项目中的建模实践奠定了基石。</a:t>
            </a:r>
            <a:endParaRPr lang="en-US" altLang="zh-CN" dirty="0" smtClean="0">
              <a:latin typeface="+mn-ea"/>
            </a:endParaRPr>
          </a:p>
          <a:p>
            <a:pPr>
              <a:lnSpc>
                <a:spcPct val="100000"/>
              </a:lnSpc>
              <a:spcBef>
                <a:spcPts val="600"/>
              </a:spcBef>
            </a:pPr>
            <a:r>
              <a:rPr lang="zh-CN" altLang="en-US" dirty="0" smtClean="0">
                <a:latin typeface="+mn-ea"/>
              </a:rPr>
              <a:t>其中</a:t>
            </a:r>
            <a:r>
              <a:rPr lang="zh-CN" altLang="en-US" dirty="0">
                <a:latin typeface="+mn-ea"/>
              </a:rPr>
              <a:t>一些原则是从</a:t>
            </a:r>
            <a:r>
              <a:rPr lang="en-US" altLang="zh-CN" dirty="0">
                <a:latin typeface="+mn-ea"/>
              </a:rPr>
              <a:t>XP</a:t>
            </a:r>
            <a:r>
              <a:rPr lang="zh-CN" altLang="en-US" dirty="0">
                <a:latin typeface="+mn-ea"/>
              </a:rPr>
              <a:t>中借鉴而来</a:t>
            </a:r>
            <a:r>
              <a:rPr lang="zh-CN" altLang="en-US" dirty="0" smtClean="0">
                <a:latin typeface="+mn-ea"/>
              </a:rPr>
              <a:t>，而</a:t>
            </a:r>
            <a:r>
              <a:rPr lang="en-US" altLang="zh-CN" dirty="0">
                <a:latin typeface="+mn-ea"/>
              </a:rPr>
              <a:t>XP</a:t>
            </a:r>
            <a:r>
              <a:rPr lang="zh-CN" altLang="en-US" dirty="0">
                <a:latin typeface="+mn-ea"/>
              </a:rPr>
              <a:t>中的一些原则又是</a:t>
            </a:r>
            <a:r>
              <a:rPr lang="zh-CN" altLang="en-US" dirty="0" smtClean="0">
                <a:latin typeface="+mn-ea"/>
              </a:rPr>
              <a:t>源于软件工程</a:t>
            </a:r>
            <a:r>
              <a:rPr lang="zh-CN" altLang="en-US" dirty="0">
                <a:latin typeface="+mn-ea"/>
              </a:rPr>
              <a:t>学</a:t>
            </a:r>
            <a:r>
              <a:rPr lang="zh-CN" altLang="en-US" dirty="0" smtClean="0">
                <a:latin typeface="+mn-ea"/>
              </a:rPr>
              <a:t>。</a:t>
            </a:r>
            <a:endParaRPr lang="zh-CN" altLang="en-US" sz="2400" dirty="0">
              <a:latin typeface="+mn-ea"/>
            </a:endParaRPr>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2268389269"/>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主张简单</a:t>
            </a:r>
            <a:endParaRPr lang="zh-CN" altLang="en-US" sz="2000" dirty="0"/>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拥抱变化</a:t>
            </a:r>
            <a:endParaRPr lang="zh-CN" altLang="en-US" sz="2000" dirty="0"/>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递增的变化</a:t>
            </a:r>
            <a:endParaRPr lang="zh-CN" altLang="en-US" sz="2000" dirty="0"/>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令投资最大化</a:t>
            </a:r>
            <a:endParaRPr lang="zh-CN" altLang="en-US" sz="2000" dirty="0"/>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a:t>
            </a:r>
            <a:r>
              <a:rPr lang="zh-CN" altLang="en-US" sz="2000" dirty="0" smtClean="0"/>
              <a:t>目的的建模</a:t>
            </a:r>
            <a:endParaRPr lang="zh-CN" altLang="en-US" sz="2000" dirty="0"/>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多种模型</a:t>
            </a:r>
            <a:endParaRPr lang="zh-CN" altLang="en-US" sz="2000" dirty="0"/>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a:t>
            </a:r>
            <a:r>
              <a:rPr lang="zh-CN" altLang="en-US" sz="2000" dirty="0" smtClean="0"/>
              <a:t>工作</a:t>
            </a:r>
            <a:endParaRPr lang="zh-CN" altLang="en-US" sz="2000" dirty="0"/>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a:t>
            </a:r>
            <a:r>
              <a:rPr lang="zh-CN" altLang="en-US" sz="2000" dirty="0" smtClean="0"/>
              <a:t>反馈</a:t>
            </a:r>
            <a:endParaRPr lang="zh-CN" altLang="en-US" sz="2000" dirty="0"/>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Tree>
    <p:extLst>
      <p:ext uri="{BB962C8B-B14F-4D97-AF65-F5344CB8AC3E}">
        <p14:creationId xmlns:p14="http://schemas.microsoft.com/office/powerpoint/2010/main" val="2389336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smtClean="0"/>
              <a:t>主张简单</a:t>
            </a:r>
            <a:endParaRPr lang="zh-CN" altLang="en-US" sz="2000" dirty="0"/>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拥抱变化</a:t>
            </a:r>
            <a:endParaRPr lang="zh-CN" altLang="en-US" sz="2000" dirty="0"/>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递增的变化</a:t>
            </a:r>
            <a:endParaRPr lang="zh-CN" altLang="en-US" sz="2000" dirty="0"/>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令投资最大化</a:t>
            </a:r>
            <a:endParaRPr lang="zh-CN" altLang="en-US" sz="2000" dirty="0"/>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a:t>
            </a:r>
            <a:r>
              <a:rPr lang="zh-CN" altLang="en-US" sz="2000" dirty="0" smtClean="0"/>
              <a:t>目的的建模</a:t>
            </a:r>
            <a:endParaRPr lang="zh-CN" altLang="en-US" sz="2000" dirty="0"/>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多种模型</a:t>
            </a:r>
            <a:endParaRPr lang="zh-CN" altLang="en-US" sz="2000" dirty="0"/>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a:t>
            </a:r>
            <a:r>
              <a:rPr lang="zh-CN" altLang="en-US" sz="2000" dirty="0" smtClean="0"/>
              <a:t>工作</a:t>
            </a:r>
            <a:endParaRPr lang="zh-CN" altLang="en-US" sz="2000" dirty="0"/>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a:t>
            </a:r>
            <a:r>
              <a:rPr lang="zh-CN" altLang="en-US" sz="2000" dirty="0" smtClean="0"/>
              <a:t>反馈</a:t>
            </a:r>
            <a:endParaRPr lang="zh-CN" altLang="en-US" sz="2000" dirty="0"/>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1</a:t>
            </a:r>
            <a:r>
              <a:rPr lang="zh-CN" altLang="en-US" dirty="0" smtClean="0">
                <a:latin typeface="+mn-ea"/>
              </a:rPr>
              <a:t>）主张简单</a:t>
            </a:r>
            <a:endParaRPr lang="en-US" altLang="zh-CN" dirty="0" smtClean="0">
              <a:latin typeface="+mn-ea"/>
            </a:endParaRPr>
          </a:p>
          <a:p>
            <a:pPr lvl="1">
              <a:lnSpc>
                <a:spcPct val="100000"/>
              </a:lnSpc>
              <a:spcBef>
                <a:spcPts val="600"/>
              </a:spcBef>
            </a:pPr>
            <a:r>
              <a:rPr lang="zh-CN" altLang="en-US" sz="2200" dirty="0" smtClean="0">
                <a:latin typeface="+mn-ea"/>
              </a:rPr>
              <a:t>不要</a:t>
            </a:r>
            <a:r>
              <a:rPr lang="zh-CN" altLang="en-US" sz="2200" dirty="0">
                <a:latin typeface="+mn-ea"/>
              </a:rPr>
              <a:t>过分构建（</a:t>
            </a:r>
            <a:r>
              <a:rPr lang="en-US" altLang="zh-CN" sz="2200" dirty="0">
                <a:latin typeface="+mn-ea"/>
              </a:rPr>
              <a:t>overbuild</a:t>
            </a:r>
            <a:r>
              <a:rPr lang="zh-CN" altLang="en-US" sz="2200" dirty="0">
                <a:latin typeface="+mn-ea"/>
              </a:rPr>
              <a:t>）你的软件</a:t>
            </a:r>
            <a:r>
              <a:rPr lang="zh-CN" altLang="en-US" sz="2200" dirty="0" smtClean="0">
                <a:latin typeface="+mn-ea"/>
              </a:rPr>
              <a:t>。</a:t>
            </a:r>
            <a:r>
              <a:rPr lang="zh-CN" altLang="en-US" sz="2200" dirty="0">
                <a:latin typeface="+mn-ea"/>
              </a:rPr>
              <a:t>最简单的解决方案就是最好的解决方案</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如果</a:t>
            </a:r>
            <a:r>
              <a:rPr lang="zh-CN" altLang="en-US" sz="2200" dirty="0" smtClean="0">
                <a:latin typeface="+mn-ea"/>
              </a:rPr>
              <a:t>现在</a:t>
            </a:r>
            <a:r>
              <a:rPr lang="zh-CN" altLang="en-US" sz="2200" dirty="0">
                <a:latin typeface="+mn-ea"/>
              </a:rPr>
              <a:t>并不需要这项额外功能</a:t>
            </a:r>
            <a:r>
              <a:rPr lang="zh-CN" altLang="en-US" sz="2200" dirty="0" smtClean="0">
                <a:latin typeface="+mn-ea"/>
              </a:rPr>
              <a:t>，就</a:t>
            </a:r>
            <a:r>
              <a:rPr lang="zh-CN" altLang="en-US" sz="2200" dirty="0">
                <a:latin typeface="+mn-ea"/>
              </a:rPr>
              <a:t>不要在模型中增加</a:t>
            </a:r>
            <a:r>
              <a:rPr lang="zh-CN" altLang="en-US" sz="2200" dirty="0" smtClean="0">
                <a:latin typeface="+mn-ea"/>
              </a:rPr>
              <a:t>它</a:t>
            </a:r>
            <a:r>
              <a:rPr lang="zh-CN" altLang="en-US" sz="2200" dirty="0">
                <a:latin typeface="+mn-ea"/>
              </a:rPr>
              <a:t>。</a:t>
            </a:r>
            <a:endParaRPr lang="en-US" altLang="zh-CN" sz="2200" dirty="0" smtClean="0">
              <a:latin typeface="+mn-ea"/>
            </a:endParaRPr>
          </a:p>
          <a:p>
            <a:pPr lvl="1">
              <a:lnSpc>
                <a:spcPct val="100000"/>
              </a:lnSpc>
              <a:spcBef>
                <a:spcPts val="600"/>
              </a:spcBef>
            </a:pPr>
            <a:r>
              <a:rPr lang="zh-CN" altLang="en-US" sz="2200" dirty="0">
                <a:latin typeface="+mn-ea"/>
              </a:rPr>
              <a:t>要有这样的勇气：</a:t>
            </a:r>
            <a:r>
              <a:rPr lang="zh-CN" altLang="en-US" sz="2200" dirty="0" smtClean="0">
                <a:latin typeface="+mn-ea"/>
              </a:rPr>
              <a:t>日后出现需求变更</a:t>
            </a:r>
            <a:r>
              <a:rPr lang="zh-CN" altLang="en-US" sz="2200" dirty="0">
                <a:latin typeface="+mn-ea"/>
              </a:rPr>
              <a:t>时，再来重构这个系统。</a:t>
            </a:r>
          </a:p>
        </p:txBody>
      </p:sp>
    </p:spTree>
    <p:extLst>
      <p:ext uri="{BB962C8B-B14F-4D97-AF65-F5344CB8AC3E}">
        <p14:creationId xmlns:p14="http://schemas.microsoft.com/office/powerpoint/2010/main" val="12088106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递增的变化</a:t>
            </a:r>
            <a:endParaRPr lang="zh-CN" altLang="en-US" sz="2000" dirty="0"/>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令投资最大化</a:t>
            </a:r>
            <a:endParaRPr lang="zh-CN" altLang="en-US" sz="2000" dirty="0"/>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a:t>
            </a:r>
            <a:r>
              <a:rPr lang="zh-CN" altLang="en-US" sz="2000" dirty="0" smtClean="0"/>
              <a:t>目的的建模</a:t>
            </a:r>
            <a:endParaRPr lang="zh-CN" altLang="en-US" sz="2000" dirty="0"/>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多种模型</a:t>
            </a:r>
            <a:endParaRPr lang="zh-CN" altLang="en-US" sz="2000" dirty="0"/>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a:t>
            </a:r>
            <a:r>
              <a:rPr lang="zh-CN" altLang="en-US" sz="2000" dirty="0" smtClean="0"/>
              <a:t>工作</a:t>
            </a:r>
            <a:endParaRPr lang="zh-CN" altLang="en-US" sz="2000" dirty="0"/>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a:t>
            </a:r>
            <a:r>
              <a:rPr lang="zh-CN" altLang="en-US" sz="2000" dirty="0" smtClean="0"/>
              <a:t>反馈</a:t>
            </a:r>
            <a:endParaRPr lang="zh-CN" altLang="en-US" sz="2000" dirty="0"/>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2</a:t>
            </a:r>
            <a:r>
              <a:rPr lang="zh-CN" altLang="en-US" dirty="0" smtClean="0">
                <a:latin typeface="+mn-ea"/>
              </a:rPr>
              <a:t>）拥抱变化</a:t>
            </a:r>
            <a:endParaRPr lang="en-US" altLang="zh-CN" dirty="0" smtClean="0">
              <a:latin typeface="+mn-ea"/>
            </a:endParaRPr>
          </a:p>
          <a:p>
            <a:pPr lvl="1">
              <a:lnSpc>
                <a:spcPct val="100000"/>
              </a:lnSpc>
              <a:spcBef>
                <a:spcPts val="600"/>
              </a:spcBef>
            </a:pPr>
            <a:r>
              <a:rPr lang="zh-CN" altLang="en-US" sz="2200" dirty="0">
                <a:latin typeface="+mn-ea"/>
              </a:rPr>
              <a:t>需求时刻在变，人们对于需求的理解也时刻在变</a:t>
            </a:r>
            <a:r>
              <a:rPr lang="zh-CN" altLang="en-US" sz="2200" dirty="0" smtClean="0">
                <a:latin typeface="+mn-ea"/>
              </a:rPr>
              <a:t>。</a:t>
            </a:r>
            <a:endParaRPr lang="en-US" altLang="zh-CN" sz="2200" dirty="0" smtClean="0">
              <a:latin typeface="+mn-ea"/>
            </a:endParaRPr>
          </a:p>
          <a:p>
            <a:pPr lvl="1">
              <a:lnSpc>
                <a:spcPct val="100000"/>
              </a:lnSpc>
              <a:spcBef>
                <a:spcPts val="600"/>
              </a:spcBef>
            </a:pPr>
            <a:r>
              <a:rPr lang="en-US" altLang="zh-CN" sz="2200" dirty="0">
                <a:latin typeface="+mn-ea"/>
              </a:rPr>
              <a:t>Project stakeholder</a:t>
            </a:r>
            <a:r>
              <a:rPr lang="zh-CN" altLang="en-US" sz="2200" dirty="0">
                <a:latin typeface="+mn-ea"/>
              </a:rPr>
              <a:t>可能变化，会有新人加入，也会有旧人</a:t>
            </a:r>
            <a:r>
              <a:rPr lang="zh-CN" altLang="en-US" sz="2200" dirty="0" smtClean="0">
                <a:latin typeface="+mn-ea"/>
              </a:rPr>
              <a:t>离开，</a:t>
            </a:r>
            <a:r>
              <a:rPr lang="en-US" altLang="zh-CN" sz="2200" dirty="0" smtClean="0">
                <a:latin typeface="+mn-ea"/>
              </a:rPr>
              <a:t>Project </a:t>
            </a:r>
            <a:r>
              <a:rPr lang="en-US" altLang="zh-CN" sz="2200" dirty="0">
                <a:latin typeface="+mn-ea"/>
              </a:rPr>
              <a:t>stakeholder</a:t>
            </a:r>
            <a:r>
              <a:rPr lang="zh-CN" altLang="en-US" sz="2200" dirty="0">
                <a:latin typeface="+mn-ea"/>
              </a:rPr>
              <a:t>的观点也可能</a:t>
            </a:r>
            <a:r>
              <a:rPr lang="zh-CN" altLang="en-US" sz="2200" dirty="0" smtClean="0">
                <a:latin typeface="+mn-ea"/>
              </a:rPr>
              <a:t>变化；</a:t>
            </a:r>
            <a:endParaRPr lang="en-US" altLang="zh-CN" sz="2200" dirty="0" smtClean="0">
              <a:latin typeface="+mn-ea"/>
            </a:endParaRPr>
          </a:p>
          <a:p>
            <a:pPr lvl="1">
              <a:lnSpc>
                <a:spcPct val="100000"/>
              </a:lnSpc>
              <a:spcBef>
                <a:spcPts val="600"/>
              </a:spcBef>
            </a:pPr>
            <a:r>
              <a:rPr lang="zh-CN" altLang="en-US" sz="2200" dirty="0" smtClean="0">
                <a:latin typeface="+mn-ea"/>
              </a:rPr>
              <a:t>努力</a:t>
            </a:r>
            <a:r>
              <a:rPr lang="zh-CN" altLang="en-US" sz="2200" dirty="0">
                <a:latin typeface="+mn-ea"/>
              </a:rPr>
              <a:t>的目标和成功标准也有可能发生</a:t>
            </a:r>
            <a:r>
              <a:rPr lang="zh-CN" altLang="en-US" sz="2200" dirty="0" smtClean="0">
                <a:latin typeface="+mn-ea"/>
              </a:rPr>
              <a:t>变化</a:t>
            </a:r>
            <a:r>
              <a:rPr lang="zh-CN" altLang="en-US" sz="2200" dirty="0">
                <a:latin typeface="+mn-ea"/>
              </a:rPr>
              <a:t>；</a:t>
            </a:r>
            <a:endParaRPr lang="en-US" altLang="zh-CN" sz="2200" dirty="0" smtClean="0">
              <a:latin typeface="+mn-ea"/>
            </a:endParaRPr>
          </a:p>
          <a:p>
            <a:pPr lvl="1">
              <a:lnSpc>
                <a:spcPct val="100000"/>
              </a:lnSpc>
              <a:spcBef>
                <a:spcPts val="600"/>
              </a:spcBef>
            </a:pPr>
            <a:r>
              <a:rPr lang="zh-CN" altLang="en-US" sz="2200" dirty="0" smtClean="0">
                <a:latin typeface="+mn-ea"/>
              </a:rPr>
              <a:t>这</a:t>
            </a:r>
            <a:r>
              <a:rPr lang="zh-CN" altLang="en-US" sz="2200" dirty="0">
                <a:latin typeface="+mn-ea"/>
              </a:rPr>
              <a:t>就意味着随着项目的进行，项目环境也在不停的</a:t>
            </a:r>
            <a:r>
              <a:rPr lang="zh-CN" altLang="en-US" sz="2200" dirty="0" smtClean="0">
                <a:latin typeface="+mn-ea"/>
              </a:rPr>
              <a:t>变化。</a:t>
            </a:r>
            <a:endParaRPr lang="zh-CN" altLang="en-US" sz="2200" dirty="0">
              <a:latin typeface="+mn-ea"/>
            </a:endParaRPr>
          </a:p>
        </p:txBody>
      </p:sp>
    </p:spTree>
    <p:extLst>
      <p:ext uri="{BB962C8B-B14F-4D97-AF65-F5344CB8AC3E}">
        <p14:creationId xmlns:p14="http://schemas.microsoft.com/office/powerpoint/2010/main" val="1848949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递增的变化</a:t>
            </a:r>
            <a:endParaRPr lang="zh-CN" altLang="en-US" sz="2000" dirty="0"/>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令投资最大化</a:t>
            </a:r>
            <a:endParaRPr lang="zh-CN" altLang="en-US" sz="2000" dirty="0"/>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a:t>
            </a:r>
            <a:r>
              <a:rPr lang="zh-CN" altLang="en-US" sz="2000" dirty="0" smtClean="0"/>
              <a:t>目的的建模</a:t>
            </a:r>
            <a:endParaRPr lang="zh-CN" altLang="en-US" sz="2000" dirty="0"/>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多种模型</a:t>
            </a:r>
            <a:endParaRPr lang="zh-CN" altLang="en-US" sz="2000" dirty="0"/>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a:t>
            </a:r>
            <a:r>
              <a:rPr lang="zh-CN" altLang="en-US" sz="2000" dirty="0" smtClean="0"/>
              <a:t>工作</a:t>
            </a:r>
            <a:endParaRPr lang="zh-CN" altLang="en-US" sz="2000" dirty="0"/>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a:t>
            </a:r>
            <a:r>
              <a:rPr lang="zh-CN" altLang="en-US" sz="2000" dirty="0" smtClean="0"/>
              <a:t>反馈</a:t>
            </a:r>
            <a:endParaRPr lang="zh-CN" altLang="en-US" sz="2000" dirty="0"/>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fontScale="92500"/>
          </a:bodyPr>
          <a:lstStyle/>
          <a:p>
            <a:pPr>
              <a:lnSpc>
                <a:spcPct val="100000"/>
              </a:lnSpc>
              <a:spcBef>
                <a:spcPts val="600"/>
              </a:spcBef>
            </a:pPr>
            <a:r>
              <a:rPr lang="zh-CN" altLang="en-US" dirty="0" smtClean="0">
                <a:latin typeface="+mn-ea"/>
              </a:rPr>
              <a:t>（</a:t>
            </a:r>
            <a:r>
              <a:rPr lang="en-US" altLang="zh-CN" dirty="0" smtClean="0">
                <a:latin typeface="+mn-ea"/>
              </a:rPr>
              <a:t>3</a:t>
            </a:r>
            <a:r>
              <a:rPr lang="zh-CN" altLang="en-US" dirty="0" smtClean="0">
                <a:latin typeface="+mn-ea"/>
              </a:rPr>
              <a:t>）可持续性</a:t>
            </a:r>
            <a:endParaRPr lang="en-US" altLang="zh-CN" dirty="0" smtClean="0">
              <a:latin typeface="+mn-ea"/>
            </a:endParaRPr>
          </a:p>
          <a:p>
            <a:pPr lvl="1">
              <a:lnSpc>
                <a:spcPct val="100000"/>
              </a:lnSpc>
              <a:spcBef>
                <a:spcPts val="600"/>
              </a:spcBef>
            </a:pPr>
            <a:r>
              <a:rPr lang="zh-CN" altLang="en-US" sz="2200" dirty="0">
                <a:latin typeface="+mn-ea"/>
              </a:rPr>
              <a:t>即便你的团队已经把一个能够运转的系统交付给用户，你的项目</a:t>
            </a:r>
            <a:r>
              <a:rPr lang="zh-CN" altLang="en-US" sz="2200" dirty="0" smtClean="0">
                <a:latin typeface="+mn-ea"/>
              </a:rPr>
              <a:t>也可能</a:t>
            </a:r>
            <a:r>
              <a:rPr lang="zh-CN" altLang="en-US" sz="2200" dirty="0">
                <a:latin typeface="+mn-ea"/>
              </a:rPr>
              <a:t>还</a:t>
            </a:r>
            <a:r>
              <a:rPr lang="zh-CN" altLang="en-US" sz="2200" dirty="0" smtClean="0">
                <a:latin typeface="+mn-ea"/>
              </a:rPr>
              <a:t>是</a:t>
            </a:r>
            <a:r>
              <a:rPr lang="zh-CN" altLang="en-US" sz="2200" dirty="0">
                <a:latin typeface="+mn-ea"/>
              </a:rPr>
              <a:t>失败的－－实现项目投资者的需求，其中就包括你的系统应该要有足够的</a:t>
            </a:r>
            <a:r>
              <a:rPr lang="zh-CN" altLang="en-US" sz="2200" dirty="0" smtClean="0">
                <a:latin typeface="+mn-ea"/>
              </a:rPr>
              <a:t>鲁棒性</a:t>
            </a:r>
            <a:r>
              <a:rPr lang="zh-CN" altLang="en-US" sz="2200" dirty="0">
                <a:latin typeface="+mn-ea"/>
              </a:rPr>
              <a:t>，</a:t>
            </a:r>
            <a:r>
              <a:rPr lang="zh-CN" altLang="en-US" sz="2200" dirty="0" smtClean="0">
                <a:latin typeface="+mn-ea"/>
              </a:rPr>
              <a:t>能够</a:t>
            </a:r>
            <a:r>
              <a:rPr lang="zh-CN" altLang="en-US" sz="2200" dirty="0">
                <a:latin typeface="+mn-ea"/>
              </a:rPr>
              <a:t>适应日后的扩展</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可持续性可能指的是系统的下一个主要发布版，或是你正在构建的系统的运转和支持：不仅仅要构建高质量的软件，还要创建足够的文档和支持材料</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要考虑</a:t>
            </a:r>
            <a:r>
              <a:rPr lang="zh-CN" altLang="en-US" sz="2200" dirty="0" smtClean="0">
                <a:latin typeface="+mn-ea"/>
              </a:rPr>
              <a:t>很多因素：现有团队</a:t>
            </a:r>
            <a:r>
              <a:rPr lang="zh-CN" altLang="en-US" sz="2200" dirty="0">
                <a:latin typeface="+mn-ea"/>
              </a:rPr>
              <a:t>是不是还</a:t>
            </a:r>
            <a:r>
              <a:rPr lang="zh-CN" altLang="en-US" sz="2200" dirty="0" smtClean="0">
                <a:latin typeface="+mn-ea"/>
              </a:rPr>
              <a:t>能参加</a:t>
            </a:r>
            <a:r>
              <a:rPr lang="zh-CN" altLang="en-US" sz="2200" dirty="0">
                <a:latin typeface="+mn-ea"/>
              </a:rPr>
              <a:t>下一场的</a:t>
            </a:r>
            <a:r>
              <a:rPr lang="zh-CN" altLang="en-US" sz="2200" dirty="0" smtClean="0">
                <a:latin typeface="+mn-ea"/>
              </a:rPr>
              <a:t>比赛、下</a:t>
            </a:r>
            <a:r>
              <a:rPr lang="zh-CN" altLang="en-US" sz="2200" dirty="0">
                <a:latin typeface="+mn-ea"/>
              </a:rPr>
              <a:t>一场比赛的</a:t>
            </a:r>
            <a:r>
              <a:rPr lang="zh-CN" altLang="en-US" sz="2200" dirty="0" smtClean="0">
                <a:latin typeface="+mn-ea"/>
              </a:rPr>
              <a:t>环境、下</a:t>
            </a:r>
            <a:r>
              <a:rPr lang="zh-CN" altLang="en-US" sz="2200" dirty="0">
                <a:latin typeface="+mn-ea"/>
              </a:rPr>
              <a:t>一场比赛</a:t>
            </a:r>
            <a:r>
              <a:rPr lang="zh-CN" altLang="en-US" sz="2200" dirty="0" smtClean="0">
                <a:latin typeface="+mn-ea"/>
              </a:rPr>
              <a:t>对组织</a:t>
            </a:r>
            <a:r>
              <a:rPr lang="zh-CN" altLang="en-US" sz="2200" dirty="0">
                <a:latin typeface="+mn-ea"/>
              </a:rPr>
              <a:t>的重要程度</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b="1" dirty="0" smtClean="0">
                <a:solidFill>
                  <a:srgbClr val="C00000"/>
                </a:solidFill>
                <a:latin typeface="+mn-ea"/>
              </a:rPr>
              <a:t>简单</a:t>
            </a:r>
            <a:r>
              <a:rPr lang="zh-CN" altLang="en-US" sz="2200" b="1" dirty="0">
                <a:solidFill>
                  <a:srgbClr val="C00000"/>
                </a:solidFill>
                <a:latin typeface="+mn-ea"/>
              </a:rPr>
              <a:t>的说</a:t>
            </a:r>
            <a:r>
              <a:rPr lang="zh-CN" altLang="en-US" sz="2200" b="1" dirty="0" smtClean="0">
                <a:solidFill>
                  <a:srgbClr val="C00000"/>
                </a:solidFill>
                <a:latin typeface="+mn-ea"/>
              </a:rPr>
              <a:t>，在开发</a:t>
            </a:r>
            <a:r>
              <a:rPr lang="zh-CN" altLang="en-US" sz="2200" b="1" dirty="0">
                <a:solidFill>
                  <a:srgbClr val="C00000"/>
                </a:solidFill>
                <a:latin typeface="+mn-ea"/>
              </a:rPr>
              <a:t>的</a:t>
            </a:r>
            <a:r>
              <a:rPr lang="zh-CN" altLang="en-US" sz="2200" b="1" dirty="0" smtClean="0">
                <a:solidFill>
                  <a:srgbClr val="C00000"/>
                </a:solidFill>
                <a:latin typeface="+mn-ea"/>
              </a:rPr>
              <a:t>时候要</a:t>
            </a:r>
            <a:r>
              <a:rPr lang="zh-CN" altLang="en-US" sz="2200" b="1" dirty="0">
                <a:solidFill>
                  <a:srgbClr val="C00000"/>
                </a:solidFill>
                <a:latin typeface="+mn-ea"/>
              </a:rPr>
              <a:t>能想象到未来</a:t>
            </a:r>
            <a:r>
              <a:rPr lang="zh-CN" altLang="en-US" sz="2200" dirty="0">
                <a:latin typeface="+mn-ea"/>
              </a:rPr>
              <a:t>。</a:t>
            </a:r>
            <a:endParaRPr lang="en-US" altLang="zh-CN" sz="2200" dirty="0" smtClean="0">
              <a:latin typeface="+mn-ea"/>
            </a:endParaRPr>
          </a:p>
          <a:p>
            <a:pPr lvl="1">
              <a:lnSpc>
                <a:spcPct val="100000"/>
              </a:lnSpc>
              <a:spcBef>
                <a:spcPts val="600"/>
              </a:spcBef>
            </a:pPr>
            <a:endParaRPr lang="zh-CN" altLang="en-US" sz="2200" dirty="0">
              <a:latin typeface="+mn-ea"/>
            </a:endParaRPr>
          </a:p>
        </p:txBody>
      </p:sp>
    </p:spTree>
    <p:extLst>
      <p:ext uri="{BB962C8B-B14F-4D97-AF65-F5344CB8AC3E}">
        <p14:creationId xmlns:p14="http://schemas.microsoft.com/office/powerpoint/2010/main" val="675636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递增的变化</a:t>
            </a:r>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令投资最大化</a:t>
            </a:r>
            <a:endParaRPr lang="zh-CN" altLang="en-US" sz="2000" dirty="0"/>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a:t>
            </a:r>
            <a:r>
              <a:rPr lang="zh-CN" altLang="en-US" sz="2000" dirty="0" smtClean="0"/>
              <a:t>目的的建模</a:t>
            </a:r>
            <a:endParaRPr lang="zh-CN" altLang="en-US" sz="2000" dirty="0"/>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多种模型</a:t>
            </a:r>
            <a:endParaRPr lang="zh-CN" altLang="en-US" sz="2000" dirty="0"/>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a:t>
            </a:r>
            <a:r>
              <a:rPr lang="zh-CN" altLang="en-US" sz="2000" dirty="0" smtClean="0"/>
              <a:t>工作</a:t>
            </a:r>
            <a:endParaRPr lang="zh-CN" altLang="en-US" sz="2000" dirty="0"/>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a:t>
            </a:r>
            <a:r>
              <a:rPr lang="zh-CN" altLang="en-US" sz="2000" dirty="0" smtClean="0"/>
              <a:t>反馈</a:t>
            </a:r>
            <a:endParaRPr lang="zh-CN" altLang="en-US" sz="2000" dirty="0"/>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4</a:t>
            </a:r>
            <a:r>
              <a:rPr lang="zh-CN" altLang="en-US" dirty="0" smtClean="0">
                <a:latin typeface="+mn-ea"/>
              </a:rPr>
              <a:t>）</a:t>
            </a:r>
            <a:r>
              <a:rPr lang="zh-CN" altLang="en-US" b="1" dirty="0" smtClean="0">
                <a:solidFill>
                  <a:srgbClr val="C00000"/>
                </a:solidFill>
                <a:latin typeface="+mn-ea"/>
              </a:rPr>
              <a:t>递增</a:t>
            </a:r>
            <a:r>
              <a:rPr lang="zh-CN" altLang="en-US" dirty="0" smtClean="0">
                <a:latin typeface="+mn-ea"/>
              </a:rPr>
              <a:t>的变化</a:t>
            </a:r>
            <a:endParaRPr lang="en-US" altLang="zh-CN" dirty="0" smtClean="0">
              <a:latin typeface="+mn-ea"/>
            </a:endParaRPr>
          </a:p>
          <a:p>
            <a:pPr lvl="1">
              <a:lnSpc>
                <a:spcPct val="100000"/>
              </a:lnSpc>
              <a:spcBef>
                <a:spcPts val="600"/>
              </a:spcBef>
            </a:pPr>
            <a:r>
              <a:rPr lang="zh-CN" altLang="en-US" sz="2200" dirty="0">
                <a:latin typeface="+mn-ea"/>
              </a:rPr>
              <a:t>不用在模型中包容所有的细节，你只要足够的细节就够</a:t>
            </a:r>
            <a:r>
              <a:rPr lang="zh-CN" altLang="en-US" sz="2200" dirty="0" smtClean="0">
                <a:latin typeface="+mn-ea"/>
              </a:rPr>
              <a:t>了。</a:t>
            </a:r>
            <a:endParaRPr lang="en-US" altLang="zh-CN" sz="2200" dirty="0" smtClean="0">
              <a:latin typeface="+mn-ea"/>
            </a:endParaRPr>
          </a:p>
          <a:p>
            <a:pPr lvl="1">
              <a:lnSpc>
                <a:spcPct val="100000"/>
              </a:lnSpc>
              <a:spcBef>
                <a:spcPts val="600"/>
              </a:spcBef>
            </a:pPr>
            <a:r>
              <a:rPr lang="zh-CN" altLang="en-US" sz="2200" dirty="0">
                <a:latin typeface="+mn-ea"/>
              </a:rPr>
              <a:t>没有必要试图在一开始就建立一个囊括一切的模型，你只要开发一个小的模型，或是概要模型，打下一个基础，然后慢慢的改进模型，或是在不再需要的时候丢弃这个模型。</a:t>
            </a:r>
            <a:endParaRPr lang="en-US" altLang="zh-CN" sz="2200" dirty="0" smtClean="0">
              <a:latin typeface="+mn-ea"/>
            </a:endParaRPr>
          </a:p>
          <a:p>
            <a:pPr lvl="1">
              <a:lnSpc>
                <a:spcPct val="100000"/>
              </a:lnSpc>
              <a:spcBef>
                <a:spcPts val="600"/>
              </a:spcBef>
            </a:pPr>
            <a:endParaRPr lang="zh-CN" altLang="en-US" sz="2200" dirty="0">
              <a:latin typeface="+mn-ea"/>
            </a:endParaRPr>
          </a:p>
        </p:txBody>
      </p:sp>
    </p:spTree>
    <p:extLst>
      <p:ext uri="{BB962C8B-B14F-4D97-AF65-F5344CB8AC3E}">
        <p14:creationId xmlns:p14="http://schemas.microsoft.com/office/powerpoint/2010/main" val="379240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递增的变化</a:t>
            </a:r>
          </a:p>
        </p:txBody>
      </p:sp>
      <p:sp>
        <p:nvSpPr>
          <p:cNvPr id="13" name="圆角矩形 12"/>
          <p:cNvSpPr/>
          <p:nvPr/>
        </p:nvSpPr>
        <p:spPr>
          <a:xfrm>
            <a:off x="1737360" y="3399272"/>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令投资最大化</a:t>
            </a:r>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a:t>
            </a:r>
            <a:r>
              <a:rPr lang="zh-CN" altLang="en-US" sz="2000" dirty="0" smtClean="0"/>
              <a:t>目的的建模</a:t>
            </a:r>
            <a:endParaRPr lang="zh-CN" altLang="en-US" sz="2000" dirty="0"/>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多种模型</a:t>
            </a:r>
            <a:endParaRPr lang="zh-CN" altLang="en-US" sz="2000" dirty="0"/>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a:t>
            </a:r>
            <a:r>
              <a:rPr lang="zh-CN" altLang="en-US" sz="2000" dirty="0" smtClean="0"/>
              <a:t>工作</a:t>
            </a:r>
            <a:endParaRPr lang="zh-CN" altLang="en-US" sz="2000" dirty="0"/>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a:t>
            </a:r>
            <a:r>
              <a:rPr lang="zh-CN" altLang="en-US" sz="2000" dirty="0" smtClean="0"/>
              <a:t>反馈</a:t>
            </a:r>
            <a:endParaRPr lang="zh-CN" altLang="en-US" sz="2000" dirty="0"/>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5</a:t>
            </a:r>
            <a:r>
              <a:rPr lang="zh-CN" altLang="en-US" dirty="0" smtClean="0">
                <a:latin typeface="+mn-ea"/>
              </a:rPr>
              <a:t>）</a:t>
            </a:r>
            <a:r>
              <a:rPr lang="zh-CN" altLang="en-US" dirty="0">
                <a:latin typeface="+mn-ea"/>
              </a:rPr>
              <a:t>令投资最大化</a:t>
            </a:r>
            <a:endParaRPr lang="en-US" altLang="zh-CN" dirty="0">
              <a:latin typeface="+mn-ea"/>
            </a:endParaRPr>
          </a:p>
          <a:p>
            <a:pPr lvl="1">
              <a:lnSpc>
                <a:spcPct val="100000"/>
              </a:lnSpc>
              <a:spcBef>
                <a:spcPts val="600"/>
              </a:spcBef>
            </a:pPr>
            <a:r>
              <a:rPr lang="zh-CN" altLang="en-US" sz="2200" dirty="0">
                <a:latin typeface="+mn-ea"/>
              </a:rPr>
              <a:t>项目投资者为了开发出满足自己需要的软件，需要投入时间、金钱、设备等各种资源</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投资者应该可以选取最好的方式投资，也可以要求你的团队不浪费资源</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投资者</a:t>
            </a:r>
            <a:r>
              <a:rPr lang="zh-CN" altLang="en-US" sz="2200" dirty="0" smtClean="0">
                <a:latin typeface="+mn-ea"/>
              </a:rPr>
              <a:t>还有</a:t>
            </a:r>
            <a:r>
              <a:rPr lang="zh-CN" altLang="en-US" sz="2200" dirty="0">
                <a:latin typeface="+mn-ea"/>
              </a:rPr>
              <a:t>最后的发言权，决定要投入多少的资源</a:t>
            </a:r>
            <a:r>
              <a:rPr lang="zh-CN" altLang="en-US" sz="2200" dirty="0" smtClean="0">
                <a:latin typeface="+mn-ea"/>
              </a:rPr>
              <a:t>。</a:t>
            </a:r>
            <a:endParaRPr lang="en-US" altLang="zh-CN" sz="2200" dirty="0" smtClean="0">
              <a:latin typeface="+mn-ea"/>
            </a:endParaRPr>
          </a:p>
          <a:p>
            <a:pPr lvl="1">
              <a:lnSpc>
                <a:spcPct val="100000"/>
              </a:lnSpc>
              <a:spcBef>
                <a:spcPts val="600"/>
              </a:spcBef>
            </a:pPr>
            <a:endParaRPr lang="en-US" altLang="zh-CN" sz="2200" dirty="0">
              <a:latin typeface="+mn-ea"/>
            </a:endParaRPr>
          </a:p>
          <a:p>
            <a:pPr lvl="1">
              <a:lnSpc>
                <a:spcPct val="100000"/>
              </a:lnSpc>
              <a:spcBef>
                <a:spcPts val="600"/>
              </a:spcBef>
            </a:pPr>
            <a:r>
              <a:rPr lang="zh-CN" altLang="en-US" sz="2200" dirty="0" smtClean="0">
                <a:latin typeface="+mn-ea"/>
              </a:rPr>
              <a:t>所以，不要浪费资源，多为投资者考虑。</a:t>
            </a:r>
            <a:endParaRPr lang="en-US" altLang="zh-CN" sz="2200" dirty="0" smtClean="0">
              <a:latin typeface="+mn-ea"/>
            </a:endParaRPr>
          </a:p>
          <a:p>
            <a:pPr lvl="1">
              <a:lnSpc>
                <a:spcPct val="100000"/>
              </a:lnSpc>
              <a:spcBef>
                <a:spcPts val="600"/>
              </a:spcBef>
            </a:pPr>
            <a:endParaRPr lang="zh-CN" altLang="en-US" sz="2200" dirty="0">
              <a:latin typeface="+mn-ea"/>
            </a:endParaRPr>
          </a:p>
        </p:txBody>
      </p:sp>
    </p:spTree>
    <p:extLst>
      <p:ext uri="{BB962C8B-B14F-4D97-AF65-F5344CB8AC3E}">
        <p14:creationId xmlns:p14="http://schemas.microsoft.com/office/powerpoint/2010/main" val="26406036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递增的变化</a:t>
            </a:r>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令投资最大化</a:t>
            </a:r>
          </a:p>
        </p:txBody>
      </p:sp>
      <p:sp>
        <p:nvSpPr>
          <p:cNvPr id="14" name="圆角矩形 13"/>
          <p:cNvSpPr/>
          <p:nvPr/>
        </p:nvSpPr>
        <p:spPr>
          <a:xfrm>
            <a:off x="1737360" y="3767641"/>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有目的的建模</a:t>
            </a:r>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多种模型</a:t>
            </a:r>
            <a:endParaRPr lang="zh-CN" altLang="en-US" sz="2000" dirty="0"/>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a:t>
            </a:r>
            <a:r>
              <a:rPr lang="zh-CN" altLang="en-US" sz="2000" dirty="0" smtClean="0"/>
              <a:t>工作</a:t>
            </a:r>
            <a:endParaRPr lang="zh-CN" altLang="en-US" sz="2000" dirty="0"/>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a:t>
            </a:r>
            <a:r>
              <a:rPr lang="zh-CN" altLang="en-US" sz="2000" dirty="0" smtClean="0"/>
              <a:t>反馈</a:t>
            </a:r>
            <a:endParaRPr lang="zh-CN" altLang="en-US" sz="2000" dirty="0"/>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6</a:t>
            </a:r>
            <a:r>
              <a:rPr lang="zh-CN" altLang="en-US" dirty="0" smtClean="0">
                <a:latin typeface="+mn-ea"/>
              </a:rPr>
              <a:t>）有目的的建模</a:t>
            </a:r>
            <a:endParaRPr lang="en-US" altLang="zh-CN" dirty="0">
              <a:latin typeface="+mn-ea"/>
            </a:endParaRPr>
          </a:p>
          <a:p>
            <a:pPr lvl="1">
              <a:lnSpc>
                <a:spcPct val="100000"/>
              </a:lnSpc>
              <a:spcBef>
                <a:spcPts val="600"/>
              </a:spcBef>
            </a:pPr>
            <a:r>
              <a:rPr lang="zh-CN" altLang="en-US" sz="2200" dirty="0">
                <a:latin typeface="+mn-ea"/>
              </a:rPr>
              <a:t>不应该毫无意义的建模，应该先问问，为什么要建立这个产出，为谁建立它</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你要确定</a:t>
            </a:r>
            <a:r>
              <a:rPr lang="zh-CN" altLang="en-US" sz="2200" dirty="0">
                <a:solidFill>
                  <a:srgbClr val="C00000"/>
                </a:solidFill>
                <a:latin typeface="+mn-ea"/>
              </a:rPr>
              <a:t>建模的目的以及模型的受众</a:t>
            </a:r>
            <a:r>
              <a:rPr lang="zh-CN" altLang="en-US" sz="2200" dirty="0">
                <a:latin typeface="+mn-ea"/>
              </a:rPr>
              <a:t>，在此基础上，再保证模型足够正确和足够详细。一旦一个模型实现了目标，你就可以结束工作，把精力转移到其它的工作</a:t>
            </a:r>
            <a:r>
              <a:rPr lang="zh-CN" altLang="en-US" sz="2200" dirty="0" smtClean="0">
                <a:latin typeface="+mn-ea"/>
              </a:rPr>
              <a:t>上去。</a:t>
            </a:r>
            <a:endParaRPr lang="en-US" altLang="zh-CN" sz="2200" dirty="0" smtClean="0">
              <a:latin typeface="+mn-ea"/>
            </a:endParaRPr>
          </a:p>
          <a:p>
            <a:pPr lvl="1">
              <a:lnSpc>
                <a:spcPct val="100000"/>
              </a:lnSpc>
              <a:spcBef>
                <a:spcPts val="600"/>
              </a:spcBef>
            </a:pPr>
            <a:r>
              <a:rPr lang="zh-CN" altLang="en-US" sz="2200" dirty="0">
                <a:solidFill>
                  <a:srgbClr val="C00000"/>
                </a:solidFill>
                <a:latin typeface="+mn-ea"/>
              </a:rPr>
              <a:t>例如</a:t>
            </a:r>
            <a:r>
              <a:rPr lang="zh-CN" altLang="en-US" sz="2200" dirty="0">
                <a:latin typeface="+mn-ea"/>
              </a:rPr>
              <a:t>，如果你是为维护人员建立模型，他们到底需要些什么？是厚达</a:t>
            </a:r>
            <a:r>
              <a:rPr lang="en-US" altLang="zh-CN" sz="2200" dirty="0">
                <a:latin typeface="+mn-ea"/>
              </a:rPr>
              <a:t>500</a:t>
            </a:r>
            <a:r>
              <a:rPr lang="zh-CN" altLang="en-US" sz="2200" dirty="0">
                <a:latin typeface="+mn-ea"/>
              </a:rPr>
              <a:t>页的详细文档才够呢，还是</a:t>
            </a:r>
            <a:r>
              <a:rPr lang="en-US" altLang="zh-CN" sz="2200" dirty="0">
                <a:latin typeface="+mn-ea"/>
              </a:rPr>
              <a:t>10</a:t>
            </a:r>
            <a:r>
              <a:rPr lang="zh-CN" altLang="en-US" sz="2200" dirty="0">
                <a:latin typeface="+mn-ea"/>
              </a:rPr>
              <a:t>页的工作总览就够了</a:t>
            </a:r>
            <a:r>
              <a:rPr lang="zh-CN" altLang="en-US" sz="2200" dirty="0" smtClean="0">
                <a:latin typeface="+mn-ea"/>
              </a:rPr>
              <a:t>？</a:t>
            </a:r>
            <a:r>
              <a:rPr lang="zh-CN" altLang="en-US" sz="1800" dirty="0" smtClean="0">
                <a:latin typeface="+mn-ea"/>
              </a:rPr>
              <a:t>（当然甲方的规定另当别论</a:t>
            </a:r>
            <a:r>
              <a:rPr lang="en-US" altLang="zh-CN" sz="1800" dirty="0" smtClean="0">
                <a:latin typeface="+mn-ea"/>
                <a:sym typeface="Wingdings" panose="05000000000000000000" pitchFamily="2" charset="2"/>
              </a:rPr>
              <a:t></a:t>
            </a:r>
            <a:r>
              <a:rPr lang="zh-CN" altLang="en-US" sz="1800" dirty="0" smtClean="0">
                <a:latin typeface="+mn-ea"/>
              </a:rPr>
              <a:t>）</a:t>
            </a:r>
            <a:endParaRPr lang="zh-CN" altLang="en-US" sz="2200" dirty="0">
              <a:latin typeface="+mn-ea"/>
            </a:endParaRPr>
          </a:p>
        </p:txBody>
      </p:sp>
    </p:spTree>
    <p:extLst>
      <p:ext uri="{BB962C8B-B14F-4D97-AF65-F5344CB8AC3E}">
        <p14:creationId xmlns:p14="http://schemas.microsoft.com/office/powerpoint/2010/main" val="36690305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递增的变化</a:t>
            </a:r>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令投资最大化</a:t>
            </a:r>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有目的的建模</a:t>
            </a:r>
          </a:p>
        </p:txBody>
      </p:sp>
      <p:sp>
        <p:nvSpPr>
          <p:cNvPr id="15" name="圆角矩形 14"/>
          <p:cNvSpPr/>
          <p:nvPr/>
        </p:nvSpPr>
        <p:spPr>
          <a:xfrm>
            <a:off x="1737360" y="4142323"/>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多种模型</a:t>
            </a:r>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a:t>
            </a:r>
            <a:r>
              <a:rPr lang="zh-CN" altLang="en-US" sz="2000" dirty="0" smtClean="0"/>
              <a:t>工作</a:t>
            </a:r>
            <a:endParaRPr lang="zh-CN" altLang="en-US" sz="2000" dirty="0"/>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a:t>
            </a:r>
            <a:r>
              <a:rPr lang="zh-CN" altLang="en-US" sz="2000" dirty="0" smtClean="0"/>
              <a:t>反馈</a:t>
            </a:r>
            <a:endParaRPr lang="zh-CN" altLang="en-US" sz="2000" dirty="0"/>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7</a:t>
            </a:r>
            <a:r>
              <a:rPr lang="zh-CN" altLang="en-US" dirty="0" smtClean="0">
                <a:latin typeface="+mn-ea"/>
              </a:rPr>
              <a:t>）多种模型</a:t>
            </a:r>
            <a:endParaRPr lang="en-US" altLang="zh-CN" dirty="0">
              <a:latin typeface="+mn-ea"/>
            </a:endParaRPr>
          </a:p>
          <a:p>
            <a:pPr lvl="1">
              <a:lnSpc>
                <a:spcPct val="100000"/>
              </a:lnSpc>
              <a:spcBef>
                <a:spcPts val="600"/>
              </a:spcBef>
            </a:pPr>
            <a:r>
              <a:rPr lang="zh-CN" altLang="en-US" sz="2200" dirty="0">
                <a:latin typeface="+mn-ea"/>
              </a:rPr>
              <a:t>开发软件需要使用多种模型，因为</a:t>
            </a:r>
            <a:r>
              <a:rPr lang="zh-CN" altLang="en-US" sz="2200" dirty="0">
                <a:solidFill>
                  <a:srgbClr val="C00000"/>
                </a:solidFill>
                <a:latin typeface="+mn-ea"/>
              </a:rPr>
              <a:t>每种模型</a:t>
            </a:r>
            <a:r>
              <a:rPr lang="zh-CN" altLang="en-US" sz="2200" dirty="0">
                <a:latin typeface="+mn-ea"/>
              </a:rPr>
              <a:t>只能描述软件的</a:t>
            </a:r>
            <a:r>
              <a:rPr lang="zh-CN" altLang="en-US" sz="2200" dirty="0">
                <a:solidFill>
                  <a:srgbClr val="C00000"/>
                </a:solidFill>
                <a:latin typeface="+mn-ea"/>
              </a:rPr>
              <a:t>单个</a:t>
            </a:r>
            <a:r>
              <a:rPr lang="zh-CN" altLang="en-US" sz="2200" dirty="0" smtClean="0">
                <a:solidFill>
                  <a:srgbClr val="C00000"/>
                </a:solidFill>
                <a:latin typeface="+mn-ea"/>
              </a:rPr>
              <a:t>方面</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没有必要为一个系统开发所有的模型，而应该针对系统的具体情况，挑选一部分的模型。不同的系统使用不同部分的模型</a:t>
            </a:r>
            <a:r>
              <a:rPr lang="zh-CN" altLang="en-US" sz="2200" dirty="0" smtClean="0">
                <a:latin typeface="+mn-ea"/>
              </a:rPr>
              <a:t>。</a:t>
            </a:r>
            <a:r>
              <a:rPr lang="en-US" altLang="zh-CN" sz="1800" dirty="0" smtClean="0">
                <a:latin typeface="+mn-ea"/>
              </a:rPr>
              <a:t>【UML</a:t>
            </a:r>
            <a:r>
              <a:rPr lang="zh-CN" altLang="en-US" sz="1800" dirty="0" smtClean="0">
                <a:latin typeface="+mn-ea"/>
              </a:rPr>
              <a:t>建模</a:t>
            </a:r>
            <a:r>
              <a:rPr lang="en-US" altLang="zh-CN" sz="1800" dirty="0" smtClean="0">
                <a:latin typeface="+mn-ea"/>
              </a:rPr>
              <a:t>】</a:t>
            </a:r>
            <a:endParaRPr lang="zh-CN" altLang="en-US" sz="2200" dirty="0">
              <a:latin typeface="+mn-ea"/>
            </a:endParaRPr>
          </a:p>
        </p:txBody>
      </p:sp>
    </p:spTree>
    <p:extLst>
      <p:ext uri="{BB962C8B-B14F-4D97-AF65-F5344CB8AC3E}">
        <p14:creationId xmlns:p14="http://schemas.microsoft.com/office/powerpoint/2010/main" val="11283215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递增的变化</a:t>
            </a:r>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令投资最大化</a:t>
            </a:r>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有目的的建模</a:t>
            </a:r>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多种模型</a:t>
            </a:r>
          </a:p>
        </p:txBody>
      </p:sp>
      <p:sp>
        <p:nvSpPr>
          <p:cNvPr id="16" name="圆角矩形 15"/>
          <p:cNvSpPr/>
          <p:nvPr/>
        </p:nvSpPr>
        <p:spPr>
          <a:xfrm>
            <a:off x="1737360" y="4517005"/>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高质量的工作</a:t>
            </a:r>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a:t>
            </a:r>
            <a:r>
              <a:rPr lang="zh-CN" altLang="en-US" sz="2000" dirty="0" smtClean="0"/>
              <a:t>反馈</a:t>
            </a:r>
            <a:endParaRPr lang="zh-CN" altLang="en-US" sz="2000" dirty="0"/>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8</a:t>
            </a:r>
            <a:r>
              <a:rPr lang="zh-CN" altLang="en-US" dirty="0" smtClean="0">
                <a:latin typeface="+mn-ea"/>
              </a:rPr>
              <a:t>）高质量的工作</a:t>
            </a:r>
            <a:endParaRPr lang="en-US" altLang="zh-CN" dirty="0">
              <a:latin typeface="+mn-ea"/>
            </a:endParaRPr>
          </a:p>
          <a:p>
            <a:pPr lvl="1">
              <a:lnSpc>
                <a:spcPct val="100000"/>
              </a:lnSpc>
              <a:spcBef>
                <a:spcPts val="600"/>
              </a:spcBef>
            </a:pPr>
            <a:r>
              <a:rPr lang="zh-CN" altLang="en-US" sz="2200" dirty="0">
                <a:latin typeface="+mn-ea"/>
              </a:rPr>
              <a:t>没有人喜欢烂糟糟的</a:t>
            </a:r>
            <a:r>
              <a:rPr lang="zh-CN" altLang="en-US" sz="2200" dirty="0" smtClean="0">
                <a:latin typeface="+mn-ea"/>
              </a:rPr>
              <a:t>工作：</a:t>
            </a:r>
            <a:endParaRPr lang="en-US" altLang="zh-CN" sz="2200" dirty="0" smtClean="0">
              <a:latin typeface="+mn-ea"/>
            </a:endParaRPr>
          </a:p>
          <a:p>
            <a:pPr lvl="2">
              <a:lnSpc>
                <a:spcPct val="100000"/>
              </a:lnSpc>
              <a:spcBef>
                <a:spcPts val="600"/>
              </a:spcBef>
            </a:pPr>
            <a:r>
              <a:rPr lang="zh-CN" altLang="en-US" dirty="0" smtClean="0">
                <a:latin typeface="+mn-ea"/>
              </a:rPr>
              <a:t>做</a:t>
            </a:r>
            <a:r>
              <a:rPr lang="zh-CN" altLang="en-US" dirty="0">
                <a:latin typeface="+mn-ea"/>
              </a:rPr>
              <a:t>这项工作的人不喜欢，是因为没有成就感</a:t>
            </a:r>
            <a:r>
              <a:rPr lang="zh-CN" altLang="en-US" dirty="0" smtClean="0">
                <a:latin typeface="+mn-ea"/>
              </a:rPr>
              <a:t>；</a:t>
            </a:r>
            <a:endParaRPr lang="en-US" altLang="zh-CN" dirty="0" smtClean="0">
              <a:latin typeface="+mn-ea"/>
            </a:endParaRPr>
          </a:p>
          <a:p>
            <a:pPr lvl="2">
              <a:lnSpc>
                <a:spcPct val="100000"/>
              </a:lnSpc>
              <a:spcBef>
                <a:spcPts val="600"/>
              </a:spcBef>
            </a:pPr>
            <a:r>
              <a:rPr lang="zh-CN" altLang="en-US" dirty="0" smtClean="0">
                <a:latin typeface="+mn-ea"/>
              </a:rPr>
              <a:t>日后</a:t>
            </a:r>
            <a:r>
              <a:rPr lang="zh-CN" altLang="en-US" dirty="0">
                <a:latin typeface="+mn-ea"/>
              </a:rPr>
              <a:t>负责重构这项</a:t>
            </a:r>
            <a:r>
              <a:rPr lang="zh-CN" altLang="en-US" dirty="0" smtClean="0">
                <a:latin typeface="+mn-ea"/>
              </a:rPr>
              <a:t>工作的</a:t>
            </a:r>
            <a:r>
              <a:rPr lang="zh-CN" altLang="en-US" dirty="0">
                <a:latin typeface="+mn-ea"/>
              </a:rPr>
              <a:t>人不喜欢，是因为它难以理解，难以更新</a:t>
            </a:r>
            <a:r>
              <a:rPr lang="zh-CN" altLang="en-US" dirty="0" smtClean="0">
                <a:latin typeface="+mn-ea"/>
              </a:rPr>
              <a:t>；</a:t>
            </a:r>
            <a:endParaRPr lang="en-US" altLang="zh-CN" dirty="0" smtClean="0">
              <a:latin typeface="+mn-ea"/>
            </a:endParaRPr>
          </a:p>
          <a:p>
            <a:pPr lvl="2">
              <a:lnSpc>
                <a:spcPct val="100000"/>
              </a:lnSpc>
              <a:spcBef>
                <a:spcPts val="600"/>
              </a:spcBef>
            </a:pPr>
            <a:r>
              <a:rPr lang="zh-CN" altLang="en-US" dirty="0" smtClean="0">
                <a:latin typeface="+mn-ea"/>
              </a:rPr>
              <a:t>最终</a:t>
            </a:r>
            <a:r>
              <a:rPr lang="zh-CN" altLang="en-US" dirty="0">
                <a:latin typeface="+mn-ea"/>
              </a:rPr>
              <a:t>用户不喜欢</a:t>
            </a:r>
            <a:r>
              <a:rPr lang="zh-CN" altLang="en-US" dirty="0" smtClean="0">
                <a:latin typeface="+mn-ea"/>
              </a:rPr>
              <a:t>，因为</a:t>
            </a:r>
            <a:r>
              <a:rPr lang="zh-CN" altLang="en-US" dirty="0">
                <a:latin typeface="+mn-ea"/>
              </a:rPr>
              <a:t>它太脆弱，容易出错，也不符合他们的期望。</a:t>
            </a:r>
          </a:p>
        </p:txBody>
      </p:sp>
    </p:spTree>
    <p:extLst>
      <p:ext uri="{BB962C8B-B14F-4D97-AF65-F5344CB8AC3E}">
        <p14:creationId xmlns:p14="http://schemas.microsoft.com/office/powerpoint/2010/main" val="32901468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递增的变化</a:t>
            </a:r>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令投资最大化</a:t>
            </a:r>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有目的的建模</a:t>
            </a:r>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多种模型</a:t>
            </a:r>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高质量的工作</a:t>
            </a:r>
          </a:p>
        </p:txBody>
      </p:sp>
      <p:sp>
        <p:nvSpPr>
          <p:cNvPr id="17" name="圆角矩形 16"/>
          <p:cNvSpPr/>
          <p:nvPr/>
        </p:nvSpPr>
        <p:spPr>
          <a:xfrm>
            <a:off x="1737360" y="4891687"/>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快速反馈</a:t>
            </a:r>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a:t>
            </a:r>
            <a:r>
              <a:rPr lang="zh-CN" altLang="en-US" sz="2000" dirty="0" smtClean="0"/>
              <a:t>目标</a:t>
            </a:r>
            <a:endParaRPr lang="zh-CN" altLang="en-US" sz="2000" dirty="0"/>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9</a:t>
            </a:r>
            <a:r>
              <a:rPr lang="zh-CN" altLang="en-US" dirty="0" smtClean="0">
                <a:latin typeface="+mn-ea"/>
              </a:rPr>
              <a:t>）快速反馈</a:t>
            </a:r>
            <a:endParaRPr lang="en-US" altLang="zh-CN" dirty="0">
              <a:latin typeface="+mn-ea"/>
            </a:endParaRPr>
          </a:p>
          <a:p>
            <a:pPr lvl="1">
              <a:lnSpc>
                <a:spcPct val="100000"/>
              </a:lnSpc>
              <a:spcBef>
                <a:spcPts val="600"/>
              </a:spcBef>
            </a:pPr>
            <a:r>
              <a:rPr lang="zh-CN" altLang="en-US" sz="2200" dirty="0">
                <a:latin typeface="+mn-ea"/>
              </a:rPr>
              <a:t>从开始采取行动，到获得行动的反馈，二者之间的时间至关紧要</a:t>
            </a:r>
            <a:r>
              <a:rPr lang="zh-CN" altLang="en-US" sz="2200" dirty="0" smtClean="0">
                <a:latin typeface="+mn-ea"/>
              </a:rPr>
              <a:t>。</a:t>
            </a:r>
            <a:endParaRPr lang="en-US" altLang="zh-CN" sz="2200" dirty="0">
              <a:latin typeface="+mn-ea"/>
            </a:endParaRPr>
          </a:p>
          <a:p>
            <a:pPr lvl="1">
              <a:lnSpc>
                <a:spcPct val="100000"/>
              </a:lnSpc>
              <a:spcBef>
                <a:spcPts val="600"/>
              </a:spcBef>
            </a:pPr>
            <a:r>
              <a:rPr lang="zh-CN" altLang="en-US" sz="2200" dirty="0">
                <a:latin typeface="+mn-ea"/>
              </a:rPr>
              <a:t>和其他人</a:t>
            </a:r>
            <a:r>
              <a:rPr lang="zh-CN" altLang="en-US" sz="2200" dirty="0" smtClean="0">
                <a:latin typeface="+mn-ea"/>
              </a:rPr>
              <a:t>一起开发</a:t>
            </a:r>
            <a:r>
              <a:rPr lang="zh-CN" altLang="en-US" sz="2200" dirty="0">
                <a:latin typeface="+mn-ea"/>
              </a:rPr>
              <a:t>模型，你的想法可以立刻获得反馈，特别是你的工作采用了共享建模技术的时候，例如白板、</a:t>
            </a:r>
            <a:r>
              <a:rPr lang="en-US" altLang="zh-CN" sz="2200" dirty="0">
                <a:latin typeface="+mn-ea"/>
              </a:rPr>
              <a:t>CRC</a:t>
            </a:r>
            <a:r>
              <a:rPr lang="zh-CN" altLang="en-US" sz="2200" dirty="0">
                <a:latin typeface="+mn-ea"/>
              </a:rPr>
              <a:t>卡片或即时</a:t>
            </a:r>
            <a:r>
              <a:rPr lang="zh-CN" altLang="en-US" sz="2200" dirty="0" smtClean="0">
                <a:latin typeface="+mn-ea"/>
              </a:rPr>
              <a:t>贴。</a:t>
            </a:r>
            <a:endParaRPr lang="en-US" altLang="zh-CN" sz="2200" dirty="0" smtClean="0">
              <a:latin typeface="+mn-ea"/>
            </a:endParaRPr>
          </a:p>
          <a:p>
            <a:pPr lvl="1">
              <a:lnSpc>
                <a:spcPct val="100000"/>
              </a:lnSpc>
              <a:spcBef>
                <a:spcPts val="600"/>
              </a:spcBef>
            </a:pPr>
            <a:r>
              <a:rPr lang="zh-CN" altLang="en-US" sz="2200" dirty="0" smtClean="0">
                <a:latin typeface="+mn-ea"/>
              </a:rPr>
              <a:t>和客户</a:t>
            </a:r>
            <a:r>
              <a:rPr lang="zh-CN" altLang="en-US" sz="2200" dirty="0">
                <a:latin typeface="+mn-ea"/>
              </a:rPr>
              <a:t>紧密工作</a:t>
            </a:r>
            <a:r>
              <a:rPr lang="zh-CN" altLang="en-US" sz="2200" dirty="0" smtClean="0">
                <a:latin typeface="+mn-ea"/>
              </a:rPr>
              <a:t>，了解并分析他们</a:t>
            </a:r>
            <a:r>
              <a:rPr lang="zh-CN" altLang="en-US" sz="2200" dirty="0">
                <a:latin typeface="+mn-ea"/>
              </a:rPr>
              <a:t>的的需求</a:t>
            </a:r>
            <a:r>
              <a:rPr lang="zh-CN" altLang="en-US" sz="2200" dirty="0" smtClean="0">
                <a:latin typeface="+mn-ea"/>
              </a:rPr>
              <a:t>，或是</a:t>
            </a:r>
            <a:r>
              <a:rPr lang="zh-CN" altLang="en-US" sz="2200" dirty="0">
                <a:latin typeface="+mn-ea"/>
              </a:rPr>
              <a:t>去开发满足他们需求的用户界面，这样，你就提供了快速反馈的机会。</a:t>
            </a:r>
            <a:endParaRPr lang="en-US" altLang="zh-CN" sz="2200" dirty="0" smtClean="0">
              <a:latin typeface="+mn-ea"/>
            </a:endParaRPr>
          </a:p>
        </p:txBody>
      </p:sp>
    </p:spTree>
    <p:extLst>
      <p:ext uri="{BB962C8B-B14F-4D97-AF65-F5344CB8AC3E}">
        <p14:creationId xmlns:p14="http://schemas.microsoft.com/office/powerpoint/2010/main" val="2613262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递增的变化</a:t>
            </a:r>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令投资最大化</a:t>
            </a:r>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有目的的建模</a:t>
            </a:r>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多种模型</a:t>
            </a:r>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高质量的工作</a:t>
            </a:r>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快速反馈</a:t>
            </a:r>
          </a:p>
        </p:txBody>
      </p:sp>
      <p:sp>
        <p:nvSpPr>
          <p:cNvPr id="18" name="圆角矩形 17"/>
          <p:cNvSpPr/>
          <p:nvPr/>
        </p:nvSpPr>
        <p:spPr>
          <a:xfrm>
            <a:off x="1737360" y="5266369"/>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软件是主要目标</a:t>
            </a:r>
          </a:p>
        </p:txBody>
      </p:sp>
      <p:sp>
        <p:nvSpPr>
          <p:cNvPr id="19" name="圆角矩形 18"/>
          <p:cNvSpPr/>
          <p:nvPr/>
        </p:nvSpPr>
        <p:spPr>
          <a:xfrm>
            <a:off x="1737360" y="564105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10</a:t>
            </a:r>
            <a:r>
              <a:rPr lang="zh-CN" altLang="en-US" dirty="0" smtClean="0">
                <a:latin typeface="+mn-ea"/>
              </a:rPr>
              <a:t>）软件是主要目标</a:t>
            </a:r>
            <a:endParaRPr lang="en-US" altLang="zh-CN" dirty="0">
              <a:latin typeface="+mn-ea"/>
            </a:endParaRPr>
          </a:p>
          <a:p>
            <a:pPr lvl="1">
              <a:lnSpc>
                <a:spcPct val="100000"/>
              </a:lnSpc>
              <a:spcBef>
                <a:spcPts val="600"/>
              </a:spcBef>
            </a:pPr>
            <a:r>
              <a:rPr lang="zh-CN" altLang="en-US" sz="2200" dirty="0">
                <a:latin typeface="+mn-ea"/>
              </a:rPr>
              <a:t>软件开发的主要目标是以有效的方式，制造出满足投资者需要的软件，而不是制造无关的文档，无关的用于管理的工件，甚至无关的模型</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任何一项活动（</a:t>
            </a:r>
            <a:r>
              <a:rPr lang="en-US" altLang="zh-CN" sz="2200" dirty="0">
                <a:latin typeface="+mn-ea"/>
              </a:rPr>
              <a:t>activity </a:t>
            </a:r>
            <a:r>
              <a:rPr lang="zh-CN" altLang="en-US" sz="2200" dirty="0">
                <a:latin typeface="+mn-ea"/>
              </a:rPr>
              <a:t>），如果不符合这项</a:t>
            </a:r>
            <a:r>
              <a:rPr lang="zh-CN" altLang="en-US" sz="2200" dirty="0" smtClean="0">
                <a:latin typeface="+mn-ea"/>
              </a:rPr>
              <a:t>原则</a:t>
            </a:r>
            <a:r>
              <a:rPr lang="zh-CN" altLang="en-US" sz="2200" dirty="0">
                <a:latin typeface="+mn-ea"/>
              </a:rPr>
              <a:t>、</a:t>
            </a:r>
            <a:r>
              <a:rPr lang="zh-CN" altLang="en-US" sz="2200" dirty="0" smtClean="0">
                <a:latin typeface="+mn-ea"/>
              </a:rPr>
              <a:t>不能</a:t>
            </a:r>
            <a:r>
              <a:rPr lang="zh-CN" altLang="en-US" sz="2200" dirty="0">
                <a:latin typeface="+mn-ea"/>
              </a:rPr>
              <a:t>有助于目标</a:t>
            </a:r>
            <a:r>
              <a:rPr lang="zh-CN" altLang="en-US" sz="2200" dirty="0" smtClean="0">
                <a:latin typeface="+mn-ea"/>
              </a:rPr>
              <a:t>实现，</a:t>
            </a:r>
            <a:r>
              <a:rPr lang="zh-CN" altLang="en-US" sz="2200" dirty="0">
                <a:latin typeface="+mn-ea"/>
              </a:rPr>
              <a:t>都应该受到审核，甚至取消。</a:t>
            </a:r>
            <a:endParaRPr lang="en-US" altLang="zh-CN" sz="2200" dirty="0" smtClean="0">
              <a:latin typeface="+mn-ea"/>
            </a:endParaRPr>
          </a:p>
        </p:txBody>
      </p:sp>
    </p:spTree>
    <p:extLst>
      <p:ext uri="{BB962C8B-B14F-4D97-AF65-F5344CB8AC3E}">
        <p14:creationId xmlns:p14="http://schemas.microsoft.com/office/powerpoint/2010/main" val="1693227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3</a:t>
            </a:r>
            <a:r>
              <a:rPr lang="en-US" altLang="zh-CN" sz="4000" b="1" dirty="0" smtClean="0"/>
              <a:t>. </a:t>
            </a:r>
            <a:r>
              <a:rPr lang="zh-CN" altLang="en-US" sz="4000" b="1" dirty="0" smtClean="0"/>
              <a:t>原则</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dirty="0" smtClean="0"/>
              <a:t>核心原则</a:t>
            </a:r>
            <a:endParaRPr lang="zh-CN" altLang="en-US" sz="2400" dirty="0"/>
          </a:p>
        </p:txBody>
      </p:sp>
      <p:sp>
        <p:nvSpPr>
          <p:cNvPr id="8" name="圆角矩形 7"/>
          <p:cNvSpPr/>
          <p:nvPr/>
        </p:nvSpPr>
        <p:spPr>
          <a:xfrm>
            <a:off x="1737360" y="1900544"/>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主张简单</a:t>
            </a:r>
          </a:p>
        </p:txBody>
      </p:sp>
      <p:sp>
        <p:nvSpPr>
          <p:cNvPr id="10" name="圆角矩形 9"/>
          <p:cNvSpPr/>
          <p:nvPr/>
        </p:nvSpPr>
        <p:spPr>
          <a:xfrm>
            <a:off x="1737360" y="2275226"/>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拥抱变化</a:t>
            </a:r>
          </a:p>
        </p:txBody>
      </p:sp>
      <p:sp>
        <p:nvSpPr>
          <p:cNvPr id="11" name="圆角矩形 10"/>
          <p:cNvSpPr/>
          <p:nvPr/>
        </p:nvSpPr>
        <p:spPr>
          <a:xfrm>
            <a:off x="1737360" y="2649908"/>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可持续性</a:t>
            </a:r>
          </a:p>
        </p:txBody>
      </p:sp>
      <p:sp>
        <p:nvSpPr>
          <p:cNvPr id="12" name="圆角矩形 11"/>
          <p:cNvSpPr/>
          <p:nvPr/>
        </p:nvSpPr>
        <p:spPr>
          <a:xfrm>
            <a:off x="1737360" y="3024590"/>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递增的变化</a:t>
            </a:r>
          </a:p>
        </p:txBody>
      </p:sp>
      <p:sp>
        <p:nvSpPr>
          <p:cNvPr id="13" name="圆角矩形 12"/>
          <p:cNvSpPr/>
          <p:nvPr/>
        </p:nvSpPr>
        <p:spPr>
          <a:xfrm>
            <a:off x="1737360" y="3399272"/>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令投资最大化</a:t>
            </a:r>
          </a:p>
        </p:txBody>
      </p:sp>
      <p:sp>
        <p:nvSpPr>
          <p:cNvPr id="14" name="圆角矩形 13"/>
          <p:cNvSpPr/>
          <p:nvPr/>
        </p:nvSpPr>
        <p:spPr>
          <a:xfrm>
            <a:off x="1737360" y="3767641"/>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有目的的建模</a:t>
            </a:r>
          </a:p>
        </p:txBody>
      </p:sp>
      <p:sp>
        <p:nvSpPr>
          <p:cNvPr id="15" name="圆角矩形 14"/>
          <p:cNvSpPr/>
          <p:nvPr/>
        </p:nvSpPr>
        <p:spPr>
          <a:xfrm>
            <a:off x="1737360" y="4142323"/>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多种模型</a:t>
            </a:r>
          </a:p>
        </p:txBody>
      </p:sp>
      <p:sp>
        <p:nvSpPr>
          <p:cNvPr id="16" name="圆角矩形 15"/>
          <p:cNvSpPr/>
          <p:nvPr/>
        </p:nvSpPr>
        <p:spPr>
          <a:xfrm>
            <a:off x="1737360" y="4517005"/>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高质量的工作</a:t>
            </a:r>
          </a:p>
        </p:txBody>
      </p:sp>
      <p:sp>
        <p:nvSpPr>
          <p:cNvPr id="17" name="圆角矩形 16"/>
          <p:cNvSpPr/>
          <p:nvPr/>
        </p:nvSpPr>
        <p:spPr>
          <a:xfrm>
            <a:off x="1737360" y="4891687"/>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快速反馈</a:t>
            </a:r>
          </a:p>
        </p:txBody>
      </p:sp>
      <p:sp>
        <p:nvSpPr>
          <p:cNvPr id="18" name="圆角矩形 17"/>
          <p:cNvSpPr/>
          <p:nvPr/>
        </p:nvSpPr>
        <p:spPr>
          <a:xfrm>
            <a:off x="1737360" y="5266369"/>
            <a:ext cx="2011680" cy="2991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软件是主要目标</a:t>
            </a:r>
          </a:p>
        </p:txBody>
      </p:sp>
      <p:sp>
        <p:nvSpPr>
          <p:cNvPr id="19" name="圆角矩形 18"/>
          <p:cNvSpPr/>
          <p:nvPr/>
        </p:nvSpPr>
        <p:spPr>
          <a:xfrm>
            <a:off x="1737360" y="5641051"/>
            <a:ext cx="2011680"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t>轻装上阵</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lnSpcReduction="10000"/>
          </a:bodyPr>
          <a:lstStyle/>
          <a:p>
            <a:pPr>
              <a:lnSpc>
                <a:spcPct val="100000"/>
              </a:lnSpc>
              <a:spcBef>
                <a:spcPts val="600"/>
              </a:spcBef>
            </a:pPr>
            <a:r>
              <a:rPr lang="zh-CN" altLang="en-US" dirty="0" smtClean="0">
                <a:latin typeface="+mn-ea"/>
              </a:rPr>
              <a:t>（</a:t>
            </a:r>
            <a:r>
              <a:rPr lang="en-US" altLang="zh-CN" dirty="0" smtClean="0">
                <a:latin typeface="+mn-ea"/>
              </a:rPr>
              <a:t>11</a:t>
            </a:r>
            <a:r>
              <a:rPr lang="zh-CN" altLang="en-US" dirty="0" smtClean="0">
                <a:latin typeface="+mn-ea"/>
              </a:rPr>
              <a:t>）</a:t>
            </a:r>
            <a:r>
              <a:rPr lang="zh-CN" altLang="en-US" b="1" dirty="0" smtClean="0">
                <a:solidFill>
                  <a:srgbClr val="C00000"/>
                </a:solidFill>
                <a:latin typeface="+mn-ea"/>
              </a:rPr>
              <a:t>轻装</a:t>
            </a:r>
            <a:r>
              <a:rPr lang="zh-CN" altLang="en-US" dirty="0" smtClean="0">
                <a:latin typeface="+mn-ea"/>
              </a:rPr>
              <a:t>上阵</a:t>
            </a:r>
            <a:endParaRPr lang="en-US" altLang="zh-CN" dirty="0">
              <a:latin typeface="+mn-ea"/>
            </a:endParaRPr>
          </a:p>
          <a:p>
            <a:pPr lvl="1">
              <a:lnSpc>
                <a:spcPct val="100000"/>
              </a:lnSpc>
              <a:spcBef>
                <a:spcPts val="600"/>
              </a:spcBef>
            </a:pPr>
            <a:r>
              <a:rPr lang="zh-CN" altLang="en-US" sz="2200" dirty="0" smtClean="0">
                <a:latin typeface="+mn-ea"/>
              </a:rPr>
              <a:t>建立</a:t>
            </a:r>
            <a:r>
              <a:rPr lang="zh-CN" altLang="en-US" sz="2200" dirty="0">
                <a:latin typeface="+mn-ea"/>
              </a:rPr>
              <a:t>一个工件，然后决定要保留它，随着时间的流逝，这些工件都需要维护</a:t>
            </a:r>
            <a:r>
              <a:rPr lang="zh-CN" altLang="en-US" sz="2200" dirty="0" smtClean="0">
                <a:latin typeface="+mn-ea"/>
              </a:rPr>
              <a:t>。同时，模型</a:t>
            </a:r>
            <a:r>
              <a:rPr lang="zh-CN" altLang="en-US" sz="2200" dirty="0">
                <a:latin typeface="+mn-ea"/>
              </a:rPr>
              <a:t>越复杂，越详细，发生的改变极可能就越难</a:t>
            </a:r>
            <a:r>
              <a:rPr lang="zh-CN" altLang="en-US" sz="2200" dirty="0" smtClean="0">
                <a:latin typeface="+mn-ea"/>
              </a:rPr>
              <a:t>实现。</a:t>
            </a:r>
            <a:endParaRPr lang="en-US" altLang="zh-CN" sz="2200" dirty="0" smtClean="0">
              <a:latin typeface="+mn-ea"/>
            </a:endParaRPr>
          </a:p>
          <a:p>
            <a:pPr lvl="1">
              <a:lnSpc>
                <a:spcPct val="100000"/>
              </a:lnSpc>
              <a:spcBef>
                <a:spcPts val="600"/>
              </a:spcBef>
            </a:pPr>
            <a:r>
              <a:rPr lang="zh-CN" altLang="en-US" sz="2200" dirty="0">
                <a:latin typeface="+mn-ea"/>
              </a:rPr>
              <a:t>每次你要决定保留一个模型时，你就要权衡模型载有的信息对团队有多大的好处</a:t>
            </a:r>
            <a:r>
              <a:rPr lang="zh-CN" altLang="en-US" sz="2200" dirty="0" smtClean="0">
                <a:latin typeface="+mn-ea"/>
              </a:rPr>
              <a:t>（所以要加强</a:t>
            </a:r>
            <a:r>
              <a:rPr lang="zh-CN" altLang="en-US" sz="2200" dirty="0">
                <a:latin typeface="+mn-ea"/>
              </a:rPr>
              <a:t>团队之间，团队和项目投资者之间的沟通）</a:t>
            </a:r>
            <a:r>
              <a:rPr lang="zh-CN" altLang="en-US" sz="2200" dirty="0" smtClean="0">
                <a:latin typeface="+mn-ea"/>
              </a:rPr>
              <a:t>。千万</a:t>
            </a:r>
            <a:r>
              <a:rPr lang="zh-CN" altLang="en-US" sz="2200" dirty="0">
                <a:latin typeface="+mn-ea"/>
              </a:rPr>
              <a:t>不要小看权衡的严重性</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smtClean="0">
                <a:latin typeface="+mn-ea"/>
              </a:rPr>
              <a:t>如果开发</a:t>
            </a:r>
            <a:r>
              <a:rPr lang="zh-CN" altLang="en-US" sz="2200" dirty="0">
                <a:latin typeface="+mn-ea"/>
              </a:rPr>
              <a:t>并维护一份详细的需求文档，一组详细的分析模型，再加上一组详细的架构模型，以及一组详细的设计模型，那么，大部分的时间不是花在写源代码上，而是花在了更新文档上。</a:t>
            </a:r>
            <a:endParaRPr lang="en-US" altLang="zh-CN" sz="2200" dirty="0" smtClean="0">
              <a:latin typeface="+mn-ea"/>
            </a:endParaRPr>
          </a:p>
        </p:txBody>
      </p:sp>
    </p:spTree>
    <p:extLst>
      <p:ext uri="{BB962C8B-B14F-4D97-AF65-F5344CB8AC3E}">
        <p14:creationId xmlns:p14="http://schemas.microsoft.com/office/powerpoint/2010/main" val="2115189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035"/>
            <a:ext cx="10349345" cy="6832965"/>
          </a:xfrm>
          <a:prstGeom prst="rect">
            <a:avLst/>
          </a:prstGeom>
        </p:spPr>
      </p:pic>
    </p:spTree>
    <p:extLst>
      <p:ext uri="{BB962C8B-B14F-4D97-AF65-F5344CB8AC3E}">
        <p14:creationId xmlns:p14="http://schemas.microsoft.com/office/powerpoint/2010/main" val="3372020175"/>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dirty="0" smtClean="0"/>
              <a:t>Stakeholder</a:t>
            </a:r>
            <a:r>
              <a:rPr lang="zh-CN" altLang="en-US" dirty="0" smtClean="0"/>
              <a:t>积极参与</a:t>
            </a:r>
            <a:endParaRPr lang="zh-CN" altLang="en-US" dirty="0"/>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集体所有制</a:t>
            </a:r>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公开展示模型</a:t>
            </a:r>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小增量建模</a:t>
            </a:r>
            <a:endParaRPr lang="zh-CN" altLang="en-US" dirty="0"/>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和他人一起建模</a:t>
            </a:r>
            <a:endParaRPr lang="zh-CN" altLang="en-US" dirty="0"/>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用代码验证</a:t>
            </a:r>
            <a:endParaRPr lang="zh-CN" altLang="en-US" dirty="0"/>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使用最简单的工具</a:t>
            </a:r>
            <a:endParaRPr lang="zh-CN" altLang="en-US" dirty="0"/>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1</a:t>
            </a:r>
            <a:r>
              <a:rPr lang="zh-CN" altLang="en-US" dirty="0" smtClean="0">
                <a:latin typeface="+mn-ea"/>
              </a:rPr>
              <a:t>）</a:t>
            </a:r>
            <a:r>
              <a:rPr lang="en-US" altLang="zh-CN" dirty="0" smtClean="0">
                <a:latin typeface="+mn-ea"/>
              </a:rPr>
              <a:t>Stakeholder</a:t>
            </a:r>
            <a:r>
              <a:rPr lang="zh-CN" altLang="en-US" dirty="0">
                <a:latin typeface="+mn-ea"/>
              </a:rPr>
              <a:t>积极</a:t>
            </a:r>
            <a:r>
              <a:rPr lang="zh-CN" altLang="en-US" dirty="0" smtClean="0">
                <a:latin typeface="+mn-ea"/>
              </a:rPr>
              <a:t>参与</a:t>
            </a:r>
            <a:endParaRPr lang="en-US" altLang="zh-CN" dirty="0" smtClean="0">
              <a:latin typeface="+mn-ea"/>
            </a:endParaRPr>
          </a:p>
          <a:p>
            <a:pPr lvl="1">
              <a:lnSpc>
                <a:spcPct val="100000"/>
              </a:lnSpc>
              <a:spcBef>
                <a:spcPts val="600"/>
              </a:spcBef>
            </a:pPr>
            <a:r>
              <a:rPr lang="en-US" altLang="zh-CN" sz="2200" dirty="0" smtClean="0">
                <a:latin typeface="+mn-ea"/>
              </a:rPr>
              <a:t>Stakeholder</a:t>
            </a:r>
            <a:r>
              <a:rPr lang="zh-CN" altLang="en-US" sz="2200" dirty="0" smtClean="0">
                <a:latin typeface="+mn-ea"/>
              </a:rPr>
              <a:t>：（某</a:t>
            </a:r>
            <a:r>
              <a:rPr lang="zh-CN" altLang="en-US" sz="2200" dirty="0">
                <a:latin typeface="+mn-ea"/>
              </a:rPr>
              <a:t>组织、工程、体系等</a:t>
            </a:r>
            <a:r>
              <a:rPr lang="zh-CN" altLang="en-US" sz="2200" dirty="0" smtClean="0">
                <a:latin typeface="+mn-ea"/>
              </a:rPr>
              <a:t>的）参与</a:t>
            </a:r>
            <a:r>
              <a:rPr lang="zh-CN" altLang="en-US" sz="2200" dirty="0">
                <a:latin typeface="+mn-ea"/>
              </a:rPr>
              <a:t>人，参与方</a:t>
            </a:r>
            <a:r>
              <a:rPr lang="en-US" altLang="zh-CN" sz="2200" dirty="0">
                <a:latin typeface="+mn-ea"/>
              </a:rPr>
              <a:t>; </a:t>
            </a:r>
            <a:r>
              <a:rPr lang="zh-CN" altLang="en-US" sz="2200" dirty="0">
                <a:latin typeface="+mn-ea"/>
              </a:rPr>
              <a:t>有权益关系者</a:t>
            </a:r>
            <a:r>
              <a:rPr lang="zh-CN" altLang="en-US" sz="2200" dirty="0" smtClean="0">
                <a:latin typeface="+mn-ea"/>
              </a:rPr>
              <a:t>。</a:t>
            </a:r>
            <a:endParaRPr lang="en-US" altLang="zh-CN" sz="2200" dirty="0" smtClean="0">
              <a:latin typeface="+mn-ea"/>
            </a:endParaRPr>
          </a:p>
          <a:p>
            <a:pPr lvl="1">
              <a:lnSpc>
                <a:spcPct val="100000"/>
              </a:lnSpc>
              <a:spcBef>
                <a:spcPts val="600"/>
              </a:spcBef>
            </a:pPr>
            <a:r>
              <a:rPr lang="en-US" altLang="zh-CN" sz="2200" dirty="0" smtClean="0">
                <a:latin typeface="+mn-ea"/>
              </a:rPr>
              <a:t>Project Stakeholder</a:t>
            </a:r>
            <a:r>
              <a:rPr lang="zh-CN" altLang="en-US" sz="2200" dirty="0" smtClean="0">
                <a:latin typeface="+mn-ea"/>
              </a:rPr>
              <a:t>包括</a:t>
            </a:r>
            <a:r>
              <a:rPr lang="zh-CN" altLang="en-US" sz="2200" dirty="0">
                <a:latin typeface="+mn-ea"/>
              </a:rPr>
              <a:t>了直接用户、他们的经理、高级经理、操作人员、支持人员</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参与包括</a:t>
            </a:r>
            <a:r>
              <a:rPr lang="zh-CN" altLang="en-US" sz="2200" dirty="0" smtClean="0">
                <a:latin typeface="+mn-ea"/>
              </a:rPr>
              <a:t>：</a:t>
            </a:r>
            <a:endParaRPr lang="en-US" altLang="zh-CN" sz="2200" dirty="0" smtClean="0">
              <a:latin typeface="+mn-ea"/>
            </a:endParaRPr>
          </a:p>
          <a:p>
            <a:pPr lvl="2">
              <a:lnSpc>
                <a:spcPct val="100000"/>
              </a:lnSpc>
              <a:spcBef>
                <a:spcPts val="600"/>
              </a:spcBef>
            </a:pPr>
            <a:r>
              <a:rPr lang="zh-CN" altLang="en-US" sz="1800" dirty="0" smtClean="0">
                <a:latin typeface="+mn-ea"/>
              </a:rPr>
              <a:t>开发人员与用户的现场接触</a:t>
            </a:r>
            <a:endParaRPr lang="en-US" altLang="zh-CN" sz="1800" dirty="0" smtClean="0">
              <a:latin typeface="+mn-ea"/>
            </a:endParaRPr>
          </a:p>
          <a:p>
            <a:pPr lvl="2">
              <a:lnSpc>
                <a:spcPct val="100000"/>
              </a:lnSpc>
              <a:spcBef>
                <a:spcPts val="600"/>
              </a:spcBef>
            </a:pPr>
            <a:r>
              <a:rPr lang="zh-CN" altLang="en-US" sz="1800" dirty="0" smtClean="0">
                <a:latin typeface="+mn-ea"/>
              </a:rPr>
              <a:t>用户有足够的权限和能力，提供信息、做出需求决策等</a:t>
            </a:r>
            <a:endParaRPr lang="en-US" altLang="zh-CN" sz="1800" dirty="0" smtClean="0">
              <a:latin typeface="+mn-ea"/>
            </a:endParaRPr>
          </a:p>
          <a:p>
            <a:pPr lvl="2">
              <a:lnSpc>
                <a:spcPct val="100000"/>
              </a:lnSpc>
              <a:spcBef>
                <a:spcPts val="600"/>
              </a:spcBef>
            </a:pPr>
            <a:r>
              <a:rPr lang="zh-CN" altLang="en-US" sz="1800" dirty="0" smtClean="0">
                <a:latin typeface="+mn-ea"/>
              </a:rPr>
              <a:t>高级</a:t>
            </a:r>
            <a:r>
              <a:rPr lang="zh-CN" altLang="en-US" sz="1800" dirty="0">
                <a:latin typeface="+mn-ea"/>
              </a:rPr>
              <a:t>经理及时的资源安排</a:t>
            </a:r>
            <a:r>
              <a:rPr lang="zh-CN" altLang="en-US" sz="1800" dirty="0" smtClean="0">
                <a:latin typeface="+mn-ea"/>
              </a:rPr>
              <a:t>决策，以及对</a:t>
            </a:r>
            <a:r>
              <a:rPr lang="zh-CN" altLang="en-US" sz="1800" dirty="0">
                <a:latin typeface="+mn-ea"/>
              </a:rPr>
              <a:t>项目</a:t>
            </a:r>
            <a:r>
              <a:rPr lang="zh-CN" altLang="en-US" sz="1800" dirty="0" smtClean="0">
                <a:latin typeface="+mn-ea"/>
              </a:rPr>
              <a:t>的支持</a:t>
            </a:r>
            <a:endParaRPr lang="en-US" altLang="zh-CN" sz="1800" dirty="0" smtClean="0">
              <a:latin typeface="+mn-ea"/>
            </a:endParaRPr>
          </a:p>
          <a:p>
            <a:pPr lvl="2">
              <a:lnSpc>
                <a:spcPct val="100000"/>
              </a:lnSpc>
              <a:spcBef>
                <a:spcPts val="600"/>
              </a:spcBef>
            </a:pPr>
            <a:r>
              <a:rPr lang="zh-CN" altLang="en-US" sz="1800" dirty="0" smtClean="0">
                <a:latin typeface="+mn-ea"/>
              </a:rPr>
              <a:t>需求</a:t>
            </a:r>
            <a:r>
              <a:rPr lang="zh-CN" altLang="en-US" sz="1800" dirty="0">
                <a:latin typeface="+mn-ea"/>
              </a:rPr>
              <a:t>开发阶段操作人员和支持人员的积极参与</a:t>
            </a:r>
            <a:endParaRPr lang="en-US" altLang="zh-CN" sz="1800" dirty="0" smtClean="0">
              <a:latin typeface="+mn-ea"/>
            </a:endParaRPr>
          </a:p>
        </p:txBody>
      </p:sp>
    </p:spTree>
    <p:extLst>
      <p:ext uri="{BB962C8B-B14F-4D97-AF65-F5344CB8AC3E}">
        <p14:creationId xmlns:p14="http://schemas.microsoft.com/office/powerpoint/2010/main" val="614268279"/>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正确使用</a:t>
            </a:r>
            <a:r>
              <a:rPr lang="en-US" altLang="zh-CN" dirty="0" smtClean="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集体所有制</a:t>
            </a:r>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公开展示模型</a:t>
            </a:r>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小增量建模</a:t>
            </a:r>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和他人一起建模</a:t>
            </a:r>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用代码验证</a:t>
            </a:r>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使用最简单的工具</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2</a:t>
            </a:r>
            <a:r>
              <a:rPr lang="zh-CN" altLang="en-US" dirty="0">
                <a:latin typeface="+mn-ea"/>
              </a:rPr>
              <a:t>）正确使用</a:t>
            </a:r>
            <a:r>
              <a:rPr lang="en-US" altLang="zh-CN" dirty="0">
                <a:latin typeface="+mn-ea"/>
              </a:rPr>
              <a:t>artifact</a:t>
            </a:r>
            <a:endParaRPr lang="en-US" altLang="zh-CN" dirty="0" smtClean="0">
              <a:latin typeface="+mn-ea"/>
            </a:endParaRPr>
          </a:p>
          <a:p>
            <a:pPr lvl="1">
              <a:lnSpc>
                <a:spcPct val="100000"/>
              </a:lnSpc>
              <a:spcBef>
                <a:spcPts val="600"/>
              </a:spcBef>
            </a:pPr>
            <a:r>
              <a:rPr lang="zh-CN" altLang="en-US" sz="2200" dirty="0">
                <a:latin typeface="+mn-ea"/>
              </a:rPr>
              <a:t>每个</a:t>
            </a:r>
            <a:r>
              <a:rPr lang="en-US" altLang="zh-CN" sz="2200" dirty="0">
                <a:latin typeface="+mn-ea"/>
              </a:rPr>
              <a:t>artifact</a:t>
            </a:r>
            <a:r>
              <a:rPr lang="zh-CN" altLang="en-US" sz="2200" dirty="0">
                <a:latin typeface="+mn-ea"/>
              </a:rPr>
              <a:t>都有它们各自的适用之处。例如，一个</a:t>
            </a:r>
            <a:r>
              <a:rPr lang="en-US" altLang="zh-CN" sz="2200" dirty="0">
                <a:latin typeface="+mn-ea"/>
              </a:rPr>
              <a:t>UML</a:t>
            </a:r>
            <a:r>
              <a:rPr lang="zh-CN" altLang="en-US" sz="2200" dirty="0">
                <a:latin typeface="+mn-ea"/>
              </a:rPr>
              <a:t>的</a:t>
            </a:r>
            <a:r>
              <a:rPr lang="zh-CN" altLang="en-US" sz="2200" dirty="0" smtClean="0">
                <a:latin typeface="+mn-ea"/>
              </a:rPr>
              <a:t>活动图适合</a:t>
            </a:r>
            <a:r>
              <a:rPr lang="zh-CN" altLang="en-US" sz="2200" dirty="0">
                <a:latin typeface="+mn-ea"/>
              </a:rPr>
              <a:t>用于描述一个业务</a:t>
            </a:r>
            <a:r>
              <a:rPr lang="zh-CN" altLang="en-US" sz="2200" dirty="0" smtClean="0">
                <a:latin typeface="+mn-ea"/>
              </a:rPr>
              <a:t>流程</a:t>
            </a:r>
            <a:r>
              <a:rPr lang="zh-CN" altLang="en-US" sz="2200" dirty="0">
                <a:latin typeface="+mn-ea"/>
              </a:rPr>
              <a:t>。</a:t>
            </a:r>
            <a:endParaRPr lang="en-US" altLang="zh-CN" sz="2200" dirty="0" smtClean="0">
              <a:latin typeface="+mn-ea"/>
            </a:endParaRPr>
          </a:p>
          <a:p>
            <a:pPr lvl="1">
              <a:lnSpc>
                <a:spcPct val="100000"/>
              </a:lnSpc>
              <a:spcBef>
                <a:spcPts val="600"/>
              </a:spcBef>
            </a:pPr>
            <a:r>
              <a:rPr lang="zh-CN" altLang="en-US" sz="2200" dirty="0">
                <a:latin typeface="+mn-ea"/>
              </a:rPr>
              <a:t>在很多时候，一张图表比源代码更能发挥作用。在研究设计方案时，你可和同伴们和在白板上画一些图表来</a:t>
            </a:r>
            <a:r>
              <a:rPr lang="zh-CN" altLang="en-US" sz="2200" dirty="0" smtClean="0">
                <a:latin typeface="+mn-ea"/>
              </a:rPr>
              <a:t>讨论</a:t>
            </a:r>
            <a:r>
              <a:rPr lang="zh-CN" altLang="en-US" sz="2200" dirty="0">
                <a:latin typeface="+mn-ea"/>
              </a:rPr>
              <a:t>。</a:t>
            </a:r>
            <a:endParaRPr lang="en-US" altLang="zh-CN" sz="2200" dirty="0" smtClean="0">
              <a:latin typeface="+mn-ea"/>
            </a:endParaRPr>
          </a:p>
          <a:p>
            <a:pPr lvl="1">
              <a:lnSpc>
                <a:spcPct val="100000"/>
              </a:lnSpc>
              <a:spcBef>
                <a:spcPts val="600"/>
              </a:spcBef>
            </a:pPr>
            <a:r>
              <a:rPr lang="zh-CN" altLang="en-US" sz="2200" dirty="0">
                <a:latin typeface="+mn-ea"/>
              </a:rPr>
              <a:t>需要了解每一种</a:t>
            </a:r>
            <a:r>
              <a:rPr lang="en-US" altLang="zh-CN" sz="2200" dirty="0">
                <a:latin typeface="+mn-ea"/>
              </a:rPr>
              <a:t>artifact</a:t>
            </a:r>
            <a:r>
              <a:rPr lang="zh-CN" altLang="en-US" sz="2200" dirty="0">
                <a:latin typeface="+mn-ea"/>
              </a:rPr>
              <a:t>的长处和短处</a:t>
            </a:r>
            <a:r>
              <a:rPr lang="zh-CN" altLang="en-US" sz="2200" dirty="0" smtClean="0">
                <a:latin typeface="+mn-ea"/>
              </a:rPr>
              <a:t>，</a:t>
            </a:r>
            <a:r>
              <a:rPr lang="zh-CN" altLang="en-US" sz="2200" dirty="0">
                <a:latin typeface="+mn-ea"/>
              </a:rPr>
              <a:t>这</a:t>
            </a:r>
            <a:r>
              <a:rPr lang="zh-CN" altLang="en-US" sz="2200" dirty="0" smtClean="0">
                <a:latin typeface="+mn-ea"/>
              </a:rPr>
              <a:t>一点很重要且不容易做到。</a:t>
            </a:r>
            <a:endParaRPr lang="en-US" altLang="zh-CN" sz="1800" dirty="0" smtClean="0">
              <a:latin typeface="+mn-ea"/>
            </a:endParaRPr>
          </a:p>
        </p:txBody>
      </p:sp>
    </p:spTree>
    <p:extLst>
      <p:ext uri="{BB962C8B-B14F-4D97-AF65-F5344CB8AC3E}">
        <p14:creationId xmlns:p14="http://schemas.microsoft.com/office/powerpoint/2010/main" val="80410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集体所有制</a:t>
            </a:r>
            <a:endParaRPr lang="zh-CN" altLang="en-US" dirty="0"/>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公开展示模型</a:t>
            </a:r>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小增量建模</a:t>
            </a:r>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和他人一起建模</a:t>
            </a:r>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用代码验证</a:t>
            </a:r>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使用最简单的工具</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3</a:t>
            </a:r>
            <a:r>
              <a:rPr lang="zh-CN" altLang="en-US" dirty="0" smtClean="0">
                <a:latin typeface="+mn-ea"/>
              </a:rPr>
              <a:t>）</a:t>
            </a:r>
            <a:r>
              <a:rPr lang="zh-CN" altLang="en-US" dirty="0">
                <a:latin typeface="+mn-ea"/>
              </a:rPr>
              <a:t>集体所有制</a:t>
            </a:r>
            <a:endParaRPr lang="en-US" altLang="zh-CN" dirty="0" smtClean="0">
              <a:latin typeface="+mn-ea"/>
            </a:endParaRPr>
          </a:p>
          <a:p>
            <a:pPr lvl="1">
              <a:lnSpc>
                <a:spcPct val="100000"/>
              </a:lnSpc>
              <a:spcBef>
                <a:spcPts val="600"/>
              </a:spcBef>
            </a:pPr>
            <a:r>
              <a:rPr lang="zh-CN" altLang="en-US" sz="2200" dirty="0">
                <a:latin typeface="+mn-ea"/>
              </a:rPr>
              <a:t>只要有需要，所有人都可以使用、修改项目中的任何模型、任何</a:t>
            </a:r>
            <a:r>
              <a:rPr lang="en-US" altLang="zh-CN" sz="2200" dirty="0">
                <a:latin typeface="+mn-ea"/>
              </a:rPr>
              <a:t>artifact</a:t>
            </a:r>
            <a:r>
              <a:rPr lang="zh-CN" altLang="en-US" sz="2200" dirty="0" smtClean="0">
                <a:latin typeface="+mn-ea"/>
              </a:rPr>
              <a:t>。</a:t>
            </a:r>
            <a:endParaRPr lang="en-US" altLang="zh-CN" sz="1800" dirty="0" smtClean="0">
              <a:latin typeface="+mn-ea"/>
            </a:endParaRPr>
          </a:p>
        </p:txBody>
      </p:sp>
    </p:spTree>
    <p:extLst>
      <p:ext uri="{BB962C8B-B14F-4D97-AF65-F5344CB8AC3E}">
        <p14:creationId xmlns:p14="http://schemas.microsoft.com/office/powerpoint/2010/main" val="977668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集体所有制</a:t>
            </a:r>
            <a:endParaRPr lang="zh-CN" altLang="en-US" dirty="0"/>
          </a:p>
        </p:txBody>
      </p:sp>
      <p:sp>
        <p:nvSpPr>
          <p:cNvPr id="12" name="圆角矩形 11"/>
          <p:cNvSpPr/>
          <p:nvPr/>
        </p:nvSpPr>
        <p:spPr>
          <a:xfrm>
            <a:off x="1730271" y="3024590"/>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测试性思维</a:t>
            </a:r>
            <a:endParaRPr lang="zh-CN" altLang="en-US" dirty="0"/>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公开展示模型</a:t>
            </a:r>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小增量建模</a:t>
            </a:r>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和他人一起建模</a:t>
            </a:r>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用代码验证</a:t>
            </a:r>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使用最简单的工具</a:t>
            </a:r>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4</a:t>
            </a:r>
            <a:r>
              <a:rPr lang="zh-CN" altLang="en-US" dirty="0" smtClean="0">
                <a:latin typeface="+mn-ea"/>
              </a:rPr>
              <a:t>）测试性思维</a:t>
            </a:r>
            <a:endParaRPr lang="en-US" altLang="zh-CN" dirty="0" smtClean="0">
              <a:latin typeface="+mn-ea"/>
            </a:endParaRPr>
          </a:p>
          <a:p>
            <a:pPr lvl="1">
              <a:lnSpc>
                <a:spcPct val="100000"/>
              </a:lnSpc>
              <a:spcBef>
                <a:spcPts val="600"/>
              </a:spcBef>
            </a:pPr>
            <a:r>
              <a:rPr lang="zh-CN" altLang="en-US" sz="2200" dirty="0">
                <a:latin typeface="+mn-ea"/>
              </a:rPr>
              <a:t>在建立模型的时候</a:t>
            </a:r>
            <a:r>
              <a:rPr lang="zh-CN" altLang="en-US" sz="2200" dirty="0" smtClean="0">
                <a:latin typeface="+mn-ea"/>
              </a:rPr>
              <a:t>，就要</a:t>
            </a:r>
            <a:r>
              <a:rPr lang="zh-CN" altLang="en-US" sz="2200" dirty="0">
                <a:latin typeface="+mn-ea"/>
              </a:rPr>
              <a:t>不断的问自己，“我该如何测试它？”如果你没办法测试正在开发的软件，你根本就不应该开发它</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在现代的各种软件过程中，测试和质量保证</a:t>
            </a:r>
            <a:r>
              <a:rPr lang="zh-CN" altLang="en-US" sz="2200" dirty="0" smtClean="0">
                <a:latin typeface="+mn-ea"/>
              </a:rPr>
              <a:t>（</a:t>
            </a:r>
            <a:r>
              <a:rPr lang="en-US" altLang="zh-CN" sz="2200" dirty="0" smtClean="0">
                <a:latin typeface="+mn-ea"/>
              </a:rPr>
              <a:t>Quality </a:t>
            </a:r>
            <a:r>
              <a:rPr lang="en-US" altLang="zh-CN" sz="2200" dirty="0">
                <a:latin typeface="+mn-ea"/>
              </a:rPr>
              <a:t>A</a:t>
            </a:r>
            <a:r>
              <a:rPr lang="en-US" altLang="zh-CN" sz="2200" dirty="0" smtClean="0">
                <a:latin typeface="+mn-ea"/>
              </a:rPr>
              <a:t>ssurance</a:t>
            </a:r>
            <a:r>
              <a:rPr lang="zh-CN" altLang="en-US" sz="2200" dirty="0">
                <a:latin typeface="+mn-ea"/>
              </a:rPr>
              <a:t>）活动都贯穿于整个项目生命周期，一些过程更是提出了“在编写软件之前先编写测试”的概念。</a:t>
            </a:r>
            <a:endParaRPr lang="en-US" altLang="zh-CN" sz="2200" dirty="0">
              <a:latin typeface="+mn-ea"/>
            </a:endParaRPr>
          </a:p>
        </p:txBody>
      </p:sp>
    </p:spTree>
    <p:extLst>
      <p:ext uri="{BB962C8B-B14F-4D97-AF65-F5344CB8AC3E}">
        <p14:creationId xmlns:p14="http://schemas.microsoft.com/office/powerpoint/2010/main" val="689137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集体所有制</a:t>
            </a:r>
            <a:endParaRPr lang="zh-CN" altLang="en-US" dirty="0"/>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创建简单内容</a:t>
            </a:r>
            <a:endParaRPr lang="zh-CN" altLang="en-US" dirty="0"/>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公开展示模型</a:t>
            </a:r>
            <a:endParaRPr lang="zh-CN" altLang="en-US" dirty="0"/>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小</a:t>
            </a:r>
            <a:r>
              <a:rPr lang="zh-CN" altLang="en-US" dirty="0" smtClean="0"/>
              <a:t>增量建模</a:t>
            </a:r>
            <a:endParaRPr lang="zh-CN" altLang="en-US" dirty="0"/>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和</a:t>
            </a:r>
            <a:r>
              <a:rPr lang="zh-CN" altLang="en-US" dirty="0" smtClean="0"/>
              <a:t>他人一起建模</a:t>
            </a:r>
            <a:endParaRPr lang="zh-CN" altLang="en-US" dirty="0"/>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用代码验证</a:t>
            </a:r>
            <a:endParaRPr lang="zh-CN" altLang="en-US" dirty="0"/>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使用最简单的工具</a:t>
            </a:r>
            <a:endParaRPr lang="zh-CN" altLang="en-US" dirty="0"/>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5</a:t>
            </a:r>
            <a:r>
              <a:rPr lang="zh-CN" altLang="en-US" dirty="0" smtClean="0">
                <a:latin typeface="+mn-ea"/>
              </a:rPr>
              <a:t>）并行创建模型</a:t>
            </a:r>
            <a:endParaRPr lang="en-US" altLang="zh-CN" dirty="0" smtClean="0">
              <a:latin typeface="+mn-ea"/>
            </a:endParaRPr>
          </a:p>
          <a:p>
            <a:pPr lvl="1">
              <a:lnSpc>
                <a:spcPct val="100000"/>
              </a:lnSpc>
              <a:spcBef>
                <a:spcPts val="600"/>
              </a:spcBef>
            </a:pPr>
            <a:r>
              <a:rPr lang="zh-CN" altLang="en-US" sz="2200" dirty="0">
                <a:latin typeface="+mn-ea"/>
              </a:rPr>
              <a:t>由于每种模型都有其长处和短处，没有一个模型能够完全满足建模的需要</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敏捷建模者会发现在任何时候，同时进行多个模型的</a:t>
            </a:r>
            <a:r>
              <a:rPr lang="zh-CN" altLang="en-US" sz="2200" dirty="0" smtClean="0">
                <a:latin typeface="+mn-ea"/>
              </a:rPr>
              <a:t>开发，</a:t>
            </a:r>
            <a:r>
              <a:rPr lang="zh-CN" altLang="en-US" sz="2200" dirty="0">
                <a:latin typeface="+mn-ea"/>
              </a:rPr>
              <a:t>要比单纯集中于一个模型要</a:t>
            </a:r>
            <a:r>
              <a:rPr lang="zh-CN" altLang="en-US" sz="2200" dirty="0" smtClean="0">
                <a:latin typeface="+mn-ea"/>
              </a:rPr>
              <a:t>有效率</a:t>
            </a:r>
            <a:r>
              <a:rPr lang="zh-CN" altLang="en-US" sz="2200" dirty="0">
                <a:latin typeface="+mn-ea"/>
              </a:rPr>
              <a:t>得</a:t>
            </a:r>
            <a:r>
              <a:rPr lang="zh-CN" altLang="en-US" sz="2200" dirty="0" smtClean="0">
                <a:latin typeface="+mn-ea"/>
              </a:rPr>
              <a:t>多。</a:t>
            </a:r>
            <a:endParaRPr lang="en-US" altLang="zh-CN" sz="2200" dirty="0" smtClean="0">
              <a:latin typeface="+mn-ea"/>
            </a:endParaRPr>
          </a:p>
          <a:p>
            <a:pPr lvl="1">
              <a:lnSpc>
                <a:spcPct val="100000"/>
              </a:lnSpc>
              <a:spcBef>
                <a:spcPts val="600"/>
              </a:spcBef>
            </a:pPr>
            <a:r>
              <a:rPr lang="zh-CN" altLang="en-US" sz="2200" dirty="0" smtClean="0">
                <a:latin typeface="+mn-ea"/>
              </a:rPr>
              <a:t>例如在</a:t>
            </a:r>
            <a:r>
              <a:rPr lang="zh-CN" altLang="en-US" sz="2200" dirty="0">
                <a:latin typeface="+mn-ea"/>
              </a:rPr>
              <a:t>收集需求时</a:t>
            </a:r>
            <a:r>
              <a:rPr lang="zh-CN" altLang="en-US" sz="2200" dirty="0" smtClean="0">
                <a:latin typeface="+mn-ea"/>
              </a:rPr>
              <a:t>，需要</a:t>
            </a:r>
            <a:r>
              <a:rPr lang="zh-CN" altLang="en-US" sz="2200" dirty="0">
                <a:latin typeface="+mn-ea"/>
              </a:rPr>
              <a:t>开发一些基本用例或用户</a:t>
            </a:r>
            <a:r>
              <a:rPr lang="zh-CN" altLang="en-US" sz="2200" dirty="0" smtClean="0">
                <a:latin typeface="+mn-ea"/>
              </a:rPr>
              <a:t>素材、一</a:t>
            </a:r>
            <a:r>
              <a:rPr lang="zh-CN" altLang="en-US" sz="2200" dirty="0">
                <a:latin typeface="+mn-ea"/>
              </a:rPr>
              <a:t>个基本用户界面</a:t>
            </a:r>
            <a:r>
              <a:rPr lang="zh-CN" altLang="en-US" sz="2200" smtClean="0">
                <a:latin typeface="+mn-ea"/>
              </a:rPr>
              <a:t>原型、一些</a:t>
            </a:r>
            <a:r>
              <a:rPr lang="zh-CN" altLang="en-US" sz="2200" dirty="0">
                <a:latin typeface="+mn-ea"/>
              </a:rPr>
              <a:t>业务</a:t>
            </a:r>
            <a:r>
              <a:rPr lang="zh-CN" altLang="en-US" sz="2200" dirty="0" smtClean="0">
                <a:latin typeface="+mn-ea"/>
              </a:rPr>
              <a:t>规则</a:t>
            </a:r>
            <a:r>
              <a:rPr lang="zh-CN" altLang="en-US" sz="2200" dirty="0">
                <a:latin typeface="+mn-ea"/>
              </a:rPr>
              <a:t>，</a:t>
            </a:r>
            <a:r>
              <a:rPr lang="zh-CN" altLang="en-US" sz="2200" dirty="0" smtClean="0">
                <a:latin typeface="+mn-ea"/>
              </a:rPr>
              <a:t>再</a:t>
            </a:r>
            <a:r>
              <a:rPr lang="zh-CN" altLang="en-US" sz="2200" dirty="0">
                <a:latin typeface="+mn-ea"/>
              </a:rPr>
              <a:t>结合实践切换到另外的</a:t>
            </a:r>
            <a:r>
              <a:rPr lang="en-US" altLang="zh-CN" sz="2200" dirty="0" smtClean="0">
                <a:latin typeface="+mn-ea"/>
              </a:rPr>
              <a:t>Artifact……</a:t>
            </a:r>
            <a:endParaRPr lang="en-US" altLang="zh-CN" sz="2200" dirty="0">
              <a:latin typeface="+mn-ea"/>
            </a:endParaRPr>
          </a:p>
        </p:txBody>
      </p:sp>
    </p:spTree>
    <p:extLst>
      <p:ext uri="{BB962C8B-B14F-4D97-AF65-F5344CB8AC3E}">
        <p14:creationId xmlns:p14="http://schemas.microsoft.com/office/powerpoint/2010/main" val="3624572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集体所有制</a:t>
            </a:r>
            <a:endParaRPr lang="zh-CN" altLang="en-US" dirty="0"/>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公开展示模型</a:t>
            </a:r>
            <a:endParaRPr lang="zh-CN" altLang="en-US" dirty="0"/>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小</a:t>
            </a:r>
            <a:r>
              <a:rPr lang="zh-CN" altLang="en-US" dirty="0" smtClean="0"/>
              <a:t>增量建模</a:t>
            </a:r>
            <a:endParaRPr lang="zh-CN" altLang="en-US" dirty="0"/>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和</a:t>
            </a:r>
            <a:r>
              <a:rPr lang="zh-CN" altLang="en-US" dirty="0" smtClean="0"/>
              <a:t>他人一起建模</a:t>
            </a:r>
            <a:endParaRPr lang="zh-CN" altLang="en-US" dirty="0"/>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用代码验证</a:t>
            </a:r>
            <a:endParaRPr lang="zh-CN" altLang="en-US" dirty="0"/>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使用最简单的工具</a:t>
            </a:r>
            <a:endParaRPr lang="zh-CN" altLang="en-US" dirty="0"/>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6</a:t>
            </a:r>
            <a:r>
              <a:rPr lang="zh-CN" altLang="en-US" dirty="0" smtClean="0">
                <a:latin typeface="+mn-ea"/>
              </a:rPr>
              <a:t>）创建简单内容</a:t>
            </a:r>
            <a:endParaRPr lang="en-US" altLang="zh-CN" dirty="0" smtClean="0">
              <a:latin typeface="+mn-ea"/>
            </a:endParaRPr>
          </a:p>
          <a:p>
            <a:pPr lvl="1">
              <a:lnSpc>
                <a:spcPct val="100000"/>
              </a:lnSpc>
              <a:spcBef>
                <a:spcPts val="600"/>
              </a:spcBef>
            </a:pPr>
            <a:r>
              <a:rPr lang="zh-CN" altLang="en-US" sz="2200" dirty="0">
                <a:latin typeface="+mn-ea"/>
              </a:rPr>
              <a:t>在</a:t>
            </a:r>
            <a:r>
              <a:rPr lang="zh-CN" altLang="en-US" sz="2200" dirty="0" smtClean="0">
                <a:latin typeface="+mn-ea"/>
              </a:rPr>
              <a:t>满足</a:t>
            </a:r>
            <a:r>
              <a:rPr lang="en-US" altLang="zh-CN" sz="2200" dirty="0" smtClean="0">
                <a:latin typeface="+mn-ea"/>
              </a:rPr>
              <a:t>project stakeholder</a:t>
            </a:r>
            <a:r>
              <a:rPr lang="zh-CN" altLang="en-US" sz="2200" dirty="0" smtClean="0">
                <a:latin typeface="+mn-ea"/>
              </a:rPr>
              <a:t>需要的前提下，尽可能保持模型（需求、分析、架构、设计）简单。不要画蛇添足，例如没有</a:t>
            </a:r>
            <a:r>
              <a:rPr lang="en-US" altLang="zh-CN" sz="2200" dirty="0" smtClean="0">
                <a:latin typeface="+mn-ea"/>
              </a:rPr>
              <a:t>SSO</a:t>
            </a:r>
            <a:r>
              <a:rPr lang="zh-CN" altLang="en-US" sz="2200" dirty="0" smtClean="0">
                <a:latin typeface="+mn-ea"/>
              </a:rPr>
              <a:t>需求，就不要把它加到模型中，要有勇气在需要的时候能够很快添加上去。</a:t>
            </a:r>
            <a:endParaRPr lang="en-US" altLang="zh-CN" sz="2200" dirty="0" smtClean="0">
              <a:latin typeface="+mn-ea"/>
            </a:endParaRPr>
          </a:p>
          <a:p>
            <a:pPr lvl="1">
              <a:lnSpc>
                <a:spcPct val="100000"/>
              </a:lnSpc>
              <a:spcBef>
                <a:spcPts val="600"/>
              </a:spcBef>
            </a:pPr>
            <a:r>
              <a:rPr lang="zh-CN" altLang="en-US" sz="2200" dirty="0" smtClean="0">
                <a:latin typeface="+mn-ea"/>
              </a:rPr>
              <a:t>使用简单的图表（</a:t>
            </a:r>
            <a:r>
              <a:rPr lang="en-US" altLang="zh-CN" sz="2200" dirty="0" smtClean="0">
                <a:latin typeface="+mn-ea"/>
              </a:rPr>
              <a:t>UML</a:t>
            </a:r>
            <a:r>
              <a:rPr lang="zh-CN" altLang="en-US" sz="2200" dirty="0" smtClean="0">
                <a:latin typeface="+mn-ea"/>
              </a:rPr>
              <a:t>图、界面设计、数据模型等）。大部分情况下，只需要这些图表符号的</a:t>
            </a:r>
            <a:r>
              <a:rPr lang="zh-CN" altLang="en-US" sz="2200" dirty="0">
                <a:latin typeface="+mn-ea"/>
              </a:rPr>
              <a:t>一部分。例如，一个类图，只要能够显示类的主要责任和类之间的关系就已经足够了</a:t>
            </a:r>
            <a:r>
              <a:rPr lang="zh-CN" altLang="en-US" sz="2200" dirty="0" smtClean="0">
                <a:latin typeface="+mn-ea"/>
              </a:rPr>
              <a:t>。（不需要那么多重复的基本存取方法、甚至是数据类型等）</a:t>
            </a:r>
            <a:endParaRPr lang="en-US" altLang="zh-CN" sz="2200" dirty="0">
              <a:latin typeface="+mn-ea"/>
            </a:endParaRPr>
          </a:p>
        </p:txBody>
      </p:sp>
    </p:spTree>
    <p:extLst>
      <p:ext uri="{BB962C8B-B14F-4D97-AF65-F5344CB8AC3E}">
        <p14:creationId xmlns:p14="http://schemas.microsoft.com/office/powerpoint/2010/main" val="2255659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集体所有制</a:t>
            </a:r>
            <a:endParaRPr lang="zh-CN" altLang="en-US" dirty="0"/>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公开展示模型</a:t>
            </a:r>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小</a:t>
            </a:r>
            <a:r>
              <a:rPr lang="zh-CN" altLang="en-US" dirty="0" smtClean="0"/>
              <a:t>增量建模</a:t>
            </a:r>
            <a:endParaRPr lang="zh-CN" altLang="en-US" dirty="0"/>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和</a:t>
            </a:r>
            <a:r>
              <a:rPr lang="zh-CN" altLang="en-US" dirty="0" smtClean="0"/>
              <a:t>他人一起建模</a:t>
            </a:r>
            <a:endParaRPr lang="zh-CN" altLang="en-US" dirty="0"/>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用代码验证</a:t>
            </a:r>
            <a:endParaRPr lang="zh-CN" altLang="en-US" dirty="0"/>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使用最简单的工具</a:t>
            </a:r>
            <a:endParaRPr lang="zh-CN" altLang="en-US" dirty="0"/>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7</a:t>
            </a:r>
            <a:r>
              <a:rPr lang="zh-CN" altLang="en-US" dirty="0" smtClean="0">
                <a:latin typeface="+mn-ea"/>
              </a:rPr>
              <a:t>）公开展示模型</a:t>
            </a:r>
            <a:endParaRPr lang="en-US" altLang="zh-CN" dirty="0" smtClean="0">
              <a:latin typeface="+mn-ea"/>
            </a:endParaRPr>
          </a:p>
          <a:p>
            <a:pPr lvl="1">
              <a:lnSpc>
                <a:spcPct val="100000"/>
              </a:lnSpc>
              <a:spcBef>
                <a:spcPts val="600"/>
              </a:spcBef>
            </a:pPr>
            <a:r>
              <a:rPr lang="zh-CN" altLang="en-US" sz="2200" dirty="0">
                <a:latin typeface="+mn-ea"/>
              </a:rPr>
              <a:t>应当公开的展示你的模型，模型的载体被称为</a:t>
            </a:r>
            <a:r>
              <a:rPr lang="zh-CN" altLang="en-US" sz="2200" dirty="0" smtClean="0">
                <a:latin typeface="+mn-ea"/>
              </a:rPr>
              <a:t>“</a:t>
            </a:r>
            <a:r>
              <a:rPr lang="en-US" altLang="zh-CN" sz="2200" dirty="0">
                <a:latin typeface="+mn-ea"/>
              </a:rPr>
              <a:t>modeling </a:t>
            </a:r>
            <a:r>
              <a:rPr lang="en-US" altLang="zh-CN" sz="2200" dirty="0" smtClean="0">
                <a:latin typeface="+mn-ea"/>
              </a:rPr>
              <a:t>wall</a:t>
            </a:r>
            <a:r>
              <a:rPr lang="zh-CN" altLang="en-US" sz="2200" dirty="0" smtClean="0">
                <a:latin typeface="+mn-ea"/>
              </a:rPr>
              <a:t>” 或“</a:t>
            </a:r>
            <a:r>
              <a:rPr lang="en-US" altLang="zh-CN" sz="2200" dirty="0" smtClean="0">
                <a:latin typeface="+mn-ea"/>
              </a:rPr>
              <a:t>wall </a:t>
            </a:r>
            <a:r>
              <a:rPr lang="en-US" altLang="zh-CN" sz="2200" dirty="0">
                <a:latin typeface="+mn-ea"/>
              </a:rPr>
              <a:t>of </a:t>
            </a:r>
            <a:r>
              <a:rPr lang="en-US" altLang="zh-CN" sz="2200" dirty="0" smtClean="0">
                <a:latin typeface="+mn-ea"/>
              </a:rPr>
              <a:t>wonder</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这种做法可以在你的团队之间、你和你的</a:t>
            </a:r>
            <a:r>
              <a:rPr lang="en-US" altLang="zh-CN" sz="2200" dirty="0">
                <a:latin typeface="+mn-ea"/>
              </a:rPr>
              <a:t>project stakeholder</a:t>
            </a:r>
            <a:r>
              <a:rPr lang="zh-CN" altLang="en-US" sz="2200" dirty="0">
                <a:latin typeface="+mn-ea"/>
              </a:rPr>
              <a:t>之间营造出开放诚实的沟通</a:t>
            </a:r>
            <a:r>
              <a:rPr lang="zh-CN" altLang="en-US" sz="2200" dirty="0" smtClean="0">
                <a:latin typeface="+mn-ea"/>
              </a:rPr>
              <a:t>氛围。</a:t>
            </a:r>
            <a:endParaRPr lang="en-US" altLang="zh-CN" sz="2200" dirty="0" smtClean="0">
              <a:latin typeface="+mn-ea"/>
            </a:endParaRPr>
          </a:p>
          <a:p>
            <a:pPr lvl="1">
              <a:lnSpc>
                <a:spcPct val="100000"/>
              </a:lnSpc>
              <a:spcBef>
                <a:spcPts val="600"/>
              </a:spcBef>
            </a:pPr>
            <a:r>
              <a:rPr lang="zh-CN" altLang="en-US" sz="2200" dirty="0">
                <a:latin typeface="+mn-ea"/>
              </a:rPr>
              <a:t>建模之墙可能</a:t>
            </a:r>
            <a:r>
              <a:rPr lang="zh-CN" altLang="en-US" sz="2200" dirty="0" smtClean="0">
                <a:latin typeface="+mn-ea"/>
              </a:rPr>
              <a:t>是</a:t>
            </a:r>
            <a:r>
              <a:rPr lang="zh-CN" altLang="en-US" sz="2200" dirty="0" smtClean="0">
                <a:solidFill>
                  <a:srgbClr val="C00000"/>
                </a:solidFill>
                <a:latin typeface="+mn-ea"/>
              </a:rPr>
              <a:t>实体</a:t>
            </a:r>
            <a:r>
              <a:rPr lang="zh-CN" altLang="en-US" sz="2200" dirty="0" smtClean="0">
                <a:latin typeface="+mn-ea"/>
              </a:rPr>
              <a:t>的</a:t>
            </a:r>
            <a:r>
              <a:rPr lang="zh-CN" altLang="en-US" sz="2200" dirty="0">
                <a:latin typeface="+mn-ea"/>
              </a:rPr>
              <a:t>，也许是一块为你的架构图指定的白板，或是物理数据模型的一份</a:t>
            </a:r>
            <a:r>
              <a:rPr lang="zh-CN" altLang="en-US" sz="2200" dirty="0" smtClean="0">
                <a:latin typeface="+mn-ea"/>
              </a:rPr>
              <a:t>打印输出；</a:t>
            </a:r>
            <a:endParaRPr lang="en-US" altLang="zh-CN" sz="2200" dirty="0" smtClean="0">
              <a:latin typeface="+mn-ea"/>
            </a:endParaRPr>
          </a:p>
          <a:p>
            <a:pPr lvl="1">
              <a:lnSpc>
                <a:spcPct val="100000"/>
              </a:lnSpc>
              <a:spcBef>
                <a:spcPts val="600"/>
              </a:spcBef>
            </a:pPr>
            <a:r>
              <a:rPr lang="zh-CN" altLang="en-US" sz="2200" dirty="0" smtClean="0">
                <a:latin typeface="+mn-ea"/>
              </a:rPr>
              <a:t>建模</a:t>
            </a:r>
            <a:r>
              <a:rPr lang="zh-CN" altLang="en-US" sz="2200" dirty="0">
                <a:latin typeface="+mn-ea"/>
              </a:rPr>
              <a:t>之</a:t>
            </a:r>
            <a:r>
              <a:rPr lang="zh-CN" altLang="en-US" sz="2200" dirty="0" smtClean="0">
                <a:latin typeface="+mn-ea"/>
              </a:rPr>
              <a:t>墙可能</a:t>
            </a:r>
            <a:r>
              <a:rPr lang="zh-CN" altLang="en-US" sz="2200" dirty="0">
                <a:latin typeface="+mn-ea"/>
              </a:rPr>
              <a:t>是</a:t>
            </a:r>
            <a:r>
              <a:rPr lang="zh-CN" altLang="en-US" sz="2200" dirty="0">
                <a:solidFill>
                  <a:srgbClr val="C00000"/>
                </a:solidFill>
                <a:latin typeface="+mn-ea"/>
              </a:rPr>
              <a:t>虚拟</a:t>
            </a:r>
            <a:r>
              <a:rPr lang="zh-CN" altLang="en-US" sz="2200" dirty="0">
                <a:latin typeface="+mn-ea"/>
              </a:rPr>
              <a:t>的，例如一个存放扫描好的图片的</a:t>
            </a:r>
            <a:r>
              <a:rPr lang="en-US" altLang="zh-CN" sz="2200" dirty="0">
                <a:latin typeface="+mn-ea"/>
              </a:rPr>
              <a:t>internet</a:t>
            </a:r>
            <a:r>
              <a:rPr lang="zh-CN" altLang="en-US" sz="2200" dirty="0">
                <a:latin typeface="+mn-ea"/>
              </a:rPr>
              <a:t>网页。</a:t>
            </a:r>
            <a:endParaRPr lang="en-US" altLang="zh-CN" sz="2200" dirty="0">
              <a:latin typeface="+mn-ea"/>
            </a:endParaRPr>
          </a:p>
        </p:txBody>
      </p:sp>
    </p:spTree>
    <p:extLst>
      <p:ext uri="{BB962C8B-B14F-4D97-AF65-F5344CB8AC3E}">
        <p14:creationId xmlns:p14="http://schemas.microsoft.com/office/powerpoint/2010/main" val="11159454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集体所有制</a:t>
            </a:r>
            <a:endParaRPr lang="zh-CN" altLang="en-US" dirty="0"/>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公开展示模型</a:t>
            </a:r>
          </a:p>
        </p:txBody>
      </p:sp>
      <p:sp>
        <p:nvSpPr>
          <p:cNvPr id="16" name="圆角矩形 15"/>
          <p:cNvSpPr/>
          <p:nvPr/>
        </p:nvSpPr>
        <p:spPr>
          <a:xfrm>
            <a:off x="1730271" y="4517005"/>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小增量建模</a:t>
            </a:r>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和</a:t>
            </a:r>
            <a:r>
              <a:rPr lang="zh-CN" altLang="en-US" dirty="0" smtClean="0"/>
              <a:t>他人一起建模</a:t>
            </a:r>
            <a:endParaRPr lang="zh-CN" altLang="en-US" dirty="0"/>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用代码验证</a:t>
            </a:r>
            <a:endParaRPr lang="zh-CN" altLang="en-US" dirty="0"/>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使用最简单的工具</a:t>
            </a:r>
            <a:endParaRPr lang="zh-CN" altLang="en-US" dirty="0"/>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8</a:t>
            </a:r>
            <a:r>
              <a:rPr lang="zh-CN" altLang="en-US" dirty="0" smtClean="0">
                <a:latin typeface="+mn-ea"/>
              </a:rPr>
              <a:t>）</a:t>
            </a:r>
            <a:r>
              <a:rPr lang="zh-CN" altLang="en-US" dirty="0">
                <a:latin typeface="+mn-ea"/>
              </a:rPr>
              <a:t>小</a:t>
            </a:r>
            <a:r>
              <a:rPr lang="zh-CN" altLang="en-US" dirty="0" smtClean="0">
                <a:latin typeface="+mn-ea"/>
              </a:rPr>
              <a:t>增量建模</a:t>
            </a:r>
            <a:endParaRPr lang="en-US" altLang="zh-CN" dirty="0" smtClean="0">
              <a:latin typeface="+mn-ea"/>
            </a:endParaRPr>
          </a:p>
          <a:p>
            <a:pPr lvl="1">
              <a:lnSpc>
                <a:spcPct val="100000"/>
              </a:lnSpc>
              <a:spcBef>
                <a:spcPts val="600"/>
              </a:spcBef>
            </a:pPr>
            <a:r>
              <a:rPr lang="zh-CN" altLang="en-US" sz="2200" dirty="0">
                <a:latin typeface="+mn-ea"/>
              </a:rPr>
              <a:t>采用</a:t>
            </a:r>
            <a:r>
              <a:rPr lang="zh-CN" altLang="en-US" sz="2200" b="1" dirty="0">
                <a:solidFill>
                  <a:srgbClr val="C00000"/>
                </a:solidFill>
                <a:latin typeface="+mn-ea"/>
              </a:rPr>
              <a:t>增量开发</a:t>
            </a:r>
            <a:r>
              <a:rPr lang="zh-CN" altLang="en-US" sz="2200" dirty="0">
                <a:latin typeface="+mn-ea"/>
              </a:rPr>
              <a:t>的方式</a:t>
            </a:r>
            <a:r>
              <a:rPr lang="zh-CN" altLang="en-US" sz="2200" dirty="0" smtClean="0">
                <a:latin typeface="+mn-ea"/>
              </a:rPr>
              <a:t>，可以</a:t>
            </a:r>
            <a:r>
              <a:rPr lang="zh-CN" altLang="en-US" sz="2200" dirty="0">
                <a:latin typeface="+mn-ea"/>
              </a:rPr>
              <a:t>把大的工作量分成能够发布的小块，每次的增量控制在几个星期或一两个月的时间内，</a:t>
            </a:r>
            <a:r>
              <a:rPr lang="zh-CN" altLang="en-US" sz="2200" dirty="0" smtClean="0">
                <a:latin typeface="+mn-ea"/>
              </a:rPr>
              <a:t>促使更快</a:t>
            </a:r>
            <a:r>
              <a:rPr lang="zh-CN" altLang="en-US" sz="2200" dirty="0">
                <a:latin typeface="+mn-ea"/>
              </a:rPr>
              <a:t>地</a:t>
            </a:r>
            <a:r>
              <a:rPr lang="zh-CN" altLang="en-US" sz="2200" dirty="0" smtClean="0">
                <a:latin typeface="+mn-ea"/>
              </a:rPr>
              <a:t>把</a:t>
            </a:r>
            <a:r>
              <a:rPr lang="zh-CN" altLang="en-US" sz="2200" dirty="0">
                <a:latin typeface="+mn-ea"/>
              </a:rPr>
              <a:t>软件交付</a:t>
            </a:r>
            <a:r>
              <a:rPr lang="zh-CN" altLang="en-US" sz="2200" dirty="0" smtClean="0">
                <a:latin typeface="+mn-ea"/>
              </a:rPr>
              <a:t>给用户</a:t>
            </a:r>
            <a:r>
              <a:rPr lang="zh-CN" altLang="en-US" sz="2200" dirty="0">
                <a:latin typeface="+mn-ea"/>
              </a:rPr>
              <a:t>，增加</a:t>
            </a:r>
            <a:r>
              <a:rPr lang="zh-CN" altLang="en-US" sz="2200" dirty="0" smtClean="0">
                <a:latin typeface="+mn-ea"/>
              </a:rPr>
              <a:t>了敏捷</a:t>
            </a:r>
            <a:r>
              <a:rPr lang="zh-CN" altLang="en-US" sz="2200" dirty="0">
                <a:latin typeface="+mn-ea"/>
              </a:rPr>
              <a:t>性</a:t>
            </a:r>
            <a:r>
              <a:rPr lang="zh-CN" altLang="en-US" sz="2200" dirty="0" smtClean="0">
                <a:latin typeface="+mn-ea"/>
              </a:rPr>
              <a:t>。</a:t>
            </a:r>
            <a:endParaRPr lang="en-US" altLang="zh-CN" sz="2200" dirty="0">
              <a:latin typeface="+mn-ea"/>
            </a:endParaRPr>
          </a:p>
        </p:txBody>
      </p:sp>
    </p:spTree>
    <p:extLst>
      <p:ext uri="{BB962C8B-B14F-4D97-AF65-F5344CB8AC3E}">
        <p14:creationId xmlns:p14="http://schemas.microsoft.com/office/powerpoint/2010/main" val="1966221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集体所有制</a:t>
            </a:r>
            <a:endParaRPr lang="zh-CN" altLang="en-US" dirty="0"/>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公开展示模型</a:t>
            </a:r>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小增量建模</a:t>
            </a:r>
          </a:p>
        </p:txBody>
      </p:sp>
      <p:sp>
        <p:nvSpPr>
          <p:cNvPr id="17" name="圆角矩形 16"/>
          <p:cNvSpPr/>
          <p:nvPr/>
        </p:nvSpPr>
        <p:spPr>
          <a:xfrm>
            <a:off x="1730271" y="4891687"/>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和他人一起建模</a:t>
            </a:r>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用代码验证</a:t>
            </a:r>
            <a:endParaRPr lang="zh-CN" altLang="en-US" dirty="0"/>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使用最简单的工具</a:t>
            </a:r>
            <a:endParaRPr lang="zh-CN" altLang="en-US" dirty="0"/>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9</a:t>
            </a:r>
            <a:r>
              <a:rPr lang="zh-CN" altLang="en-US" dirty="0" smtClean="0">
                <a:latin typeface="+mn-ea"/>
              </a:rPr>
              <a:t>）和他人一起建模</a:t>
            </a:r>
            <a:endParaRPr lang="en-US" altLang="zh-CN" dirty="0" smtClean="0">
              <a:latin typeface="+mn-ea"/>
            </a:endParaRPr>
          </a:p>
          <a:p>
            <a:pPr lvl="1">
              <a:lnSpc>
                <a:spcPct val="100000"/>
              </a:lnSpc>
              <a:spcBef>
                <a:spcPts val="600"/>
              </a:spcBef>
            </a:pPr>
            <a:r>
              <a:rPr lang="zh-CN" altLang="en-US" sz="2200" dirty="0">
                <a:latin typeface="+mn-ea"/>
              </a:rPr>
              <a:t>当你有目的建模时你会发现，你建模可能是为了了解某事，可能是为了同他人交流你的想法，或是为了在你的项目中建立起共同的愿景</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这是一个</a:t>
            </a:r>
            <a:r>
              <a:rPr lang="zh-CN" altLang="en-US" sz="2200" b="1" dirty="0">
                <a:solidFill>
                  <a:srgbClr val="C00000"/>
                </a:solidFill>
                <a:latin typeface="+mn-ea"/>
              </a:rPr>
              <a:t>团体活动</a:t>
            </a:r>
            <a:r>
              <a:rPr lang="zh-CN" altLang="en-US" sz="2200" dirty="0">
                <a:latin typeface="+mn-ea"/>
              </a:rPr>
              <a:t>，一个需要大家有效的共同工作才能完成的活动。你发现你的开发团队必须共同协作，才能建立一组核心模型，这对你的项目是至关重要的。</a:t>
            </a:r>
            <a:endParaRPr lang="en-US" altLang="zh-CN" sz="2200" dirty="0">
              <a:latin typeface="+mn-ea"/>
            </a:endParaRPr>
          </a:p>
        </p:txBody>
      </p:sp>
    </p:spTree>
    <p:extLst>
      <p:ext uri="{BB962C8B-B14F-4D97-AF65-F5344CB8AC3E}">
        <p14:creationId xmlns:p14="http://schemas.microsoft.com/office/powerpoint/2010/main" val="3719313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集体所有制</a:t>
            </a:r>
            <a:endParaRPr lang="zh-CN" altLang="en-US" dirty="0"/>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公开展示模型</a:t>
            </a:r>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小增量建模</a:t>
            </a:r>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和他人一起建模</a:t>
            </a:r>
          </a:p>
        </p:txBody>
      </p:sp>
      <p:sp>
        <p:nvSpPr>
          <p:cNvPr id="18" name="圆角矩形 17"/>
          <p:cNvSpPr/>
          <p:nvPr/>
        </p:nvSpPr>
        <p:spPr>
          <a:xfrm>
            <a:off x="1730271" y="5266369"/>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用代码验证</a:t>
            </a:r>
          </a:p>
        </p:txBody>
      </p:sp>
      <p:sp>
        <p:nvSpPr>
          <p:cNvPr id="19" name="圆角矩形 18"/>
          <p:cNvSpPr/>
          <p:nvPr/>
        </p:nvSpPr>
        <p:spPr>
          <a:xfrm>
            <a:off x="1730271" y="564105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使用最简单的工具</a:t>
            </a:r>
            <a:endParaRPr lang="zh-CN" altLang="en-US" dirty="0"/>
          </a:p>
        </p:txBody>
      </p:sp>
      <p:sp>
        <p:nvSpPr>
          <p:cNvPr id="20" name="内容占位符 2"/>
          <p:cNvSpPr>
            <a:spLocks noGrp="1"/>
          </p:cNvSpPr>
          <p:nvPr>
            <p:ph idx="1"/>
          </p:nvPr>
        </p:nvSpPr>
        <p:spPr>
          <a:xfrm>
            <a:off x="4231176" y="1900544"/>
            <a:ext cx="7122624" cy="4039703"/>
          </a:xfrm>
        </p:spPr>
        <p:style>
          <a:lnRef idx="2">
            <a:schemeClr val="accent2"/>
          </a:lnRef>
          <a:fillRef idx="1">
            <a:schemeClr val="lt1"/>
          </a:fillRef>
          <a:effectRef idx="0">
            <a:schemeClr val="accent2"/>
          </a:effectRef>
          <a:fontRef idx="minor">
            <a:schemeClr val="dk1"/>
          </a:fontRef>
        </p:style>
        <p:txBody>
          <a:bodyPr>
            <a:normAutofit lnSpcReduction="10000"/>
          </a:bodyPr>
          <a:lstStyle/>
          <a:p>
            <a:pPr>
              <a:lnSpc>
                <a:spcPct val="100000"/>
              </a:lnSpc>
              <a:spcBef>
                <a:spcPts val="600"/>
              </a:spcBef>
            </a:pPr>
            <a:r>
              <a:rPr lang="zh-CN" altLang="en-US" dirty="0" smtClean="0">
                <a:latin typeface="+mn-ea"/>
              </a:rPr>
              <a:t>（</a:t>
            </a:r>
            <a:r>
              <a:rPr lang="en-US" altLang="zh-CN" dirty="0" smtClean="0">
                <a:latin typeface="+mn-ea"/>
              </a:rPr>
              <a:t>10</a:t>
            </a:r>
            <a:r>
              <a:rPr lang="zh-CN" altLang="en-US" dirty="0" smtClean="0">
                <a:latin typeface="+mn-ea"/>
              </a:rPr>
              <a:t>）用代码验证</a:t>
            </a:r>
            <a:endParaRPr lang="en-US" altLang="zh-CN" dirty="0" smtClean="0">
              <a:latin typeface="+mn-ea"/>
            </a:endParaRPr>
          </a:p>
          <a:p>
            <a:pPr lvl="1">
              <a:lnSpc>
                <a:spcPct val="100000"/>
              </a:lnSpc>
              <a:spcBef>
                <a:spcPts val="600"/>
              </a:spcBef>
            </a:pPr>
            <a:r>
              <a:rPr lang="zh-CN" altLang="en-US" sz="2200" dirty="0">
                <a:latin typeface="+mn-ea"/>
              </a:rPr>
              <a:t>模型是一种抽象，一种能够正确</a:t>
            </a:r>
            <a:r>
              <a:rPr lang="zh-CN" altLang="en-US" sz="2200" dirty="0" smtClean="0">
                <a:latin typeface="+mn-ea"/>
              </a:rPr>
              <a:t>反映正在</a:t>
            </a:r>
            <a:r>
              <a:rPr lang="zh-CN" altLang="en-US" sz="2200" dirty="0">
                <a:latin typeface="+mn-ea"/>
              </a:rPr>
              <a:t>构建的系统的某个方面的抽象。但它是否能运行呢？要知道结果</a:t>
            </a:r>
            <a:r>
              <a:rPr lang="zh-CN" altLang="en-US" sz="2200" dirty="0" smtClean="0">
                <a:latin typeface="+mn-ea"/>
              </a:rPr>
              <a:t>，应该</a:t>
            </a:r>
            <a:r>
              <a:rPr lang="zh-CN" altLang="en-US" sz="2200" dirty="0">
                <a:latin typeface="+mn-ea"/>
              </a:rPr>
              <a:t>用代码来</a:t>
            </a:r>
            <a:r>
              <a:rPr lang="zh-CN" altLang="en-US" sz="2200" dirty="0" smtClean="0">
                <a:latin typeface="+mn-ea"/>
              </a:rPr>
              <a:t>验证模型。</a:t>
            </a:r>
            <a:endParaRPr lang="en-US" altLang="zh-CN" sz="2200" dirty="0" smtClean="0">
              <a:latin typeface="+mn-ea"/>
            </a:endParaRPr>
          </a:p>
          <a:p>
            <a:pPr lvl="2">
              <a:lnSpc>
                <a:spcPct val="100000"/>
              </a:lnSpc>
              <a:spcBef>
                <a:spcPts val="600"/>
              </a:spcBef>
            </a:pPr>
            <a:r>
              <a:rPr lang="zh-CN" altLang="en-US" dirty="0" smtClean="0">
                <a:latin typeface="+mn-ea"/>
              </a:rPr>
              <a:t>例如，你已经用</a:t>
            </a:r>
            <a:r>
              <a:rPr lang="en-US" altLang="zh-CN" dirty="0" smtClean="0">
                <a:latin typeface="+mn-ea"/>
              </a:rPr>
              <a:t>HTML</a:t>
            </a:r>
            <a:r>
              <a:rPr lang="zh-CN" altLang="en-US" dirty="0">
                <a:latin typeface="+mn-ea"/>
              </a:rPr>
              <a:t>页面建立</a:t>
            </a:r>
            <a:r>
              <a:rPr lang="zh-CN" altLang="en-US" dirty="0" smtClean="0">
                <a:latin typeface="+mn-ea"/>
              </a:rPr>
              <a:t>了某个功能页面的草图</a:t>
            </a:r>
            <a:r>
              <a:rPr lang="zh-CN" altLang="en-US" dirty="0">
                <a:latin typeface="+mn-ea"/>
              </a:rPr>
              <a:t>了吗</a:t>
            </a:r>
            <a:r>
              <a:rPr lang="zh-CN" altLang="en-US" dirty="0" smtClean="0">
                <a:latin typeface="+mn-ea"/>
              </a:rPr>
              <a:t>？那么编码</a:t>
            </a:r>
            <a:r>
              <a:rPr lang="zh-CN" altLang="en-US" dirty="0">
                <a:latin typeface="+mn-ea"/>
              </a:rPr>
              <a:t>实现它，</a:t>
            </a:r>
            <a:r>
              <a:rPr lang="zh-CN" altLang="en-US" dirty="0" smtClean="0">
                <a:latin typeface="+mn-ea"/>
              </a:rPr>
              <a:t>给用户</a:t>
            </a:r>
            <a:r>
              <a:rPr lang="zh-CN" altLang="en-US" dirty="0">
                <a:latin typeface="+mn-ea"/>
              </a:rPr>
              <a:t>展示最终的用户界面，并获取反馈。你已经</a:t>
            </a:r>
            <a:r>
              <a:rPr lang="zh-CN" altLang="en-US" dirty="0" smtClean="0">
                <a:latin typeface="+mn-ea"/>
              </a:rPr>
              <a:t>做了</a:t>
            </a:r>
            <a:r>
              <a:rPr lang="zh-CN" altLang="en-US" dirty="0">
                <a:latin typeface="+mn-ea"/>
              </a:rPr>
              <a:t>表示一个复杂</a:t>
            </a:r>
            <a:r>
              <a:rPr lang="zh-CN" altLang="en-US" dirty="0" smtClean="0">
                <a:latin typeface="+mn-ea"/>
              </a:rPr>
              <a:t>业务逻辑</a:t>
            </a:r>
            <a:r>
              <a:rPr lang="zh-CN" altLang="en-US" dirty="0">
                <a:latin typeface="+mn-ea"/>
              </a:rPr>
              <a:t>的</a:t>
            </a:r>
            <a:r>
              <a:rPr lang="en-US" altLang="zh-CN" dirty="0">
                <a:latin typeface="+mn-ea"/>
              </a:rPr>
              <a:t>UML</a:t>
            </a:r>
            <a:r>
              <a:rPr lang="zh-CN" altLang="en-US" dirty="0">
                <a:latin typeface="+mn-ea"/>
              </a:rPr>
              <a:t>顺序图了吗</a:t>
            </a:r>
            <a:r>
              <a:rPr lang="zh-CN" altLang="en-US" dirty="0" smtClean="0">
                <a:latin typeface="+mn-ea"/>
              </a:rPr>
              <a:t>？</a:t>
            </a:r>
            <a:r>
              <a:rPr lang="zh-CN" altLang="en-US" dirty="0">
                <a:latin typeface="+mn-ea"/>
              </a:rPr>
              <a:t>那么</a:t>
            </a:r>
            <a:r>
              <a:rPr lang="zh-CN" altLang="en-US" dirty="0" smtClean="0">
                <a:latin typeface="+mn-ea"/>
              </a:rPr>
              <a:t>写出业务代码和测试代码，</a:t>
            </a:r>
            <a:r>
              <a:rPr lang="zh-CN" altLang="en-US" dirty="0">
                <a:latin typeface="+mn-ea"/>
              </a:rPr>
              <a:t>运行测试以保证你做的是对的</a:t>
            </a:r>
            <a:r>
              <a:rPr lang="zh-CN" altLang="en-US" dirty="0" smtClean="0">
                <a:latin typeface="+mn-ea"/>
              </a:rPr>
              <a:t>。</a:t>
            </a:r>
            <a:endParaRPr lang="en-US" altLang="zh-CN" dirty="0" smtClean="0">
              <a:latin typeface="+mn-ea"/>
            </a:endParaRPr>
          </a:p>
          <a:p>
            <a:pPr lvl="1">
              <a:lnSpc>
                <a:spcPct val="100000"/>
              </a:lnSpc>
              <a:spcBef>
                <a:spcPts val="600"/>
              </a:spcBef>
            </a:pPr>
            <a:r>
              <a:rPr lang="zh-CN" altLang="en-US" sz="2200" dirty="0" smtClean="0">
                <a:latin typeface="+mn-ea"/>
              </a:rPr>
              <a:t>永远别</a:t>
            </a:r>
            <a:r>
              <a:rPr lang="zh-CN" altLang="en-US" sz="2200" dirty="0">
                <a:latin typeface="+mn-ea"/>
              </a:rPr>
              <a:t>忘了用迭代的方法开发软件（这是大多数项目的标准做法），也别忘了建模只是众多任务中的一个。</a:t>
            </a:r>
            <a:endParaRPr lang="en-US" altLang="zh-CN" sz="2200" dirty="0">
              <a:latin typeface="+mn-ea"/>
            </a:endParaRPr>
          </a:p>
        </p:txBody>
      </p:sp>
    </p:spTree>
    <p:extLst>
      <p:ext uri="{BB962C8B-B14F-4D97-AF65-F5344CB8AC3E}">
        <p14:creationId xmlns:p14="http://schemas.microsoft.com/office/powerpoint/2010/main" val="30522177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4. </a:t>
            </a:r>
            <a:r>
              <a:rPr lang="zh-CN" altLang="en-US" sz="4000" b="1" dirty="0" smtClean="0"/>
              <a:t>核心实践</a:t>
            </a:r>
            <a:r>
              <a:rPr lang="zh-CN" altLang="en-US" sz="3200" b="1" dirty="0" smtClean="0"/>
              <a:t>（</a:t>
            </a:r>
            <a:r>
              <a:rPr lang="en-US" altLang="zh-CN" sz="3200" b="1" dirty="0" smtClean="0"/>
              <a:t>Practice</a:t>
            </a:r>
            <a:r>
              <a:rPr lang="zh-CN" altLang="en-US" sz="3200" b="1" dirty="0" smtClean="0"/>
              <a:t>）</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smtClean="0"/>
              <a:t>核心实践</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Stakeholder</a:t>
            </a:r>
            <a:r>
              <a:rPr lang="zh-CN" altLang="en-US" dirty="0"/>
              <a:t>积极参与</a:t>
            </a:r>
          </a:p>
        </p:txBody>
      </p:sp>
      <p:sp>
        <p:nvSpPr>
          <p:cNvPr id="10" name="圆角矩形 9"/>
          <p:cNvSpPr/>
          <p:nvPr/>
        </p:nvSpPr>
        <p:spPr>
          <a:xfrm>
            <a:off x="1730271" y="2275226"/>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正确使用</a:t>
            </a:r>
            <a:r>
              <a:rPr lang="en-US" altLang="zh-CN" dirty="0"/>
              <a:t>artifact</a:t>
            </a:r>
            <a:endParaRPr lang="zh-CN" altLang="en-US" dirty="0"/>
          </a:p>
        </p:txBody>
      </p:sp>
      <p:sp>
        <p:nvSpPr>
          <p:cNvPr id="11" name="圆角矩形 10"/>
          <p:cNvSpPr/>
          <p:nvPr/>
        </p:nvSpPr>
        <p:spPr>
          <a:xfrm>
            <a:off x="1730271" y="2649908"/>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集体所有制</a:t>
            </a:r>
            <a:endParaRPr lang="zh-CN" altLang="en-US" dirty="0"/>
          </a:p>
        </p:txBody>
      </p:sp>
      <p:sp>
        <p:nvSpPr>
          <p:cNvPr id="12" name="圆角矩形 11"/>
          <p:cNvSpPr/>
          <p:nvPr/>
        </p:nvSpPr>
        <p:spPr>
          <a:xfrm>
            <a:off x="1730271" y="3024590"/>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测试性思维</a:t>
            </a:r>
          </a:p>
        </p:txBody>
      </p:sp>
      <p:sp>
        <p:nvSpPr>
          <p:cNvPr id="13" name="圆角矩形 12"/>
          <p:cNvSpPr/>
          <p:nvPr/>
        </p:nvSpPr>
        <p:spPr>
          <a:xfrm>
            <a:off x="1730271" y="3399272"/>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并行创建模型</a:t>
            </a:r>
          </a:p>
        </p:txBody>
      </p:sp>
      <p:sp>
        <p:nvSpPr>
          <p:cNvPr id="14" name="圆角矩形 13"/>
          <p:cNvSpPr/>
          <p:nvPr/>
        </p:nvSpPr>
        <p:spPr>
          <a:xfrm>
            <a:off x="1730271" y="3767641"/>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创建简单内容</a:t>
            </a:r>
          </a:p>
        </p:txBody>
      </p:sp>
      <p:sp>
        <p:nvSpPr>
          <p:cNvPr id="15" name="圆角矩形 14"/>
          <p:cNvSpPr/>
          <p:nvPr/>
        </p:nvSpPr>
        <p:spPr>
          <a:xfrm>
            <a:off x="1730271" y="4142323"/>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公开展示模型</a:t>
            </a:r>
          </a:p>
        </p:txBody>
      </p:sp>
      <p:sp>
        <p:nvSpPr>
          <p:cNvPr id="16" name="圆角矩形 15"/>
          <p:cNvSpPr/>
          <p:nvPr/>
        </p:nvSpPr>
        <p:spPr>
          <a:xfrm>
            <a:off x="1730271" y="4517005"/>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小增量建模</a:t>
            </a:r>
          </a:p>
        </p:txBody>
      </p:sp>
      <p:sp>
        <p:nvSpPr>
          <p:cNvPr id="17" name="圆角矩形 16"/>
          <p:cNvSpPr/>
          <p:nvPr/>
        </p:nvSpPr>
        <p:spPr>
          <a:xfrm>
            <a:off x="1730271" y="4891687"/>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和他人一起建模</a:t>
            </a:r>
          </a:p>
        </p:txBody>
      </p:sp>
      <p:sp>
        <p:nvSpPr>
          <p:cNvPr id="18" name="圆角矩形 17"/>
          <p:cNvSpPr/>
          <p:nvPr/>
        </p:nvSpPr>
        <p:spPr>
          <a:xfrm>
            <a:off x="1730271" y="5266369"/>
            <a:ext cx="2317189" cy="29919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用代码验证</a:t>
            </a:r>
          </a:p>
        </p:txBody>
      </p:sp>
      <p:sp>
        <p:nvSpPr>
          <p:cNvPr id="19" name="圆角矩形 18"/>
          <p:cNvSpPr/>
          <p:nvPr/>
        </p:nvSpPr>
        <p:spPr>
          <a:xfrm>
            <a:off x="1730271" y="5641051"/>
            <a:ext cx="2317189" cy="29919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使用最简单的工具</a:t>
            </a:r>
          </a:p>
        </p:txBody>
      </p:sp>
      <p:sp>
        <p:nvSpPr>
          <p:cNvPr id="20" name="内容占位符 2"/>
          <p:cNvSpPr>
            <a:spLocks noGrp="1"/>
          </p:cNvSpPr>
          <p:nvPr>
            <p:ph idx="1"/>
          </p:nvPr>
        </p:nvSpPr>
        <p:spPr>
          <a:xfrm>
            <a:off x="4231176" y="1900544"/>
            <a:ext cx="7122624" cy="4549875"/>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smtClean="0">
                <a:latin typeface="+mn-ea"/>
              </a:rPr>
              <a:t>11</a:t>
            </a:r>
            <a:r>
              <a:rPr lang="zh-CN" altLang="en-US" dirty="0" smtClean="0">
                <a:latin typeface="+mn-ea"/>
              </a:rPr>
              <a:t>）</a:t>
            </a:r>
            <a:r>
              <a:rPr lang="zh-CN" altLang="en-US" dirty="0"/>
              <a:t>使用最简单的工具</a:t>
            </a:r>
            <a:endParaRPr lang="en-US" altLang="zh-CN" dirty="0" smtClean="0">
              <a:latin typeface="+mn-ea"/>
            </a:endParaRPr>
          </a:p>
          <a:p>
            <a:pPr lvl="1">
              <a:lnSpc>
                <a:spcPct val="100000"/>
              </a:lnSpc>
              <a:spcBef>
                <a:spcPts val="600"/>
              </a:spcBef>
            </a:pPr>
            <a:r>
              <a:rPr lang="zh-CN" altLang="en-US" sz="2200" dirty="0">
                <a:latin typeface="+mn-ea"/>
              </a:rPr>
              <a:t>大多数的模型都可以画在白板</a:t>
            </a:r>
            <a:r>
              <a:rPr lang="zh-CN" altLang="en-US" sz="2200" dirty="0" smtClean="0">
                <a:latin typeface="+mn-ea"/>
              </a:rPr>
              <a:t>上、纸</a:t>
            </a:r>
            <a:r>
              <a:rPr lang="zh-CN" altLang="en-US" sz="2200" dirty="0">
                <a:latin typeface="+mn-ea"/>
              </a:rPr>
              <a:t>上，甚至纸巾的背面。如果你想要</a:t>
            </a:r>
            <a:r>
              <a:rPr lang="zh-CN" altLang="en-US" sz="2200" dirty="0" smtClean="0">
                <a:latin typeface="+mn-ea"/>
              </a:rPr>
              <a:t>保存这些图表，可以</a:t>
            </a:r>
            <a:r>
              <a:rPr lang="zh-CN" altLang="en-US" sz="2200" dirty="0">
                <a:latin typeface="+mn-ea"/>
              </a:rPr>
              <a:t>用数码</a:t>
            </a:r>
            <a:r>
              <a:rPr lang="zh-CN" altLang="en-US" sz="2200" dirty="0" smtClean="0">
                <a:latin typeface="+mn-ea"/>
              </a:rPr>
              <a:t>相机拍</a:t>
            </a:r>
            <a:r>
              <a:rPr lang="zh-CN" altLang="en-US" sz="2200" dirty="0">
                <a:latin typeface="+mn-ea"/>
              </a:rPr>
              <a:t>下来，或只是简单的把他们转录到纸上</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因为大多数的图表都是可以扔掉的，它们只有在你画出模型并思考一个问题的时候才有</a:t>
            </a:r>
            <a:r>
              <a:rPr lang="zh-CN" altLang="en-US" sz="2200" dirty="0" smtClean="0">
                <a:latin typeface="+mn-ea"/>
              </a:rPr>
              <a:t>价值。</a:t>
            </a:r>
            <a:endParaRPr lang="en-US" altLang="zh-CN" sz="2200" dirty="0" smtClean="0">
              <a:latin typeface="+mn-ea"/>
            </a:endParaRPr>
          </a:p>
          <a:p>
            <a:pPr lvl="2">
              <a:lnSpc>
                <a:spcPct val="100000"/>
              </a:lnSpc>
              <a:spcBef>
                <a:spcPts val="600"/>
              </a:spcBef>
            </a:pPr>
            <a:r>
              <a:rPr lang="zh-CN" altLang="en-US" sz="1800" dirty="0">
                <a:latin typeface="+mn-ea"/>
              </a:rPr>
              <a:t>使用画图工具来创建图表，</a:t>
            </a:r>
            <a:r>
              <a:rPr lang="zh-CN" altLang="en-US" sz="1800" dirty="0" smtClean="0">
                <a:latin typeface="+mn-ea"/>
              </a:rPr>
              <a:t>给重要</a:t>
            </a:r>
            <a:r>
              <a:rPr lang="zh-CN" altLang="en-US" sz="1800" dirty="0">
                <a:latin typeface="+mn-ea"/>
              </a:rPr>
              <a:t>的</a:t>
            </a:r>
            <a:r>
              <a:rPr lang="en-US" altLang="zh-CN" sz="1800" dirty="0">
                <a:latin typeface="+mn-ea"/>
              </a:rPr>
              <a:t>project stakeholder</a:t>
            </a:r>
            <a:r>
              <a:rPr lang="zh-CN" altLang="en-US" sz="1800" dirty="0" smtClean="0">
                <a:latin typeface="+mn-ea"/>
              </a:rPr>
              <a:t>看</a:t>
            </a:r>
            <a:endParaRPr lang="en-US" altLang="zh-CN" sz="1800" dirty="0" smtClean="0">
              <a:latin typeface="+mn-ea"/>
            </a:endParaRPr>
          </a:p>
          <a:p>
            <a:pPr lvl="2">
              <a:lnSpc>
                <a:spcPct val="100000"/>
              </a:lnSpc>
              <a:spcBef>
                <a:spcPts val="600"/>
              </a:spcBef>
            </a:pPr>
            <a:r>
              <a:rPr lang="zh-CN" altLang="en-US" sz="1800" dirty="0">
                <a:latin typeface="+mn-ea"/>
              </a:rPr>
              <a:t>只有建模工具能够给我们的编程工作提供价值（例如代码自动生成）时才使用建模工具</a:t>
            </a:r>
            <a:r>
              <a:rPr lang="zh-CN" altLang="en-US" sz="1800" dirty="0" smtClean="0">
                <a:latin typeface="+mn-ea"/>
              </a:rPr>
              <a:t>。</a:t>
            </a:r>
            <a:endParaRPr lang="en-US" altLang="zh-CN" sz="1800" dirty="0" smtClean="0">
              <a:latin typeface="+mn-ea"/>
            </a:endParaRPr>
          </a:p>
          <a:p>
            <a:pPr lvl="1">
              <a:lnSpc>
                <a:spcPct val="100000"/>
              </a:lnSpc>
              <a:spcBef>
                <a:spcPts val="600"/>
              </a:spcBef>
            </a:pPr>
            <a:r>
              <a:rPr lang="zh-CN" altLang="en-US" sz="2200" dirty="0" smtClean="0">
                <a:latin typeface="+mn-ea"/>
              </a:rPr>
              <a:t>建模目的是</a:t>
            </a:r>
            <a:r>
              <a:rPr lang="zh-CN" altLang="en-US" sz="2200" dirty="0">
                <a:latin typeface="+mn-ea"/>
              </a:rPr>
              <a:t>为了理解，一旦你理解了问题，模型就没有存在的必要了</a:t>
            </a:r>
            <a:r>
              <a:rPr lang="zh-CN" altLang="en-US" sz="2200" dirty="0" smtClean="0">
                <a:latin typeface="+mn-ea"/>
              </a:rPr>
              <a:t>，这样，根本</a:t>
            </a:r>
            <a:r>
              <a:rPr lang="zh-CN" altLang="en-US" sz="2200" dirty="0">
                <a:latin typeface="+mn-ea"/>
              </a:rPr>
              <a:t>就不必要使用一个复杂的建模工具。</a:t>
            </a:r>
            <a:endParaRPr lang="en-US" altLang="zh-CN" sz="2200" dirty="0">
              <a:latin typeface="+mn-ea"/>
            </a:endParaRPr>
          </a:p>
        </p:txBody>
      </p:sp>
    </p:spTree>
    <p:extLst>
      <p:ext uri="{BB962C8B-B14F-4D97-AF65-F5344CB8AC3E}">
        <p14:creationId xmlns:p14="http://schemas.microsoft.com/office/powerpoint/2010/main" val="40368163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5. </a:t>
            </a:r>
            <a:r>
              <a:rPr lang="zh-CN" altLang="en-US" sz="4000" b="1" dirty="0" smtClean="0"/>
              <a:t>建模误区</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2400" dirty="0" smtClean="0"/>
              <a:t>建模误区</a:t>
            </a:r>
            <a:endParaRPr lang="zh-CN" altLang="en-US" sz="2400" dirty="0"/>
          </a:p>
        </p:txBody>
      </p:sp>
      <p:sp>
        <p:nvSpPr>
          <p:cNvPr id="8" name="圆角矩形 7"/>
          <p:cNvSpPr/>
          <p:nvPr/>
        </p:nvSpPr>
        <p:spPr>
          <a:xfrm>
            <a:off x="1730271" y="1900544"/>
            <a:ext cx="2317189" cy="29919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smtClean="0"/>
              <a:t>建模等于写文档</a:t>
            </a:r>
            <a:endParaRPr lang="zh-CN" altLang="en-US" dirty="0"/>
          </a:p>
        </p:txBody>
      </p:sp>
      <p:sp>
        <p:nvSpPr>
          <p:cNvPr id="10" name="圆角矩形 9"/>
          <p:cNvSpPr/>
          <p:nvPr/>
        </p:nvSpPr>
        <p:spPr>
          <a:xfrm>
            <a:off x="1730271" y="2275226"/>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在开始阶段可以考虑到所有的一切</a:t>
            </a:r>
            <a:endParaRPr lang="zh-CN" altLang="en-US" dirty="0"/>
          </a:p>
        </p:txBody>
      </p:sp>
      <p:sp>
        <p:nvSpPr>
          <p:cNvPr id="11" name="圆角矩形 10"/>
          <p:cNvSpPr/>
          <p:nvPr/>
        </p:nvSpPr>
        <p:spPr>
          <a:xfrm>
            <a:off x="1730271" y="2924160"/>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建模意味着需要重量级的软件开发过程</a:t>
            </a:r>
            <a:endParaRPr lang="zh-CN" altLang="en-US" dirty="0"/>
          </a:p>
        </p:txBody>
      </p:sp>
      <p:sp>
        <p:nvSpPr>
          <p:cNvPr id="12" name="圆角矩形 11"/>
          <p:cNvSpPr/>
          <p:nvPr/>
        </p:nvSpPr>
        <p:spPr>
          <a:xfrm>
            <a:off x="1730271" y="357309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必须“冻结”需求</a:t>
            </a:r>
            <a:endParaRPr lang="zh-CN" altLang="en-US" dirty="0"/>
          </a:p>
        </p:txBody>
      </p:sp>
      <p:sp>
        <p:nvSpPr>
          <p:cNvPr id="13" name="圆角矩形 12"/>
          <p:cNvSpPr/>
          <p:nvPr/>
        </p:nvSpPr>
        <p:spPr>
          <a:xfrm>
            <a:off x="1730271" y="3947776"/>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设计是不可更改的</a:t>
            </a:r>
            <a:endParaRPr lang="zh-CN" altLang="en-US" dirty="0"/>
          </a:p>
        </p:txBody>
      </p:sp>
      <p:sp>
        <p:nvSpPr>
          <p:cNvPr id="14" name="圆角矩形 13"/>
          <p:cNvSpPr/>
          <p:nvPr/>
        </p:nvSpPr>
        <p:spPr>
          <a:xfrm>
            <a:off x="1730271" y="4316145"/>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必须使用</a:t>
            </a:r>
            <a:r>
              <a:rPr lang="en-US" altLang="zh-CN" dirty="0" smtClean="0"/>
              <a:t>CASE</a:t>
            </a:r>
            <a:r>
              <a:rPr lang="zh-CN" altLang="en-US" dirty="0" smtClean="0"/>
              <a:t>工具</a:t>
            </a:r>
            <a:endParaRPr lang="zh-CN" altLang="en-US" dirty="0"/>
          </a:p>
        </p:txBody>
      </p:sp>
      <p:sp>
        <p:nvSpPr>
          <p:cNvPr id="15" name="圆角矩形 14"/>
          <p:cNvSpPr/>
          <p:nvPr/>
        </p:nvSpPr>
        <p:spPr>
          <a:xfrm>
            <a:off x="1730271" y="4690827"/>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建模实在浪费时间</a:t>
            </a:r>
            <a:endParaRPr lang="zh-CN" altLang="en-US" dirty="0"/>
          </a:p>
        </p:txBody>
      </p:sp>
      <p:sp>
        <p:nvSpPr>
          <p:cNvPr id="16" name="圆角矩形 15"/>
          <p:cNvSpPr/>
          <p:nvPr/>
        </p:nvSpPr>
        <p:spPr>
          <a:xfrm>
            <a:off x="1730271" y="5065509"/>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数据模型就是一切</a:t>
            </a:r>
            <a:endParaRPr lang="zh-CN" altLang="en-US" dirty="0"/>
          </a:p>
        </p:txBody>
      </p:sp>
      <p:sp>
        <p:nvSpPr>
          <p:cNvPr id="17" name="圆角矩形 16"/>
          <p:cNvSpPr/>
          <p:nvPr/>
        </p:nvSpPr>
        <p:spPr>
          <a:xfrm>
            <a:off x="1730271" y="5440191"/>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所有的开发人员都知道如何建模</a:t>
            </a:r>
            <a:endParaRPr lang="zh-CN" altLang="en-US" dirty="0"/>
          </a:p>
        </p:txBody>
      </p:sp>
      <p:sp>
        <p:nvSpPr>
          <p:cNvPr id="20" name="内容占位符 2"/>
          <p:cNvSpPr>
            <a:spLocks noGrp="1"/>
          </p:cNvSpPr>
          <p:nvPr>
            <p:ph idx="1"/>
          </p:nvPr>
        </p:nvSpPr>
        <p:spPr>
          <a:xfrm>
            <a:off x="4231176" y="1900544"/>
            <a:ext cx="7122624" cy="4549875"/>
          </a:xfrm>
        </p:spPr>
        <p:style>
          <a:lnRef idx="2">
            <a:schemeClr val="accent2"/>
          </a:lnRef>
          <a:fillRef idx="1">
            <a:schemeClr val="lt1"/>
          </a:fillRef>
          <a:effectRef idx="0">
            <a:schemeClr val="accent2"/>
          </a:effectRef>
          <a:fontRef idx="minor">
            <a:schemeClr val="dk1"/>
          </a:fontRef>
        </p:style>
        <p:txBody>
          <a:bodyPr>
            <a:normAutofit lnSpcReduction="10000"/>
          </a:bodyPr>
          <a:lstStyle/>
          <a:p>
            <a:pPr>
              <a:lnSpc>
                <a:spcPct val="100000"/>
              </a:lnSpc>
              <a:spcBef>
                <a:spcPts val="600"/>
              </a:spcBef>
            </a:pPr>
            <a:r>
              <a:rPr lang="zh-CN" altLang="en-US" dirty="0" smtClean="0">
                <a:latin typeface="+mn-ea"/>
              </a:rPr>
              <a:t>（</a:t>
            </a:r>
            <a:r>
              <a:rPr lang="en-US" altLang="zh-CN" dirty="0">
                <a:latin typeface="+mn-ea"/>
              </a:rPr>
              <a:t>1</a:t>
            </a:r>
            <a:r>
              <a:rPr lang="zh-CN" altLang="en-US" dirty="0" smtClean="0">
                <a:latin typeface="+mn-ea"/>
              </a:rPr>
              <a:t>）</a:t>
            </a:r>
            <a:r>
              <a:rPr lang="zh-CN" altLang="en-US" dirty="0" smtClean="0"/>
              <a:t>建模等于写文档</a:t>
            </a:r>
            <a:endParaRPr lang="en-US" altLang="zh-CN" dirty="0" smtClean="0">
              <a:latin typeface="+mn-ea"/>
            </a:endParaRPr>
          </a:p>
          <a:p>
            <a:pPr lvl="1">
              <a:lnSpc>
                <a:spcPct val="100000"/>
              </a:lnSpc>
              <a:spcBef>
                <a:spcPts val="600"/>
              </a:spcBef>
            </a:pPr>
            <a:r>
              <a:rPr lang="zh-CN" altLang="en-US" sz="2200" dirty="0">
                <a:latin typeface="+mn-ea"/>
              </a:rPr>
              <a:t>这很可能是其中最具破坏力的一</a:t>
            </a:r>
            <a:r>
              <a:rPr lang="zh-CN" altLang="en-US" sz="2200" dirty="0" smtClean="0">
                <a:latin typeface="+mn-ea"/>
              </a:rPr>
              <a:t>条。</a:t>
            </a:r>
            <a:endParaRPr lang="en-US" altLang="zh-CN" sz="2200" dirty="0" smtClean="0">
              <a:latin typeface="+mn-ea"/>
            </a:endParaRPr>
          </a:p>
          <a:p>
            <a:pPr lvl="1">
              <a:lnSpc>
                <a:spcPct val="100000"/>
              </a:lnSpc>
              <a:spcBef>
                <a:spcPts val="600"/>
              </a:spcBef>
            </a:pPr>
            <a:r>
              <a:rPr lang="zh-CN" altLang="en-US" sz="2200" dirty="0">
                <a:latin typeface="+mn-ea"/>
              </a:rPr>
              <a:t>因为开发人员可以此为借口而完全放弃建模。许多优秀的软件开发人员会说他们不想把时间浪费在这些“无用的“文档上。他们沉溺于编码之中，制造着一些脆弱而劣质的系统</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latin typeface="+mn-ea"/>
              </a:rPr>
              <a:t>你可以拥有一个</a:t>
            </a:r>
            <a:r>
              <a:rPr lang="zh-CN" altLang="en-US" sz="2200" dirty="0">
                <a:solidFill>
                  <a:srgbClr val="C00000"/>
                </a:solidFill>
                <a:latin typeface="+mn-ea"/>
              </a:rPr>
              <a:t>不是文档的模型</a:t>
            </a:r>
            <a:r>
              <a:rPr lang="zh-CN" altLang="en-US" sz="2200" dirty="0">
                <a:latin typeface="+mn-ea"/>
              </a:rPr>
              <a:t>和</a:t>
            </a:r>
            <a:r>
              <a:rPr lang="zh-CN" altLang="en-US" sz="2200" dirty="0">
                <a:solidFill>
                  <a:srgbClr val="C00000"/>
                </a:solidFill>
                <a:latin typeface="+mn-ea"/>
              </a:rPr>
              <a:t>不是模型的文档</a:t>
            </a:r>
            <a:r>
              <a:rPr lang="zh-CN" altLang="en-US" sz="2200" dirty="0">
                <a:latin typeface="+mn-ea"/>
              </a:rPr>
              <a:t>。一幅设计图就是一个模型，而不论是被画在</a:t>
            </a:r>
            <a:r>
              <a:rPr lang="zh-CN" altLang="en-US" sz="2200" dirty="0" smtClean="0">
                <a:latin typeface="+mn-ea"/>
              </a:rPr>
              <a:t>餐巾纸背面</a:t>
            </a:r>
            <a:r>
              <a:rPr lang="zh-CN" altLang="en-US" sz="2200" dirty="0">
                <a:latin typeface="+mn-ea"/>
              </a:rPr>
              <a:t>，或写在一块白板上，或在</a:t>
            </a:r>
            <a:r>
              <a:rPr lang="en-US" altLang="zh-CN" sz="2200" dirty="0">
                <a:latin typeface="+mn-ea"/>
              </a:rPr>
              <a:t>Class Responsibility Collaboration(CRC)</a:t>
            </a:r>
            <a:r>
              <a:rPr lang="zh-CN" altLang="en-US" sz="2200" dirty="0">
                <a:latin typeface="+mn-ea"/>
              </a:rPr>
              <a:t>卡片中，还是根据记录在报纸和便签纸上的流程图而生成的一个粗略的用户界面原型。虽然这些都不能说是文档，但他们却都是有价值的模型。</a:t>
            </a:r>
            <a:endParaRPr lang="en-US" altLang="zh-CN" sz="2200" dirty="0">
              <a:latin typeface="+mn-ea"/>
            </a:endParaRPr>
          </a:p>
        </p:txBody>
      </p:sp>
    </p:spTree>
    <p:extLst>
      <p:ext uri="{BB962C8B-B14F-4D97-AF65-F5344CB8AC3E}">
        <p14:creationId xmlns:p14="http://schemas.microsoft.com/office/powerpoint/2010/main" val="20475595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5. </a:t>
            </a:r>
            <a:r>
              <a:rPr lang="zh-CN" altLang="en-US" sz="4000" b="1" dirty="0" smtClean="0"/>
              <a:t>建模误区</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2400" dirty="0" smtClean="0"/>
              <a:t>建模误区</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建模等于写文档</a:t>
            </a:r>
          </a:p>
        </p:txBody>
      </p:sp>
      <p:sp>
        <p:nvSpPr>
          <p:cNvPr id="10" name="圆角矩形 9"/>
          <p:cNvSpPr/>
          <p:nvPr/>
        </p:nvSpPr>
        <p:spPr>
          <a:xfrm>
            <a:off x="1730271" y="2275226"/>
            <a:ext cx="2317189" cy="573448"/>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a:t>在开始阶段可以考虑到所有的一切</a:t>
            </a:r>
          </a:p>
        </p:txBody>
      </p:sp>
      <p:sp>
        <p:nvSpPr>
          <p:cNvPr id="11" name="圆角矩形 10"/>
          <p:cNvSpPr/>
          <p:nvPr/>
        </p:nvSpPr>
        <p:spPr>
          <a:xfrm>
            <a:off x="1730271" y="2924160"/>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建模意味着需要重量级的软件开发过程</a:t>
            </a:r>
            <a:endParaRPr lang="zh-CN" altLang="en-US" dirty="0"/>
          </a:p>
        </p:txBody>
      </p:sp>
      <p:sp>
        <p:nvSpPr>
          <p:cNvPr id="12" name="圆角矩形 11"/>
          <p:cNvSpPr/>
          <p:nvPr/>
        </p:nvSpPr>
        <p:spPr>
          <a:xfrm>
            <a:off x="1730271" y="357309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必须“冻结”需求</a:t>
            </a:r>
            <a:endParaRPr lang="zh-CN" altLang="en-US" dirty="0"/>
          </a:p>
        </p:txBody>
      </p:sp>
      <p:sp>
        <p:nvSpPr>
          <p:cNvPr id="13" name="圆角矩形 12"/>
          <p:cNvSpPr/>
          <p:nvPr/>
        </p:nvSpPr>
        <p:spPr>
          <a:xfrm>
            <a:off x="1730271" y="3947776"/>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设计是不可更改的</a:t>
            </a:r>
            <a:endParaRPr lang="zh-CN" altLang="en-US" dirty="0"/>
          </a:p>
        </p:txBody>
      </p:sp>
      <p:sp>
        <p:nvSpPr>
          <p:cNvPr id="14" name="圆角矩形 13"/>
          <p:cNvSpPr/>
          <p:nvPr/>
        </p:nvSpPr>
        <p:spPr>
          <a:xfrm>
            <a:off x="1730271" y="4316145"/>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必须使用</a:t>
            </a:r>
            <a:r>
              <a:rPr lang="en-US" altLang="zh-CN" dirty="0" smtClean="0"/>
              <a:t>CASE</a:t>
            </a:r>
            <a:r>
              <a:rPr lang="zh-CN" altLang="en-US" dirty="0" smtClean="0"/>
              <a:t>工具</a:t>
            </a:r>
            <a:endParaRPr lang="zh-CN" altLang="en-US" dirty="0"/>
          </a:p>
        </p:txBody>
      </p:sp>
      <p:sp>
        <p:nvSpPr>
          <p:cNvPr id="15" name="圆角矩形 14"/>
          <p:cNvSpPr/>
          <p:nvPr/>
        </p:nvSpPr>
        <p:spPr>
          <a:xfrm>
            <a:off x="1730271" y="4690827"/>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建模实在浪费时间</a:t>
            </a:r>
            <a:endParaRPr lang="zh-CN" altLang="en-US" dirty="0"/>
          </a:p>
        </p:txBody>
      </p:sp>
      <p:sp>
        <p:nvSpPr>
          <p:cNvPr id="16" name="圆角矩形 15"/>
          <p:cNvSpPr/>
          <p:nvPr/>
        </p:nvSpPr>
        <p:spPr>
          <a:xfrm>
            <a:off x="1730271" y="5065509"/>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数据模型就是一切</a:t>
            </a:r>
            <a:endParaRPr lang="zh-CN" altLang="en-US" dirty="0"/>
          </a:p>
        </p:txBody>
      </p:sp>
      <p:sp>
        <p:nvSpPr>
          <p:cNvPr id="17" name="圆角矩形 16"/>
          <p:cNvSpPr/>
          <p:nvPr/>
        </p:nvSpPr>
        <p:spPr>
          <a:xfrm>
            <a:off x="1730271" y="5440191"/>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所有的开发人员都知道如何建模</a:t>
            </a:r>
            <a:endParaRPr lang="zh-CN" altLang="en-US" dirty="0"/>
          </a:p>
        </p:txBody>
      </p:sp>
      <p:sp>
        <p:nvSpPr>
          <p:cNvPr id="20" name="内容占位符 2"/>
          <p:cNvSpPr>
            <a:spLocks noGrp="1"/>
          </p:cNvSpPr>
          <p:nvPr>
            <p:ph idx="1"/>
          </p:nvPr>
        </p:nvSpPr>
        <p:spPr>
          <a:xfrm>
            <a:off x="4231176" y="1900544"/>
            <a:ext cx="7122624" cy="4549875"/>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2</a:t>
            </a:r>
            <a:r>
              <a:rPr lang="zh-CN" altLang="en-US" dirty="0" smtClean="0">
                <a:latin typeface="+mn-ea"/>
              </a:rPr>
              <a:t>）</a:t>
            </a:r>
            <a:r>
              <a:rPr lang="zh-CN" altLang="en-US" dirty="0"/>
              <a:t>在开始阶段可以考虑到所有的一切</a:t>
            </a:r>
            <a:endParaRPr lang="en-US" altLang="zh-CN" dirty="0" smtClean="0">
              <a:latin typeface="+mn-ea"/>
            </a:endParaRPr>
          </a:p>
          <a:p>
            <a:pPr lvl="1">
              <a:lnSpc>
                <a:spcPct val="100000"/>
              </a:lnSpc>
              <a:spcBef>
                <a:spcPts val="600"/>
              </a:spcBef>
            </a:pPr>
            <a:r>
              <a:rPr lang="zh-CN" altLang="en-US" sz="2200" dirty="0" smtClean="0">
                <a:latin typeface="+mn-ea"/>
              </a:rPr>
              <a:t>对这一点的迷信会导致在前期投入可观的时间去对所有的一切建模，以期把所有一切都弄正确，要等到模型非常完美之后才敢向前进。基于这个观点，项目组开发了大量的文档。</a:t>
            </a:r>
            <a:endParaRPr lang="en-US" altLang="zh-CN" sz="2200" dirty="0" smtClean="0">
              <a:latin typeface="+mn-ea"/>
            </a:endParaRPr>
          </a:p>
          <a:p>
            <a:pPr lvl="1">
              <a:lnSpc>
                <a:spcPct val="100000"/>
              </a:lnSpc>
              <a:spcBef>
                <a:spcPts val="600"/>
              </a:spcBef>
            </a:pPr>
            <a:r>
              <a:rPr lang="zh-CN" altLang="en-US" sz="2200" dirty="0" smtClean="0">
                <a:solidFill>
                  <a:srgbClr val="C00000"/>
                </a:solidFill>
                <a:latin typeface="+mn-ea"/>
              </a:rPr>
              <a:t>怎么才能走出这个误区呢</a:t>
            </a:r>
            <a:r>
              <a:rPr lang="zh-CN" altLang="en-US" sz="2200" dirty="0" smtClean="0">
                <a:latin typeface="+mn-ea"/>
              </a:rPr>
              <a:t>？</a:t>
            </a:r>
            <a:endParaRPr lang="en-US" altLang="zh-CN" sz="2200" dirty="0" smtClean="0">
              <a:latin typeface="+mn-ea"/>
            </a:endParaRPr>
          </a:p>
          <a:p>
            <a:pPr lvl="2">
              <a:lnSpc>
                <a:spcPct val="100000"/>
              </a:lnSpc>
              <a:spcBef>
                <a:spcPts val="600"/>
              </a:spcBef>
            </a:pPr>
            <a:r>
              <a:rPr lang="zh-CN" altLang="en-US" dirty="0" smtClean="0">
                <a:latin typeface="+mn-ea"/>
              </a:rPr>
              <a:t>首先，必须认识到不能考虑到所有的细枝末节；</a:t>
            </a:r>
            <a:endParaRPr lang="en-US" altLang="zh-CN" dirty="0" smtClean="0">
              <a:latin typeface="+mn-ea"/>
            </a:endParaRPr>
          </a:p>
          <a:p>
            <a:pPr lvl="2">
              <a:lnSpc>
                <a:spcPct val="100000"/>
              </a:lnSpc>
              <a:spcBef>
                <a:spcPts val="600"/>
              </a:spcBef>
            </a:pPr>
            <a:r>
              <a:rPr lang="zh-CN" altLang="en-US" dirty="0" smtClean="0">
                <a:latin typeface="+mn-ea"/>
              </a:rPr>
              <a:t>第二，认识到编码员可能会对建模者工作不以为然；</a:t>
            </a:r>
            <a:endParaRPr lang="en-US" altLang="zh-CN" dirty="0" smtClean="0">
              <a:latin typeface="+mn-ea"/>
            </a:endParaRPr>
          </a:p>
          <a:p>
            <a:pPr lvl="2">
              <a:lnSpc>
                <a:spcPct val="100000"/>
              </a:lnSpc>
              <a:spcBef>
                <a:spcPts val="600"/>
              </a:spcBef>
            </a:pPr>
            <a:r>
              <a:rPr lang="zh-CN" altLang="en-US" dirty="0" smtClean="0">
                <a:latin typeface="+mn-ea"/>
              </a:rPr>
              <a:t>第三，一个基本道理是代码永远只和代码保持一致；</a:t>
            </a:r>
            <a:endParaRPr lang="en-US" altLang="zh-CN" dirty="0" smtClean="0">
              <a:latin typeface="+mn-ea"/>
            </a:endParaRPr>
          </a:p>
          <a:p>
            <a:pPr lvl="2">
              <a:lnSpc>
                <a:spcPct val="100000"/>
              </a:lnSpc>
              <a:spcBef>
                <a:spcPts val="600"/>
              </a:spcBef>
            </a:pPr>
            <a:r>
              <a:rPr lang="zh-CN" altLang="en-US" dirty="0" smtClean="0">
                <a:latin typeface="+mn-ea"/>
              </a:rPr>
              <a:t>最后，认识到迭代法（小规模地建模，编一些代码，做一些测试，可能还会做一个小的工作版本）是软件开发的准则。</a:t>
            </a:r>
            <a:r>
              <a:rPr lang="zh-CN" altLang="en-US" sz="1800" dirty="0" smtClean="0">
                <a:latin typeface="+mn-ea"/>
              </a:rPr>
              <a:t>（不论重量级还是轻量级）</a:t>
            </a:r>
            <a:endParaRPr lang="en-US" altLang="zh-CN" sz="1800" dirty="0" smtClean="0">
              <a:latin typeface="+mn-ea"/>
            </a:endParaRPr>
          </a:p>
          <a:p>
            <a:pPr lvl="2">
              <a:lnSpc>
                <a:spcPct val="100000"/>
              </a:lnSpc>
              <a:spcBef>
                <a:spcPts val="600"/>
              </a:spcBef>
            </a:pPr>
            <a:endParaRPr lang="en-US" altLang="zh-CN" dirty="0" smtClean="0">
              <a:latin typeface="+mn-ea"/>
            </a:endParaRPr>
          </a:p>
        </p:txBody>
      </p:sp>
    </p:spTree>
    <p:extLst>
      <p:ext uri="{BB962C8B-B14F-4D97-AF65-F5344CB8AC3E}">
        <p14:creationId xmlns:p14="http://schemas.microsoft.com/office/powerpoint/2010/main" val="24882791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5. </a:t>
            </a:r>
            <a:r>
              <a:rPr lang="zh-CN" altLang="en-US" sz="4000" b="1" dirty="0" smtClean="0"/>
              <a:t>建模误区</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2400" dirty="0" smtClean="0"/>
              <a:t>建模误区</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建模等于写文档</a:t>
            </a:r>
          </a:p>
        </p:txBody>
      </p:sp>
      <p:sp>
        <p:nvSpPr>
          <p:cNvPr id="10" name="圆角矩形 9"/>
          <p:cNvSpPr/>
          <p:nvPr/>
        </p:nvSpPr>
        <p:spPr>
          <a:xfrm>
            <a:off x="1730271" y="2275226"/>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在开始阶段可以考虑到所有的一切</a:t>
            </a:r>
          </a:p>
        </p:txBody>
      </p:sp>
      <p:sp>
        <p:nvSpPr>
          <p:cNvPr id="11" name="圆角矩形 10"/>
          <p:cNvSpPr/>
          <p:nvPr/>
        </p:nvSpPr>
        <p:spPr>
          <a:xfrm>
            <a:off x="1730271" y="2924160"/>
            <a:ext cx="2317189" cy="573448"/>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a:t>建模意味着需要重量级的软件开发过程</a:t>
            </a:r>
          </a:p>
        </p:txBody>
      </p:sp>
      <p:sp>
        <p:nvSpPr>
          <p:cNvPr id="12" name="圆角矩形 11"/>
          <p:cNvSpPr/>
          <p:nvPr/>
        </p:nvSpPr>
        <p:spPr>
          <a:xfrm>
            <a:off x="1730271" y="357309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必须“冻结”需求</a:t>
            </a:r>
            <a:endParaRPr lang="zh-CN" altLang="en-US" dirty="0"/>
          </a:p>
        </p:txBody>
      </p:sp>
      <p:sp>
        <p:nvSpPr>
          <p:cNvPr id="13" name="圆角矩形 12"/>
          <p:cNvSpPr/>
          <p:nvPr/>
        </p:nvSpPr>
        <p:spPr>
          <a:xfrm>
            <a:off x="1730271" y="3947776"/>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设计是不可更改的</a:t>
            </a:r>
            <a:endParaRPr lang="zh-CN" altLang="en-US" dirty="0"/>
          </a:p>
        </p:txBody>
      </p:sp>
      <p:sp>
        <p:nvSpPr>
          <p:cNvPr id="14" name="圆角矩形 13"/>
          <p:cNvSpPr/>
          <p:nvPr/>
        </p:nvSpPr>
        <p:spPr>
          <a:xfrm>
            <a:off x="1730271" y="4316145"/>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必须使用</a:t>
            </a:r>
            <a:r>
              <a:rPr lang="en-US" altLang="zh-CN" dirty="0" smtClean="0"/>
              <a:t>CASE</a:t>
            </a:r>
            <a:r>
              <a:rPr lang="zh-CN" altLang="en-US" dirty="0" smtClean="0"/>
              <a:t>工具</a:t>
            </a:r>
            <a:endParaRPr lang="zh-CN" altLang="en-US" dirty="0"/>
          </a:p>
        </p:txBody>
      </p:sp>
      <p:sp>
        <p:nvSpPr>
          <p:cNvPr id="15" name="圆角矩形 14"/>
          <p:cNvSpPr/>
          <p:nvPr/>
        </p:nvSpPr>
        <p:spPr>
          <a:xfrm>
            <a:off x="1730271" y="4690827"/>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建模实在浪费时间</a:t>
            </a:r>
            <a:endParaRPr lang="zh-CN" altLang="en-US" dirty="0"/>
          </a:p>
        </p:txBody>
      </p:sp>
      <p:sp>
        <p:nvSpPr>
          <p:cNvPr id="16" name="圆角矩形 15"/>
          <p:cNvSpPr/>
          <p:nvPr/>
        </p:nvSpPr>
        <p:spPr>
          <a:xfrm>
            <a:off x="1730271" y="5065509"/>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数据模型就是一切</a:t>
            </a:r>
            <a:endParaRPr lang="zh-CN" altLang="en-US" dirty="0"/>
          </a:p>
        </p:txBody>
      </p:sp>
      <p:sp>
        <p:nvSpPr>
          <p:cNvPr id="17" name="圆角矩形 16"/>
          <p:cNvSpPr/>
          <p:nvPr/>
        </p:nvSpPr>
        <p:spPr>
          <a:xfrm>
            <a:off x="1730271" y="5440191"/>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所有的开发人员都知道如何建模</a:t>
            </a:r>
            <a:endParaRPr lang="zh-CN" altLang="en-US" dirty="0"/>
          </a:p>
        </p:txBody>
      </p:sp>
      <p:sp>
        <p:nvSpPr>
          <p:cNvPr id="20" name="内容占位符 2"/>
          <p:cNvSpPr>
            <a:spLocks noGrp="1"/>
          </p:cNvSpPr>
          <p:nvPr>
            <p:ph idx="1"/>
          </p:nvPr>
        </p:nvSpPr>
        <p:spPr>
          <a:xfrm>
            <a:off x="4231176" y="1900544"/>
            <a:ext cx="7122624" cy="4549875"/>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3</a:t>
            </a:r>
            <a:r>
              <a:rPr lang="zh-CN" altLang="en-US" dirty="0" smtClean="0">
                <a:latin typeface="+mn-ea"/>
              </a:rPr>
              <a:t>）</a:t>
            </a:r>
            <a:r>
              <a:rPr lang="zh-CN" altLang="en-US" sz="2600" dirty="0"/>
              <a:t>建模意味着需要重量级的软件开发过程</a:t>
            </a:r>
            <a:endParaRPr lang="en-US" altLang="zh-CN" sz="2600" dirty="0" smtClean="0">
              <a:latin typeface="+mn-ea"/>
            </a:endParaRPr>
          </a:p>
          <a:p>
            <a:pPr lvl="1">
              <a:lnSpc>
                <a:spcPct val="100000"/>
              </a:lnSpc>
              <a:spcBef>
                <a:spcPts val="600"/>
              </a:spcBef>
            </a:pPr>
            <a:r>
              <a:rPr lang="zh-CN" altLang="en-US" sz="2200" dirty="0">
                <a:latin typeface="+mn-ea"/>
              </a:rPr>
              <a:t>走入这个误区（经常与误区一有联系）的项目组常常是连建模都彻底地放弃了，因为这样的软件开发过程对他们来说太复杂太沉重了</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solidFill>
                  <a:srgbClr val="C00000"/>
                </a:solidFill>
                <a:latin typeface="+mn-ea"/>
              </a:rPr>
              <a:t>可以用一种敏捷的方式取而代之</a:t>
            </a:r>
            <a:r>
              <a:rPr lang="zh-CN" altLang="en-US" sz="2200" dirty="0" smtClean="0">
                <a:solidFill>
                  <a:srgbClr val="C00000"/>
                </a:solidFill>
                <a:latin typeface="+mn-ea"/>
              </a:rPr>
              <a:t>。</a:t>
            </a:r>
            <a:r>
              <a:rPr lang="zh-CN" altLang="en-US" sz="2200" dirty="0">
                <a:latin typeface="+mn-ea"/>
              </a:rPr>
              <a:t>可以很基本的方式进行建模（比如，从办公桌起来，来到白板前就开始构略草图）。只要你愿意，你就可以轻松地建模</a:t>
            </a:r>
            <a:r>
              <a:rPr lang="zh-CN" altLang="en-US" sz="2200" dirty="0" smtClean="0">
                <a:latin typeface="+mn-ea"/>
              </a:rPr>
              <a:t>。</a:t>
            </a:r>
            <a:endParaRPr lang="en-US" altLang="zh-CN" sz="1800" dirty="0" smtClean="0">
              <a:latin typeface="+mn-ea"/>
            </a:endParaRPr>
          </a:p>
          <a:p>
            <a:pPr lvl="2">
              <a:lnSpc>
                <a:spcPct val="100000"/>
              </a:lnSpc>
              <a:spcBef>
                <a:spcPts val="600"/>
              </a:spcBef>
            </a:pPr>
            <a:endParaRPr lang="en-US" altLang="zh-CN" dirty="0" smtClean="0">
              <a:latin typeface="+mn-ea"/>
            </a:endParaRPr>
          </a:p>
        </p:txBody>
      </p:sp>
    </p:spTree>
    <p:extLst>
      <p:ext uri="{BB962C8B-B14F-4D97-AF65-F5344CB8AC3E}">
        <p14:creationId xmlns:p14="http://schemas.microsoft.com/office/powerpoint/2010/main" val="3555266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5. </a:t>
            </a:r>
            <a:r>
              <a:rPr lang="zh-CN" altLang="en-US" sz="4000" b="1" dirty="0" smtClean="0"/>
              <a:t>建模误区</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2400" dirty="0" smtClean="0"/>
              <a:t>建模误区</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建模等于写文档</a:t>
            </a:r>
          </a:p>
        </p:txBody>
      </p:sp>
      <p:sp>
        <p:nvSpPr>
          <p:cNvPr id="10" name="圆角矩形 9"/>
          <p:cNvSpPr/>
          <p:nvPr/>
        </p:nvSpPr>
        <p:spPr>
          <a:xfrm>
            <a:off x="1730271" y="2275226"/>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在开始阶段可以考虑到所有的一切</a:t>
            </a:r>
          </a:p>
        </p:txBody>
      </p:sp>
      <p:sp>
        <p:nvSpPr>
          <p:cNvPr id="11" name="圆角矩形 10"/>
          <p:cNvSpPr/>
          <p:nvPr/>
        </p:nvSpPr>
        <p:spPr>
          <a:xfrm>
            <a:off x="1730271" y="2924160"/>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建模意味着需要重量级的软件开发过程</a:t>
            </a:r>
          </a:p>
        </p:txBody>
      </p:sp>
      <p:sp>
        <p:nvSpPr>
          <p:cNvPr id="12" name="圆角矩形 11"/>
          <p:cNvSpPr/>
          <p:nvPr/>
        </p:nvSpPr>
        <p:spPr>
          <a:xfrm>
            <a:off x="1730271" y="3573094"/>
            <a:ext cx="2317189" cy="29919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a:t>必须“冻结”需求</a:t>
            </a:r>
          </a:p>
        </p:txBody>
      </p:sp>
      <p:sp>
        <p:nvSpPr>
          <p:cNvPr id="13" name="圆角矩形 12"/>
          <p:cNvSpPr/>
          <p:nvPr/>
        </p:nvSpPr>
        <p:spPr>
          <a:xfrm>
            <a:off x="1730271" y="3947776"/>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设计是不可更改的</a:t>
            </a:r>
            <a:endParaRPr lang="zh-CN" altLang="en-US" dirty="0"/>
          </a:p>
        </p:txBody>
      </p:sp>
      <p:sp>
        <p:nvSpPr>
          <p:cNvPr id="14" name="圆角矩形 13"/>
          <p:cNvSpPr/>
          <p:nvPr/>
        </p:nvSpPr>
        <p:spPr>
          <a:xfrm>
            <a:off x="1730271" y="4316145"/>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必须使用</a:t>
            </a:r>
            <a:r>
              <a:rPr lang="en-US" altLang="zh-CN" dirty="0" smtClean="0"/>
              <a:t>CASE</a:t>
            </a:r>
            <a:r>
              <a:rPr lang="zh-CN" altLang="en-US" dirty="0" smtClean="0"/>
              <a:t>工具</a:t>
            </a:r>
            <a:endParaRPr lang="zh-CN" altLang="en-US" dirty="0"/>
          </a:p>
        </p:txBody>
      </p:sp>
      <p:sp>
        <p:nvSpPr>
          <p:cNvPr id="15" name="圆角矩形 14"/>
          <p:cNvSpPr/>
          <p:nvPr/>
        </p:nvSpPr>
        <p:spPr>
          <a:xfrm>
            <a:off x="1730271" y="4690827"/>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建模实在浪费时间</a:t>
            </a:r>
            <a:endParaRPr lang="zh-CN" altLang="en-US" dirty="0"/>
          </a:p>
        </p:txBody>
      </p:sp>
      <p:sp>
        <p:nvSpPr>
          <p:cNvPr id="16" name="圆角矩形 15"/>
          <p:cNvSpPr/>
          <p:nvPr/>
        </p:nvSpPr>
        <p:spPr>
          <a:xfrm>
            <a:off x="1730271" y="5065509"/>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数据模型就是一切</a:t>
            </a:r>
            <a:endParaRPr lang="zh-CN" altLang="en-US" dirty="0"/>
          </a:p>
        </p:txBody>
      </p:sp>
      <p:sp>
        <p:nvSpPr>
          <p:cNvPr id="17" name="圆角矩形 16"/>
          <p:cNvSpPr/>
          <p:nvPr/>
        </p:nvSpPr>
        <p:spPr>
          <a:xfrm>
            <a:off x="1730271" y="5440191"/>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所有的开发人员都知道如何建模</a:t>
            </a:r>
            <a:endParaRPr lang="zh-CN" altLang="en-US" dirty="0"/>
          </a:p>
        </p:txBody>
      </p:sp>
      <p:sp>
        <p:nvSpPr>
          <p:cNvPr id="20" name="内容占位符 2"/>
          <p:cNvSpPr>
            <a:spLocks noGrp="1"/>
          </p:cNvSpPr>
          <p:nvPr>
            <p:ph idx="1"/>
          </p:nvPr>
        </p:nvSpPr>
        <p:spPr>
          <a:xfrm>
            <a:off x="4231176" y="1900544"/>
            <a:ext cx="7122624" cy="4549875"/>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4</a:t>
            </a:r>
            <a:r>
              <a:rPr lang="zh-CN" altLang="en-US" dirty="0" smtClean="0">
                <a:latin typeface="+mn-ea"/>
              </a:rPr>
              <a:t>）</a:t>
            </a:r>
            <a:r>
              <a:rPr lang="zh-CN" altLang="en-US" sz="2600" dirty="0" smtClean="0"/>
              <a:t>必须冻结需求</a:t>
            </a:r>
            <a:endParaRPr lang="en-US" altLang="zh-CN" sz="2600" dirty="0" smtClean="0">
              <a:latin typeface="+mn-ea"/>
            </a:endParaRPr>
          </a:p>
          <a:p>
            <a:pPr lvl="1">
              <a:lnSpc>
                <a:spcPct val="100000"/>
              </a:lnSpc>
              <a:spcBef>
                <a:spcPts val="600"/>
              </a:spcBef>
            </a:pPr>
            <a:r>
              <a:rPr lang="zh-CN" altLang="en-US" sz="2200" dirty="0">
                <a:latin typeface="+mn-ea"/>
              </a:rPr>
              <a:t>这个要求常常来自高级经理，</a:t>
            </a:r>
            <a:r>
              <a:rPr lang="zh-CN" altLang="en-US" sz="2200" dirty="0" smtClean="0">
                <a:latin typeface="+mn-ea"/>
              </a:rPr>
              <a:t>他们想</a:t>
            </a:r>
            <a:r>
              <a:rPr lang="zh-CN" altLang="en-US" sz="2200" dirty="0">
                <a:latin typeface="+mn-ea"/>
              </a:rPr>
              <a:t>确切地</a:t>
            </a:r>
            <a:r>
              <a:rPr lang="zh-CN" altLang="en-US" sz="2200" dirty="0" smtClean="0">
                <a:latin typeface="+mn-ea"/>
              </a:rPr>
              <a:t>知道从</a:t>
            </a:r>
            <a:r>
              <a:rPr lang="zh-CN" altLang="en-US" sz="2200" dirty="0">
                <a:latin typeface="+mn-ea"/>
              </a:rPr>
              <a:t>这个项目组能得到什么东西</a:t>
            </a:r>
            <a:r>
              <a:rPr lang="zh-CN" altLang="en-US" sz="2200" dirty="0" smtClean="0">
                <a:latin typeface="+mn-ea"/>
              </a:rPr>
              <a:t>。</a:t>
            </a:r>
            <a:r>
              <a:rPr lang="zh-CN" altLang="en-US" sz="2200" dirty="0" smtClean="0">
                <a:solidFill>
                  <a:srgbClr val="C00000"/>
                </a:solidFill>
                <a:latin typeface="+mn-ea"/>
              </a:rPr>
              <a:t>好处</a:t>
            </a:r>
            <a:r>
              <a:rPr lang="zh-CN" altLang="en-US" sz="2200" dirty="0" smtClean="0">
                <a:latin typeface="+mn-ea"/>
              </a:rPr>
              <a:t>是</a:t>
            </a:r>
            <a:r>
              <a:rPr lang="zh-CN" altLang="en-US" sz="2200" dirty="0">
                <a:latin typeface="+mn-ea"/>
              </a:rPr>
              <a:t>在开发周期的早期确定下需求，就可以</a:t>
            </a:r>
            <a:r>
              <a:rPr lang="zh-CN" altLang="en-US" sz="2200" dirty="0" smtClean="0">
                <a:latin typeface="+mn-ea"/>
              </a:rPr>
              <a:t>确切知道</a:t>
            </a:r>
            <a:r>
              <a:rPr lang="zh-CN" altLang="en-US" sz="2200" dirty="0">
                <a:latin typeface="+mn-ea"/>
              </a:rPr>
              <a:t>所要的</a:t>
            </a:r>
            <a:r>
              <a:rPr lang="zh-CN" altLang="en-US" sz="2200" dirty="0" smtClean="0">
                <a:latin typeface="+mn-ea"/>
              </a:rPr>
              <a:t>是什么样</a:t>
            </a:r>
            <a:r>
              <a:rPr lang="zh-CN" altLang="en-US" sz="2200" dirty="0">
                <a:latin typeface="+mn-ea"/>
              </a:rPr>
              <a:t>的东西；</a:t>
            </a:r>
            <a:r>
              <a:rPr lang="zh-CN" altLang="en-US" sz="2200" dirty="0" smtClean="0">
                <a:solidFill>
                  <a:srgbClr val="C00000"/>
                </a:solidFill>
                <a:latin typeface="+mn-ea"/>
              </a:rPr>
              <a:t>缺点</a:t>
            </a:r>
            <a:r>
              <a:rPr lang="zh-CN" altLang="en-US" sz="2200" dirty="0" smtClean="0">
                <a:latin typeface="+mn-ea"/>
              </a:rPr>
              <a:t>是</a:t>
            </a:r>
            <a:r>
              <a:rPr lang="zh-CN" altLang="en-US" sz="2200" dirty="0">
                <a:latin typeface="+mn-ea"/>
              </a:rPr>
              <a:t>他们可能没有得到实际上所需要的</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solidFill>
                  <a:srgbClr val="C00000"/>
                </a:solidFill>
                <a:latin typeface="+mn-ea"/>
              </a:rPr>
              <a:t>分析</a:t>
            </a:r>
            <a:r>
              <a:rPr lang="zh-CN" altLang="en-US" sz="2200" dirty="0">
                <a:solidFill>
                  <a:schemeClr val="tx1"/>
                </a:solidFill>
                <a:latin typeface="+mn-ea"/>
              </a:rPr>
              <a:t>：变化总会发生的。由于优先级的变化和逐渐对</a:t>
            </a:r>
            <a:r>
              <a:rPr lang="zh-CN" altLang="en-US" sz="2200" dirty="0" smtClean="0">
                <a:solidFill>
                  <a:schemeClr val="tx1"/>
                </a:solidFill>
                <a:latin typeface="+mn-ea"/>
              </a:rPr>
              <a:t>系统更进一步</a:t>
            </a:r>
            <a:r>
              <a:rPr lang="zh-CN" altLang="en-US" sz="2200" dirty="0">
                <a:solidFill>
                  <a:schemeClr val="tx1"/>
                </a:solidFill>
                <a:latin typeface="+mn-ea"/>
              </a:rPr>
              <a:t>的理解，都会引起需求的</a:t>
            </a:r>
            <a:r>
              <a:rPr lang="zh-CN" altLang="en-US" sz="2200" dirty="0" smtClean="0">
                <a:solidFill>
                  <a:schemeClr val="tx1"/>
                </a:solidFill>
                <a:latin typeface="+mn-ea"/>
              </a:rPr>
              <a:t>变化</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solidFill>
                  <a:srgbClr val="C00000"/>
                </a:solidFill>
                <a:latin typeface="+mn-ea"/>
              </a:rPr>
              <a:t>应该</a:t>
            </a:r>
            <a:r>
              <a:rPr lang="zh-CN" altLang="en-US" sz="2200" dirty="0">
                <a:latin typeface="+mn-ea"/>
              </a:rPr>
              <a:t>：尽量去接受变化而且相应地采取</a:t>
            </a:r>
            <a:r>
              <a:rPr lang="zh-CN" altLang="en-US" sz="2200" dirty="0" smtClean="0">
                <a:latin typeface="+mn-ea"/>
              </a:rPr>
              <a:t>行动。</a:t>
            </a:r>
            <a:endParaRPr lang="en-US" altLang="zh-CN" sz="1800" dirty="0" smtClean="0">
              <a:latin typeface="+mn-ea"/>
            </a:endParaRPr>
          </a:p>
          <a:p>
            <a:pPr lvl="2">
              <a:lnSpc>
                <a:spcPct val="100000"/>
              </a:lnSpc>
              <a:spcBef>
                <a:spcPts val="600"/>
              </a:spcBef>
            </a:pPr>
            <a:endParaRPr lang="en-US" altLang="zh-CN" dirty="0" smtClean="0">
              <a:latin typeface="+mn-ea"/>
            </a:endParaRPr>
          </a:p>
        </p:txBody>
      </p:sp>
    </p:spTree>
    <p:extLst>
      <p:ext uri="{BB962C8B-B14F-4D97-AF65-F5344CB8AC3E}">
        <p14:creationId xmlns:p14="http://schemas.microsoft.com/office/powerpoint/2010/main" val="12344155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5. </a:t>
            </a:r>
            <a:r>
              <a:rPr lang="zh-CN" altLang="en-US" sz="4000" b="1" dirty="0" smtClean="0"/>
              <a:t>建模误区</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2400" dirty="0" smtClean="0"/>
              <a:t>建模误区</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建模等于写文档</a:t>
            </a:r>
          </a:p>
        </p:txBody>
      </p:sp>
      <p:sp>
        <p:nvSpPr>
          <p:cNvPr id="10" name="圆角矩形 9"/>
          <p:cNvSpPr/>
          <p:nvPr/>
        </p:nvSpPr>
        <p:spPr>
          <a:xfrm>
            <a:off x="1730271" y="2275226"/>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在开始阶段可以考虑到所有的一切</a:t>
            </a:r>
          </a:p>
        </p:txBody>
      </p:sp>
      <p:sp>
        <p:nvSpPr>
          <p:cNvPr id="11" name="圆角矩形 10"/>
          <p:cNvSpPr/>
          <p:nvPr/>
        </p:nvSpPr>
        <p:spPr>
          <a:xfrm>
            <a:off x="1730271" y="2924160"/>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建模意味着需要重量级的软件开发过程</a:t>
            </a:r>
          </a:p>
        </p:txBody>
      </p:sp>
      <p:sp>
        <p:nvSpPr>
          <p:cNvPr id="12" name="圆角矩形 11"/>
          <p:cNvSpPr/>
          <p:nvPr/>
        </p:nvSpPr>
        <p:spPr>
          <a:xfrm>
            <a:off x="1730271" y="357309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必须“冻结”需求</a:t>
            </a:r>
          </a:p>
        </p:txBody>
      </p:sp>
      <p:sp>
        <p:nvSpPr>
          <p:cNvPr id="13" name="圆角矩形 12"/>
          <p:cNvSpPr/>
          <p:nvPr/>
        </p:nvSpPr>
        <p:spPr>
          <a:xfrm>
            <a:off x="1730271" y="3947776"/>
            <a:ext cx="2317189" cy="29919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a:t>设计是不可更改的</a:t>
            </a:r>
          </a:p>
        </p:txBody>
      </p:sp>
      <p:sp>
        <p:nvSpPr>
          <p:cNvPr id="14" name="圆角矩形 13"/>
          <p:cNvSpPr/>
          <p:nvPr/>
        </p:nvSpPr>
        <p:spPr>
          <a:xfrm>
            <a:off x="1730271" y="4316145"/>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必须使用</a:t>
            </a:r>
            <a:r>
              <a:rPr lang="en-US" altLang="zh-CN" dirty="0" smtClean="0"/>
              <a:t>CASE</a:t>
            </a:r>
            <a:r>
              <a:rPr lang="zh-CN" altLang="en-US" dirty="0" smtClean="0"/>
              <a:t>工具</a:t>
            </a:r>
            <a:endParaRPr lang="zh-CN" altLang="en-US" dirty="0"/>
          </a:p>
        </p:txBody>
      </p:sp>
      <p:sp>
        <p:nvSpPr>
          <p:cNvPr id="15" name="圆角矩形 14"/>
          <p:cNvSpPr/>
          <p:nvPr/>
        </p:nvSpPr>
        <p:spPr>
          <a:xfrm>
            <a:off x="1730271" y="4690827"/>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建模实在浪费时间</a:t>
            </a:r>
            <a:endParaRPr lang="zh-CN" altLang="en-US" dirty="0"/>
          </a:p>
        </p:txBody>
      </p:sp>
      <p:sp>
        <p:nvSpPr>
          <p:cNvPr id="16" name="圆角矩形 15"/>
          <p:cNvSpPr/>
          <p:nvPr/>
        </p:nvSpPr>
        <p:spPr>
          <a:xfrm>
            <a:off x="1730271" y="5065509"/>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数据模型就是一切</a:t>
            </a:r>
            <a:endParaRPr lang="zh-CN" altLang="en-US" dirty="0"/>
          </a:p>
        </p:txBody>
      </p:sp>
      <p:sp>
        <p:nvSpPr>
          <p:cNvPr id="17" name="圆角矩形 16"/>
          <p:cNvSpPr/>
          <p:nvPr/>
        </p:nvSpPr>
        <p:spPr>
          <a:xfrm>
            <a:off x="1730271" y="5440191"/>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所有的开发人员都知道如何建模</a:t>
            </a:r>
            <a:endParaRPr lang="zh-CN" altLang="en-US" dirty="0"/>
          </a:p>
        </p:txBody>
      </p:sp>
      <p:sp>
        <p:nvSpPr>
          <p:cNvPr id="20" name="内容占位符 2"/>
          <p:cNvSpPr>
            <a:spLocks noGrp="1"/>
          </p:cNvSpPr>
          <p:nvPr>
            <p:ph idx="1"/>
          </p:nvPr>
        </p:nvSpPr>
        <p:spPr>
          <a:xfrm>
            <a:off x="4231176" y="1900544"/>
            <a:ext cx="7122624" cy="4549875"/>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5</a:t>
            </a:r>
            <a:r>
              <a:rPr lang="zh-CN" altLang="en-US" dirty="0" smtClean="0">
                <a:latin typeface="+mn-ea"/>
              </a:rPr>
              <a:t>）</a:t>
            </a:r>
            <a:r>
              <a:rPr lang="zh-CN" altLang="en-US" sz="2600" dirty="0" smtClean="0"/>
              <a:t>设计是不可更改的</a:t>
            </a:r>
            <a:endParaRPr lang="en-US" altLang="zh-CN" sz="2600" dirty="0" smtClean="0">
              <a:latin typeface="+mn-ea"/>
            </a:endParaRPr>
          </a:p>
          <a:p>
            <a:pPr lvl="1">
              <a:lnSpc>
                <a:spcPct val="100000"/>
              </a:lnSpc>
              <a:spcBef>
                <a:spcPts val="600"/>
              </a:spcBef>
            </a:pPr>
            <a:r>
              <a:rPr lang="zh-CN" altLang="en-US" sz="2200" dirty="0">
                <a:latin typeface="+mn-ea"/>
              </a:rPr>
              <a:t>如同误区四，要求</a:t>
            </a:r>
            <a:r>
              <a:rPr lang="zh-CN" altLang="en-US" sz="2200" dirty="0" smtClean="0">
                <a:latin typeface="+mn-ea"/>
              </a:rPr>
              <a:t>每个</a:t>
            </a:r>
            <a:r>
              <a:rPr lang="zh-CN" altLang="en-US" sz="2200" dirty="0">
                <a:latin typeface="+mn-ea"/>
              </a:rPr>
              <a:t>开发人员必须严格</a:t>
            </a:r>
            <a:r>
              <a:rPr lang="zh-CN" altLang="en-US" sz="2200" dirty="0" smtClean="0">
                <a:latin typeface="+mn-ea"/>
              </a:rPr>
              <a:t>遵从</a:t>
            </a:r>
            <a:r>
              <a:rPr lang="en-US" altLang="zh-CN" sz="2200" dirty="0" smtClean="0">
                <a:latin typeface="+mn-ea"/>
              </a:rPr>
              <a:t>”</a:t>
            </a:r>
            <a:r>
              <a:rPr lang="zh-CN" altLang="en-US" sz="2200" dirty="0" smtClean="0">
                <a:latin typeface="+mn-ea"/>
              </a:rPr>
              <a:t>设计</a:t>
            </a:r>
            <a:r>
              <a:rPr lang="en-US" altLang="zh-CN" sz="2200" dirty="0" smtClean="0">
                <a:latin typeface="+mn-ea"/>
              </a:rPr>
              <a:t>”</a:t>
            </a:r>
            <a:r>
              <a:rPr lang="zh-CN" altLang="en-US" sz="2200" dirty="0" smtClean="0">
                <a:latin typeface="+mn-ea"/>
              </a:rPr>
              <a:t>，</a:t>
            </a:r>
            <a:r>
              <a:rPr lang="zh-CN" altLang="en-US" sz="2200" dirty="0">
                <a:latin typeface="+mn-ea"/>
              </a:rPr>
              <a:t>导致开发人员为了符合“设计“</a:t>
            </a:r>
            <a:r>
              <a:rPr lang="zh-CN" altLang="en-US" sz="2200" dirty="0" smtClean="0">
                <a:latin typeface="+mn-ea"/>
              </a:rPr>
              <a:t>而做错误</a:t>
            </a:r>
            <a:r>
              <a:rPr lang="zh-CN" altLang="en-US" sz="2200" dirty="0">
                <a:latin typeface="+mn-ea"/>
              </a:rPr>
              <a:t>的事情。</a:t>
            </a:r>
            <a:r>
              <a:rPr lang="zh-CN" altLang="en-US" sz="2200" dirty="0" smtClean="0">
                <a:latin typeface="+mn-ea"/>
              </a:rPr>
              <a:t>另外，就是</a:t>
            </a:r>
            <a:r>
              <a:rPr lang="zh-CN" altLang="en-US" sz="2200" dirty="0">
                <a:latin typeface="+mn-ea"/>
              </a:rPr>
              <a:t>开发出大量的文档而不是实际的</a:t>
            </a:r>
            <a:r>
              <a:rPr lang="zh-CN" altLang="en-US" sz="2200" dirty="0" smtClean="0">
                <a:latin typeface="+mn-ea"/>
              </a:rPr>
              <a:t>软件。</a:t>
            </a:r>
            <a:endParaRPr lang="en-US" altLang="zh-CN" sz="2200" dirty="0" smtClean="0">
              <a:latin typeface="+mn-ea"/>
            </a:endParaRPr>
          </a:p>
          <a:p>
            <a:pPr lvl="1">
              <a:lnSpc>
                <a:spcPct val="100000"/>
              </a:lnSpc>
              <a:spcBef>
                <a:spcPts val="600"/>
              </a:spcBef>
            </a:pPr>
            <a:r>
              <a:rPr lang="zh-CN" altLang="en-US" sz="2200" dirty="0">
                <a:solidFill>
                  <a:srgbClr val="C00000"/>
                </a:solidFill>
                <a:latin typeface="+mn-ea"/>
              </a:rPr>
              <a:t>分析</a:t>
            </a:r>
            <a:r>
              <a:rPr lang="zh-CN" altLang="en-US" sz="2200" dirty="0">
                <a:solidFill>
                  <a:schemeClr val="tx1"/>
                </a:solidFill>
                <a:latin typeface="+mn-ea"/>
              </a:rPr>
              <a:t>：事实上，设计会经常根据开发人员和数据库管理员的反馈进行修改，因为他们是最接近实际应用的人</a:t>
            </a:r>
            <a:r>
              <a:rPr lang="zh-CN" altLang="en-US" sz="2200" dirty="0" smtClean="0">
                <a:solidFill>
                  <a:schemeClr val="tx1"/>
                </a:solidFill>
                <a:latin typeface="+mn-ea"/>
              </a:rPr>
              <a:t>；必须面对</a:t>
            </a:r>
            <a:r>
              <a:rPr lang="zh-CN" altLang="en-US" sz="2200" dirty="0">
                <a:solidFill>
                  <a:schemeClr val="tx1"/>
                </a:solidFill>
                <a:latin typeface="+mn-ea"/>
              </a:rPr>
              <a:t>这样一个事实：人无完人，他们所作的工作也不可能尽善尽美。而且，任何需求的修改势必影响</a:t>
            </a:r>
            <a:r>
              <a:rPr lang="zh-CN" altLang="en-US" sz="2200" dirty="0" smtClean="0">
                <a:solidFill>
                  <a:schemeClr val="tx1"/>
                </a:solidFill>
                <a:latin typeface="+mn-ea"/>
              </a:rPr>
              <a:t>设计。</a:t>
            </a:r>
            <a:endParaRPr lang="en-US" altLang="zh-CN" sz="2200" dirty="0" smtClean="0">
              <a:solidFill>
                <a:schemeClr val="tx1"/>
              </a:solidFill>
              <a:latin typeface="+mn-ea"/>
            </a:endParaRPr>
          </a:p>
          <a:p>
            <a:pPr lvl="1">
              <a:lnSpc>
                <a:spcPct val="100000"/>
              </a:lnSpc>
              <a:spcBef>
                <a:spcPts val="600"/>
              </a:spcBef>
            </a:pPr>
            <a:r>
              <a:rPr lang="zh-CN" altLang="en-US" sz="2200" dirty="0">
                <a:solidFill>
                  <a:srgbClr val="C00000"/>
                </a:solidFill>
                <a:latin typeface="+mn-ea"/>
              </a:rPr>
              <a:t>正确的</a:t>
            </a:r>
            <a:r>
              <a:rPr lang="zh-CN" altLang="en-US" sz="2200" dirty="0" smtClean="0">
                <a:solidFill>
                  <a:srgbClr val="C00000"/>
                </a:solidFill>
                <a:latin typeface="+mn-ea"/>
              </a:rPr>
              <a:t>态度</a:t>
            </a:r>
            <a:r>
              <a:rPr lang="zh-CN" altLang="en-US" sz="2200" dirty="0" smtClean="0">
                <a:latin typeface="+mn-ea"/>
              </a:rPr>
              <a:t>：</a:t>
            </a:r>
            <a:r>
              <a:rPr lang="zh-CN" altLang="en-US" sz="2200" dirty="0">
                <a:latin typeface="+mn-ea"/>
              </a:rPr>
              <a:t>只要你的代码还在改动，设计就没完</a:t>
            </a:r>
            <a:r>
              <a:rPr lang="zh-CN" altLang="en-US" sz="2200" dirty="0" smtClean="0">
                <a:latin typeface="+mn-ea"/>
              </a:rPr>
              <a:t>。</a:t>
            </a:r>
            <a:endParaRPr lang="en-US" altLang="zh-CN" sz="1800" dirty="0" smtClean="0">
              <a:latin typeface="+mn-ea"/>
            </a:endParaRPr>
          </a:p>
          <a:p>
            <a:pPr lvl="2">
              <a:lnSpc>
                <a:spcPct val="100000"/>
              </a:lnSpc>
              <a:spcBef>
                <a:spcPts val="600"/>
              </a:spcBef>
            </a:pPr>
            <a:endParaRPr lang="en-US" altLang="zh-CN" dirty="0" smtClean="0">
              <a:latin typeface="+mn-ea"/>
            </a:endParaRPr>
          </a:p>
        </p:txBody>
      </p:sp>
    </p:spTree>
    <p:extLst>
      <p:ext uri="{BB962C8B-B14F-4D97-AF65-F5344CB8AC3E}">
        <p14:creationId xmlns:p14="http://schemas.microsoft.com/office/powerpoint/2010/main" val="3130112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5. </a:t>
            </a:r>
            <a:r>
              <a:rPr lang="zh-CN" altLang="en-US" sz="4000" b="1" dirty="0" smtClean="0"/>
              <a:t>建模误区</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2400" dirty="0" smtClean="0"/>
              <a:t>建模误区</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建模等于写文档</a:t>
            </a:r>
          </a:p>
        </p:txBody>
      </p:sp>
      <p:sp>
        <p:nvSpPr>
          <p:cNvPr id="10" name="圆角矩形 9"/>
          <p:cNvSpPr/>
          <p:nvPr/>
        </p:nvSpPr>
        <p:spPr>
          <a:xfrm>
            <a:off x="1730271" y="2275226"/>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在开始阶段可以考虑到所有的一切</a:t>
            </a:r>
          </a:p>
        </p:txBody>
      </p:sp>
      <p:sp>
        <p:nvSpPr>
          <p:cNvPr id="11" name="圆角矩形 10"/>
          <p:cNvSpPr/>
          <p:nvPr/>
        </p:nvSpPr>
        <p:spPr>
          <a:xfrm>
            <a:off x="1730271" y="2924160"/>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建模意味着需要重量级的软件开发过程</a:t>
            </a:r>
          </a:p>
        </p:txBody>
      </p:sp>
      <p:sp>
        <p:nvSpPr>
          <p:cNvPr id="12" name="圆角矩形 11"/>
          <p:cNvSpPr/>
          <p:nvPr/>
        </p:nvSpPr>
        <p:spPr>
          <a:xfrm>
            <a:off x="1730271" y="357309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必须“冻结”需求</a:t>
            </a:r>
          </a:p>
        </p:txBody>
      </p:sp>
      <p:sp>
        <p:nvSpPr>
          <p:cNvPr id="13" name="圆角矩形 12"/>
          <p:cNvSpPr/>
          <p:nvPr/>
        </p:nvSpPr>
        <p:spPr>
          <a:xfrm>
            <a:off x="1730271" y="3947776"/>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设计是不可更改的</a:t>
            </a:r>
          </a:p>
        </p:txBody>
      </p:sp>
      <p:sp>
        <p:nvSpPr>
          <p:cNvPr id="14" name="圆角矩形 13"/>
          <p:cNvSpPr/>
          <p:nvPr/>
        </p:nvSpPr>
        <p:spPr>
          <a:xfrm>
            <a:off x="1730271" y="4316145"/>
            <a:ext cx="2317189" cy="29919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a:t>必须使用</a:t>
            </a:r>
            <a:r>
              <a:rPr lang="en-US" altLang="zh-CN" dirty="0"/>
              <a:t>CASE</a:t>
            </a:r>
            <a:r>
              <a:rPr lang="zh-CN" altLang="en-US" dirty="0"/>
              <a:t>工具</a:t>
            </a:r>
          </a:p>
        </p:txBody>
      </p:sp>
      <p:sp>
        <p:nvSpPr>
          <p:cNvPr id="15" name="圆角矩形 14"/>
          <p:cNvSpPr/>
          <p:nvPr/>
        </p:nvSpPr>
        <p:spPr>
          <a:xfrm>
            <a:off x="1730271" y="4690827"/>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建模实在浪费时间</a:t>
            </a:r>
            <a:endParaRPr lang="zh-CN" altLang="en-US" dirty="0"/>
          </a:p>
        </p:txBody>
      </p:sp>
      <p:sp>
        <p:nvSpPr>
          <p:cNvPr id="16" name="圆角矩形 15"/>
          <p:cNvSpPr/>
          <p:nvPr/>
        </p:nvSpPr>
        <p:spPr>
          <a:xfrm>
            <a:off x="1730271" y="5065509"/>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数据模型就是一切</a:t>
            </a:r>
            <a:endParaRPr lang="zh-CN" altLang="en-US" dirty="0"/>
          </a:p>
        </p:txBody>
      </p:sp>
      <p:sp>
        <p:nvSpPr>
          <p:cNvPr id="17" name="圆角矩形 16"/>
          <p:cNvSpPr/>
          <p:nvPr/>
        </p:nvSpPr>
        <p:spPr>
          <a:xfrm>
            <a:off x="1730271" y="5440191"/>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所有的开发人员都知道如何建模</a:t>
            </a:r>
            <a:endParaRPr lang="zh-CN" altLang="en-US" dirty="0"/>
          </a:p>
        </p:txBody>
      </p:sp>
      <p:sp>
        <p:nvSpPr>
          <p:cNvPr id="20" name="内容占位符 2"/>
          <p:cNvSpPr>
            <a:spLocks noGrp="1"/>
          </p:cNvSpPr>
          <p:nvPr>
            <p:ph idx="1"/>
          </p:nvPr>
        </p:nvSpPr>
        <p:spPr>
          <a:xfrm>
            <a:off x="4231176" y="1900544"/>
            <a:ext cx="7122624" cy="4549875"/>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6</a:t>
            </a:r>
            <a:r>
              <a:rPr lang="zh-CN" altLang="en-US" dirty="0" smtClean="0">
                <a:latin typeface="+mn-ea"/>
              </a:rPr>
              <a:t>）</a:t>
            </a:r>
            <a:r>
              <a:rPr lang="zh-CN" altLang="en-US" sz="2600" dirty="0" smtClean="0"/>
              <a:t>必须使用</a:t>
            </a:r>
            <a:r>
              <a:rPr lang="en-US" altLang="zh-CN" sz="2600" dirty="0" smtClean="0"/>
              <a:t>CASE</a:t>
            </a:r>
            <a:r>
              <a:rPr lang="zh-CN" altLang="en-US" sz="2600" dirty="0" smtClean="0"/>
              <a:t>工具</a:t>
            </a:r>
            <a:endParaRPr lang="en-US" altLang="zh-CN" sz="2600" dirty="0" smtClean="0">
              <a:latin typeface="+mn-ea"/>
            </a:endParaRPr>
          </a:p>
          <a:p>
            <a:pPr lvl="1">
              <a:lnSpc>
                <a:spcPct val="100000"/>
              </a:lnSpc>
              <a:spcBef>
                <a:spcPts val="600"/>
              </a:spcBef>
            </a:pPr>
            <a:r>
              <a:rPr lang="zh-CN" altLang="en-US" sz="2200" dirty="0">
                <a:latin typeface="+mn-ea"/>
              </a:rPr>
              <a:t>建模常常被认为是一项复杂的工作，因此需要大量地使用</a:t>
            </a:r>
            <a:r>
              <a:rPr lang="en-US" altLang="zh-CN" sz="2200" dirty="0">
                <a:latin typeface="+mn-ea"/>
              </a:rPr>
              <a:t>CASE</a:t>
            </a:r>
            <a:r>
              <a:rPr lang="zh-CN" altLang="en-US" sz="2200" dirty="0">
                <a:latin typeface="+mn-ea"/>
              </a:rPr>
              <a:t>工具辅助进行</a:t>
            </a:r>
            <a:r>
              <a:rPr lang="zh-CN" altLang="en-US" sz="2200" dirty="0" smtClean="0">
                <a:latin typeface="+mn-ea"/>
              </a:rPr>
              <a:t>。</a:t>
            </a:r>
            <a:endParaRPr lang="en-US" altLang="zh-CN" sz="2200" dirty="0" smtClean="0">
              <a:latin typeface="+mn-ea"/>
            </a:endParaRPr>
          </a:p>
          <a:p>
            <a:pPr lvl="1">
              <a:lnSpc>
                <a:spcPct val="100000"/>
              </a:lnSpc>
              <a:spcBef>
                <a:spcPts val="600"/>
              </a:spcBef>
            </a:pPr>
            <a:r>
              <a:rPr lang="zh-CN" altLang="en-US" sz="2200" dirty="0">
                <a:solidFill>
                  <a:srgbClr val="C00000"/>
                </a:solidFill>
                <a:latin typeface="+mn-ea"/>
              </a:rPr>
              <a:t>分析</a:t>
            </a:r>
            <a:r>
              <a:rPr lang="zh-CN" altLang="en-US" sz="2200" dirty="0" smtClean="0">
                <a:solidFill>
                  <a:schemeClr val="tx1"/>
                </a:solidFill>
                <a:latin typeface="+mn-ea"/>
              </a:rPr>
              <a:t>：是</a:t>
            </a:r>
            <a:r>
              <a:rPr lang="zh-CN" altLang="en-US" sz="2200" dirty="0">
                <a:solidFill>
                  <a:schemeClr val="tx1"/>
                </a:solidFill>
                <a:latin typeface="+mn-ea"/>
              </a:rPr>
              <a:t>的，建模可以是很复杂的。</a:t>
            </a:r>
            <a:r>
              <a:rPr lang="zh-CN" altLang="en-US" sz="2200" dirty="0" smtClean="0">
                <a:solidFill>
                  <a:schemeClr val="tx1"/>
                </a:solidFill>
                <a:latin typeface="+mn-ea"/>
              </a:rPr>
              <a:t>但完全</a:t>
            </a:r>
            <a:r>
              <a:rPr lang="zh-CN" altLang="en-US" sz="2200" dirty="0">
                <a:solidFill>
                  <a:schemeClr val="tx1"/>
                </a:solidFill>
                <a:latin typeface="+mn-ea"/>
              </a:rPr>
              <a:t>可以建立一个有效而简单的模型表述其中关键的信息，而不是将一些无关紧要的细节包括进来</a:t>
            </a:r>
            <a:r>
              <a:rPr lang="zh-CN" altLang="en-US" sz="2200" dirty="0" smtClean="0">
                <a:solidFill>
                  <a:schemeClr val="tx1"/>
                </a:solidFill>
                <a:latin typeface="+mn-ea"/>
              </a:rPr>
              <a:t>。</a:t>
            </a:r>
            <a:endParaRPr lang="en-US" altLang="zh-CN" sz="1800" dirty="0" smtClean="0">
              <a:latin typeface="+mn-ea"/>
            </a:endParaRPr>
          </a:p>
          <a:p>
            <a:pPr lvl="2">
              <a:lnSpc>
                <a:spcPct val="100000"/>
              </a:lnSpc>
              <a:spcBef>
                <a:spcPts val="600"/>
              </a:spcBef>
            </a:pPr>
            <a:endParaRPr lang="en-US" altLang="zh-CN" dirty="0" smtClean="0">
              <a:latin typeface="+mn-ea"/>
            </a:endParaRPr>
          </a:p>
        </p:txBody>
      </p:sp>
    </p:spTree>
    <p:extLst>
      <p:ext uri="{BB962C8B-B14F-4D97-AF65-F5344CB8AC3E}">
        <p14:creationId xmlns:p14="http://schemas.microsoft.com/office/powerpoint/2010/main" val="34547998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5. </a:t>
            </a:r>
            <a:r>
              <a:rPr lang="zh-CN" altLang="en-US" sz="4000" b="1" dirty="0" smtClean="0"/>
              <a:t>建模误区</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2400" dirty="0" smtClean="0"/>
              <a:t>建模误区</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建模等于写文档</a:t>
            </a:r>
          </a:p>
        </p:txBody>
      </p:sp>
      <p:sp>
        <p:nvSpPr>
          <p:cNvPr id="10" name="圆角矩形 9"/>
          <p:cNvSpPr/>
          <p:nvPr/>
        </p:nvSpPr>
        <p:spPr>
          <a:xfrm>
            <a:off x="1730271" y="2275226"/>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在开始阶段可以考虑到所有的一切</a:t>
            </a:r>
          </a:p>
        </p:txBody>
      </p:sp>
      <p:sp>
        <p:nvSpPr>
          <p:cNvPr id="11" name="圆角矩形 10"/>
          <p:cNvSpPr/>
          <p:nvPr/>
        </p:nvSpPr>
        <p:spPr>
          <a:xfrm>
            <a:off x="1730271" y="2924160"/>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建模意味着需要重量级的软件开发过程</a:t>
            </a:r>
          </a:p>
        </p:txBody>
      </p:sp>
      <p:sp>
        <p:nvSpPr>
          <p:cNvPr id="12" name="圆角矩形 11"/>
          <p:cNvSpPr/>
          <p:nvPr/>
        </p:nvSpPr>
        <p:spPr>
          <a:xfrm>
            <a:off x="1730271" y="357309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必须“冻结”需求</a:t>
            </a:r>
          </a:p>
        </p:txBody>
      </p:sp>
      <p:sp>
        <p:nvSpPr>
          <p:cNvPr id="13" name="圆角矩形 12"/>
          <p:cNvSpPr/>
          <p:nvPr/>
        </p:nvSpPr>
        <p:spPr>
          <a:xfrm>
            <a:off x="1730271" y="3947776"/>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设计是不可更改的</a:t>
            </a:r>
          </a:p>
        </p:txBody>
      </p:sp>
      <p:sp>
        <p:nvSpPr>
          <p:cNvPr id="14" name="圆角矩形 13"/>
          <p:cNvSpPr/>
          <p:nvPr/>
        </p:nvSpPr>
        <p:spPr>
          <a:xfrm>
            <a:off x="1730271" y="4316145"/>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必须使用</a:t>
            </a:r>
            <a:r>
              <a:rPr lang="en-US" altLang="zh-CN" dirty="0"/>
              <a:t>CASE</a:t>
            </a:r>
            <a:r>
              <a:rPr lang="zh-CN" altLang="en-US" dirty="0"/>
              <a:t>工具</a:t>
            </a:r>
          </a:p>
        </p:txBody>
      </p:sp>
      <p:sp>
        <p:nvSpPr>
          <p:cNvPr id="15" name="圆角矩形 14"/>
          <p:cNvSpPr/>
          <p:nvPr/>
        </p:nvSpPr>
        <p:spPr>
          <a:xfrm>
            <a:off x="1730271" y="4690827"/>
            <a:ext cx="2317189" cy="29919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smtClean="0"/>
              <a:t>建模是在</a:t>
            </a:r>
            <a:r>
              <a:rPr lang="zh-CN" altLang="en-US" dirty="0"/>
              <a:t>浪费时间</a:t>
            </a:r>
          </a:p>
        </p:txBody>
      </p:sp>
      <p:sp>
        <p:nvSpPr>
          <p:cNvPr id="16" name="圆角矩形 15"/>
          <p:cNvSpPr/>
          <p:nvPr/>
        </p:nvSpPr>
        <p:spPr>
          <a:xfrm>
            <a:off x="1730271" y="5065509"/>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数据模型就是一切</a:t>
            </a:r>
            <a:endParaRPr lang="zh-CN" altLang="en-US" dirty="0"/>
          </a:p>
        </p:txBody>
      </p:sp>
      <p:sp>
        <p:nvSpPr>
          <p:cNvPr id="17" name="圆角矩形 16"/>
          <p:cNvSpPr/>
          <p:nvPr/>
        </p:nvSpPr>
        <p:spPr>
          <a:xfrm>
            <a:off x="1730271" y="5440191"/>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所有的开发人员都知道如何建模</a:t>
            </a:r>
            <a:endParaRPr lang="zh-CN" altLang="en-US" dirty="0"/>
          </a:p>
        </p:txBody>
      </p:sp>
      <p:sp>
        <p:nvSpPr>
          <p:cNvPr id="20" name="内容占位符 2"/>
          <p:cNvSpPr>
            <a:spLocks noGrp="1"/>
          </p:cNvSpPr>
          <p:nvPr>
            <p:ph idx="1"/>
          </p:nvPr>
        </p:nvSpPr>
        <p:spPr>
          <a:xfrm>
            <a:off x="4231176" y="1900544"/>
            <a:ext cx="7122624" cy="4549875"/>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smtClean="0">
                <a:latin typeface="+mn-ea"/>
              </a:rPr>
              <a:t>（</a:t>
            </a:r>
            <a:r>
              <a:rPr lang="en-US" altLang="zh-CN" dirty="0">
                <a:latin typeface="+mn-ea"/>
              </a:rPr>
              <a:t>7</a:t>
            </a:r>
            <a:r>
              <a:rPr lang="zh-CN" altLang="en-US" dirty="0" smtClean="0">
                <a:latin typeface="+mn-ea"/>
              </a:rPr>
              <a:t>）</a:t>
            </a:r>
            <a:r>
              <a:rPr lang="zh-CN" altLang="en-US" sz="2600" dirty="0" smtClean="0"/>
              <a:t>建模是在浪费时间</a:t>
            </a:r>
            <a:endParaRPr lang="en-US" altLang="zh-CN" sz="2600" dirty="0" smtClean="0">
              <a:latin typeface="+mn-ea"/>
            </a:endParaRPr>
          </a:p>
          <a:p>
            <a:pPr lvl="1">
              <a:lnSpc>
                <a:spcPct val="100000"/>
              </a:lnSpc>
              <a:spcBef>
                <a:spcPts val="600"/>
              </a:spcBef>
            </a:pPr>
            <a:r>
              <a:rPr lang="zh-CN" altLang="en-US" sz="2200" dirty="0">
                <a:latin typeface="+mn-ea"/>
              </a:rPr>
              <a:t>许多新手都这样认为，这主要是因为他们所接受的教育仅仅局限于如何编写代码，对于完整的开发流程鲜有接触。他们放弃了提高效率和学习技能的机会，这些技能能够使他们很容易地适应不同的项目或组织。</a:t>
            </a:r>
            <a:endParaRPr lang="en-US" altLang="zh-CN" sz="2200" dirty="0" smtClean="0">
              <a:latin typeface="+mn-ea"/>
            </a:endParaRPr>
          </a:p>
          <a:p>
            <a:pPr lvl="1">
              <a:lnSpc>
                <a:spcPct val="100000"/>
              </a:lnSpc>
              <a:spcBef>
                <a:spcPts val="600"/>
              </a:spcBef>
            </a:pPr>
            <a:r>
              <a:rPr lang="zh-CN" altLang="en-US" sz="2200" dirty="0">
                <a:solidFill>
                  <a:srgbClr val="C00000"/>
                </a:solidFill>
                <a:latin typeface="+mn-ea"/>
              </a:rPr>
              <a:t>分析</a:t>
            </a:r>
            <a:r>
              <a:rPr lang="zh-CN" altLang="en-US" sz="2200" dirty="0">
                <a:solidFill>
                  <a:schemeClr val="tx1"/>
                </a:solidFill>
                <a:latin typeface="+mn-ea"/>
              </a:rPr>
              <a:t>：在大多数情况下，在开始编码之前画一个草图、开发一个粗率的原型或者制作一些索引卡片都能提高你的生产效率</a:t>
            </a:r>
            <a:r>
              <a:rPr lang="zh-CN" altLang="en-US" sz="2200" dirty="0" smtClean="0">
                <a:solidFill>
                  <a:schemeClr val="tx1"/>
                </a:solidFill>
                <a:latin typeface="+mn-ea"/>
              </a:rPr>
              <a:t>。</a:t>
            </a:r>
            <a:endParaRPr lang="en-US" altLang="zh-CN" sz="2200" dirty="0" smtClean="0">
              <a:solidFill>
                <a:schemeClr val="tx1"/>
              </a:solidFill>
              <a:latin typeface="+mn-ea"/>
            </a:endParaRPr>
          </a:p>
          <a:p>
            <a:pPr lvl="2">
              <a:lnSpc>
                <a:spcPct val="100000"/>
              </a:lnSpc>
              <a:spcBef>
                <a:spcPts val="600"/>
              </a:spcBef>
            </a:pPr>
            <a:r>
              <a:rPr lang="zh-CN" altLang="en-US" dirty="0" smtClean="0">
                <a:solidFill>
                  <a:schemeClr val="tx1"/>
                </a:solidFill>
                <a:latin typeface="+mn-ea"/>
              </a:rPr>
              <a:t>（</a:t>
            </a:r>
            <a:r>
              <a:rPr lang="en-US" altLang="zh-CN" dirty="0" smtClean="0">
                <a:solidFill>
                  <a:schemeClr val="tx1"/>
                </a:solidFill>
                <a:latin typeface="+mn-ea"/>
              </a:rPr>
              <a:t>1</a:t>
            </a:r>
            <a:r>
              <a:rPr lang="zh-CN" altLang="en-US" dirty="0" smtClean="0">
                <a:solidFill>
                  <a:schemeClr val="tx1"/>
                </a:solidFill>
                <a:latin typeface="+mn-ea"/>
              </a:rPr>
              <a:t>）高效</a:t>
            </a:r>
            <a:r>
              <a:rPr lang="zh-CN" altLang="en-US" dirty="0">
                <a:solidFill>
                  <a:schemeClr val="tx1"/>
                </a:solidFill>
                <a:latin typeface="+mn-ea"/>
              </a:rPr>
              <a:t>的开发者在编码之前都要进行建模工作</a:t>
            </a:r>
            <a:r>
              <a:rPr lang="zh-CN" altLang="en-US" dirty="0" smtClean="0">
                <a:solidFill>
                  <a:schemeClr val="tx1"/>
                </a:solidFill>
                <a:latin typeface="+mn-ea"/>
              </a:rPr>
              <a:t>。</a:t>
            </a:r>
            <a:endParaRPr lang="en-US" altLang="zh-CN" dirty="0" smtClean="0">
              <a:solidFill>
                <a:schemeClr val="tx1"/>
              </a:solidFill>
              <a:latin typeface="+mn-ea"/>
            </a:endParaRPr>
          </a:p>
          <a:p>
            <a:pPr lvl="2">
              <a:lnSpc>
                <a:spcPct val="100000"/>
              </a:lnSpc>
              <a:spcBef>
                <a:spcPts val="600"/>
              </a:spcBef>
            </a:pPr>
            <a:r>
              <a:rPr lang="zh-CN" altLang="en-US" dirty="0" smtClean="0">
                <a:latin typeface="+mn-ea"/>
              </a:rPr>
              <a:t>（</a:t>
            </a:r>
            <a:r>
              <a:rPr lang="en-US" altLang="zh-CN" dirty="0" smtClean="0">
                <a:latin typeface="+mn-ea"/>
              </a:rPr>
              <a:t>2</a:t>
            </a:r>
            <a:r>
              <a:rPr lang="zh-CN" altLang="en-US" dirty="0" smtClean="0">
                <a:latin typeface="+mn-ea"/>
              </a:rPr>
              <a:t>）建模</a:t>
            </a:r>
            <a:r>
              <a:rPr lang="zh-CN" altLang="en-US" dirty="0">
                <a:latin typeface="+mn-ea"/>
              </a:rPr>
              <a:t>是一种很好</a:t>
            </a:r>
            <a:r>
              <a:rPr lang="zh-CN" altLang="en-US" dirty="0" smtClean="0">
                <a:latin typeface="+mn-ea"/>
              </a:rPr>
              <a:t>的沟通</a:t>
            </a:r>
            <a:r>
              <a:rPr lang="zh-CN" altLang="en-US" dirty="0">
                <a:latin typeface="+mn-ea"/>
              </a:rPr>
              <a:t>途径</a:t>
            </a:r>
            <a:r>
              <a:rPr lang="zh-CN" altLang="en-US" dirty="0" smtClean="0">
                <a:latin typeface="+mn-ea"/>
              </a:rPr>
              <a:t>。</a:t>
            </a:r>
            <a:endParaRPr lang="en-US" altLang="zh-CN" dirty="0" smtClean="0">
              <a:latin typeface="+mn-ea"/>
            </a:endParaRPr>
          </a:p>
          <a:p>
            <a:pPr lvl="2">
              <a:lnSpc>
                <a:spcPct val="100000"/>
              </a:lnSpc>
              <a:spcBef>
                <a:spcPts val="600"/>
              </a:spcBef>
            </a:pPr>
            <a:r>
              <a:rPr lang="zh-CN" altLang="en-US" dirty="0" smtClean="0">
                <a:latin typeface="+mn-ea"/>
              </a:rPr>
              <a:t>（</a:t>
            </a:r>
            <a:r>
              <a:rPr lang="en-US" altLang="zh-CN" dirty="0" smtClean="0">
                <a:latin typeface="+mn-ea"/>
              </a:rPr>
              <a:t>3</a:t>
            </a:r>
            <a:r>
              <a:rPr lang="zh-CN" altLang="en-US" dirty="0" smtClean="0">
                <a:latin typeface="+mn-ea"/>
              </a:rPr>
              <a:t>）过程中探讨问题，促进对项目的理解。</a:t>
            </a:r>
            <a:endParaRPr lang="en-US" altLang="zh-CN" dirty="0" smtClean="0">
              <a:latin typeface="+mn-ea"/>
            </a:endParaRPr>
          </a:p>
          <a:p>
            <a:pPr lvl="2">
              <a:lnSpc>
                <a:spcPct val="100000"/>
              </a:lnSpc>
              <a:spcBef>
                <a:spcPts val="600"/>
              </a:spcBef>
            </a:pPr>
            <a:endParaRPr lang="en-US" altLang="zh-CN" dirty="0" smtClean="0">
              <a:latin typeface="+mn-ea"/>
            </a:endParaRPr>
          </a:p>
        </p:txBody>
      </p:sp>
    </p:spTree>
    <p:extLst>
      <p:ext uri="{BB962C8B-B14F-4D97-AF65-F5344CB8AC3E}">
        <p14:creationId xmlns:p14="http://schemas.microsoft.com/office/powerpoint/2010/main" val="41449373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5. </a:t>
            </a:r>
            <a:r>
              <a:rPr lang="zh-CN" altLang="en-US" sz="4000" b="1" dirty="0" smtClean="0"/>
              <a:t>建模误区</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2400" dirty="0" smtClean="0"/>
              <a:t>建模误区</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建模等于写文档</a:t>
            </a:r>
          </a:p>
        </p:txBody>
      </p:sp>
      <p:sp>
        <p:nvSpPr>
          <p:cNvPr id="10" name="圆角矩形 9"/>
          <p:cNvSpPr/>
          <p:nvPr/>
        </p:nvSpPr>
        <p:spPr>
          <a:xfrm>
            <a:off x="1730271" y="2275226"/>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在开始阶段可以考虑到所有的一切</a:t>
            </a:r>
          </a:p>
        </p:txBody>
      </p:sp>
      <p:sp>
        <p:nvSpPr>
          <p:cNvPr id="11" name="圆角矩形 10"/>
          <p:cNvSpPr/>
          <p:nvPr/>
        </p:nvSpPr>
        <p:spPr>
          <a:xfrm>
            <a:off x="1730271" y="2924160"/>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建模意味着需要重量级的软件开发过程</a:t>
            </a:r>
          </a:p>
        </p:txBody>
      </p:sp>
      <p:sp>
        <p:nvSpPr>
          <p:cNvPr id="12" name="圆角矩形 11"/>
          <p:cNvSpPr/>
          <p:nvPr/>
        </p:nvSpPr>
        <p:spPr>
          <a:xfrm>
            <a:off x="1730271" y="357309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必须“冻结”需求</a:t>
            </a:r>
          </a:p>
        </p:txBody>
      </p:sp>
      <p:sp>
        <p:nvSpPr>
          <p:cNvPr id="13" name="圆角矩形 12"/>
          <p:cNvSpPr/>
          <p:nvPr/>
        </p:nvSpPr>
        <p:spPr>
          <a:xfrm>
            <a:off x="1730271" y="3947776"/>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设计是不可更改的</a:t>
            </a:r>
          </a:p>
        </p:txBody>
      </p:sp>
      <p:sp>
        <p:nvSpPr>
          <p:cNvPr id="14" name="圆角矩形 13"/>
          <p:cNvSpPr/>
          <p:nvPr/>
        </p:nvSpPr>
        <p:spPr>
          <a:xfrm>
            <a:off x="1730271" y="4316145"/>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必须使用</a:t>
            </a:r>
            <a:r>
              <a:rPr lang="en-US" altLang="zh-CN" dirty="0"/>
              <a:t>CASE</a:t>
            </a:r>
            <a:r>
              <a:rPr lang="zh-CN" altLang="en-US" dirty="0"/>
              <a:t>工具</a:t>
            </a:r>
          </a:p>
        </p:txBody>
      </p:sp>
      <p:sp>
        <p:nvSpPr>
          <p:cNvPr id="15" name="圆角矩形 14"/>
          <p:cNvSpPr/>
          <p:nvPr/>
        </p:nvSpPr>
        <p:spPr>
          <a:xfrm>
            <a:off x="1730271" y="4690827"/>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建模实在浪费时间</a:t>
            </a:r>
          </a:p>
        </p:txBody>
      </p:sp>
      <p:sp>
        <p:nvSpPr>
          <p:cNvPr id="16" name="圆角矩形 15"/>
          <p:cNvSpPr/>
          <p:nvPr/>
        </p:nvSpPr>
        <p:spPr>
          <a:xfrm>
            <a:off x="1730271" y="5065509"/>
            <a:ext cx="2317189" cy="29919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a:t>数据模型就是一切</a:t>
            </a:r>
          </a:p>
        </p:txBody>
      </p:sp>
      <p:sp>
        <p:nvSpPr>
          <p:cNvPr id="17" name="圆角矩形 16"/>
          <p:cNvSpPr/>
          <p:nvPr/>
        </p:nvSpPr>
        <p:spPr>
          <a:xfrm>
            <a:off x="1730271" y="5440191"/>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所有的开发人员都知道如何建模</a:t>
            </a:r>
            <a:endParaRPr lang="zh-CN" altLang="en-US" dirty="0"/>
          </a:p>
        </p:txBody>
      </p:sp>
      <p:sp>
        <p:nvSpPr>
          <p:cNvPr id="20" name="内容占位符 2"/>
          <p:cNvSpPr>
            <a:spLocks noGrp="1"/>
          </p:cNvSpPr>
          <p:nvPr>
            <p:ph idx="1"/>
          </p:nvPr>
        </p:nvSpPr>
        <p:spPr>
          <a:xfrm>
            <a:off x="4231176" y="1900544"/>
            <a:ext cx="7122624" cy="4649112"/>
          </a:xfrm>
        </p:spPr>
        <p:style>
          <a:lnRef idx="2">
            <a:schemeClr val="accent2"/>
          </a:lnRef>
          <a:fillRef idx="1">
            <a:schemeClr val="lt1"/>
          </a:fillRef>
          <a:effectRef idx="0">
            <a:schemeClr val="accent2"/>
          </a:effectRef>
          <a:fontRef idx="minor">
            <a:schemeClr val="dk1"/>
          </a:fontRef>
        </p:style>
        <p:txBody>
          <a:bodyPr>
            <a:normAutofit lnSpcReduction="10000"/>
          </a:bodyPr>
          <a:lstStyle/>
          <a:p>
            <a:pPr>
              <a:lnSpc>
                <a:spcPct val="100000"/>
              </a:lnSpc>
              <a:spcBef>
                <a:spcPts val="600"/>
              </a:spcBef>
            </a:pPr>
            <a:r>
              <a:rPr lang="zh-CN" altLang="en-US" dirty="0" smtClean="0">
                <a:latin typeface="+mn-ea"/>
              </a:rPr>
              <a:t>（</a:t>
            </a:r>
            <a:r>
              <a:rPr lang="en-US" altLang="zh-CN" dirty="0">
                <a:latin typeface="+mn-ea"/>
              </a:rPr>
              <a:t>8</a:t>
            </a:r>
            <a:r>
              <a:rPr lang="zh-CN" altLang="en-US" dirty="0" smtClean="0">
                <a:latin typeface="+mn-ea"/>
              </a:rPr>
              <a:t>）</a:t>
            </a:r>
            <a:r>
              <a:rPr lang="zh-CN" altLang="en-US" sz="2600" dirty="0" smtClean="0"/>
              <a:t>数据模型</a:t>
            </a:r>
            <a:r>
              <a:rPr lang="zh-CN" altLang="en-US" sz="2000" dirty="0" smtClean="0"/>
              <a:t>（</a:t>
            </a:r>
            <a:r>
              <a:rPr lang="en-US" altLang="zh-CN" sz="2000" dirty="0" smtClean="0"/>
              <a:t>Data Model</a:t>
            </a:r>
            <a:r>
              <a:rPr lang="zh-CN" altLang="en-US" sz="2000" dirty="0" smtClean="0"/>
              <a:t>）</a:t>
            </a:r>
            <a:r>
              <a:rPr lang="zh-CN" altLang="en-US" sz="2600" dirty="0" smtClean="0"/>
              <a:t>就是一切</a:t>
            </a:r>
            <a:endParaRPr lang="en-US" altLang="zh-CN" sz="2600" dirty="0" smtClean="0">
              <a:latin typeface="+mn-ea"/>
            </a:endParaRPr>
          </a:p>
          <a:p>
            <a:pPr lvl="1">
              <a:lnSpc>
                <a:spcPct val="100000"/>
              </a:lnSpc>
              <a:spcBef>
                <a:spcPts val="600"/>
              </a:spcBef>
            </a:pPr>
            <a:r>
              <a:rPr lang="zh-CN" altLang="en-US" sz="2200" dirty="0">
                <a:latin typeface="+mn-ea"/>
              </a:rPr>
              <a:t>许多组织基于数据模型就蹒跚启动新的开发</a:t>
            </a:r>
            <a:r>
              <a:rPr lang="zh-CN" altLang="en-US" sz="2200" dirty="0" smtClean="0">
                <a:latin typeface="+mn-ea"/>
              </a:rPr>
              <a:t>工作；或者，</a:t>
            </a:r>
            <a:r>
              <a:rPr lang="en-US" altLang="zh-CN" sz="2200" dirty="0" smtClean="0">
                <a:latin typeface="+mn-ea"/>
              </a:rPr>
              <a:t>IT</a:t>
            </a:r>
            <a:r>
              <a:rPr lang="zh-CN" altLang="en-US" sz="2200" dirty="0">
                <a:latin typeface="+mn-ea"/>
              </a:rPr>
              <a:t>部门对于数据有非常严格的规定，控制着你的开发</a:t>
            </a:r>
            <a:r>
              <a:rPr lang="zh-CN" altLang="en-US" sz="2200" dirty="0" smtClean="0">
                <a:latin typeface="+mn-ea"/>
              </a:rPr>
              <a:t>项目。</a:t>
            </a:r>
            <a:endParaRPr lang="en-US" altLang="zh-CN" sz="2200" dirty="0" smtClean="0">
              <a:latin typeface="+mn-ea"/>
            </a:endParaRPr>
          </a:p>
          <a:p>
            <a:pPr lvl="1">
              <a:lnSpc>
                <a:spcPct val="100000"/>
              </a:lnSpc>
              <a:spcBef>
                <a:spcPts val="600"/>
              </a:spcBef>
            </a:pPr>
            <a:r>
              <a:rPr lang="zh-CN" altLang="en-US" sz="2200" dirty="0">
                <a:solidFill>
                  <a:srgbClr val="C00000"/>
                </a:solidFill>
                <a:latin typeface="+mn-ea"/>
              </a:rPr>
              <a:t>分析</a:t>
            </a:r>
            <a:r>
              <a:rPr lang="zh-CN" altLang="en-US" sz="2200" dirty="0" smtClean="0">
                <a:solidFill>
                  <a:schemeClr val="tx1"/>
                </a:solidFill>
                <a:latin typeface="+mn-ea"/>
              </a:rPr>
              <a:t>：</a:t>
            </a:r>
            <a:endParaRPr lang="en-US" altLang="zh-CN" sz="2200" dirty="0" smtClean="0">
              <a:solidFill>
                <a:schemeClr val="tx1"/>
              </a:solidFill>
              <a:latin typeface="+mn-ea"/>
            </a:endParaRPr>
          </a:p>
          <a:p>
            <a:pPr lvl="2">
              <a:lnSpc>
                <a:spcPct val="100000"/>
              </a:lnSpc>
              <a:spcBef>
                <a:spcPts val="600"/>
              </a:spcBef>
            </a:pPr>
            <a:r>
              <a:rPr lang="zh-CN" altLang="en-US" dirty="0" smtClean="0">
                <a:solidFill>
                  <a:schemeClr val="tx1"/>
                </a:solidFill>
                <a:latin typeface="+mn-ea"/>
              </a:rPr>
              <a:t>数据模型</a:t>
            </a:r>
            <a:r>
              <a:rPr lang="zh-CN" altLang="en-US" dirty="0">
                <a:solidFill>
                  <a:schemeClr val="tx1"/>
                </a:solidFill>
                <a:latin typeface="+mn-ea"/>
              </a:rPr>
              <a:t>是一个重要的但不是最重要的建模，它最好是建立在另外的模型之上。</a:t>
            </a:r>
            <a:r>
              <a:rPr lang="zh-CN" altLang="en-US" dirty="0" smtClean="0">
                <a:solidFill>
                  <a:schemeClr val="tx1"/>
                </a:solidFill>
                <a:latin typeface="+mn-ea"/>
              </a:rPr>
              <a:t>即使</a:t>
            </a:r>
            <a:r>
              <a:rPr lang="zh-CN" altLang="en-US" dirty="0">
                <a:solidFill>
                  <a:schemeClr val="tx1"/>
                </a:solidFill>
                <a:latin typeface="+mn-ea"/>
              </a:rPr>
              <a:t>是</a:t>
            </a:r>
            <a:r>
              <a:rPr lang="zh-CN" altLang="en-US" dirty="0" smtClean="0">
                <a:solidFill>
                  <a:schemeClr val="tx1"/>
                </a:solidFill>
                <a:latin typeface="+mn-ea"/>
              </a:rPr>
              <a:t>数据</a:t>
            </a:r>
            <a:r>
              <a:rPr lang="zh-CN" altLang="en-US" dirty="0">
                <a:solidFill>
                  <a:schemeClr val="tx1"/>
                </a:solidFill>
                <a:latin typeface="+mn-ea"/>
              </a:rPr>
              <a:t>仓库这类面向数据的项目中也如此。如果没有很好的理解用户是如何使用该数据仓库的（在数据模型中没有表示出来</a:t>
            </a:r>
            <a:r>
              <a:rPr lang="zh-CN" altLang="en-US" dirty="0" smtClean="0">
                <a:solidFill>
                  <a:schemeClr val="tx1"/>
                </a:solidFill>
                <a:latin typeface="+mn-ea"/>
              </a:rPr>
              <a:t>），项目</a:t>
            </a:r>
            <a:r>
              <a:rPr lang="zh-CN" altLang="en-US" dirty="0">
                <a:solidFill>
                  <a:schemeClr val="tx1"/>
                </a:solidFill>
                <a:latin typeface="+mn-ea"/>
              </a:rPr>
              <a:t>也会</a:t>
            </a:r>
            <a:r>
              <a:rPr lang="zh-CN" altLang="en-US" dirty="0" smtClean="0">
                <a:solidFill>
                  <a:schemeClr val="tx1"/>
                </a:solidFill>
                <a:latin typeface="+mn-ea"/>
              </a:rPr>
              <a:t>失败。</a:t>
            </a:r>
            <a:endParaRPr lang="en-US" altLang="zh-CN" dirty="0" smtClean="0">
              <a:solidFill>
                <a:schemeClr val="tx1"/>
              </a:solidFill>
              <a:latin typeface="+mn-ea"/>
            </a:endParaRPr>
          </a:p>
          <a:p>
            <a:pPr lvl="2">
              <a:lnSpc>
                <a:spcPct val="100000"/>
              </a:lnSpc>
              <a:spcBef>
                <a:spcPts val="600"/>
              </a:spcBef>
            </a:pPr>
            <a:r>
              <a:rPr lang="zh-CN" altLang="en-US" dirty="0">
                <a:latin typeface="+mn-ea"/>
              </a:rPr>
              <a:t>可以使用的模型有</a:t>
            </a:r>
            <a:r>
              <a:rPr lang="zh-CN" altLang="en-US" dirty="0" smtClean="0">
                <a:latin typeface="+mn-ea"/>
              </a:rPr>
              <a:t>很多：</a:t>
            </a:r>
            <a:r>
              <a:rPr lang="en-US" altLang="zh-CN" dirty="0" smtClean="0">
                <a:latin typeface="+mn-ea"/>
              </a:rPr>
              <a:t>use cases</a:t>
            </a:r>
            <a:r>
              <a:rPr lang="zh-CN" altLang="en-US" dirty="0" smtClean="0">
                <a:latin typeface="+mn-ea"/>
              </a:rPr>
              <a:t>，</a:t>
            </a:r>
            <a:r>
              <a:rPr lang="en-US" altLang="zh-CN" dirty="0" smtClean="0">
                <a:latin typeface="+mn-ea"/>
              </a:rPr>
              <a:t>activity </a:t>
            </a:r>
            <a:r>
              <a:rPr lang="en-US" altLang="zh-CN" dirty="0">
                <a:latin typeface="+mn-ea"/>
              </a:rPr>
              <a:t>diagrams</a:t>
            </a:r>
            <a:r>
              <a:rPr lang="zh-CN" altLang="en-US" dirty="0" smtClean="0">
                <a:latin typeface="+mn-ea"/>
              </a:rPr>
              <a:t>，</a:t>
            </a:r>
            <a:r>
              <a:rPr lang="en-US" altLang="zh-CN" dirty="0" smtClean="0">
                <a:latin typeface="+mn-ea"/>
              </a:rPr>
              <a:t>class diagrams</a:t>
            </a:r>
            <a:r>
              <a:rPr lang="zh-CN" altLang="en-US" dirty="0" smtClean="0">
                <a:latin typeface="+mn-ea"/>
              </a:rPr>
              <a:t>，</a:t>
            </a:r>
            <a:r>
              <a:rPr lang="en-US" altLang="zh-CN" dirty="0" smtClean="0">
                <a:latin typeface="+mn-ea"/>
              </a:rPr>
              <a:t>component </a:t>
            </a:r>
            <a:r>
              <a:rPr lang="en-US" altLang="zh-CN" dirty="0">
                <a:latin typeface="+mn-ea"/>
              </a:rPr>
              <a:t>diagrams</a:t>
            </a:r>
            <a:r>
              <a:rPr lang="zh-CN" altLang="en-US" dirty="0" smtClean="0">
                <a:latin typeface="+mn-ea"/>
              </a:rPr>
              <a:t>，</a:t>
            </a:r>
            <a:r>
              <a:rPr lang="en-US" altLang="zh-CN" dirty="0" smtClean="0">
                <a:latin typeface="+mn-ea"/>
              </a:rPr>
              <a:t>user </a:t>
            </a:r>
            <a:r>
              <a:rPr lang="en-US" altLang="zh-CN" dirty="0">
                <a:latin typeface="+mn-ea"/>
              </a:rPr>
              <a:t>interface flow </a:t>
            </a:r>
            <a:r>
              <a:rPr lang="en-US" altLang="zh-CN" dirty="0" smtClean="0">
                <a:latin typeface="+mn-ea"/>
              </a:rPr>
              <a:t>diagrams</a:t>
            </a:r>
            <a:r>
              <a:rPr lang="zh-CN" altLang="en-US" dirty="0" smtClean="0">
                <a:latin typeface="+mn-ea"/>
              </a:rPr>
              <a:t>，</a:t>
            </a:r>
            <a:r>
              <a:rPr lang="en-US" altLang="zh-CN" dirty="0">
                <a:latin typeface="+mn-ea"/>
              </a:rPr>
              <a:t>Class Responsibility </a:t>
            </a:r>
            <a:r>
              <a:rPr lang="en-US" altLang="zh-CN" dirty="0" smtClean="0">
                <a:latin typeface="+mn-ea"/>
              </a:rPr>
              <a:t>Collaboration (CRC) </a:t>
            </a:r>
            <a:r>
              <a:rPr lang="zh-CN" altLang="en-US" dirty="0" smtClean="0">
                <a:latin typeface="+mn-ea"/>
              </a:rPr>
              <a:t>等。</a:t>
            </a:r>
            <a:endParaRPr lang="en-US" altLang="zh-CN" dirty="0" smtClean="0">
              <a:latin typeface="+mn-ea"/>
            </a:endParaRPr>
          </a:p>
        </p:txBody>
      </p:sp>
      <p:sp>
        <p:nvSpPr>
          <p:cNvPr id="3" name="矩形 2"/>
          <p:cNvSpPr/>
          <p:nvPr/>
        </p:nvSpPr>
        <p:spPr>
          <a:xfrm>
            <a:off x="6321653" y="1100740"/>
            <a:ext cx="5032147"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CN" altLang="en-US" dirty="0">
                <a:solidFill>
                  <a:schemeClr val="bg1"/>
                </a:solidFill>
                <a:latin typeface="arial" panose="020B0604020202020204" pitchFamily="34" charset="0"/>
              </a:rPr>
              <a:t>每种模型都有其长处和短处，应该正确地使用。</a:t>
            </a:r>
            <a:endParaRPr lang="zh-CN" altLang="en-US" dirty="0">
              <a:solidFill>
                <a:schemeClr val="bg1"/>
              </a:solidFill>
            </a:endParaRPr>
          </a:p>
        </p:txBody>
      </p:sp>
    </p:spTree>
    <p:extLst>
      <p:ext uri="{BB962C8B-B14F-4D97-AF65-F5344CB8AC3E}">
        <p14:creationId xmlns:p14="http://schemas.microsoft.com/office/powerpoint/2010/main" val="11157862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smtClean="0"/>
              <a:t>5. </a:t>
            </a:r>
            <a:r>
              <a:rPr lang="zh-CN" altLang="en-US" sz="4000" b="1" dirty="0" smtClean="0"/>
              <a:t>建模误区</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4" name="椭圆 3"/>
          <p:cNvSpPr/>
          <p:nvPr/>
        </p:nvSpPr>
        <p:spPr>
          <a:xfrm>
            <a:off x="457200" y="3258589"/>
            <a:ext cx="1221971" cy="122197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2400" dirty="0" smtClean="0"/>
              <a:t>建模误区</a:t>
            </a:r>
            <a:endParaRPr lang="zh-CN" altLang="en-US" sz="2400" dirty="0"/>
          </a:p>
        </p:txBody>
      </p:sp>
      <p:sp>
        <p:nvSpPr>
          <p:cNvPr id="8" name="圆角矩形 7"/>
          <p:cNvSpPr/>
          <p:nvPr/>
        </p:nvSpPr>
        <p:spPr>
          <a:xfrm>
            <a:off x="1730271" y="190054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建模等于写文档</a:t>
            </a:r>
          </a:p>
        </p:txBody>
      </p:sp>
      <p:sp>
        <p:nvSpPr>
          <p:cNvPr id="10" name="圆角矩形 9"/>
          <p:cNvSpPr/>
          <p:nvPr/>
        </p:nvSpPr>
        <p:spPr>
          <a:xfrm>
            <a:off x="1730271" y="2275226"/>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在开始阶段可以考虑到所有的一切</a:t>
            </a:r>
          </a:p>
        </p:txBody>
      </p:sp>
      <p:sp>
        <p:nvSpPr>
          <p:cNvPr id="11" name="圆角矩形 10"/>
          <p:cNvSpPr/>
          <p:nvPr/>
        </p:nvSpPr>
        <p:spPr>
          <a:xfrm>
            <a:off x="1730271" y="2924160"/>
            <a:ext cx="2317189" cy="573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建模意味着需要重量级的软件开发过程</a:t>
            </a:r>
          </a:p>
        </p:txBody>
      </p:sp>
      <p:sp>
        <p:nvSpPr>
          <p:cNvPr id="12" name="圆角矩形 11"/>
          <p:cNvSpPr/>
          <p:nvPr/>
        </p:nvSpPr>
        <p:spPr>
          <a:xfrm>
            <a:off x="1730271" y="3573094"/>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必须“冻结”需求</a:t>
            </a:r>
          </a:p>
        </p:txBody>
      </p:sp>
      <p:sp>
        <p:nvSpPr>
          <p:cNvPr id="13" name="圆角矩形 12"/>
          <p:cNvSpPr/>
          <p:nvPr/>
        </p:nvSpPr>
        <p:spPr>
          <a:xfrm>
            <a:off x="1730271" y="3947776"/>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设计是不可更改的</a:t>
            </a:r>
          </a:p>
        </p:txBody>
      </p:sp>
      <p:sp>
        <p:nvSpPr>
          <p:cNvPr id="14" name="圆角矩形 13"/>
          <p:cNvSpPr/>
          <p:nvPr/>
        </p:nvSpPr>
        <p:spPr>
          <a:xfrm>
            <a:off x="1730271" y="4316145"/>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必须使用</a:t>
            </a:r>
            <a:r>
              <a:rPr lang="en-US" altLang="zh-CN" dirty="0"/>
              <a:t>CASE</a:t>
            </a:r>
            <a:r>
              <a:rPr lang="zh-CN" altLang="en-US" dirty="0"/>
              <a:t>工具</a:t>
            </a:r>
          </a:p>
        </p:txBody>
      </p:sp>
      <p:sp>
        <p:nvSpPr>
          <p:cNvPr id="15" name="圆角矩形 14"/>
          <p:cNvSpPr/>
          <p:nvPr/>
        </p:nvSpPr>
        <p:spPr>
          <a:xfrm>
            <a:off x="1730271" y="4690827"/>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建模实在浪费时间</a:t>
            </a:r>
          </a:p>
        </p:txBody>
      </p:sp>
      <p:sp>
        <p:nvSpPr>
          <p:cNvPr id="16" name="圆角矩形 15"/>
          <p:cNvSpPr/>
          <p:nvPr/>
        </p:nvSpPr>
        <p:spPr>
          <a:xfrm>
            <a:off x="1730271" y="5065509"/>
            <a:ext cx="2317189" cy="29919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数据模型就是一切</a:t>
            </a:r>
          </a:p>
        </p:txBody>
      </p:sp>
      <p:sp>
        <p:nvSpPr>
          <p:cNvPr id="17" name="圆角矩形 16"/>
          <p:cNvSpPr/>
          <p:nvPr/>
        </p:nvSpPr>
        <p:spPr>
          <a:xfrm>
            <a:off x="1730271" y="5440191"/>
            <a:ext cx="2317189" cy="573448"/>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a:t>所有的开发人员都知道如何建模</a:t>
            </a:r>
          </a:p>
        </p:txBody>
      </p:sp>
      <p:sp>
        <p:nvSpPr>
          <p:cNvPr id="20" name="内容占位符 2"/>
          <p:cNvSpPr>
            <a:spLocks noGrp="1"/>
          </p:cNvSpPr>
          <p:nvPr>
            <p:ph idx="1"/>
          </p:nvPr>
        </p:nvSpPr>
        <p:spPr>
          <a:xfrm>
            <a:off x="4231176" y="1900544"/>
            <a:ext cx="7122624" cy="4649112"/>
          </a:xfrm>
        </p:spPr>
        <p:style>
          <a:lnRef idx="2">
            <a:schemeClr val="accent2"/>
          </a:lnRef>
          <a:fillRef idx="1">
            <a:schemeClr val="lt1"/>
          </a:fillRef>
          <a:effectRef idx="0">
            <a:schemeClr val="accent2"/>
          </a:effectRef>
          <a:fontRef idx="minor">
            <a:schemeClr val="dk1"/>
          </a:fontRef>
        </p:style>
        <p:txBody>
          <a:bodyPr>
            <a:normAutofit lnSpcReduction="10000"/>
          </a:bodyPr>
          <a:lstStyle/>
          <a:p>
            <a:pPr>
              <a:lnSpc>
                <a:spcPct val="100000"/>
              </a:lnSpc>
              <a:spcBef>
                <a:spcPts val="600"/>
              </a:spcBef>
            </a:pPr>
            <a:r>
              <a:rPr lang="zh-CN" altLang="en-US" dirty="0" smtClean="0">
                <a:latin typeface="+mn-ea"/>
              </a:rPr>
              <a:t>（</a:t>
            </a:r>
            <a:r>
              <a:rPr lang="en-US" altLang="zh-CN" dirty="0">
                <a:latin typeface="+mn-ea"/>
              </a:rPr>
              <a:t>9</a:t>
            </a:r>
            <a:r>
              <a:rPr lang="zh-CN" altLang="en-US" dirty="0" smtClean="0">
                <a:latin typeface="+mn-ea"/>
              </a:rPr>
              <a:t>）</a:t>
            </a:r>
            <a:r>
              <a:rPr lang="zh-CN" altLang="en-US" sz="2600" dirty="0"/>
              <a:t>所有的开发人员都知道如何建模</a:t>
            </a:r>
            <a:endParaRPr lang="en-US" altLang="zh-CN" sz="2600" dirty="0" smtClean="0">
              <a:latin typeface="+mn-ea"/>
            </a:endParaRPr>
          </a:p>
          <a:p>
            <a:pPr lvl="1">
              <a:lnSpc>
                <a:spcPct val="100000"/>
              </a:lnSpc>
              <a:spcBef>
                <a:spcPts val="600"/>
              </a:spcBef>
            </a:pPr>
            <a:r>
              <a:rPr lang="zh-CN" altLang="en-US" sz="2200" dirty="0">
                <a:latin typeface="+mn-ea"/>
              </a:rPr>
              <a:t>许多不是开发人员的人，不知道软件是如何建成的。所以，</a:t>
            </a:r>
            <a:r>
              <a:rPr lang="zh-CN" altLang="en-US" sz="2200" dirty="0" smtClean="0">
                <a:latin typeface="+mn-ea"/>
              </a:rPr>
              <a:t>他们不能区分熟练</a:t>
            </a:r>
            <a:r>
              <a:rPr lang="zh-CN" altLang="en-US" sz="2200" dirty="0">
                <a:latin typeface="+mn-ea"/>
              </a:rPr>
              <a:t>的开发者和一般的程序员，想当然地认为所有的开发人员都具备从头到尾开发整个系统的技能。</a:t>
            </a:r>
            <a:endParaRPr lang="en-US" altLang="zh-CN" sz="2200" dirty="0" smtClean="0">
              <a:latin typeface="+mn-ea"/>
            </a:endParaRPr>
          </a:p>
          <a:p>
            <a:pPr lvl="1">
              <a:lnSpc>
                <a:spcPct val="100000"/>
              </a:lnSpc>
              <a:spcBef>
                <a:spcPts val="600"/>
              </a:spcBef>
            </a:pPr>
            <a:r>
              <a:rPr lang="zh-CN" altLang="en-US" sz="2200" dirty="0">
                <a:solidFill>
                  <a:srgbClr val="C00000"/>
                </a:solidFill>
                <a:latin typeface="+mn-ea"/>
              </a:rPr>
              <a:t>分析</a:t>
            </a:r>
            <a:r>
              <a:rPr lang="zh-CN" altLang="en-US" sz="2200" dirty="0" smtClean="0">
                <a:solidFill>
                  <a:schemeClr val="tx1"/>
                </a:solidFill>
                <a:latin typeface="+mn-ea"/>
              </a:rPr>
              <a:t>：</a:t>
            </a:r>
            <a:endParaRPr lang="en-US" altLang="zh-CN" sz="2200" dirty="0" smtClean="0">
              <a:solidFill>
                <a:schemeClr val="tx1"/>
              </a:solidFill>
              <a:latin typeface="+mn-ea"/>
            </a:endParaRPr>
          </a:p>
          <a:p>
            <a:pPr lvl="2">
              <a:lnSpc>
                <a:spcPct val="100000"/>
              </a:lnSpc>
              <a:spcBef>
                <a:spcPts val="600"/>
              </a:spcBef>
            </a:pPr>
            <a:r>
              <a:rPr lang="zh-CN" altLang="en-US" dirty="0">
                <a:solidFill>
                  <a:schemeClr val="tx1"/>
                </a:solidFill>
                <a:latin typeface="+mn-ea"/>
              </a:rPr>
              <a:t>建模的技能，是只有当一个开发者通过学习它，并经过长期的实践才能够掌握</a:t>
            </a:r>
            <a:r>
              <a:rPr lang="zh-CN" altLang="en-US" dirty="0" smtClean="0">
                <a:solidFill>
                  <a:schemeClr val="tx1"/>
                </a:solidFill>
                <a:latin typeface="+mn-ea"/>
              </a:rPr>
              <a:t>。</a:t>
            </a:r>
            <a:endParaRPr lang="en-US" altLang="zh-CN" dirty="0" smtClean="0">
              <a:solidFill>
                <a:schemeClr val="tx1"/>
              </a:solidFill>
              <a:latin typeface="+mn-ea"/>
            </a:endParaRPr>
          </a:p>
          <a:p>
            <a:pPr lvl="2">
              <a:lnSpc>
                <a:spcPct val="100000"/>
              </a:lnSpc>
              <a:spcBef>
                <a:spcPts val="600"/>
              </a:spcBef>
            </a:pPr>
            <a:r>
              <a:rPr lang="zh-CN" altLang="en-US" dirty="0">
                <a:latin typeface="+mn-ea"/>
              </a:rPr>
              <a:t>一些非常聪明的程序员常常相信自己无所不能</a:t>
            </a:r>
            <a:r>
              <a:rPr lang="zh-CN" altLang="en-US" dirty="0" smtClean="0">
                <a:latin typeface="+mn-ea"/>
              </a:rPr>
              <a:t>，结果可能他们</a:t>
            </a:r>
            <a:r>
              <a:rPr lang="zh-CN" altLang="en-US" dirty="0">
                <a:latin typeface="+mn-ea"/>
              </a:rPr>
              <a:t>终究只是程序员</a:t>
            </a:r>
            <a:r>
              <a:rPr lang="zh-CN" altLang="en-US" dirty="0" smtClean="0">
                <a:latin typeface="+mn-ea"/>
              </a:rPr>
              <a:t>。</a:t>
            </a:r>
            <a:endParaRPr lang="en-US" altLang="zh-CN" dirty="0" smtClean="0">
              <a:latin typeface="+mn-ea"/>
            </a:endParaRPr>
          </a:p>
          <a:p>
            <a:pPr lvl="2">
              <a:lnSpc>
                <a:spcPct val="100000"/>
              </a:lnSpc>
              <a:spcBef>
                <a:spcPts val="600"/>
              </a:spcBef>
            </a:pPr>
            <a:r>
              <a:rPr lang="zh-CN" altLang="en-US" dirty="0">
                <a:latin typeface="+mn-ea"/>
              </a:rPr>
              <a:t>开发者</a:t>
            </a:r>
            <a:r>
              <a:rPr lang="zh-CN" altLang="en-US" dirty="0" smtClean="0">
                <a:latin typeface="+mn-ea"/>
              </a:rPr>
              <a:t>应该明白</a:t>
            </a:r>
            <a:r>
              <a:rPr lang="zh-CN" altLang="en-US" dirty="0">
                <a:latin typeface="+mn-ea"/>
              </a:rPr>
              <a:t>他们自己的弱点</a:t>
            </a:r>
            <a:r>
              <a:rPr lang="zh-CN" altLang="en-US" dirty="0" smtClean="0">
                <a:latin typeface="+mn-ea"/>
              </a:rPr>
              <a:t>，互相取长补短。建模</a:t>
            </a:r>
            <a:r>
              <a:rPr lang="zh-CN" altLang="en-US" dirty="0">
                <a:latin typeface="+mn-ea"/>
              </a:rPr>
              <a:t>者可从程序员身上学到一项技术的具体细节，程序员也可从建模者那里学到有价值的设计和体系结构的技术。</a:t>
            </a:r>
            <a:endParaRPr lang="en-US" altLang="zh-CN" dirty="0" smtClean="0">
              <a:latin typeface="+mn-ea"/>
            </a:endParaRPr>
          </a:p>
        </p:txBody>
      </p:sp>
      <p:sp>
        <p:nvSpPr>
          <p:cNvPr id="3" name="矩形 2"/>
          <p:cNvSpPr/>
          <p:nvPr/>
        </p:nvSpPr>
        <p:spPr>
          <a:xfrm>
            <a:off x="6321653" y="1100740"/>
            <a:ext cx="5032147"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CN" altLang="en-US" dirty="0">
                <a:solidFill>
                  <a:schemeClr val="bg1"/>
                </a:solidFill>
                <a:latin typeface="arial" panose="020B0604020202020204" pitchFamily="34" charset="0"/>
              </a:rPr>
              <a:t>每种模型都有其长处和短处，应该正确地使用。</a:t>
            </a:r>
            <a:endParaRPr lang="zh-CN" altLang="en-US" dirty="0">
              <a:solidFill>
                <a:schemeClr val="bg1"/>
              </a:solidFill>
            </a:endParaRPr>
          </a:p>
        </p:txBody>
      </p:sp>
    </p:spTree>
    <p:extLst>
      <p:ext uri="{BB962C8B-B14F-4D97-AF65-F5344CB8AC3E}">
        <p14:creationId xmlns:p14="http://schemas.microsoft.com/office/powerpoint/2010/main" val="7197736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6</a:t>
            </a:r>
            <a:r>
              <a:rPr lang="en-US" altLang="zh-CN" sz="4000" b="1" dirty="0" smtClean="0"/>
              <a:t>. </a:t>
            </a:r>
            <a:r>
              <a:rPr lang="zh-CN" altLang="en-US" sz="4000" b="1" dirty="0" smtClean="0"/>
              <a:t>敏捷开发宣言</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sz="3200" dirty="0">
                <a:solidFill>
                  <a:srgbClr val="C00000"/>
                </a:solidFill>
                <a:latin typeface="+mn-ea"/>
              </a:rPr>
              <a:t>个体和交互 </a:t>
            </a:r>
            <a:r>
              <a:rPr lang="zh-CN" altLang="en-US" dirty="0">
                <a:latin typeface="+mn-ea"/>
              </a:rPr>
              <a:t>胜过 </a:t>
            </a:r>
            <a:r>
              <a:rPr lang="zh-CN" altLang="en-US" dirty="0">
                <a:solidFill>
                  <a:srgbClr val="0070C0"/>
                </a:solidFill>
                <a:latin typeface="+mn-ea"/>
              </a:rPr>
              <a:t>过程和工具</a:t>
            </a:r>
          </a:p>
          <a:p>
            <a:pPr>
              <a:lnSpc>
                <a:spcPct val="100000"/>
              </a:lnSpc>
              <a:spcBef>
                <a:spcPts val="600"/>
              </a:spcBef>
            </a:pPr>
            <a:r>
              <a:rPr lang="zh-CN" altLang="en-US" sz="3200" dirty="0">
                <a:solidFill>
                  <a:srgbClr val="C00000"/>
                </a:solidFill>
                <a:latin typeface="+mn-ea"/>
              </a:rPr>
              <a:t>可以工作的软件 </a:t>
            </a:r>
            <a:r>
              <a:rPr lang="zh-CN" altLang="en-US" dirty="0">
                <a:latin typeface="+mn-ea"/>
              </a:rPr>
              <a:t>胜过 </a:t>
            </a:r>
            <a:r>
              <a:rPr lang="zh-CN" altLang="en-US" dirty="0">
                <a:solidFill>
                  <a:srgbClr val="0070C0"/>
                </a:solidFill>
                <a:latin typeface="+mn-ea"/>
              </a:rPr>
              <a:t>面面俱到的文档</a:t>
            </a:r>
          </a:p>
          <a:p>
            <a:pPr>
              <a:lnSpc>
                <a:spcPct val="100000"/>
              </a:lnSpc>
              <a:spcBef>
                <a:spcPts val="600"/>
              </a:spcBef>
            </a:pPr>
            <a:r>
              <a:rPr lang="zh-CN" altLang="en-US" sz="3200" dirty="0">
                <a:solidFill>
                  <a:srgbClr val="C00000"/>
                </a:solidFill>
                <a:latin typeface="+mn-ea"/>
              </a:rPr>
              <a:t>客户合作 </a:t>
            </a:r>
            <a:r>
              <a:rPr lang="zh-CN" altLang="en-US" dirty="0">
                <a:latin typeface="+mn-ea"/>
              </a:rPr>
              <a:t>胜过 </a:t>
            </a:r>
            <a:r>
              <a:rPr lang="zh-CN" altLang="en-US" dirty="0">
                <a:solidFill>
                  <a:srgbClr val="0070C0"/>
                </a:solidFill>
                <a:latin typeface="+mn-ea"/>
              </a:rPr>
              <a:t>合同谈判</a:t>
            </a:r>
          </a:p>
          <a:p>
            <a:pPr>
              <a:lnSpc>
                <a:spcPct val="100000"/>
              </a:lnSpc>
              <a:spcBef>
                <a:spcPts val="600"/>
              </a:spcBef>
            </a:pPr>
            <a:r>
              <a:rPr lang="zh-CN" altLang="en-US" sz="3200" dirty="0">
                <a:solidFill>
                  <a:srgbClr val="C00000"/>
                </a:solidFill>
                <a:latin typeface="+mn-ea"/>
              </a:rPr>
              <a:t>响应变化 </a:t>
            </a:r>
            <a:r>
              <a:rPr lang="zh-CN" altLang="en-US" dirty="0">
                <a:latin typeface="+mn-ea"/>
              </a:rPr>
              <a:t>胜过 </a:t>
            </a:r>
            <a:r>
              <a:rPr lang="zh-CN" altLang="en-US" dirty="0">
                <a:solidFill>
                  <a:srgbClr val="0070C0"/>
                </a:solidFill>
                <a:latin typeface="+mn-ea"/>
              </a:rPr>
              <a:t>遵循计划</a:t>
            </a:r>
          </a:p>
          <a:p>
            <a:pPr marL="0" indent="0">
              <a:lnSpc>
                <a:spcPct val="100000"/>
              </a:lnSpc>
              <a:spcBef>
                <a:spcPts val="600"/>
              </a:spcBef>
              <a:buNone/>
            </a:pPr>
            <a:endParaRPr lang="en-US" altLang="zh-CN" dirty="0" smtClean="0">
              <a:latin typeface="+mn-ea"/>
            </a:endParaRPr>
          </a:p>
          <a:p>
            <a:pPr marL="0" indent="0">
              <a:lnSpc>
                <a:spcPct val="100000"/>
              </a:lnSpc>
              <a:spcBef>
                <a:spcPts val="600"/>
              </a:spcBef>
              <a:buNone/>
            </a:pPr>
            <a:r>
              <a:rPr lang="en-US" altLang="zh-CN" dirty="0" smtClean="0">
                <a:latin typeface="+mn-ea"/>
              </a:rPr>
              <a:t>【</a:t>
            </a:r>
            <a:r>
              <a:rPr lang="zh-CN" altLang="en-US" dirty="0" smtClean="0">
                <a:latin typeface="+mn-ea"/>
              </a:rPr>
              <a:t>虽然</a:t>
            </a:r>
            <a:r>
              <a:rPr lang="zh-CN" altLang="en-US" dirty="0">
                <a:latin typeface="+mn-ea"/>
              </a:rPr>
              <a:t>右项也有价值，但是我们认为左项具有更大的</a:t>
            </a:r>
            <a:r>
              <a:rPr lang="zh-CN" altLang="en-US" dirty="0" smtClean="0">
                <a:latin typeface="+mn-ea"/>
              </a:rPr>
              <a:t>价值</a:t>
            </a:r>
            <a:r>
              <a:rPr lang="en-US" altLang="zh-CN" dirty="0" smtClean="0">
                <a:latin typeface="+mn-ea"/>
              </a:rPr>
              <a:t>】</a:t>
            </a:r>
          </a:p>
        </p:txBody>
      </p:sp>
    </p:spTree>
    <p:extLst>
      <p:ext uri="{BB962C8B-B14F-4D97-AF65-F5344CB8AC3E}">
        <p14:creationId xmlns:p14="http://schemas.microsoft.com/office/powerpoint/2010/main" val="41328005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smtClean="0"/>
              <a:t>内容目录</a:t>
            </a:r>
            <a:endParaRPr lang="zh-CN" altLang="en-US" sz="4000" b="1" dirty="0"/>
          </a:p>
        </p:txBody>
      </p:sp>
      <p:sp>
        <p:nvSpPr>
          <p:cNvPr id="3" name="内容占位符 2"/>
          <p:cNvSpPr>
            <a:spLocks noGrp="1"/>
          </p:cNvSpPr>
          <p:nvPr>
            <p:ph idx="1"/>
          </p:nvPr>
        </p:nvSpPr>
        <p:spPr>
          <a:xfrm>
            <a:off x="838198" y="1825624"/>
            <a:ext cx="10515602" cy="4464339"/>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a:latin typeface="等线" panose="02010600030101010101" pitchFamily="2" charset="-122"/>
                <a:ea typeface="等线" panose="02010600030101010101" pitchFamily="2" charset="-122"/>
              </a:rPr>
              <a:t>一、敏捷过程定义及敏捷建模</a:t>
            </a:r>
            <a:endParaRPr lang="en-US" altLang="zh-CN" dirty="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定义及产生</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建模原则</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核心实践</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建模误区</a:t>
            </a:r>
            <a:endParaRPr lang="en-US" altLang="zh-CN" dirty="0" smtClean="0">
              <a:latin typeface="等线" panose="02010600030101010101" pitchFamily="2" charset="-122"/>
              <a:ea typeface="等线" panose="02010600030101010101" pitchFamily="2" charset="-122"/>
            </a:endParaRPr>
          </a:p>
          <a:p>
            <a:pPr>
              <a:lnSpc>
                <a:spcPct val="100000"/>
              </a:lnSpc>
              <a:spcBef>
                <a:spcPts val="600"/>
              </a:spcBef>
            </a:pPr>
            <a:r>
              <a:rPr lang="zh-CN" altLang="en-US" dirty="0">
                <a:solidFill>
                  <a:srgbClr val="C00000"/>
                </a:solidFill>
                <a:latin typeface="等线" panose="02010600030101010101" pitchFamily="2" charset="-122"/>
                <a:ea typeface="等线" panose="02010600030101010101" pitchFamily="2" charset="-122"/>
              </a:rPr>
              <a:t>二、为什么选择敏捷过程</a:t>
            </a:r>
            <a:endParaRPr lang="en-US" altLang="zh-CN" dirty="0">
              <a:solidFill>
                <a:srgbClr val="C00000"/>
              </a:solidFill>
              <a:latin typeface="等线" panose="02010600030101010101" pitchFamily="2" charset="-122"/>
              <a:ea typeface="等线" panose="02010600030101010101" pitchFamily="2" charset="-122"/>
            </a:endParaRPr>
          </a:p>
          <a:p>
            <a:pPr>
              <a:lnSpc>
                <a:spcPct val="100000"/>
              </a:lnSpc>
              <a:spcBef>
                <a:spcPts val="600"/>
              </a:spcBef>
            </a:pPr>
            <a:r>
              <a:rPr lang="zh-CN" altLang="en-US" dirty="0" smtClean="0">
                <a:latin typeface="等线" panose="02010600030101010101" pitchFamily="2" charset="-122"/>
                <a:ea typeface="等线" panose="02010600030101010101" pitchFamily="2" charset="-122"/>
              </a:rPr>
              <a:t>三、</a:t>
            </a:r>
            <a:r>
              <a:rPr lang="en-US" altLang="zh-CN" dirty="0" smtClean="0">
                <a:latin typeface="等线" panose="02010600030101010101" pitchFamily="2" charset="-122"/>
                <a:ea typeface="等线" panose="02010600030101010101" pitchFamily="2" charset="-122"/>
              </a:rPr>
              <a:t>Scrum</a:t>
            </a:r>
          </a:p>
          <a:p>
            <a:pPr>
              <a:lnSpc>
                <a:spcPct val="100000"/>
              </a:lnSpc>
              <a:spcBef>
                <a:spcPts val="600"/>
              </a:spcBef>
            </a:pPr>
            <a:r>
              <a:rPr lang="zh-CN" altLang="en-US" dirty="0" smtClean="0">
                <a:latin typeface="等线" panose="02010600030101010101" pitchFamily="2" charset="-122"/>
                <a:ea typeface="等线" panose="02010600030101010101" pitchFamily="2" charset="-122"/>
              </a:rPr>
              <a:t>四、敏捷落地中国难？</a:t>
            </a:r>
            <a:endParaRPr lang="zh-CN" altLang="en-US" dirty="0">
              <a:latin typeface="等线" panose="02010600030101010101" pitchFamily="2" charset="-122"/>
              <a:ea typeface="等线" panose="02010600030101010101" pitchFamily="2" charset="-122"/>
            </a:endParaRPr>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43448396"/>
      </p:ext>
    </p:extLst>
  </p:cSld>
  <p:clrMapOvr>
    <a:masterClrMapping/>
  </p:clrMapOvr>
  <p:transition spd="slow">
    <p:push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二</a:t>
            </a:r>
            <a:r>
              <a:rPr lang="en-US" altLang="zh-CN" sz="4000" b="1" dirty="0" smtClean="0"/>
              <a:t>. </a:t>
            </a:r>
            <a:r>
              <a:rPr lang="zh-CN" altLang="en-US" sz="4000" b="1" dirty="0" smtClean="0"/>
              <a:t>为什么选择敏捷过程</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en-US" altLang="zh-CN" dirty="0" smtClean="0">
                <a:latin typeface="+mn-ea"/>
              </a:rPr>
              <a:t>1</a:t>
            </a:r>
            <a:r>
              <a:rPr lang="zh-CN" altLang="en-US" dirty="0">
                <a:latin typeface="+mn-ea"/>
              </a:rPr>
              <a:t>、开发周期更</a:t>
            </a:r>
            <a:r>
              <a:rPr lang="zh-CN" altLang="en-US" dirty="0" smtClean="0">
                <a:latin typeface="+mn-ea"/>
              </a:rPr>
              <a:t>短</a:t>
            </a:r>
            <a:endParaRPr lang="en-US" altLang="zh-CN" dirty="0">
              <a:latin typeface="+mn-ea"/>
            </a:endParaRPr>
          </a:p>
          <a:p>
            <a:pPr lvl="1">
              <a:lnSpc>
                <a:spcPct val="100000"/>
              </a:lnSpc>
              <a:spcBef>
                <a:spcPts val="600"/>
              </a:spcBef>
            </a:pPr>
            <a:r>
              <a:rPr lang="zh-CN" altLang="en-US" dirty="0">
                <a:solidFill>
                  <a:srgbClr val="0070C0"/>
                </a:solidFill>
                <a:latin typeface="+mn-ea"/>
              </a:rPr>
              <a:t>更快的满足客户的需求，</a:t>
            </a:r>
            <a:r>
              <a:rPr lang="zh-CN" altLang="en-US" dirty="0" smtClean="0">
                <a:solidFill>
                  <a:srgbClr val="0070C0"/>
                </a:solidFill>
                <a:latin typeface="+mn-ea"/>
              </a:rPr>
              <a:t>当需求变更</a:t>
            </a:r>
            <a:r>
              <a:rPr lang="zh-CN" altLang="en-US" dirty="0">
                <a:solidFill>
                  <a:srgbClr val="0070C0"/>
                </a:solidFill>
                <a:latin typeface="+mn-ea"/>
              </a:rPr>
              <a:t>时</a:t>
            </a:r>
            <a:r>
              <a:rPr lang="zh-CN" altLang="en-US" dirty="0" smtClean="0">
                <a:solidFill>
                  <a:srgbClr val="0070C0"/>
                </a:solidFill>
                <a:latin typeface="+mn-ea"/>
              </a:rPr>
              <a:t>，也</a:t>
            </a:r>
            <a:r>
              <a:rPr lang="zh-CN" altLang="en-US" dirty="0">
                <a:solidFill>
                  <a:srgbClr val="0070C0"/>
                </a:solidFill>
                <a:latin typeface="+mn-ea"/>
              </a:rPr>
              <a:t>能更快的做出相应的改变</a:t>
            </a:r>
            <a:r>
              <a:rPr lang="zh-CN" altLang="en-US" dirty="0" smtClean="0">
                <a:solidFill>
                  <a:srgbClr val="0070C0"/>
                </a:solidFill>
                <a:latin typeface="+mn-ea"/>
              </a:rPr>
              <a:t>。</a:t>
            </a:r>
            <a:endParaRPr lang="en-US" altLang="zh-CN" dirty="0" smtClean="0">
              <a:solidFill>
                <a:srgbClr val="0070C0"/>
              </a:solidFill>
              <a:latin typeface="+mn-ea"/>
            </a:endParaRPr>
          </a:p>
          <a:p>
            <a:pPr>
              <a:lnSpc>
                <a:spcPct val="100000"/>
              </a:lnSpc>
              <a:spcBef>
                <a:spcPts val="600"/>
              </a:spcBef>
            </a:pPr>
            <a:r>
              <a:rPr lang="en-US" altLang="zh-CN" dirty="0">
                <a:latin typeface="+mn-ea"/>
              </a:rPr>
              <a:t>2</a:t>
            </a:r>
            <a:r>
              <a:rPr lang="zh-CN" altLang="en-US" dirty="0">
                <a:latin typeface="+mn-ea"/>
              </a:rPr>
              <a:t>、更好地适应快速变化的需求</a:t>
            </a:r>
            <a:endParaRPr lang="en-US" altLang="zh-CN" dirty="0">
              <a:latin typeface="+mn-ea"/>
            </a:endParaRPr>
          </a:p>
          <a:p>
            <a:pPr lvl="1">
              <a:lnSpc>
                <a:spcPct val="100000"/>
              </a:lnSpc>
              <a:spcBef>
                <a:spcPts val="600"/>
              </a:spcBef>
            </a:pPr>
            <a:r>
              <a:rPr lang="zh-CN" altLang="en-US" dirty="0" smtClean="0">
                <a:solidFill>
                  <a:srgbClr val="0070C0"/>
                </a:solidFill>
                <a:latin typeface="+mn-ea"/>
              </a:rPr>
              <a:t>正在</a:t>
            </a:r>
            <a:r>
              <a:rPr lang="zh-CN" altLang="en-US" dirty="0">
                <a:solidFill>
                  <a:srgbClr val="0070C0"/>
                </a:solidFill>
                <a:latin typeface="+mn-ea"/>
              </a:rPr>
              <a:t>开发的功能，或许在它还没上线的时候，</a:t>
            </a:r>
            <a:r>
              <a:rPr lang="zh-CN" altLang="en-US" dirty="0" smtClean="0">
                <a:solidFill>
                  <a:srgbClr val="0070C0"/>
                </a:solidFill>
                <a:latin typeface="+mn-ea"/>
              </a:rPr>
              <a:t>用户已经</a:t>
            </a:r>
            <a:r>
              <a:rPr lang="zh-CN" altLang="en-US" dirty="0">
                <a:solidFill>
                  <a:srgbClr val="0070C0"/>
                </a:solidFill>
                <a:latin typeface="+mn-ea"/>
              </a:rPr>
              <a:t>不需要了</a:t>
            </a:r>
            <a:r>
              <a:rPr lang="zh-CN" altLang="en-US" dirty="0" smtClean="0">
                <a:solidFill>
                  <a:srgbClr val="0070C0"/>
                </a:solidFill>
                <a:latin typeface="+mn-ea"/>
              </a:rPr>
              <a:t>。</a:t>
            </a:r>
            <a:endParaRPr lang="en-US" altLang="zh-CN" dirty="0" smtClean="0">
              <a:solidFill>
                <a:srgbClr val="0070C0"/>
              </a:solidFill>
              <a:latin typeface="+mn-ea"/>
            </a:endParaRPr>
          </a:p>
          <a:p>
            <a:pPr>
              <a:lnSpc>
                <a:spcPct val="100000"/>
              </a:lnSpc>
              <a:spcBef>
                <a:spcPts val="600"/>
              </a:spcBef>
            </a:pPr>
            <a:r>
              <a:rPr lang="en-US" altLang="zh-CN" dirty="0">
                <a:latin typeface="+mn-ea"/>
              </a:rPr>
              <a:t>3</a:t>
            </a:r>
            <a:r>
              <a:rPr lang="zh-CN" altLang="en-US" dirty="0">
                <a:latin typeface="+mn-ea"/>
              </a:rPr>
              <a:t>、迭代频繁交付软件</a:t>
            </a:r>
            <a:endParaRPr lang="en-US" altLang="zh-CN" dirty="0">
              <a:latin typeface="+mn-ea"/>
            </a:endParaRPr>
          </a:p>
          <a:p>
            <a:pPr lvl="1">
              <a:lnSpc>
                <a:spcPct val="100000"/>
              </a:lnSpc>
              <a:spcBef>
                <a:spcPts val="600"/>
              </a:spcBef>
            </a:pPr>
            <a:r>
              <a:rPr lang="zh-CN" altLang="en-US" dirty="0" smtClean="0">
                <a:solidFill>
                  <a:srgbClr val="0070C0"/>
                </a:solidFill>
                <a:latin typeface="+mn-ea"/>
              </a:rPr>
              <a:t>频繁更新版本并交付可</a:t>
            </a:r>
            <a:r>
              <a:rPr lang="zh-CN" altLang="en-US" dirty="0">
                <a:solidFill>
                  <a:srgbClr val="0070C0"/>
                </a:solidFill>
                <a:latin typeface="+mn-ea"/>
              </a:rPr>
              <a:t>使用的软件</a:t>
            </a:r>
            <a:r>
              <a:rPr lang="zh-CN" altLang="en-US" dirty="0" smtClean="0">
                <a:solidFill>
                  <a:srgbClr val="0070C0"/>
                </a:solidFill>
                <a:latin typeface="+mn-ea"/>
              </a:rPr>
              <a:t>。根据</a:t>
            </a:r>
            <a:r>
              <a:rPr lang="zh-CN" altLang="en-US" dirty="0">
                <a:solidFill>
                  <a:srgbClr val="0070C0"/>
                </a:solidFill>
                <a:latin typeface="+mn-ea"/>
              </a:rPr>
              <a:t>市场需求的变化，快速的交付另一个</a:t>
            </a:r>
            <a:r>
              <a:rPr lang="zh-CN" altLang="en-US" dirty="0" smtClean="0">
                <a:solidFill>
                  <a:srgbClr val="0070C0"/>
                </a:solidFill>
                <a:latin typeface="+mn-ea"/>
              </a:rPr>
              <a:t>迭代</a:t>
            </a:r>
            <a:r>
              <a:rPr lang="zh-CN" altLang="en-US" dirty="0">
                <a:solidFill>
                  <a:srgbClr val="0070C0"/>
                </a:solidFill>
                <a:latin typeface="+mn-ea"/>
              </a:rPr>
              <a:t>版本</a:t>
            </a:r>
            <a:r>
              <a:rPr lang="zh-CN" altLang="en-US" dirty="0" smtClean="0">
                <a:solidFill>
                  <a:srgbClr val="0070C0"/>
                </a:solidFill>
                <a:latin typeface="+mn-ea"/>
              </a:rPr>
              <a:t>。</a:t>
            </a:r>
            <a:endParaRPr lang="zh-CN" altLang="en-US" dirty="0">
              <a:solidFill>
                <a:srgbClr val="0070C0"/>
              </a:solidFill>
              <a:latin typeface="+mn-ea"/>
            </a:endParaRPr>
          </a:p>
        </p:txBody>
      </p:sp>
      <p:pic>
        <p:nvPicPr>
          <p:cNvPr id="3" name="图片 2"/>
          <p:cNvPicPr>
            <a:picLocks noChangeAspect="1"/>
          </p:cNvPicPr>
          <p:nvPr/>
        </p:nvPicPr>
        <p:blipFill>
          <a:blip r:embed="rId3"/>
          <a:stretch>
            <a:fillRect/>
          </a:stretch>
        </p:blipFill>
        <p:spPr>
          <a:xfrm>
            <a:off x="4060229" y="5308169"/>
            <a:ext cx="7203729" cy="1122659"/>
          </a:xfrm>
          <a:prstGeom prst="rect">
            <a:avLst/>
          </a:prstGeom>
        </p:spPr>
      </p:pic>
    </p:spTree>
    <p:extLst>
      <p:ext uri="{BB962C8B-B14F-4D97-AF65-F5344CB8AC3E}">
        <p14:creationId xmlns:p14="http://schemas.microsoft.com/office/powerpoint/2010/main" val="2608703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smtClean="0"/>
              <a:t>内容目录</a:t>
            </a:r>
            <a:endParaRPr lang="zh-CN" altLang="en-US" sz="4000" b="1" dirty="0"/>
          </a:p>
        </p:txBody>
      </p:sp>
      <p:sp>
        <p:nvSpPr>
          <p:cNvPr id="3" name="内容占位符 2"/>
          <p:cNvSpPr>
            <a:spLocks noGrp="1"/>
          </p:cNvSpPr>
          <p:nvPr>
            <p:ph idx="1"/>
          </p:nvPr>
        </p:nvSpPr>
        <p:spPr>
          <a:xfrm>
            <a:off x="838198" y="1825624"/>
            <a:ext cx="10515602" cy="4464339"/>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a:latin typeface="等线" panose="02010600030101010101" pitchFamily="2" charset="-122"/>
                <a:ea typeface="等线" panose="02010600030101010101" pitchFamily="2" charset="-122"/>
              </a:rPr>
              <a:t>一、敏捷过程定义及敏捷建模</a:t>
            </a:r>
            <a:endParaRPr lang="en-US" altLang="zh-CN" dirty="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定义及产生</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建模原则</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核心实践</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建模误区</a:t>
            </a:r>
            <a:endParaRPr lang="en-US" altLang="zh-CN" dirty="0" smtClean="0">
              <a:latin typeface="等线" panose="02010600030101010101" pitchFamily="2" charset="-122"/>
              <a:ea typeface="等线" panose="02010600030101010101" pitchFamily="2" charset="-122"/>
            </a:endParaRPr>
          </a:p>
          <a:p>
            <a:pPr>
              <a:lnSpc>
                <a:spcPct val="100000"/>
              </a:lnSpc>
              <a:spcBef>
                <a:spcPts val="600"/>
              </a:spcBef>
            </a:pPr>
            <a:r>
              <a:rPr lang="zh-CN" altLang="en-US" dirty="0">
                <a:latin typeface="等线" panose="02010600030101010101" pitchFamily="2" charset="-122"/>
                <a:ea typeface="等线" panose="02010600030101010101" pitchFamily="2" charset="-122"/>
              </a:rPr>
              <a:t>二、为什么选择敏捷过程</a:t>
            </a:r>
            <a:endParaRPr lang="en-US" altLang="zh-CN" dirty="0">
              <a:latin typeface="等线" panose="02010600030101010101" pitchFamily="2" charset="-122"/>
              <a:ea typeface="等线" panose="02010600030101010101" pitchFamily="2" charset="-122"/>
            </a:endParaRPr>
          </a:p>
          <a:p>
            <a:pPr>
              <a:lnSpc>
                <a:spcPct val="100000"/>
              </a:lnSpc>
              <a:spcBef>
                <a:spcPts val="600"/>
              </a:spcBef>
            </a:pPr>
            <a:r>
              <a:rPr lang="zh-CN" altLang="en-US" dirty="0">
                <a:solidFill>
                  <a:srgbClr val="C00000"/>
                </a:solidFill>
                <a:latin typeface="等线" panose="02010600030101010101" pitchFamily="2" charset="-122"/>
                <a:ea typeface="等线" panose="02010600030101010101" pitchFamily="2" charset="-122"/>
              </a:rPr>
              <a:t>三、</a:t>
            </a:r>
            <a:r>
              <a:rPr lang="en-US" altLang="zh-CN" dirty="0">
                <a:solidFill>
                  <a:srgbClr val="C00000"/>
                </a:solidFill>
                <a:latin typeface="等线" panose="02010600030101010101" pitchFamily="2" charset="-122"/>
                <a:ea typeface="等线" panose="02010600030101010101" pitchFamily="2" charset="-122"/>
              </a:rPr>
              <a:t>Scrum</a:t>
            </a:r>
          </a:p>
          <a:p>
            <a:pPr>
              <a:lnSpc>
                <a:spcPct val="100000"/>
              </a:lnSpc>
              <a:spcBef>
                <a:spcPts val="600"/>
              </a:spcBef>
            </a:pPr>
            <a:r>
              <a:rPr lang="zh-CN" altLang="en-US" dirty="0" smtClean="0">
                <a:latin typeface="等线" panose="02010600030101010101" pitchFamily="2" charset="-122"/>
                <a:ea typeface="等线" panose="02010600030101010101" pitchFamily="2" charset="-122"/>
              </a:rPr>
              <a:t>四、敏捷落地中国难？</a:t>
            </a:r>
            <a:endParaRPr lang="zh-CN" altLang="en-US" dirty="0">
              <a:latin typeface="等线" panose="02010600030101010101" pitchFamily="2" charset="-122"/>
              <a:ea typeface="等线" panose="02010600030101010101" pitchFamily="2" charset="-122"/>
            </a:endParaRPr>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2950491958"/>
      </p:ext>
    </p:extLst>
  </p:cSld>
  <p:clrMapOvr>
    <a:masterClrMapping/>
  </p:clrMapOvr>
  <p:transition spd="slow">
    <p:push dir="u"/>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三</a:t>
            </a:r>
            <a:r>
              <a:rPr lang="en-US" altLang="zh-CN" sz="4000" b="1" dirty="0" smtClean="0"/>
              <a:t>. Scrum</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en-US" altLang="zh-CN" dirty="0" smtClean="0">
                <a:latin typeface="+mn-ea"/>
              </a:rPr>
              <a:t>Scrum</a:t>
            </a:r>
            <a:r>
              <a:rPr lang="zh-CN" altLang="en-US" dirty="0" smtClean="0">
                <a:latin typeface="+mn-ea"/>
              </a:rPr>
              <a:t>是敏捷</a:t>
            </a:r>
            <a:r>
              <a:rPr lang="zh-CN" altLang="en-US" dirty="0">
                <a:latin typeface="+mn-ea"/>
              </a:rPr>
              <a:t>开发</a:t>
            </a:r>
            <a:r>
              <a:rPr lang="zh-CN" altLang="en-US" dirty="0" smtClean="0">
                <a:latin typeface="+mn-ea"/>
              </a:rPr>
              <a:t>的一种具体方式和开发流程。</a:t>
            </a:r>
            <a:endParaRPr lang="en-US" altLang="zh-CN" dirty="0" smtClean="0">
              <a:latin typeface="+mn-ea"/>
            </a:endParaRPr>
          </a:p>
          <a:p>
            <a:pPr>
              <a:lnSpc>
                <a:spcPct val="100000"/>
              </a:lnSpc>
              <a:spcBef>
                <a:spcPts val="600"/>
              </a:spcBef>
            </a:pPr>
            <a:r>
              <a:rPr lang="en-US" altLang="zh-CN" dirty="0">
                <a:latin typeface="+mn-ea"/>
              </a:rPr>
              <a:t>Scrum</a:t>
            </a:r>
            <a:r>
              <a:rPr lang="zh-CN" altLang="en-US" dirty="0">
                <a:latin typeface="+mn-ea"/>
              </a:rPr>
              <a:t>的三个角色：</a:t>
            </a:r>
            <a:endParaRPr lang="en-US" altLang="zh-CN" dirty="0">
              <a:latin typeface="+mn-ea"/>
            </a:endParaRPr>
          </a:p>
          <a:p>
            <a:pPr lvl="1">
              <a:lnSpc>
                <a:spcPct val="100000"/>
              </a:lnSpc>
              <a:spcBef>
                <a:spcPts val="600"/>
              </a:spcBef>
            </a:pPr>
            <a:r>
              <a:rPr lang="zh-CN" altLang="en-US" dirty="0" smtClean="0">
                <a:solidFill>
                  <a:srgbClr val="0070C0"/>
                </a:solidFill>
                <a:latin typeface="+mn-ea"/>
              </a:rPr>
              <a:t>产品负责人</a:t>
            </a:r>
            <a:r>
              <a:rPr lang="en-US" altLang="zh-CN" dirty="0" smtClean="0">
                <a:solidFill>
                  <a:srgbClr val="0070C0"/>
                </a:solidFill>
                <a:latin typeface="+mn-ea"/>
              </a:rPr>
              <a:t>Product Owner</a:t>
            </a:r>
            <a:r>
              <a:rPr lang="zh-CN" altLang="en-US" dirty="0">
                <a:solidFill>
                  <a:srgbClr val="0070C0"/>
                </a:solidFill>
                <a:latin typeface="+mn-ea"/>
              </a:rPr>
              <a:t>：</a:t>
            </a:r>
            <a:r>
              <a:rPr lang="zh-CN" altLang="en-US" sz="2000" dirty="0">
                <a:solidFill>
                  <a:schemeClr val="tx1"/>
                </a:solidFill>
                <a:latin typeface="+mn-ea"/>
              </a:rPr>
              <a:t>负责确定产品的功能和达到要求的标准，指定软件的发布日期和交付的内容，同时有权力接受或拒绝开发团队的工作成果。</a:t>
            </a:r>
            <a:endParaRPr lang="en-US" altLang="zh-CN" sz="2000" dirty="0" smtClean="0">
              <a:solidFill>
                <a:schemeClr val="tx1"/>
              </a:solidFill>
              <a:latin typeface="+mn-ea"/>
            </a:endParaRPr>
          </a:p>
          <a:p>
            <a:pPr lvl="1">
              <a:lnSpc>
                <a:spcPct val="100000"/>
              </a:lnSpc>
              <a:spcBef>
                <a:spcPts val="600"/>
              </a:spcBef>
            </a:pPr>
            <a:r>
              <a:rPr lang="zh-CN" altLang="en-US" dirty="0" smtClean="0">
                <a:solidFill>
                  <a:srgbClr val="0070C0"/>
                </a:solidFill>
                <a:latin typeface="+mn-ea"/>
              </a:rPr>
              <a:t>流程管理员 </a:t>
            </a:r>
            <a:r>
              <a:rPr lang="en-US" altLang="zh-CN" dirty="0" smtClean="0">
                <a:solidFill>
                  <a:srgbClr val="0070C0"/>
                </a:solidFill>
                <a:latin typeface="+mn-ea"/>
              </a:rPr>
              <a:t>Scrum Master</a:t>
            </a:r>
            <a:r>
              <a:rPr lang="zh-CN" altLang="en-US" dirty="0" smtClean="0">
                <a:solidFill>
                  <a:srgbClr val="0070C0"/>
                </a:solidFill>
                <a:latin typeface="+mn-ea"/>
              </a:rPr>
              <a:t>：</a:t>
            </a:r>
            <a:r>
              <a:rPr lang="zh-CN" altLang="en-US" sz="2000" dirty="0">
                <a:solidFill>
                  <a:schemeClr val="tx1"/>
                </a:solidFill>
                <a:latin typeface="+mn-ea"/>
              </a:rPr>
              <a:t>负责整个</a:t>
            </a:r>
            <a:r>
              <a:rPr lang="en-US" altLang="zh-CN" sz="2000" dirty="0">
                <a:solidFill>
                  <a:schemeClr val="tx1"/>
                </a:solidFill>
                <a:latin typeface="+mn-ea"/>
              </a:rPr>
              <a:t>Scrum</a:t>
            </a:r>
            <a:r>
              <a:rPr lang="zh-CN" altLang="en-US" sz="2000" dirty="0">
                <a:solidFill>
                  <a:schemeClr val="tx1"/>
                </a:solidFill>
                <a:latin typeface="+mn-ea"/>
              </a:rPr>
              <a:t>流程在项目中的顺利实施和进行，以及清除挡在客户和开发工作之间的沟通障碍，使得客户可以直接驱动开发。</a:t>
            </a:r>
            <a:endParaRPr lang="en-US" altLang="zh-CN" sz="2000" dirty="0">
              <a:solidFill>
                <a:schemeClr val="tx1"/>
              </a:solidFill>
              <a:latin typeface="+mn-ea"/>
            </a:endParaRPr>
          </a:p>
          <a:p>
            <a:pPr lvl="1">
              <a:lnSpc>
                <a:spcPct val="100000"/>
              </a:lnSpc>
              <a:spcBef>
                <a:spcPts val="600"/>
              </a:spcBef>
            </a:pPr>
            <a:r>
              <a:rPr lang="zh-CN" altLang="en-US" dirty="0" smtClean="0">
                <a:solidFill>
                  <a:srgbClr val="0070C0"/>
                </a:solidFill>
                <a:latin typeface="+mn-ea"/>
              </a:rPr>
              <a:t>开发团队 </a:t>
            </a:r>
            <a:r>
              <a:rPr lang="en-US" altLang="zh-CN" dirty="0" smtClean="0">
                <a:solidFill>
                  <a:srgbClr val="0070C0"/>
                </a:solidFill>
                <a:latin typeface="+mn-ea"/>
              </a:rPr>
              <a:t>Scrum Team</a:t>
            </a:r>
            <a:r>
              <a:rPr lang="zh-CN" altLang="en-US" dirty="0">
                <a:solidFill>
                  <a:srgbClr val="0070C0"/>
                </a:solidFill>
                <a:latin typeface="+mn-ea"/>
              </a:rPr>
              <a:t>：</a:t>
            </a:r>
            <a:r>
              <a:rPr lang="zh-CN" altLang="en-US" sz="2000" dirty="0">
                <a:solidFill>
                  <a:schemeClr val="tx1"/>
                </a:solidFill>
                <a:latin typeface="+mn-ea"/>
              </a:rPr>
              <a:t>负责软件产品在</a:t>
            </a:r>
            <a:r>
              <a:rPr lang="en-US" altLang="zh-CN" sz="2000" dirty="0">
                <a:solidFill>
                  <a:schemeClr val="tx1"/>
                </a:solidFill>
                <a:latin typeface="+mn-ea"/>
              </a:rPr>
              <a:t>Scrum</a:t>
            </a:r>
            <a:r>
              <a:rPr lang="zh-CN" altLang="en-US" sz="2000" dirty="0">
                <a:solidFill>
                  <a:schemeClr val="tx1"/>
                </a:solidFill>
                <a:latin typeface="+mn-ea"/>
              </a:rPr>
              <a:t>规定流程下进行开发工作，人数控制在</a:t>
            </a:r>
            <a:r>
              <a:rPr lang="en-US" altLang="zh-CN" sz="2000" dirty="0">
                <a:solidFill>
                  <a:schemeClr val="tx1"/>
                </a:solidFill>
                <a:latin typeface="+mn-ea"/>
              </a:rPr>
              <a:t>5~10</a:t>
            </a:r>
            <a:r>
              <a:rPr lang="zh-CN" altLang="en-US" sz="2000" dirty="0">
                <a:solidFill>
                  <a:schemeClr val="tx1"/>
                </a:solidFill>
                <a:latin typeface="+mn-ea"/>
              </a:rPr>
              <a:t>人左右，每个成员可能负责不同的技术方面，但要求每成员必须要有很强的自我管理能力，同时具有一定的表达能力；成员可以采用任何工作方式，只要能达到</a:t>
            </a:r>
            <a:r>
              <a:rPr lang="en-US" altLang="zh-CN" sz="2000" dirty="0">
                <a:solidFill>
                  <a:schemeClr val="tx1"/>
                </a:solidFill>
                <a:latin typeface="+mn-ea"/>
              </a:rPr>
              <a:t>Sprint</a:t>
            </a:r>
            <a:r>
              <a:rPr lang="zh-CN" altLang="en-US" sz="2000" dirty="0">
                <a:solidFill>
                  <a:schemeClr val="tx1"/>
                </a:solidFill>
                <a:latin typeface="+mn-ea"/>
              </a:rPr>
              <a:t>的目标。</a:t>
            </a:r>
          </a:p>
        </p:txBody>
      </p:sp>
    </p:spTree>
    <p:extLst>
      <p:ext uri="{BB962C8B-B14F-4D97-AF65-F5344CB8AC3E}">
        <p14:creationId xmlns:p14="http://schemas.microsoft.com/office/powerpoint/2010/main" val="1751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三</a:t>
            </a:r>
            <a:r>
              <a:rPr lang="en-US" altLang="zh-CN" sz="4000" b="1" dirty="0" smtClean="0"/>
              <a:t>. Scrum</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4547461" cy="967925"/>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en-US" altLang="zh-CN" dirty="0" smtClean="0">
                <a:latin typeface="+mn-ea"/>
              </a:rPr>
              <a:t>Sprint</a:t>
            </a:r>
            <a:r>
              <a:rPr lang="en-US" altLang="zh-CN" sz="2400" dirty="0" smtClean="0">
                <a:latin typeface="+mn-ea"/>
              </a:rPr>
              <a:t>: (</a:t>
            </a:r>
            <a:r>
              <a:rPr lang="zh-CN" altLang="en-US" sz="2400" dirty="0" smtClean="0">
                <a:latin typeface="+mn-ea"/>
              </a:rPr>
              <a:t>短距离赛跑</a:t>
            </a:r>
            <a:r>
              <a:rPr lang="en-US" altLang="zh-CN" sz="2400" dirty="0" smtClean="0">
                <a:latin typeface="+mn-ea"/>
              </a:rPr>
              <a:t>) </a:t>
            </a:r>
            <a:r>
              <a:rPr lang="zh-CN" altLang="en-US" sz="2400" dirty="0" smtClean="0">
                <a:latin typeface="+mn-ea"/>
              </a:rPr>
              <a:t>一次迭代</a:t>
            </a:r>
            <a:r>
              <a:rPr lang="en-US" altLang="zh-CN" sz="2400" dirty="0" smtClean="0">
                <a:latin typeface="+mn-ea"/>
              </a:rPr>
              <a:t/>
            </a:r>
            <a:br>
              <a:rPr lang="en-US" altLang="zh-CN" sz="2400" dirty="0" smtClean="0">
                <a:latin typeface="+mn-ea"/>
              </a:rPr>
            </a:br>
            <a:r>
              <a:rPr lang="zh-CN" altLang="en-US" sz="2400" dirty="0" smtClean="0">
                <a:latin typeface="+mn-ea"/>
              </a:rPr>
              <a:t>过程，周期一个月左右。</a:t>
            </a:r>
            <a:endParaRPr lang="zh-CN" altLang="en-US" sz="2400" dirty="0">
              <a:solidFill>
                <a:srgbClr val="0070C0"/>
              </a:solidFill>
              <a:latin typeface="+mn-ea"/>
            </a:endParaRPr>
          </a:p>
        </p:txBody>
      </p:sp>
      <p:pic>
        <p:nvPicPr>
          <p:cNvPr id="1026" name="Picture 2" descr="https://images.cnblogs.com/cnblogs_com/taven/201010/ScrumMode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8426" y="1"/>
            <a:ext cx="6313574" cy="3704094"/>
          </a:xfrm>
          <a:prstGeom prst="rect">
            <a:avLst/>
          </a:prstGeom>
          <a:noFill/>
          <a:extLst>
            <a:ext uri="{909E8E84-426E-40DD-AFC4-6F175D3DCCD1}">
              <a14:hiddenFill xmlns:a14="http://schemas.microsoft.com/office/drawing/2010/main">
                <a:solidFill>
                  <a:srgbClr val="FFFFFF"/>
                </a:solidFill>
              </a14:hiddenFill>
            </a:ext>
          </a:extLst>
        </p:spPr>
      </p:pic>
      <p:sp>
        <p:nvSpPr>
          <p:cNvPr id="3" name="圆角矩形 2"/>
          <p:cNvSpPr/>
          <p:nvPr/>
        </p:nvSpPr>
        <p:spPr>
          <a:xfrm>
            <a:off x="69742" y="3556861"/>
            <a:ext cx="1346214" cy="6199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确定</a:t>
            </a:r>
            <a:r>
              <a:rPr lang="zh-CN" altLang="en-US" dirty="0"/>
              <a:t>产品需求</a:t>
            </a:r>
            <a:r>
              <a:rPr lang="zh-CN" altLang="en-US" dirty="0" smtClean="0"/>
              <a:t>列表</a:t>
            </a:r>
            <a:endParaRPr lang="zh-CN" altLang="en-US" dirty="0"/>
          </a:p>
        </p:txBody>
      </p:sp>
      <p:sp>
        <p:nvSpPr>
          <p:cNvPr id="4" name="矩形 3"/>
          <p:cNvSpPr/>
          <p:nvPr/>
        </p:nvSpPr>
        <p:spPr>
          <a:xfrm>
            <a:off x="69742" y="4176793"/>
            <a:ext cx="1346214" cy="25029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zh-CN" altLang="en-US" dirty="0" smtClean="0"/>
              <a:t>由</a:t>
            </a:r>
            <a:r>
              <a:rPr lang="en-US" altLang="zh-CN" dirty="0" smtClean="0"/>
              <a:t>Product Owner</a:t>
            </a:r>
            <a:r>
              <a:rPr lang="zh-CN" altLang="en-US" dirty="0" smtClean="0"/>
              <a:t>负责，按优先顺序确定</a:t>
            </a:r>
            <a:r>
              <a:rPr lang="en-US" altLang="zh-CN" dirty="0"/>
              <a:t>Product </a:t>
            </a:r>
            <a:r>
              <a:rPr lang="en-US" altLang="zh-CN" dirty="0" smtClean="0"/>
              <a:t>Backlog</a:t>
            </a:r>
            <a:endParaRPr lang="zh-CN" altLang="en-US" dirty="0"/>
          </a:p>
        </p:txBody>
      </p:sp>
      <p:sp>
        <p:nvSpPr>
          <p:cNvPr id="11" name="圆角矩形 10"/>
          <p:cNvSpPr/>
          <p:nvPr/>
        </p:nvSpPr>
        <p:spPr>
          <a:xfrm>
            <a:off x="1588575" y="3556861"/>
            <a:ext cx="1346213" cy="6199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评估</a:t>
            </a:r>
            <a:endParaRPr lang="en-US" altLang="zh-CN" dirty="0" smtClean="0"/>
          </a:p>
          <a:p>
            <a:pPr algn="ctr"/>
            <a:r>
              <a:rPr lang="zh-CN" altLang="en-US" dirty="0" smtClean="0"/>
              <a:t>工作量</a:t>
            </a:r>
            <a:endParaRPr lang="zh-CN" altLang="en-US" dirty="0"/>
          </a:p>
        </p:txBody>
      </p:sp>
      <p:sp>
        <p:nvSpPr>
          <p:cNvPr id="13" name="圆角矩形 12"/>
          <p:cNvSpPr/>
          <p:nvPr/>
        </p:nvSpPr>
        <p:spPr>
          <a:xfrm>
            <a:off x="3113307" y="3556861"/>
            <a:ext cx="1346213" cy="6199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确定</a:t>
            </a:r>
            <a:endParaRPr lang="en-US" altLang="zh-CN" dirty="0" smtClean="0"/>
          </a:p>
          <a:p>
            <a:pPr algn="ctr"/>
            <a:r>
              <a:rPr lang="zh-CN" altLang="en-US" dirty="0" smtClean="0"/>
              <a:t>迭代目标</a:t>
            </a:r>
            <a:endParaRPr lang="zh-CN" altLang="en-US" dirty="0"/>
          </a:p>
        </p:txBody>
      </p:sp>
      <p:sp>
        <p:nvSpPr>
          <p:cNvPr id="15" name="圆角矩形 14"/>
          <p:cNvSpPr/>
          <p:nvPr/>
        </p:nvSpPr>
        <p:spPr>
          <a:xfrm>
            <a:off x="4638965" y="3556861"/>
            <a:ext cx="1346213" cy="6199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细化任务</a:t>
            </a:r>
            <a:endParaRPr lang="zh-CN" altLang="en-US" dirty="0"/>
          </a:p>
        </p:txBody>
      </p:sp>
      <p:sp>
        <p:nvSpPr>
          <p:cNvPr id="17" name="圆角矩形 16"/>
          <p:cNvSpPr/>
          <p:nvPr/>
        </p:nvSpPr>
        <p:spPr>
          <a:xfrm>
            <a:off x="6164506" y="3556861"/>
            <a:ext cx="1346213" cy="61993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每日站立会议</a:t>
            </a:r>
          </a:p>
        </p:txBody>
      </p:sp>
      <p:sp>
        <p:nvSpPr>
          <p:cNvPr id="19" name="圆角矩形 18"/>
          <p:cNvSpPr/>
          <p:nvPr/>
        </p:nvSpPr>
        <p:spPr>
          <a:xfrm>
            <a:off x="7693414" y="3556861"/>
            <a:ext cx="1346213" cy="61993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每日集成</a:t>
            </a:r>
            <a:endParaRPr lang="zh-CN" altLang="en-US" dirty="0"/>
          </a:p>
        </p:txBody>
      </p:sp>
      <p:sp>
        <p:nvSpPr>
          <p:cNvPr id="22" name="圆角矩形 21"/>
          <p:cNvSpPr/>
          <p:nvPr/>
        </p:nvSpPr>
        <p:spPr>
          <a:xfrm>
            <a:off x="9222322" y="3556861"/>
            <a:ext cx="1346213" cy="6199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评审会</a:t>
            </a:r>
            <a:endParaRPr lang="zh-CN" altLang="en-US" dirty="0"/>
          </a:p>
        </p:txBody>
      </p:sp>
      <p:sp>
        <p:nvSpPr>
          <p:cNvPr id="24" name="圆角矩形 23"/>
          <p:cNvSpPr/>
          <p:nvPr/>
        </p:nvSpPr>
        <p:spPr>
          <a:xfrm>
            <a:off x="10751230" y="3556861"/>
            <a:ext cx="1346213" cy="6199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总结会议</a:t>
            </a:r>
            <a:endParaRPr lang="zh-CN" altLang="en-US" dirty="0"/>
          </a:p>
        </p:txBody>
      </p:sp>
      <p:sp>
        <p:nvSpPr>
          <p:cNvPr id="27" name="矩形 26"/>
          <p:cNvSpPr/>
          <p:nvPr/>
        </p:nvSpPr>
        <p:spPr>
          <a:xfrm>
            <a:off x="1584398" y="4176793"/>
            <a:ext cx="1346214" cy="25029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altLang="zh-CN" dirty="0"/>
              <a:t>Scrum Team</a:t>
            </a:r>
            <a:r>
              <a:rPr lang="zh-CN" altLang="en-US" dirty="0"/>
              <a:t>根据</a:t>
            </a:r>
            <a:r>
              <a:rPr lang="en-US" altLang="zh-CN" dirty="0"/>
              <a:t>Product </a:t>
            </a:r>
            <a:r>
              <a:rPr lang="en-US" altLang="zh-CN" dirty="0" smtClean="0"/>
              <a:t>Backlog</a:t>
            </a:r>
            <a:r>
              <a:rPr lang="zh-CN" altLang="en-US" dirty="0"/>
              <a:t>，做工作量的预估和安排</a:t>
            </a:r>
          </a:p>
        </p:txBody>
      </p:sp>
      <p:sp>
        <p:nvSpPr>
          <p:cNvPr id="28" name="矩形 27"/>
          <p:cNvSpPr/>
          <p:nvPr/>
        </p:nvSpPr>
        <p:spPr>
          <a:xfrm>
            <a:off x="3107407" y="4176793"/>
            <a:ext cx="1346214" cy="25029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zh-CN" altLang="en-US" dirty="0" smtClean="0"/>
              <a:t>通过</a:t>
            </a:r>
            <a:r>
              <a:rPr lang="en-US" altLang="zh-CN" dirty="0" smtClean="0"/>
              <a:t>Sprint</a:t>
            </a:r>
            <a:r>
              <a:rPr lang="zh-CN" altLang="en-US" dirty="0" smtClean="0"/>
              <a:t>计划会议，挑选出一个</a:t>
            </a:r>
            <a:r>
              <a:rPr lang="en-US" altLang="zh-CN" dirty="0" smtClean="0"/>
              <a:t>story</a:t>
            </a:r>
            <a:r>
              <a:rPr lang="zh-CN" altLang="en-US" dirty="0" smtClean="0"/>
              <a:t>作为本次迭代目标，细化后形成</a:t>
            </a:r>
            <a:r>
              <a:rPr lang="en-US" altLang="zh-CN" dirty="0" smtClean="0"/>
              <a:t>Sprint Backlog</a:t>
            </a:r>
            <a:endParaRPr lang="zh-CN" altLang="en-US" dirty="0"/>
          </a:p>
        </p:txBody>
      </p:sp>
      <p:sp>
        <p:nvSpPr>
          <p:cNvPr id="29" name="矩形 28"/>
          <p:cNvSpPr/>
          <p:nvPr/>
        </p:nvSpPr>
        <p:spPr>
          <a:xfrm>
            <a:off x="4633455" y="4176793"/>
            <a:ext cx="1346214" cy="25029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zh-CN" altLang="en-US" dirty="0" smtClean="0"/>
              <a:t>每个成员，领取细化后的小任务</a:t>
            </a:r>
            <a:r>
              <a:rPr lang="en-US" altLang="zh-CN" dirty="0" smtClean="0"/>
              <a:t>(2</a:t>
            </a:r>
            <a:r>
              <a:rPr lang="zh-CN" altLang="en-US" dirty="0" smtClean="0"/>
              <a:t>天左右完成</a:t>
            </a:r>
            <a:r>
              <a:rPr lang="en-US" altLang="zh-CN" dirty="0" smtClean="0"/>
              <a:t>)</a:t>
            </a:r>
            <a:endParaRPr lang="zh-CN" altLang="en-US" dirty="0"/>
          </a:p>
        </p:txBody>
      </p:sp>
      <p:sp>
        <p:nvSpPr>
          <p:cNvPr id="30" name="矩形 29"/>
          <p:cNvSpPr/>
          <p:nvPr/>
        </p:nvSpPr>
        <p:spPr>
          <a:xfrm>
            <a:off x="6177265" y="4176793"/>
            <a:ext cx="1346214" cy="250297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smtClean="0"/>
              <a:t>任务开发过程中，每日</a:t>
            </a:r>
            <a:r>
              <a:rPr lang="en-US" altLang="zh-CN" dirty="0" smtClean="0"/>
              <a:t>15</a:t>
            </a:r>
            <a:r>
              <a:rPr lang="zh-CN" altLang="en-US" dirty="0" smtClean="0"/>
              <a:t>分钟站立会议，每人汇报完成的和计划的，并更新</a:t>
            </a:r>
            <a:r>
              <a:rPr lang="en-US" altLang="zh-CN" dirty="0" smtClean="0"/>
              <a:t>”</a:t>
            </a:r>
            <a:r>
              <a:rPr lang="zh-CN" altLang="en-US" dirty="0" smtClean="0"/>
              <a:t>燃尽图</a:t>
            </a:r>
            <a:r>
              <a:rPr lang="en-US" altLang="zh-CN" dirty="0" smtClean="0"/>
              <a:t>”</a:t>
            </a:r>
            <a:endParaRPr lang="zh-CN" altLang="en-US" dirty="0"/>
          </a:p>
        </p:txBody>
      </p:sp>
      <p:sp>
        <p:nvSpPr>
          <p:cNvPr id="31" name="矩形 30"/>
          <p:cNvSpPr/>
          <p:nvPr/>
        </p:nvSpPr>
        <p:spPr>
          <a:xfrm>
            <a:off x="7688050" y="4176793"/>
            <a:ext cx="1346214" cy="250297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smtClean="0"/>
              <a:t>例如</a:t>
            </a:r>
            <a:r>
              <a:rPr lang="en-US" altLang="zh-CN" dirty="0" smtClean="0"/>
              <a:t>TFS</a:t>
            </a:r>
            <a:r>
              <a:rPr lang="zh-CN" altLang="en-US" dirty="0" smtClean="0"/>
              <a:t>工具，有</a:t>
            </a:r>
            <a:r>
              <a:rPr lang="zh-CN" altLang="en-US" dirty="0"/>
              <a:t>签入</a:t>
            </a:r>
            <a:r>
              <a:rPr lang="zh-CN" altLang="en-US" dirty="0" smtClean="0"/>
              <a:t>操作时，自动编译、单元测试、通过后发布该版本，成功入</a:t>
            </a:r>
            <a:r>
              <a:rPr lang="en-US" altLang="zh-CN" dirty="0" smtClean="0"/>
              <a:t>TFS</a:t>
            </a:r>
            <a:r>
              <a:rPr lang="zh-CN" altLang="en-US" dirty="0" smtClean="0"/>
              <a:t>库，失败发通知</a:t>
            </a:r>
            <a:endParaRPr lang="zh-CN" altLang="en-US" dirty="0"/>
          </a:p>
        </p:txBody>
      </p:sp>
      <p:sp>
        <p:nvSpPr>
          <p:cNvPr id="32" name="矩形 31"/>
          <p:cNvSpPr/>
          <p:nvPr/>
        </p:nvSpPr>
        <p:spPr>
          <a:xfrm>
            <a:off x="9222321" y="4176793"/>
            <a:ext cx="1346214" cy="25029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一</a:t>
            </a:r>
            <a:r>
              <a:rPr lang="zh-CN" altLang="en-US" dirty="0" smtClean="0"/>
              <a:t>次迭代完成后，开评审会，产品负责人、客户、老板等参加，每个成员演示自己的成果</a:t>
            </a:r>
            <a:endParaRPr lang="zh-CN" altLang="en-US" dirty="0"/>
          </a:p>
        </p:txBody>
      </p:sp>
      <p:sp>
        <p:nvSpPr>
          <p:cNvPr id="33" name="矩形 32"/>
          <p:cNvSpPr/>
          <p:nvPr/>
        </p:nvSpPr>
        <p:spPr>
          <a:xfrm>
            <a:off x="10751229" y="4176793"/>
            <a:ext cx="1346214" cy="25029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smtClean="0"/>
              <a:t>轮流发言，总结并讨论改进之处，用于下一轮</a:t>
            </a:r>
            <a:r>
              <a:rPr lang="en-US" altLang="zh-CN" dirty="0" smtClean="0"/>
              <a:t>Sprint</a:t>
            </a:r>
            <a:r>
              <a:rPr lang="zh-CN" altLang="en-US" dirty="0" smtClean="0"/>
              <a:t>产品需求中</a:t>
            </a:r>
            <a:endParaRPr lang="zh-CN" altLang="en-US" dirty="0"/>
          </a:p>
        </p:txBody>
      </p:sp>
    </p:spTree>
    <p:extLst>
      <p:ext uri="{BB962C8B-B14F-4D97-AF65-F5344CB8AC3E}">
        <p14:creationId xmlns:p14="http://schemas.microsoft.com/office/powerpoint/2010/main" val="4062299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5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3" grpId="0" animBg="1"/>
      <p:bldP spid="15" grpId="0" animBg="1"/>
      <p:bldP spid="17" grpId="0" animBg="1"/>
      <p:bldP spid="19" grpId="0" animBg="1"/>
      <p:bldP spid="22" grpId="0" animBg="1"/>
      <p:bldP spid="24" grpId="0" animBg="1"/>
      <p:bldP spid="27" grpId="0" animBg="1"/>
      <p:bldP spid="28" grpId="0" animBg="1"/>
      <p:bldP spid="29" grpId="0" animBg="1"/>
      <p:bldP spid="30" grpId="0" animBg="1"/>
      <p:bldP spid="31" grpId="0" animBg="1"/>
      <p:bldP spid="32" grpId="0" animBg="1"/>
      <p:bldP spid="3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三</a:t>
            </a:r>
            <a:r>
              <a:rPr lang="en-US" altLang="zh-CN" sz="4000" b="1" dirty="0" smtClean="0"/>
              <a:t>. Scrum</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pic>
        <p:nvPicPr>
          <p:cNvPr id="1026" name="Picture 2" descr="https://images.cnblogs.com/cnblogs_com/taven/201010/ScrumMode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8426" y="1"/>
            <a:ext cx="6313574" cy="3704094"/>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1686347" y="2097226"/>
            <a:ext cx="2621230" cy="400110"/>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altLang="zh-CN" sz="2000" dirty="0" smtClean="0">
                <a:solidFill>
                  <a:srgbClr val="393939"/>
                </a:solidFill>
                <a:latin typeface="PingFang SC"/>
              </a:rPr>
              <a:t>Product Backlog</a:t>
            </a:r>
            <a:r>
              <a:rPr lang="zh-CN" altLang="en-US" sz="2000" dirty="0" smtClean="0">
                <a:solidFill>
                  <a:srgbClr val="393939"/>
                </a:solidFill>
                <a:latin typeface="PingFang SC"/>
              </a:rPr>
              <a:t>示例</a:t>
            </a:r>
            <a:endParaRPr lang="zh-CN" altLang="en-US" sz="2000" dirty="0"/>
          </a:p>
        </p:txBody>
      </p:sp>
      <p:pic>
        <p:nvPicPr>
          <p:cNvPr id="2050" name="Picture 2" descr="https://images.cnblogs.com/cnblogs_com/taven/201010/2010-10-17_20244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061" y="2552700"/>
            <a:ext cx="5629803" cy="3994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0589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三</a:t>
            </a:r>
            <a:r>
              <a:rPr lang="en-US" altLang="zh-CN" sz="4000" b="1" dirty="0" smtClean="0"/>
              <a:t>. Scrum</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pic>
        <p:nvPicPr>
          <p:cNvPr id="1026" name="Picture 2" descr="https://images.cnblogs.com/cnblogs_com/taven/201010/ScrumMode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8426" y="1"/>
            <a:ext cx="6313574" cy="3704094"/>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https://images.cnblogs.com/cnblogs_com/taven/201010/2010-10-17_20274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426" y="2281210"/>
            <a:ext cx="57150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319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三</a:t>
            </a:r>
            <a:r>
              <a:rPr lang="en-US" altLang="zh-CN" sz="4000" b="1" dirty="0" smtClean="0"/>
              <a:t>. Scrum</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pic>
        <p:nvPicPr>
          <p:cNvPr id="1026" name="Picture 2" descr="https://images.cnblogs.com/cnblogs_com/taven/201010/ScrumMode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8426" y="1"/>
            <a:ext cx="6313574" cy="370409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https://images.cnblogs.com/cnblogs_com/taven/201010/2010-10-17_20283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51" y="2205687"/>
            <a:ext cx="5819775" cy="4457700"/>
          </a:xfrm>
          <a:prstGeom prst="rect">
            <a:avLst/>
          </a:prstGeom>
          <a:noFill/>
          <a:extLst>
            <a:ext uri="{909E8E84-426E-40DD-AFC4-6F175D3DCCD1}">
              <a14:hiddenFill xmlns:a14="http://schemas.microsoft.com/office/drawing/2010/main">
                <a:solidFill>
                  <a:srgbClr val="FFFFFF"/>
                </a:solidFill>
              </a14:hiddenFill>
            </a:ext>
          </a:extLst>
        </p:spPr>
      </p:pic>
      <p:sp>
        <p:nvSpPr>
          <p:cNvPr id="10" name="内容占位符 2"/>
          <p:cNvSpPr>
            <a:spLocks noGrp="1"/>
          </p:cNvSpPr>
          <p:nvPr>
            <p:ph idx="1"/>
          </p:nvPr>
        </p:nvSpPr>
        <p:spPr>
          <a:xfrm>
            <a:off x="5952641" y="3851329"/>
            <a:ext cx="5942308" cy="2750949"/>
          </a:xfrm>
        </p:spPr>
        <p:style>
          <a:lnRef idx="2">
            <a:schemeClr val="accent2"/>
          </a:lnRef>
          <a:fillRef idx="1">
            <a:schemeClr val="lt1"/>
          </a:fillRef>
          <a:effectRef idx="0">
            <a:schemeClr val="accent2"/>
          </a:effectRef>
          <a:fontRef idx="minor">
            <a:schemeClr val="dk1"/>
          </a:fontRef>
        </p:style>
        <p:txBody>
          <a:bodyPr>
            <a:normAutofit fontScale="85000" lnSpcReduction="20000"/>
          </a:bodyPr>
          <a:lstStyle/>
          <a:p>
            <a:pPr>
              <a:lnSpc>
                <a:spcPct val="120000"/>
              </a:lnSpc>
              <a:spcBef>
                <a:spcPts val="600"/>
              </a:spcBef>
            </a:pPr>
            <a:r>
              <a:rPr lang="zh-CN" altLang="en-US" dirty="0">
                <a:latin typeface="+mn-ea"/>
              </a:rPr>
              <a:t>每个人的工作进度和完成情况都是</a:t>
            </a:r>
            <a:r>
              <a:rPr lang="zh-CN" altLang="en-US" b="1" dirty="0">
                <a:solidFill>
                  <a:srgbClr val="C00000"/>
                </a:solidFill>
                <a:latin typeface="+mn-ea"/>
              </a:rPr>
              <a:t>公开</a:t>
            </a:r>
            <a:r>
              <a:rPr lang="zh-CN" altLang="en-US" dirty="0">
                <a:latin typeface="+mn-ea"/>
              </a:rPr>
              <a:t>的，如果有一个人的工作任务在某一个位置放了好几天，大家都能发现他的工作进度出现了什么问题（成员人数最好是</a:t>
            </a:r>
            <a:r>
              <a:rPr lang="en-US" altLang="zh-CN" dirty="0">
                <a:latin typeface="+mn-ea"/>
              </a:rPr>
              <a:t>5~7</a:t>
            </a:r>
            <a:r>
              <a:rPr lang="zh-CN" altLang="en-US" dirty="0">
                <a:latin typeface="+mn-ea"/>
              </a:rPr>
              <a:t>个，这样每人可以使用一种专用颜色的标签纸，一眼就可以从任务版看出</a:t>
            </a:r>
            <a:r>
              <a:rPr lang="zh-CN" altLang="en-US" dirty="0">
                <a:solidFill>
                  <a:srgbClr val="C00000"/>
                </a:solidFill>
                <a:latin typeface="+mn-ea"/>
              </a:rPr>
              <a:t>谁的工作进度快</a:t>
            </a:r>
            <a:r>
              <a:rPr lang="zh-CN" altLang="en-US" dirty="0">
                <a:latin typeface="+mn-ea"/>
              </a:rPr>
              <a:t>，</a:t>
            </a:r>
            <a:r>
              <a:rPr lang="zh-CN" altLang="en-US" dirty="0">
                <a:solidFill>
                  <a:srgbClr val="C00000"/>
                </a:solidFill>
                <a:latin typeface="+mn-ea"/>
              </a:rPr>
              <a:t>谁的工作进度慢</a:t>
            </a:r>
            <a:r>
              <a:rPr lang="zh-CN" altLang="en-US" dirty="0">
                <a:latin typeface="+mn-ea"/>
              </a:rPr>
              <a:t>）</a:t>
            </a:r>
            <a:endParaRPr lang="zh-CN" altLang="en-US" sz="2400" dirty="0">
              <a:solidFill>
                <a:srgbClr val="0070C0"/>
              </a:solidFill>
              <a:latin typeface="+mn-ea"/>
            </a:endParaRPr>
          </a:p>
        </p:txBody>
      </p:sp>
    </p:spTree>
    <p:extLst>
      <p:ext uri="{BB962C8B-B14F-4D97-AF65-F5344CB8AC3E}">
        <p14:creationId xmlns:p14="http://schemas.microsoft.com/office/powerpoint/2010/main" val="4011090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smtClean="0"/>
              <a:t>内容目录</a:t>
            </a:r>
            <a:endParaRPr lang="zh-CN" altLang="en-US" sz="4000" b="1" dirty="0"/>
          </a:p>
        </p:txBody>
      </p:sp>
      <p:sp>
        <p:nvSpPr>
          <p:cNvPr id="3" name="内容占位符 2"/>
          <p:cNvSpPr>
            <a:spLocks noGrp="1"/>
          </p:cNvSpPr>
          <p:nvPr>
            <p:ph idx="1"/>
          </p:nvPr>
        </p:nvSpPr>
        <p:spPr>
          <a:xfrm>
            <a:off x="838198" y="1825624"/>
            <a:ext cx="10515602" cy="4464339"/>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dirty="0">
                <a:latin typeface="等线" panose="02010600030101010101" pitchFamily="2" charset="-122"/>
                <a:ea typeface="等线" panose="02010600030101010101" pitchFamily="2" charset="-122"/>
              </a:rPr>
              <a:t>一、敏捷过程定义及敏捷建模</a:t>
            </a:r>
            <a:endParaRPr lang="en-US" altLang="zh-CN" dirty="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定义及产生</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建模原则</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核心实践</a:t>
            </a:r>
            <a:endParaRPr lang="en-US" altLang="zh-CN" dirty="0" smtClean="0">
              <a:latin typeface="等线" panose="02010600030101010101" pitchFamily="2" charset="-122"/>
              <a:ea typeface="等线" panose="02010600030101010101" pitchFamily="2" charset="-122"/>
            </a:endParaRPr>
          </a:p>
          <a:p>
            <a:pPr lvl="1">
              <a:lnSpc>
                <a:spcPct val="100000"/>
              </a:lnSpc>
              <a:spcBef>
                <a:spcPts val="600"/>
              </a:spcBef>
            </a:pPr>
            <a:r>
              <a:rPr lang="zh-CN" altLang="en-US" dirty="0" smtClean="0">
                <a:latin typeface="等线" panose="02010600030101010101" pitchFamily="2" charset="-122"/>
                <a:ea typeface="等线" panose="02010600030101010101" pitchFamily="2" charset="-122"/>
              </a:rPr>
              <a:t>建模误区</a:t>
            </a:r>
            <a:endParaRPr lang="en-US" altLang="zh-CN" dirty="0" smtClean="0">
              <a:latin typeface="等线" panose="02010600030101010101" pitchFamily="2" charset="-122"/>
              <a:ea typeface="等线" panose="02010600030101010101" pitchFamily="2" charset="-122"/>
            </a:endParaRPr>
          </a:p>
          <a:p>
            <a:pPr>
              <a:lnSpc>
                <a:spcPct val="100000"/>
              </a:lnSpc>
              <a:spcBef>
                <a:spcPts val="600"/>
              </a:spcBef>
            </a:pPr>
            <a:r>
              <a:rPr lang="zh-CN" altLang="en-US" dirty="0">
                <a:latin typeface="等线" panose="02010600030101010101" pitchFamily="2" charset="-122"/>
                <a:ea typeface="等线" panose="02010600030101010101" pitchFamily="2" charset="-122"/>
              </a:rPr>
              <a:t>二、为什么选择敏捷过程</a:t>
            </a:r>
            <a:endParaRPr lang="en-US" altLang="zh-CN" dirty="0">
              <a:latin typeface="等线" panose="02010600030101010101" pitchFamily="2" charset="-122"/>
              <a:ea typeface="等线" panose="02010600030101010101" pitchFamily="2" charset="-122"/>
            </a:endParaRPr>
          </a:p>
          <a:p>
            <a:pPr>
              <a:lnSpc>
                <a:spcPct val="100000"/>
              </a:lnSpc>
              <a:spcBef>
                <a:spcPts val="600"/>
              </a:spcBef>
            </a:pPr>
            <a:r>
              <a:rPr lang="zh-CN" altLang="en-US" dirty="0">
                <a:latin typeface="等线" panose="02010600030101010101" pitchFamily="2" charset="-122"/>
                <a:ea typeface="等线" panose="02010600030101010101" pitchFamily="2" charset="-122"/>
              </a:rPr>
              <a:t>三、</a:t>
            </a:r>
            <a:r>
              <a:rPr lang="en-US" altLang="zh-CN" dirty="0">
                <a:latin typeface="等线" panose="02010600030101010101" pitchFamily="2" charset="-122"/>
                <a:ea typeface="等线" panose="02010600030101010101" pitchFamily="2" charset="-122"/>
              </a:rPr>
              <a:t>Scrum</a:t>
            </a:r>
          </a:p>
          <a:p>
            <a:pPr>
              <a:lnSpc>
                <a:spcPct val="100000"/>
              </a:lnSpc>
              <a:spcBef>
                <a:spcPts val="600"/>
              </a:spcBef>
            </a:pPr>
            <a:r>
              <a:rPr lang="zh-CN" altLang="en-US" dirty="0" smtClean="0">
                <a:solidFill>
                  <a:srgbClr val="C00000"/>
                </a:solidFill>
                <a:latin typeface="等线" panose="02010600030101010101" pitchFamily="2" charset="-122"/>
                <a:ea typeface="等线" panose="02010600030101010101" pitchFamily="2" charset="-122"/>
              </a:rPr>
              <a:t>四、敏捷落地中国难？</a:t>
            </a:r>
            <a:endParaRPr lang="zh-CN" altLang="en-US" dirty="0">
              <a:solidFill>
                <a:srgbClr val="C00000"/>
              </a:solidFill>
              <a:latin typeface="等线" panose="02010600030101010101" pitchFamily="2" charset="-122"/>
              <a:ea typeface="等线" panose="02010600030101010101" pitchFamily="2" charset="-122"/>
            </a:endParaRPr>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1624107982"/>
      </p:ext>
    </p:extLst>
  </p:cSld>
  <p:clrMapOvr>
    <a:masterClrMapping/>
  </p:clrMapOvr>
  <p:transition spd="slow">
    <p:push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四</a:t>
            </a:r>
            <a:r>
              <a:rPr lang="en-US" altLang="zh-CN" sz="4000" b="1" dirty="0" smtClean="0"/>
              <a:t>. </a:t>
            </a:r>
            <a:r>
              <a:rPr lang="zh-CN" altLang="en-US" sz="4000" b="1" dirty="0" smtClean="0"/>
              <a:t>敏捷落地中国难？</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en-US" altLang="zh-CN" sz="2400" dirty="0" smtClean="0">
                <a:solidFill>
                  <a:schemeClr val="tx1"/>
                </a:solidFill>
                <a:latin typeface="+mn-ea"/>
              </a:rPr>
              <a:t>2000</a:t>
            </a:r>
            <a:r>
              <a:rPr lang="zh-CN" altLang="en-US" sz="2400" dirty="0" smtClean="0">
                <a:solidFill>
                  <a:schemeClr val="tx1"/>
                </a:solidFill>
                <a:latin typeface="+mn-ea"/>
              </a:rPr>
              <a:t>年初，软件行业开始做</a:t>
            </a:r>
            <a:r>
              <a:rPr lang="en-US" altLang="zh-CN" sz="2400" dirty="0" smtClean="0">
                <a:solidFill>
                  <a:schemeClr val="tx1"/>
                </a:solidFill>
                <a:latin typeface="+mn-ea"/>
              </a:rPr>
              <a:t>ISO9000</a:t>
            </a:r>
            <a:r>
              <a:rPr lang="zh-CN" altLang="en-US" sz="2400" dirty="0" smtClean="0">
                <a:solidFill>
                  <a:schemeClr val="tx1"/>
                </a:solidFill>
                <a:latin typeface="+mn-ea"/>
              </a:rPr>
              <a:t>。对</a:t>
            </a:r>
            <a:r>
              <a:rPr lang="zh-CN" altLang="en-US" sz="2400" dirty="0">
                <a:solidFill>
                  <a:schemeClr val="tx1"/>
                </a:solidFill>
                <a:latin typeface="+mn-ea"/>
              </a:rPr>
              <a:t>企业来说就是做出一堆文档，装帧漂亮后，放进文件柜，锁好，然后</a:t>
            </a:r>
            <a:r>
              <a:rPr lang="en-US" altLang="zh-CN" sz="2400" dirty="0" smtClean="0">
                <a:solidFill>
                  <a:schemeClr val="tx1"/>
                </a:solidFill>
                <a:latin typeface="+mn-ea"/>
              </a:rPr>
              <a:t>……</a:t>
            </a:r>
            <a:r>
              <a:rPr lang="en-US" altLang="zh-CN" sz="2400" dirty="0">
                <a:solidFill>
                  <a:schemeClr val="tx1"/>
                </a:solidFill>
                <a:latin typeface="+mn-ea"/>
              </a:rPr>
              <a:t> </a:t>
            </a:r>
            <a:r>
              <a:rPr lang="en-US" altLang="zh-CN" sz="2400" dirty="0" smtClean="0">
                <a:solidFill>
                  <a:schemeClr val="tx1"/>
                </a:solidFill>
                <a:latin typeface="+mn-ea"/>
              </a:rPr>
              <a:t>……</a:t>
            </a:r>
            <a:r>
              <a:rPr lang="en-US" altLang="zh-CN" sz="2400" dirty="0">
                <a:solidFill>
                  <a:schemeClr val="tx1"/>
                </a:solidFill>
                <a:latin typeface="+mn-ea"/>
              </a:rPr>
              <a:t> ……</a:t>
            </a:r>
            <a:endParaRPr lang="en-US" altLang="zh-CN" sz="2400" dirty="0" smtClean="0">
              <a:solidFill>
                <a:schemeClr val="tx1"/>
              </a:solidFill>
              <a:latin typeface="+mn-ea"/>
            </a:endParaRPr>
          </a:p>
          <a:p>
            <a:pPr>
              <a:lnSpc>
                <a:spcPct val="100000"/>
              </a:lnSpc>
              <a:spcBef>
                <a:spcPts val="600"/>
              </a:spcBef>
            </a:pPr>
            <a:r>
              <a:rPr lang="zh-CN" altLang="en-US" sz="2400" dirty="0" smtClean="0">
                <a:solidFill>
                  <a:schemeClr val="tx1"/>
                </a:solidFill>
                <a:latin typeface="+mn-ea"/>
              </a:rPr>
              <a:t>就</a:t>
            </a:r>
            <a:r>
              <a:rPr lang="zh-CN" altLang="en-US" sz="2400" dirty="0">
                <a:solidFill>
                  <a:schemeClr val="tx1"/>
                </a:solidFill>
                <a:latin typeface="+mn-ea"/>
              </a:rPr>
              <a:t>没有然后了。所有工程师们对这些内容基本无感</a:t>
            </a:r>
            <a:r>
              <a:rPr lang="zh-CN" altLang="en-US" sz="2400" dirty="0" smtClean="0">
                <a:solidFill>
                  <a:schemeClr val="tx1"/>
                </a:solidFill>
                <a:latin typeface="+mn-ea"/>
              </a:rPr>
              <a:t>。</a:t>
            </a:r>
            <a:endParaRPr lang="en-US" altLang="zh-CN" sz="2400" dirty="0" smtClean="0">
              <a:solidFill>
                <a:schemeClr val="tx1"/>
              </a:solidFill>
              <a:latin typeface="+mn-ea"/>
            </a:endParaRPr>
          </a:p>
          <a:p>
            <a:pPr>
              <a:lnSpc>
                <a:spcPct val="100000"/>
              </a:lnSpc>
              <a:spcBef>
                <a:spcPts val="600"/>
              </a:spcBef>
              <a:buFont typeface="Wingdings" panose="05000000000000000000" pitchFamily="2" charset="2"/>
              <a:buChar char="ü"/>
            </a:pPr>
            <a:r>
              <a:rPr lang="zh-CN" altLang="en-US" sz="2400" dirty="0" smtClean="0">
                <a:solidFill>
                  <a:schemeClr val="tx1"/>
                </a:solidFill>
                <a:latin typeface="+mn-ea"/>
              </a:rPr>
              <a:t>然后是</a:t>
            </a:r>
            <a:r>
              <a:rPr lang="en-US" altLang="zh-CN" sz="2400" dirty="0" smtClean="0">
                <a:solidFill>
                  <a:schemeClr val="tx1"/>
                </a:solidFill>
                <a:latin typeface="+mn-ea"/>
              </a:rPr>
              <a:t>CMM</a:t>
            </a:r>
            <a:r>
              <a:rPr lang="zh-CN" altLang="en-US" sz="2400" dirty="0">
                <a:solidFill>
                  <a:schemeClr val="tx1"/>
                </a:solidFill>
                <a:latin typeface="+mn-ea"/>
              </a:rPr>
              <a:t>，能评上</a:t>
            </a:r>
            <a:r>
              <a:rPr lang="en-US" altLang="zh-CN" sz="2400" dirty="0">
                <a:solidFill>
                  <a:schemeClr val="tx1"/>
                </a:solidFill>
                <a:latin typeface="+mn-ea"/>
              </a:rPr>
              <a:t>CMM</a:t>
            </a:r>
            <a:r>
              <a:rPr lang="zh-CN" altLang="en-US" sz="2400" dirty="0">
                <a:solidFill>
                  <a:schemeClr val="tx1"/>
                </a:solidFill>
                <a:latin typeface="+mn-ea"/>
              </a:rPr>
              <a:t>的高级别是件很荣耀的事情</a:t>
            </a:r>
            <a:r>
              <a:rPr lang="zh-CN" altLang="en-US" sz="2400" dirty="0" smtClean="0">
                <a:solidFill>
                  <a:schemeClr val="tx1"/>
                </a:solidFill>
                <a:latin typeface="+mn-ea"/>
              </a:rPr>
              <a:t>。</a:t>
            </a:r>
            <a:endParaRPr lang="en-US" altLang="zh-CN" sz="2400" dirty="0" smtClean="0">
              <a:solidFill>
                <a:schemeClr val="tx1"/>
              </a:solidFill>
              <a:latin typeface="+mn-ea"/>
            </a:endParaRPr>
          </a:p>
          <a:p>
            <a:pPr>
              <a:lnSpc>
                <a:spcPct val="100000"/>
              </a:lnSpc>
              <a:spcBef>
                <a:spcPts val="600"/>
              </a:spcBef>
              <a:buFont typeface="Wingdings" panose="05000000000000000000" pitchFamily="2" charset="2"/>
              <a:buChar char="ü"/>
            </a:pPr>
            <a:r>
              <a:rPr lang="zh-CN" altLang="en-US" sz="2400" dirty="0" smtClean="0">
                <a:solidFill>
                  <a:schemeClr val="tx1"/>
                </a:solidFill>
                <a:latin typeface="+mn-ea"/>
              </a:rPr>
              <a:t>但</a:t>
            </a:r>
            <a:r>
              <a:rPr lang="zh-CN" altLang="en-US" sz="2400" dirty="0">
                <a:solidFill>
                  <a:schemeClr val="tx1"/>
                </a:solidFill>
                <a:latin typeface="+mn-ea"/>
              </a:rPr>
              <a:t>在</a:t>
            </a:r>
            <a:r>
              <a:rPr lang="en-US" altLang="zh-CN" sz="2400" dirty="0">
                <a:solidFill>
                  <a:schemeClr val="tx1"/>
                </a:solidFill>
                <a:latin typeface="+mn-ea"/>
              </a:rPr>
              <a:t>CMM</a:t>
            </a:r>
            <a:r>
              <a:rPr lang="zh-CN" altLang="en-US" sz="2400" dirty="0">
                <a:solidFill>
                  <a:schemeClr val="tx1"/>
                </a:solidFill>
                <a:latin typeface="+mn-ea"/>
              </a:rPr>
              <a:t>实施过程中，很多一线程序员仍然无</a:t>
            </a:r>
            <a:r>
              <a:rPr lang="zh-CN" altLang="en-US" sz="2400" dirty="0" smtClean="0">
                <a:solidFill>
                  <a:schemeClr val="tx1"/>
                </a:solidFill>
                <a:latin typeface="+mn-ea"/>
              </a:rPr>
              <a:t>感（虽然比</a:t>
            </a:r>
            <a:r>
              <a:rPr lang="en-US" altLang="zh-CN" sz="2400" dirty="0" smtClean="0">
                <a:solidFill>
                  <a:schemeClr val="tx1"/>
                </a:solidFill>
                <a:latin typeface="+mn-ea"/>
              </a:rPr>
              <a:t>ISO9000</a:t>
            </a:r>
            <a:r>
              <a:rPr lang="zh-CN" altLang="en-US" sz="2400" dirty="0" smtClean="0">
                <a:solidFill>
                  <a:schemeClr val="tx1"/>
                </a:solidFill>
                <a:latin typeface="+mn-ea"/>
              </a:rPr>
              <a:t>更受用</a:t>
            </a:r>
            <a:r>
              <a:rPr lang="zh-CN" altLang="en-US" sz="2400" dirty="0">
                <a:solidFill>
                  <a:schemeClr val="tx1"/>
                </a:solidFill>
                <a:latin typeface="+mn-ea"/>
              </a:rPr>
              <a:t>）。最大的区别就是锁在柜子里的由一堆工业标准文档变成了另一堆更有软件业特色的标准文档</a:t>
            </a:r>
            <a:r>
              <a:rPr lang="zh-CN" altLang="en-US" sz="2400" dirty="0" smtClean="0">
                <a:solidFill>
                  <a:schemeClr val="tx1"/>
                </a:solidFill>
                <a:latin typeface="+mn-ea"/>
              </a:rPr>
              <a:t>。</a:t>
            </a:r>
            <a:endParaRPr lang="en-US" altLang="zh-CN" sz="2400" dirty="0" smtClean="0">
              <a:solidFill>
                <a:schemeClr val="tx1"/>
              </a:solidFill>
              <a:latin typeface="+mn-ea"/>
            </a:endParaRPr>
          </a:p>
          <a:p>
            <a:pPr>
              <a:lnSpc>
                <a:spcPct val="100000"/>
              </a:lnSpc>
              <a:spcBef>
                <a:spcPts val="600"/>
              </a:spcBef>
              <a:buFont typeface="Wingdings" panose="05000000000000000000" pitchFamily="2" charset="2"/>
              <a:buChar char="u"/>
            </a:pPr>
            <a:r>
              <a:rPr lang="zh-CN" altLang="en-US" sz="2600" dirty="0">
                <a:solidFill>
                  <a:srgbClr val="C00000"/>
                </a:solidFill>
                <a:latin typeface="+mn-ea"/>
              </a:rPr>
              <a:t>无论</a:t>
            </a:r>
            <a:r>
              <a:rPr lang="en-US" altLang="zh-CN" sz="2600" dirty="0">
                <a:solidFill>
                  <a:srgbClr val="C00000"/>
                </a:solidFill>
                <a:latin typeface="+mn-ea"/>
              </a:rPr>
              <a:t>ISO9000</a:t>
            </a:r>
            <a:r>
              <a:rPr lang="zh-CN" altLang="en-US" sz="2600" dirty="0">
                <a:solidFill>
                  <a:srgbClr val="C00000"/>
                </a:solidFill>
                <a:latin typeface="+mn-ea"/>
              </a:rPr>
              <a:t>还是</a:t>
            </a:r>
            <a:r>
              <a:rPr lang="en-US" altLang="zh-CN" sz="2600" dirty="0">
                <a:solidFill>
                  <a:srgbClr val="C00000"/>
                </a:solidFill>
                <a:latin typeface="+mn-ea"/>
              </a:rPr>
              <a:t>CMM</a:t>
            </a:r>
            <a:r>
              <a:rPr lang="zh-CN" altLang="en-US" sz="2600" dirty="0">
                <a:solidFill>
                  <a:srgbClr val="C00000"/>
                </a:solidFill>
                <a:latin typeface="+mn-ea"/>
              </a:rPr>
              <a:t>，它们的核心都在于“控制”。</a:t>
            </a:r>
            <a:r>
              <a:rPr lang="zh-CN" altLang="en-US" sz="2400" dirty="0">
                <a:solidFill>
                  <a:schemeClr val="tx1"/>
                </a:solidFill>
                <a:latin typeface="+mn-ea"/>
              </a:rPr>
              <a:t>管理者们希望通过各种流程、各种规则来控制软件开发过程中的信息、思想、行为，来获得对未来的产品的安全感。</a:t>
            </a:r>
          </a:p>
        </p:txBody>
      </p:sp>
    </p:spTree>
    <p:extLst>
      <p:ext uri="{BB962C8B-B14F-4D97-AF65-F5344CB8AC3E}">
        <p14:creationId xmlns:p14="http://schemas.microsoft.com/office/powerpoint/2010/main" val="8198619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animEffect transition="in" filter="fade">
                                      <p:cBhvr>
                                        <p:cTn id="7" dur="500"/>
                                        <p:tgtEl>
                                          <p:spTgt spid="2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2" end="2"/>
                                            </p:txEl>
                                          </p:spTgt>
                                        </p:tgtEl>
                                        <p:attrNameLst>
                                          <p:attrName>style.visibility</p:attrName>
                                        </p:attrNameLst>
                                      </p:cBhvr>
                                      <p:to>
                                        <p:strVal val="visible"/>
                                      </p:to>
                                    </p:set>
                                    <p:animEffect transition="in" filter="fade">
                                      <p:cBhvr>
                                        <p:cTn id="12" dur="500"/>
                                        <p:tgtEl>
                                          <p:spTgt spid="2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xEl>
                                              <p:pRg st="3" end="3"/>
                                            </p:txEl>
                                          </p:spTgt>
                                        </p:tgtEl>
                                        <p:attrNameLst>
                                          <p:attrName>style.visibility</p:attrName>
                                        </p:attrNameLst>
                                      </p:cBhvr>
                                      <p:to>
                                        <p:strVal val="visible"/>
                                      </p:to>
                                    </p:set>
                                    <p:animEffect transition="in" filter="fade">
                                      <p:cBhvr>
                                        <p:cTn id="17" dur="500"/>
                                        <p:tgtEl>
                                          <p:spTgt spid="2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xEl>
                                              <p:pRg st="4" end="4"/>
                                            </p:txEl>
                                          </p:spTgt>
                                        </p:tgtEl>
                                        <p:attrNameLst>
                                          <p:attrName>style.visibility</p:attrName>
                                        </p:attrNameLst>
                                      </p:cBhvr>
                                      <p:to>
                                        <p:strVal val="visible"/>
                                      </p:to>
                                    </p:set>
                                    <p:animEffect transition="in" filter="fade">
                                      <p:cBhvr>
                                        <p:cTn id="22"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四</a:t>
            </a:r>
            <a:r>
              <a:rPr lang="en-US" altLang="zh-CN" sz="4000" b="1" dirty="0" smtClean="0"/>
              <a:t>. </a:t>
            </a:r>
            <a:r>
              <a:rPr lang="zh-CN" altLang="en-US" sz="4000" b="1" dirty="0" smtClean="0"/>
              <a:t>敏捷落地中国难？</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sz="2400" dirty="0">
                <a:solidFill>
                  <a:schemeClr val="tx1"/>
                </a:solidFill>
                <a:latin typeface="+mn-ea"/>
              </a:rPr>
              <a:t>软件世界早就在不知不觉中发生了巨变。最典型的例子</a:t>
            </a:r>
            <a:r>
              <a:rPr lang="zh-CN" altLang="en-US" sz="2400" dirty="0" smtClean="0">
                <a:solidFill>
                  <a:schemeClr val="tx1"/>
                </a:solidFill>
                <a:latin typeface="+mn-ea"/>
              </a:rPr>
              <a:t>就是：</a:t>
            </a:r>
            <a:endParaRPr lang="en-US" altLang="zh-CN" sz="2400" dirty="0" smtClean="0">
              <a:solidFill>
                <a:schemeClr val="tx1"/>
              </a:solidFill>
              <a:latin typeface="+mn-ea"/>
            </a:endParaRPr>
          </a:p>
          <a:p>
            <a:pPr>
              <a:lnSpc>
                <a:spcPct val="100000"/>
              </a:lnSpc>
              <a:spcBef>
                <a:spcPts val="600"/>
              </a:spcBef>
            </a:pPr>
            <a:endParaRPr lang="en-US" altLang="zh-CN" sz="2400" dirty="0">
              <a:solidFill>
                <a:schemeClr val="tx1"/>
              </a:solidFill>
              <a:latin typeface="+mn-ea"/>
            </a:endParaRPr>
          </a:p>
          <a:p>
            <a:pPr>
              <a:lnSpc>
                <a:spcPct val="100000"/>
              </a:lnSpc>
              <a:spcBef>
                <a:spcPts val="600"/>
              </a:spcBef>
            </a:pPr>
            <a:r>
              <a:rPr lang="zh-CN" altLang="en-US" sz="2400" dirty="0" smtClean="0">
                <a:solidFill>
                  <a:schemeClr val="tx1"/>
                </a:solidFill>
                <a:latin typeface="+mn-ea"/>
              </a:rPr>
              <a:t>像操作系统这样最复杂的软件系统</a:t>
            </a:r>
            <a:r>
              <a:rPr lang="en-US" altLang="zh-CN" sz="2400" dirty="0" smtClean="0">
                <a:solidFill>
                  <a:schemeClr val="tx1"/>
                </a:solidFill>
                <a:latin typeface="+mn-ea"/>
              </a:rPr>
              <a:t>——Linux</a:t>
            </a:r>
            <a:r>
              <a:rPr lang="zh-CN" altLang="en-US" sz="2400" dirty="0" smtClean="0">
                <a:solidFill>
                  <a:schemeClr val="tx1"/>
                </a:solidFill>
                <a:latin typeface="+mn-ea"/>
              </a:rPr>
              <a:t>，</a:t>
            </a:r>
            <a:r>
              <a:rPr lang="zh-CN" altLang="en-US" sz="2400" dirty="0">
                <a:solidFill>
                  <a:schemeClr val="tx1"/>
                </a:solidFill>
                <a:latin typeface="+mn-ea"/>
              </a:rPr>
              <a:t>居然是由分布在全世界各地、成千上万名互相不认识的程序员来完成的！没有繁琐的流程、坚硬的规章制度</a:t>
            </a:r>
            <a:r>
              <a:rPr lang="zh-CN" altLang="en-US" sz="2400" dirty="0" smtClean="0">
                <a:solidFill>
                  <a:schemeClr val="tx1"/>
                </a:solidFill>
                <a:latin typeface="+mn-ea"/>
              </a:rPr>
              <a:t>、强硬</a:t>
            </a:r>
            <a:r>
              <a:rPr lang="zh-CN" altLang="en-US" sz="2400" dirty="0">
                <a:solidFill>
                  <a:schemeClr val="tx1"/>
                </a:solidFill>
                <a:latin typeface="+mn-ea"/>
              </a:rPr>
              <a:t>的项目经理，在几乎一切的传统管理手段都缺位的情况下，软件行业的一个划时代的伟大产品却诞生了</a:t>
            </a:r>
            <a:r>
              <a:rPr lang="zh-CN" altLang="en-US" sz="2400" dirty="0" smtClean="0">
                <a:solidFill>
                  <a:schemeClr val="tx1"/>
                </a:solidFill>
                <a:latin typeface="+mn-ea"/>
              </a:rPr>
              <a:t>！这</a:t>
            </a:r>
            <a:r>
              <a:rPr lang="zh-CN" altLang="en-US" sz="2400" dirty="0">
                <a:solidFill>
                  <a:schemeClr val="tx1"/>
                </a:solidFill>
                <a:latin typeface="+mn-ea"/>
              </a:rPr>
              <a:t>是前所未有的事情。</a:t>
            </a:r>
          </a:p>
        </p:txBody>
      </p:sp>
      <p:sp>
        <p:nvSpPr>
          <p:cNvPr id="3" name="椭圆 2"/>
          <p:cNvSpPr/>
          <p:nvPr/>
        </p:nvSpPr>
        <p:spPr>
          <a:xfrm>
            <a:off x="6710767" y="2318999"/>
            <a:ext cx="2231756" cy="48619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2800" b="1" dirty="0" smtClean="0"/>
              <a:t>Linux</a:t>
            </a:r>
            <a:endParaRPr lang="zh-CN" altLang="en-US" sz="2800" b="1" dirty="0"/>
          </a:p>
        </p:txBody>
      </p:sp>
      <p:pic>
        <p:nvPicPr>
          <p:cNvPr id="6146" name="Picture 2" descr="640?wx_fmt=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1846" y="4403679"/>
            <a:ext cx="4291954" cy="2145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2815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2" end="2"/>
                                            </p:txEl>
                                          </p:spTgt>
                                        </p:tgtEl>
                                        <p:attrNameLst>
                                          <p:attrName>style.visibility</p:attrName>
                                        </p:attrNameLst>
                                      </p:cBhvr>
                                      <p:to>
                                        <p:strVal val="visible"/>
                                      </p:to>
                                    </p:set>
                                    <p:animEffect transition="in" filter="fade">
                                      <p:cBhvr>
                                        <p:cTn id="12" dur="500"/>
                                        <p:tgtEl>
                                          <p:spTgt spid="20">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146"/>
                                        </p:tgtEl>
                                        <p:attrNameLst>
                                          <p:attrName>style.visibility</p:attrName>
                                        </p:attrNameLst>
                                      </p:cBhvr>
                                      <p:to>
                                        <p:strVal val="visible"/>
                                      </p:to>
                                    </p:set>
                                    <p:animEffect transition="in" filter="fade">
                                      <p:cBhvr>
                                        <p:cTn id="15"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四</a:t>
            </a:r>
            <a:r>
              <a:rPr lang="en-US" altLang="zh-CN" sz="4000" b="1" dirty="0" smtClean="0"/>
              <a:t>. </a:t>
            </a:r>
            <a:r>
              <a:rPr lang="zh-CN" altLang="en-US" sz="4000" b="1" dirty="0" smtClean="0"/>
              <a:t>敏捷落地中国难？</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sz="2400" dirty="0">
                <a:solidFill>
                  <a:schemeClr val="tx1"/>
                </a:solidFill>
                <a:latin typeface="+mn-ea"/>
              </a:rPr>
              <a:t>无论是传统开发模式，还是敏捷开发模式</a:t>
            </a:r>
            <a:r>
              <a:rPr lang="zh-CN" altLang="en-US" sz="2400" dirty="0" smtClean="0">
                <a:solidFill>
                  <a:schemeClr val="tx1"/>
                </a:solidFill>
                <a:latin typeface="+mn-ea"/>
              </a:rPr>
              <a:t>，</a:t>
            </a:r>
            <a:endParaRPr lang="en-US" altLang="zh-CN" sz="2400" dirty="0" smtClean="0">
              <a:solidFill>
                <a:schemeClr val="tx1"/>
              </a:solidFill>
              <a:latin typeface="+mn-ea"/>
            </a:endParaRPr>
          </a:p>
          <a:p>
            <a:pPr lvl="1">
              <a:lnSpc>
                <a:spcPct val="100000"/>
              </a:lnSpc>
              <a:spcBef>
                <a:spcPts val="600"/>
              </a:spcBef>
            </a:pPr>
            <a:r>
              <a:rPr lang="zh-CN" altLang="en-US" dirty="0" smtClean="0">
                <a:solidFill>
                  <a:schemeClr val="tx1"/>
                </a:solidFill>
                <a:latin typeface="+mn-ea"/>
              </a:rPr>
              <a:t>其</a:t>
            </a:r>
            <a:r>
              <a:rPr lang="zh-CN" altLang="en-US" dirty="0">
                <a:solidFill>
                  <a:schemeClr val="tx1"/>
                </a:solidFill>
                <a:latin typeface="+mn-ea"/>
              </a:rPr>
              <a:t>目的是相同的</a:t>
            </a:r>
            <a:r>
              <a:rPr lang="zh-CN" altLang="en-US" dirty="0" smtClean="0">
                <a:solidFill>
                  <a:schemeClr val="tx1"/>
                </a:solidFill>
                <a:latin typeface="+mn-ea"/>
              </a:rPr>
              <a:t>：都是</a:t>
            </a:r>
            <a:r>
              <a:rPr lang="zh-CN" altLang="en-US" dirty="0">
                <a:solidFill>
                  <a:schemeClr val="tx1"/>
                </a:solidFill>
                <a:latin typeface="+mn-ea"/>
              </a:rPr>
              <a:t>为了开发出好的产品和</a:t>
            </a:r>
            <a:r>
              <a:rPr lang="zh-CN" altLang="en-US" dirty="0" smtClean="0">
                <a:solidFill>
                  <a:schemeClr val="tx1"/>
                </a:solidFill>
                <a:latin typeface="+mn-ea"/>
              </a:rPr>
              <a:t>服务</a:t>
            </a:r>
            <a:r>
              <a:rPr lang="en-US" altLang="zh-CN" dirty="0" smtClean="0">
                <a:solidFill>
                  <a:schemeClr val="tx1"/>
                </a:solidFill>
                <a:latin typeface="+mn-ea"/>
              </a:rPr>
              <a:t>;</a:t>
            </a:r>
          </a:p>
          <a:p>
            <a:pPr lvl="1">
              <a:lnSpc>
                <a:spcPct val="100000"/>
              </a:lnSpc>
              <a:spcBef>
                <a:spcPts val="600"/>
              </a:spcBef>
            </a:pPr>
            <a:r>
              <a:rPr lang="zh-CN" altLang="en-US" dirty="0" smtClean="0">
                <a:solidFill>
                  <a:schemeClr val="tx1"/>
                </a:solidFill>
                <a:latin typeface="+mn-ea"/>
              </a:rPr>
              <a:t>但</a:t>
            </a:r>
            <a:r>
              <a:rPr lang="zh-CN" altLang="en-US" dirty="0">
                <a:solidFill>
                  <a:schemeClr val="tx1"/>
                </a:solidFill>
                <a:latin typeface="+mn-ea"/>
              </a:rPr>
              <a:t>手段其实大不同：一个是用尽量控制的手段，而另一个是用尽量不控制的手段</a:t>
            </a:r>
            <a:r>
              <a:rPr lang="zh-CN" altLang="en-US" dirty="0" smtClean="0">
                <a:solidFill>
                  <a:schemeClr val="tx1"/>
                </a:solidFill>
                <a:latin typeface="+mn-ea"/>
              </a:rPr>
              <a:t>。</a:t>
            </a:r>
            <a:endParaRPr lang="en-US" altLang="zh-CN" dirty="0" smtClean="0">
              <a:solidFill>
                <a:schemeClr val="tx1"/>
              </a:solidFill>
              <a:latin typeface="+mn-ea"/>
            </a:endParaRPr>
          </a:p>
          <a:p>
            <a:pPr>
              <a:lnSpc>
                <a:spcPct val="100000"/>
              </a:lnSpc>
              <a:spcBef>
                <a:spcPts val="600"/>
              </a:spcBef>
            </a:pPr>
            <a:endParaRPr lang="en-US" altLang="zh-CN" dirty="0" smtClean="0">
              <a:solidFill>
                <a:schemeClr val="tx1"/>
              </a:solidFill>
              <a:latin typeface="+mn-ea"/>
            </a:endParaRPr>
          </a:p>
          <a:p>
            <a:pPr>
              <a:lnSpc>
                <a:spcPct val="100000"/>
              </a:lnSpc>
              <a:spcBef>
                <a:spcPts val="600"/>
              </a:spcBef>
            </a:pPr>
            <a:r>
              <a:rPr lang="en-US" altLang="zh-CN" dirty="0">
                <a:solidFill>
                  <a:schemeClr val="tx1"/>
                </a:solidFill>
                <a:latin typeface="+mn-ea"/>
              </a:rPr>
              <a:t> </a:t>
            </a:r>
            <a:r>
              <a:rPr lang="en-US" altLang="zh-CN" dirty="0" smtClean="0">
                <a:solidFill>
                  <a:schemeClr val="tx1"/>
                </a:solidFill>
                <a:latin typeface="+mn-ea"/>
              </a:rPr>
              <a:t>                                      </a:t>
            </a:r>
            <a:r>
              <a:rPr lang="zh-CN" altLang="en-US" sz="3200" dirty="0" smtClean="0">
                <a:solidFill>
                  <a:srgbClr val="C00000"/>
                </a:solidFill>
                <a:latin typeface="+mn-ea"/>
              </a:rPr>
              <a:t>孰优孰劣？</a:t>
            </a:r>
            <a:endParaRPr lang="en-US" altLang="zh-CN" dirty="0" smtClean="0">
              <a:solidFill>
                <a:srgbClr val="C00000"/>
              </a:solidFill>
              <a:latin typeface="+mn-ea"/>
            </a:endParaRPr>
          </a:p>
          <a:p>
            <a:pPr>
              <a:lnSpc>
                <a:spcPct val="100000"/>
              </a:lnSpc>
              <a:spcBef>
                <a:spcPts val="600"/>
              </a:spcBef>
            </a:pPr>
            <a:endParaRPr lang="en-US" altLang="zh-CN" sz="2400" dirty="0">
              <a:solidFill>
                <a:schemeClr val="tx1"/>
              </a:solidFill>
              <a:latin typeface="+mn-ea"/>
            </a:endParaRPr>
          </a:p>
        </p:txBody>
      </p:sp>
    </p:spTree>
    <p:extLst>
      <p:ext uri="{BB962C8B-B14F-4D97-AF65-F5344CB8AC3E}">
        <p14:creationId xmlns:p14="http://schemas.microsoft.com/office/powerpoint/2010/main" val="42444300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4" end="4"/>
                                            </p:txEl>
                                          </p:spTgt>
                                        </p:tgtEl>
                                        <p:attrNameLst>
                                          <p:attrName>style.visibility</p:attrName>
                                        </p:attrNameLst>
                                      </p:cBhvr>
                                      <p:to>
                                        <p:strVal val="visible"/>
                                      </p:to>
                                    </p:set>
                                    <p:animEffect transition="in" filter="fade">
                                      <p:cBhvr>
                                        <p:cTn id="7"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四</a:t>
            </a:r>
            <a:r>
              <a:rPr lang="en-US" altLang="zh-CN" sz="4000" b="1" dirty="0" smtClean="0"/>
              <a:t>. </a:t>
            </a:r>
            <a:r>
              <a:rPr lang="zh-CN" altLang="en-US" sz="4000" b="1" dirty="0" smtClean="0"/>
              <a:t>敏捷落地中国难？</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en-US" altLang="zh-CN" sz="2600" dirty="0"/>
              <a:t>Scrum</a:t>
            </a:r>
            <a:r>
              <a:rPr lang="zh-CN" altLang="en-US" sz="2600" dirty="0"/>
              <a:t>敏捷管理的</a:t>
            </a:r>
            <a:r>
              <a:rPr lang="zh-CN" altLang="en-US" sz="2600" dirty="0" smtClean="0"/>
              <a:t>创始人：</a:t>
            </a:r>
            <a:r>
              <a:rPr lang="en-US" altLang="zh-CN" sz="2600" dirty="0"/>
              <a:t> Jeff Sutherland </a:t>
            </a:r>
            <a:r>
              <a:rPr lang="en-US" altLang="zh-CN" sz="2600" dirty="0" smtClean="0"/>
              <a:t>——</a:t>
            </a:r>
            <a:r>
              <a:rPr lang="zh-CN" altLang="en-US" sz="2600" dirty="0" smtClean="0"/>
              <a:t>曾是职业军人，毕业于西点军校，侦察机部队指挥官，参加过越战。</a:t>
            </a:r>
            <a:r>
              <a:rPr lang="en-US" altLang="zh-CN" sz="2600" dirty="0" smtClean="0"/>
              <a:t>11</a:t>
            </a:r>
            <a:r>
              <a:rPr lang="zh-CN" altLang="en-US" sz="2600" dirty="0" smtClean="0"/>
              <a:t>年军事生涯结束后，攻读博士，进入</a:t>
            </a:r>
            <a:r>
              <a:rPr lang="en-US" altLang="zh-CN" sz="2600" dirty="0" smtClean="0"/>
              <a:t>IT</a:t>
            </a:r>
            <a:r>
              <a:rPr lang="zh-CN" altLang="en-US" sz="2600" dirty="0" smtClean="0"/>
              <a:t>界。</a:t>
            </a:r>
            <a:endParaRPr lang="en-US" altLang="zh-CN" sz="2600" dirty="0" smtClean="0"/>
          </a:p>
          <a:p>
            <a:pPr>
              <a:lnSpc>
                <a:spcPct val="100000"/>
              </a:lnSpc>
              <a:spcBef>
                <a:spcPts val="600"/>
              </a:spcBef>
            </a:pPr>
            <a:r>
              <a:rPr lang="zh-CN" altLang="en-US" sz="2600" dirty="0"/>
              <a:t>在他</a:t>
            </a:r>
            <a:r>
              <a:rPr lang="en-US" altLang="zh-CN" sz="2600" dirty="0"/>
              <a:t>Scrum</a:t>
            </a:r>
            <a:r>
              <a:rPr lang="zh-CN" altLang="en-US" sz="2600" dirty="0"/>
              <a:t>方法体系中也能看出在世界顶尖空军部队服役的经历对他的</a:t>
            </a:r>
            <a:r>
              <a:rPr lang="zh-CN" altLang="en-US" sz="2600" dirty="0" smtClean="0"/>
              <a:t>影响。</a:t>
            </a:r>
            <a:r>
              <a:rPr lang="en-US" altLang="zh-CN" sz="2000" dirty="0">
                <a:solidFill>
                  <a:schemeClr val="tx1">
                    <a:lumMod val="65000"/>
                    <a:lumOff val="35000"/>
                  </a:schemeClr>
                </a:solidFill>
              </a:rPr>
              <a:t>【</a:t>
            </a:r>
            <a:r>
              <a:rPr lang="zh-CN" altLang="en-US" sz="2000" dirty="0" smtClean="0">
                <a:solidFill>
                  <a:schemeClr val="tx1">
                    <a:lumMod val="65000"/>
                    <a:lumOff val="35000"/>
                  </a:schemeClr>
                </a:solidFill>
              </a:rPr>
              <a:t>残酷</a:t>
            </a:r>
            <a:r>
              <a:rPr lang="zh-CN" altLang="en-US" sz="2000" dirty="0">
                <a:solidFill>
                  <a:schemeClr val="tx1">
                    <a:lumMod val="65000"/>
                    <a:lumOff val="35000"/>
                  </a:schemeClr>
                </a:solidFill>
              </a:rPr>
              <a:t>的战争使人们面临生死存亡的竞争，在这种压力下，人们会最大限度地摒弃一切多余的条条框框、改进组织制度，以提高自己的作战效能和存活的</a:t>
            </a:r>
            <a:r>
              <a:rPr lang="zh-CN" altLang="en-US" sz="2000" dirty="0" smtClean="0">
                <a:solidFill>
                  <a:schemeClr val="tx1">
                    <a:lumMod val="65000"/>
                    <a:lumOff val="35000"/>
                  </a:schemeClr>
                </a:solidFill>
              </a:rPr>
              <a:t>几率</a:t>
            </a:r>
            <a:r>
              <a:rPr lang="en-US" altLang="zh-CN" sz="2000" dirty="0" smtClean="0">
                <a:solidFill>
                  <a:schemeClr val="tx1">
                    <a:lumMod val="65000"/>
                    <a:lumOff val="35000"/>
                  </a:schemeClr>
                </a:solidFill>
              </a:rPr>
              <a:t>】</a:t>
            </a:r>
          </a:p>
          <a:p>
            <a:pPr>
              <a:lnSpc>
                <a:spcPct val="100000"/>
              </a:lnSpc>
              <a:spcBef>
                <a:spcPts val="600"/>
              </a:spcBef>
            </a:pPr>
            <a:endParaRPr lang="en-US" altLang="zh-CN" dirty="0" smtClean="0">
              <a:solidFill>
                <a:schemeClr val="tx1"/>
              </a:solidFill>
              <a:latin typeface="+mn-ea"/>
            </a:endParaRPr>
          </a:p>
          <a:p>
            <a:pPr>
              <a:lnSpc>
                <a:spcPct val="100000"/>
              </a:lnSpc>
              <a:spcBef>
                <a:spcPts val="600"/>
              </a:spcBef>
            </a:pPr>
            <a:endParaRPr lang="en-US" altLang="zh-CN" dirty="0" smtClean="0">
              <a:solidFill>
                <a:srgbClr val="C00000"/>
              </a:solidFill>
              <a:latin typeface="+mn-ea"/>
            </a:endParaRPr>
          </a:p>
          <a:p>
            <a:pPr>
              <a:lnSpc>
                <a:spcPct val="100000"/>
              </a:lnSpc>
              <a:spcBef>
                <a:spcPts val="600"/>
              </a:spcBef>
            </a:pPr>
            <a:endParaRPr lang="en-US" altLang="zh-CN" sz="2400" dirty="0">
              <a:solidFill>
                <a:schemeClr val="tx1"/>
              </a:solidFill>
              <a:latin typeface="+mn-ea"/>
            </a:endParaRPr>
          </a:p>
        </p:txBody>
      </p:sp>
      <p:pic>
        <p:nvPicPr>
          <p:cNvPr id="8194" name="Picture 2" descr="640?wx_fmt=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6746" y="0"/>
            <a:ext cx="3495253" cy="190054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2231756" y="4642137"/>
            <a:ext cx="8299343" cy="1569660"/>
          </a:xfrm>
          <a:prstGeom prst="rect">
            <a:avLst/>
          </a:prstGeom>
        </p:spPr>
        <p:txBody>
          <a:bodyPr wrap="square">
            <a:spAutoFit/>
          </a:bodyPr>
          <a:lstStyle/>
          <a:p>
            <a:r>
              <a:rPr lang="zh-CN" altLang="en-US" sz="2400" dirty="0" smtClean="0">
                <a:solidFill>
                  <a:srgbClr val="C00000"/>
                </a:solidFill>
                <a:latin typeface="华文行楷" panose="02010800040101010101" pitchFamily="2" charset="-122"/>
                <a:ea typeface="华文行楷" panose="02010800040101010101" pitchFamily="2" charset="-122"/>
              </a:rPr>
              <a:t>        信息技术</a:t>
            </a:r>
            <a:r>
              <a:rPr lang="zh-CN" altLang="en-US" sz="2400" dirty="0">
                <a:solidFill>
                  <a:srgbClr val="C00000"/>
                </a:solidFill>
                <a:latin typeface="华文行楷" panose="02010800040101010101" pitchFamily="2" charset="-122"/>
                <a:ea typeface="华文行楷" panose="02010800040101010101" pitchFamily="2" charset="-122"/>
              </a:rPr>
              <a:t>实现了商品销售的扁平化、军事指挥的扁平化，它自然也会导致技术创新和产品研发的扁平化</a:t>
            </a:r>
            <a:r>
              <a:rPr lang="zh-CN" altLang="en-US" sz="2400" dirty="0" smtClean="0">
                <a:solidFill>
                  <a:srgbClr val="C00000"/>
                </a:solidFill>
                <a:latin typeface="华文行楷" panose="02010800040101010101" pitchFamily="2" charset="-122"/>
                <a:ea typeface="华文行楷" panose="02010800040101010101" pitchFamily="2" charset="-122"/>
              </a:rPr>
              <a:t>。</a:t>
            </a:r>
            <a:endParaRPr lang="en-US" altLang="zh-CN" sz="2400" dirty="0" smtClean="0">
              <a:solidFill>
                <a:srgbClr val="C00000"/>
              </a:solidFill>
              <a:latin typeface="华文行楷" panose="02010800040101010101" pitchFamily="2" charset="-122"/>
              <a:ea typeface="华文行楷" panose="02010800040101010101" pitchFamily="2" charset="-122"/>
            </a:endParaRPr>
          </a:p>
          <a:p>
            <a:r>
              <a:rPr lang="en-US" altLang="zh-CN" sz="2400" dirty="0">
                <a:solidFill>
                  <a:srgbClr val="C00000"/>
                </a:solidFill>
                <a:latin typeface="华文行楷" panose="02010800040101010101" pitchFamily="2" charset="-122"/>
                <a:ea typeface="华文行楷" panose="02010800040101010101" pitchFamily="2" charset="-122"/>
              </a:rPr>
              <a:t> </a:t>
            </a:r>
            <a:r>
              <a:rPr lang="en-US" altLang="zh-CN" sz="2400" dirty="0" smtClean="0">
                <a:solidFill>
                  <a:srgbClr val="C00000"/>
                </a:solidFill>
                <a:latin typeface="华文行楷" panose="02010800040101010101" pitchFamily="2" charset="-122"/>
                <a:ea typeface="华文行楷" panose="02010800040101010101" pitchFamily="2" charset="-122"/>
              </a:rPr>
              <a:t>       Scrum</a:t>
            </a:r>
            <a:r>
              <a:rPr lang="zh-CN" altLang="en-US" sz="2400" dirty="0">
                <a:solidFill>
                  <a:srgbClr val="C00000"/>
                </a:solidFill>
                <a:latin typeface="华文行楷" panose="02010800040101010101" pitchFamily="2" charset="-122"/>
                <a:ea typeface="华文行楷" panose="02010800040101010101" pitchFamily="2" charset="-122"/>
              </a:rPr>
              <a:t>的本质就是通过各种</a:t>
            </a:r>
            <a:r>
              <a:rPr lang="en-US" altLang="zh-CN" sz="2400" dirty="0">
                <a:solidFill>
                  <a:srgbClr val="C00000"/>
                </a:solidFill>
                <a:latin typeface="华文行楷" panose="02010800040101010101" pitchFamily="2" charset="-122"/>
                <a:ea typeface="华文行楷" panose="02010800040101010101" pitchFamily="2" charset="-122"/>
              </a:rPr>
              <a:t>Scrum</a:t>
            </a:r>
            <a:r>
              <a:rPr lang="zh-CN" altLang="en-US" sz="2400" dirty="0">
                <a:solidFill>
                  <a:srgbClr val="C00000"/>
                </a:solidFill>
                <a:latin typeface="华文行楷" panose="02010800040101010101" pitchFamily="2" charset="-122"/>
                <a:ea typeface="华文行楷" panose="02010800040101010101" pitchFamily="2" charset="-122"/>
              </a:rPr>
              <a:t>工具实现产品开发的</a:t>
            </a:r>
            <a:r>
              <a:rPr lang="zh-CN" altLang="en-US" sz="2400" u="sng" dirty="0">
                <a:solidFill>
                  <a:srgbClr val="C00000"/>
                </a:solidFill>
                <a:latin typeface="华文行楷" panose="02010800040101010101" pitchFamily="2" charset="-122"/>
                <a:ea typeface="华文行楷" panose="02010800040101010101" pitchFamily="2" charset="-122"/>
              </a:rPr>
              <a:t>扁平化管理，以最大限度的激发工程师的主动性和创造力</a:t>
            </a:r>
            <a:r>
              <a:rPr lang="zh-CN" altLang="en-US" sz="2400" dirty="0">
                <a:solidFill>
                  <a:srgbClr val="C00000"/>
                </a:solidFill>
                <a:latin typeface="华文行楷" panose="02010800040101010101" pitchFamily="2" charset="-122"/>
                <a:ea typeface="华文行楷" panose="02010800040101010101" pitchFamily="2" charset="-122"/>
              </a:rPr>
              <a:t>。</a:t>
            </a:r>
          </a:p>
        </p:txBody>
      </p:sp>
    </p:spTree>
    <p:extLst>
      <p:ext uri="{BB962C8B-B14F-4D97-AF65-F5344CB8AC3E}">
        <p14:creationId xmlns:p14="http://schemas.microsoft.com/office/powerpoint/2010/main" val="4277405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四</a:t>
            </a:r>
            <a:r>
              <a:rPr lang="en-US" altLang="zh-CN" sz="4000" b="1" dirty="0" smtClean="0"/>
              <a:t>. </a:t>
            </a:r>
            <a:r>
              <a:rPr lang="zh-CN" altLang="en-US" sz="4000" b="1" dirty="0" smtClean="0"/>
              <a:t>敏捷落地中国难？</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sz="3200" dirty="0">
                <a:solidFill>
                  <a:srgbClr val="C00000"/>
                </a:solidFill>
                <a:latin typeface="+mn-ea"/>
              </a:rPr>
              <a:t>扁平化</a:t>
            </a:r>
            <a:r>
              <a:rPr lang="zh-CN" altLang="en-US" sz="2600" dirty="0">
                <a:solidFill>
                  <a:schemeClr val="tx1"/>
                </a:solidFill>
                <a:latin typeface="+mn-ea"/>
              </a:rPr>
              <a:t>并不容易实现，过程中会遇到各种各样的阻碍。有的阻碍来自组织能力，有的来自过去的成功经验，有的甚至来自文化习惯</a:t>
            </a:r>
            <a:r>
              <a:rPr lang="zh-CN" altLang="en-US" sz="2600" dirty="0" smtClean="0">
                <a:solidFill>
                  <a:schemeClr val="tx1"/>
                </a:solidFill>
                <a:latin typeface="+mn-ea"/>
              </a:rPr>
              <a:t>。</a:t>
            </a:r>
            <a:endParaRPr lang="en-US" altLang="zh-CN" sz="2600" dirty="0" smtClean="0">
              <a:solidFill>
                <a:schemeClr val="tx1"/>
              </a:solidFill>
              <a:latin typeface="+mn-ea"/>
            </a:endParaRPr>
          </a:p>
          <a:p>
            <a:pPr lvl="1">
              <a:lnSpc>
                <a:spcPct val="100000"/>
              </a:lnSpc>
              <a:spcBef>
                <a:spcPts val="600"/>
              </a:spcBef>
            </a:pPr>
            <a:r>
              <a:rPr lang="en-US" altLang="zh-CN" sz="2200" dirty="0" err="1" smtClean="0">
                <a:solidFill>
                  <a:schemeClr val="tx1"/>
                </a:solidFill>
                <a:latin typeface="+mn-ea"/>
              </a:rPr>
              <a:t>Eg</a:t>
            </a:r>
            <a:r>
              <a:rPr lang="en-US" altLang="zh-CN" sz="2200" dirty="0" smtClean="0">
                <a:solidFill>
                  <a:schemeClr val="tx1"/>
                </a:solidFill>
                <a:latin typeface="+mn-ea"/>
              </a:rPr>
              <a:t>. </a:t>
            </a:r>
            <a:r>
              <a:rPr lang="zh-CN" altLang="en-US" sz="2200" dirty="0" smtClean="0">
                <a:solidFill>
                  <a:schemeClr val="tx1"/>
                </a:solidFill>
                <a:latin typeface="+mn-ea"/>
              </a:rPr>
              <a:t>老外</a:t>
            </a:r>
            <a:r>
              <a:rPr lang="zh-CN" altLang="en-US" sz="2200" dirty="0">
                <a:solidFill>
                  <a:schemeClr val="tx1"/>
                </a:solidFill>
                <a:latin typeface="+mn-ea"/>
              </a:rPr>
              <a:t>说不明白中国工程师为什么特别喜欢做管理岗位，技术职位做一阵子总想跳到管理岗位上</a:t>
            </a:r>
            <a:r>
              <a:rPr lang="zh-CN" altLang="en-US" sz="2200" dirty="0" smtClean="0">
                <a:solidFill>
                  <a:schemeClr val="tx1"/>
                </a:solidFill>
                <a:latin typeface="+mn-ea"/>
              </a:rPr>
              <a:t>。</a:t>
            </a:r>
            <a:endParaRPr lang="en-US" altLang="zh-CN" sz="2200" dirty="0" smtClean="0">
              <a:solidFill>
                <a:schemeClr val="tx1"/>
              </a:solidFill>
              <a:latin typeface="+mn-ea"/>
            </a:endParaRPr>
          </a:p>
          <a:p>
            <a:pPr lvl="1">
              <a:lnSpc>
                <a:spcPct val="100000"/>
              </a:lnSpc>
              <a:spcBef>
                <a:spcPts val="600"/>
              </a:spcBef>
            </a:pPr>
            <a:r>
              <a:rPr lang="zh-CN" altLang="en-US" sz="2200" dirty="0">
                <a:solidFill>
                  <a:schemeClr val="tx1"/>
                </a:solidFill>
                <a:latin typeface="+mn-ea"/>
              </a:rPr>
              <a:t>很多</a:t>
            </a:r>
            <a:r>
              <a:rPr lang="zh-CN" altLang="en-US" sz="2200" dirty="0" smtClean="0">
                <a:solidFill>
                  <a:schemeClr val="tx1"/>
                </a:solidFill>
                <a:latin typeface="+mn-ea"/>
              </a:rPr>
              <a:t>中国</a:t>
            </a:r>
            <a:r>
              <a:rPr lang="zh-CN" altLang="en-US" sz="2200" dirty="0">
                <a:solidFill>
                  <a:schemeClr val="tx1"/>
                </a:solidFill>
                <a:latin typeface="+mn-ea"/>
              </a:rPr>
              <a:t>工程师自然也</a:t>
            </a:r>
            <a:r>
              <a:rPr lang="zh-CN" altLang="en-US" sz="2200" dirty="0" smtClean="0">
                <a:solidFill>
                  <a:schemeClr val="tx1"/>
                </a:solidFill>
                <a:latin typeface="+mn-ea"/>
              </a:rPr>
              <a:t>难以理解</a:t>
            </a:r>
            <a:r>
              <a:rPr lang="zh-CN" altLang="en-US" sz="2200" dirty="0">
                <a:solidFill>
                  <a:schemeClr val="tx1"/>
                </a:solidFill>
                <a:latin typeface="+mn-ea"/>
              </a:rPr>
              <a:t>和接受工程师文化的价值观和方法论</a:t>
            </a:r>
            <a:r>
              <a:rPr lang="zh-CN" altLang="en-US" sz="2200" dirty="0" smtClean="0">
                <a:solidFill>
                  <a:schemeClr val="tx1"/>
                </a:solidFill>
                <a:latin typeface="+mn-ea"/>
              </a:rPr>
              <a:t>。</a:t>
            </a:r>
            <a:endParaRPr lang="en-US" altLang="zh-CN" sz="2200" dirty="0">
              <a:solidFill>
                <a:schemeClr val="tx1"/>
              </a:solidFill>
              <a:latin typeface="+mn-ea"/>
            </a:endParaRPr>
          </a:p>
          <a:p>
            <a:pPr>
              <a:lnSpc>
                <a:spcPct val="100000"/>
              </a:lnSpc>
              <a:spcBef>
                <a:spcPts val="600"/>
              </a:spcBef>
            </a:pPr>
            <a:r>
              <a:rPr lang="zh-CN" altLang="en-US" sz="3200" dirty="0">
                <a:solidFill>
                  <a:srgbClr val="C00000"/>
                </a:solidFill>
                <a:latin typeface="+mn-ea"/>
              </a:rPr>
              <a:t>工程师</a:t>
            </a:r>
            <a:r>
              <a:rPr lang="zh-CN" altLang="en-US" sz="3200" dirty="0" smtClean="0">
                <a:solidFill>
                  <a:srgbClr val="C00000"/>
                </a:solidFill>
                <a:latin typeface="+mn-ea"/>
              </a:rPr>
              <a:t>文化</a:t>
            </a:r>
            <a:r>
              <a:rPr lang="zh-CN" altLang="en-US" sz="2600" dirty="0" smtClean="0">
                <a:solidFill>
                  <a:schemeClr val="tx1"/>
                </a:solidFill>
                <a:latin typeface="+mn-ea"/>
              </a:rPr>
              <a:t>似乎</a:t>
            </a:r>
            <a:r>
              <a:rPr lang="zh-CN" altLang="en-US" sz="2600" dirty="0">
                <a:solidFill>
                  <a:schemeClr val="tx1"/>
                </a:solidFill>
                <a:latin typeface="+mn-ea"/>
              </a:rPr>
              <a:t>更能</a:t>
            </a:r>
            <a:r>
              <a:rPr lang="zh-CN" altLang="en-US" sz="2600" dirty="0" smtClean="0">
                <a:solidFill>
                  <a:schemeClr val="tx1"/>
                </a:solidFill>
                <a:latin typeface="+mn-ea"/>
              </a:rPr>
              <a:t>与</a:t>
            </a:r>
            <a:r>
              <a:rPr lang="zh-CN" altLang="en-US" sz="2600" dirty="0">
                <a:solidFill>
                  <a:schemeClr val="tx1"/>
                </a:solidFill>
                <a:latin typeface="+mn-ea"/>
              </a:rPr>
              <a:t>扁平化的管理</a:t>
            </a:r>
            <a:r>
              <a:rPr lang="zh-CN" altLang="en-US" sz="2600" dirty="0" smtClean="0">
                <a:solidFill>
                  <a:schemeClr val="tx1"/>
                </a:solidFill>
                <a:latin typeface="+mn-ea"/>
              </a:rPr>
              <a:t>相</a:t>
            </a:r>
            <a:r>
              <a:rPr lang="zh-CN" altLang="en-US" sz="2600" dirty="0">
                <a:solidFill>
                  <a:schemeClr val="tx1"/>
                </a:solidFill>
                <a:latin typeface="+mn-ea"/>
              </a:rPr>
              <a:t>匹配。相对中国工程师，那些从小就热衷于自己动手进行工具和产品的持续改进创新的西方工程师显然更能适应敏捷。</a:t>
            </a:r>
            <a:endParaRPr lang="en-US" altLang="zh-CN" sz="2600" dirty="0" smtClean="0">
              <a:solidFill>
                <a:schemeClr val="tx1"/>
              </a:solidFill>
              <a:latin typeface="+mn-ea"/>
            </a:endParaRPr>
          </a:p>
          <a:p>
            <a:pPr>
              <a:lnSpc>
                <a:spcPct val="100000"/>
              </a:lnSpc>
              <a:spcBef>
                <a:spcPts val="600"/>
              </a:spcBef>
            </a:pPr>
            <a:endParaRPr lang="en-US" altLang="zh-CN" dirty="0" smtClean="0">
              <a:solidFill>
                <a:srgbClr val="C00000"/>
              </a:solidFill>
              <a:latin typeface="+mn-ea"/>
            </a:endParaRPr>
          </a:p>
          <a:p>
            <a:pPr>
              <a:lnSpc>
                <a:spcPct val="100000"/>
              </a:lnSpc>
              <a:spcBef>
                <a:spcPts val="600"/>
              </a:spcBef>
            </a:pPr>
            <a:endParaRPr lang="en-US" altLang="zh-CN" sz="2400" dirty="0">
              <a:solidFill>
                <a:schemeClr val="tx1"/>
              </a:solidFill>
              <a:latin typeface="+mn-ea"/>
            </a:endParaRPr>
          </a:p>
        </p:txBody>
      </p:sp>
    </p:spTree>
    <p:extLst>
      <p:ext uri="{BB962C8B-B14F-4D97-AF65-F5344CB8AC3E}">
        <p14:creationId xmlns:p14="http://schemas.microsoft.com/office/powerpoint/2010/main" val="28556049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3" end="3"/>
                                            </p:txEl>
                                          </p:spTgt>
                                        </p:tgtEl>
                                        <p:attrNameLst>
                                          <p:attrName>style.visibility</p:attrName>
                                        </p:attrNameLst>
                                      </p:cBhvr>
                                      <p:to>
                                        <p:strVal val="visible"/>
                                      </p:to>
                                    </p:set>
                                    <p:animEffect transition="in" filter="fade">
                                      <p:cBhvr>
                                        <p:cTn id="7" dur="500"/>
                                        <p:tgtEl>
                                          <p:spTgt spid="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四</a:t>
            </a:r>
            <a:r>
              <a:rPr lang="en-US" altLang="zh-CN" sz="4000" b="1" dirty="0" smtClean="0"/>
              <a:t>. </a:t>
            </a:r>
            <a:r>
              <a:rPr lang="zh-CN" altLang="en-US" sz="4000" b="1" dirty="0" smtClean="0"/>
              <a:t>敏捷落地中国难？</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sz="2600" dirty="0">
                <a:solidFill>
                  <a:schemeClr val="tx1"/>
                </a:solidFill>
                <a:latin typeface="+mn-ea"/>
              </a:rPr>
              <a:t>扁平化的组织更能对事对结果负责、对总体目标负责</a:t>
            </a:r>
            <a:r>
              <a:rPr lang="zh-CN" altLang="en-US" sz="2600" dirty="0" smtClean="0">
                <a:solidFill>
                  <a:schemeClr val="tx1"/>
                </a:solidFill>
                <a:latin typeface="+mn-ea"/>
              </a:rPr>
              <a:t>。</a:t>
            </a:r>
            <a:endParaRPr lang="en-US" altLang="zh-CN" sz="2600" dirty="0" smtClean="0">
              <a:solidFill>
                <a:schemeClr val="tx1"/>
              </a:solidFill>
              <a:latin typeface="+mn-ea"/>
            </a:endParaRPr>
          </a:p>
          <a:p>
            <a:pPr>
              <a:lnSpc>
                <a:spcPct val="100000"/>
              </a:lnSpc>
              <a:spcBef>
                <a:spcPts val="600"/>
              </a:spcBef>
            </a:pPr>
            <a:r>
              <a:rPr lang="zh-CN" altLang="en-US" sz="2600" dirty="0" smtClean="0">
                <a:solidFill>
                  <a:schemeClr val="tx1"/>
                </a:solidFill>
                <a:latin typeface="+mn-ea"/>
              </a:rPr>
              <a:t>工程师</a:t>
            </a:r>
            <a:r>
              <a:rPr lang="zh-CN" altLang="en-US" sz="2600" dirty="0">
                <a:solidFill>
                  <a:schemeClr val="tx1"/>
                </a:solidFill>
                <a:latin typeface="+mn-ea"/>
              </a:rPr>
              <a:t>文化，使上层和底层有很大的共性，上层听得懂下层在说什么，下层也听得懂上层在说什么</a:t>
            </a:r>
            <a:r>
              <a:rPr lang="zh-CN" altLang="en-US" sz="2600" dirty="0" smtClean="0">
                <a:solidFill>
                  <a:schemeClr val="tx1"/>
                </a:solidFill>
                <a:latin typeface="+mn-ea"/>
              </a:rPr>
              <a:t>。</a:t>
            </a:r>
            <a:endParaRPr lang="en-US" altLang="zh-CN" sz="2600" dirty="0" smtClean="0">
              <a:solidFill>
                <a:schemeClr val="tx1"/>
              </a:solidFill>
              <a:latin typeface="+mn-ea"/>
            </a:endParaRPr>
          </a:p>
          <a:p>
            <a:pPr>
              <a:lnSpc>
                <a:spcPct val="100000"/>
              </a:lnSpc>
              <a:spcBef>
                <a:spcPts val="600"/>
              </a:spcBef>
            </a:pPr>
            <a:r>
              <a:rPr lang="zh-CN" altLang="en-US" sz="2600" dirty="0" smtClean="0">
                <a:solidFill>
                  <a:schemeClr val="tx1"/>
                </a:solidFill>
                <a:latin typeface="+mn-ea"/>
              </a:rPr>
              <a:t>扁平</a:t>
            </a:r>
            <a:r>
              <a:rPr lang="zh-CN" altLang="en-US" sz="2600" dirty="0">
                <a:solidFill>
                  <a:schemeClr val="tx1"/>
                </a:solidFill>
                <a:latin typeface="+mn-ea"/>
              </a:rPr>
              <a:t>的组织结构，使信息损失扭曲最小，上下层的信息都能互相听到</a:t>
            </a:r>
            <a:r>
              <a:rPr lang="zh-CN" altLang="en-US" sz="2600" dirty="0" smtClean="0">
                <a:solidFill>
                  <a:schemeClr val="tx1"/>
                </a:solidFill>
                <a:latin typeface="+mn-ea"/>
              </a:rPr>
              <a:t>。</a:t>
            </a:r>
            <a:endParaRPr lang="en-US" altLang="zh-CN" sz="2600" dirty="0" smtClean="0">
              <a:solidFill>
                <a:schemeClr val="tx1"/>
              </a:solidFill>
              <a:latin typeface="+mn-ea"/>
            </a:endParaRPr>
          </a:p>
          <a:p>
            <a:pPr>
              <a:lnSpc>
                <a:spcPct val="100000"/>
              </a:lnSpc>
              <a:spcBef>
                <a:spcPts val="600"/>
              </a:spcBef>
            </a:pPr>
            <a:endParaRPr lang="en-US" altLang="zh-CN" sz="2600" dirty="0" smtClean="0">
              <a:solidFill>
                <a:schemeClr val="tx1"/>
              </a:solidFill>
              <a:latin typeface="+mn-ea"/>
            </a:endParaRPr>
          </a:p>
          <a:p>
            <a:pPr>
              <a:lnSpc>
                <a:spcPct val="100000"/>
              </a:lnSpc>
              <a:spcBef>
                <a:spcPts val="600"/>
              </a:spcBef>
            </a:pPr>
            <a:r>
              <a:rPr lang="zh-CN" altLang="en-US" sz="2600" dirty="0" smtClean="0">
                <a:solidFill>
                  <a:schemeClr val="tx1"/>
                </a:solidFill>
                <a:latin typeface="+mn-ea"/>
              </a:rPr>
              <a:t>在</a:t>
            </a:r>
            <a:r>
              <a:rPr lang="zh-CN" altLang="en-US" sz="2600" dirty="0">
                <a:solidFill>
                  <a:schemeClr val="tx1"/>
                </a:solidFill>
                <a:latin typeface="+mn-ea"/>
              </a:rPr>
              <a:t>扁平化的敏捷组织中，由于信息的充分流动，有才华的工程师可以有更多的机会给产品直接带来价值，也更容易因为自我实现而被“激励”。其实优秀的工程师就在那里，他们需要的只是一个</a:t>
            </a:r>
            <a:r>
              <a:rPr lang="zh-CN" altLang="en-US" sz="2600" dirty="0">
                <a:solidFill>
                  <a:srgbClr val="C00000"/>
                </a:solidFill>
                <a:latin typeface="+mn-ea"/>
              </a:rPr>
              <a:t>没有信息围栏的舞台</a:t>
            </a:r>
            <a:r>
              <a:rPr lang="zh-CN" altLang="en-US" sz="2600" dirty="0">
                <a:solidFill>
                  <a:schemeClr val="tx1"/>
                </a:solidFill>
                <a:latin typeface="+mn-ea"/>
              </a:rPr>
              <a:t>！</a:t>
            </a:r>
            <a:endParaRPr lang="en-US" altLang="zh-CN" sz="2600" dirty="0">
              <a:solidFill>
                <a:schemeClr val="tx1"/>
              </a:solidFill>
              <a:latin typeface="+mn-ea"/>
            </a:endParaRPr>
          </a:p>
          <a:p>
            <a:pPr>
              <a:lnSpc>
                <a:spcPct val="100000"/>
              </a:lnSpc>
              <a:spcBef>
                <a:spcPts val="600"/>
              </a:spcBef>
            </a:pPr>
            <a:endParaRPr lang="en-US" altLang="zh-CN" dirty="0" smtClean="0">
              <a:solidFill>
                <a:srgbClr val="C00000"/>
              </a:solidFill>
              <a:latin typeface="+mn-ea"/>
            </a:endParaRPr>
          </a:p>
          <a:p>
            <a:pPr>
              <a:lnSpc>
                <a:spcPct val="100000"/>
              </a:lnSpc>
              <a:spcBef>
                <a:spcPts val="600"/>
              </a:spcBef>
            </a:pPr>
            <a:endParaRPr lang="en-US" altLang="zh-CN" sz="2400" dirty="0">
              <a:solidFill>
                <a:schemeClr val="tx1"/>
              </a:solidFill>
              <a:latin typeface="+mn-ea"/>
            </a:endParaRPr>
          </a:p>
        </p:txBody>
      </p:sp>
    </p:spTree>
    <p:extLst>
      <p:ext uri="{BB962C8B-B14F-4D97-AF65-F5344CB8AC3E}">
        <p14:creationId xmlns:p14="http://schemas.microsoft.com/office/powerpoint/2010/main" val="37340276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4" end="4"/>
                                            </p:txEl>
                                          </p:spTgt>
                                        </p:tgtEl>
                                        <p:attrNameLst>
                                          <p:attrName>style.visibility</p:attrName>
                                        </p:attrNameLst>
                                      </p:cBhvr>
                                      <p:to>
                                        <p:strVal val="visible"/>
                                      </p:to>
                                    </p:set>
                                    <p:animEffect transition="in" filter="fade">
                                      <p:cBhvr>
                                        <p:cTn id="7"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四</a:t>
            </a:r>
            <a:r>
              <a:rPr lang="en-US" altLang="zh-CN" sz="4000" b="1" dirty="0" smtClean="0"/>
              <a:t>. </a:t>
            </a:r>
            <a:r>
              <a:rPr lang="zh-CN" altLang="en-US" sz="4000" b="1" dirty="0" smtClean="0"/>
              <a:t>敏捷落地中国难？</a:t>
            </a:r>
            <a:endParaRPr lang="zh-CN" altLang="en-US" sz="4000" b="1" dirty="0"/>
          </a:p>
        </p:txBody>
      </p:sp>
      <p:grpSp>
        <p:nvGrpSpPr>
          <p:cNvPr id="9" name="组合 8"/>
          <p:cNvGrpSpPr/>
          <p:nvPr/>
        </p:nvGrpSpPr>
        <p:grpSpPr>
          <a:xfrm>
            <a:off x="838200" y="1027907"/>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a:endCxn id="2" idx="1"/>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
        <p:nvSpPr>
          <p:cNvPr id="20" name="内容占位符 2"/>
          <p:cNvSpPr>
            <a:spLocks noGrp="1"/>
          </p:cNvSpPr>
          <p:nvPr>
            <p:ph idx="1"/>
          </p:nvPr>
        </p:nvSpPr>
        <p:spPr>
          <a:xfrm>
            <a:off x="838200" y="1900544"/>
            <a:ext cx="10515600" cy="4649112"/>
          </a:xfrm>
        </p:spPr>
        <p:style>
          <a:lnRef idx="2">
            <a:schemeClr val="accent2"/>
          </a:lnRef>
          <a:fillRef idx="1">
            <a:schemeClr val="lt1"/>
          </a:fillRef>
          <a:effectRef idx="0">
            <a:schemeClr val="accent2"/>
          </a:effectRef>
          <a:fontRef idx="minor">
            <a:schemeClr val="dk1"/>
          </a:fontRef>
        </p:style>
        <p:txBody>
          <a:bodyPr>
            <a:normAutofit/>
          </a:bodyPr>
          <a:lstStyle/>
          <a:p>
            <a:pPr>
              <a:lnSpc>
                <a:spcPct val="100000"/>
              </a:lnSpc>
              <a:spcBef>
                <a:spcPts val="600"/>
              </a:spcBef>
            </a:pPr>
            <a:r>
              <a:rPr lang="zh-CN" altLang="en-US" sz="2600" dirty="0">
                <a:solidFill>
                  <a:schemeClr val="tx1"/>
                </a:solidFill>
                <a:latin typeface="+mn-ea"/>
              </a:rPr>
              <a:t>拥抱变化，就是要拥抱不确定性！</a:t>
            </a:r>
            <a:endParaRPr lang="en-US" altLang="zh-CN" sz="2600" dirty="0">
              <a:solidFill>
                <a:schemeClr val="tx1"/>
              </a:solidFill>
              <a:latin typeface="+mn-ea"/>
            </a:endParaRPr>
          </a:p>
          <a:p>
            <a:pPr lvl="1">
              <a:lnSpc>
                <a:spcPct val="100000"/>
              </a:lnSpc>
              <a:spcBef>
                <a:spcPts val="600"/>
              </a:spcBef>
            </a:pPr>
            <a:r>
              <a:rPr lang="zh-CN" altLang="en-US" dirty="0">
                <a:solidFill>
                  <a:schemeClr val="tx1"/>
                </a:solidFill>
                <a:latin typeface="+mn-ea"/>
              </a:rPr>
              <a:t>今天做游戏软件的公司，明天会去做手机；</a:t>
            </a:r>
            <a:endParaRPr lang="en-US" altLang="zh-CN" dirty="0">
              <a:solidFill>
                <a:schemeClr val="tx1"/>
              </a:solidFill>
              <a:latin typeface="+mn-ea"/>
            </a:endParaRPr>
          </a:p>
          <a:p>
            <a:pPr lvl="1">
              <a:lnSpc>
                <a:spcPct val="100000"/>
              </a:lnSpc>
              <a:spcBef>
                <a:spcPts val="600"/>
              </a:spcBef>
            </a:pPr>
            <a:r>
              <a:rPr lang="zh-CN" altLang="en-US" dirty="0">
                <a:solidFill>
                  <a:schemeClr val="tx1"/>
                </a:solidFill>
                <a:latin typeface="+mn-ea"/>
              </a:rPr>
              <a:t>今天做支付系统的公司，明天会去造汽车、甚至星际火箭。</a:t>
            </a:r>
            <a:endParaRPr lang="en-US" altLang="zh-CN" dirty="0">
              <a:solidFill>
                <a:schemeClr val="tx1"/>
              </a:solidFill>
              <a:latin typeface="+mn-ea"/>
            </a:endParaRPr>
          </a:p>
          <a:p>
            <a:pPr lvl="1">
              <a:lnSpc>
                <a:spcPct val="100000"/>
              </a:lnSpc>
              <a:spcBef>
                <a:spcPts val="600"/>
              </a:spcBef>
            </a:pPr>
            <a:r>
              <a:rPr lang="zh-CN" altLang="en-US" dirty="0">
                <a:solidFill>
                  <a:schemeClr val="tx1"/>
                </a:solidFill>
                <a:latin typeface="+mn-ea"/>
              </a:rPr>
              <a:t>信息围栏除了最终围住了自己的手脚和竞争力、其实什么也围不住</a:t>
            </a:r>
            <a:r>
              <a:rPr lang="zh-CN" altLang="en-US" dirty="0" smtClean="0">
                <a:solidFill>
                  <a:schemeClr val="tx1"/>
                </a:solidFill>
                <a:latin typeface="+mn-ea"/>
              </a:rPr>
              <a:t>。</a:t>
            </a:r>
            <a:endParaRPr lang="en-US" altLang="zh-CN" dirty="0" smtClean="0">
              <a:solidFill>
                <a:schemeClr val="tx1"/>
              </a:solidFill>
              <a:latin typeface="+mn-ea"/>
            </a:endParaRPr>
          </a:p>
          <a:p>
            <a:pPr>
              <a:lnSpc>
                <a:spcPct val="100000"/>
              </a:lnSpc>
              <a:spcBef>
                <a:spcPts val="600"/>
              </a:spcBef>
            </a:pPr>
            <a:endParaRPr lang="en-US" altLang="zh-CN" dirty="0">
              <a:solidFill>
                <a:schemeClr val="tx1"/>
              </a:solidFill>
              <a:latin typeface="+mn-ea"/>
            </a:endParaRPr>
          </a:p>
          <a:p>
            <a:pPr>
              <a:lnSpc>
                <a:spcPct val="100000"/>
              </a:lnSpc>
              <a:spcBef>
                <a:spcPts val="600"/>
              </a:spcBef>
            </a:pPr>
            <a:r>
              <a:rPr lang="zh-CN" altLang="en-US" dirty="0" smtClean="0"/>
              <a:t>没有</a:t>
            </a:r>
            <a:r>
              <a:rPr lang="zh-CN" altLang="en-US" dirty="0"/>
              <a:t>敏捷开发，也可能开发出好的产品。应用了敏捷开发，也未必能开发出好的产品</a:t>
            </a:r>
            <a:r>
              <a:rPr lang="zh-CN" altLang="en-US" dirty="0" smtClean="0"/>
              <a:t>。</a:t>
            </a:r>
            <a:endParaRPr lang="en-US" altLang="zh-CN" dirty="0" smtClean="0"/>
          </a:p>
          <a:p>
            <a:pPr>
              <a:lnSpc>
                <a:spcPct val="100000"/>
              </a:lnSpc>
              <a:spcBef>
                <a:spcPts val="600"/>
              </a:spcBef>
            </a:pPr>
            <a:r>
              <a:rPr lang="zh-CN" altLang="en-US" dirty="0" smtClean="0"/>
              <a:t>不管</a:t>
            </a:r>
            <a:r>
              <a:rPr lang="zh-CN" altLang="en-US" dirty="0"/>
              <a:t>是不是使用敏捷模式，信息的通畅高效流动都是工程师团队在充满不确定性的</a:t>
            </a:r>
            <a:r>
              <a:rPr lang="en-US" altLang="zh-CN" dirty="0"/>
              <a:t>IT</a:t>
            </a:r>
            <a:r>
              <a:rPr lang="zh-CN" altLang="en-US" dirty="0"/>
              <a:t>世界幸存的关键之一</a:t>
            </a:r>
            <a:r>
              <a:rPr lang="zh-CN" altLang="en-US" dirty="0" smtClean="0"/>
              <a:t>。</a:t>
            </a:r>
            <a:r>
              <a:rPr lang="zh-CN" altLang="en-US" dirty="0" smtClean="0">
                <a:solidFill>
                  <a:srgbClr val="C00000"/>
                </a:solidFill>
              </a:rPr>
              <a:t>管理</a:t>
            </a:r>
            <a:r>
              <a:rPr lang="zh-CN" altLang="en-US" dirty="0">
                <a:solidFill>
                  <a:srgbClr val="C00000"/>
                </a:solidFill>
              </a:rPr>
              <a:t>是作为价值的连结者和传递者而服务于信息流动、服务于创造力</a:t>
            </a:r>
            <a:r>
              <a:rPr lang="zh-CN" altLang="en-US" dirty="0"/>
              <a:t>。</a:t>
            </a:r>
            <a:endParaRPr lang="en-US" altLang="zh-CN" dirty="0">
              <a:solidFill>
                <a:schemeClr val="tx1"/>
              </a:solidFill>
              <a:latin typeface="+mn-ea"/>
            </a:endParaRPr>
          </a:p>
          <a:p>
            <a:pPr>
              <a:lnSpc>
                <a:spcPct val="100000"/>
              </a:lnSpc>
              <a:spcBef>
                <a:spcPts val="600"/>
              </a:spcBef>
            </a:pPr>
            <a:endParaRPr lang="en-US" altLang="zh-CN" dirty="0" smtClean="0">
              <a:solidFill>
                <a:srgbClr val="C00000"/>
              </a:solidFill>
              <a:latin typeface="+mn-ea"/>
            </a:endParaRPr>
          </a:p>
          <a:p>
            <a:pPr>
              <a:lnSpc>
                <a:spcPct val="100000"/>
              </a:lnSpc>
              <a:spcBef>
                <a:spcPts val="600"/>
              </a:spcBef>
            </a:pPr>
            <a:endParaRPr lang="en-US" altLang="zh-CN" sz="2400" dirty="0">
              <a:solidFill>
                <a:schemeClr val="tx1"/>
              </a:solidFill>
              <a:latin typeface="+mn-ea"/>
            </a:endParaRPr>
          </a:p>
        </p:txBody>
      </p:sp>
    </p:spTree>
    <p:extLst>
      <p:ext uri="{BB962C8B-B14F-4D97-AF65-F5344CB8AC3E}">
        <p14:creationId xmlns:p14="http://schemas.microsoft.com/office/powerpoint/2010/main" val="33061557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5" end="5"/>
                                            </p:txEl>
                                          </p:spTgt>
                                        </p:tgtEl>
                                        <p:attrNameLst>
                                          <p:attrName>style.visibility</p:attrName>
                                        </p:attrNameLst>
                                      </p:cBhvr>
                                      <p:to>
                                        <p:strVal val="visible"/>
                                      </p:to>
                                    </p:set>
                                    <p:animEffect transition="in" filter="fade">
                                      <p:cBhvr>
                                        <p:cTn id="7" dur="500"/>
                                        <p:tgtEl>
                                          <p:spTgt spid="20">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6" end="6"/>
                                            </p:txEl>
                                          </p:spTgt>
                                        </p:tgtEl>
                                        <p:attrNameLst>
                                          <p:attrName>style.visibility</p:attrName>
                                        </p:attrNameLst>
                                      </p:cBhvr>
                                      <p:to>
                                        <p:strVal val="visible"/>
                                      </p:to>
                                    </p:set>
                                    <p:animEffect transition="in" filter="fade">
                                      <p:cBhvr>
                                        <p:cTn id="12" dur="500"/>
                                        <p:tgtEl>
                                          <p:spTgt spid="2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05250" y="3266901"/>
            <a:ext cx="6748549" cy="2910061"/>
          </a:xfrm>
        </p:spPr>
        <p:txBody>
          <a:bodyPr/>
          <a:lstStyle/>
          <a:p>
            <a:r>
              <a:rPr lang="en-US" altLang="zh-CN" dirty="0" smtClean="0"/>
              <a:t>Thanks</a:t>
            </a:r>
          </a:p>
        </p:txBody>
      </p:sp>
      <p:grpSp>
        <p:nvGrpSpPr>
          <p:cNvPr id="4" name="组合 3"/>
          <p:cNvGrpSpPr/>
          <p:nvPr/>
        </p:nvGrpSpPr>
        <p:grpSpPr>
          <a:xfrm>
            <a:off x="2352501" y="3108959"/>
            <a:ext cx="2558473" cy="514999"/>
            <a:chOff x="838200" y="1027907"/>
            <a:chExt cx="2558473" cy="514999"/>
          </a:xfrm>
        </p:grpSpPr>
        <p:cxnSp>
          <p:nvCxnSpPr>
            <p:cNvPr id="5" name="直接连接符 4"/>
            <p:cNvCxnSpPr/>
            <p:nvPr/>
          </p:nvCxnSpPr>
          <p:spPr>
            <a:xfrm>
              <a:off x="838200" y="1542906"/>
              <a:ext cx="255847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6" name="直接连接符 5"/>
            <p:cNvCxnSpPr/>
            <p:nvPr/>
          </p:nvCxnSpPr>
          <p:spPr>
            <a:xfrm flipV="1">
              <a:off x="838200" y="1027907"/>
              <a:ext cx="0" cy="514999"/>
            </a:xfrm>
            <a:prstGeom prst="line">
              <a:avLst/>
            </a:prstGeom>
            <a:ln w="28575"/>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646623303"/>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2772</TotalTime>
  <Words>7200</Words>
  <Application>Microsoft Office PowerPoint</Application>
  <PresentationFormat>宽屏</PresentationFormat>
  <Paragraphs>714</Paragraphs>
  <Slides>57</Slides>
  <Notes>22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57</vt:i4>
      </vt:variant>
    </vt:vector>
  </HeadingPairs>
  <TitlesOfParts>
    <vt:vector size="65" baseType="lpstr">
      <vt:lpstr>PingFang SC</vt:lpstr>
      <vt:lpstr>等线</vt:lpstr>
      <vt:lpstr>等线 Light</vt:lpstr>
      <vt:lpstr>华文行楷</vt:lpstr>
      <vt:lpstr>Arial</vt:lpstr>
      <vt:lpstr>Arial</vt:lpstr>
      <vt:lpstr>Wingdings</vt:lpstr>
      <vt:lpstr>Office 主题​​</vt:lpstr>
      <vt:lpstr>敏捷过程</vt:lpstr>
      <vt:lpstr>内容目录</vt:lpstr>
      <vt:lpstr>1. 定义</vt:lpstr>
      <vt:lpstr>2. 产生</vt:lpstr>
      <vt:lpstr>2. 产生</vt:lpstr>
      <vt:lpstr>3. 原则</vt:lpstr>
      <vt:lpstr>3. 原则</vt:lpstr>
      <vt:lpstr>3. 原则</vt:lpstr>
      <vt:lpstr>3. 原则</vt:lpstr>
      <vt:lpstr>3. 原则</vt:lpstr>
      <vt:lpstr>3. 原则</vt:lpstr>
      <vt:lpstr>3. 原则</vt:lpstr>
      <vt:lpstr>3. 原则</vt:lpstr>
      <vt:lpstr>3. 原则</vt:lpstr>
      <vt:lpstr>3. 原则</vt:lpstr>
      <vt:lpstr>3. 原则</vt:lpstr>
      <vt:lpstr>3. 原则</vt:lpstr>
      <vt:lpstr>3. 原则</vt:lpstr>
      <vt:lpstr>PowerPoint 演示文稿</vt:lpstr>
      <vt:lpstr>4. 核心实践（Practice）</vt:lpstr>
      <vt:lpstr>4. 核心实践（Practice）</vt:lpstr>
      <vt:lpstr>4. 核心实践（Practice）</vt:lpstr>
      <vt:lpstr>4. 核心实践（Practice）</vt:lpstr>
      <vt:lpstr>4. 核心实践（Practice）</vt:lpstr>
      <vt:lpstr>4. 核心实践（Practice）</vt:lpstr>
      <vt:lpstr>4. 核心实践（Practice）</vt:lpstr>
      <vt:lpstr>4. 核心实践（Practice）</vt:lpstr>
      <vt:lpstr>4. 核心实践（Practice）</vt:lpstr>
      <vt:lpstr>4. 核心实践（Practice）</vt:lpstr>
      <vt:lpstr>4. 核心实践（Practice）</vt:lpstr>
      <vt:lpstr>5. 建模误区</vt:lpstr>
      <vt:lpstr>5. 建模误区</vt:lpstr>
      <vt:lpstr>5. 建模误区</vt:lpstr>
      <vt:lpstr>5. 建模误区</vt:lpstr>
      <vt:lpstr>5. 建模误区</vt:lpstr>
      <vt:lpstr>5. 建模误区</vt:lpstr>
      <vt:lpstr>5. 建模误区</vt:lpstr>
      <vt:lpstr>5. 建模误区</vt:lpstr>
      <vt:lpstr>5. 建模误区</vt:lpstr>
      <vt:lpstr>6. 敏捷开发宣言</vt:lpstr>
      <vt:lpstr>内容目录</vt:lpstr>
      <vt:lpstr>二. 为什么选择敏捷过程</vt:lpstr>
      <vt:lpstr>内容目录</vt:lpstr>
      <vt:lpstr>三. Scrum</vt:lpstr>
      <vt:lpstr>三. Scrum</vt:lpstr>
      <vt:lpstr>三. Scrum</vt:lpstr>
      <vt:lpstr>三. Scrum</vt:lpstr>
      <vt:lpstr>三. Scrum</vt:lpstr>
      <vt:lpstr>内容目录</vt:lpstr>
      <vt:lpstr>四. 敏捷落地中国难？</vt:lpstr>
      <vt:lpstr>四. 敏捷落地中国难？</vt:lpstr>
      <vt:lpstr>四. 敏捷落地中国难？</vt:lpstr>
      <vt:lpstr>四. 敏捷落地中国难？</vt:lpstr>
      <vt:lpstr>四. 敏捷落地中国难？</vt:lpstr>
      <vt:lpstr>四. 敏捷落地中国难？</vt:lpstr>
      <vt:lpstr>四. 敏捷落地中国难？</vt:lpstr>
      <vt:lpstr>PowerPoint 演示文稿</vt:lpstr>
    </vt:vector>
  </TitlesOfParts>
  <Company>cuc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BlackBoard Pattern</dc:title>
  <dc:creator>张弛</dc:creator>
  <cp:lastModifiedBy>张弛</cp:lastModifiedBy>
  <cp:revision>253</cp:revision>
  <dcterms:created xsi:type="dcterms:W3CDTF">2019-05-20T08:49:45Z</dcterms:created>
  <dcterms:modified xsi:type="dcterms:W3CDTF">2021-06-17T07:12:12Z</dcterms:modified>
</cp:coreProperties>
</file>
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57"/>
  </p:notesMasterIdLst>
  <p:handoutMasterIdLst>
    <p:handoutMasterId r:id="rId58"/>
  </p:handoutMasterIdLst>
  <p:sldIdLst>
    <p:sldId id="256" r:id="rId2"/>
    <p:sldId id="257" r:id="rId3"/>
    <p:sldId id="301" r:id="rId4"/>
    <p:sldId id="302" r:id="rId5"/>
    <p:sldId id="304" r:id="rId6"/>
    <p:sldId id="305" r:id="rId7"/>
    <p:sldId id="300" r:id="rId8"/>
    <p:sldId id="258" r:id="rId9"/>
    <p:sldId id="259" r:id="rId10"/>
    <p:sldId id="312" r:id="rId11"/>
    <p:sldId id="298" r:id="rId12"/>
    <p:sldId id="261" r:id="rId13"/>
    <p:sldId id="262" r:id="rId14"/>
    <p:sldId id="263" r:id="rId15"/>
    <p:sldId id="264" r:id="rId16"/>
    <p:sldId id="265" r:id="rId17"/>
    <p:sldId id="266" r:id="rId18"/>
    <p:sldId id="267" r:id="rId19"/>
    <p:sldId id="268" r:id="rId20"/>
    <p:sldId id="270" r:id="rId21"/>
    <p:sldId id="271" r:id="rId22"/>
    <p:sldId id="272" r:id="rId23"/>
    <p:sldId id="273" r:id="rId24"/>
    <p:sldId id="308" r:id="rId25"/>
    <p:sldId id="313" r:id="rId26"/>
    <p:sldId id="314" r:id="rId27"/>
    <p:sldId id="315" r:id="rId28"/>
    <p:sldId id="274" r:id="rId29"/>
    <p:sldId id="275" r:id="rId30"/>
    <p:sldId id="276" r:id="rId31"/>
    <p:sldId id="321" r:id="rId32"/>
    <p:sldId id="278" r:id="rId33"/>
    <p:sldId id="279" r:id="rId34"/>
    <p:sldId id="280" r:id="rId35"/>
    <p:sldId id="322" r:id="rId36"/>
    <p:sldId id="323" r:id="rId37"/>
    <p:sldId id="324" r:id="rId38"/>
    <p:sldId id="328" r:id="rId39"/>
    <p:sldId id="329" r:id="rId40"/>
    <p:sldId id="330" r:id="rId41"/>
    <p:sldId id="331" r:id="rId42"/>
    <p:sldId id="335" r:id="rId43"/>
    <p:sldId id="336" r:id="rId44"/>
    <p:sldId id="337" r:id="rId45"/>
    <p:sldId id="284" r:id="rId46"/>
    <p:sldId id="316" r:id="rId47"/>
    <p:sldId id="287" r:id="rId48"/>
    <p:sldId id="288" r:id="rId49"/>
    <p:sldId id="292" r:id="rId50"/>
    <p:sldId id="293" r:id="rId51"/>
    <p:sldId id="317" r:id="rId52"/>
    <p:sldId id="318" r:id="rId53"/>
    <p:sldId id="294" r:id="rId54"/>
    <p:sldId id="320" r:id="rId55"/>
    <p:sldId id="297" r:id="rId5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5F5F5F"/>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18" autoAdjust="0"/>
    <p:restoredTop sz="83744" autoAdjust="0"/>
  </p:normalViewPr>
  <p:slideViewPr>
    <p:cSldViewPr>
      <p:cViewPr varScale="1">
        <p:scale>
          <a:sx n="73" d="100"/>
          <a:sy n="73" d="100"/>
        </p:scale>
        <p:origin x="1421" y="67"/>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zh-CN" altLang="en-US"/>
          </a:p>
        </p:txBody>
      </p:sp>
      <p:sp>
        <p:nvSpPr>
          <p:cNvPr id="15363" name="Rectangle 3"/>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endParaRPr lang="en-US" altLang="zh-CN"/>
          </a:p>
        </p:txBody>
      </p:sp>
      <p:sp>
        <p:nvSpPr>
          <p:cNvPr id="15364" name="Rectangle 4"/>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en-US" altLang="zh-CN"/>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fld id="{5DBF71BA-F9F0-4180-8A27-A8014295261F}" type="slidenum">
              <a:rPr lang="zh-CN" altLang="en-US"/>
              <a:pPr>
                <a:defRPr/>
              </a:pPr>
              <a:t>‹#›</a:t>
            </a:fld>
            <a:endParaRPr lang="en-US" altLang="zh-CN"/>
          </a:p>
        </p:txBody>
      </p:sp>
    </p:spTree>
    <p:extLst>
      <p:ext uri="{BB962C8B-B14F-4D97-AF65-F5344CB8AC3E}">
        <p14:creationId xmlns:p14="http://schemas.microsoft.com/office/powerpoint/2010/main" val="1984726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fld id="{F67DF6CF-4927-4085-A26C-F69EF9A111AC}" type="slidenum">
              <a:rPr lang="zh-CN" altLang="en-US"/>
              <a:pPr>
                <a:defRPr/>
              </a:pPr>
              <a:t>‹#›</a:t>
            </a:fld>
            <a:endParaRPr lang="en-US" altLang="zh-CN"/>
          </a:p>
        </p:txBody>
      </p:sp>
    </p:spTree>
    <p:extLst>
      <p:ext uri="{BB962C8B-B14F-4D97-AF65-F5344CB8AC3E}">
        <p14:creationId xmlns:p14="http://schemas.microsoft.com/office/powerpoint/2010/main" val="36311322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宋体" charset="-122"/>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宋体" charset="-122"/>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宋体" charset="-122"/>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宋体" charset="-122"/>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宋体" charset="-122"/>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结构化方法中，需求分析的结果与设计和开发的区别看上去较大。另外，尽量避免考虑实现的细节，有利于分析工作。所以，一直以来都强调“做什么”和“怎么做”的差异。</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3</a:t>
            </a:fld>
            <a:endParaRPr lang="en-US" altLang="zh-CN"/>
          </a:p>
        </p:txBody>
      </p:sp>
    </p:spTree>
    <p:extLst>
      <p:ext uri="{BB962C8B-B14F-4D97-AF65-F5344CB8AC3E}">
        <p14:creationId xmlns:p14="http://schemas.microsoft.com/office/powerpoint/2010/main" val="2069510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结构化中一般可以忽略需求分析和系统分析的差异</a:t>
            </a:r>
            <a:r>
              <a:rPr lang="zh-CN" altLang="en-US" dirty="0" smtClean="0"/>
              <a:t>。</a:t>
            </a:r>
            <a:endParaRPr lang="en-US" altLang="zh-CN" dirty="0" smtClean="0"/>
          </a:p>
          <a:p>
            <a:r>
              <a:rPr lang="zh-CN" altLang="en-US" dirty="0" smtClean="0"/>
              <a:t>系统类图</a:t>
            </a:r>
            <a:r>
              <a:rPr lang="en-US" altLang="zh-CN" dirty="0" smtClean="0"/>
              <a:t>---</a:t>
            </a:r>
            <a:r>
              <a:rPr lang="zh-CN" altLang="en-US" dirty="0" smtClean="0"/>
              <a:t>领域类图</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5</a:t>
            </a:fld>
            <a:endParaRPr lang="en-US" altLang="zh-CN"/>
          </a:p>
        </p:txBody>
      </p:sp>
    </p:spTree>
    <p:extLst>
      <p:ext uri="{BB962C8B-B14F-4D97-AF65-F5344CB8AC3E}">
        <p14:creationId xmlns:p14="http://schemas.microsoft.com/office/powerpoint/2010/main" val="3928010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系统设计：数据库、前后端技术框架、编程语言、系统软硬件架构（云服务？分布式部署？</a:t>
            </a:r>
            <a:r>
              <a:rPr lang="en-US" altLang="zh-CN" dirty="0" smtClean="0"/>
              <a:t>B/S</a:t>
            </a:r>
            <a:r>
              <a:rPr lang="zh-CN" altLang="en-US" dirty="0" smtClean="0"/>
              <a:t>？）、功能模块；</a:t>
            </a:r>
            <a:endParaRPr lang="en-US" altLang="zh-CN" dirty="0" smtClean="0"/>
          </a:p>
          <a:p>
            <a:r>
              <a:rPr lang="zh-CN" altLang="en-US" smtClean="0"/>
              <a:t>对象设计：</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8</a:t>
            </a:fld>
            <a:endParaRPr lang="en-US" altLang="zh-CN"/>
          </a:p>
        </p:txBody>
      </p:sp>
    </p:spTree>
    <p:extLst>
      <p:ext uri="{BB962C8B-B14F-4D97-AF65-F5344CB8AC3E}">
        <p14:creationId xmlns:p14="http://schemas.microsoft.com/office/powerpoint/2010/main" val="1952325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latin typeface="宋体" pitchFamily="2" charset="-122"/>
              </a:rPr>
              <a:t>（规格说明抽象和参数化抽象）</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9</a:t>
            </a:fld>
            <a:endParaRPr lang="en-US" altLang="zh-CN"/>
          </a:p>
        </p:txBody>
      </p:sp>
    </p:spTree>
    <p:extLst>
      <p:ext uri="{BB962C8B-B14F-4D97-AF65-F5344CB8AC3E}">
        <p14:creationId xmlns:p14="http://schemas.microsoft.com/office/powerpoint/2010/main" val="3505876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数据通信：微信</a:t>
            </a:r>
            <a:r>
              <a:rPr lang="en-US" altLang="zh-CN" dirty="0" smtClean="0">
                <a:sym typeface="Wingdings" panose="05000000000000000000" pitchFamily="2" charset="2"/>
              </a:rPr>
              <a:t></a:t>
            </a:r>
            <a:r>
              <a:rPr lang="zh-CN" altLang="en-US" dirty="0" smtClean="0"/>
              <a:t>实时性更重要；文件传输</a:t>
            </a:r>
            <a:r>
              <a:rPr lang="en-US" altLang="zh-CN" dirty="0" smtClean="0">
                <a:sym typeface="Wingdings" panose="05000000000000000000" pitchFamily="2" charset="2"/>
              </a:rPr>
              <a:t></a:t>
            </a:r>
            <a:r>
              <a:rPr lang="zh-CN" altLang="en-US" dirty="0" smtClean="0">
                <a:sym typeface="Wingdings" panose="05000000000000000000" pitchFamily="2" charset="2"/>
              </a:rPr>
              <a:t>正确性、安全性更重要；</a:t>
            </a:r>
            <a:endParaRPr lang="en-US" altLang="zh-CN" dirty="0" smtClean="0">
              <a:sym typeface="Wingdings" panose="05000000000000000000" pitchFamily="2" charset="2"/>
            </a:endParaRPr>
          </a:p>
          <a:p>
            <a:r>
              <a:rPr lang="zh-CN" altLang="en-US" dirty="0" smtClean="0">
                <a:sym typeface="Wingdings" panose="05000000000000000000" pitchFamily="2" charset="2"/>
              </a:rPr>
              <a:t>数据抓取：完整性、健壮性更重要</a:t>
            </a:r>
            <a:endParaRPr lang="en-US" altLang="zh-CN" dirty="0" smtClean="0">
              <a:sym typeface="Wingdings" panose="05000000000000000000" pitchFamily="2" charset="2"/>
            </a:endParaRPr>
          </a:p>
          <a:p>
            <a:r>
              <a:rPr lang="zh-CN" altLang="en-US" dirty="0" smtClean="0">
                <a:sym typeface="Wingdings" panose="05000000000000000000" pitchFamily="2" charset="2"/>
              </a:rPr>
              <a:t>数据分析：实时分析 、离线分析</a:t>
            </a:r>
            <a:endParaRPr lang="en-US" altLang="zh-CN" dirty="0" smtClean="0">
              <a:sym typeface="Wingdings" panose="05000000000000000000" pitchFamily="2" charset="2"/>
            </a:endParaRPr>
          </a:p>
          <a:p>
            <a:r>
              <a:rPr lang="zh-CN" altLang="en-US" dirty="0" smtClean="0">
                <a:sym typeface="Wingdings" panose="05000000000000000000" pitchFamily="2" charset="2"/>
              </a:rPr>
              <a:t>数据查询：响应时间、查全率查准率</a:t>
            </a:r>
            <a:endParaRPr lang="en-US" altLang="zh-CN" dirty="0" smtClean="0">
              <a:sym typeface="Wingdings" panose="05000000000000000000" pitchFamily="2" charset="2"/>
            </a:endParaRPr>
          </a:p>
          <a:p>
            <a:r>
              <a:rPr lang="zh-CN" altLang="en-US" dirty="0" smtClean="0">
                <a:sym typeface="Wingdings" panose="05000000000000000000" pitchFamily="2" charset="2"/>
              </a:rPr>
              <a:t>工具软件：交互友好便捷</a:t>
            </a:r>
            <a:endParaRPr lang="en-US" altLang="zh-CN" dirty="0" smtClean="0">
              <a:sym typeface="Wingdings" panose="05000000000000000000" pitchFamily="2" charset="2"/>
            </a:endParaRPr>
          </a:p>
          <a:p>
            <a:r>
              <a:rPr lang="zh-CN" altLang="en-US" dirty="0" smtClean="0">
                <a:sym typeface="Wingdings" panose="05000000000000000000" pitchFamily="2" charset="2"/>
              </a:rPr>
              <a:t>数据展示：界面设计、数据完整性和图表交互性</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49</a:t>
            </a:fld>
            <a:endParaRPr lang="en-US" altLang="zh-CN"/>
          </a:p>
        </p:txBody>
      </p:sp>
    </p:spTree>
    <p:extLst>
      <p:ext uri="{BB962C8B-B14F-4D97-AF65-F5344CB8AC3E}">
        <p14:creationId xmlns:p14="http://schemas.microsoft.com/office/powerpoint/2010/main" val="4277211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比如：查询后导出，可在查询出结果时进行缓存，导出时不需要再次查询。</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52</a:t>
            </a:fld>
            <a:endParaRPr lang="en-US" altLang="zh-CN"/>
          </a:p>
        </p:txBody>
      </p:sp>
    </p:spTree>
    <p:extLst>
      <p:ext uri="{BB962C8B-B14F-4D97-AF65-F5344CB8AC3E}">
        <p14:creationId xmlns:p14="http://schemas.microsoft.com/office/powerpoint/2010/main" val="1045231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抽象出公共父类或接口，作为客户端程序访问入口，具体实现由特殊类或接口实现类完成。</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53</a:t>
            </a:fld>
            <a:endParaRPr lang="en-US" altLang="zh-CN"/>
          </a:p>
        </p:txBody>
      </p:sp>
    </p:spTree>
    <p:extLst>
      <p:ext uri="{BB962C8B-B14F-4D97-AF65-F5344CB8AC3E}">
        <p14:creationId xmlns:p14="http://schemas.microsoft.com/office/powerpoint/2010/main" val="2305200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回忆：开闭原则是目标；里氏替换是基础；依赖倒置是手段。</a:t>
            </a:r>
            <a:endParaRPr lang="zh-CN" altLang="en-US" dirty="0"/>
          </a:p>
        </p:txBody>
      </p:sp>
      <p:sp>
        <p:nvSpPr>
          <p:cNvPr id="4" name="灯片编号占位符 3"/>
          <p:cNvSpPr>
            <a:spLocks noGrp="1"/>
          </p:cNvSpPr>
          <p:nvPr>
            <p:ph type="sldNum" sz="quarter" idx="10"/>
          </p:nvPr>
        </p:nvSpPr>
        <p:spPr/>
        <p:txBody>
          <a:bodyPr/>
          <a:lstStyle/>
          <a:p>
            <a:pPr>
              <a:defRPr/>
            </a:pPr>
            <a:fld id="{F67DF6CF-4927-4085-A26C-F69EF9A111AC}" type="slidenum">
              <a:rPr lang="zh-CN" altLang="en-US" smtClean="0"/>
              <a:pPr>
                <a:defRPr/>
              </a:pPr>
              <a:t>54</a:t>
            </a:fld>
            <a:endParaRPr lang="en-US" altLang="zh-CN"/>
          </a:p>
        </p:txBody>
      </p:sp>
    </p:spTree>
    <p:extLst>
      <p:ext uri="{BB962C8B-B14F-4D97-AF65-F5344CB8AC3E}">
        <p14:creationId xmlns:p14="http://schemas.microsoft.com/office/powerpoint/2010/main" val="2280638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5" name="圆角矩形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圆角矩形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zh-CN" altLang="en-US" smtClean="0"/>
              <a:t>单击此处编辑母版标题样式</a:t>
            </a:r>
            <a:endParaRPr kumimoji="0" lang="en-US"/>
          </a:p>
        </p:txBody>
      </p:sp>
      <p:sp>
        <p:nvSpPr>
          <p:cNvPr id="20" name="副标题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sp>
        <p:nvSpPr>
          <p:cNvPr id="19" name="日期占位符 18"/>
          <p:cNvSpPr>
            <a:spLocks noGrp="1"/>
          </p:cNvSpPr>
          <p:nvPr>
            <p:ph type="dt" sz="half" idx="10"/>
          </p:nvPr>
        </p:nvSpPr>
        <p:spPr/>
        <p:txBody>
          <a:bodyPr/>
          <a:lstStyle/>
          <a:p>
            <a:pPr>
              <a:defRPr/>
            </a:pPr>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11" name="灯片编号占位符 10"/>
          <p:cNvSpPr>
            <a:spLocks noGrp="1"/>
          </p:cNvSpPr>
          <p:nvPr>
            <p:ph type="sldNum" sz="quarter" idx="12"/>
          </p:nvPr>
        </p:nvSpPr>
        <p:spPr/>
        <p:txBody>
          <a:bodyPr/>
          <a:lstStyle/>
          <a:p>
            <a:pPr>
              <a:defRPr/>
            </a:pPr>
            <a:fld id="{4C7614FC-EA57-4866-9C0C-64305E56FCBD}" type="slidenum">
              <a:rPr lang="zh-CN" altLang="en-US"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2920" y="4983480"/>
            <a:ext cx="8183880" cy="1051560"/>
          </a:xfrm>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502920" y="530352"/>
            <a:ext cx="8183880" cy="4187952"/>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29032E66-95B1-4F91-A220-FEFB0075B15A}" type="slidenum">
              <a:rPr lang="zh-CN" altLang="en-US"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圆角矩形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圆角矩形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F5EFA540-9B0D-4CCA-8F01-B7F7D440569A}" type="slidenum">
              <a:rPr lang="zh-CN" altLang="en-US"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D2491D71-22F2-4209-B570-8D1791B6674D}" type="slidenum">
              <a:rPr lang="zh-CN" altLang="en-US"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2920" y="4983480"/>
            <a:ext cx="8183880" cy="1051560"/>
          </a:xfrm>
        </p:spPr>
        <p:txBody>
          <a:bodyPr anchor="b"/>
          <a:lstStyle>
            <a:lvl1pPr>
              <a:defRPr b="1"/>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a:defRPr/>
            </a:pPr>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FBEBD848-6FD5-4F13-AFF3-AF9D2DB739E1}" type="slidenum">
              <a:rPr lang="zh-CN" altLang="en-US" smtClean="0"/>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829BF156-20BC-44C0-92B0-460627C75787}" type="slidenum">
              <a:rPr lang="zh-CN" altLang="en-US"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圆角矩形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7A72C860-321E-485B-85F8-B4FFF272614D}" type="slidenum">
              <a:rPr lang="zh-CN" altLang="en-US"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B45D2226-FAB6-4032-AB52-9E71C863D162}" type="slidenum">
              <a:rPr lang="zh-CN" altLang="en-US"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圆角矩形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单圆角矩形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2F533D7A-517E-437E-936C-DD392524CFD1}" type="slidenum">
              <a:rPr lang="zh-CN" altLang="en-US" smtClean="0"/>
              <a:pPr>
                <a:defRPr/>
              </a:pPr>
              <a:t>‹#›</a:t>
            </a:fld>
            <a:endParaRPr lang="en-US" altLang="zh-CN"/>
          </a:p>
        </p:txBody>
      </p:sp>
      <p:sp>
        <p:nvSpPr>
          <p:cNvPr id="3" name="图片占位符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zh-CN" altLang="en-US" smtClean="0"/>
              <a:t>单击图标添加图片</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02920" y="4983480"/>
            <a:ext cx="8183880" cy="1051560"/>
          </a:xfrm>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502920" y="530352"/>
            <a:ext cx="8183880" cy="4187952"/>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6B41CE72-9B76-42B2-9D45-B288C43CE497}" type="slidenum">
              <a:rPr lang="zh-CN" altLang="en-US"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4"/>
            <a:ext cx="1981200" cy="5257799"/>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533400" y="533402"/>
            <a:ext cx="5943600" cy="5257801"/>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3F5AD2D1-58B1-4FC9-8CD4-9D616A0A0696}" type="slidenum">
              <a:rPr lang="zh-CN" altLang="en-US"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圆角矩形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圆角矩形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标题占位符 12"/>
          <p:cNvSpPr>
            <a:spLocks noGrp="1"/>
          </p:cNvSpPr>
          <p:nvPr>
            <p:ph type="title"/>
          </p:nvPr>
        </p:nvSpPr>
        <p:spPr>
          <a:xfrm>
            <a:off x="502920" y="4985590"/>
            <a:ext cx="8183880" cy="1051560"/>
          </a:xfrm>
          <a:prstGeom prst="rect">
            <a:avLst/>
          </a:prstGeom>
        </p:spPr>
        <p:txBody>
          <a:bodyPr vert="horz" anchor="b">
            <a:normAutofit/>
          </a:bodyPr>
          <a:lstStyle/>
          <a:p>
            <a:r>
              <a:rPr kumimoji="0" lang="zh-CN" altLang="en-US" smtClean="0"/>
              <a:t>单击此处编辑母版标题样式</a:t>
            </a:r>
            <a:endParaRPr kumimoji="0" lang="en-US"/>
          </a:p>
        </p:txBody>
      </p:sp>
      <p:sp>
        <p:nvSpPr>
          <p:cNvPr id="4" name="文本占位符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25" name="日期占位符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endParaRPr lang="en-US" altLang="zh-CN"/>
          </a:p>
        </p:txBody>
      </p:sp>
      <p:sp>
        <p:nvSpPr>
          <p:cNvPr id="18" name="页脚占位符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pPr>
              <a:defRPr/>
            </a:pPr>
            <a:endParaRPr lang="en-US" altLang="zh-CN"/>
          </a:p>
        </p:txBody>
      </p:sp>
      <p:sp>
        <p:nvSpPr>
          <p:cNvPr id="5" name="灯片编号占位符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pPr>
              <a:defRPr/>
            </a:pPr>
            <a:fld id="{A20A393D-D00C-4A9B-BC7A-F0ADCD0E5A2F}" type="slidenum">
              <a:rPr lang="zh-CN" altLang="en-US"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hdr="0" ftr="0" dt="0"/>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714348" y="1357298"/>
            <a:ext cx="7924800" cy="1752600"/>
          </a:xfrm>
        </p:spPr>
        <p:txBody>
          <a:bodyPr/>
          <a:lstStyle/>
          <a:p>
            <a:pPr algn="ctr" eaLnBrk="1" hangingPunct="1"/>
            <a:r>
              <a:rPr lang="zh-CN" altLang="en-US" sz="5400" b="1" dirty="0" smtClean="0"/>
              <a:t>第</a:t>
            </a:r>
            <a:r>
              <a:rPr lang="zh-CN" altLang="en-US" sz="5400" dirty="0" smtClean="0"/>
              <a:t>八</a:t>
            </a:r>
            <a:r>
              <a:rPr lang="zh-CN" altLang="en-US" sz="5400" b="1" dirty="0" smtClean="0"/>
              <a:t>章 面向对象设计</a:t>
            </a:r>
          </a:p>
        </p:txBody>
      </p:sp>
      <p:sp>
        <p:nvSpPr>
          <p:cNvPr id="4101" name="Rectangle 5"/>
          <p:cNvSpPr>
            <a:spLocks noGrp="1" noChangeArrowheads="1"/>
          </p:cNvSpPr>
          <p:nvPr>
            <p:ph type="subTitle" idx="1"/>
          </p:nvPr>
        </p:nvSpPr>
        <p:spPr>
          <a:xfrm>
            <a:off x="1357290" y="3857628"/>
            <a:ext cx="6477000" cy="1981200"/>
          </a:xfrm>
        </p:spPr>
        <p:txBody>
          <a:bodyPr/>
          <a:lstStyle/>
          <a:p>
            <a:pPr eaLnBrk="1" hangingPunct="1"/>
            <a:r>
              <a:rPr lang="zh-CN" altLang="en-US" sz="3200" dirty="0" smtClean="0"/>
              <a:t>计算机学院</a:t>
            </a:r>
            <a:endParaRPr lang="en-US" altLang="zh-CN" sz="3200" dirty="0" smtClean="0"/>
          </a:p>
          <a:p>
            <a:pPr eaLnBrk="1" hangingPunct="1"/>
            <a:r>
              <a:rPr lang="zh-CN" altLang="en-US" sz="3200" dirty="0" smtClean="0"/>
              <a:t>张弛</a:t>
            </a:r>
          </a:p>
        </p:txBody>
      </p:sp>
      <p:sp>
        <p:nvSpPr>
          <p:cNvPr id="4" name="灯片编号占位符 3"/>
          <p:cNvSpPr>
            <a:spLocks noGrp="1"/>
          </p:cNvSpPr>
          <p:nvPr>
            <p:ph type="sldNum" sz="quarter" idx="12"/>
          </p:nvPr>
        </p:nvSpPr>
        <p:spPr/>
        <p:txBody>
          <a:bodyPr/>
          <a:lstStyle/>
          <a:p>
            <a:pPr>
              <a:defRPr/>
            </a:pPr>
            <a:fld id="{871FE666-BCE5-4657-98E3-F2E4CD740452}" type="slidenum">
              <a:rPr lang="zh-CN" altLang="en-US" smtClean="0"/>
              <a:pPr>
                <a:defRPr/>
              </a:pPr>
              <a:t>1</a:t>
            </a:fld>
            <a:endParaRPr lang="en-US" altLang="zh-CN"/>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additive="base">
                                        <p:cTn id="7" dur="500" fill="hold"/>
                                        <p:tgtEl>
                                          <p:spTgt spid="4100"/>
                                        </p:tgtEl>
                                        <p:attrNameLst>
                                          <p:attrName>ppt_x</p:attrName>
                                        </p:attrNameLst>
                                      </p:cBhvr>
                                      <p:tavLst>
                                        <p:tav tm="0">
                                          <p:val>
                                            <p:strVal val="#ppt_x"/>
                                          </p:val>
                                        </p:tav>
                                        <p:tav tm="100000">
                                          <p:val>
                                            <p:strVal val="#ppt_x"/>
                                          </p:val>
                                        </p:tav>
                                      </p:tavLst>
                                    </p:anim>
                                    <p:anim calcmode="lin" valueType="num">
                                      <p:cBhvr additive="base">
                                        <p:cTn id="8" dur="500" fill="hold"/>
                                        <p:tgtEl>
                                          <p:spTgt spid="410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4101"/>
                                        </p:tgtEl>
                                        <p:attrNameLst>
                                          <p:attrName>style.visibility</p:attrName>
                                        </p:attrNameLst>
                                      </p:cBhvr>
                                      <p:to>
                                        <p:strVal val="visible"/>
                                      </p:to>
                                    </p:set>
                                    <p:animEffect transition="in" filter="dissolve">
                                      <p:cBhvr>
                                        <p:cTn id="12"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utoUpdateAnimBg="0"/>
      <p:bldP spid="4101"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736600" y="207946"/>
            <a:ext cx="7978804" cy="863600"/>
          </a:xfrm>
        </p:spPr>
        <p:txBody>
          <a:bodyPr>
            <a:normAutofit/>
          </a:bodyPr>
          <a:lstStyle/>
          <a:p>
            <a:r>
              <a:rPr lang="en-US" altLang="zh-CN" sz="4000" i="1" dirty="0" smtClean="0"/>
              <a:t>OOD</a:t>
            </a:r>
            <a:r>
              <a:rPr lang="zh-CN" altLang="en-US" sz="4000" i="1" dirty="0" smtClean="0"/>
              <a:t>在软件生命周期中的位置</a:t>
            </a:r>
            <a:endParaRPr lang="en-US" altLang="zh-CN" sz="4000" b="0" i="1" dirty="0"/>
          </a:p>
        </p:txBody>
      </p:sp>
      <p:sp>
        <p:nvSpPr>
          <p:cNvPr id="161795" name="Rectangle 3"/>
          <p:cNvSpPr>
            <a:spLocks noGrp="1" noChangeArrowheads="1"/>
          </p:cNvSpPr>
          <p:nvPr>
            <p:ph idx="1"/>
          </p:nvPr>
        </p:nvSpPr>
        <p:spPr>
          <a:xfrm>
            <a:off x="685800" y="1190644"/>
            <a:ext cx="7620000" cy="4953000"/>
          </a:xfrm>
        </p:spPr>
        <p:txBody>
          <a:bodyPr>
            <a:normAutofit fontScale="92500" lnSpcReduction="20000"/>
          </a:bodyPr>
          <a:lstStyle/>
          <a:p>
            <a:pPr algn="just">
              <a:spcAft>
                <a:spcPct val="40000"/>
              </a:spcAft>
            </a:pPr>
            <a:r>
              <a:rPr lang="zh-CN" altLang="en-US" sz="2600" dirty="0" smtClean="0">
                <a:latin typeface="宋体" pitchFamily="2" charset="-122"/>
              </a:rPr>
              <a:t>面向对象方法学不仅仅是一种新的编程技术，而且是一种贯穿整个软件生命周期的软件方法学。</a:t>
            </a:r>
            <a:endParaRPr lang="en-US" altLang="zh-CN" sz="2600" dirty="0" smtClean="0">
              <a:latin typeface="宋体" pitchFamily="2" charset="-122"/>
            </a:endParaRPr>
          </a:p>
          <a:p>
            <a:pPr algn="just">
              <a:spcAft>
                <a:spcPct val="40000"/>
              </a:spcAft>
            </a:pPr>
            <a:r>
              <a:rPr lang="en-US" altLang="zh-CN" sz="2600" dirty="0" smtClean="0">
                <a:latin typeface="宋体" pitchFamily="2" charset="-122"/>
              </a:rPr>
              <a:t>OOP</a:t>
            </a:r>
            <a:r>
              <a:rPr lang="en-US" altLang="zh-CN" sz="2600" dirty="0" smtClean="0">
                <a:latin typeface="宋体" pitchFamily="2" charset="-122"/>
                <a:sym typeface="Wingdings" pitchFamily="2" charset="2"/>
              </a:rPr>
              <a:t>OODOOAOOT</a:t>
            </a:r>
            <a:r>
              <a:rPr lang="zh-CN" altLang="en-US" sz="2600" dirty="0" smtClean="0">
                <a:latin typeface="宋体" pitchFamily="2" charset="-122"/>
                <a:sym typeface="Wingdings" pitchFamily="2" charset="2"/>
              </a:rPr>
              <a:t>使得面向对象方法对软件生命周期的覆盖更趋于完整。</a:t>
            </a:r>
            <a:endParaRPr lang="en-US" altLang="zh-CN" sz="2600" dirty="0" smtClean="0">
              <a:latin typeface="宋体" pitchFamily="2" charset="-122"/>
              <a:sym typeface="Wingdings" pitchFamily="2" charset="2"/>
            </a:endParaRPr>
          </a:p>
          <a:p>
            <a:pPr algn="just">
              <a:spcAft>
                <a:spcPct val="40000"/>
              </a:spcAft>
            </a:pPr>
            <a:r>
              <a:rPr lang="zh-CN" altLang="en-US" sz="2600" dirty="0" smtClean="0">
                <a:latin typeface="宋体" pitchFamily="2" charset="-122"/>
                <a:sym typeface="Wingdings" pitchFamily="2" charset="2"/>
              </a:rPr>
              <a:t>现今在采用面向对象方法的情况下，对于生命周期观点的“阶段”一词的理解，已不像以瀑布模型为代表的早期观点那样强调各阶段之间的严格界限和顺序。</a:t>
            </a:r>
            <a:r>
              <a:rPr lang="zh-CN" altLang="en-US" sz="2600" dirty="0" smtClean="0">
                <a:solidFill>
                  <a:srgbClr val="FF0000"/>
                </a:solidFill>
                <a:latin typeface="宋体" pitchFamily="2" charset="-122"/>
                <a:sym typeface="Wingdings" pitchFamily="2" charset="2"/>
              </a:rPr>
              <a:t>各个相邻的阶段之间可以有一定程度的重叠；并且允许回溯</a:t>
            </a:r>
            <a:r>
              <a:rPr lang="zh-CN" altLang="en-US" sz="2600" dirty="0" smtClean="0">
                <a:latin typeface="宋体" pitchFamily="2" charset="-122"/>
                <a:sym typeface="Wingdings" pitchFamily="2" charset="2"/>
              </a:rPr>
              <a:t>。</a:t>
            </a:r>
            <a:endParaRPr lang="en-US" altLang="zh-CN" sz="2600" dirty="0" smtClean="0">
              <a:latin typeface="宋体" pitchFamily="2" charset="-122"/>
              <a:sym typeface="Wingdings" pitchFamily="2" charset="2"/>
            </a:endParaRPr>
          </a:p>
          <a:p>
            <a:pPr algn="just">
              <a:spcAft>
                <a:spcPct val="40000"/>
              </a:spcAft>
            </a:pPr>
            <a:r>
              <a:rPr lang="zh-CN" altLang="en-US" sz="2600" dirty="0" smtClean="0">
                <a:latin typeface="宋体" pitchFamily="2" charset="-122"/>
                <a:sym typeface="Wingdings" pitchFamily="2" charset="2"/>
              </a:rPr>
              <a:t>面向对象的软件开发可以使用任何一种过程模型。</a:t>
            </a:r>
            <a:r>
              <a:rPr lang="en-US" altLang="zh-CN" sz="2600" dirty="0" smtClean="0">
                <a:latin typeface="宋体" pitchFamily="2" charset="-122"/>
                <a:sym typeface="Wingdings" pitchFamily="2" charset="2"/>
              </a:rPr>
              <a:t>OOD</a:t>
            </a:r>
            <a:r>
              <a:rPr lang="zh-CN" altLang="en-US" sz="2600" dirty="0" smtClean="0">
                <a:latin typeface="宋体" pitchFamily="2" charset="-122"/>
                <a:sym typeface="Wingdings" pitchFamily="2" charset="2"/>
              </a:rPr>
              <a:t>都是以相对完整的</a:t>
            </a:r>
            <a:r>
              <a:rPr lang="en-US" altLang="zh-CN" sz="2600" dirty="0" smtClean="0">
                <a:latin typeface="宋体" pitchFamily="2" charset="-122"/>
                <a:sym typeface="Wingdings" pitchFamily="2" charset="2"/>
              </a:rPr>
              <a:t>OOA</a:t>
            </a:r>
            <a:r>
              <a:rPr lang="zh-CN" altLang="en-US" sz="2600" dirty="0" smtClean="0">
                <a:latin typeface="宋体" pitchFamily="2" charset="-122"/>
                <a:sym typeface="Wingdings" pitchFamily="2" charset="2"/>
              </a:rPr>
              <a:t>结果作为输入，产生</a:t>
            </a:r>
            <a:r>
              <a:rPr lang="en-US" altLang="zh-CN" sz="2600" dirty="0" smtClean="0">
                <a:latin typeface="宋体" pitchFamily="2" charset="-122"/>
                <a:sym typeface="Wingdings" pitchFamily="2" charset="2"/>
              </a:rPr>
              <a:t>OOD</a:t>
            </a:r>
            <a:r>
              <a:rPr lang="zh-CN" altLang="en-US" sz="2600" dirty="0" smtClean="0">
                <a:latin typeface="宋体" pitchFamily="2" charset="-122"/>
                <a:sym typeface="Wingdings" pitchFamily="2" charset="2"/>
              </a:rPr>
              <a:t>模型后作为</a:t>
            </a:r>
            <a:r>
              <a:rPr lang="en-US" altLang="zh-CN" sz="2600" dirty="0" smtClean="0">
                <a:latin typeface="宋体" pitchFamily="2" charset="-122"/>
                <a:sym typeface="Wingdings" pitchFamily="2" charset="2"/>
              </a:rPr>
              <a:t>OOP</a:t>
            </a:r>
            <a:r>
              <a:rPr lang="zh-CN" altLang="en-US" sz="2600" dirty="0" smtClean="0">
                <a:latin typeface="宋体" pitchFamily="2" charset="-122"/>
                <a:sym typeface="Wingdings" pitchFamily="2" charset="2"/>
              </a:rPr>
              <a:t>的输入。只不过对于迭代或者螺旋模型，这些过程被分散到较小的、重复进行的步骤中了。</a:t>
            </a:r>
            <a:endParaRPr lang="zh-CN" altLang="en-US" sz="26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animEffect transition="in" filter="fade">
                                      <p:cBhvr>
                                        <p:cTn id="7" dur="1000"/>
                                        <p:tgtEl>
                                          <p:spTgt spid="161795">
                                            <p:txEl>
                                              <p:pRg st="1" end="1"/>
                                            </p:txEl>
                                          </p:spTgt>
                                        </p:tgtEl>
                                      </p:cBhvr>
                                    </p:animEffect>
                                    <p:anim calcmode="lin" valueType="num">
                                      <p:cBhvr>
                                        <p:cTn id="8" dur="1000" fill="hold"/>
                                        <p:tgtEl>
                                          <p:spTgt spid="16179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17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61795">
                                            <p:txEl>
                                              <p:pRg st="2" end="2"/>
                                            </p:txEl>
                                          </p:spTgt>
                                        </p:tgtEl>
                                        <p:attrNameLst>
                                          <p:attrName>style.visibility</p:attrName>
                                        </p:attrNameLst>
                                      </p:cBhvr>
                                      <p:to>
                                        <p:strVal val="visible"/>
                                      </p:to>
                                    </p:set>
                                    <p:animEffect transition="in" filter="fade">
                                      <p:cBhvr>
                                        <p:cTn id="14" dur="1000"/>
                                        <p:tgtEl>
                                          <p:spTgt spid="161795">
                                            <p:txEl>
                                              <p:pRg st="2" end="2"/>
                                            </p:txEl>
                                          </p:spTgt>
                                        </p:tgtEl>
                                      </p:cBhvr>
                                    </p:animEffect>
                                    <p:anim calcmode="lin" valueType="num">
                                      <p:cBhvr>
                                        <p:cTn id="15" dur="1000" fill="hold"/>
                                        <p:tgtEl>
                                          <p:spTgt spid="16179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17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61795">
                                            <p:txEl>
                                              <p:pRg st="3" end="3"/>
                                            </p:txEl>
                                          </p:spTgt>
                                        </p:tgtEl>
                                        <p:attrNameLst>
                                          <p:attrName>style.visibility</p:attrName>
                                        </p:attrNameLst>
                                      </p:cBhvr>
                                      <p:to>
                                        <p:strVal val="visible"/>
                                      </p:to>
                                    </p:set>
                                    <p:animEffect transition="in" filter="fade">
                                      <p:cBhvr>
                                        <p:cTn id="21" dur="1000"/>
                                        <p:tgtEl>
                                          <p:spTgt spid="161795">
                                            <p:txEl>
                                              <p:pRg st="3" end="3"/>
                                            </p:txEl>
                                          </p:spTgt>
                                        </p:tgtEl>
                                      </p:cBhvr>
                                    </p:animEffect>
                                    <p:anim calcmode="lin" valueType="num">
                                      <p:cBhvr>
                                        <p:cTn id="22" dur="1000" fill="hold"/>
                                        <p:tgtEl>
                                          <p:spTgt spid="16179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6179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736600" y="207946"/>
            <a:ext cx="7124700" cy="863600"/>
          </a:xfrm>
        </p:spPr>
        <p:txBody>
          <a:bodyPr>
            <a:normAutofit/>
          </a:bodyPr>
          <a:lstStyle/>
          <a:p>
            <a:r>
              <a:rPr lang="en-US" altLang="zh-CN" b="0" i="1" dirty="0" smtClean="0"/>
              <a:t>OOD</a:t>
            </a:r>
            <a:r>
              <a:rPr lang="zh-CN" altLang="en-US" b="0" i="1" dirty="0" smtClean="0"/>
              <a:t>与</a:t>
            </a:r>
            <a:r>
              <a:rPr lang="en-US" altLang="zh-CN" b="0" i="1" dirty="0" smtClean="0"/>
              <a:t>OOA</a:t>
            </a:r>
            <a:r>
              <a:rPr lang="zh-CN" altLang="en-US" b="0" i="1" dirty="0" smtClean="0"/>
              <a:t>的关系</a:t>
            </a:r>
            <a:endParaRPr lang="en-US" altLang="zh-CN" sz="3600" b="0" i="1" dirty="0"/>
          </a:p>
        </p:txBody>
      </p:sp>
      <p:sp>
        <p:nvSpPr>
          <p:cNvPr id="161795" name="Rectangle 3"/>
          <p:cNvSpPr>
            <a:spLocks noGrp="1" noChangeArrowheads="1"/>
          </p:cNvSpPr>
          <p:nvPr>
            <p:ph idx="1"/>
          </p:nvPr>
        </p:nvSpPr>
        <p:spPr>
          <a:xfrm>
            <a:off x="685800" y="1119206"/>
            <a:ext cx="7620000" cy="4953000"/>
          </a:xfrm>
        </p:spPr>
        <p:txBody>
          <a:bodyPr>
            <a:normAutofit/>
          </a:bodyPr>
          <a:lstStyle/>
          <a:p>
            <a:pPr algn="just">
              <a:spcAft>
                <a:spcPct val="40000"/>
              </a:spcAft>
            </a:pPr>
            <a:r>
              <a:rPr lang="en-US" altLang="zh-CN" sz="2900" dirty="0" smtClean="0">
                <a:effectLst>
                  <a:outerShdw blurRad="38100" dist="38100" dir="2700000" algn="tl">
                    <a:srgbClr val="C0C0C0"/>
                  </a:outerShdw>
                </a:effectLst>
                <a:latin typeface="宋体" pitchFamily="2" charset="-122"/>
              </a:rPr>
              <a:t>1</a:t>
            </a:r>
            <a:r>
              <a:rPr lang="zh-CN" altLang="en-US" sz="2900" dirty="0" smtClean="0">
                <a:effectLst>
                  <a:outerShdw blurRad="38100" dist="38100" dir="2700000" algn="tl">
                    <a:srgbClr val="C0C0C0"/>
                  </a:outerShdw>
                </a:effectLst>
                <a:latin typeface="宋体" pitchFamily="2" charset="-122"/>
              </a:rPr>
              <a:t>、“做什么”和“怎么做”</a:t>
            </a:r>
            <a:endParaRPr lang="en-US" altLang="zh-CN" sz="2900" dirty="0" smtClean="0">
              <a:effectLst>
                <a:outerShdw blurRad="38100" dist="38100" dir="2700000" algn="tl">
                  <a:srgbClr val="C0C0C0"/>
                </a:outerShdw>
              </a:effectLst>
              <a:latin typeface="宋体" pitchFamily="2" charset="-122"/>
            </a:endParaRPr>
          </a:p>
          <a:p>
            <a:pPr lvl="1" algn="just">
              <a:spcAft>
                <a:spcPct val="40000"/>
              </a:spcAft>
            </a:pPr>
            <a:r>
              <a:rPr lang="zh-CN" altLang="en-US" sz="2400" dirty="0" smtClean="0">
                <a:effectLst>
                  <a:outerShdw blurRad="38100" dist="38100" dir="2700000" algn="tl">
                    <a:srgbClr val="C0C0C0"/>
                  </a:outerShdw>
                </a:effectLst>
                <a:latin typeface="宋体" pitchFamily="2" charset="-122"/>
              </a:rPr>
              <a:t>问题：对于面向对象而言，几乎都把建立类图形式表示的应用系统作为</a:t>
            </a:r>
            <a:r>
              <a:rPr lang="en-US" altLang="zh-CN" sz="2400" dirty="0" smtClean="0">
                <a:effectLst>
                  <a:outerShdw blurRad="38100" dist="38100" dir="2700000" algn="tl">
                    <a:srgbClr val="C0C0C0"/>
                  </a:outerShdw>
                </a:effectLst>
                <a:latin typeface="宋体" pitchFamily="2" charset="-122"/>
              </a:rPr>
              <a:t>OOA</a:t>
            </a:r>
            <a:r>
              <a:rPr lang="zh-CN" altLang="en-US" sz="2400" dirty="0" smtClean="0">
                <a:effectLst>
                  <a:outerShdw blurRad="38100" dist="38100" dir="2700000" algn="tl">
                    <a:srgbClr val="C0C0C0"/>
                  </a:outerShdw>
                </a:effectLst>
                <a:latin typeface="宋体" pitchFamily="2" charset="-122"/>
              </a:rPr>
              <a:t>的主要目标。实际上</a:t>
            </a:r>
            <a:r>
              <a:rPr lang="en-US" altLang="zh-CN" sz="2400" dirty="0" smtClean="0">
                <a:effectLst>
                  <a:outerShdw blurRad="38100" dist="38100" dir="2700000" algn="tl">
                    <a:srgbClr val="C0C0C0"/>
                  </a:outerShdw>
                </a:effectLst>
                <a:latin typeface="宋体" pitchFamily="2" charset="-122"/>
              </a:rPr>
              <a:t>OOA</a:t>
            </a:r>
            <a:r>
              <a:rPr lang="zh-CN" altLang="en-US" sz="2400" dirty="0" smtClean="0">
                <a:effectLst>
                  <a:outerShdw blurRad="38100" dist="38100" dir="2700000" algn="tl">
                    <a:srgbClr val="C0C0C0"/>
                  </a:outerShdw>
                </a:effectLst>
                <a:latin typeface="宋体" pitchFamily="2" charset="-122"/>
              </a:rPr>
              <a:t>得到的类图已在很大程度上定义了系统如何构造（属性、方法、关系等）。</a:t>
            </a:r>
            <a:endParaRPr lang="en-US" altLang="zh-CN" sz="2400" dirty="0" smtClean="0">
              <a:effectLst>
                <a:outerShdw blurRad="38100" dist="38100" dir="2700000" algn="tl">
                  <a:srgbClr val="C0C0C0"/>
                </a:outerShdw>
              </a:effectLst>
              <a:latin typeface="宋体" pitchFamily="2" charset="-122"/>
            </a:endParaRPr>
          </a:p>
          <a:p>
            <a:pPr lvl="1" algn="just">
              <a:spcAft>
                <a:spcPct val="40000"/>
              </a:spcAft>
            </a:pPr>
            <a:r>
              <a:rPr lang="zh-CN" altLang="en-US" sz="2400" dirty="0" smtClean="0">
                <a:effectLst>
                  <a:outerShdw blurRad="38100" dist="38100" dir="2700000" algn="tl">
                    <a:srgbClr val="C0C0C0"/>
                  </a:outerShdw>
                </a:effectLst>
                <a:latin typeface="宋体" pitchFamily="2" charset="-122"/>
              </a:rPr>
              <a:t>其实这种说法来自于结构化方法。但是结构化分析中的数据流图，包括数据字典、处理说明等，都是在考虑如何构造一个满足用户需求的系统时所采取的</a:t>
            </a:r>
            <a:r>
              <a:rPr lang="zh-CN" altLang="en-US" sz="2400" dirty="0" smtClean="0">
                <a:solidFill>
                  <a:srgbClr val="FF0000"/>
                </a:solidFill>
                <a:effectLst>
                  <a:outerShdw blurRad="38100" dist="38100" dir="2700000" algn="tl">
                    <a:srgbClr val="C0C0C0"/>
                  </a:outerShdw>
                </a:effectLst>
                <a:latin typeface="宋体" pitchFamily="2" charset="-122"/>
              </a:rPr>
              <a:t>系统建模</a:t>
            </a:r>
            <a:r>
              <a:rPr lang="zh-CN" altLang="en-US" sz="2400" dirty="0" smtClean="0">
                <a:effectLst>
                  <a:outerShdw blurRad="38100" dist="38100" dir="2700000" algn="tl">
                    <a:srgbClr val="C0C0C0"/>
                  </a:outerShdw>
                </a:effectLst>
                <a:latin typeface="宋体" pitchFamily="2" charset="-122"/>
              </a:rPr>
              <a:t>概念。只是抽象层次较高而已。</a:t>
            </a:r>
            <a:endParaRPr lang="en-US" altLang="zh-CN" sz="2400" dirty="0" smtClean="0">
              <a:effectLst>
                <a:outerShdw blurRad="38100" dist="38100" dir="2700000" algn="tl">
                  <a:srgbClr val="C0C0C0"/>
                </a:outerShdw>
              </a:effectLst>
              <a:latin typeface="宋体" pitchFamily="2" charset="-122"/>
            </a:endParaRPr>
          </a:p>
          <a:p>
            <a:pPr lvl="1" algn="just">
              <a:spcAft>
                <a:spcPct val="40000"/>
              </a:spcAft>
            </a:pPr>
            <a:r>
              <a:rPr lang="zh-CN" altLang="en-US" sz="2400" dirty="0" smtClean="0">
                <a:effectLst>
                  <a:outerShdw blurRad="38100" dist="38100" dir="2700000" algn="tl">
                    <a:srgbClr val="C0C0C0"/>
                  </a:outerShdw>
                </a:effectLst>
                <a:latin typeface="宋体" pitchFamily="2" charset="-122"/>
              </a:rPr>
              <a:t>所以，两种方法学的分析都不是纯粹的需求陈述（做什么），所以这种关系表述是比较勉强的。</a:t>
            </a:r>
            <a:endParaRPr lang="zh-CN" altLang="en-US" sz="2400" dirty="0">
              <a:effectLst>
                <a:outerShdw blurRad="38100" dist="38100" dir="2700000" algn="tl">
                  <a:srgbClr val="C0C0C0"/>
                </a:outerShdw>
              </a:effectLst>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5">
                                            <p:txEl>
                                              <p:pRg st="2" end="2"/>
                                            </p:txEl>
                                          </p:spTgt>
                                        </p:tgtEl>
                                        <p:attrNameLst>
                                          <p:attrName>style.visibility</p:attrName>
                                        </p:attrNameLst>
                                      </p:cBhvr>
                                      <p:to>
                                        <p:strVal val="visible"/>
                                      </p:to>
                                    </p:set>
                                    <p:anim calcmode="lin" valueType="num">
                                      <p:cBhvr additive="base">
                                        <p:cTn id="7" dur="500" fill="hold"/>
                                        <p:tgtEl>
                                          <p:spTgt spid="1617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anim calcmode="lin" valueType="num">
                                      <p:cBhvr additive="base">
                                        <p:cTn id="13" dur="500" fill="hold"/>
                                        <p:tgtEl>
                                          <p:spTgt spid="16179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7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a:xfrm>
            <a:off x="642910" y="1214422"/>
            <a:ext cx="7929618" cy="4714908"/>
          </a:xfrm>
        </p:spPr>
        <p:txBody>
          <a:bodyPr>
            <a:normAutofit/>
          </a:bodyPr>
          <a:lstStyle/>
          <a:p>
            <a:pPr algn="just">
              <a:spcAft>
                <a:spcPct val="40000"/>
              </a:spcAft>
            </a:pPr>
            <a:r>
              <a:rPr lang="en-US" altLang="zh-CN" sz="2900" dirty="0" smtClean="0">
                <a:effectLst>
                  <a:outerShdw blurRad="38100" dist="38100" dir="2700000" algn="tl">
                    <a:srgbClr val="C0C0C0"/>
                  </a:outerShdw>
                </a:effectLst>
                <a:latin typeface="宋体" pitchFamily="2" charset="-122"/>
              </a:rPr>
              <a:t>1</a:t>
            </a:r>
            <a:r>
              <a:rPr lang="zh-CN" altLang="en-US" sz="2900" dirty="0" smtClean="0">
                <a:effectLst>
                  <a:outerShdw blurRad="38100" dist="38100" dir="2700000" algn="tl">
                    <a:srgbClr val="C0C0C0"/>
                  </a:outerShdw>
                </a:effectLst>
                <a:latin typeface="宋体" pitchFamily="2" charset="-122"/>
              </a:rPr>
              <a:t>、“做什么”和“怎么做”关系勉强的原因</a:t>
            </a:r>
            <a:endParaRPr lang="en-US" altLang="zh-CN" sz="2900" dirty="0" smtClean="0">
              <a:effectLst>
                <a:outerShdw blurRad="38100" dist="38100" dir="2700000" algn="tl">
                  <a:srgbClr val="C0C0C0"/>
                </a:outerShdw>
              </a:effectLst>
              <a:latin typeface="宋体" pitchFamily="2" charset="-122"/>
            </a:endParaRPr>
          </a:p>
          <a:p>
            <a:pPr lvl="1" algn="just">
              <a:spcAft>
                <a:spcPct val="40000"/>
              </a:spcAft>
            </a:pPr>
            <a:r>
              <a:rPr lang="zh-CN" altLang="en-US" sz="2400" b="1" i="1" dirty="0" smtClean="0">
                <a:solidFill>
                  <a:srgbClr val="FF0000"/>
                </a:solidFill>
                <a:latin typeface="宋体" pitchFamily="2" charset="-122"/>
              </a:rPr>
              <a:t>主要是忽略“需求分析”和“系统分析”的概念差异</a:t>
            </a:r>
            <a:endParaRPr lang="en-US" altLang="zh-CN" sz="2400" dirty="0" smtClean="0">
              <a:latin typeface="宋体" pitchFamily="2" charset="-122"/>
            </a:endParaRPr>
          </a:p>
          <a:p>
            <a:pPr lvl="1" algn="just">
              <a:spcAft>
                <a:spcPct val="40000"/>
              </a:spcAft>
            </a:pPr>
            <a:r>
              <a:rPr lang="zh-CN" altLang="en-US" sz="2400" dirty="0" smtClean="0">
                <a:latin typeface="宋体" pitchFamily="2" charset="-122"/>
              </a:rPr>
              <a:t>结构化分析和面向对象分析都是一种系统分析，其中真正属于需求分析的内容并不太大，更多的是给出一种系统建模方法（包括一组概念、表示法、建模过程指导）。</a:t>
            </a:r>
            <a:endParaRPr lang="en-US" altLang="zh-CN" sz="2400" dirty="0" smtClean="0">
              <a:latin typeface="宋体" pitchFamily="2" charset="-122"/>
            </a:endParaRPr>
          </a:p>
          <a:p>
            <a:pPr lvl="1" algn="just">
              <a:spcAft>
                <a:spcPct val="40000"/>
              </a:spcAft>
            </a:pPr>
            <a:r>
              <a:rPr lang="zh-CN" altLang="en-US" sz="2400" dirty="0" smtClean="0">
                <a:latin typeface="宋体" pitchFamily="2" charset="-122"/>
              </a:rPr>
              <a:t>它是</a:t>
            </a:r>
            <a:r>
              <a:rPr lang="zh-CN" altLang="en-US" sz="2400" dirty="0" smtClean="0">
                <a:latin typeface="宋体" pitchFamily="2" charset="-122"/>
              </a:rPr>
              <a:t>对“做什么”的进一步明确，也在相当程度上涉及到“怎么做”的问题。</a:t>
            </a:r>
            <a:endParaRPr lang="en-US" altLang="zh-CN" sz="2400" dirty="0" smtClean="0">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4</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OOD</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与</a:t>
            </a: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OOA</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的关系</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a:xfrm>
            <a:off x="685800" y="1357298"/>
            <a:ext cx="7620000" cy="4329130"/>
          </a:xfrm>
        </p:spPr>
        <p:txBody>
          <a:bodyPr>
            <a:normAutofit/>
          </a:bodyPr>
          <a:lstStyle/>
          <a:p>
            <a:pPr algn="just">
              <a:spcAft>
                <a:spcPct val="40000"/>
              </a:spcAft>
            </a:pPr>
            <a:r>
              <a:rPr lang="en-US" altLang="zh-CN" sz="2900" dirty="0" smtClean="0">
                <a:effectLst>
                  <a:outerShdw blurRad="38100" dist="38100" dir="2700000" algn="tl">
                    <a:srgbClr val="C0C0C0"/>
                  </a:outerShdw>
                </a:effectLst>
                <a:latin typeface="宋体" pitchFamily="2" charset="-122"/>
              </a:rPr>
              <a:t>2</a:t>
            </a:r>
            <a:r>
              <a:rPr lang="zh-CN" altLang="en-US" sz="2900" dirty="0" smtClean="0">
                <a:effectLst>
                  <a:outerShdw blurRad="38100" dist="38100" dir="2700000" algn="tl">
                    <a:srgbClr val="C0C0C0"/>
                  </a:outerShdw>
                </a:effectLst>
                <a:latin typeface="宋体" pitchFamily="2" charset="-122"/>
              </a:rPr>
              <a:t>、“问题空间”和“解空间”</a:t>
            </a:r>
            <a:endParaRPr lang="en-US" altLang="zh-CN" sz="2900" dirty="0" smtClean="0">
              <a:effectLst>
                <a:outerShdw blurRad="38100" dist="38100" dir="2700000" algn="tl">
                  <a:srgbClr val="C0C0C0"/>
                </a:outerShdw>
              </a:effectLst>
              <a:latin typeface="宋体" pitchFamily="2" charset="-122"/>
            </a:endParaRPr>
          </a:p>
          <a:p>
            <a:pPr lvl="1" algn="just">
              <a:spcAft>
                <a:spcPct val="40000"/>
              </a:spcAft>
            </a:pPr>
            <a:r>
              <a:rPr lang="zh-CN" altLang="en-US" dirty="0" smtClean="0">
                <a:latin typeface="宋体" pitchFamily="2" charset="-122"/>
              </a:rPr>
              <a:t>问题与“</a:t>
            </a:r>
            <a:r>
              <a:rPr lang="en-US" altLang="zh-CN" dirty="0" smtClean="0">
                <a:latin typeface="宋体" pitchFamily="2" charset="-122"/>
              </a:rPr>
              <a:t>1</a:t>
            </a:r>
            <a:r>
              <a:rPr lang="zh-CN" altLang="en-US" dirty="0" smtClean="0">
                <a:latin typeface="宋体" pitchFamily="2" charset="-122"/>
              </a:rPr>
              <a:t>”中的类似。说需求分析是建立对“问题空间”的描述，大体上说得通。但是系统分析中的数据流图（类图），都已经</a:t>
            </a:r>
            <a:r>
              <a:rPr lang="zh-CN" altLang="en-US" dirty="0" smtClean="0">
                <a:latin typeface="宋体" pitchFamily="2" charset="-122"/>
              </a:rPr>
              <a:t>相当</a:t>
            </a:r>
            <a:r>
              <a:rPr lang="zh-CN" altLang="en-US" dirty="0" smtClean="0">
                <a:solidFill>
                  <a:srgbClr val="FF0000"/>
                </a:solidFill>
                <a:latin typeface="宋体" pitchFamily="2" charset="-122"/>
              </a:rPr>
              <a:t>一定程度</a:t>
            </a:r>
            <a:r>
              <a:rPr lang="zh-CN" altLang="en-US" dirty="0" smtClean="0">
                <a:solidFill>
                  <a:srgbClr val="FF0000"/>
                </a:solidFill>
                <a:latin typeface="宋体" pitchFamily="2" charset="-122"/>
              </a:rPr>
              <a:t>上</a:t>
            </a:r>
            <a:r>
              <a:rPr lang="zh-CN" altLang="en-US" dirty="0" smtClean="0">
                <a:latin typeface="宋体" pitchFamily="2" charset="-122"/>
              </a:rPr>
              <a:t>表现出“解空间”的内容。</a:t>
            </a:r>
            <a:endParaRPr lang="en-US" altLang="zh-CN" dirty="0" smtClean="0">
              <a:latin typeface="宋体" pitchFamily="2" charset="-122"/>
            </a:endParaRPr>
          </a:p>
          <a:p>
            <a:pPr lvl="1" algn="just">
              <a:spcAft>
                <a:spcPct val="40000"/>
              </a:spcAft>
            </a:pPr>
            <a:endParaRPr lang="en-US" altLang="zh-CN" dirty="0" smtClean="0">
              <a:latin typeface="宋体" pitchFamily="2" charset="-122"/>
            </a:endParaRPr>
          </a:p>
          <a:p>
            <a:pPr lvl="1" algn="just">
              <a:spcAft>
                <a:spcPct val="40000"/>
              </a:spcAft>
            </a:pPr>
            <a:r>
              <a:rPr lang="zh-CN" altLang="en-US" dirty="0" smtClean="0">
                <a:solidFill>
                  <a:srgbClr val="FF0000"/>
                </a:solidFill>
                <a:latin typeface="宋体" pitchFamily="2" charset="-122"/>
              </a:rPr>
              <a:t>注意：这里是补充说明的内容，方便大家来扩展思路。一般说来这两种关系还是可以认为是基本正确的。</a:t>
            </a:r>
            <a:endParaRPr lang="en-US" altLang="zh-CN" dirty="0" smtClean="0">
              <a:solidFill>
                <a:srgbClr val="FF0000"/>
              </a:solidFill>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5</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OOD</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与</a:t>
            </a: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OOA</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的关系</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5">
                                            <p:txEl>
                                              <p:pRg st="3" end="3"/>
                                            </p:txEl>
                                          </p:spTgt>
                                        </p:tgtEl>
                                        <p:attrNameLst>
                                          <p:attrName>style.visibility</p:attrName>
                                        </p:attrNameLst>
                                      </p:cBhvr>
                                      <p:to>
                                        <p:strVal val="visible"/>
                                      </p:to>
                                    </p:set>
                                    <p:anim calcmode="lin" valueType="num">
                                      <p:cBhvr additive="base">
                                        <p:cTn id="7" dur="500" fill="hold"/>
                                        <p:tgtEl>
                                          <p:spTgt spid="16179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a:xfrm>
            <a:off x="714348" y="1142984"/>
            <a:ext cx="7929618" cy="4929222"/>
          </a:xfrm>
        </p:spPr>
        <p:txBody>
          <a:bodyPr>
            <a:normAutofit lnSpcReduction="10000"/>
          </a:bodyPr>
          <a:lstStyle/>
          <a:p>
            <a:pPr algn="just">
              <a:spcAft>
                <a:spcPct val="40000"/>
              </a:spcAft>
            </a:pPr>
            <a:r>
              <a:rPr lang="en-US" altLang="zh-CN" sz="2400" dirty="0" smtClean="0">
                <a:latin typeface="宋体" pitchFamily="2" charset="-122"/>
              </a:rPr>
              <a:t>OOA</a:t>
            </a:r>
            <a:r>
              <a:rPr lang="zh-CN" altLang="en-US" sz="2400" dirty="0" smtClean="0">
                <a:latin typeface="宋体" pitchFamily="2" charset="-122"/>
              </a:rPr>
              <a:t>和</a:t>
            </a:r>
            <a:r>
              <a:rPr lang="en-US" altLang="zh-CN" sz="2400" dirty="0" smtClean="0">
                <a:latin typeface="宋体" pitchFamily="2" charset="-122"/>
              </a:rPr>
              <a:t>OOD</a:t>
            </a:r>
            <a:r>
              <a:rPr lang="zh-CN" altLang="en-US" sz="2400" dirty="0" smtClean="0">
                <a:latin typeface="宋体" pitchFamily="2" charset="-122"/>
              </a:rPr>
              <a:t>都是运用面向对象的概念、原则和表示法建立系统模型。但是二者有不同的</a:t>
            </a:r>
            <a:r>
              <a:rPr lang="zh-CN" altLang="en-US" sz="2400" dirty="0" smtClean="0">
                <a:solidFill>
                  <a:srgbClr val="FF0000"/>
                </a:solidFill>
                <a:latin typeface="宋体" pitchFamily="2" charset="-122"/>
              </a:rPr>
              <a:t>目标、内容和抽象层次</a:t>
            </a:r>
            <a:r>
              <a:rPr lang="zh-CN" altLang="en-US" sz="2400" dirty="0" smtClean="0">
                <a:latin typeface="宋体" pitchFamily="2" charset="-122"/>
              </a:rPr>
              <a:t>。</a:t>
            </a:r>
            <a:endParaRPr lang="en-US" altLang="zh-CN" sz="2400" dirty="0" smtClean="0">
              <a:latin typeface="宋体" pitchFamily="2" charset="-122"/>
            </a:endParaRPr>
          </a:p>
          <a:p>
            <a:pPr algn="just">
              <a:spcAft>
                <a:spcPct val="40000"/>
              </a:spcAft>
            </a:pPr>
            <a:r>
              <a:rPr lang="en-US" altLang="zh-CN" sz="2400" dirty="0" smtClean="0">
                <a:solidFill>
                  <a:srgbClr val="FF0000"/>
                </a:solidFill>
                <a:latin typeface="宋体" pitchFamily="2" charset="-122"/>
              </a:rPr>
              <a:t>OOA</a:t>
            </a:r>
            <a:r>
              <a:rPr lang="zh-CN" altLang="en-US" sz="2400" dirty="0" smtClean="0">
                <a:solidFill>
                  <a:srgbClr val="FF0000"/>
                </a:solidFill>
                <a:latin typeface="宋体" pitchFamily="2" charset="-122"/>
              </a:rPr>
              <a:t>的主要工作</a:t>
            </a:r>
            <a:r>
              <a:rPr lang="zh-CN" altLang="en-US" sz="2400" dirty="0" smtClean="0">
                <a:latin typeface="宋体" pitchFamily="2" charset="-122"/>
              </a:rPr>
              <a:t>是研究问题域和用户需求，运用面向对象的观点和原则发现问题域中与系统责任有关的对象、对象特征和对象之间的关系。</a:t>
            </a:r>
            <a:r>
              <a:rPr lang="en-US" altLang="zh-CN" sz="2400" dirty="0" smtClean="0">
                <a:latin typeface="宋体" pitchFamily="2" charset="-122"/>
              </a:rPr>
              <a:t>OOA</a:t>
            </a:r>
            <a:r>
              <a:rPr lang="zh-CN" altLang="en-US" sz="2400" dirty="0" smtClean="0">
                <a:latin typeface="宋体" pitchFamily="2" charset="-122"/>
              </a:rPr>
              <a:t>的目标是建立一个直接映射问题域，符合用户需求的</a:t>
            </a:r>
            <a:r>
              <a:rPr lang="en-US" altLang="zh-CN" sz="2400" dirty="0" smtClean="0">
                <a:latin typeface="宋体" pitchFamily="2" charset="-122"/>
              </a:rPr>
              <a:t>OOA</a:t>
            </a:r>
            <a:r>
              <a:rPr lang="zh-CN" altLang="en-US" sz="2400" dirty="0" smtClean="0">
                <a:latin typeface="宋体" pitchFamily="2" charset="-122"/>
              </a:rPr>
              <a:t>模型。</a:t>
            </a:r>
            <a:r>
              <a:rPr lang="en-US" altLang="zh-CN" sz="2400" dirty="0" smtClean="0">
                <a:latin typeface="宋体" pitchFamily="2" charset="-122"/>
              </a:rPr>
              <a:t>OOA</a:t>
            </a:r>
            <a:r>
              <a:rPr lang="zh-CN" altLang="en-US" sz="2400" dirty="0" smtClean="0">
                <a:latin typeface="宋体" pitchFamily="2" charset="-122"/>
              </a:rPr>
              <a:t>模型是抽象层次较高的系统模型，它忽略了针对具体实现而采取的设计决策及有关细节。</a:t>
            </a:r>
            <a:endParaRPr lang="en-US" altLang="zh-CN" sz="2400" dirty="0" smtClean="0">
              <a:latin typeface="宋体" pitchFamily="2" charset="-122"/>
            </a:endParaRPr>
          </a:p>
          <a:p>
            <a:pPr algn="just">
              <a:spcAft>
                <a:spcPct val="40000"/>
              </a:spcAft>
            </a:pPr>
            <a:r>
              <a:rPr lang="en-US" altLang="zh-CN" sz="2400" dirty="0" smtClean="0">
                <a:solidFill>
                  <a:srgbClr val="FF0000"/>
                </a:solidFill>
                <a:latin typeface="宋体" pitchFamily="2" charset="-122"/>
              </a:rPr>
              <a:t>OOD</a:t>
            </a:r>
            <a:r>
              <a:rPr lang="zh-CN" altLang="en-US" sz="2400" dirty="0" smtClean="0">
                <a:solidFill>
                  <a:srgbClr val="FF0000"/>
                </a:solidFill>
                <a:latin typeface="宋体" pitchFamily="2" charset="-122"/>
              </a:rPr>
              <a:t>的主要工作</a:t>
            </a:r>
            <a:r>
              <a:rPr lang="zh-CN" altLang="en-US" sz="2400" dirty="0" smtClean="0">
                <a:latin typeface="宋体" pitchFamily="2" charset="-122"/>
              </a:rPr>
              <a:t>是以</a:t>
            </a:r>
            <a:r>
              <a:rPr lang="en-US" altLang="zh-CN" sz="2400" dirty="0" smtClean="0">
                <a:latin typeface="宋体" pitchFamily="2" charset="-122"/>
              </a:rPr>
              <a:t>OOA</a:t>
            </a:r>
            <a:r>
              <a:rPr lang="zh-CN" altLang="en-US" sz="2400" dirty="0" smtClean="0">
                <a:latin typeface="宋体" pitchFamily="2" charset="-122"/>
              </a:rPr>
              <a:t>模型为基础，针对选定的实现平台进行系统设计和对象设计，包括全局性的决策和局部细节的设计。</a:t>
            </a:r>
            <a:r>
              <a:rPr lang="en-US" altLang="zh-CN" sz="2400" dirty="0" smtClean="0">
                <a:latin typeface="宋体" pitchFamily="2" charset="-122"/>
              </a:rPr>
              <a:t>OOD</a:t>
            </a:r>
            <a:r>
              <a:rPr lang="zh-CN" altLang="en-US" sz="2400" dirty="0" smtClean="0">
                <a:latin typeface="宋体" pitchFamily="2" charset="-122"/>
              </a:rPr>
              <a:t>的目标是产生一个满足用户需求，并且在选定的实现平台上完全可实现的</a:t>
            </a:r>
            <a:r>
              <a:rPr lang="en-US" altLang="zh-CN" sz="2400" dirty="0" smtClean="0">
                <a:latin typeface="宋体" pitchFamily="2" charset="-122"/>
              </a:rPr>
              <a:t>OOD</a:t>
            </a:r>
            <a:r>
              <a:rPr lang="zh-CN" altLang="en-US" sz="2400" dirty="0" smtClean="0">
                <a:latin typeface="宋体" pitchFamily="2" charset="-122"/>
              </a:rPr>
              <a:t>模型（抽象层次较低）</a:t>
            </a:r>
            <a:endParaRPr lang="en-US" altLang="zh-CN" sz="2400" dirty="0" smtClean="0">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6</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OOD</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与</a:t>
            </a: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OOA</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的关系</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anim calcmode="lin" valueType="num">
                                      <p:cBhvr additive="base">
                                        <p:cTn id="7" dur="500" fill="hold"/>
                                        <p:tgtEl>
                                          <p:spTgt spid="1617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1795">
                                            <p:txEl>
                                              <p:pRg st="2" end="2"/>
                                            </p:txEl>
                                          </p:spTgt>
                                        </p:tgtEl>
                                        <p:attrNameLst>
                                          <p:attrName>style.visibility</p:attrName>
                                        </p:attrNameLst>
                                      </p:cBhvr>
                                      <p:to>
                                        <p:strVal val="visible"/>
                                      </p:to>
                                    </p:set>
                                    <p:anim calcmode="lin" valueType="num">
                                      <p:cBhvr additive="base">
                                        <p:cTn id="13" dur="500" fill="hold"/>
                                        <p:tgtEl>
                                          <p:spTgt spid="1617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7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736600" y="207946"/>
            <a:ext cx="7124700" cy="863600"/>
          </a:xfrm>
        </p:spPr>
        <p:txBody>
          <a:bodyPr/>
          <a:lstStyle/>
          <a:p>
            <a:r>
              <a:rPr lang="zh-CN" altLang="en-US" b="0" i="1" dirty="0" smtClean="0"/>
              <a:t>面向对象设计 </a:t>
            </a:r>
            <a:r>
              <a:rPr lang="en-US" altLang="zh-CN" b="0" i="1" dirty="0" smtClean="0"/>
              <a:t>OOD</a:t>
            </a:r>
            <a:endParaRPr lang="en-US" altLang="zh-CN" b="0" i="1" dirty="0"/>
          </a:p>
        </p:txBody>
      </p:sp>
      <p:sp>
        <p:nvSpPr>
          <p:cNvPr id="161795" name="Rectangle 3"/>
          <p:cNvSpPr>
            <a:spLocks noGrp="1" noChangeArrowheads="1"/>
          </p:cNvSpPr>
          <p:nvPr>
            <p:ph idx="1"/>
          </p:nvPr>
        </p:nvSpPr>
        <p:spPr>
          <a:xfrm>
            <a:off x="685800" y="1071546"/>
            <a:ext cx="7620000" cy="4953000"/>
          </a:xfrm>
        </p:spPr>
        <p:txBody>
          <a:bodyPr>
            <a:normAutofit/>
          </a:bodyPr>
          <a:lstStyle/>
          <a:p>
            <a:pPr algn="just">
              <a:spcAft>
                <a:spcPct val="40000"/>
              </a:spcAft>
            </a:pPr>
            <a:r>
              <a:rPr lang="zh-CN" altLang="en-US" sz="2500" dirty="0">
                <a:effectLst>
                  <a:outerShdw blurRad="38100" dist="38100" dir="2700000" algn="tl">
                    <a:srgbClr val="C0C0C0"/>
                  </a:outerShdw>
                </a:effectLst>
                <a:latin typeface="宋体" pitchFamily="2" charset="-122"/>
              </a:rPr>
              <a:t>分析是提取和整理用户需求，建立问题域精确模型的</a:t>
            </a:r>
            <a:r>
              <a:rPr lang="zh-CN" altLang="en-US" sz="2500" dirty="0" smtClean="0">
                <a:effectLst>
                  <a:outerShdw blurRad="38100" dist="38100" dir="2700000" algn="tl">
                    <a:srgbClr val="C0C0C0"/>
                  </a:outerShdw>
                </a:effectLst>
                <a:latin typeface="宋体" pitchFamily="2" charset="-122"/>
              </a:rPr>
              <a:t>过程。</a:t>
            </a:r>
            <a:endParaRPr lang="zh-CN" altLang="en-US" sz="2500" dirty="0">
              <a:effectLst>
                <a:outerShdw blurRad="38100" dist="38100" dir="2700000" algn="tl">
                  <a:srgbClr val="C0C0C0"/>
                </a:outerShdw>
              </a:effectLst>
              <a:latin typeface="宋体" pitchFamily="2" charset="-122"/>
            </a:endParaRPr>
          </a:p>
          <a:p>
            <a:pPr algn="just">
              <a:spcAft>
                <a:spcPct val="40000"/>
              </a:spcAft>
            </a:pPr>
            <a:r>
              <a:rPr lang="zh-CN" altLang="en-US" sz="2500" dirty="0">
                <a:effectLst>
                  <a:outerShdw blurRad="38100" dist="38100" dir="2700000" algn="tl">
                    <a:srgbClr val="C0C0C0"/>
                  </a:outerShdw>
                </a:effectLst>
                <a:latin typeface="宋体" pitchFamily="2" charset="-122"/>
              </a:rPr>
              <a:t>设计则是把分析阶段得到的需求转变成符合成本和质量要求的、抽象的系统实现方案的</a:t>
            </a:r>
            <a:r>
              <a:rPr lang="zh-CN" altLang="en-US" sz="2500" dirty="0" smtClean="0">
                <a:effectLst>
                  <a:outerShdw blurRad="38100" dist="38100" dir="2700000" algn="tl">
                    <a:srgbClr val="C0C0C0"/>
                  </a:outerShdw>
                </a:effectLst>
                <a:latin typeface="宋体" pitchFamily="2" charset="-122"/>
              </a:rPr>
              <a:t>过程。</a:t>
            </a:r>
            <a:endParaRPr lang="zh-CN" altLang="en-US" sz="2500" dirty="0">
              <a:effectLst>
                <a:outerShdw blurRad="38100" dist="38100" dir="2700000" algn="tl">
                  <a:srgbClr val="C0C0C0"/>
                </a:outerShdw>
              </a:effectLst>
              <a:latin typeface="宋体" pitchFamily="2" charset="-122"/>
            </a:endParaRPr>
          </a:p>
          <a:p>
            <a:pPr algn="just">
              <a:spcAft>
                <a:spcPct val="40000"/>
              </a:spcAft>
            </a:pPr>
            <a:r>
              <a:rPr lang="zh-CN" altLang="en-US" sz="2500" dirty="0">
                <a:effectLst>
                  <a:outerShdw blurRad="38100" dist="38100" dir="2700000" algn="tl">
                    <a:srgbClr val="C0C0C0"/>
                  </a:outerShdw>
                </a:effectLst>
                <a:latin typeface="宋体" pitchFamily="2" charset="-122"/>
              </a:rPr>
              <a:t>从面向对象分析到面向对象设计是一个逐步扩充模型的过程，面向对象设计是用面向对象的观点</a:t>
            </a:r>
            <a:r>
              <a:rPr lang="zh-CN" altLang="en-US" sz="2500" dirty="0">
                <a:solidFill>
                  <a:srgbClr val="FF0000"/>
                </a:solidFill>
                <a:effectLst>
                  <a:outerShdw blurRad="38100" dist="38100" dir="2700000" algn="tl">
                    <a:srgbClr val="C0C0C0"/>
                  </a:outerShdw>
                </a:effectLst>
                <a:latin typeface="宋体" pitchFamily="2" charset="-122"/>
              </a:rPr>
              <a:t>建立求解域模型</a:t>
            </a:r>
            <a:r>
              <a:rPr lang="zh-CN" altLang="en-US" sz="2500" dirty="0">
                <a:effectLst>
                  <a:outerShdw blurRad="38100" dist="38100" dir="2700000" algn="tl">
                    <a:srgbClr val="C0C0C0"/>
                  </a:outerShdw>
                </a:effectLst>
                <a:latin typeface="宋体" pitchFamily="2" charset="-122"/>
              </a:rPr>
              <a:t>的</a:t>
            </a:r>
            <a:r>
              <a:rPr lang="zh-CN" altLang="en-US" sz="2500" dirty="0" smtClean="0">
                <a:effectLst>
                  <a:outerShdw blurRad="38100" dist="38100" dir="2700000" algn="tl">
                    <a:srgbClr val="C0C0C0"/>
                  </a:outerShdw>
                </a:effectLst>
                <a:latin typeface="宋体" pitchFamily="2" charset="-122"/>
              </a:rPr>
              <a:t>过程。</a:t>
            </a:r>
            <a:endParaRPr lang="zh-CN" altLang="en-US" sz="2500" dirty="0">
              <a:effectLst>
                <a:outerShdw blurRad="38100" dist="38100" dir="2700000" algn="tl">
                  <a:srgbClr val="C0C0C0"/>
                </a:outerShdw>
              </a:effectLst>
              <a:latin typeface="宋体" pitchFamily="2" charset="-122"/>
            </a:endParaRPr>
          </a:p>
          <a:p>
            <a:pPr algn="just">
              <a:spcAft>
                <a:spcPct val="40000"/>
              </a:spcAft>
            </a:pPr>
            <a:r>
              <a:rPr lang="zh-CN" altLang="en-US" sz="2500" dirty="0">
                <a:effectLst>
                  <a:outerShdw blurRad="38100" dist="38100" dir="2700000" algn="tl">
                    <a:srgbClr val="C0C0C0"/>
                  </a:outerShdw>
                </a:effectLst>
                <a:latin typeface="宋体" pitchFamily="2" charset="-122"/>
              </a:rPr>
              <a:t>许多分析的结果可以直接映射成设计结果，而在设计中又会加深和补充对系统需求的理解，进一步完善分析的结果。因此，分析和设计是一个反复迭代的</a:t>
            </a:r>
            <a:r>
              <a:rPr lang="zh-CN" altLang="en-US" sz="2500" dirty="0" smtClean="0">
                <a:effectLst>
                  <a:outerShdw blurRad="38100" dist="38100" dir="2700000" algn="tl">
                    <a:srgbClr val="C0C0C0"/>
                  </a:outerShdw>
                </a:effectLst>
                <a:latin typeface="宋体" pitchFamily="2" charset="-122"/>
              </a:rPr>
              <a:t>过程。</a:t>
            </a:r>
            <a:endParaRPr lang="zh-CN" altLang="en-US" sz="2500" dirty="0">
              <a:effectLst>
                <a:outerShdw blurRad="38100" dist="38100" dir="2700000" algn="tl">
                  <a:srgbClr val="C0C0C0"/>
                </a:outerShdw>
              </a:effectLst>
              <a:latin typeface="宋体" pitchFamily="2" charset="-122"/>
            </a:endParaRPr>
          </a:p>
        </p:txBody>
      </p:sp>
      <p:sp>
        <p:nvSpPr>
          <p:cNvPr id="4" name="灯片编号占位符 5"/>
          <p:cNvSpPr>
            <a:spLocks noGrp="1"/>
          </p:cNvSpPr>
          <p:nvPr>
            <p:ph type="sldNum" sz="quarter" idx="12"/>
          </p:nvPr>
        </p:nvSpPr>
        <p:spPr/>
        <p:txBody>
          <a:bodyPr>
            <a:normAutofit/>
          </a:bodyPr>
          <a:lstStyle/>
          <a:p>
            <a:fld id="{4DA0E933-3B4B-4ECA-8C7E-4259572538E6}" type="slidenum">
              <a:rPr lang="en-US" altLang="zh-CN"/>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1795">
                                            <p:txEl>
                                              <p:pRg st="2" end="2"/>
                                            </p:txEl>
                                          </p:spTgt>
                                        </p:tgtEl>
                                        <p:attrNameLst>
                                          <p:attrName>style.visibility</p:attrName>
                                        </p:attrNameLst>
                                      </p:cBhvr>
                                      <p:to>
                                        <p:strVal val="visible"/>
                                      </p:to>
                                    </p:set>
                                    <p:animEffect transition="in" filter="dissolve">
                                      <p:cBhvr>
                                        <p:cTn id="7" dur="500"/>
                                        <p:tgtEl>
                                          <p:spTgt spid="1617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1795">
                                            <p:txEl>
                                              <p:pRg st="3" end="3"/>
                                            </p:txEl>
                                          </p:spTgt>
                                        </p:tgtEl>
                                        <p:attrNameLst>
                                          <p:attrName>style.visibility</p:attrName>
                                        </p:attrNameLst>
                                      </p:cBhvr>
                                      <p:to>
                                        <p:strVal val="visible"/>
                                      </p:to>
                                    </p:set>
                                    <p:animEffect transition="in" filter="dissolve">
                                      <p:cBhvr>
                                        <p:cTn id="12" dur="500"/>
                                        <p:tgtEl>
                                          <p:spTgt spid="161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uiExpand="1"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idx="1"/>
          </p:nvPr>
        </p:nvSpPr>
        <p:spPr>
          <a:xfrm>
            <a:off x="500034" y="1357298"/>
            <a:ext cx="8183880" cy="4187952"/>
          </a:xfrm>
        </p:spPr>
        <p:txBody>
          <a:bodyPr/>
          <a:lstStyle/>
          <a:p>
            <a:r>
              <a:rPr lang="zh-CN" altLang="en-US" sz="2600" dirty="0">
                <a:effectLst>
                  <a:outerShdw blurRad="38100" dist="38100" dir="2700000" algn="tl">
                    <a:srgbClr val="C0C0C0"/>
                  </a:outerShdw>
                </a:effectLst>
              </a:rPr>
              <a:t>生命周期方法学把设计</a:t>
            </a:r>
            <a:r>
              <a:rPr lang="zh-CN" altLang="en-US" sz="2600" dirty="0" smtClean="0">
                <a:effectLst>
                  <a:outerShdw blurRad="38100" dist="38100" dir="2700000" algn="tl">
                    <a:srgbClr val="C0C0C0"/>
                  </a:outerShdw>
                </a:effectLst>
              </a:rPr>
              <a:t>分为概要设计</a:t>
            </a:r>
            <a:r>
              <a:rPr lang="zh-CN" altLang="en-US" sz="2600" dirty="0">
                <a:effectLst>
                  <a:outerShdw blurRad="38100" dist="38100" dir="2700000" algn="tl">
                    <a:srgbClr val="C0C0C0"/>
                  </a:outerShdw>
                </a:effectLst>
              </a:rPr>
              <a:t>和详细设计两阶段，类似地可以把面向对象设计细分为系统设计和对象设计</a:t>
            </a:r>
          </a:p>
          <a:p>
            <a:pPr lvl="1"/>
            <a:endParaRPr lang="en-US" altLang="zh-CN" sz="2400" dirty="0" smtClean="0">
              <a:solidFill>
                <a:srgbClr val="FF0000"/>
              </a:solidFill>
              <a:effectLst>
                <a:outerShdw blurRad="38100" dist="38100" dir="2700000" algn="tl">
                  <a:srgbClr val="C0C0C0"/>
                </a:outerShdw>
              </a:effectLst>
            </a:endParaRPr>
          </a:p>
          <a:p>
            <a:pPr lvl="1"/>
            <a:r>
              <a:rPr lang="zh-CN" altLang="en-US" sz="2400" dirty="0" smtClean="0">
                <a:solidFill>
                  <a:srgbClr val="FF0000"/>
                </a:solidFill>
                <a:effectLst>
                  <a:outerShdw blurRad="38100" dist="38100" dir="2700000" algn="tl">
                    <a:srgbClr val="C0C0C0"/>
                  </a:outerShdw>
                </a:effectLst>
              </a:rPr>
              <a:t>系统设计</a:t>
            </a:r>
            <a:r>
              <a:rPr lang="zh-CN" altLang="en-US" sz="2400" dirty="0">
                <a:effectLst>
                  <a:outerShdw blurRad="38100" dist="38100" dir="2700000" algn="tl">
                    <a:srgbClr val="C0C0C0"/>
                  </a:outerShdw>
                </a:effectLst>
              </a:rPr>
              <a:t>确定实现系统的策略和目标系统的高层结构</a:t>
            </a:r>
          </a:p>
          <a:p>
            <a:pPr lvl="1"/>
            <a:endParaRPr lang="en-US" altLang="zh-CN" sz="2400" dirty="0" smtClean="0">
              <a:solidFill>
                <a:srgbClr val="FF0000"/>
              </a:solidFill>
              <a:effectLst>
                <a:outerShdw blurRad="38100" dist="38100" dir="2700000" algn="tl">
                  <a:srgbClr val="C0C0C0"/>
                </a:outerShdw>
              </a:effectLst>
            </a:endParaRPr>
          </a:p>
          <a:p>
            <a:pPr lvl="1"/>
            <a:r>
              <a:rPr lang="zh-CN" altLang="en-US" sz="2400" dirty="0" smtClean="0">
                <a:solidFill>
                  <a:srgbClr val="FF0000"/>
                </a:solidFill>
                <a:effectLst>
                  <a:outerShdw blurRad="38100" dist="38100" dir="2700000" algn="tl">
                    <a:srgbClr val="C0C0C0"/>
                  </a:outerShdw>
                </a:effectLst>
              </a:rPr>
              <a:t>对象</a:t>
            </a:r>
            <a:r>
              <a:rPr lang="zh-CN" altLang="en-US" sz="2400" dirty="0">
                <a:solidFill>
                  <a:srgbClr val="FF0000"/>
                </a:solidFill>
                <a:effectLst>
                  <a:outerShdw blurRad="38100" dist="38100" dir="2700000" algn="tl">
                    <a:srgbClr val="C0C0C0"/>
                  </a:outerShdw>
                </a:effectLst>
              </a:rPr>
              <a:t>设计</a:t>
            </a:r>
            <a:r>
              <a:rPr lang="zh-CN" altLang="en-US" sz="2400" dirty="0">
                <a:effectLst>
                  <a:outerShdw blurRad="38100" dist="38100" dir="2700000" algn="tl">
                    <a:srgbClr val="C0C0C0"/>
                  </a:outerShdw>
                </a:effectLst>
              </a:rPr>
              <a:t>确定解空间的类、关联、接口形式及实现服务的算法</a:t>
            </a:r>
          </a:p>
        </p:txBody>
      </p:sp>
      <p:sp>
        <p:nvSpPr>
          <p:cNvPr id="4" name="灯片编号占位符 5"/>
          <p:cNvSpPr>
            <a:spLocks noGrp="1"/>
          </p:cNvSpPr>
          <p:nvPr>
            <p:ph type="sldNum" sz="quarter" idx="12"/>
          </p:nvPr>
        </p:nvSpPr>
        <p:spPr/>
        <p:txBody>
          <a:bodyPr>
            <a:normAutofit/>
          </a:bodyPr>
          <a:lstStyle/>
          <a:p>
            <a:fld id="{A022637F-A8AA-4AD5-B746-9870A030C981}" type="slidenum">
              <a:rPr lang="en-US" altLang="zh-CN"/>
              <a:pPr/>
              <a:t>8</a:t>
            </a:fld>
            <a:endParaRPr lang="en-US" altLang="zh-CN"/>
          </a:p>
        </p:txBody>
      </p:sp>
      <p:sp>
        <p:nvSpPr>
          <p:cNvPr id="6" name="Rectangle 2"/>
          <p:cNvSpPr>
            <a:spLocks noGrp="1" noChangeArrowheads="1"/>
          </p:cNvSpPr>
          <p:nvPr>
            <p:ph type="title"/>
          </p:nvPr>
        </p:nvSpPr>
        <p:spPr>
          <a:xfrm>
            <a:off x="736600" y="207946"/>
            <a:ext cx="7124700" cy="863600"/>
          </a:xfrm>
        </p:spPr>
        <p:txBody>
          <a:bodyPr/>
          <a:lstStyle/>
          <a:p>
            <a:r>
              <a:rPr lang="zh-CN" altLang="en-US" b="0" i="1" dirty="0" smtClean="0"/>
              <a:t>面向对象设计 </a:t>
            </a:r>
            <a:r>
              <a:rPr lang="en-US" altLang="zh-CN" b="0" i="1" dirty="0" smtClean="0"/>
              <a:t>OOD</a:t>
            </a:r>
            <a:endParaRPr lang="en-US" altLang="zh-CN" b="0" i="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a:xfrm>
            <a:off x="685800" y="1262082"/>
            <a:ext cx="7815290" cy="4738686"/>
          </a:xfrm>
        </p:spPr>
        <p:txBody>
          <a:bodyPr>
            <a:normAutofit/>
          </a:bodyPr>
          <a:lstStyle/>
          <a:p>
            <a:pPr algn="just">
              <a:lnSpc>
                <a:spcPct val="90000"/>
              </a:lnSpc>
              <a:spcAft>
                <a:spcPct val="40000"/>
              </a:spcAft>
            </a:pPr>
            <a:r>
              <a:rPr lang="zh-CN" altLang="en-US" sz="2800" dirty="0" smtClean="0">
                <a:latin typeface="宋体" pitchFamily="2" charset="-122"/>
              </a:rPr>
              <a:t>优秀设计：权衡了各种因素，从而使得系统在其整个生命周期中的总开销最小的设计。</a:t>
            </a:r>
            <a:endParaRPr lang="en-US" altLang="zh-CN" sz="2800" dirty="0" smtClean="0">
              <a:latin typeface="宋体" pitchFamily="2" charset="-122"/>
            </a:endParaRPr>
          </a:p>
          <a:p>
            <a:pPr algn="just">
              <a:lnSpc>
                <a:spcPct val="90000"/>
              </a:lnSpc>
              <a:spcAft>
                <a:spcPct val="40000"/>
              </a:spcAft>
            </a:pPr>
            <a:r>
              <a:rPr lang="en-US" altLang="zh-CN" sz="2800" dirty="0" smtClean="0">
                <a:solidFill>
                  <a:srgbClr val="FF0000"/>
                </a:solidFill>
                <a:latin typeface="宋体" pitchFamily="2" charset="-122"/>
              </a:rPr>
              <a:t>1</a:t>
            </a:r>
            <a:r>
              <a:rPr lang="zh-CN" altLang="en-US" sz="2800" dirty="0" smtClean="0">
                <a:solidFill>
                  <a:srgbClr val="FF0000"/>
                </a:solidFill>
                <a:latin typeface="宋体" pitchFamily="2" charset="-122"/>
              </a:rPr>
              <a:t>、模块化</a:t>
            </a:r>
            <a:r>
              <a:rPr lang="zh-CN" altLang="en-US" sz="2800" dirty="0" smtClean="0">
                <a:latin typeface="宋体" pitchFamily="2" charset="-122"/>
              </a:rPr>
              <a:t>    </a:t>
            </a:r>
            <a:endParaRPr lang="zh-CN" altLang="en-US" sz="2800" dirty="0">
              <a:latin typeface="宋体" pitchFamily="2" charset="-122"/>
            </a:endParaRPr>
          </a:p>
          <a:p>
            <a:pPr lvl="1" algn="just">
              <a:lnSpc>
                <a:spcPct val="90000"/>
              </a:lnSpc>
              <a:spcAft>
                <a:spcPct val="40000"/>
              </a:spcAft>
              <a:buFont typeface="Wingdings" pitchFamily="2" charset="2"/>
              <a:buNone/>
            </a:pPr>
            <a:r>
              <a:rPr lang="zh-CN" altLang="en-US" sz="2000" dirty="0">
                <a:latin typeface="宋体" pitchFamily="2" charset="-122"/>
              </a:rPr>
              <a:t>  </a:t>
            </a:r>
            <a:r>
              <a:rPr lang="zh-CN" altLang="en-US" sz="2400" dirty="0" smtClean="0">
                <a:latin typeface="宋体" pitchFamily="2" charset="-122"/>
              </a:rPr>
              <a:t>对象</a:t>
            </a:r>
            <a:r>
              <a:rPr lang="zh-CN" altLang="en-US" sz="2400" dirty="0">
                <a:latin typeface="宋体" pitchFamily="2" charset="-122"/>
              </a:rPr>
              <a:t>就是</a:t>
            </a:r>
            <a:r>
              <a:rPr lang="zh-CN" altLang="en-US" sz="2400" dirty="0" smtClean="0">
                <a:latin typeface="宋体" pitchFamily="2" charset="-122"/>
              </a:rPr>
              <a:t>模块，所以很自然的支持。对象就是把数据结构和操作数据的方法紧密结合在一起的模块。</a:t>
            </a:r>
            <a:endParaRPr lang="zh-CN" altLang="en-US" sz="2400" dirty="0">
              <a:latin typeface="宋体" pitchFamily="2" charset="-122"/>
            </a:endParaRPr>
          </a:p>
          <a:p>
            <a:pPr algn="just">
              <a:lnSpc>
                <a:spcPct val="90000"/>
              </a:lnSpc>
              <a:spcAft>
                <a:spcPct val="40000"/>
              </a:spcAft>
            </a:pPr>
            <a:r>
              <a:rPr lang="en-US" altLang="zh-CN" dirty="0" smtClean="0">
                <a:solidFill>
                  <a:srgbClr val="FF0000"/>
                </a:solidFill>
                <a:latin typeface="宋体" pitchFamily="2" charset="-122"/>
              </a:rPr>
              <a:t>2</a:t>
            </a:r>
            <a:r>
              <a:rPr lang="zh-CN" altLang="en-US" dirty="0" smtClean="0">
                <a:solidFill>
                  <a:srgbClr val="FF0000"/>
                </a:solidFill>
                <a:latin typeface="宋体" pitchFamily="2" charset="-122"/>
              </a:rPr>
              <a:t>、抽象      </a:t>
            </a:r>
          </a:p>
          <a:p>
            <a:pPr lvl="1" algn="just">
              <a:lnSpc>
                <a:spcPct val="90000"/>
              </a:lnSpc>
              <a:spcAft>
                <a:spcPct val="40000"/>
              </a:spcAft>
              <a:buFont typeface="Wingdings" pitchFamily="2" charset="2"/>
              <a:buNone/>
            </a:pPr>
            <a:r>
              <a:rPr lang="zh-CN" altLang="en-US" sz="2000" dirty="0" smtClean="0">
                <a:latin typeface="宋体" pitchFamily="2" charset="-122"/>
              </a:rPr>
              <a:t>  </a:t>
            </a:r>
            <a:r>
              <a:rPr lang="zh-CN" altLang="en-US" dirty="0" smtClean="0">
                <a:latin typeface="宋体" pitchFamily="2" charset="-122"/>
              </a:rPr>
              <a:t>不仅支持过程抽象，而且支持数据抽象。通过公共接口实现对数据的操作。</a:t>
            </a:r>
          </a:p>
        </p:txBody>
      </p:sp>
      <p:sp>
        <p:nvSpPr>
          <p:cNvPr id="4" name="灯片编号占位符 5"/>
          <p:cNvSpPr>
            <a:spLocks noGrp="1"/>
          </p:cNvSpPr>
          <p:nvPr>
            <p:ph type="sldNum" sz="quarter" idx="12"/>
          </p:nvPr>
        </p:nvSpPr>
        <p:spPr/>
        <p:txBody>
          <a:bodyPr>
            <a:normAutofit/>
          </a:bodyPr>
          <a:lstStyle/>
          <a:p>
            <a:fld id="{4395346C-17E0-407B-910A-852DC1F2EB4B}" type="slidenum">
              <a:rPr lang="en-US" altLang="zh-CN"/>
              <a:pPr/>
              <a:t>9</a:t>
            </a:fld>
            <a:endParaRPr lang="en-US" altLang="zh-CN"/>
          </a:p>
        </p:txBody>
      </p:sp>
      <p:sp>
        <p:nvSpPr>
          <p:cNvPr id="6" name="Rectangle 2"/>
          <p:cNvSpPr>
            <a:spLocks noGrp="1" noChangeArrowheads="1"/>
          </p:cNvSpPr>
          <p:nvPr>
            <p:ph type="title"/>
          </p:nvPr>
        </p:nvSpPr>
        <p:spPr>
          <a:xfrm>
            <a:off x="736600" y="207946"/>
            <a:ext cx="7124700" cy="863600"/>
          </a:xfrm>
        </p:spPr>
        <p:txBody>
          <a:bodyPr/>
          <a:lstStyle/>
          <a:p>
            <a:r>
              <a:rPr lang="en-US" altLang="zh-CN" b="0" i="1" dirty="0" smtClean="0"/>
              <a:t>8.1</a:t>
            </a:r>
            <a:r>
              <a:rPr lang="zh-CN" altLang="en-US" b="0" i="1" dirty="0" smtClean="0"/>
              <a:t>面向对象设计的准则</a:t>
            </a:r>
            <a:endParaRPr lang="en-US" altLang="zh-CN" b="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19">
                                            <p:txEl>
                                              <p:pRg st="1" end="1"/>
                                            </p:txEl>
                                          </p:spTgt>
                                        </p:tgtEl>
                                        <p:attrNameLst>
                                          <p:attrName>style.visibility</p:attrName>
                                        </p:attrNameLst>
                                      </p:cBhvr>
                                      <p:to>
                                        <p:strVal val="visible"/>
                                      </p:to>
                                    </p:set>
                                    <p:animEffect transition="in" filter="dissolve">
                                      <p:cBhvr>
                                        <p:cTn id="7" dur="500"/>
                                        <p:tgtEl>
                                          <p:spTgt spid="162819">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2819">
                                            <p:txEl>
                                              <p:pRg st="2" end="2"/>
                                            </p:txEl>
                                          </p:spTgt>
                                        </p:tgtEl>
                                        <p:attrNameLst>
                                          <p:attrName>style.visibility</p:attrName>
                                        </p:attrNameLst>
                                      </p:cBhvr>
                                      <p:to>
                                        <p:strVal val="visible"/>
                                      </p:to>
                                    </p:set>
                                    <p:animEffect transition="in" filter="dissolve">
                                      <p:cBhvr>
                                        <p:cTn id="10" dur="500"/>
                                        <p:tgtEl>
                                          <p:spTgt spid="16281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2819">
                                            <p:txEl>
                                              <p:pRg st="3" end="3"/>
                                            </p:txEl>
                                          </p:spTgt>
                                        </p:tgtEl>
                                        <p:attrNameLst>
                                          <p:attrName>style.visibility</p:attrName>
                                        </p:attrNameLst>
                                      </p:cBhvr>
                                      <p:to>
                                        <p:strVal val="visible"/>
                                      </p:to>
                                    </p:set>
                                    <p:animEffect transition="in" filter="dissolve">
                                      <p:cBhvr>
                                        <p:cTn id="15" dur="500"/>
                                        <p:tgtEl>
                                          <p:spTgt spid="162819">
                                            <p:txEl>
                                              <p:pRg st="3" end="3"/>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62819">
                                            <p:txEl>
                                              <p:pRg st="4" end="4"/>
                                            </p:txEl>
                                          </p:spTgt>
                                        </p:tgtEl>
                                        <p:attrNameLst>
                                          <p:attrName>style.visibility</p:attrName>
                                        </p:attrNameLst>
                                      </p:cBhvr>
                                      <p:to>
                                        <p:strVal val="visible"/>
                                      </p:to>
                                    </p:set>
                                    <p:animEffect transition="in" filter="dissolve">
                                      <p:cBhvr>
                                        <p:cTn id="18" dur="500"/>
                                        <p:tgtEl>
                                          <p:spTgt spid="162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uiExpand="1"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a:xfrm>
            <a:off x="685800" y="1262082"/>
            <a:ext cx="7815290" cy="4738686"/>
          </a:xfrm>
        </p:spPr>
        <p:txBody>
          <a:bodyPr>
            <a:normAutofit fontScale="92500" lnSpcReduction="20000"/>
          </a:bodyPr>
          <a:lstStyle/>
          <a:p>
            <a:pPr algn="just">
              <a:lnSpc>
                <a:spcPct val="110000"/>
              </a:lnSpc>
              <a:spcBef>
                <a:spcPts val="0"/>
              </a:spcBef>
              <a:spcAft>
                <a:spcPts val="600"/>
              </a:spcAft>
            </a:pPr>
            <a:r>
              <a:rPr lang="en-US" altLang="zh-CN" sz="2800" dirty="0" smtClean="0">
                <a:solidFill>
                  <a:srgbClr val="FF0000"/>
                </a:solidFill>
                <a:latin typeface="宋体" pitchFamily="2" charset="-122"/>
              </a:rPr>
              <a:t>3</a:t>
            </a:r>
            <a:r>
              <a:rPr lang="zh-CN" altLang="en-US" sz="2800" dirty="0" smtClean="0">
                <a:solidFill>
                  <a:srgbClr val="FF0000"/>
                </a:solidFill>
                <a:latin typeface="宋体" pitchFamily="2" charset="-122"/>
              </a:rPr>
              <a:t>、</a:t>
            </a:r>
            <a:r>
              <a:rPr lang="zh-CN" altLang="en-US" dirty="0" smtClean="0">
                <a:solidFill>
                  <a:srgbClr val="FF0000"/>
                </a:solidFill>
                <a:latin typeface="宋体" pitchFamily="2" charset="-122"/>
              </a:rPr>
              <a:t>信息隐藏</a:t>
            </a:r>
            <a:endParaRPr lang="en-US" altLang="zh-CN" dirty="0" smtClean="0">
              <a:solidFill>
                <a:srgbClr val="FF0000"/>
              </a:solidFill>
              <a:latin typeface="宋体" pitchFamily="2" charset="-122"/>
            </a:endParaRPr>
          </a:p>
          <a:p>
            <a:pPr algn="just">
              <a:lnSpc>
                <a:spcPct val="110000"/>
              </a:lnSpc>
              <a:spcBef>
                <a:spcPts val="0"/>
              </a:spcBef>
              <a:spcAft>
                <a:spcPts val="600"/>
              </a:spcAft>
              <a:buNone/>
            </a:pPr>
            <a:r>
              <a:rPr lang="en-US" altLang="zh-CN" dirty="0" smtClean="0">
                <a:solidFill>
                  <a:srgbClr val="FF0000"/>
                </a:solidFill>
                <a:latin typeface="宋体" pitchFamily="2" charset="-122"/>
              </a:rPr>
              <a:t>  </a:t>
            </a:r>
            <a:r>
              <a:rPr lang="zh-CN" altLang="en-US" sz="2400" dirty="0" smtClean="0">
                <a:latin typeface="宋体" pitchFamily="2" charset="-122"/>
              </a:rPr>
              <a:t>对象的封装性实现隐藏。类结构分离了接口与实现，从而支持了信息隐藏。属性的表示方法和操作的实现算法都应该是隐藏的。</a:t>
            </a:r>
            <a:endParaRPr lang="zh-CN" altLang="en-US" sz="2400" dirty="0">
              <a:latin typeface="宋体" pitchFamily="2" charset="-122"/>
            </a:endParaRPr>
          </a:p>
          <a:p>
            <a:pPr algn="just">
              <a:lnSpc>
                <a:spcPct val="110000"/>
              </a:lnSpc>
              <a:spcBef>
                <a:spcPts val="0"/>
              </a:spcBef>
              <a:spcAft>
                <a:spcPts val="600"/>
              </a:spcAft>
            </a:pPr>
            <a:r>
              <a:rPr lang="en-US" altLang="zh-CN" dirty="0" smtClean="0">
                <a:solidFill>
                  <a:srgbClr val="FF0000"/>
                </a:solidFill>
                <a:latin typeface="宋体" pitchFamily="2" charset="-122"/>
              </a:rPr>
              <a:t>4</a:t>
            </a:r>
            <a:r>
              <a:rPr lang="zh-CN" altLang="en-US" dirty="0" smtClean="0">
                <a:solidFill>
                  <a:srgbClr val="FF0000"/>
                </a:solidFill>
                <a:latin typeface="宋体" pitchFamily="2" charset="-122"/>
              </a:rPr>
              <a:t>、强内聚      </a:t>
            </a:r>
          </a:p>
          <a:p>
            <a:pPr lvl="2" algn="just">
              <a:lnSpc>
                <a:spcPct val="110000"/>
              </a:lnSpc>
              <a:spcBef>
                <a:spcPts val="0"/>
              </a:spcBef>
              <a:spcAft>
                <a:spcPts val="600"/>
              </a:spcAft>
            </a:pPr>
            <a:r>
              <a:rPr lang="zh-CN" altLang="en-US" sz="2400" dirty="0" smtClean="0">
                <a:latin typeface="宋体" pitchFamily="2" charset="-122"/>
              </a:rPr>
              <a:t>内聚衡量一个模块内各个元素彼此结合的紧密程度。也可定义为设计中使用的一个构件内的各个元素对完成一个明确目的所做出的贡献程度。</a:t>
            </a:r>
            <a:endParaRPr lang="en-US" altLang="zh-CN" sz="2400" dirty="0" smtClean="0">
              <a:latin typeface="宋体" pitchFamily="2" charset="-122"/>
            </a:endParaRPr>
          </a:p>
          <a:p>
            <a:pPr lvl="2" algn="just">
              <a:lnSpc>
                <a:spcPct val="110000"/>
              </a:lnSpc>
              <a:spcBef>
                <a:spcPts val="0"/>
              </a:spcBef>
              <a:spcAft>
                <a:spcPts val="600"/>
              </a:spcAft>
            </a:pPr>
            <a:r>
              <a:rPr lang="zh-CN" altLang="en-US" sz="2400" dirty="0" smtClean="0">
                <a:solidFill>
                  <a:srgbClr val="FF0000"/>
                </a:solidFill>
                <a:latin typeface="宋体" pitchFamily="2" charset="-122"/>
              </a:rPr>
              <a:t>服务内聚</a:t>
            </a:r>
            <a:r>
              <a:rPr lang="zh-CN" altLang="en-US" sz="2400" dirty="0" smtClean="0">
                <a:latin typeface="宋体" pitchFamily="2" charset="-122"/>
              </a:rPr>
              <a:t>：一个服务应该完成一个且仅完成一个功能</a:t>
            </a:r>
          </a:p>
          <a:p>
            <a:pPr lvl="2" algn="just">
              <a:lnSpc>
                <a:spcPct val="110000"/>
              </a:lnSpc>
              <a:spcBef>
                <a:spcPts val="0"/>
              </a:spcBef>
              <a:spcAft>
                <a:spcPts val="600"/>
              </a:spcAft>
            </a:pPr>
            <a:r>
              <a:rPr lang="zh-CN" altLang="en-US" sz="2400" dirty="0" smtClean="0">
                <a:solidFill>
                  <a:srgbClr val="FF0000"/>
                </a:solidFill>
                <a:latin typeface="宋体" pitchFamily="2" charset="-122"/>
              </a:rPr>
              <a:t>类内聚</a:t>
            </a:r>
            <a:r>
              <a:rPr lang="zh-CN" altLang="en-US" sz="2400" dirty="0" smtClean="0">
                <a:latin typeface="宋体" pitchFamily="2" charset="-122"/>
              </a:rPr>
              <a:t>：一个类应该只有一个用途。</a:t>
            </a:r>
          </a:p>
          <a:p>
            <a:pPr lvl="2" algn="just">
              <a:lnSpc>
                <a:spcPct val="110000"/>
              </a:lnSpc>
              <a:spcBef>
                <a:spcPts val="0"/>
              </a:spcBef>
              <a:spcAft>
                <a:spcPts val="600"/>
              </a:spcAft>
            </a:pPr>
            <a:r>
              <a:rPr lang="zh-CN" altLang="en-US" sz="2400" dirty="0" smtClean="0">
                <a:solidFill>
                  <a:srgbClr val="FF0000"/>
                </a:solidFill>
                <a:latin typeface="宋体" pitchFamily="2" charset="-122"/>
              </a:rPr>
              <a:t>一般－特殊内聚</a:t>
            </a:r>
            <a:r>
              <a:rPr lang="zh-CN" altLang="en-US" sz="2400" dirty="0" smtClean="0">
                <a:latin typeface="宋体" pitchFamily="2" charset="-122"/>
              </a:rPr>
              <a:t>：所设计的一般</a:t>
            </a:r>
            <a:r>
              <a:rPr lang="en-US" altLang="zh-CN" sz="2400" dirty="0" smtClean="0">
                <a:latin typeface="宋体" pitchFamily="2" charset="-122"/>
              </a:rPr>
              <a:t>-</a:t>
            </a:r>
            <a:r>
              <a:rPr lang="zh-CN" altLang="en-US" sz="2400" dirty="0" smtClean="0">
                <a:latin typeface="宋体" pitchFamily="2" charset="-122"/>
              </a:rPr>
              <a:t>特殊结构应该符合人的思维习惯，应该是对相应的领域知识的正确抽取。</a:t>
            </a:r>
            <a:endParaRPr lang="zh-CN" altLang="en-US" dirty="0" smtClean="0">
              <a:latin typeface="宋体" pitchFamily="2" charset="-122"/>
            </a:endParaRPr>
          </a:p>
        </p:txBody>
      </p:sp>
      <p:sp>
        <p:nvSpPr>
          <p:cNvPr id="4" name="灯片编号占位符 5"/>
          <p:cNvSpPr>
            <a:spLocks noGrp="1"/>
          </p:cNvSpPr>
          <p:nvPr>
            <p:ph type="sldNum" sz="quarter" idx="12"/>
          </p:nvPr>
        </p:nvSpPr>
        <p:spPr/>
        <p:txBody>
          <a:bodyPr>
            <a:normAutofit/>
          </a:bodyPr>
          <a:lstStyle/>
          <a:p>
            <a:fld id="{4395346C-17E0-407B-910A-852DC1F2EB4B}" type="slidenum">
              <a:rPr lang="en-US" altLang="zh-CN"/>
              <a:pPr/>
              <a:t>10</a:t>
            </a:fld>
            <a:endParaRPr lang="en-US" altLang="zh-CN"/>
          </a:p>
        </p:txBody>
      </p:sp>
      <p:sp>
        <p:nvSpPr>
          <p:cNvPr id="6" name="Rectangle 2"/>
          <p:cNvSpPr>
            <a:spLocks noGrp="1" noChangeArrowheads="1"/>
          </p:cNvSpPr>
          <p:nvPr>
            <p:ph type="title"/>
          </p:nvPr>
        </p:nvSpPr>
        <p:spPr>
          <a:xfrm>
            <a:off x="736600" y="207946"/>
            <a:ext cx="7124700" cy="863600"/>
          </a:xfrm>
        </p:spPr>
        <p:txBody>
          <a:bodyPr/>
          <a:lstStyle/>
          <a:p>
            <a:r>
              <a:rPr lang="en-US" altLang="zh-CN" b="0" i="1" dirty="0" smtClean="0"/>
              <a:t>8.1</a:t>
            </a:r>
            <a:r>
              <a:rPr lang="zh-CN" altLang="en-US" b="0" i="1" dirty="0" smtClean="0"/>
              <a:t>面向对象设计的准则</a:t>
            </a:r>
            <a:endParaRPr lang="en-US" altLang="zh-CN" b="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dissolve">
                                      <p:cBhvr>
                                        <p:cTn id="7" dur="500"/>
                                        <p:tgtEl>
                                          <p:spTgt spid="162819">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62819">
                                            <p:txEl>
                                              <p:pRg st="1" end="1"/>
                                            </p:txEl>
                                          </p:spTgt>
                                        </p:tgtEl>
                                        <p:attrNameLst>
                                          <p:attrName>style.visibility</p:attrName>
                                        </p:attrNameLst>
                                      </p:cBhvr>
                                      <p:to>
                                        <p:strVal val="visible"/>
                                      </p:to>
                                    </p:set>
                                    <p:animEffect transition="in" filter="dissolve">
                                      <p:cBhvr>
                                        <p:cTn id="10" dur="500"/>
                                        <p:tgtEl>
                                          <p:spTgt spid="1628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animEffect transition="in" filter="dissolve">
                                      <p:cBhvr>
                                        <p:cTn id="15" dur="500"/>
                                        <p:tgtEl>
                                          <p:spTgt spid="162819">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62819">
                                            <p:txEl>
                                              <p:pRg st="3" end="3"/>
                                            </p:txEl>
                                          </p:spTgt>
                                        </p:tgtEl>
                                        <p:attrNameLst>
                                          <p:attrName>style.visibility</p:attrName>
                                        </p:attrNameLst>
                                      </p:cBhvr>
                                      <p:to>
                                        <p:strVal val="visible"/>
                                      </p:to>
                                    </p:set>
                                    <p:animEffect transition="in" filter="dissolve">
                                      <p:cBhvr>
                                        <p:cTn id="18" dur="500"/>
                                        <p:tgtEl>
                                          <p:spTgt spid="162819">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62819">
                                            <p:txEl>
                                              <p:pRg st="4" end="4"/>
                                            </p:txEl>
                                          </p:spTgt>
                                        </p:tgtEl>
                                        <p:attrNameLst>
                                          <p:attrName>style.visibility</p:attrName>
                                        </p:attrNameLst>
                                      </p:cBhvr>
                                      <p:to>
                                        <p:strVal val="visible"/>
                                      </p:to>
                                    </p:set>
                                    <p:animEffect transition="in" filter="dissolve">
                                      <p:cBhvr>
                                        <p:cTn id="21" dur="500"/>
                                        <p:tgtEl>
                                          <p:spTgt spid="162819">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62819">
                                            <p:txEl>
                                              <p:pRg st="5" end="5"/>
                                            </p:txEl>
                                          </p:spTgt>
                                        </p:tgtEl>
                                        <p:attrNameLst>
                                          <p:attrName>style.visibility</p:attrName>
                                        </p:attrNameLst>
                                      </p:cBhvr>
                                      <p:to>
                                        <p:strVal val="visible"/>
                                      </p:to>
                                    </p:set>
                                    <p:animEffect transition="in" filter="dissolve">
                                      <p:cBhvr>
                                        <p:cTn id="24" dur="500"/>
                                        <p:tgtEl>
                                          <p:spTgt spid="162819">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62819">
                                            <p:txEl>
                                              <p:pRg st="6" end="6"/>
                                            </p:txEl>
                                          </p:spTgt>
                                        </p:tgtEl>
                                        <p:attrNameLst>
                                          <p:attrName>style.visibility</p:attrName>
                                        </p:attrNameLst>
                                      </p:cBhvr>
                                      <p:to>
                                        <p:strVal val="visible"/>
                                      </p:to>
                                    </p:set>
                                    <p:animEffect transition="in" filter="dissolve">
                                      <p:cBhvr>
                                        <p:cTn id="27" dur="500"/>
                                        <p:tgtEl>
                                          <p:spTgt spid="162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uiExpand="1"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3" name="Rectangle 3"/>
          <p:cNvSpPr>
            <a:spLocks noGrp="1" noChangeArrowheads="1"/>
          </p:cNvSpPr>
          <p:nvPr>
            <p:ph idx="1"/>
          </p:nvPr>
        </p:nvSpPr>
        <p:spPr>
          <a:xfrm>
            <a:off x="685800" y="1214422"/>
            <a:ext cx="7620000" cy="4614882"/>
          </a:xfrm>
        </p:spPr>
        <p:txBody>
          <a:bodyPr>
            <a:normAutofit/>
          </a:bodyPr>
          <a:lstStyle/>
          <a:p>
            <a:pPr algn="just">
              <a:lnSpc>
                <a:spcPct val="80000"/>
              </a:lnSpc>
              <a:spcAft>
                <a:spcPct val="40000"/>
              </a:spcAft>
            </a:pPr>
            <a:r>
              <a:rPr lang="en-US" altLang="zh-CN" sz="2800" dirty="0" smtClean="0">
                <a:solidFill>
                  <a:srgbClr val="FF0000"/>
                </a:solidFill>
                <a:latin typeface="宋体" pitchFamily="2" charset="-122"/>
              </a:rPr>
              <a:t>5</a:t>
            </a:r>
            <a:r>
              <a:rPr lang="zh-CN" altLang="en-US" sz="2800" dirty="0" smtClean="0">
                <a:solidFill>
                  <a:srgbClr val="FF0000"/>
                </a:solidFill>
                <a:latin typeface="宋体" pitchFamily="2" charset="-122"/>
              </a:rPr>
              <a:t>、弱耦合</a:t>
            </a:r>
          </a:p>
          <a:p>
            <a:pPr lvl="1" algn="just">
              <a:lnSpc>
                <a:spcPct val="80000"/>
              </a:lnSpc>
              <a:spcAft>
                <a:spcPct val="40000"/>
              </a:spcAft>
            </a:pPr>
            <a:r>
              <a:rPr lang="zh-CN" altLang="en-US" dirty="0" smtClean="0">
                <a:latin typeface="宋体" pitchFamily="2" charset="-122"/>
              </a:rPr>
              <a:t>交互耦合（如果对象之间的耦合通过消息连接来实现）准则：降低消息复杂程度、减少发送次数</a:t>
            </a:r>
          </a:p>
          <a:p>
            <a:pPr lvl="1" algn="just">
              <a:lnSpc>
                <a:spcPct val="80000"/>
              </a:lnSpc>
              <a:spcAft>
                <a:spcPct val="40000"/>
              </a:spcAft>
            </a:pPr>
            <a:r>
              <a:rPr lang="zh-CN" altLang="en-US" dirty="0" smtClean="0">
                <a:latin typeface="宋体" pitchFamily="2" charset="-122"/>
              </a:rPr>
              <a:t>继承耦合：提高继承耦合。使特殊类尽量多继承并使用其一般化类的属性和服务。（构成了系统中颗粒度更大的模块）</a:t>
            </a:r>
          </a:p>
          <a:p>
            <a:pPr algn="just">
              <a:lnSpc>
                <a:spcPct val="80000"/>
              </a:lnSpc>
              <a:spcAft>
                <a:spcPct val="40000"/>
              </a:spcAft>
            </a:pPr>
            <a:r>
              <a:rPr lang="en-US" altLang="zh-CN" sz="2800" dirty="0" smtClean="0">
                <a:solidFill>
                  <a:srgbClr val="FF0000"/>
                </a:solidFill>
                <a:latin typeface="宋体" pitchFamily="2" charset="-122"/>
              </a:rPr>
              <a:t>6</a:t>
            </a:r>
            <a:r>
              <a:rPr lang="zh-CN" altLang="en-US" sz="2800" dirty="0" smtClean="0">
                <a:solidFill>
                  <a:srgbClr val="FF0000"/>
                </a:solidFill>
                <a:latin typeface="宋体" pitchFamily="2" charset="-122"/>
              </a:rPr>
              <a:t>、可重用</a:t>
            </a:r>
            <a:endParaRPr lang="en-US" altLang="zh-CN" sz="2800" dirty="0" smtClean="0">
              <a:solidFill>
                <a:srgbClr val="FF0000"/>
              </a:solidFill>
              <a:latin typeface="宋体" pitchFamily="2" charset="-122"/>
            </a:endParaRPr>
          </a:p>
          <a:p>
            <a:pPr lvl="1" algn="just">
              <a:lnSpc>
                <a:spcPct val="80000"/>
              </a:lnSpc>
              <a:spcAft>
                <a:spcPct val="40000"/>
              </a:spcAft>
            </a:pPr>
            <a:r>
              <a:rPr lang="zh-CN" altLang="en-US" dirty="0" smtClean="0"/>
              <a:t>尽量</a:t>
            </a:r>
            <a:r>
              <a:rPr lang="zh-CN" altLang="en-US" dirty="0"/>
              <a:t>使用原来的类</a:t>
            </a:r>
            <a:r>
              <a:rPr lang="zh-CN" altLang="en-US" dirty="0" smtClean="0"/>
              <a:t>；</a:t>
            </a:r>
            <a:endParaRPr lang="en-US" altLang="zh-CN" dirty="0" smtClean="0"/>
          </a:p>
          <a:p>
            <a:pPr lvl="1" algn="just">
              <a:lnSpc>
                <a:spcPct val="80000"/>
              </a:lnSpc>
              <a:spcAft>
                <a:spcPct val="40000"/>
              </a:spcAft>
            </a:pPr>
            <a:r>
              <a:rPr lang="zh-CN" altLang="en-US" dirty="0" smtClean="0"/>
              <a:t>创建</a:t>
            </a:r>
            <a:r>
              <a:rPr lang="zh-CN" altLang="en-US" dirty="0"/>
              <a:t>新类时，应考虑可重复使用</a:t>
            </a:r>
            <a:r>
              <a:rPr lang="zh-CN" altLang="en-US" dirty="0" smtClean="0"/>
              <a:t>性。</a:t>
            </a:r>
            <a:endParaRPr lang="zh-CN" altLang="en-US" dirty="0"/>
          </a:p>
        </p:txBody>
      </p:sp>
      <p:sp>
        <p:nvSpPr>
          <p:cNvPr id="4" name="灯片编号占位符 5"/>
          <p:cNvSpPr>
            <a:spLocks noGrp="1"/>
          </p:cNvSpPr>
          <p:nvPr>
            <p:ph type="sldNum" sz="quarter" idx="12"/>
          </p:nvPr>
        </p:nvSpPr>
        <p:spPr/>
        <p:txBody>
          <a:bodyPr>
            <a:normAutofit/>
          </a:bodyPr>
          <a:lstStyle/>
          <a:p>
            <a:fld id="{B3BF43F0-594D-49A2-A8D4-3712DDB94F63}" type="slidenum">
              <a:rPr lang="en-US" altLang="zh-CN"/>
              <a:pPr/>
              <a:t>11</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8.1</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面向对象设计的准则</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43">
                                            <p:txEl>
                                              <p:pRg st="3" end="3"/>
                                            </p:txEl>
                                          </p:spTgt>
                                        </p:tgtEl>
                                        <p:attrNameLst>
                                          <p:attrName>style.visibility</p:attrName>
                                        </p:attrNameLst>
                                      </p:cBhvr>
                                      <p:to>
                                        <p:strVal val="visible"/>
                                      </p:to>
                                    </p:set>
                                    <p:anim calcmode="lin" valueType="num">
                                      <p:cBhvr additive="base">
                                        <p:cTn id="7" dur="500" fill="hold"/>
                                        <p:tgtEl>
                                          <p:spTgt spid="1638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4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843">
                                            <p:txEl>
                                              <p:pRg st="4" end="4"/>
                                            </p:txEl>
                                          </p:spTgt>
                                        </p:tgtEl>
                                        <p:attrNameLst>
                                          <p:attrName>style.visibility</p:attrName>
                                        </p:attrNameLst>
                                      </p:cBhvr>
                                      <p:to>
                                        <p:strVal val="visible"/>
                                      </p:to>
                                    </p:set>
                                    <p:anim calcmode="lin" valueType="num">
                                      <p:cBhvr additive="base">
                                        <p:cTn id="11" dur="500" fill="hold"/>
                                        <p:tgtEl>
                                          <p:spTgt spid="16384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84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3843">
                                            <p:txEl>
                                              <p:pRg st="5" end="5"/>
                                            </p:txEl>
                                          </p:spTgt>
                                        </p:tgtEl>
                                        <p:attrNameLst>
                                          <p:attrName>style.visibility</p:attrName>
                                        </p:attrNameLst>
                                      </p:cBhvr>
                                      <p:to>
                                        <p:strVal val="visible"/>
                                      </p:to>
                                    </p:set>
                                    <p:anim calcmode="lin" valueType="num">
                                      <p:cBhvr additive="base">
                                        <p:cTn id="15" dur="500" fill="hold"/>
                                        <p:tgtEl>
                                          <p:spTgt spid="16384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38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7" name="Rectangle 3"/>
          <p:cNvSpPr>
            <a:spLocks noGrp="1" noChangeArrowheads="1"/>
          </p:cNvSpPr>
          <p:nvPr>
            <p:ph idx="1"/>
          </p:nvPr>
        </p:nvSpPr>
        <p:spPr>
          <a:xfrm>
            <a:off x="685800" y="1285860"/>
            <a:ext cx="7620000" cy="4714908"/>
          </a:xfrm>
        </p:spPr>
        <p:txBody>
          <a:bodyPr/>
          <a:lstStyle/>
          <a:p>
            <a:pPr algn="just">
              <a:spcAft>
                <a:spcPct val="40000"/>
              </a:spcAft>
            </a:pPr>
            <a:r>
              <a:rPr lang="en-US" altLang="zh-CN" sz="2800" dirty="0" smtClean="0">
                <a:solidFill>
                  <a:srgbClr val="FF0000"/>
                </a:solidFill>
                <a:effectLst>
                  <a:outerShdw blurRad="38100" dist="38100" dir="2700000" algn="tl">
                    <a:srgbClr val="C0C0C0"/>
                  </a:outerShdw>
                </a:effectLst>
                <a:latin typeface="宋体" pitchFamily="2" charset="-122"/>
              </a:rPr>
              <a:t>1</a:t>
            </a:r>
            <a:r>
              <a:rPr lang="zh-CN" altLang="en-US" sz="2800" dirty="0" smtClean="0">
                <a:solidFill>
                  <a:srgbClr val="FF0000"/>
                </a:solidFill>
                <a:effectLst>
                  <a:outerShdw blurRad="38100" dist="38100" dir="2700000" algn="tl">
                    <a:srgbClr val="C0C0C0"/>
                  </a:outerShdw>
                </a:effectLst>
                <a:latin typeface="宋体" pitchFamily="2" charset="-122"/>
              </a:rPr>
              <a:t>、设计</a:t>
            </a:r>
            <a:r>
              <a:rPr lang="zh-CN" altLang="en-US" sz="2800" dirty="0">
                <a:solidFill>
                  <a:srgbClr val="FF0000"/>
                </a:solidFill>
                <a:effectLst>
                  <a:outerShdw blurRad="38100" dist="38100" dir="2700000" algn="tl">
                    <a:srgbClr val="C0C0C0"/>
                  </a:outerShdw>
                </a:effectLst>
                <a:latin typeface="宋体" pitchFamily="2" charset="-122"/>
              </a:rPr>
              <a:t>结果应当清晰</a:t>
            </a:r>
            <a:r>
              <a:rPr lang="zh-CN" altLang="en-US" sz="2800" dirty="0" smtClean="0">
                <a:solidFill>
                  <a:srgbClr val="FF0000"/>
                </a:solidFill>
                <a:effectLst>
                  <a:outerShdw blurRad="38100" dist="38100" dir="2700000" algn="tl">
                    <a:srgbClr val="C0C0C0"/>
                  </a:outerShdw>
                </a:effectLst>
                <a:latin typeface="宋体" pitchFamily="2" charset="-122"/>
              </a:rPr>
              <a:t>易懂</a:t>
            </a:r>
            <a:endParaRPr lang="en-US" altLang="zh-CN" sz="2800" dirty="0">
              <a:effectLst>
                <a:outerShdw blurRad="38100" dist="38100" dir="2700000" algn="tl">
                  <a:srgbClr val="C0C0C0"/>
                </a:outerShdw>
              </a:effectLst>
              <a:latin typeface="宋体" pitchFamily="2" charset="-122"/>
            </a:endParaRPr>
          </a:p>
          <a:p>
            <a:pPr lvl="1" algn="just">
              <a:spcAft>
                <a:spcPct val="40000"/>
              </a:spcAft>
              <a:buFont typeface="Wingdings" pitchFamily="2" charset="2"/>
              <a:buNone/>
            </a:pPr>
            <a:r>
              <a:rPr lang="zh-CN" altLang="en-US" sz="2000" dirty="0">
                <a:latin typeface="宋体" pitchFamily="2" charset="-122"/>
              </a:rPr>
              <a:t>	</a:t>
            </a:r>
            <a:r>
              <a:rPr lang="zh-CN" altLang="en-US" sz="2400" dirty="0">
                <a:latin typeface="宋体" pitchFamily="2" charset="-122"/>
              </a:rPr>
              <a:t>设计结果清晰、易读、易懂是提高软件可维护性和可重用性的重要措施，主要因素包括：</a:t>
            </a:r>
          </a:p>
          <a:p>
            <a:pPr lvl="2" algn="just">
              <a:spcAft>
                <a:spcPct val="40000"/>
              </a:spcAft>
            </a:pPr>
            <a:r>
              <a:rPr lang="zh-CN" altLang="en-US" sz="2400" dirty="0">
                <a:latin typeface="宋体" pitchFamily="2" charset="-122"/>
              </a:rPr>
              <a:t>用词一致</a:t>
            </a:r>
          </a:p>
          <a:p>
            <a:pPr lvl="2" algn="just">
              <a:spcAft>
                <a:spcPct val="40000"/>
              </a:spcAft>
            </a:pPr>
            <a:r>
              <a:rPr lang="zh-CN" altLang="en-US" sz="2400" dirty="0">
                <a:latin typeface="宋体" pitchFamily="2" charset="-122"/>
              </a:rPr>
              <a:t>使用已有的</a:t>
            </a:r>
            <a:r>
              <a:rPr lang="zh-CN" altLang="en-US" sz="2400" dirty="0" smtClean="0">
                <a:latin typeface="宋体" pitchFamily="2" charset="-122"/>
              </a:rPr>
              <a:t>协议（如开发人员已定义或者类库）</a:t>
            </a:r>
            <a:endParaRPr lang="zh-CN" altLang="en-US" sz="2400" dirty="0">
              <a:latin typeface="宋体" pitchFamily="2" charset="-122"/>
            </a:endParaRPr>
          </a:p>
          <a:p>
            <a:pPr lvl="2" algn="just">
              <a:spcAft>
                <a:spcPct val="40000"/>
              </a:spcAft>
            </a:pPr>
            <a:r>
              <a:rPr lang="zh-CN" altLang="en-US" sz="2400" dirty="0">
                <a:latin typeface="宋体" pitchFamily="2" charset="-122"/>
              </a:rPr>
              <a:t>减少消息模式的数目</a:t>
            </a:r>
          </a:p>
          <a:p>
            <a:pPr lvl="2" algn="just">
              <a:spcAft>
                <a:spcPct val="40000"/>
              </a:spcAft>
            </a:pPr>
            <a:r>
              <a:rPr lang="zh-CN" altLang="en-US" sz="2400" dirty="0">
                <a:latin typeface="宋体" pitchFamily="2" charset="-122"/>
              </a:rPr>
              <a:t>避免模糊的</a:t>
            </a:r>
            <a:r>
              <a:rPr lang="zh-CN" altLang="en-US" sz="2400" dirty="0" smtClean="0">
                <a:latin typeface="宋体" pitchFamily="2" charset="-122"/>
              </a:rPr>
              <a:t>定义，如类名</a:t>
            </a:r>
            <a:endParaRPr lang="zh-CN" altLang="en-US" sz="2400" dirty="0"/>
          </a:p>
        </p:txBody>
      </p:sp>
      <p:sp>
        <p:nvSpPr>
          <p:cNvPr id="4" name="灯片编号占位符 5"/>
          <p:cNvSpPr>
            <a:spLocks noGrp="1"/>
          </p:cNvSpPr>
          <p:nvPr>
            <p:ph type="sldNum" sz="quarter" idx="12"/>
          </p:nvPr>
        </p:nvSpPr>
        <p:spPr/>
        <p:txBody>
          <a:bodyPr>
            <a:normAutofit/>
          </a:bodyPr>
          <a:lstStyle/>
          <a:p>
            <a:fld id="{760FBFDF-B78C-4D9F-BEA1-0E3CD74F042C}" type="slidenum">
              <a:rPr lang="en-US" altLang="zh-CN"/>
              <a:pPr/>
              <a:t>12</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8.2 </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启发规则</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1" name="Rectangle 3"/>
          <p:cNvSpPr>
            <a:spLocks noGrp="1" noChangeArrowheads="1"/>
          </p:cNvSpPr>
          <p:nvPr>
            <p:ph idx="1"/>
          </p:nvPr>
        </p:nvSpPr>
        <p:spPr>
          <a:xfrm>
            <a:off x="685800" y="1214422"/>
            <a:ext cx="7620000" cy="4953000"/>
          </a:xfrm>
        </p:spPr>
        <p:txBody>
          <a:bodyPr>
            <a:normAutofit fontScale="92500" lnSpcReduction="10000"/>
          </a:bodyPr>
          <a:lstStyle/>
          <a:p>
            <a:pPr algn="just">
              <a:lnSpc>
                <a:spcPct val="120000"/>
              </a:lnSpc>
              <a:spcBef>
                <a:spcPts val="0"/>
              </a:spcBef>
              <a:spcAft>
                <a:spcPts val="600"/>
              </a:spcAft>
            </a:pPr>
            <a:r>
              <a:rPr lang="en-US" altLang="zh-CN" sz="2800" dirty="0" smtClean="0">
                <a:solidFill>
                  <a:srgbClr val="FF0000"/>
                </a:solidFill>
                <a:effectLst>
                  <a:outerShdw blurRad="38100" dist="38100" dir="2700000" algn="tl">
                    <a:srgbClr val="C0C0C0"/>
                  </a:outerShdw>
                </a:effectLst>
                <a:latin typeface="宋体" pitchFamily="2" charset="-122"/>
              </a:rPr>
              <a:t>2</a:t>
            </a:r>
            <a:r>
              <a:rPr lang="zh-CN" altLang="en-US" sz="2800" dirty="0" smtClean="0">
                <a:solidFill>
                  <a:srgbClr val="FF0000"/>
                </a:solidFill>
                <a:effectLst>
                  <a:outerShdw blurRad="38100" dist="38100" dir="2700000" algn="tl">
                    <a:srgbClr val="C0C0C0"/>
                  </a:outerShdw>
                </a:effectLst>
                <a:latin typeface="宋体" pitchFamily="2" charset="-122"/>
              </a:rPr>
              <a:t>、一般</a:t>
            </a:r>
            <a:r>
              <a:rPr lang="en-US" altLang="zh-CN" sz="2800" dirty="0">
                <a:solidFill>
                  <a:srgbClr val="FF0000"/>
                </a:solidFill>
                <a:effectLst>
                  <a:outerShdw blurRad="38100" dist="38100" dir="2700000" algn="tl">
                    <a:srgbClr val="C0C0C0"/>
                  </a:outerShdw>
                </a:effectLst>
                <a:latin typeface="Arial"/>
              </a:rPr>
              <a:t>——</a:t>
            </a:r>
            <a:r>
              <a:rPr lang="zh-CN" altLang="en-US" sz="2800" dirty="0">
                <a:solidFill>
                  <a:srgbClr val="FF0000"/>
                </a:solidFill>
                <a:effectLst>
                  <a:outerShdw blurRad="38100" dist="38100" dir="2700000" algn="tl">
                    <a:srgbClr val="C0C0C0"/>
                  </a:outerShdw>
                </a:effectLst>
                <a:latin typeface="宋体" pitchFamily="2" charset="-122"/>
              </a:rPr>
              <a:t>特殊结构的深度应适当</a:t>
            </a:r>
          </a:p>
          <a:p>
            <a:pPr algn="just">
              <a:lnSpc>
                <a:spcPct val="120000"/>
              </a:lnSpc>
              <a:spcBef>
                <a:spcPts val="0"/>
              </a:spcBef>
              <a:spcAft>
                <a:spcPts val="600"/>
              </a:spcAft>
              <a:buFont typeface="Wingdings" pitchFamily="2" charset="2"/>
              <a:buNone/>
            </a:pPr>
            <a:r>
              <a:rPr lang="zh-CN" altLang="en-US" dirty="0">
                <a:latin typeface="宋体" pitchFamily="2" charset="-122"/>
              </a:rPr>
              <a:t>	</a:t>
            </a:r>
            <a:r>
              <a:rPr lang="zh-CN" altLang="en-US" sz="2600" dirty="0">
                <a:latin typeface="宋体" pitchFamily="2" charset="-122"/>
              </a:rPr>
              <a:t>类等级层次数应保持在</a:t>
            </a:r>
            <a:r>
              <a:rPr lang="en-US" altLang="zh-CN" sz="2600" dirty="0">
                <a:latin typeface="宋体" pitchFamily="2" charset="-122"/>
              </a:rPr>
              <a:t>5</a:t>
            </a:r>
            <a:r>
              <a:rPr lang="zh-CN" altLang="en-US" sz="2600" dirty="0">
                <a:latin typeface="宋体" pitchFamily="2" charset="-122"/>
              </a:rPr>
              <a:t>～</a:t>
            </a:r>
            <a:r>
              <a:rPr lang="en-US" altLang="zh-CN" sz="2600" dirty="0">
                <a:latin typeface="宋体" pitchFamily="2" charset="-122"/>
              </a:rPr>
              <a:t>9</a:t>
            </a:r>
            <a:r>
              <a:rPr lang="zh-CN" altLang="en-US" sz="2600" dirty="0">
                <a:latin typeface="宋体" pitchFamily="2" charset="-122"/>
              </a:rPr>
              <a:t>个，与领域知识或常识保持一致</a:t>
            </a:r>
          </a:p>
          <a:p>
            <a:pPr algn="just">
              <a:lnSpc>
                <a:spcPct val="120000"/>
              </a:lnSpc>
              <a:spcBef>
                <a:spcPts val="0"/>
              </a:spcBef>
              <a:spcAft>
                <a:spcPts val="600"/>
              </a:spcAft>
            </a:pPr>
            <a:r>
              <a:rPr lang="en-US" altLang="zh-CN" sz="2800" dirty="0" smtClean="0">
                <a:solidFill>
                  <a:srgbClr val="FF0000"/>
                </a:solidFill>
                <a:effectLst>
                  <a:outerShdw blurRad="38100" dist="38100" dir="2700000" algn="tl">
                    <a:srgbClr val="C0C0C0"/>
                  </a:outerShdw>
                </a:effectLst>
                <a:latin typeface="宋体" pitchFamily="2" charset="-122"/>
              </a:rPr>
              <a:t>3</a:t>
            </a:r>
            <a:r>
              <a:rPr lang="zh-CN" altLang="en-US" sz="2800" dirty="0" smtClean="0">
                <a:solidFill>
                  <a:srgbClr val="FF0000"/>
                </a:solidFill>
                <a:effectLst>
                  <a:outerShdw blurRad="38100" dist="38100" dir="2700000" algn="tl">
                    <a:srgbClr val="C0C0C0"/>
                  </a:outerShdw>
                </a:effectLst>
                <a:latin typeface="宋体" pitchFamily="2" charset="-122"/>
              </a:rPr>
              <a:t>、设计</a:t>
            </a:r>
            <a:r>
              <a:rPr lang="zh-CN" altLang="en-US" sz="2800" dirty="0">
                <a:solidFill>
                  <a:srgbClr val="FF0000"/>
                </a:solidFill>
                <a:effectLst>
                  <a:outerShdw blurRad="38100" dist="38100" dir="2700000" algn="tl">
                    <a:srgbClr val="C0C0C0"/>
                  </a:outerShdw>
                </a:effectLst>
                <a:latin typeface="宋体" pitchFamily="2" charset="-122"/>
              </a:rPr>
              <a:t>简单的</a:t>
            </a:r>
            <a:r>
              <a:rPr lang="zh-CN" altLang="en-US" sz="2800" dirty="0" smtClean="0">
                <a:solidFill>
                  <a:srgbClr val="FF0000"/>
                </a:solidFill>
                <a:effectLst>
                  <a:outerShdw blurRad="38100" dist="38100" dir="2700000" algn="tl">
                    <a:srgbClr val="C0C0C0"/>
                  </a:outerShdw>
                </a:effectLst>
                <a:latin typeface="宋体" pitchFamily="2" charset="-122"/>
              </a:rPr>
              <a:t>类</a:t>
            </a:r>
            <a:endParaRPr lang="en-US" altLang="zh-CN" sz="2800" dirty="0">
              <a:effectLst>
                <a:outerShdw blurRad="38100" dist="38100" dir="2700000" algn="tl">
                  <a:srgbClr val="C0C0C0"/>
                </a:outerShdw>
              </a:effectLst>
              <a:latin typeface="宋体" pitchFamily="2" charset="-122"/>
            </a:endParaRPr>
          </a:p>
          <a:p>
            <a:pPr algn="just">
              <a:lnSpc>
                <a:spcPct val="120000"/>
              </a:lnSpc>
              <a:spcBef>
                <a:spcPts val="0"/>
              </a:spcBef>
              <a:spcAft>
                <a:spcPts val="600"/>
              </a:spcAft>
              <a:buFont typeface="Wingdings" pitchFamily="2" charset="2"/>
              <a:buNone/>
            </a:pPr>
            <a:r>
              <a:rPr lang="zh-CN" altLang="en-US" dirty="0">
                <a:latin typeface="宋体" pitchFamily="2" charset="-122"/>
              </a:rPr>
              <a:t>	</a:t>
            </a:r>
            <a:r>
              <a:rPr lang="zh-CN" altLang="en-US" dirty="0" smtClean="0">
                <a:latin typeface="宋体" pitchFamily="2" charset="-122"/>
              </a:rPr>
              <a:t> </a:t>
            </a:r>
            <a:r>
              <a:rPr lang="zh-CN" altLang="en-US" sz="2600" dirty="0" smtClean="0">
                <a:latin typeface="宋体" pitchFamily="2" charset="-122"/>
              </a:rPr>
              <a:t>一个类的定义一般不超过一页纸（或两屏）：</a:t>
            </a:r>
            <a:endParaRPr lang="zh-CN" altLang="en-US" dirty="0">
              <a:latin typeface="宋体" pitchFamily="2" charset="-122"/>
            </a:endParaRPr>
          </a:p>
          <a:p>
            <a:pPr lvl="1" algn="just">
              <a:lnSpc>
                <a:spcPct val="120000"/>
              </a:lnSpc>
              <a:spcBef>
                <a:spcPts val="0"/>
              </a:spcBef>
              <a:spcAft>
                <a:spcPts val="600"/>
              </a:spcAft>
            </a:pPr>
            <a:r>
              <a:rPr lang="zh-CN" altLang="en-US" dirty="0">
                <a:latin typeface="宋体" pitchFamily="2" charset="-122"/>
              </a:rPr>
              <a:t>避免包含过多属性</a:t>
            </a:r>
          </a:p>
          <a:p>
            <a:pPr lvl="1" algn="just">
              <a:lnSpc>
                <a:spcPct val="120000"/>
              </a:lnSpc>
              <a:spcBef>
                <a:spcPts val="0"/>
              </a:spcBef>
              <a:spcAft>
                <a:spcPts val="600"/>
              </a:spcAft>
            </a:pPr>
            <a:r>
              <a:rPr lang="zh-CN" altLang="en-US" dirty="0">
                <a:latin typeface="宋体" pitchFamily="2" charset="-122"/>
              </a:rPr>
              <a:t>有明确的</a:t>
            </a:r>
            <a:r>
              <a:rPr lang="zh-CN" altLang="en-US" dirty="0" smtClean="0">
                <a:latin typeface="宋体" pitchFamily="2" charset="-122"/>
              </a:rPr>
              <a:t>定义（分配给每个类的任务应该简单）</a:t>
            </a:r>
            <a:endParaRPr lang="zh-CN" altLang="en-US" dirty="0">
              <a:latin typeface="宋体" pitchFamily="2" charset="-122"/>
            </a:endParaRPr>
          </a:p>
          <a:p>
            <a:pPr lvl="1" algn="just">
              <a:lnSpc>
                <a:spcPct val="120000"/>
              </a:lnSpc>
              <a:spcBef>
                <a:spcPts val="0"/>
              </a:spcBef>
              <a:spcAft>
                <a:spcPts val="600"/>
              </a:spcAft>
            </a:pPr>
            <a:r>
              <a:rPr lang="zh-CN" altLang="en-US" dirty="0">
                <a:latin typeface="宋体" pitchFamily="2" charset="-122"/>
              </a:rPr>
              <a:t>尽量简化对象之间的合作关系</a:t>
            </a:r>
          </a:p>
          <a:p>
            <a:pPr lvl="1" algn="just">
              <a:lnSpc>
                <a:spcPct val="120000"/>
              </a:lnSpc>
              <a:spcBef>
                <a:spcPts val="0"/>
              </a:spcBef>
              <a:spcAft>
                <a:spcPts val="600"/>
              </a:spcAft>
            </a:pPr>
            <a:r>
              <a:rPr lang="zh-CN" altLang="en-US" dirty="0">
                <a:latin typeface="宋体" pitchFamily="2" charset="-122"/>
              </a:rPr>
              <a:t>不要提供太多服务</a:t>
            </a:r>
          </a:p>
          <a:p>
            <a:pPr lvl="1" algn="just">
              <a:lnSpc>
                <a:spcPct val="120000"/>
              </a:lnSpc>
              <a:spcBef>
                <a:spcPts val="0"/>
              </a:spcBef>
              <a:spcAft>
                <a:spcPts val="600"/>
              </a:spcAft>
            </a:pPr>
            <a:r>
              <a:rPr lang="zh-CN" altLang="en-US" dirty="0">
                <a:latin typeface="宋体" pitchFamily="2" charset="-122"/>
              </a:rPr>
              <a:t>把系统中的类按逻辑分组，也就是划分主题</a:t>
            </a:r>
          </a:p>
        </p:txBody>
      </p:sp>
      <p:sp>
        <p:nvSpPr>
          <p:cNvPr id="4" name="灯片编号占位符 5"/>
          <p:cNvSpPr>
            <a:spLocks noGrp="1"/>
          </p:cNvSpPr>
          <p:nvPr>
            <p:ph type="sldNum" sz="quarter" idx="12"/>
          </p:nvPr>
        </p:nvSpPr>
        <p:spPr/>
        <p:txBody>
          <a:bodyPr>
            <a:normAutofit/>
          </a:bodyPr>
          <a:lstStyle/>
          <a:p>
            <a:fld id="{8415C435-6714-4A7C-AFFE-82D14B74F030}" type="slidenum">
              <a:rPr lang="en-US" altLang="zh-CN"/>
              <a:pPr/>
              <a:t>13</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8.2 </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启发规则</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5891">
                                            <p:txEl>
                                              <p:pRg st="2" end="2"/>
                                            </p:txEl>
                                          </p:spTgt>
                                        </p:tgtEl>
                                        <p:attrNameLst>
                                          <p:attrName>style.visibility</p:attrName>
                                        </p:attrNameLst>
                                      </p:cBhvr>
                                      <p:to>
                                        <p:strVal val="visible"/>
                                      </p:to>
                                    </p:set>
                                    <p:anim calcmode="lin" valueType="num">
                                      <p:cBhvr additive="base">
                                        <p:cTn id="7" dur="500" fill="hold"/>
                                        <p:tgtEl>
                                          <p:spTgt spid="16589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89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5891">
                                            <p:txEl>
                                              <p:pRg st="3" end="3"/>
                                            </p:txEl>
                                          </p:spTgt>
                                        </p:tgtEl>
                                        <p:attrNameLst>
                                          <p:attrName>style.visibility</p:attrName>
                                        </p:attrNameLst>
                                      </p:cBhvr>
                                      <p:to>
                                        <p:strVal val="visible"/>
                                      </p:to>
                                    </p:set>
                                    <p:anim calcmode="lin" valueType="num">
                                      <p:cBhvr additive="base">
                                        <p:cTn id="11" dur="500" fill="hold"/>
                                        <p:tgtEl>
                                          <p:spTgt spid="16589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5891">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5891">
                                            <p:txEl>
                                              <p:pRg st="4" end="4"/>
                                            </p:txEl>
                                          </p:spTgt>
                                        </p:tgtEl>
                                        <p:attrNameLst>
                                          <p:attrName>style.visibility</p:attrName>
                                        </p:attrNameLst>
                                      </p:cBhvr>
                                      <p:to>
                                        <p:strVal val="visible"/>
                                      </p:to>
                                    </p:set>
                                    <p:anim calcmode="lin" valueType="num">
                                      <p:cBhvr additive="base">
                                        <p:cTn id="15" dur="500" fill="hold"/>
                                        <p:tgtEl>
                                          <p:spTgt spid="165891">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5891">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5891">
                                            <p:txEl>
                                              <p:pRg st="5" end="5"/>
                                            </p:txEl>
                                          </p:spTgt>
                                        </p:tgtEl>
                                        <p:attrNameLst>
                                          <p:attrName>style.visibility</p:attrName>
                                        </p:attrNameLst>
                                      </p:cBhvr>
                                      <p:to>
                                        <p:strVal val="visible"/>
                                      </p:to>
                                    </p:set>
                                    <p:anim calcmode="lin" valueType="num">
                                      <p:cBhvr additive="base">
                                        <p:cTn id="19" dur="500" fill="hold"/>
                                        <p:tgtEl>
                                          <p:spTgt spid="16589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5891">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5891">
                                            <p:txEl>
                                              <p:pRg st="6" end="6"/>
                                            </p:txEl>
                                          </p:spTgt>
                                        </p:tgtEl>
                                        <p:attrNameLst>
                                          <p:attrName>style.visibility</p:attrName>
                                        </p:attrNameLst>
                                      </p:cBhvr>
                                      <p:to>
                                        <p:strVal val="visible"/>
                                      </p:to>
                                    </p:set>
                                    <p:anim calcmode="lin" valueType="num">
                                      <p:cBhvr additive="base">
                                        <p:cTn id="23" dur="500" fill="hold"/>
                                        <p:tgtEl>
                                          <p:spTgt spid="165891">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5891">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5891">
                                            <p:txEl>
                                              <p:pRg st="7" end="7"/>
                                            </p:txEl>
                                          </p:spTgt>
                                        </p:tgtEl>
                                        <p:attrNameLst>
                                          <p:attrName>style.visibility</p:attrName>
                                        </p:attrNameLst>
                                      </p:cBhvr>
                                      <p:to>
                                        <p:strVal val="visible"/>
                                      </p:to>
                                    </p:set>
                                    <p:anim calcmode="lin" valueType="num">
                                      <p:cBhvr additive="base">
                                        <p:cTn id="27" dur="500" fill="hold"/>
                                        <p:tgtEl>
                                          <p:spTgt spid="165891">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5891">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5891">
                                            <p:txEl>
                                              <p:pRg st="8" end="8"/>
                                            </p:txEl>
                                          </p:spTgt>
                                        </p:tgtEl>
                                        <p:attrNameLst>
                                          <p:attrName>style.visibility</p:attrName>
                                        </p:attrNameLst>
                                      </p:cBhvr>
                                      <p:to>
                                        <p:strVal val="visible"/>
                                      </p:to>
                                    </p:set>
                                    <p:anim calcmode="lin" valueType="num">
                                      <p:cBhvr additive="base">
                                        <p:cTn id="31" dur="500" fill="hold"/>
                                        <p:tgtEl>
                                          <p:spTgt spid="165891">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58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5" name="Rectangle 3"/>
          <p:cNvSpPr>
            <a:spLocks noGrp="1" noChangeArrowheads="1"/>
          </p:cNvSpPr>
          <p:nvPr>
            <p:ph idx="1"/>
          </p:nvPr>
        </p:nvSpPr>
        <p:spPr>
          <a:xfrm>
            <a:off x="685800" y="1214422"/>
            <a:ext cx="7620000" cy="4953000"/>
          </a:xfrm>
        </p:spPr>
        <p:txBody>
          <a:bodyPr>
            <a:noAutofit/>
          </a:bodyPr>
          <a:lstStyle/>
          <a:p>
            <a:pPr algn="just">
              <a:spcBef>
                <a:spcPts val="0"/>
              </a:spcBef>
              <a:spcAft>
                <a:spcPts val="600"/>
              </a:spcAft>
            </a:pPr>
            <a:r>
              <a:rPr lang="en-US" altLang="zh-CN" sz="2400" dirty="0" smtClean="0">
                <a:solidFill>
                  <a:srgbClr val="FF0000"/>
                </a:solidFill>
                <a:effectLst>
                  <a:outerShdw blurRad="38100" dist="38100" dir="2700000" algn="tl">
                    <a:srgbClr val="C0C0C0"/>
                  </a:outerShdw>
                </a:effectLst>
                <a:latin typeface="宋体" pitchFamily="2" charset="-122"/>
              </a:rPr>
              <a:t>4</a:t>
            </a:r>
            <a:r>
              <a:rPr lang="zh-CN" altLang="en-US" sz="2400" dirty="0" smtClean="0">
                <a:solidFill>
                  <a:srgbClr val="FF0000"/>
                </a:solidFill>
                <a:effectLst>
                  <a:outerShdw blurRad="38100" dist="38100" dir="2700000" algn="tl">
                    <a:srgbClr val="C0C0C0"/>
                  </a:outerShdw>
                </a:effectLst>
                <a:latin typeface="宋体" pitchFamily="2" charset="-122"/>
              </a:rPr>
              <a:t>、使用</a:t>
            </a:r>
            <a:r>
              <a:rPr lang="zh-CN" altLang="en-US" sz="2400" dirty="0">
                <a:solidFill>
                  <a:srgbClr val="FF0000"/>
                </a:solidFill>
                <a:effectLst>
                  <a:outerShdw blurRad="38100" dist="38100" dir="2700000" algn="tl">
                    <a:srgbClr val="C0C0C0"/>
                  </a:outerShdw>
                </a:effectLst>
                <a:latin typeface="宋体" pitchFamily="2" charset="-122"/>
              </a:rPr>
              <a:t>简单的协议</a:t>
            </a:r>
          </a:p>
          <a:p>
            <a:pPr algn="just">
              <a:spcBef>
                <a:spcPts val="0"/>
              </a:spcBef>
              <a:spcAft>
                <a:spcPts val="600"/>
              </a:spcAft>
              <a:buFont typeface="Wingdings" pitchFamily="2" charset="2"/>
              <a:buNone/>
            </a:pPr>
            <a:r>
              <a:rPr lang="zh-CN" altLang="en-US" sz="2400" dirty="0">
                <a:latin typeface="宋体" pitchFamily="2" charset="-122"/>
              </a:rPr>
              <a:t>	消息中的参数不要超过</a:t>
            </a:r>
            <a:r>
              <a:rPr lang="en-US" altLang="zh-CN" sz="2400" dirty="0">
                <a:latin typeface="宋体" pitchFamily="2" charset="-122"/>
              </a:rPr>
              <a:t>3</a:t>
            </a:r>
            <a:r>
              <a:rPr lang="zh-CN" altLang="en-US" sz="2400" dirty="0">
                <a:latin typeface="宋体" pitchFamily="2" charset="-122"/>
              </a:rPr>
              <a:t>个，通过复杂消息相互关联的对象是紧耦合的，对一个对象的修改将导致对其他对象的修改</a:t>
            </a:r>
          </a:p>
          <a:p>
            <a:pPr algn="just">
              <a:spcBef>
                <a:spcPts val="0"/>
              </a:spcBef>
              <a:spcAft>
                <a:spcPts val="600"/>
              </a:spcAft>
            </a:pPr>
            <a:r>
              <a:rPr lang="en-US" altLang="zh-CN" sz="2400" dirty="0" smtClean="0">
                <a:solidFill>
                  <a:srgbClr val="FF0000"/>
                </a:solidFill>
                <a:effectLst>
                  <a:outerShdw blurRad="38100" dist="38100" dir="2700000" algn="tl">
                    <a:srgbClr val="C0C0C0"/>
                  </a:outerShdw>
                </a:effectLst>
                <a:latin typeface="宋体" pitchFamily="2" charset="-122"/>
              </a:rPr>
              <a:t>5</a:t>
            </a:r>
            <a:r>
              <a:rPr lang="zh-CN" altLang="en-US" sz="2400" dirty="0" smtClean="0">
                <a:solidFill>
                  <a:srgbClr val="FF0000"/>
                </a:solidFill>
                <a:effectLst>
                  <a:outerShdw blurRad="38100" dist="38100" dir="2700000" algn="tl">
                    <a:srgbClr val="C0C0C0"/>
                  </a:outerShdw>
                </a:effectLst>
                <a:latin typeface="宋体" pitchFamily="2" charset="-122"/>
              </a:rPr>
              <a:t>、使用</a:t>
            </a:r>
            <a:r>
              <a:rPr lang="zh-CN" altLang="en-US" sz="2400" dirty="0">
                <a:solidFill>
                  <a:srgbClr val="FF0000"/>
                </a:solidFill>
                <a:effectLst>
                  <a:outerShdw blurRad="38100" dist="38100" dir="2700000" algn="tl">
                    <a:srgbClr val="C0C0C0"/>
                  </a:outerShdw>
                </a:effectLst>
                <a:latin typeface="宋体" pitchFamily="2" charset="-122"/>
              </a:rPr>
              <a:t>简单的服务</a:t>
            </a:r>
          </a:p>
          <a:p>
            <a:pPr algn="just">
              <a:spcBef>
                <a:spcPts val="0"/>
              </a:spcBef>
              <a:spcAft>
                <a:spcPts val="600"/>
              </a:spcAft>
              <a:buFont typeface="Wingdings" pitchFamily="2" charset="2"/>
              <a:buNone/>
            </a:pPr>
            <a:r>
              <a:rPr lang="zh-CN" altLang="en-US" sz="2400" dirty="0">
                <a:latin typeface="宋体" pitchFamily="2" charset="-122"/>
              </a:rPr>
              <a:t>	每个服务包含</a:t>
            </a:r>
            <a:r>
              <a:rPr lang="en-US" altLang="zh-CN" sz="2400" dirty="0">
                <a:latin typeface="宋体" pitchFamily="2" charset="-122"/>
              </a:rPr>
              <a:t>3-5</a:t>
            </a:r>
            <a:r>
              <a:rPr lang="zh-CN" altLang="en-US" sz="2400" dirty="0">
                <a:latin typeface="宋体" pitchFamily="2" charset="-122"/>
              </a:rPr>
              <a:t>行源代码，可以用一个简单句子描述它的</a:t>
            </a:r>
            <a:r>
              <a:rPr lang="zh-CN" altLang="en-US" sz="2400" dirty="0" smtClean="0">
                <a:latin typeface="宋体" pitchFamily="2" charset="-122"/>
              </a:rPr>
              <a:t>功能。（如果需要在服务中使用</a:t>
            </a:r>
            <a:r>
              <a:rPr lang="en-US" altLang="zh-CN" sz="2400" dirty="0" smtClean="0">
                <a:latin typeface="宋体" pitchFamily="2" charset="-122"/>
              </a:rPr>
              <a:t>CASE</a:t>
            </a:r>
            <a:r>
              <a:rPr lang="zh-CN" altLang="en-US" sz="2400" dirty="0" smtClean="0">
                <a:latin typeface="宋体" pitchFamily="2" charset="-122"/>
              </a:rPr>
              <a:t>语句，通常应该考虑用一般</a:t>
            </a:r>
            <a:r>
              <a:rPr lang="en-US" altLang="zh-CN" sz="2400" dirty="0" smtClean="0">
                <a:latin typeface="宋体" pitchFamily="2" charset="-122"/>
              </a:rPr>
              <a:t>-</a:t>
            </a:r>
            <a:r>
              <a:rPr lang="zh-CN" altLang="en-US" sz="2400" dirty="0" smtClean="0">
                <a:latin typeface="宋体" pitchFamily="2" charset="-122"/>
              </a:rPr>
              <a:t>特殊结构代替这个类的可能性）</a:t>
            </a:r>
            <a:endParaRPr lang="en-US" altLang="zh-CN" sz="2400" dirty="0">
              <a:latin typeface="宋体" pitchFamily="2" charset="-122"/>
            </a:endParaRPr>
          </a:p>
          <a:p>
            <a:pPr algn="just">
              <a:spcBef>
                <a:spcPts val="0"/>
              </a:spcBef>
              <a:spcAft>
                <a:spcPts val="600"/>
              </a:spcAft>
            </a:pPr>
            <a:r>
              <a:rPr lang="en-US" altLang="zh-CN" sz="2400" dirty="0" smtClean="0">
                <a:solidFill>
                  <a:srgbClr val="FF0000"/>
                </a:solidFill>
                <a:effectLst>
                  <a:outerShdw blurRad="38100" dist="38100" dir="2700000" algn="tl">
                    <a:srgbClr val="C0C0C0"/>
                  </a:outerShdw>
                </a:effectLst>
                <a:latin typeface="宋体" pitchFamily="2" charset="-122"/>
              </a:rPr>
              <a:t>6</a:t>
            </a:r>
            <a:r>
              <a:rPr lang="zh-CN" altLang="en-US" sz="2400" dirty="0" smtClean="0">
                <a:solidFill>
                  <a:srgbClr val="FF0000"/>
                </a:solidFill>
                <a:effectLst>
                  <a:outerShdw blurRad="38100" dist="38100" dir="2700000" algn="tl">
                    <a:srgbClr val="C0C0C0"/>
                  </a:outerShdw>
                </a:effectLst>
                <a:latin typeface="宋体" pitchFamily="2" charset="-122"/>
              </a:rPr>
              <a:t>、把</a:t>
            </a:r>
            <a:r>
              <a:rPr lang="zh-CN" altLang="en-US" sz="2400" dirty="0">
                <a:solidFill>
                  <a:srgbClr val="FF0000"/>
                </a:solidFill>
                <a:effectLst>
                  <a:outerShdw blurRad="38100" dist="38100" dir="2700000" algn="tl">
                    <a:srgbClr val="C0C0C0"/>
                  </a:outerShdw>
                </a:effectLst>
                <a:latin typeface="宋体" pitchFamily="2" charset="-122"/>
              </a:rPr>
              <a:t>设计变动减至最小</a:t>
            </a:r>
          </a:p>
          <a:p>
            <a:pPr algn="just">
              <a:spcBef>
                <a:spcPts val="0"/>
              </a:spcBef>
              <a:spcAft>
                <a:spcPts val="600"/>
              </a:spcAft>
              <a:buFont typeface="Wingdings" pitchFamily="2" charset="2"/>
              <a:buNone/>
            </a:pPr>
            <a:r>
              <a:rPr lang="zh-CN" altLang="en-US" sz="2400" dirty="0">
                <a:latin typeface="宋体" pitchFamily="2" charset="-122"/>
              </a:rPr>
              <a:t>	设计的质量越高，设计结果保持不变的时间也越长。即使出现必须修改设计的情况，也应该是修改的范围尽可能小</a:t>
            </a:r>
          </a:p>
        </p:txBody>
      </p:sp>
      <p:sp>
        <p:nvSpPr>
          <p:cNvPr id="4" name="灯片编号占位符 5"/>
          <p:cNvSpPr>
            <a:spLocks noGrp="1"/>
          </p:cNvSpPr>
          <p:nvPr>
            <p:ph type="sldNum" sz="quarter" idx="12"/>
          </p:nvPr>
        </p:nvSpPr>
        <p:spPr/>
        <p:txBody>
          <a:bodyPr>
            <a:normAutofit/>
          </a:bodyPr>
          <a:lstStyle/>
          <a:p>
            <a:fld id="{B702B34B-9F2B-4AD1-9704-BF1ECE35684F}" type="slidenum">
              <a:rPr lang="en-US" altLang="zh-CN"/>
              <a:pPr/>
              <a:t>14</a:t>
            </a:fld>
            <a:endParaRPr lang="en-US" altLang="zh-CN"/>
          </a:p>
        </p:txBody>
      </p:sp>
      <p:sp>
        <p:nvSpPr>
          <p:cNvPr id="6" name="Rectangle 2"/>
          <p:cNvSpPr txBox="1">
            <a:spLocks noChangeArrowheads="1"/>
          </p:cNvSpPr>
          <p:nvPr/>
        </p:nvSpPr>
        <p:spPr>
          <a:xfrm>
            <a:off x="736600" y="207946"/>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8.2 </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启发规则</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6915">
                                            <p:txEl>
                                              <p:pRg st="2" end="2"/>
                                            </p:txEl>
                                          </p:spTgt>
                                        </p:tgtEl>
                                        <p:attrNameLst>
                                          <p:attrName>style.visibility</p:attrName>
                                        </p:attrNameLst>
                                      </p:cBhvr>
                                      <p:to>
                                        <p:strVal val="visible"/>
                                      </p:to>
                                    </p:set>
                                    <p:anim calcmode="lin" valueType="num">
                                      <p:cBhvr additive="base">
                                        <p:cTn id="7" dur="500" fill="hold"/>
                                        <p:tgtEl>
                                          <p:spTgt spid="1669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691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6915">
                                            <p:txEl>
                                              <p:pRg st="3" end="3"/>
                                            </p:txEl>
                                          </p:spTgt>
                                        </p:tgtEl>
                                        <p:attrNameLst>
                                          <p:attrName>style.visibility</p:attrName>
                                        </p:attrNameLst>
                                      </p:cBhvr>
                                      <p:to>
                                        <p:strVal val="visible"/>
                                      </p:to>
                                    </p:set>
                                    <p:anim calcmode="lin" valueType="num">
                                      <p:cBhvr additive="base">
                                        <p:cTn id="11" dur="500" fill="hold"/>
                                        <p:tgtEl>
                                          <p:spTgt spid="16691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6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6915">
                                            <p:txEl>
                                              <p:pRg st="4" end="4"/>
                                            </p:txEl>
                                          </p:spTgt>
                                        </p:tgtEl>
                                        <p:attrNameLst>
                                          <p:attrName>style.visibility</p:attrName>
                                        </p:attrNameLst>
                                      </p:cBhvr>
                                      <p:to>
                                        <p:strVal val="visible"/>
                                      </p:to>
                                    </p:set>
                                    <p:anim calcmode="lin" valueType="num">
                                      <p:cBhvr additive="base">
                                        <p:cTn id="17" dur="500" fill="hold"/>
                                        <p:tgtEl>
                                          <p:spTgt spid="16691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6915">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6915">
                                            <p:txEl>
                                              <p:pRg st="5" end="5"/>
                                            </p:txEl>
                                          </p:spTgt>
                                        </p:tgtEl>
                                        <p:attrNameLst>
                                          <p:attrName>style.visibility</p:attrName>
                                        </p:attrNameLst>
                                      </p:cBhvr>
                                      <p:to>
                                        <p:strVal val="visible"/>
                                      </p:to>
                                    </p:set>
                                    <p:anim calcmode="lin" valueType="num">
                                      <p:cBhvr additive="base">
                                        <p:cTn id="21" dur="500" fill="hold"/>
                                        <p:tgtEl>
                                          <p:spTgt spid="16691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69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736600" y="501650"/>
            <a:ext cx="7124700" cy="863600"/>
          </a:xfrm>
        </p:spPr>
        <p:txBody>
          <a:bodyPr/>
          <a:lstStyle/>
          <a:p>
            <a:r>
              <a:rPr lang="en-US" altLang="zh-CN" b="0" i="1" dirty="0" smtClean="0"/>
              <a:t>8.3</a:t>
            </a:r>
            <a:r>
              <a:rPr lang="zh-CN" altLang="en-US" b="0" i="1" dirty="0" smtClean="0"/>
              <a:t>系统分解</a:t>
            </a:r>
            <a:endParaRPr lang="en-US" altLang="zh-CN" b="0" i="1" dirty="0"/>
          </a:p>
        </p:txBody>
      </p:sp>
      <p:sp>
        <p:nvSpPr>
          <p:cNvPr id="167939" name="Rectangle 3"/>
          <p:cNvSpPr>
            <a:spLocks noGrp="1" noChangeArrowheads="1"/>
          </p:cNvSpPr>
          <p:nvPr>
            <p:ph idx="1"/>
          </p:nvPr>
        </p:nvSpPr>
        <p:spPr>
          <a:xfrm>
            <a:off x="685800" y="1600200"/>
            <a:ext cx="8029604" cy="4186254"/>
          </a:xfrm>
        </p:spPr>
        <p:txBody>
          <a:bodyPr/>
          <a:lstStyle/>
          <a:p>
            <a:pPr algn="just">
              <a:spcBef>
                <a:spcPts val="0"/>
              </a:spcBef>
              <a:spcAft>
                <a:spcPts val="600"/>
              </a:spcAft>
            </a:pPr>
            <a:r>
              <a:rPr lang="zh-CN" altLang="en-US" sz="2800" dirty="0" smtClean="0">
                <a:latin typeface="宋体" pitchFamily="2" charset="-122"/>
              </a:rPr>
              <a:t>人类</a:t>
            </a:r>
            <a:r>
              <a:rPr lang="zh-CN" altLang="en-US" sz="2800" dirty="0">
                <a:latin typeface="宋体" pitchFamily="2" charset="-122"/>
              </a:rPr>
              <a:t>解决复杂问题时普遍采用的策略是</a:t>
            </a:r>
            <a:r>
              <a:rPr lang="zh-CN" altLang="en-US" sz="2800" dirty="0">
                <a:latin typeface="Arial"/>
              </a:rPr>
              <a:t>“</a:t>
            </a:r>
            <a:r>
              <a:rPr lang="zh-CN" altLang="en-US" sz="2800" dirty="0">
                <a:latin typeface="宋体" pitchFamily="2" charset="-122"/>
              </a:rPr>
              <a:t>分而治之，各个击破</a:t>
            </a:r>
            <a:r>
              <a:rPr lang="zh-CN" altLang="en-US" sz="2800" dirty="0">
                <a:latin typeface="Arial"/>
              </a:rPr>
              <a:t>”</a:t>
            </a:r>
            <a:endParaRPr lang="zh-CN" altLang="en-US" sz="2800" dirty="0">
              <a:latin typeface="宋体" pitchFamily="2" charset="-122"/>
            </a:endParaRPr>
          </a:p>
          <a:p>
            <a:pPr algn="just">
              <a:spcBef>
                <a:spcPts val="0"/>
              </a:spcBef>
              <a:spcAft>
                <a:spcPts val="600"/>
              </a:spcAft>
            </a:pPr>
            <a:r>
              <a:rPr lang="zh-CN" altLang="en-US" sz="2800" dirty="0">
                <a:latin typeface="宋体" pitchFamily="2" charset="-122"/>
              </a:rPr>
              <a:t>软件工程师在设计复杂应用</a:t>
            </a:r>
            <a:r>
              <a:rPr lang="zh-CN" altLang="en-US" sz="2800" dirty="0" smtClean="0">
                <a:latin typeface="宋体" pitchFamily="2" charset="-122"/>
              </a:rPr>
              <a:t>系统时普遍</a:t>
            </a:r>
            <a:r>
              <a:rPr lang="zh-CN" altLang="en-US" sz="2800" dirty="0">
                <a:latin typeface="宋体" pitchFamily="2" charset="-122"/>
              </a:rPr>
              <a:t>采用的策略是把系统分解成若干个比较小的部分，然后再分别设计每个部分</a:t>
            </a:r>
          </a:p>
        </p:txBody>
      </p:sp>
      <p:sp>
        <p:nvSpPr>
          <p:cNvPr id="4" name="灯片编号占位符 5"/>
          <p:cNvSpPr>
            <a:spLocks noGrp="1"/>
          </p:cNvSpPr>
          <p:nvPr>
            <p:ph type="sldNum" sz="quarter" idx="12"/>
          </p:nvPr>
        </p:nvSpPr>
        <p:spPr/>
        <p:txBody>
          <a:bodyPr>
            <a:normAutofit/>
          </a:bodyPr>
          <a:lstStyle/>
          <a:p>
            <a:fld id="{319D8006-1B56-456C-9BE3-13C3AA84394E}" type="slidenum">
              <a:rPr lang="en-US" altLang="zh-CN"/>
              <a:pPr/>
              <a:t>15</a:t>
            </a:fld>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9" name="Rectangle 3"/>
          <p:cNvSpPr>
            <a:spLocks noGrp="1" noChangeArrowheads="1"/>
          </p:cNvSpPr>
          <p:nvPr>
            <p:ph idx="1"/>
          </p:nvPr>
        </p:nvSpPr>
        <p:spPr>
          <a:xfrm>
            <a:off x="685800" y="1357298"/>
            <a:ext cx="7620000" cy="4953000"/>
          </a:xfrm>
        </p:spPr>
        <p:txBody>
          <a:bodyPr/>
          <a:lstStyle/>
          <a:p>
            <a:pPr lvl="1" algn="just">
              <a:spcAft>
                <a:spcPct val="40000"/>
              </a:spcAft>
            </a:pPr>
            <a:r>
              <a:rPr lang="zh-CN" altLang="en-US" sz="2400" dirty="0">
                <a:latin typeface="宋体" pitchFamily="2" charset="-122"/>
              </a:rPr>
              <a:t>子系统</a:t>
            </a:r>
          </a:p>
          <a:p>
            <a:pPr lvl="2" algn="just">
              <a:spcAft>
                <a:spcPct val="40000"/>
              </a:spcAft>
            </a:pPr>
            <a:r>
              <a:rPr lang="zh-CN" altLang="en-US" sz="2400" dirty="0">
                <a:latin typeface="宋体" pitchFamily="2" charset="-122"/>
              </a:rPr>
              <a:t>系统的主要组成部分称为子系统，通常根据系统所提供的功能来划分子系统，子系统的数目和系统规模相匹配</a:t>
            </a:r>
          </a:p>
          <a:p>
            <a:pPr lvl="2" algn="just">
              <a:spcAft>
                <a:spcPct val="40000"/>
              </a:spcAft>
            </a:pPr>
            <a:r>
              <a:rPr lang="zh-CN" altLang="en-US" sz="2400" dirty="0">
                <a:latin typeface="宋体" pitchFamily="2" charset="-122"/>
              </a:rPr>
              <a:t>各个子系统之间应该具有尽可能简单、明确的接口，接口确定了交互形式和通过子系统边界的信息流，但是无须规定子系统内部的实现算法，因此可以相对独立地设计各个子系统</a:t>
            </a:r>
          </a:p>
          <a:p>
            <a:pPr lvl="2" algn="just">
              <a:spcAft>
                <a:spcPct val="40000"/>
              </a:spcAft>
            </a:pPr>
            <a:r>
              <a:rPr lang="zh-CN" altLang="en-US" sz="2400" dirty="0">
                <a:latin typeface="宋体" pitchFamily="2" charset="-122"/>
              </a:rPr>
              <a:t>在划分和设计子系统时，应该尽量减少子系统彼此之间的</a:t>
            </a:r>
            <a:r>
              <a:rPr lang="zh-CN" altLang="en-US" sz="2400" dirty="0" smtClean="0">
                <a:latin typeface="宋体" pitchFamily="2" charset="-122"/>
              </a:rPr>
              <a:t>依赖性。</a:t>
            </a:r>
            <a:endParaRPr lang="zh-CN" altLang="en-US" sz="24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0D7A44B6-CBB0-4E96-9C2D-820694D5AAC1}" type="slidenum">
              <a:rPr lang="en-US" altLang="zh-CN"/>
              <a:pPr/>
              <a:t>16</a:t>
            </a:fld>
            <a:endParaRPr lang="en-US" altLang="zh-CN"/>
          </a:p>
        </p:txBody>
      </p:sp>
      <p:sp>
        <p:nvSpPr>
          <p:cNvPr id="5" name="Rectangle 2"/>
          <p:cNvSpPr>
            <a:spLocks noGrp="1" noChangeArrowheads="1"/>
          </p:cNvSpPr>
          <p:nvPr>
            <p:ph type="title"/>
          </p:nvPr>
        </p:nvSpPr>
        <p:spPr>
          <a:xfrm>
            <a:off x="736600" y="285728"/>
            <a:ext cx="7124700" cy="863600"/>
          </a:xfrm>
        </p:spPr>
        <p:txBody>
          <a:bodyPr/>
          <a:lstStyle/>
          <a:p>
            <a:r>
              <a:rPr lang="en-US" altLang="zh-CN" b="0" i="1" dirty="0" smtClean="0"/>
              <a:t>8.3</a:t>
            </a:r>
            <a:r>
              <a:rPr lang="zh-CN" altLang="en-US" b="0" i="1" dirty="0" smtClean="0"/>
              <a:t>系统分解</a:t>
            </a:r>
            <a:endParaRPr lang="en-US" altLang="zh-CN" b="0" i="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736600" y="501650"/>
            <a:ext cx="7124700" cy="863600"/>
          </a:xfrm>
        </p:spPr>
        <p:txBody>
          <a:bodyPr>
            <a:normAutofit fontScale="90000"/>
          </a:bodyPr>
          <a:lstStyle/>
          <a:p>
            <a:r>
              <a:rPr lang="zh-CN" altLang="en-US" b="0" i="1" dirty="0" smtClean="0"/>
              <a:t>面向对象设计模型（求解域对象模型）</a:t>
            </a:r>
            <a:endParaRPr lang="en-US" altLang="zh-CN" b="0" i="1" dirty="0"/>
          </a:p>
        </p:txBody>
      </p:sp>
      <p:sp>
        <p:nvSpPr>
          <p:cNvPr id="184323" name="Rectangle 3"/>
          <p:cNvSpPr>
            <a:spLocks noGrp="1" noChangeArrowheads="1"/>
          </p:cNvSpPr>
          <p:nvPr>
            <p:ph idx="1"/>
          </p:nvPr>
        </p:nvSpPr>
        <p:spPr>
          <a:xfrm>
            <a:off x="685800" y="1600200"/>
            <a:ext cx="7620000" cy="4953000"/>
          </a:xfrm>
        </p:spPr>
        <p:txBody>
          <a:bodyPr>
            <a:normAutofit/>
          </a:bodyPr>
          <a:lstStyle/>
          <a:p>
            <a:pPr algn="just">
              <a:spcAft>
                <a:spcPct val="40000"/>
              </a:spcAft>
            </a:pPr>
            <a:r>
              <a:rPr lang="zh-CN" altLang="en-US" sz="2200" dirty="0" smtClean="0">
                <a:latin typeface="宋体" pitchFamily="2" charset="-122"/>
              </a:rPr>
              <a:t>与</a:t>
            </a:r>
            <a:r>
              <a:rPr lang="zh-CN" altLang="en-US" sz="2200" dirty="0">
                <a:latin typeface="宋体" pitchFamily="2" charset="-122"/>
              </a:rPr>
              <a:t>面向对象分析模型（问题域的对象模型）一样，也由主题、类</a:t>
            </a:r>
            <a:r>
              <a:rPr lang="en-US" altLang="zh-CN" sz="2200" dirty="0">
                <a:latin typeface="Arial"/>
              </a:rPr>
              <a:t>—</a:t>
            </a:r>
            <a:r>
              <a:rPr lang="en-US" altLang="zh-CN" sz="2200" dirty="0">
                <a:latin typeface="宋体" pitchFamily="2" charset="-122"/>
              </a:rPr>
              <a:t>&amp;</a:t>
            </a:r>
            <a:r>
              <a:rPr lang="en-US" altLang="zh-CN" sz="2200" dirty="0">
                <a:latin typeface="Arial"/>
              </a:rPr>
              <a:t>—</a:t>
            </a:r>
            <a:r>
              <a:rPr lang="zh-CN" altLang="en-US" sz="2200" dirty="0">
                <a:latin typeface="宋体" pitchFamily="2" charset="-122"/>
              </a:rPr>
              <a:t>对象、结构、属性和服务五个层次组成，每一层表示系统模型的一个</a:t>
            </a:r>
            <a:r>
              <a:rPr lang="zh-CN" altLang="en-US" sz="2200" dirty="0" smtClean="0">
                <a:latin typeface="宋体" pitchFamily="2" charset="-122"/>
              </a:rPr>
              <a:t>水平切片。</a:t>
            </a:r>
            <a:endParaRPr lang="zh-CN" altLang="en-US" sz="2200" dirty="0">
              <a:latin typeface="宋体" pitchFamily="2" charset="-122"/>
            </a:endParaRPr>
          </a:p>
          <a:p>
            <a:pPr algn="just">
              <a:spcAft>
                <a:spcPct val="40000"/>
              </a:spcAft>
            </a:pPr>
            <a:r>
              <a:rPr lang="zh-CN" altLang="en-US" sz="2200" dirty="0">
                <a:latin typeface="宋体" pitchFamily="2" charset="-122"/>
              </a:rPr>
              <a:t>大多数系统的面向对象设计模型，在逻辑上都由四大部分组</a:t>
            </a:r>
            <a:r>
              <a:rPr lang="zh-CN" altLang="en-US" sz="2200" dirty="0" smtClean="0">
                <a:latin typeface="宋体" pitchFamily="2" charset="-122"/>
              </a:rPr>
              <a:t>成（活动），</a:t>
            </a:r>
            <a:r>
              <a:rPr lang="zh-CN" altLang="en-US" sz="2200" dirty="0">
                <a:latin typeface="宋体" pitchFamily="2" charset="-122"/>
              </a:rPr>
              <a:t>对应于目标系统的四个子系统，分别为问题域子系统，人</a:t>
            </a:r>
            <a:r>
              <a:rPr lang="en-US" altLang="zh-CN" sz="2200" dirty="0">
                <a:latin typeface="宋体" pitchFamily="2" charset="-122"/>
              </a:rPr>
              <a:t>-</a:t>
            </a:r>
            <a:r>
              <a:rPr lang="zh-CN" altLang="en-US" sz="2200" dirty="0">
                <a:latin typeface="宋体" pitchFamily="2" charset="-122"/>
              </a:rPr>
              <a:t>机交互子系统、</a:t>
            </a:r>
            <a:r>
              <a:rPr lang="zh-CN" altLang="en-US" sz="2200" dirty="0" smtClean="0">
                <a:latin typeface="宋体" pitchFamily="2" charset="-122"/>
              </a:rPr>
              <a:t>任务管理（控制驱动）子系统</a:t>
            </a:r>
            <a:r>
              <a:rPr lang="zh-CN" altLang="en-US" sz="2200" dirty="0">
                <a:latin typeface="宋体" pitchFamily="2" charset="-122"/>
              </a:rPr>
              <a:t>和数据管理子系统，每一个组成部分表示系统模型的一个</a:t>
            </a:r>
            <a:r>
              <a:rPr lang="zh-CN" altLang="en-US" sz="2200" dirty="0" smtClean="0">
                <a:latin typeface="宋体" pitchFamily="2" charset="-122"/>
              </a:rPr>
              <a:t>垂直切片。</a:t>
            </a:r>
            <a:endParaRPr lang="en-US" altLang="zh-CN" sz="2200" dirty="0">
              <a:latin typeface="宋体" pitchFamily="2" charset="-122"/>
            </a:endParaRPr>
          </a:p>
        </p:txBody>
      </p:sp>
      <p:sp>
        <p:nvSpPr>
          <p:cNvPr id="31" name="灯片编号占位符 5"/>
          <p:cNvSpPr>
            <a:spLocks noGrp="1"/>
          </p:cNvSpPr>
          <p:nvPr>
            <p:ph type="sldNum" sz="quarter" idx="12"/>
          </p:nvPr>
        </p:nvSpPr>
        <p:spPr/>
        <p:txBody>
          <a:bodyPr>
            <a:normAutofit/>
          </a:bodyPr>
          <a:lstStyle/>
          <a:p>
            <a:fld id="{422AFACA-9187-42FD-B275-27242BC719D0}" type="slidenum">
              <a:rPr lang="en-US" altLang="zh-CN"/>
              <a:pPr/>
              <a:t>17</a:t>
            </a:fld>
            <a:endParaRPr lang="en-US" altLang="zh-CN"/>
          </a:p>
        </p:txBody>
      </p:sp>
      <p:grpSp>
        <p:nvGrpSpPr>
          <p:cNvPr id="2" name="Group 75"/>
          <p:cNvGrpSpPr>
            <a:grpSpLocks/>
          </p:cNvGrpSpPr>
          <p:nvPr/>
        </p:nvGrpSpPr>
        <p:grpSpPr bwMode="auto">
          <a:xfrm>
            <a:off x="3244877" y="4273568"/>
            <a:ext cx="5256213" cy="1727200"/>
            <a:chOff x="1247" y="3022"/>
            <a:chExt cx="3311" cy="1088"/>
          </a:xfrm>
        </p:grpSpPr>
        <p:sp>
          <p:nvSpPr>
            <p:cNvPr id="184369" name="Rectangle 49"/>
            <p:cNvSpPr>
              <a:spLocks noChangeArrowheads="1"/>
            </p:cNvSpPr>
            <p:nvPr/>
          </p:nvSpPr>
          <p:spPr bwMode="auto">
            <a:xfrm>
              <a:off x="2235" y="3022"/>
              <a:ext cx="1969" cy="1088"/>
            </a:xfrm>
            <a:prstGeom prst="rect">
              <a:avLst/>
            </a:prstGeom>
            <a:noFill/>
            <a:ln w="9525">
              <a:solidFill>
                <a:srgbClr val="000000"/>
              </a:solidFill>
              <a:miter lim="800000"/>
              <a:headEnd/>
              <a:tailEnd/>
            </a:ln>
            <a:effectLst/>
          </p:spPr>
          <p:txBody>
            <a:bodyPr/>
            <a:lstStyle/>
            <a:p>
              <a:endParaRPr lang="zh-CN" altLang="en-US"/>
            </a:p>
          </p:txBody>
        </p:sp>
        <p:grpSp>
          <p:nvGrpSpPr>
            <p:cNvPr id="3" name="Group 50"/>
            <p:cNvGrpSpPr>
              <a:grpSpLocks/>
            </p:cNvGrpSpPr>
            <p:nvPr/>
          </p:nvGrpSpPr>
          <p:grpSpPr bwMode="auto">
            <a:xfrm>
              <a:off x="1865" y="3185"/>
              <a:ext cx="370" cy="650"/>
              <a:chOff x="4451" y="2064"/>
              <a:chExt cx="723" cy="1248"/>
            </a:xfrm>
          </p:grpSpPr>
          <p:sp>
            <p:nvSpPr>
              <p:cNvPr id="184371" name="Line 51"/>
              <p:cNvSpPr>
                <a:spLocks noChangeShapeType="1"/>
              </p:cNvSpPr>
              <p:nvPr/>
            </p:nvSpPr>
            <p:spPr bwMode="auto">
              <a:xfrm>
                <a:off x="4451" y="2064"/>
                <a:ext cx="723" cy="0"/>
              </a:xfrm>
              <a:prstGeom prst="line">
                <a:avLst/>
              </a:prstGeom>
              <a:noFill/>
              <a:ln w="9525">
                <a:solidFill>
                  <a:srgbClr val="000000"/>
                </a:solidFill>
                <a:round/>
                <a:headEnd/>
                <a:tailEnd/>
              </a:ln>
              <a:effectLst/>
            </p:spPr>
            <p:txBody>
              <a:bodyPr/>
              <a:lstStyle/>
              <a:p>
                <a:endParaRPr lang="zh-CN" altLang="en-US"/>
              </a:p>
            </p:txBody>
          </p:sp>
          <p:sp>
            <p:nvSpPr>
              <p:cNvPr id="184372" name="Line 52"/>
              <p:cNvSpPr>
                <a:spLocks noChangeShapeType="1"/>
              </p:cNvSpPr>
              <p:nvPr/>
            </p:nvSpPr>
            <p:spPr bwMode="auto">
              <a:xfrm>
                <a:off x="4451" y="2376"/>
                <a:ext cx="723" cy="0"/>
              </a:xfrm>
              <a:prstGeom prst="line">
                <a:avLst/>
              </a:prstGeom>
              <a:noFill/>
              <a:ln w="9525">
                <a:solidFill>
                  <a:srgbClr val="000000"/>
                </a:solidFill>
                <a:round/>
                <a:headEnd/>
                <a:tailEnd/>
              </a:ln>
              <a:effectLst/>
            </p:spPr>
            <p:txBody>
              <a:bodyPr/>
              <a:lstStyle/>
              <a:p>
                <a:endParaRPr lang="zh-CN" altLang="en-US"/>
              </a:p>
            </p:txBody>
          </p:sp>
          <p:sp>
            <p:nvSpPr>
              <p:cNvPr id="184373" name="Line 53"/>
              <p:cNvSpPr>
                <a:spLocks noChangeShapeType="1"/>
              </p:cNvSpPr>
              <p:nvPr/>
            </p:nvSpPr>
            <p:spPr bwMode="auto">
              <a:xfrm>
                <a:off x="4451" y="2688"/>
                <a:ext cx="723" cy="0"/>
              </a:xfrm>
              <a:prstGeom prst="line">
                <a:avLst/>
              </a:prstGeom>
              <a:noFill/>
              <a:ln w="9525">
                <a:solidFill>
                  <a:srgbClr val="000000"/>
                </a:solidFill>
                <a:round/>
                <a:headEnd/>
                <a:tailEnd/>
              </a:ln>
              <a:effectLst/>
            </p:spPr>
            <p:txBody>
              <a:bodyPr/>
              <a:lstStyle/>
              <a:p>
                <a:endParaRPr lang="zh-CN" altLang="en-US"/>
              </a:p>
            </p:txBody>
          </p:sp>
          <p:sp>
            <p:nvSpPr>
              <p:cNvPr id="184374" name="Line 54"/>
              <p:cNvSpPr>
                <a:spLocks noChangeShapeType="1"/>
              </p:cNvSpPr>
              <p:nvPr/>
            </p:nvSpPr>
            <p:spPr bwMode="auto">
              <a:xfrm>
                <a:off x="4451" y="3000"/>
                <a:ext cx="723" cy="0"/>
              </a:xfrm>
              <a:prstGeom prst="line">
                <a:avLst/>
              </a:prstGeom>
              <a:noFill/>
              <a:ln w="9525">
                <a:solidFill>
                  <a:srgbClr val="000000"/>
                </a:solidFill>
                <a:round/>
                <a:headEnd/>
                <a:tailEnd/>
              </a:ln>
              <a:effectLst/>
            </p:spPr>
            <p:txBody>
              <a:bodyPr/>
              <a:lstStyle/>
              <a:p>
                <a:endParaRPr lang="zh-CN" altLang="en-US"/>
              </a:p>
            </p:txBody>
          </p:sp>
          <p:sp>
            <p:nvSpPr>
              <p:cNvPr id="184375" name="Line 55"/>
              <p:cNvSpPr>
                <a:spLocks noChangeShapeType="1"/>
              </p:cNvSpPr>
              <p:nvPr/>
            </p:nvSpPr>
            <p:spPr bwMode="auto">
              <a:xfrm>
                <a:off x="4451" y="3312"/>
                <a:ext cx="723" cy="0"/>
              </a:xfrm>
              <a:prstGeom prst="line">
                <a:avLst/>
              </a:prstGeom>
              <a:noFill/>
              <a:ln w="9525">
                <a:solidFill>
                  <a:srgbClr val="000000"/>
                </a:solidFill>
                <a:round/>
                <a:headEnd/>
                <a:tailEnd/>
              </a:ln>
              <a:effectLst/>
            </p:spPr>
            <p:txBody>
              <a:bodyPr/>
              <a:lstStyle/>
              <a:p>
                <a:endParaRPr lang="zh-CN" altLang="en-US"/>
              </a:p>
            </p:txBody>
          </p:sp>
        </p:grpSp>
        <p:sp>
          <p:nvSpPr>
            <p:cNvPr id="184376" name="Line 56"/>
            <p:cNvSpPr>
              <a:spLocks noChangeShapeType="1"/>
            </p:cNvSpPr>
            <p:nvPr/>
          </p:nvSpPr>
          <p:spPr bwMode="auto">
            <a:xfrm>
              <a:off x="2727" y="3022"/>
              <a:ext cx="0" cy="1088"/>
            </a:xfrm>
            <a:prstGeom prst="line">
              <a:avLst/>
            </a:prstGeom>
            <a:noFill/>
            <a:ln w="9525">
              <a:solidFill>
                <a:srgbClr val="000000"/>
              </a:solidFill>
              <a:round/>
              <a:headEnd/>
              <a:tailEnd/>
            </a:ln>
            <a:effectLst/>
          </p:spPr>
          <p:txBody>
            <a:bodyPr/>
            <a:lstStyle/>
            <a:p>
              <a:endParaRPr lang="zh-CN" altLang="en-US"/>
            </a:p>
          </p:txBody>
        </p:sp>
        <p:sp>
          <p:nvSpPr>
            <p:cNvPr id="184377" name="Line 57"/>
            <p:cNvSpPr>
              <a:spLocks noChangeShapeType="1"/>
            </p:cNvSpPr>
            <p:nvPr/>
          </p:nvSpPr>
          <p:spPr bwMode="auto">
            <a:xfrm>
              <a:off x="3219" y="3022"/>
              <a:ext cx="0" cy="1088"/>
            </a:xfrm>
            <a:prstGeom prst="line">
              <a:avLst/>
            </a:prstGeom>
            <a:noFill/>
            <a:ln w="9525">
              <a:solidFill>
                <a:srgbClr val="000000"/>
              </a:solidFill>
              <a:round/>
              <a:headEnd/>
              <a:tailEnd/>
            </a:ln>
            <a:effectLst/>
          </p:spPr>
          <p:txBody>
            <a:bodyPr/>
            <a:lstStyle/>
            <a:p>
              <a:endParaRPr lang="zh-CN" altLang="en-US"/>
            </a:p>
          </p:txBody>
        </p:sp>
        <p:sp>
          <p:nvSpPr>
            <p:cNvPr id="184378" name="Line 58"/>
            <p:cNvSpPr>
              <a:spLocks noChangeShapeType="1"/>
            </p:cNvSpPr>
            <p:nvPr/>
          </p:nvSpPr>
          <p:spPr bwMode="auto">
            <a:xfrm>
              <a:off x="3712" y="3022"/>
              <a:ext cx="0" cy="1088"/>
            </a:xfrm>
            <a:prstGeom prst="line">
              <a:avLst/>
            </a:prstGeom>
            <a:noFill/>
            <a:ln w="9525">
              <a:solidFill>
                <a:srgbClr val="000000"/>
              </a:solidFill>
              <a:round/>
              <a:headEnd/>
              <a:tailEnd/>
            </a:ln>
            <a:effectLst/>
          </p:spPr>
          <p:txBody>
            <a:bodyPr/>
            <a:lstStyle/>
            <a:p>
              <a:endParaRPr lang="zh-CN" altLang="en-US"/>
            </a:p>
          </p:txBody>
        </p:sp>
        <p:sp>
          <p:nvSpPr>
            <p:cNvPr id="184379" name="Text Box 59"/>
            <p:cNvSpPr txBox="1">
              <a:spLocks noChangeArrowheads="1"/>
            </p:cNvSpPr>
            <p:nvPr/>
          </p:nvSpPr>
          <p:spPr bwMode="auto">
            <a:xfrm>
              <a:off x="2235" y="3275"/>
              <a:ext cx="369" cy="726"/>
            </a:xfrm>
            <a:prstGeom prst="rect">
              <a:avLst/>
            </a:prstGeom>
            <a:noFill/>
            <a:ln w="9525">
              <a:noFill/>
              <a:miter lim="800000"/>
              <a:headEnd/>
              <a:tailEnd/>
            </a:ln>
            <a:effectLst/>
          </p:spPr>
          <p:txBody>
            <a:bodyPr/>
            <a:lstStyle/>
            <a:p>
              <a:pPr algn="just"/>
              <a:r>
                <a:rPr lang="zh-CN" altLang="en-US" sz="1200" dirty="0">
                  <a:latin typeface="Times New Roman" pitchFamily="18" charset="0"/>
                </a:rPr>
                <a:t>人机交互部分</a:t>
              </a:r>
              <a:endParaRPr lang="zh-CN" altLang="en-US" sz="2400" dirty="0"/>
            </a:p>
          </p:txBody>
        </p:sp>
        <p:sp>
          <p:nvSpPr>
            <p:cNvPr id="184380" name="Text Box 60"/>
            <p:cNvSpPr txBox="1">
              <a:spLocks noChangeArrowheads="1"/>
            </p:cNvSpPr>
            <p:nvPr/>
          </p:nvSpPr>
          <p:spPr bwMode="auto">
            <a:xfrm>
              <a:off x="3712" y="3275"/>
              <a:ext cx="369" cy="726"/>
            </a:xfrm>
            <a:prstGeom prst="rect">
              <a:avLst/>
            </a:prstGeom>
            <a:noFill/>
            <a:ln w="9525">
              <a:noFill/>
              <a:miter lim="800000"/>
              <a:headEnd/>
              <a:tailEnd/>
            </a:ln>
            <a:effectLst/>
          </p:spPr>
          <p:txBody>
            <a:bodyPr/>
            <a:lstStyle/>
            <a:p>
              <a:pPr algn="just"/>
              <a:r>
                <a:rPr lang="zh-CN" altLang="en-US" sz="1200">
                  <a:latin typeface="Times New Roman" pitchFamily="18" charset="0"/>
                </a:rPr>
                <a:t>数据管理部分</a:t>
              </a:r>
              <a:endParaRPr lang="zh-CN" altLang="en-US" sz="2400"/>
            </a:p>
          </p:txBody>
        </p:sp>
        <p:sp>
          <p:nvSpPr>
            <p:cNvPr id="184381" name="Text Box 61"/>
            <p:cNvSpPr txBox="1">
              <a:spLocks noChangeArrowheads="1"/>
            </p:cNvSpPr>
            <p:nvPr/>
          </p:nvSpPr>
          <p:spPr bwMode="auto">
            <a:xfrm>
              <a:off x="2727" y="3275"/>
              <a:ext cx="369" cy="726"/>
            </a:xfrm>
            <a:prstGeom prst="rect">
              <a:avLst/>
            </a:prstGeom>
            <a:noFill/>
            <a:ln w="9525">
              <a:noFill/>
              <a:miter lim="800000"/>
              <a:headEnd/>
              <a:tailEnd/>
            </a:ln>
            <a:effectLst/>
          </p:spPr>
          <p:txBody>
            <a:bodyPr/>
            <a:lstStyle/>
            <a:p>
              <a:pPr algn="just"/>
              <a:r>
                <a:rPr lang="zh-CN" altLang="en-US" sz="1200">
                  <a:latin typeface="Times New Roman" pitchFamily="18" charset="0"/>
                </a:rPr>
                <a:t>问题域部分</a:t>
              </a:r>
              <a:endParaRPr lang="zh-CN" altLang="en-US" sz="2400"/>
            </a:p>
          </p:txBody>
        </p:sp>
        <p:sp>
          <p:nvSpPr>
            <p:cNvPr id="184382" name="Text Box 62"/>
            <p:cNvSpPr txBox="1">
              <a:spLocks noChangeArrowheads="1"/>
            </p:cNvSpPr>
            <p:nvPr/>
          </p:nvSpPr>
          <p:spPr bwMode="auto">
            <a:xfrm>
              <a:off x="3219" y="3275"/>
              <a:ext cx="370" cy="726"/>
            </a:xfrm>
            <a:prstGeom prst="rect">
              <a:avLst/>
            </a:prstGeom>
            <a:noFill/>
            <a:ln w="9525">
              <a:noFill/>
              <a:miter lim="800000"/>
              <a:headEnd/>
              <a:tailEnd/>
            </a:ln>
            <a:effectLst/>
          </p:spPr>
          <p:txBody>
            <a:bodyPr/>
            <a:lstStyle/>
            <a:p>
              <a:pPr algn="just"/>
              <a:r>
                <a:rPr lang="zh-CN" altLang="en-US" sz="1200">
                  <a:latin typeface="Times New Roman" pitchFamily="18" charset="0"/>
                </a:rPr>
                <a:t>任务管理部分</a:t>
              </a:r>
              <a:endParaRPr lang="zh-CN" altLang="en-US" sz="2400"/>
            </a:p>
          </p:txBody>
        </p:sp>
        <p:grpSp>
          <p:nvGrpSpPr>
            <p:cNvPr id="4" name="Group 63"/>
            <p:cNvGrpSpPr>
              <a:grpSpLocks/>
            </p:cNvGrpSpPr>
            <p:nvPr/>
          </p:nvGrpSpPr>
          <p:grpSpPr bwMode="auto">
            <a:xfrm>
              <a:off x="4189" y="3185"/>
              <a:ext cx="369" cy="650"/>
              <a:chOff x="4451" y="2064"/>
              <a:chExt cx="723" cy="1248"/>
            </a:xfrm>
          </p:grpSpPr>
          <p:sp>
            <p:nvSpPr>
              <p:cNvPr id="184384" name="Line 64"/>
              <p:cNvSpPr>
                <a:spLocks noChangeShapeType="1"/>
              </p:cNvSpPr>
              <p:nvPr/>
            </p:nvSpPr>
            <p:spPr bwMode="auto">
              <a:xfrm>
                <a:off x="4451" y="2064"/>
                <a:ext cx="723" cy="0"/>
              </a:xfrm>
              <a:prstGeom prst="line">
                <a:avLst/>
              </a:prstGeom>
              <a:noFill/>
              <a:ln w="9525">
                <a:solidFill>
                  <a:srgbClr val="000000"/>
                </a:solidFill>
                <a:round/>
                <a:headEnd/>
                <a:tailEnd/>
              </a:ln>
              <a:effectLst/>
            </p:spPr>
            <p:txBody>
              <a:bodyPr/>
              <a:lstStyle/>
              <a:p>
                <a:endParaRPr lang="zh-CN" altLang="en-US"/>
              </a:p>
            </p:txBody>
          </p:sp>
          <p:sp>
            <p:nvSpPr>
              <p:cNvPr id="184385" name="Line 65"/>
              <p:cNvSpPr>
                <a:spLocks noChangeShapeType="1"/>
              </p:cNvSpPr>
              <p:nvPr/>
            </p:nvSpPr>
            <p:spPr bwMode="auto">
              <a:xfrm>
                <a:off x="4451" y="2376"/>
                <a:ext cx="723" cy="0"/>
              </a:xfrm>
              <a:prstGeom prst="line">
                <a:avLst/>
              </a:prstGeom>
              <a:noFill/>
              <a:ln w="9525">
                <a:solidFill>
                  <a:srgbClr val="000000"/>
                </a:solidFill>
                <a:round/>
                <a:headEnd/>
                <a:tailEnd/>
              </a:ln>
              <a:effectLst/>
            </p:spPr>
            <p:txBody>
              <a:bodyPr/>
              <a:lstStyle/>
              <a:p>
                <a:endParaRPr lang="zh-CN" altLang="en-US"/>
              </a:p>
            </p:txBody>
          </p:sp>
          <p:sp>
            <p:nvSpPr>
              <p:cNvPr id="184386" name="Line 66"/>
              <p:cNvSpPr>
                <a:spLocks noChangeShapeType="1"/>
              </p:cNvSpPr>
              <p:nvPr/>
            </p:nvSpPr>
            <p:spPr bwMode="auto">
              <a:xfrm>
                <a:off x="4451" y="2688"/>
                <a:ext cx="723" cy="0"/>
              </a:xfrm>
              <a:prstGeom prst="line">
                <a:avLst/>
              </a:prstGeom>
              <a:noFill/>
              <a:ln w="9525">
                <a:solidFill>
                  <a:srgbClr val="000000"/>
                </a:solidFill>
                <a:round/>
                <a:headEnd/>
                <a:tailEnd/>
              </a:ln>
              <a:effectLst/>
            </p:spPr>
            <p:txBody>
              <a:bodyPr/>
              <a:lstStyle/>
              <a:p>
                <a:endParaRPr lang="zh-CN" altLang="en-US"/>
              </a:p>
            </p:txBody>
          </p:sp>
          <p:sp>
            <p:nvSpPr>
              <p:cNvPr id="184387" name="Line 67"/>
              <p:cNvSpPr>
                <a:spLocks noChangeShapeType="1"/>
              </p:cNvSpPr>
              <p:nvPr/>
            </p:nvSpPr>
            <p:spPr bwMode="auto">
              <a:xfrm>
                <a:off x="4451" y="3000"/>
                <a:ext cx="723" cy="0"/>
              </a:xfrm>
              <a:prstGeom prst="line">
                <a:avLst/>
              </a:prstGeom>
              <a:noFill/>
              <a:ln w="9525">
                <a:solidFill>
                  <a:srgbClr val="000000"/>
                </a:solidFill>
                <a:round/>
                <a:headEnd/>
                <a:tailEnd/>
              </a:ln>
              <a:effectLst/>
            </p:spPr>
            <p:txBody>
              <a:bodyPr/>
              <a:lstStyle/>
              <a:p>
                <a:endParaRPr lang="zh-CN" altLang="en-US"/>
              </a:p>
            </p:txBody>
          </p:sp>
          <p:sp>
            <p:nvSpPr>
              <p:cNvPr id="184388" name="Line 68"/>
              <p:cNvSpPr>
                <a:spLocks noChangeShapeType="1"/>
              </p:cNvSpPr>
              <p:nvPr/>
            </p:nvSpPr>
            <p:spPr bwMode="auto">
              <a:xfrm>
                <a:off x="4451" y="3312"/>
                <a:ext cx="723" cy="0"/>
              </a:xfrm>
              <a:prstGeom prst="line">
                <a:avLst/>
              </a:prstGeom>
              <a:noFill/>
              <a:ln w="9525">
                <a:solidFill>
                  <a:srgbClr val="000000"/>
                </a:solidFill>
                <a:round/>
                <a:headEnd/>
                <a:tailEnd/>
              </a:ln>
              <a:effectLst/>
            </p:spPr>
            <p:txBody>
              <a:bodyPr/>
              <a:lstStyle/>
              <a:p>
                <a:endParaRPr lang="zh-CN" altLang="en-US"/>
              </a:p>
            </p:txBody>
          </p:sp>
        </p:grpSp>
        <p:grpSp>
          <p:nvGrpSpPr>
            <p:cNvPr id="5" name="Group 74"/>
            <p:cNvGrpSpPr>
              <a:grpSpLocks/>
            </p:cNvGrpSpPr>
            <p:nvPr/>
          </p:nvGrpSpPr>
          <p:grpSpPr bwMode="auto">
            <a:xfrm>
              <a:off x="1247" y="3050"/>
              <a:ext cx="644" cy="924"/>
              <a:chOff x="1247" y="3050"/>
              <a:chExt cx="644" cy="924"/>
            </a:xfrm>
          </p:grpSpPr>
          <p:sp>
            <p:nvSpPr>
              <p:cNvPr id="184389" name="Text Box 69"/>
              <p:cNvSpPr txBox="1">
                <a:spLocks noChangeArrowheads="1"/>
              </p:cNvSpPr>
              <p:nvPr/>
            </p:nvSpPr>
            <p:spPr bwMode="auto">
              <a:xfrm>
                <a:off x="1247" y="3050"/>
                <a:ext cx="460" cy="244"/>
              </a:xfrm>
              <a:prstGeom prst="rect">
                <a:avLst/>
              </a:prstGeom>
              <a:noFill/>
              <a:ln w="9525">
                <a:noFill/>
                <a:miter lim="800000"/>
                <a:headEnd/>
                <a:tailEnd/>
              </a:ln>
              <a:effectLst/>
            </p:spPr>
            <p:txBody>
              <a:bodyPr/>
              <a:lstStyle/>
              <a:p>
                <a:pPr algn="just">
                  <a:lnSpc>
                    <a:spcPct val="128000"/>
                  </a:lnSpc>
                </a:pPr>
                <a:r>
                  <a:rPr lang="zh-CN" altLang="en-US" sz="1000">
                    <a:latin typeface="Times New Roman" pitchFamily="18" charset="0"/>
                  </a:rPr>
                  <a:t>主题层</a:t>
                </a:r>
                <a:endParaRPr lang="zh-CN" altLang="en-US" sz="2000"/>
              </a:p>
            </p:txBody>
          </p:sp>
          <p:sp>
            <p:nvSpPr>
              <p:cNvPr id="184390" name="Text Box 70"/>
              <p:cNvSpPr txBox="1">
                <a:spLocks noChangeArrowheads="1"/>
              </p:cNvSpPr>
              <p:nvPr/>
            </p:nvSpPr>
            <p:spPr bwMode="auto">
              <a:xfrm>
                <a:off x="1247" y="3232"/>
                <a:ext cx="644" cy="243"/>
              </a:xfrm>
              <a:prstGeom prst="rect">
                <a:avLst/>
              </a:prstGeom>
              <a:noFill/>
              <a:ln w="9525">
                <a:noFill/>
                <a:miter lim="800000"/>
                <a:headEnd/>
                <a:tailEnd/>
              </a:ln>
              <a:effectLst/>
            </p:spPr>
            <p:txBody>
              <a:bodyPr/>
              <a:lstStyle/>
              <a:p>
                <a:pPr algn="just">
                  <a:lnSpc>
                    <a:spcPct val="128000"/>
                  </a:lnSpc>
                </a:pPr>
                <a:r>
                  <a:rPr lang="zh-CN" altLang="en-US" sz="1000">
                    <a:latin typeface="Times New Roman" pitchFamily="18" charset="0"/>
                  </a:rPr>
                  <a:t>类</a:t>
                </a:r>
                <a:r>
                  <a:rPr lang="en-US" altLang="zh-CN" sz="1000">
                    <a:latin typeface="Times New Roman" pitchFamily="18" charset="0"/>
                  </a:rPr>
                  <a:t>&amp;</a:t>
                </a:r>
                <a:r>
                  <a:rPr lang="zh-CN" altLang="en-US" sz="1000">
                    <a:latin typeface="Times New Roman" pitchFamily="18" charset="0"/>
                  </a:rPr>
                  <a:t>对象层</a:t>
                </a:r>
              </a:p>
              <a:p>
                <a:endParaRPr lang="zh-CN" altLang="en-US" sz="2000"/>
              </a:p>
            </p:txBody>
          </p:sp>
          <p:sp>
            <p:nvSpPr>
              <p:cNvPr id="184391" name="Text Box 71"/>
              <p:cNvSpPr txBox="1">
                <a:spLocks noChangeArrowheads="1"/>
              </p:cNvSpPr>
              <p:nvPr/>
            </p:nvSpPr>
            <p:spPr bwMode="auto">
              <a:xfrm>
                <a:off x="1247" y="3368"/>
                <a:ext cx="460" cy="244"/>
              </a:xfrm>
              <a:prstGeom prst="rect">
                <a:avLst/>
              </a:prstGeom>
              <a:noFill/>
              <a:ln w="9525">
                <a:noFill/>
                <a:miter lim="800000"/>
                <a:headEnd/>
                <a:tailEnd/>
              </a:ln>
              <a:effectLst/>
            </p:spPr>
            <p:txBody>
              <a:bodyPr/>
              <a:lstStyle/>
              <a:p>
                <a:pPr algn="just">
                  <a:lnSpc>
                    <a:spcPct val="128000"/>
                  </a:lnSpc>
                </a:pPr>
                <a:r>
                  <a:rPr lang="zh-CN" altLang="en-US" sz="1000">
                    <a:latin typeface="Times New Roman" pitchFamily="18" charset="0"/>
                  </a:rPr>
                  <a:t>结构层</a:t>
                </a:r>
              </a:p>
              <a:p>
                <a:endParaRPr lang="zh-CN" altLang="en-US" sz="2000"/>
              </a:p>
            </p:txBody>
          </p:sp>
          <p:sp>
            <p:nvSpPr>
              <p:cNvPr id="184392" name="Text Box 72"/>
              <p:cNvSpPr txBox="1">
                <a:spLocks noChangeArrowheads="1"/>
              </p:cNvSpPr>
              <p:nvPr/>
            </p:nvSpPr>
            <p:spPr bwMode="auto">
              <a:xfrm>
                <a:off x="1247" y="3549"/>
                <a:ext cx="460" cy="244"/>
              </a:xfrm>
              <a:prstGeom prst="rect">
                <a:avLst/>
              </a:prstGeom>
              <a:noFill/>
              <a:ln w="9525">
                <a:noFill/>
                <a:miter lim="800000"/>
                <a:headEnd/>
                <a:tailEnd/>
              </a:ln>
              <a:effectLst/>
            </p:spPr>
            <p:txBody>
              <a:bodyPr/>
              <a:lstStyle/>
              <a:p>
                <a:pPr algn="just">
                  <a:lnSpc>
                    <a:spcPct val="128000"/>
                  </a:lnSpc>
                </a:pPr>
                <a:r>
                  <a:rPr lang="zh-CN" altLang="en-US" sz="1000">
                    <a:latin typeface="Times New Roman" pitchFamily="18" charset="0"/>
                  </a:rPr>
                  <a:t>属性层</a:t>
                </a:r>
              </a:p>
              <a:p>
                <a:endParaRPr lang="zh-CN" altLang="en-US" sz="2000"/>
              </a:p>
            </p:txBody>
          </p:sp>
          <p:sp>
            <p:nvSpPr>
              <p:cNvPr id="184393" name="Text Box 73"/>
              <p:cNvSpPr txBox="1">
                <a:spLocks noChangeArrowheads="1"/>
              </p:cNvSpPr>
              <p:nvPr/>
            </p:nvSpPr>
            <p:spPr bwMode="auto">
              <a:xfrm>
                <a:off x="1247" y="3730"/>
                <a:ext cx="460" cy="244"/>
              </a:xfrm>
              <a:prstGeom prst="rect">
                <a:avLst/>
              </a:prstGeom>
              <a:noFill/>
              <a:ln w="9525">
                <a:noFill/>
                <a:miter lim="800000"/>
                <a:headEnd/>
                <a:tailEnd/>
              </a:ln>
              <a:effectLst/>
            </p:spPr>
            <p:txBody>
              <a:bodyPr/>
              <a:lstStyle/>
              <a:p>
                <a:pPr algn="just">
                  <a:lnSpc>
                    <a:spcPct val="128000"/>
                  </a:lnSpc>
                </a:pPr>
                <a:r>
                  <a:rPr lang="zh-CN" altLang="en-US" sz="1000">
                    <a:latin typeface="Times New Roman" pitchFamily="18" charset="0"/>
                  </a:rPr>
                  <a:t>服务层</a:t>
                </a:r>
              </a:p>
              <a:p>
                <a:endParaRPr lang="zh-CN" altLang="en-US" sz="20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736600" y="501650"/>
            <a:ext cx="7124700" cy="863600"/>
          </a:xfrm>
        </p:spPr>
        <p:txBody>
          <a:bodyPr/>
          <a:lstStyle/>
          <a:p>
            <a:r>
              <a:rPr lang="en-US" altLang="zh-CN" b="0" i="1" dirty="0" smtClean="0"/>
              <a:t>1</a:t>
            </a:r>
            <a:r>
              <a:rPr lang="zh-CN" altLang="en-US" b="0" i="1" dirty="0" smtClean="0"/>
              <a:t>、子系统之间的两种交互方式</a:t>
            </a:r>
            <a:endParaRPr lang="en-US" altLang="zh-CN" b="0" i="1" dirty="0"/>
          </a:p>
        </p:txBody>
      </p:sp>
      <p:sp>
        <p:nvSpPr>
          <p:cNvPr id="182275" name="Rectangle 3"/>
          <p:cNvSpPr>
            <a:spLocks noGrp="1" noChangeArrowheads="1"/>
          </p:cNvSpPr>
          <p:nvPr>
            <p:ph idx="1"/>
          </p:nvPr>
        </p:nvSpPr>
        <p:spPr>
          <a:xfrm>
            <a:off x="685800" y="1600200"/>
            <a:ext cx="7620000" cy="4614882"/>
          </a:xfrm>
        </p:spPr>
        <p:txBody>
          <a:bodyPr/>
          <a:lstStyle/>
          <a:p>
            <a:pPr algn="just">
              <a:spcAft>
                <a:spcPct val="40000"/>
              </a:spcAft>
            </a:pPr>
            <a:r>
              <a:rPr lang="zh-CN" altLang="en-US" sz="2400" dirty="0" smtClean="0">
                <a:solidFill>
                  <a:srgbClr val="FF0000"/>
                </a:solidFill>
                <a:latin typeface="宋体" pitchFamily="2" charset="-122"/>
              </a:rPr>
              <a:t>客户</a:t>
            </a:r>
            <a:r>
              <a:rPr lang="zh-CN" altLang="en-US" sz="2400" dirty="0">
                <a:solidFill>
                  <a:srgbClr val="FF0000"/>
                </a:solidFill>
                <a:latin typeface="宋体" pitchFamily="2" charset="-122"/>
              </a:rPr>
              <a:t>－供应商关系</a:t>
            </a:r>
          </a:p>
          <a:p>
            <a:pPr lvl="2" algn="just">
              <a:spcAft>
                <a:spcPct val="40000"/>
              </a:spcAft>
            </a:pPr>
            <a:r>
              <a:rPr lang="zh-CN" altLang="en-US" dirty="0">
                <a:latin typeface="宋体" pitchFamily="2" charset="-122"/>
              </a:rPr>
              <a:t>客户子系统调用供应商子系统</a:t>
            </a:r>
            <a:r>
              <a:rPr lang="zh-CN" altLang="en-US" dirty="0" smtClean="0">
                <a:latin typeface="宋体" pitchFamily="2" charset="-122"/>
              </a:rPr>
              <a:t>，由供应</a:t>
            </a:r>
            <a:r>
              <a:rPr lang="zh-CN" altLang="en-US" dirty="0">
                <a:latin typeface="宋体" pitchFamily="2" charset="-122"/>
              </a:rPr>
              <a:t>商子系统完成某些服务工作并返回结果</a:t>
            </a:r>
          </a:p>
          <a:p>
            <a:pPr lvl="2" algn="just">
              <a:spcAft>
                <a:spcPct val="40000"/>
              </a:spcAft>
            </a:pPr>
            <a:r>
              <a:rPr lang="zh-CN" altLang="en-US" dirty="0">
                <a:latin typeface="宋体" pitchFamily="2" charset="-122"/>
              </a:rPr>
              <a:t>客户子系统必须了解供应商子系统的接口，而供应商子系统无需了解客户子系统的接口</a:t>
            </a:r>
          </a:p>
          <a:p>
            <a:pPr algn="just">
              <a:spcAft>
                <a:spcPct val="40000"/>
              </a:spcAft>
            </a:pPr>
            <a:r>
              <a:rPr lang="zh-CN" altLang="en-US" sz="2400" dirty="0">
                <a:solidFill>
                  <a:srgbClr val="FF0000"/>
                </a:solidFill>
                <a:latin typeface="宋体" pitchFamily="2" charset="-122"/>
              </a:rPr>
              <a:t>平等伙伴关系</a:t>
            </a:r>
          </a:p>
          <a:p>
            <a:pPr lvl="2" algn="just">
              <a:spcAft>
                <a:spcPct val="40000"/>
              </a:spcAft>
            </a:pPr>
            <a:r>
              <a:rPr lang="zh-CN" altLang="en-US" dirty="0"/>
              <a:t>每个子系统都可能调用其它子系统</a:t>
            </a:r>
          </a:p>
          <a:p>
            <a:pPr lvl="2" algn="just">
              <a:spcAft>
                <a:spcPct val="40000"/>
              </a:spcAft>
            </a:pPr>
            <a:r>
              <a:rPr lang="zh-CN" altLang="en-US" dirty="0"/>
              <a:t>每个子系统都必须了解其它子系统的接口</a:t>
            </a:r>
          </a:p>
          <a:p>
            <a:pPr lvl="2" algn="just">
              <a:spcAft>
                <a:spcPct val="40000"/>
              </a:spcAft>
            </a:pPr>
            <a:r>
              <a:rPr lang="zh-CN" altLang="en-US" dirty="0"/>
              <a:t>子系统之间的交互更复杂</a:t>
            </a:r>
          </a:p>
        </p:txBody>
      </p:sp>
      <p:sp>
        <p:nvSpPr>
          <p:cNvPr id="4" name="灯片编号占位符 5"/>
          <p:cNvSpPr>
            <a:spLocks noGrp="1"/>
          </p:cNvSpPr>
          <p:nvPr>
            <p:ph type="sldNum" sz="quarter" idx="12"/>
          </p:nvPr>
        </p:nvSpPr>
        <p:spPr/>
        <p:txBody>
          <a:bodyPr>
            <a:normAutofit/>
          </a:bodyPr>
          <a:lstStyle/>
          <a:p>
            <a:fld id="{4284B997-77CB-4EB6-8F46-917DC3576ACD}" type="slidenum">
              <a:rPr lang="en-US" altLang="zh-CN"/>
              <a:pPr/>
              <a:t>18</a:t>
            </a:fld>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736600" y="357166"/>
            <a:ext cx="7124700" cy="863600"/>
          </a:xfrm>
        </p:spPr>
        <p:txBody>
          <a:bodyPr>
            <a:normAutofit/>
          </a:bodyPr>
          <a:lstStyle/>
          <a:p>
            <a:pPr lvl="1" algn="l" rtl="0">
              <a:spcBef>
                <a:spcPct val="0"/>
              </a:spcBef>
            </a:pPr>
            <a:r>
              <a:rPr lang="en-US" altLang="zh-CN" sz="3600" i="1" kern="1200" dirty="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rPr>
              <a:t>2</a:t>
            </a:r>
            <a:r>
              <a:rPr lang="zh-CN" altLang="en-US" sz="3600" i="1" kern="1200" dirty="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rPr>
              <a:t>、组织系统</a:t>
            </a:r>
            <a:r>
              <a:rPr lang="zh-CN" altLang="en-US" sz="3600" i="1" kern="1200" dirty="0" smtClean="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rPr>
              <a:t>的方案</a:t>
            </a:r>
            <a:endParaRPr lang="en-US" altLang="zh-CN" sz="3600" i="1" kern="1200" dirty="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endParaRPr>
          </a:p>
        </p:txBody>
      </p:sp>
      <p:sp>
        <p:nvSpPr>
          <p:cNvPr id="168963" name="Rectangle 3"/>
          <p:cNvSpPr>
            <a:spLocks noGrp="1" noChangeArrowheads="1"/>
          </p:cNvSpPr>
          <p:nvPr>
            <p:ph idx="1"/>
          </p:nvPr>
        </p:nvSpPr>
        <p:spPr>
          <a:xfrm>
            <a:off x="685800" y="1428736"/>
            <a:ext cx="7958166" cy="4953000"/>
          </a:xfrm>
        </p:spPr>
        <p:txBody>
          <a:bodyPr/>
          <a:lstStyle/>
          <a:p>
            <a:pPr algn="just">
              <a:spcAft>
                <a:spcPct val="40000"/>
              </a:spcAft>
            </a:pPr>
            <a:r>
              <a:rPr lang="zh-CN" altLang="en-US" sz="2400" dirty="0" smtClean="0">
                <a:solidFill>
                  <a:srgbClr val="FF0000"/>
                </a:solidFill>
              </a:rPr>
              <a:t>层次</a:t>
            </a:r>
            <a:r>
              <a:rPr lang="zh-CN" altLang="en-US" sz="2400" dirty="0">
                <a:solidFill>
                  <a:srgbClr val="FF0000"/>
                </a:solidFill>
              </a:rPr>
              <a:t>组织</a:t>
            </a:r>
          </a:p>
          <a:p>
            <a:pPr lvl="2" algn="just">
              <a:spcAft>
                <a:spcPct val="40000"/>
              </a:spcAft>
            </a:pPr>
            <a:r>
              <a:rPr lang="zh-CN" altLang="en-US" dirty="0"/>
              <a:t>把软件组织成一个层次系统，每层是一个子系统</a:t>
            </a:r>
          </a:p>
          <a:p>
            <a:pPr lvl="2" algn="just">
              <a:spcAft>
                <a:spcPct val="40000"/>
              </a:spcAft>
            </a:pPr>
            <a:r>
              <a:rPr lang="zh-CN" altLang="en-US" dirty="0"/>
              <a:t>上层建立在下层的基础上，下层为实现上层的功能提供必要的</a:t>
            </a:r>
            <a:r>
              <a:rPr lang="zh-CN" altLang="en-US" dirty="0" smtClean="0"/>
              <a:t>服务</a:t>
            </a:r>
            <a:endParaRPr lang="zh-CN" altLang="en-US" dirty="0"/>
          </a:p>
          <a:p>
            <a:pPr algn="just">
              <a:spcAft>
                <a:spcPct val="40000"/>
              </a:spcAft>
            </a:pPr>
            <a:r>
              <a:rPr lang="zh-CN" altLang="en-US" sz="2400" dirty="0">
                <a:solidFill>
                  <a:srgbClr val="FF0000"/>
                </a:solidFill>
              </a:rPr>
              <a:t>块状组织</a:t>
            </a:r>
          </a:p>
          <a:p>
            <a:pPr lvl="2" algn="just">
              <a:spcAft>
                <a:spcPct val="40000"/>
              </a:spcAft>
            </a:pPr>
            <a:r>
              <a:rPr lang="zh-CN" altLang="en-US" dirty="0"/>
              <a:t>把软件系统垂直分解为若干相对独立、弱耦合的子系统</a:t>
            </a:r>
          </a:p>
          <a:p>
            <a:pPr lvl="2" algn="just">
              <a:spcAft>
                <a:spcPct val="40000"/>
              </a:spcAft>
            </a:pPr>
            <a:r>
              <a:rPr lang="zh-CN" altLang="en-US" dirty="0"/>
              <a:t>每一个子系统提供一种类型的服务</a:t>
            </a:r>
          </a:p>
          <a:p>
            <a:pPr algn="just">
              <a:spcAft>
                <a:spcPct val="40000"/>
              </a:spcAft>
            </a:pPr>
            <a:r>
              <a:rPr lang="zh-CN" altLang="en-US" sz="2400" dirty="0">
                <a:solidFill>
                  <a:srgbClr val="FF0000"/>
                </a:solidFill>
              </a:rPr>
              <a:t>层次与块状混合</a:t>
            </a:r>
            <a:r>
              <a:rPr lang="zh-CN" altLang="en-US" sz="2400" dirty="0" smtClean="0">
                <a:solidFill>
                  <a:srgbClr val="FF0000"/>
                </a:solidFill>
              </a:rPr>
              <a:t>结构</a:t>
            </a:r>
            <a:r>
              <a:rPr lang="en-US" altLang="zh-CN" sz="2400" dirty="0" smtClean="0">
                <a:solidFill>
                  <a:srgbClr val="FF0000"/>
                </a:solidFill>
              </a:rPr>
              <a:t>(</a:t>
            </a:r>
            <a:r>
              <a:rPr lang="zh-CN" altLang="en-US" sz="2400" dirty="0" smtClean="0">
                <a:solidFill>
                  <a:srgbClr val="FF0000"/>
                </a:solidFill>
              </a:rPr>
              <a:t>常用</a:t>
            </a:r>
            <a:r>
              <a:rPr lang="en-US" altLang="zh-CN" sz="2400" dirty="0" smtClean="0">
                <a:solidFill>
                  <a:srgbClr val="FF0000"/>
                </a:solidFill>
              </a:rPr>
              <a:t>)</a:t>
            </a:r>
            <a:endParaRPr lang="zh-CN" altLang="en-US" sz="2400" dirty="0">
              <a:solidFill>
                <a:srgbClr val="FF0000"/>
              </a:solidFill>
            </a:endParaRPr>
          </a:p>
        </p:txBody>
      </p:sp>
      <p:sp>
        <p:nvSpPr>
          <p:cNvPr id="4" name="灯片编号占位符 5"/>
          <p:cNvSpPr>
            <a:spLocks noGrp="1"/>
          </p:cNvSpPr>
          <p:nvPr>
            <p:ph type="sldNum" sz="quarter" idx="12"/>
          </p:nvPr>
        </p:nvSpPr>
        <p:spPr/>
        <p:txBody>
          <a:bodyPr>
            <a:normAutofit/>
          </a:bodyPr>
          <a:lstStyle/>
          <a:p>
            <a:fld id="{50ACB782-43A4-4FD5-B4D9-2DDA926F9268}" type="slidenum">
              <a:rPr lang="en-US" altLang="zh-CN"/>
              <a:pPr/>
              <a:t>19</a:t>
            </a:fld>
            <a:endParaRPr lang="en-US"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736600" y="501650"/>
            <a:ext cx="7124700" cy="863600"/>
          </a:xfrm>
        </p:spPr>
        <p:txBody>
          <a:bodyPr/>
          <a:lstStyle/>
          <a:p>
            <a:r>
              <a:rPr lang="en-US" altLang="zh-CN" b="0" i="1" dirty="0" smtClean="0"/>
              <a:t>8.4 </a:t>
            </a:r>
            <a:r>
              <a:rPr lang="zh-CN" altLang="en-US" b="0" i="1" dirty="0" smtClean="0"/>
              <a:t>设计问题域子系统</a:t>
            </a:r>
            <a:endParaRPr lang="en-US" altLang="zh-CN" b="0" i="1" dirty="0"/>
          </a:p>
        </p:txBody>
      </p:sp>
      <p:sp>
        <p:nvSpPr>
          <p:cNvPr id="169987" name="Rectangle 3"/>
          <p:cNvSpPr>
            <a:spLocks noGrp="1" noChangeArrowheads="1"/>
          </p:cNvSpPr>
          <p:nvPr>
            <p:ph idx="1"/>
          </p:nvPr>
        </p:nvSpPr>
        <p:spPr>
          <a:xfrm>
            <a:off x="685800" y="1600200"/>
            <a:ext cx="7620000" cy="4614882"/>
          </a:xfrm>
        </p:spPr>
        <p:txBody>
          <a:bodyPr>
            <a:normAutofit/>
          </a:bodyPr>
          <a:lstStyle/>
          <a:p>
            <a:pPr algn="just">
              <a:spcAft>
                <a:spcPct val="40000"/>
              </a:spcAft>
            </a:pPr>
            <a:r>
              <a:rPr lang="zh-CN" altLang="en-US" sz="2400" dirty="0" smtClean="0">
                <a:effectLst>
                  <a:outerShdw blurRad="38100" dist="38100" dir="2700000" algn="tl">
                    <a:srgbClr val="C0C0C0"/>
                  </a:outerShdw>
                </a:effectLst>
                <a:latin typeface="宋体" pitchFamily="2" charset="-122"/>
              </a:rPr>
              <a:t>在</a:t>
            </a:r>
            <a:r>
              <a:rPr lang="zh-CN" altLang="en-US" sz="2400" dirty="0">
                <a:effectLst>
                  <a:outerShdw blurRad="38100" dist="38100" dir="2700000" algn="tl">
                    <a:srgbClr val="C0C0C0"/>
                  </a:outerShdw>
                </a:effectLst>
                <a:latin typeface="宋体" pitchFamily="2" charset="-122"/>
              </a:rPr>
              <a:t>开始设计之前，设计者应该了解本项目预计要使用的</a:t>
            </a:r>
            <a:r>
              <a:rPr lang="zh-CN" altLang="en-US" sz="2400" dirty="0">
                <a:solidFill>
                  <a:srgbClr val="FF0000"/>
                </a:solidFill>
                <a:effectLst>
                  <a:outerShdw blurRad="38100" dist="38100" dir="2700000" algn="tl">
                    <a:srgbClr val="C0C0C0"/>
                  </a:outerShdw>
                </a:effectLst>
                <a:latin typeface="宋体" pitchFamily="2" charset="-122"/>
              </a:rPr>
              <a:t>编程语言</a:t>
            </a:r>
            <a:r>
              <a:rPr lang="zh-CN" altLang="en-US" sz="2400" dirty="0">
                <a:effectLst>
                  <a:outerShdw blurRad="38100" dist="38100" dir="2700000" algn="tl">
                    <a:srgbClr val="C0C0C0"/>
                  </a:outerShdw>
                </a:effectLst>
                <a:latin typeface="宋体" pitchFamily="2" charset="-122"/>
              </a:rPr>
              <a:t>，可用的</a:t>
            </a:r>
            <a:r>
              <a:rPr lang="zh-CN" altLang="en-US" sz="2400" dirty="0">
                <a:solidFill>
                  <a:srgbClr val="FF0000"/>
                </a:solidFill>
                <a:effectLst>
                  <a:outerShdw blurRad="38100" dist="38100" dir="2700000" algn="tl">
                    <a:srgbClr val="C0C0C0"/>
                  </a:outerShdw>
                </a:effectLst>
                <a:latin typeface="宋体" pitchFamily="2" charset="-122"/>
              </a:rPr>
              <a:t>软</a:t>
            </a:r>
            <a:r>
              <a:rPr lang="zh-CN" altLang="en-US" sz="2400" dirty="0" smtClean="0">
                <a:solidFill>
                  <a:srgbClr val="FF0000"/>
                </a:solidFill>
                <a:effectLst>
                  <a:outerShdw blurRad="38100" dist="38100" dir="2700000" algn="tl">
                    <a:srgbClr val="C0C0C0"/>
                  </a:outerShdw>
                </a:effectLst>
                <a:latin typeface="宋体" pitchFamily="2" charset="-122"/>
              </a:rPr>
              <a:t>构件库</a:t>
            </a:r>
            <a:r>
              <a:rPr lang="zh-CN" altLang="en-US" sz="2400" dirty="0">
                <a:effectLst>
                  <a:outerShdw blurRad="38100" dist="38100" dir="2700000" algn="tl">
                    <a:srgbClr val="C0C0C0"/>
                  </a:outerShdw>
                </a:effectLst>
                <a:latin typeface="宋体" pitchFamily="2" charset="-122"/>
              </a:rPr>
              <a:t>以及程序员的</a:t>
            </a:r>
            <a:r>
              <a:rPr lang="zh-CN" altLang="en-US" sz="2400" dirty="0">
                <a:solidFill>
                  <a:srgbClr val="FF0000"/>
                </a:solidFill>
                <a:effectLst>
                  <a:outerShdw blurRad="38100" dist="38100" dir="2700000" algn="tl">
                    <a:srgbClr val="C0C0C0"/>
                  </a:outerShdw>
                </a:effectLst>
                <a:latin typeface="宋体" pitchFamily="2" charset="-122"/>
              </a:rPr>
              <a:t>编程经验</a:t>
            </a:r>
          </a:p>
          <a:p>
            <a:pPr algn="just">
              <a:spcAft>
                <a:spcPct val="40000"/>
              </a:spcAft>
            </a:pPr>
            <a:r>
              <a:rPr lang="zh-CN" altLang="en-US" sz="2400" dirty="0">
                <a:effectLst>
                  <a:outerShdw blurRad="38100" dist="38100" dir="2700000" algn="tl">
                    <a:srgbClr val="C0C0C0"/>
                  </a:outerShdw>
                </a:effectLst>
                <a:latin typeface="宋体" pitchFamily="2" charset="-122"/>
              </a:rPr>
              <a:t>面向对象分析所得出的问题域精确模型，为设计问题域子系统奠定了基础，建立了完整框架。我们应该尽可能保持面向对象分析所建立的问题域结构</a:t>
            </a:r>
          </a:p>
          <a:p>
            <a:pPr algn="just">
              <a:spcAft>
                <a:spcPct val="40000"/>
              </a:spcAft>
            </a:pPr>
            <a:r>
              <a:rPr lang="zh-CN" altLang="en-US" sz="2400" dirty="0">
                <a:effectLst>
                  <a:outerShdw blurRad="38100" dist="38100" dir="2700000" algn="tl">
                    <a:srgbClr val="C0C0C0"/>
                  </a:outerShdw>
                </a:effectLst>
                <a:latin typeface="宋体" pitchFamily="2" charset="-122"/>
              </a:rPr>
              <a:t>面向对象设计仅需</a:t>
            </a:r>
            <a:r>
              <a:rPr lang="zh-CN" altLang="en-US" sz="2400" dirty="0">
                <a:solidFill>
                  <a:srgbClr val="FF0000"/>
                </a:solidFill>
                <a:effectLst>
                  <a:outerShdw blurRad="38100" dist="38100" dir="2700000" algn="tl">
                    <a:srgbClr val="C0C0C0"/>
                  </a:outerShdw>
                </a:effectLst>
                <a:latin typeface="宋体" pitchFamily="2" charset="-122"/>
              </a:rPr>
              <a:t>从实现角度对问题域模型作一些补充或修改</a:t>
            </a:r>
            <a:r>
              <a:rPr lang="zh-CN" altLang="en-US" sz="2400" dirty="0">
                <a:effectLst>
                  <a:outerShdw blurRad="38100" dist="38100" dir="2700000" algn="tl">
                    <a:srgbClr val="C0C0C0"/>
                  </a:outerShdw>
                </a:effectLst>
                <a:latin typeface="宋体" pitchFamily="2" charset="-122"/>
              </a:rPr>
              <a:t>，主要是添加、合并或分解类</a:t>
            </a:r>
            <a:r>
              <a:rPr lang="en-US" altLang="zh-CN" sz="2400" dirty="0">
                <a:effectLst>
                  <a:outerShdw blurRad="38100" dist="38100" dir="2700000" algn="tl">
                    <a:srgbClr val="C0C0C0"/>
                  </a:outerShdw>
                </a:effectLst>
                <a:latin typeface="Arial"/>
              </a:rPr>
              <a:t>—</a:t>
            </a:r>
            <a:r>
              <a:rPr lang="en-US" altLang="zh-CN" sz="2400" dirty="0">
                <a:effectLst>
                  <a:outerShdw blurRad="38100" dist="38100" dir="2700000" algn="tl">
                    <a:srgbClr val="C0C0C0"/>
                  </a:outerShdw>
                </a:effectLst>
                <a:latin typeface="宋体" pitchFamily="2" charset="-122"/>
              </a:rPr>
              <a:t>&amp;</a:t>
            </a:r>
            <a:r>
              <a:rPr lang="en-US" altLang="zh-CN" sz="2400" dirty="0">
                <a:effectLst>
                  <a:outerShdw blurRad="38100" dist="38100" dir="2700000" algn="tl">
                    <a:srgbClr val="C0C0C0"/>
                  </a:outerShdw>
                </a:effectLst>
                <a:latin typeface="Arial"/>
              </a:rPr>
              <a:t>—</a:t>
            </a:r>
            <a:r>
              <a:rPr lang="zh-CN" altLang="en-US" sz="2400" dirty="0">
                <a:effectLst>
                  <a:outerShdw blurRad="38100" dist="38100" dir="2700000" algn="tl">
                    <a:srgbClr val="C0C0C0"/>
                  </a:outerShdw>
                </a:effectLst>
                <a:latin typeface="宋体" pitchFamily="2" charset="-122"/>
              </a:rPr>
              <a:t>对象、属性及服务，调整继承关系。当问题域子系统过分复杂时，应该把它进一步分解成若干个更小的</a:t>
            </a:r>
            <a:r>
              <a:rPr lang="zh-CN" altLang="en-US" sz="2400" dirty="0" smtClean="0">
                <a:effectLst>
                  <a:outerShdw blurRad="38100" dist="38100" dir="2700000" algn="tl">
                    <a:srgbClr val="C0C0C0"/>
                  </a:outerShdw>
                </a:effectLst>
                <a:latin typeface="宋体" pitchFamily="2" charset="-122"/>
              </a:rPr>
              <a:t>子系统。</a:t>
            </a:r>
            <a:endParaRPr lang="en-US" altLang="zh-CN" sz="2400" dirty="0">
              <a:effectLst>
                <a:outerShdw blurRad="38100" dist="38100" dir="2700000" algn="tl">
                  <a:srgbClr val="C0C0C0"/>
                </a:outerShdw>
              </a:effectLst>
              <a:latin typeface="宋体" pitchFamily="2" charset="-122"/>
            </a:endParaRPr>
          </a:p>
        </p:txBody>
      </p:sp>
      <p:sp>
        <p:nvSpPr>
          <p:cNvPr id="4" name="灯片编号占位符 5"/>
          <p:cNvSpPr>
            <a:spLocks noGrp="1"/>
          </p:cNvSpPr>
          <p:nvPr>
            <p:ph type="sldNum" sz="quarter" idx="12"/>
          </p:nvPr>
        </p:nvSpPr>
        <p:spPr/>
        <p:txBody>
          <a:bodyPr>
            <a:normAutofit/>
          </a:bodyPr>
          <a:lstStyle/>
          <a:p>
            <a:fld id="{99BC39DB-8D6C-4A88-9524-A8CC04F55DD9}" type="slidenum">
              <a:rPr lang="en-US" altLang="zh-CN"/>
              <a:pPr/>
              <a:t>20</a:t>
            </a:fld>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736600" y="501650"/>
            <a:ext cx="7835928" cy="863600"/>
          </a:xfrm>
        </p:spPr>
        <p:txBody>
          <a:bodyPr>
            <a:normAutofit/>
          </a:bodyPr>
          <a:lstStyle/>
          <a:p>
            <a:r>
              <a:rPr lang="zh-CN" altLang="en-US" b="0" i="1" dirty="0" smtClean="0"/>
              <a:t>可能的对问题域模型的修改</a:t>
            </a:r>
            <a:endParaRPr lang="en-US" altLang="zh-CN" b="0" i="1" dirty="0"/>
          </a:p>
        </p:txBody>
      </p:sp>
      <p:sp>
        <p:nvSpPr>
          <p:cNvPr id="186371" name="Rectangle 3"/>
          <p:cNvSpPr>
            <a:spLocks noGrp="1" noChangeArrowheads="1"/>
          </p:cNvSpPr>
          <p:nvPr>
            <p:ph idx="1"/>
          </p:nvPr>
        </p:nvSpPr>
        <p:spPr>
          <a:xfrm>
            <a:off x="685800" y="1428736"/>
            <a:ext cx="8029604" cy="4786346"/>
          </a:xfrm>
        </p:spPr>
        <p:txBody>
          <a:bodyPr>
            <a:normAutofit/>
          </a:bodyPr>
          <a:lstStyle/>
          <a:p>
            <a:pPr algn="just">
              <a:spcAft>
                <a:spcPct val="40000"/>
              </a:spcAft>
            </a:pPr>
            <a:r>
              <a:rPr lang="en-US" altLang="zh-CN" sz="2800" dirty="0" smtClean="0">
                <a:effectLst>
                  <a:outerShdw blurRad="38100" dist="38100" dir="2700000" algn="tl">
                    <a:srgbClr val="C0C0C0"/>
                  </a:outerShdw>
                </a:effectLst>
                <a:latin typeface="宋体" pitchFamily="2" charset="-122"/>
              </a:rPr>
              <a:t>1</a:t>
            </a:r>
            <a:r>
              <a:rPr lang="zh-CN" altLang="en-US" sz="2800" dirty="0" smtClean="0">
                <a:effectLst>
                  <a:outerShdw blurRad="38100" dist="38100" dir="2700000" algn="tl">
                    <a:srgbClr val="C0C0C0"/>
                  </a:outerShdw>
                </a:effectLst>
                <a:latin typeface="宋体" pitchFamily="2" charset="-122"/>
              </a:rPr>
              <a:t>、调整</a:t>
            </a:r>
            <a:r>
              <a:rPr lang="zh-CN" altLang="en-US" sz="2800" dirty="0">
                <a:effectLst>
                  <a:outerShdw blurRad="38100" dist="38100" dir="2700000" algn="tl">
                    <a:srgbClr val="C0C0C0"/>
                  </a:outerShdw>
                </a:effectLst>
                <a:latin typeface="宋体" pitchFamily="2" charset="-122"/>
              </a:rPr>
              <a:t>需求</a:t>
            </a:r>
          </a:p>
          <a:p>
            <a:pPr lvl="2" algn="just">
              <a:spcAft>
                <a:spcPct val="40000"/>
              </a:spcAft>
            </a:pPr>
            <a:r>
              <a:rPr lang="zh-CN" altLang="en-US" sz="2400" dirty="0"/>
              <a:t>两种情况导致对面向对象分析所确定的系统需求的修改：</a:t>
            </a:r>
            <a:endParaRPr lang="en-US" altLang="zh-CN" sz="2400" dirty="0"/>
          </a:p>
          <a:p>
            <a:pPr lvl="3" algn="just">
              <a:spcAft>
                <a:spcPct val="40000"/>
              </a:spcAft>
            </a:pPr>
            <a:r>
              <a:rPr lang="zh-CN" altLang="en-US" sz="2400" dirty="0"/>
              <a:t>用户需求或外部环境发生变化</a:t>
            </a:r>
          </a:p>
          <a:p>
            <a:pPr lvl="3" algn="just">
              <a:spcAft>
                <a:spcPct val="40000"/>
              </a:spcAft>
            </a:pPr>
            <a:r>
              <a:rPr lang="zh-CN" altLang="en-US" sz="2400" dirty="0"/>
              <a:t>分析员对问题域理解不透彻或缺乏领域专家帮助，以致面向对象分析模型不能</a:t>
            </a:r>
            <a:r>
              <a:rPr lang="zh-CN" altLang="en-US" sz="2400" dirty="0" smtClean="0"/>
              <a:t>完整准确</a:t>
            </a:r>
            <a:r>
              <a:rPr lang="zh-CN" altLang="en-US" sz="2400" dirty="0"/>
              <a:t>反映用户需求</a:t>
            </a:r>
          </a:p>
          <a:p>
            <a:pPr lvl="2" algn="just">
              <a:spcAft>
                <a:spcPct val="40000"/>
              </a:spcAft>
            </a:pPr>
            <a:r>
              <a:rPr lang="zh-CN" altLang="en-US" sz="2400" dirty="0"/>
              <a:t>无论</a:t>
            </a:r>
            <a:r>
              <a:rPr lang="zh-CN" altLang="en-US" sz="2400" dirty="0" smtClean="0"/>
              <a:t>上述哪种</a:t>
            </a:r>
            <a:r>
              <a:rPr lang="zh-CN" altLang="en-US" sz="2400" dirty="0"/>
              <a:t>情况，都</a:t>
            </a:r>
            <a:r>
              <a:rPr lang="zh-CN" altLang="en-US" sz="2400" dirty="0" smtClean="0"/>
              <a:t>只需简单</a:t>
            </a:r>
            <a:r>
              <a:rPr lang="zh-CN" altLang="en-US" sz="2400" dirty="0"/>
              <a:t>地修改面向对象分析结果，然后再把这些修改反映到问题域子系统中</a:t>
            </a:r>
            <a:endParaRPr lang="en-US" altLang="zh-CN" sz="2400" dirty="0"/>
          </a:p>
        </p:txBody>
      </p:sp>
      <p:sp>
        <p:nvSpPr>
          <p:cNvPr id="4" name="灯片编号占位符 5"/>
          <p:cNvSpPr>
            <a:spLocks noGrp="1"/>
          </p:cNvSpPr>
          <p:nvPr>
            <p:ph type="sldNum" sz="quarter" idx="12"/>
          </p:nvPr>
        </p:nvSpPr>
        <p:spPr/>
        <p:txBody>
          <a:bodyPr>
            <a:normAutofit/>
          </a:bodyPr>
          <a:lstStyle/>
          <a:p>
            <a:fld id="{D9EB1D3B-3901-429C-BBB8-04C6C46DA814}" type="slidenum">
              <a:rPr lang="en-US" altLang="zh-CN"/>
              <a:pPr/>
              <a:t>21</a:t>
            </a:fld>
            <a:endParaRPr lang="en-US" altLang="zh-C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1" name="Rectangle 3"/>
          <p:cNvSpPr>
            <a:spLocks noGrp="1" noChangeArrowheads="1"/>
          </p:cNvSpPr>
          <p:nvPr>
            <p:ph idx="1"/>
          </p:nvPr>
        </p:nvSpPr>
        <p:spPr>
          <a:xfrm>
            <a:off x="685800" y="1190644"/>
            <a:ext cx="7815290" cy="4953000"/>
          </a:xfrm>
        </p:spPr>
        <p:txBody>
          <a:bodyPr>
            <a:normAutofit/>
          </a:bodyPr>
          <a:lstStyle/>
          <a:p>
            <a:pPr algn="just">
              <a:spcAft>
                <a:spcPct val="40000"/>
              </a:spcAft>
            </a:pPr>
            <a:r>
              <a:rPr lang="en-US" altLang="zh-CN" sz="2800" dirty="0" smtClean="0">
                <a:effectLst>
                  <a:outerShdw blurRad="38100" dist="38100" dir="2700000" algn="tl">
                    <a:srgbClr val="C0C0C0"/>
                  </a:outerShdw>
                </a:effectLst>
                <a:latin typeface="宋体" pitchFamily="2" charset="-122"/>
              </a:rPr>
              <a:t>2</a:t>
            </a:r>
            <a:r>
              <a:rPr lang="zh-CN" altLang="en-US" sz="2800" dirty="0" smtClean="0">
                <a:effectLst>
                  <a:outerShdw blurRad="38100" dist="38100" dir="2700000" algn="tl">
                    <a:srgbClr val="C0C0C0"/>
                  </a:outerShdw>
                </a:effectLst>
                <a:latin typeface="宋体" pitchFamily="2" charset="-122"/>
              </a:rPr>
              <a:t>、重用</a:t>
            </a:r>
            <a:r>
              <a:rPr lang="zh-CN" altLang="en-US" sz="2800" dirty="0">
                <a:effectLst>
                  <a:outerShdw blurRad="38100" dist="38100" dir="2700000" algn="tl">
                    <a:srgbClr val="C0C0C0"/>
                  </a:outerShdw>
                </a:effectLst>
                <a:latin typeface="宋体" pitchFamily="2" charset="-122"/>
              </a:rPr>
              <a:t>已有的类</a:t>
            </a:r>
          </a:p>
          <a:p>
            <a:pPr lvl="1" algn="just">
              <a:spcAft>
                <a:spcPct val="40000"/>
              </a:spcAft>
            </a:pPr>
            <a:r>
              <a:rPr lang="zh-CN" altLang="en-US" dirty="0">
                <a:latin typeface="宋体" pitchFamily="2" charset="-122"/>
              </a:rPr>
              <a:t>代码重用从设计阶段开始，在研究面向对象分析结果时就应该寻找使用已有类的方法</a:t>
            </a:r>
          </a:p>
          <a:p>
            <a:pPr lvl="1" algn="just">
              <a:spcAft>
                <a:spcPct val="40000"/>
              </a:spcAft>
            </a:pPr>
            <a:r>
              <a:rPr lang="zh-CN" altLang="en-US" dirty="0">
                <a:latin typeface="宋体" pitchFamily="2" charset="-122"/>
              </a:rPr>
              <a:t>若因为没有合适的类可以重用而确实需要创建新的类，则在设计这些类的时候必须考虑到将来的</a:t>
            </a:r>
            <a:r>
              <a:rPr lang="zh-CN" altLang="en-US" dirty="0" smtClean="0">
                <a:latin typeface="宋体" pitchFamily="2" charset="-122"/>
              </a:rPr>
              <a:t>重用</a:t>
            </a:r>
            <a:endParaRPr lang="zh-CN" altLang="en-US"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E876C6DD-DDF8-4654-8884-0FBA4B0D8750}" type="slidenum">
              <a:rPr lang="en-US" altLang="zh-CN"/>
              <a:pPr/>
              <a:t>22</a:t>
            </a:fld>
            <a:endParaRPr lang="en-US" altLang="zh-CN"/>
          </a:p>
        </p:txBody>
      </p:sp>
      <p:sp>
        <p:nvSpPr>
          <p:cNvPr id="6" name="Rectangle 2"/>
          <p:cNvSpPr>
            <a:spLocks noGrp="1" noChangeArrowheads="1"/>
          </p:cNvSpPr>
          <p:nvPr>
            <p:ph type="title"/>
          </p:nvPr>
        </p:nvSpPr>
        <p:spPr>
          <a:xfrm>
            <a:off x="736600" y="207946"/>
            <a:ext cx="7835928" cy="863600"/>
          </a:xfrm>
        </p:spPr>
        <p:txBody>
          <a:bodyPr>
            <a:normAutofit/>
          </a:bodyPr>
          <a:lstStyle/>
          <a:p>
            <a:r>
              <a:rPr lang="zh-CN" altLang="en-US" b="0" i="1" dirty="0" smtClean="0"/>
              <a:t>可能的对问题域模型的修改</a:t>
            </a:r>
            <a:endParaRPr lang="en-US" altLang="zh-CN" b="0" i="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1" name="Rectangle 3"/>
          <p:cNvSpPr>
            <a:spLocks noGrp="1" noChangeArrowheads="1"/>
          </p:cNvSpPr>
          <p:nvPr>
            <p:ph idx="1"/>
          </p:nvPr>
        </p:nvSpPr>
        <p:spPr>
          <a:xfrm>
            <a:off x="685800" y="1214422"/>
            <a:ext cx="7620000" cy="4643470"/>
          </a:xfrm>
        </p:spPr>
        <p:txBody>
          <a:bodyPr/>
          <a:lstStyle/>
          <a:p>
            <a:pPr algn="just">
              <a:spcAft>
                <a:spcPct val="40000"/>
              </a:spcAft>
            </a:pPr>
            <a:r>
              <a:rPr lang="en-US" altLang="zh-CN" sz="2800" dirty="0" smtClean="0">
                <a:effectLst>
                  <a:outerShdw blurRad="38100" dist="38100" dir="2700000" algn="tl">
                    <a:srgbClr val="C0C0C0"/>
                  </a:outerShdw>
                </a:effectLst>
                <a:latin typeface="宋体" pitchFamily="2" charset="-122"/>
              </a:rPr>
              <a:t>3</a:t>
            </a:r>
            <a:r>
              <a:rPr lang="zh-CN" altLang="en-US" sz="2800" dirty="0" smtClean="0">
                <a:effectLst>
                  <a:outerShdw blurRad="38100" dist="38100" dir="2700000" algn="tl">
                    <a:srgbClr val="C0C0C0"/>
                  </a:outerShdw>
                </a:effectLst>
                <a:latin typeface="宋体" pitchFamily="2" charset="-122"/>
              </a:rPr>
              <a:t>、把</a:t>
            </a:r>
            <a:r>
              <a:rPr lang="zh-CN" altLang="en-US" sz="2800" dirty="0">
                <a:effectLst>
                  <a:outerShdw blurRad="38100" dist="38100" dir="2700000" algn="tl">
                    <a:srgbClr val="C0C0C0"/>
                  </a:outerShdw>
                </a:effectLst>
                <a:latin typeface="宋体" pitchFamily="2" charset="-122"/>
              </a:rPr>
              <a:t>问题域类组合在一起</a:t>
            </a:r>
          </a:p>
          <a:p>
            <a:pPr lvl="2" algn="just">
              <a:spcAft>
                <a:spcPct val="40000"/>
              </a:spcAft>
              <a:buFont typeface="Wingdings" pitchFamily="2" charset="2"/>
              <a:buNone/>
            </a:pPr>
            <a:r>
              <a:rPr lang="zh-CN" altLang="en-US" sz="2400" dirty="0">
                <a:latin typeface="宋体" pitchFamily="2" charset="-122"/>
              </a:rPr>
              <a:t>通过引入一个根类而把问题域类组合在</a:t>
            </a:r>
            <a:r>
              <a:rPr lang="zh-CN" altLang="en-US" sz="2400" dirty="0" smtClean="0">
                <a:latin typeface="宋体" pitchFamily="2" charset="-122"/>
              </a:rPr>
              <a:t>一起</a:t>
            </a:r>
            <a:endParaRPr lang="en-US" altLang="zh-CN" sz="2400" dirty="0">
              <a:latin typeface="宋体" pitchFamily="2" charset="-122"/>
            </a:endParaRPr>
          </a:p>
          <a:p>
            <a:pPr algn="just">
              <a:spcAft>
                <a:spcPct val="40000"/>
              </a:spcAft>
            </a:pPr>
            <a:r>
              <a:rPr lang="en-US" altLang="zh-CN" sz="2800" dirty="0" smtClean="0">
                <a:effectLst>
                  <a:outerShdw blurRad="38100" dist="38100" dir="2700000" algn="tl">
                    <a:srgbClr val="C0C0C0"/>
                  </a:outerShdw>
                </a:effectLst>
                <a:latin typeface="宋体" pitchFamily="2" charset="-122"/>
              </a:rPr>
              <a:t>4</a:t>
            </a:r>
            <a:r>
              <a:rPr lang="zh-CN" altLang="en-US" sz="2800" dirty="0" smtClean="0">
                <a:effectLst>
                  <a:outerShdw blurRad="38100" dist="38100" dir="2700000" algn="tl">
                    <a:srgbClr val="C0C0C0"/>
                  </a:outerShdw>
                </a:effectLst>
                <a:latin typeface="宋体" pitchFamily="2" charset="-122"/>
              </a:rPr>
              <a:t>、增添</a:t>
            </a:r>
            <a:r>
              <a:rPr lang="zh-CN" altLang="en-US" sz="2800" dirty="0">
                <a:effectLst>
                  <a:outerShdw blurRad="38100" dist="38100" dir="2700000" algn="tl">
                    <a:srgbClr val="C0C0C0"/>
                  </a:outerShdw>
                </a:effectLst>
                <a:latin typeface="宋体" pitchFamily="2" charset="-122"/>
              </a:rPr>
              <a:t>一般化类以建立协议</a:t>
            </a:r>
          </a:p>
          <a:p>
            <a:pPr lvl="1" algn="just">
              <a:spcAft>
                <a:spcPct val="40000"/>
              </a:spcAft>
              <a:buFont typeface="Wingdings" pitchFamily="2" charset="2"/>
              <a:buNone/>
            </a:pPr>
            <a:r>
              <a:rPr lang="zh-CN" altLang="en-US" sz="2000" dirty="0">
                <a:latin typeface="宋体" pitchFamily="2" charset="-122"/>
              </a:rPr>
              <a:t>	</a:t>
            </a:r>
            <a:r>
              <a:rPr lang="zh-CN" altLang="en-US" sz="2000" dirty="0" smtClean="0">
                <a:latin typeface="宋体" pitchFamily="2" charset="-122"/>
              </a:rPr>
              <a:t>     </a:t>
            </a:r>
            <a:r>
              <a:rPr lang="zh-CN" altLang="en-US" sz="2400" dirty="0" smtClean="0">
                <a:latin typeface="宋体" pitchFamily="2" charset="-122"/>
              </a:rPr>
              <a:t>在</a:t>
            </a:r>
            <a:r>
              <a:rPr lang="zh-CN" altLang="en-US" sz="2400" dirty="0">
                <a:latin typeface="宋体" pitchFamily="2" charset="-122"/>
              </a:rPr>
              <a:t>实际设计中，一些具体类需要有一个公共的协议，也就是说，它们都需要定义一组类似的服务（可能也</a:t>
            </a:r>
            <a:r>
              <a:rPr lang="zh-CN" altLang="en-US" sz="2400" dirty="0" smtClean="0">
                <a:latin typeface="宋体" pitchFamily="2" charset="-122"/>
              </a:rPr>
              <a:t>需要相应</a:t>
            </a:r>
            <a:r>
              <a:rPr lang="zh-CN" altLang="en-US" sz="2400" dirty="0">
                <a:latin typeface="宋体" pitchFamily="2" charset="-122"/>
              </a:rPr>
              <a:t>的属性）。在这种情况下可以引入一个附加类，以便建立这个协议</a:t>
            </a:r>
            <a:r>
              <a:rPr lang="zh-CN" altLang="en-US" sz="2400" dirty="0" smtClean="0">
                <a:latin typeface="宋体" pitchFamily="2" charset="-122"/>
              </a:rPr>
              <a:t>（即命名</a:t>
            </a:r>
            <a:r>
              <a:rPr lang="zh-CN" altLang="en-US" sz="2400" dirty="0">
                <a:latin typeface="宋体" pitchFamily="2" charset="-122"/>
              </a:rPr>
              <a:t>公共服务集合，这些服务在具体类中详细定义）</a:t>
            </a:r>
            <a:endParaRPr lang="en-US" altLang="zh-CN" sz="24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85949DB8-CF6F-4EA5-A7E2-88A258CFA7D9}" type="slidenum">
              <a:rPr lang="en-US" altLang="zh-CN"/>
              <a:pPr/>
              <a:t>23</a:t>
            </a:fld>
            <a:endParaRPr lang="en-US" altLang="zh-CN"/>
          </a:p>
        </p:txBody>
      </p:sp>
      <p:sp>
        <p:nvSpPr>
          <p:cNvPr id="6" name="Rectangle 2"/>
          <p:cNvSpPr>
            <a:spLocks noGrp="1" noChangeArrowheads="1"/>
          </p:cNvSpPr>
          <p:nvPr>
            <p:ph type="title"/>
          </p:nvPr>
        </p:nvSpPr>
        <p:spPr>
          <a:xfrm>
            <a:off x="736600" y="207946"/>
            <a:ext cx="7835928" cy="863600"/>
          </a:xfrm>
        </p:spPr>
        <p:txBody>
          <a:bodyPr>
            <a:normAutofit/>
          </a:bodyPr>
          <a:lstStyle/>
          <a:p>
            <a:r>
              <a:rPr lang="zh-CN" altLang="en-US" b="0" i="1" dirty="0" smtClean="0"/>
              <a:t>可能的对问题域模型的修改</a:t>
            </a:r>
            <a:endParaRPr lang="en-US" altLang="zh-CN" b="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6851">
                                            <p:txEl>
                                              <p:pRg st="2" end="2"/>
                                            </p:txEl>
                                          </p:spTgt>
                                        </p:tgtEl>
                                        <p:attrNameLst>
                                          <p:attrName>style.visibility</p:attrName>
                                        </p:attrNameLst>
                                      </p:cBhvr>
                                      <p:to>
                                        <p:strVal val="visible"/>
                                      </p:to>
                                    </p:set>
                                    <p:anim calcmode="lin" valueType="num">
                                      <p:cBhvr additive="base">
                                        <p:cTn id="7" dur="500" fill="hold"/>
                                        <p:tgtEl>
                                          <p:spTgt spid="20685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85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6851">
                                            <p:txEl>
                                              <p:pRg st="3" end="3"/>
                                            </p:txEl>
                                          </p:spTgt>
                                        </p:tgtEl>
                                        <p:attrNameLst>
                                          <p:attrName>style.visibility</p:attrName>
                                        </p:attrNameLst>
                                      </p:cBhvr>
                                      <p:to>
                                        <p:strVal val="visible"/>
                                      </p:to>
                                    </p:set>
                                    <p:anim calcmode="lin" valueType="num">
                                      <p:cBhvr additive="base">
                                        <p:cTn id="11" dur="500" fill="hold"/>
                                        <p:tgtEl>
                                          <p:spTgt spid="20685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68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42910" y="1142984"/>
            <a:ext cx="8183880" cy="4187952"/>
          </a:xfrm>
        </p:spPr>
        <p:txBody>
          <a:bodyPr/>
          <a:lstStyle/>
          <a:p>
            <a:r>
              <a:rPr lang="en-US" altLang="zh-CN" dirty="0" smtClean="0"/>
              <a:t>1</a:t>
            </a:r>
            <a:r>
              <a:rPr lang="zh-CN" altLang="en-US" dirty="0" smtClean="0"/>
              <a:t>、实现条件对问题域部分的影响</a:t>
            </a:r>
            <a:endParaRPr lang="en-US" altLang="zh-CN" dirty="0" smtClean="0"/>
          </a:p>
          <a:p>
            <a:pPr lvl="1"/>
            <a:r>
              <a:rPr lang="zh-CN" altLang="en-US" dirty="0" smtClean="0"/>
              <a:t>编程语言</a:t>
            </a:r>
            <a:endParaRPr lang="en-US" altLang="zh-CN" dirty="0" smtClean="0"/>
          </a:p>
          <a:p>
            <a:pPr lvl="1"/>
            <a:r>
              <a:rPr lang="zh-CN" altLang="en-US" dirty="0" smtClean="0"/>
              <a:t>硬件、操作系统及网络设施</a:t>
            </a:r>
            <a:endParaRPr lang="en-US" altLang="zh-CN" dirty="0" smtClean="0"/>
          </a:p>
          <a:p>
            <a:pPr lvl="1"/>
            <a:r>
              <a:rPr lang="zh-CN" altLang="en-US" dirty="0" smtClean="0"/>
              <a:t>复用</a:t>
            </a:r>
            <a:endParaRPr lang="en-US" altLang="zh-CN" dirty="0" smtClean="0"/>
          </a:p>
          <a:p>
            <a:pPr lvl="1"/>
            <a:r>
              <a:rPr lang="zh-CN" altLang="en-US" dirty="0" smtClean="0"/>
              <a:t>数据管理系统</a:t>
            </a:r>
            <a:endParaRPr lang="en-US" altLang="zh-CN" dirty="0" smtClean="0"/>
          </a:p>
          <a:p>
            <a:pPr lvl="1"/>
            <a:r>
              <a:rPr lang="zh-CN" altLang="en-US" dirty="0" smtClean="0"/>
              <a:t>界面支持系统</a:t>
            </a:r>
            <a:endParaRPr lang="zh-CN" altLang="en-US" dirty="0"/>
          </a:p>
        </p:txBody>
      </p:sp>
      <p:sp>
        <p:nvSpPr>
          <p:cNvPr id="3" name="灯片编号占位符 2"/>
          <p:cNvSpPr>
            <a:spLocks noGrp="1"/>
          </p:cNvSpPr>
          <p:nvPr>
            <p:ph type="sldNum" sz="quarter" idx="12"/>
          </p:nvPr>
        </p:nvSpPr>
        <p:spPr/>
        <p:txBody>
          <a:bodyPr>
            <a:normAutofit/>
          </a:bodyPr>
          <a:lstStyle/>
          <a:p>
            <a:pPr>
              <a:defRPr/>
            </a:pPr>
            <a:fld id="{29032E66-95B1-4F91-A220-FEFB0075B15A}" type="slidenum">
              <a:rPr lang="zh-CN" altLang="en-US" smtClean="0"/>
              <a:pPr>
                <a:defRPr/>
              </a:pPr>
              <a:t>24</a:t>
            </a:fld>
            <a:endParaRPr lang="en-US" altLang="zh-CN"/>
          </a:p>
        </p:txBody>
      </p:sp>
      <p:sp>
        <p:nvSpPr>
          <p:cNvPr id="7" name="Rectangle 2"/>
          <p:cNvSpPr>
            <a:spLocks noGrp="1" noChangeArrowheads="1"/>
          </p:cNvSpPr>
          <p:nvPr>
            <p:ph type="title"/>
          </p:nvPr>
        </p:nvSpPr>
        <p:spPr>
          <a:xfrm>
            <a:off x="736600" y="207946"/>
            <a:ext cx="7835928" cy="863600"/>
          </a:xfrm>
        </p:spPr>
        <p:txBody>
          <a:bodyPr>
            <a:normAutofit/>
          </a:bodyPr>
          <a:lstStyle/>
          <a:p>
            <a:r>
              <a:rPr lang="zh-CN" altLang="en-US" b="0" i="1" dirty="0" smtClean="0"/>
              <a:t>问题域的设计 *</a:t>
            </a:r>
            <a:endParaRPr lang="en-US" altLang="zh-CN" b="0" i="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42910" y="1142984"/>
            <a:ext cx="8183880" cy="4187952"/>
          </a:xfrm>
        </p:spPr>
        <p:txBody>
          <a:bodyPr/>
          <a:lstStyle/>
          <a:p>
            <a:r>
              <a:rPr lang="en-US" altLang="zh-CN" dirty="0" smtClean="0"/>
              <a:t>2</a:t>
            </a:r>
            <a:r>
              <a:rPr lang="zh-CN" altLang="en-US" dirty="0" smtClean="0"/>
              <a:t>、设计内容及策略</a:t>
            </a:r>
            <a:endParaRPr lang="en-US" altLang="zh-CN" dirty="0" smtClean="0"/>
          </a:p>
          <a:p>
            <a:pPr lvl="1"/>
            <a:r>
              <a:rPr lang="zh-CN" altLang="en-US" dirty="0" smtClean="0"/>
              <a:t>（</a:t>
            </a:r>
            <a:r>
              <a:rPr lang="en-US" altLang="zh-CN" dirty="0" smtClean="0"/>
              <a:t>1</a:t>
            </a:r>
            <a:r>
              <a:rPr lang="zh-CN" altLang="en-US" dirty="0" smtClean="0"/>
              <a:t>）对编程语言支持能力的调整</a:t>
            </a:r>
            <a:endParaRPr lang="en-US" altLang="zh-CN" dirty="0" smtClean="0"/>
          </a:p>
          <a:p>
            <a:pPr lvl="2"/>
            <a:r>
              <a:rPr lang="zh-CN" altLang="en-US" dirty="0" smtClean="0"/>
              <a:t>对继承的调整</a:t>
            </a:r>
            <a:endParaRPr lang="en-US" altLang="zh-CN" dirty="0" smtClean="0"/>
          </a:p>
          <a:p>
            <a:pPr lvl="2"/>
            <a:r>
              <a:rPr lang="zh-CN" altLang="en-US" dirty="0" smtClean="0"/>
              <a:t>对多态的调整</a:t>
            </a:r>
            <a:endParaRPr lang="en-US" altLang="zh-CN" dirty="0" smtClean="0"/>
          </a:p>
          <a:p>
            <a:pPr lvl="1"/>
            <a:r>
              <a:rPr lang="zh-CN" altLang="en-US" dirty="0" smtClean="0"/>
              <a:t>（</a:t>
            </a:r>
            <a:r>
              <a:rPr lang="en-US" altLang="zh-CN" dirty="0" smtClean="0"/>
              <a:t>2</a:t>
            </a:r>
            <a:r>
              <a:rPr lang="zh-CN" altLang="en-US" dirty="0" smtClean="0"/>
              <a:t>）增加一般类，提供共同协议</a:t>
            </a:r>
            <a:endParaRPr lang="en-US" altLang="zh-CN" dirty="0" smtClean="0"/>
          </a:p>
          <a:p>
            <a:pPr lvl="1"/>
            <a:r>
              <a:rPr lang="zh-CN" altLang="en-US" dirty="0" smtClean="0"/>
              <a:t>（</a:t>
            </a:r>
            <a:r>
              <a:rPr lang="en-US" altLang="zh-CN" dirty="0" smtClean="0"/>
              <a:t>3</a:t>
            </a:r>
            <a:r>
              <a:rPr lang="zh-CN" altLang="en-US" dirty="0" smtClean="0"/>
              <a:t>）为实现复用采取的设计策略</a:t>
            </a:r>
            <a:endParaRPr lang="en-US" altLang="zh-CN" dirty="0" smtClean="0"/>
          </a:p>
          <a:p>
            <a:pPr lvl="2"/>
            <a:r>
              <a:rPr lang="zh-CN" altLang="en-US" dirty="0" smtClean="0"/>
              <a:t>直接复用</a:t>
            </a:r>
            <a:endParaRPr lang="en-US" altLang="zh-CN" dirty="0" smtClean="0"/>
          </a:p>
          <a:p>
            <a:pPr lvl="2"/>
            <a:r>
              <a:rPr lang="zh-CN" altLang="en-US" dirty="0" smtClean="0"/>
              <a:t>删除可复用类的多余信息</a:t>
            </a:r>
            <a:endParaRPr lang="en-US" altLang="zh-CN" dirty="0" smtClean="0"/>
          </a:p>
          <a:p>
            <a:pPr lvl="2"/>
            <a:r>
              <a:rPr lang="zh-CN" altLang="en-US" dirty="0" smtClean="0"/>
              <a:t>通过继承复用</a:t>
            </a:r>
            <a:endParaRPr lang="en-US" altLang="zh-CN" dirty="0" smtClean="0"/>
          </a:p>
          <a:p>
            <a:pPr lvl="2"/>
            <a:r>
              <a:rPr lang="zh-CN" altLang="en-US" dirty="0" smtClean="0"/>
              <a:t>通过组合复用</a:t>
            </a:r>
            <a:endParaRPr lang="zh-CN" altLang="en-US" dirty="0"/>
          </a:p>
        </p:txBody>
      </p:sp>
      <p:sp>
        <p:nvSpPr>
          <p:cNvPr id="3" name="灯片编号占位符 2"/>
          <p:cNvSpPr>
            <a:spLocks noGrp="1"/>
          </p:cNvSpPr>
          <p:nvPr>
            <p:ph type="sldNum" sz="quarter" idx="12"/>
          </p:nvPr>
        </p:nvSpPr>
        <p:spPr/>
        <p:txBody>
          <a:bodyPr>
            <a:normAutofit/>
          </a:bodyPr>
          <a:lstStyle/>
          <a:p>
            <a:pPr>
              <a:defRPr/>
            </a:pPr>
            <a:fld id="{29032E66-95B1-4F91-A220-FEFB0075B15A}" type="slidenum">
              <a:rPr lang="zh-CN" altLang="en-US" smtClean="0"/>
              <a:pPr>
                <a:defRPr/>
              </a:pPr>
              <a:t>25</a:t>
            </a:fld>
            <a:endParaRPr lang="en-US" altLang="zh-CN"/>
          </a:p>
        </p:txBody>
      </p:sp>
      <p:sp>
        <p:nvSpPr>
          <p:cNvPr id="7" name="Rectangle 2"/>
          <p:cNvSpPr>
            <a:spLocks noGrp="1" noChangeArrowheads="1"/>
          </p:cNvSpPr>
          <p:nvPr>
            <p:ph type="title"/>
          </p:nvPr>
        </p:nvSpPr>
        <p:spPr>
          <a:xfrm>
            <a:off x="736600" y="207946"/>
            <a:ext cx="7835928" cy="863600"/>
          </a:xfrm>
        </p:spPr>
        <p:txBody>
          <a:bodyPr>
            <a:normAutofit/>
          </a:bodyPr>
          <a:lstStyle/>
          <a:p>
            <a:r>
              <a:rPr lang="zh-CN" altLang="en-US" b="0" i="1" dirty="0" smtClean="0"/>
              <a:t>问题域的设计 *</a:t>
            </a:r>
            <a:endParaRPr lang="en-US" altLang="zh-CN" b="0" i="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42910" y="1142984"/>
            <a:ext cx="8183880" cy="4786346"/>
          </a:xfrm>
        </p:spPr>
        <p:txBody>
          <a:bodyPr>
            <a:normAutofit/>
          </a:bodyPr>
          <a:lstStyle/>
          <a:p>
            <a:r>
              <a:rPr lang="en-US" altLang="zh-CN" dirty="0" smtClean="0"/>
              <a:t>2</a:t>
            </a:r>
            <a:r>
              <a:rPr lang="zh-CN" altLang="en-US" dirty="0" smtClean="0"/>
              <a:t>、问题域的设计内容及策略</a:t>
            </a:r>
            <a:endParaRPr lang="en-US" altLang="zh-CN" dirty="0" smtClean="0"/>
          </a:p>
          <a:p>
            <a:pPr lvl="1"/>
            <a:r>
              <a:rPr lang="zh-CN" altLang="en-US" dirty="0" smtClean="0"/>
              <a:t>（</a:t>
            </a:r>
            <a:r>
              <a:rPr lang="en-US" altLang="zh-CN" dirty="0" smtClean="0"/>
              <a:t>4</a:t>
            </a:r>
            <a:r>
              <a:rPr lang="zh-CN" altLang="en-US" dirty="0" smtClean="0"/>
              <a:t>）提高性能</a:t>
            </a:r>
            <a:endParaRPr lang="en-US" altLang="zh-CN" dirty="0" smtClean="0"/>
          </a:p>
          <a:p>
            <a:pPr lvl="2"/>
            <a:r>
              <a:rPr lang="zh-CN" altLang="en-US" dirty="0" smtClean="0"/>
              <a:t>数据传输、存储、处理的时间影响性能</a:t>
            </a:r>
            <a:endParaRPr lang="en-US" altLang="zh-CN" dirty="0" smtClean="0"/>
          </a:p>
          <a:p>
            <a:pPr lvl="2"/>
            <a:r>
              <a:rPr lang="zh-CN" altLang="en-US" dirty="0" smtClean="0"/>
              <a:t>性能估算</a:t>
            </a:r>
            <a:endParaRPr lang="en-US" altLang="zh-CN" dirty="0" smtClean="0"/>
          </a:p>
          <a:p>
            <a:pPr lvl="2"/>
            <a:r>
              <a:rPr lang="zh-CN" altLang="en-US" dirty="0" smtClean="0"/>
              <a:t>改进性能的设计策略</a:t>
            </a:r>
            <a:endParaRPr lang="en-US" altLang="zh-CN" dirty="0" smtClean="0"/>
          </a:p>
          <a:p>
            <a:pPr lvl="3"/>
            <a:r>
              <a:rPr lang="zh-CN" altLang="en-US" sz="2200" dirty="0" smtClean="0"/>
              <a:t>调整对象分布</a:t>
            </a:r>
            <a:endParaRPr lang="en-US" altLang="zh-CN" sz="2200" dirty="0" smtClean="0"/>
          </a:p>
          <a:p>
            <a:pPr lvl="3"/>
            <a:r>
              <a:rPr lang="zh-CN" altLang="en-US" sz="2200" dirty="0" smtClean="0"/>
              <a:t>缩短对象存取时间（如</a:t>
            </a:r>
            <a:r>
              <a:rPr lang="en-US" altLang="zh-CN" sz="2200" dirty="0" smtClean="0"/>
              <a:t>ADO.NET</a:t>
            </a:r>
            <a:r>
              <a:rPr lang="zh-CN" altLang="en-US" sz="2200" dirty="0" smtClean="0"/>
              <a:t>的</a:t>
            </a:r>
            <a:r>
              <a:rPr lang="en-US" altLang="zh-CN" sz="2200" dirty="0" err="1" smtClean="0"/>
              <a:t>DataSet</a:t>
            </a:r>
            <a:r>
              <a:rPr lang="zh-CN" altLang="en-US" sz="2200" dirty="0" smtClean="0"/>
              <a:t>）</a:t>
            </a:r>
            <a:endParaRPr lang="en-US" altLang="zh-CN" sz="2200" dirty="0" smtClean="0"/>
          </a:p>
          <a:p>
            <a:pPr lvl="3"/>
            <a:r>
              <a:rPr lang="zh-CN" altLang="en-US" sz="2200" dirty="0" smtClean="0"/>
              <a:t>合并消息频繁的类</a:t>
            </a:r>
            <a:endParaRPr lang="en-US" altLang="zh-CN" sz="2200" dirty="0" smtClean="0"/>
          </a:p>
          <a:p>
            <a:pPr lvl="3"/>
            <a:r>
              <a:rPr lang="zh-CN" altLang="en-US" sz="2200" dirty="0" smtClean="0"/>
              <a:t>增加属性以减少重复计算</a:t>
            </a:r>
            <a:endParaRPr lang="en-US" altLang="zh-CN" sz="2200" dirty="0" smtClean="0"/>
          </a:p>
          <a:p>
            <a:pPr lvl="3"/>
            <a:r>
              <a:rPr lang="zh-CN" altLang="en-US" sz="2200" dirty="0" smtClean="0"/>
              <a:t>降低算法的复杂性</a:t>
            </a:r>
            <a:endParaRPr lang="en-US" altLang="zh-CN" sz="2200" dirty="0" smtClean="0"/>
          </a:p>
          <a:p>
            <a:pPr lvl="3"/>
            <a:r>
              <a:rPr lang="zh-CN" altLang="en-US" sz="2200" dirty="0" smtClean="0"/>
              <a:t>将复杂对象化为整体</a:t>
            </a:r>
            <a:r>
              <a:rPr lang="en-US" altLang="zh-CN" sz="2200" dirty="0" smtClean="0"/>
              <a:t>-</a:t>
            </a:r>
            <a:r>
              <a:rPr lang="zh-CN" altLang="en-US" sz="2200" dirty="0" smtClean="0"/>
              <a:t>部分结构（如动画片）</a:t>
            </a:r>
            <a:endParaRPr lang="en-US" altLang="zh-CN" sz="2200" dirty="0" smtClean="0"/>
          </a:p>
        </p:txBody>
      </p:sp>
      <p:sp>
        <p:nvSpPr>
          <p:cNvPr id="3" name="灯片编号占位符 2"/>
          <p:cNvSpPr>
            <a:spLocks noGrp="1"/>
          </p:cNvSpPr>
          <p:nvPr>
            <p:ph type="sldNum" sz="quarter" idx="12"/>
          </p:nvPr>
        </p:nvSpPr>
        <p:spPr/>
        <p:txBody>
          <a:bodyPr>
            <a:normAutofit/>
          </a:bodyPr>
          <a:lstStyle/>
          <a:p>
            <a:pPr>
              <a:defRPr/>
            </a:pPr>
            <a:fld id="{29032E66-95B1-4F91-A220-FEFB0075B15A}" type="slidenum">
              <a:rPr lang="zh-CN" altLang="en-US" smtClean="0"/>
              <a:pPr>
                <a:defRPr/>
              </a:pPr>
              <a:t>26</a:t>
            </a:fld>
            <a:endParaRPr lang="en-US" altLang="zh-CN"/>
          </a:p>
        </p:txBody>
      </p:sp>
      <p:sp>
        <p:nvSpPr>
          <p:cNvPr id="7" name="Rectangle 2"/>
          <p:cNvSpPr>
            <a:spLocks noGrp="1" noChangeArrowheads="1"/>
          </p:cNvSpPr>
          <p:nvPr>
            <p:ph type="title"/>
          </p:nvPr>
        </p:nvSpPr>
        <p:spPr>
          <a:xfrm>
            <a:off x="736600" y="207946"/>
            <a:ext cx="7835928" cy="863600"/>
          </a:xfrm>
        </p:spPr>
        <p:txBody>
          <a:bodyPr>
            <a:normAutofit/>
          </a:bodyPr>
          <a:lstStyle/>
          <a:p>
            <a:r>
              <a:rPr lang="zh-CN" altLang="en-US" b="0" i="1" dirty="0" smtClean="0"/>
              <a:t>问题域的设计 *</a:t>
            </a:r>
            <a:endParaRPr lang="en-US" altLang="zh-CN" b="0" i="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42910" y="1142984"/>
            <a:ext cx="8183880" cy="4786346"/>
          </a:xfrm>
        </p:spPr>
        <p:txBody>
          <a:bodyPr>
            <a:normAutofit/>
          </a:bodyPr>
          <a:lstStyle/>
          <a:p>
            <a:r>
              <a:rPr lang="en-US" altLang="zh-CN" dirty="0" smtClean="0"/>
              <a:t>2</a:t>
            </a:r>
            <a:r>
              <a:rPr lang="zh-CN" altLang="en-US" dirty="0" smtClean="0"/>
              <a:t>、问题域的设计内容及策略</a:t>
            </a:r>
            <a:endParaRPr lang="en-US" altLang="zh-CN" dirty="0" smtClean="0"/>
          </a:p>
          <a:p>
            <a:pPr lvl="1"/>
            <a:r>
              <a:rPr lang="zh-CN" altLang="en-US" dirty="0" smtClean="0"/>
              <a:t>（</a:t>
            </a:r>
            <a:r>
              <a:rPr lang="en-US" altLang="zh-CN" dirty="0" smtClean="0"/>
              <a:t>5</a:t>
            </a:r>
            <a:r>
              <a:rPr lang="zh-CN" altLang="en-US" dirty="0" smtClean="0"/>
              <a:t>）为实现对象永久存储所做的修改</a:t>
            </a:r>
            <a:endParaRPr lang="en-US" altLang="zh-CN" dirty="0" smtClean="0"/>
          </a:p>
          <a:p>
            <a:pPr lvl="1"/>
            <a:r>
              <a:rPr lang="zh-CN" altLang="en-US" dirty="0" smtClean="0"/>
              <a:t>（</a:t>
            </a:r>
            <a:r>
              <a:rPr lang="en-US" altLang="zh-CN" dirty="0" smtClean="0"/>
              <a:t>6</a:t>
            </a:r>
            <a:r>
              <a:rPr lang="zh-CN" altLang="en-US" dirty="0" smtClean="0"/>
              <a:t>）完善对象的细节</a:t>
            </a:r>
            <a:endParaRPr lang="en-US" altLang="zh-CN" dirty="0" smtClean="0"/>
          </a:p>
          <a:p>
            <a:pPr lvl="1"/>
            <a:r>
              <a:rPr lang="zh-CN" altLang="en-US" dirty="0" smtClean="0"/>
              <a:t>（</a:t>
            </a:r>
            <a:r>
              <a:rPr lang="en-US" altLang="zh-CN" dirty="0" smtClean="0"/>
              <a:t>7</a:t>
            </a:r>
            <a:r>
              <a:rPr lang="zh-CN" altLang="en-US" dirty="0" smtClean="0"/>
              <a:t>）修改或补充辅助模型及模型规约</a:t>
            </a:r>
            <a:endParaRPr lang="en-US" altLang="zh-CN" dirty="0" smtClean="0"/>
          </a:p>
          <a:p>
            <a:r>
              <a:rPr lang="en-US" altLang="zh-CN" dirty="0" smtClean="0"/>
              <a:t>3</a:t>
            </a:r>
            <a:r>
              <a:rPr lang="zh-CN" altLang="en-US" dirty="0" smtClean="0"/>
              <a:t>、建立与</a:t>
            </a:r>
            <a:r>
              <a:rPr lang="en-US" altLang="zh-CN" dirty="0" smtClean="0"/>
              <a:t>OOA</a:t>
            </a:r>
            <a:r>
              <a:rPr lang="zh-CN" altLang="en-US" dirty="0" smtClean="0"/>
              <a:t>文档的映射</a:t>
            </a:r>
            <a:endParaRPr lang="en-US" altLang="zh-CN" dirty="0" smtClean="0"/>
          </a:p>
          <a:p>
            <a:pPr lvl="1"/>
            <a:r>
              <a:rPr lang="zh-CN" altLang="en-US" dirty="0" smtClean="0"/>
              <a:t>映射方式：</a:t>
            </a:r>
            <a:r>
              <a:rPr lang="en-US" altLang="zh-CN" dirty="0" smtClean="0"/>
              <a:t>1=1</a:t>
            </a:r>
            <a:r>
              <a:rPr lang="zh-CN" altLang="en-US" dirty="0" smtClean="0"/>
              <a:t>；</a:t>
            </a:r>
            <a:r>
              <a:rPr lang="en-US" altLang="zh-CN" dirty="0" smtClean="0"/>
              <a:t>1 to 1</a:t>
            </a:r>
            <a:r>
              <a:rPr lang="zh-CN" altLang="en-US" dirty="0" smtClean="0"/>
              <a:t>；</a:t>
            </a:r>
            <a:r>
              <a:rPr lang="en-US" altLang="zh-CN" dirty="0" smtClean="0"/>
              <a:t>1 to m</a:t>
            </a:r>
            <a:r>
              <a:rPr lang="zh-CN" altLang="en-US" dirty="0" smtClean="0"/>
              <a:t>；</a:t>
            </a:r>
            <a:r>
              <a:rPr lang="en-US" altLang="zh-CN" dirty="0" smtClean="0"/>
              <a:t>m to 1</a:t>
            </a:r>
            <a:r>
              <a:rPr lang="zh-CN" altLang="en-US" dirty="0" smtClean="0"/>
              <a:t>；</a:t>
            </a:r>
            <a:r>
              <a:rPr lang="en-US" altLang="zh-CN" dirty="0" smtClean="0"/>
              <a:t>m to m</a:t>
            </a:r>
            <a:r>
              <a:rPr lang="zh-CN" altLang="en-US" dirty="0" smtClean="0"/>
              <a:t>；</a:t>
            </a:r>
            <a:r>
              <a:rPr lang="en-US" altLang="zh-CN" dirty="0" smtClean="0"/>
              <a:t>0 to 1</a:t>
            </a:r>
            <a:r>
              <a:rPr lang="zh-CN" altLang="en-US" dirty="0" smtClean="0"/>
              <a:t>。</a:t>
            </a:r>
            <a:endParaRPr lang="en-US" altLang="zh-CN" dirty="0" smtClean="0"/>
          </a:p>
          <a:p>
            <a:endParaRPr lang="en-US" altLang="zh-CN" sz="2200" dirty="0" smtClean="0"/>
          </a:p>
        </p:txBody>
      </p:sp>
      <p:sp>
        <p:nvSpPr>
          <p:cNvPr id="3" name="灯片编号占位符 2"/>
          <p:cNvSpPr>
            <a:spLocks noGrp="1"/>
          </p:cNvSpPr>
          <p:nvPr>
            <p:ph type="sldNum" sz="quarter" idx="12"/>
          </p:nvPr>
        </p:nvSpPr>
        <p:spPr/>
        <p:txBody>
          <a:bodyPr>
            <a:normAutofit/>
          </a:bodyPr>
          <a:lstStyle/>
          <a:p>
            <a:pPr>
              <a:defRPr/>
            </a:pPr>
            <a:fld id="{29032E66-95B1-4F91-A220-FEFB0075B15A}" type="slidenum">
              <a:rPr lang="zh-CN" altLang="en-US" smtClean="0"/>
              <a:pPr>
                <a:defRPr/>
              </a:pPr>
              <a:t>27</a:t>
            </a:fld>
            <a:endParaRPr lang="en-US" altLang="zh-CN"/>
          </a:p>
        </p:txBody>
      </p:sp>
      <p:sp>
        <p:nvSpPr>
          <p:cNvPr id="7" name="Rectangle 2"/>
          <p:cNvSpPr>
            <a:spLocks noGrp="1" noChangeArrowheads="1"/>
          </p:cNvSpPr>
          <p:nvPr>
            <p:ph type="title"/>
          </p:nvPr>
        </p:nvSpPr>
        <p:spPr>
          <a:xfrm>
            <a:off x="736600" y="207946"/>
            <a:ext cx="7835928" cy="863600"/>
          </a:xfrm>
        </p:spPr>
        <p:txBody>
          <a:bodyPr>
            <a:normAutofit/>
          </a:bodyPr>
          <a:lstStyle/>
          <a:p>
            <a:r>
              <a:rPr lang="zh-CN" altLang="en-US" b="0" i="1" dirty="0" smtClean="0"/>
              <a:t>问题域的设计 *</a:t>
            </a:r>
            <a:endParaRPr lang="en-US" altLang="zh-CN" b="0" i="1" dirty="0"/>
          </a:p>
        </p:txBody>
      </p:sp>
      <p:graphicFrame>
        <p:nvGraphicFramePr>
          <p:cNvPr id="5" name="表格 4"/>
          <p:cNvGraphicFramePr>
            <a:graphicFrameLocks noGrp="1"/>
          </p:cNvGraphicFramePr>
          <p:nvPr/>
        </p:nvGraphicFramePr>
        <p:xfrm>
          <a:off x="1785918" y="4429132"/>
          <a:ext cx="6096000" cy="1198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zh-CN" altLang="en-US" sz="2400" dirty="0" smtClean="0">
                          <a:solidFill>
                            <a:srgbClr val="FFFF00"/>
                          </a:solidFill>
                        </a:rPr>
                        <a:t>映射方式</a:t>
                      </a:r>
                      <a:endParaRPr lang="zh-CN" altLang="en-US" sz="2400" dirty="0">
                        <a:solidFill>
                          <a:srgbClr val="FFFF00"/>
                        </a:solidFill>
                      </a:endParaRPr>
                    </a:p>
                  </a:txBody>
                  <a:tcPr/>
                </a:tc>
                <a:tc>
                  <a:txBody>
                    <a:bodyPr/>
                    <a:lstStyle/>
                    <a:p>
                      <a:r>
                        <a:rPr lang="en-US" altLang="zh-CN" sz="2400" dirty="0" smtClean="0">
                          <a:solidFill>
                            <a:srgbClr val="FFFF00"/>
                          </a:solidFill>
                        </a:rPr>
                        <a:t>OOA</a:t>
                      </a:r>
                      <a:r>
                        <a:rPr lang="zh-CN" altLang="en-US" sz="2400" dirty="0" smtClean="0">
                          <a:solidFill>
                            <a:srgbClr val="FFFF00"/>
                          </a:solidFill>
                        </a:rPr>
                        <a:t>类</a:t>
                      </a:r>
                      <a:endParaRPr lang="zh-CN" altLang="en-US" sz="2400" dirty="0">
                        <a:solidFill>
                          <a:srgbClr val="FFFF00"/>
                        </a:solidFill>
                      </a:endParaRPr>
                    </a:p>
                  </a:txBody>
                  <a:tcPr/>
                </a:tc>
                <a:tc>
                  <a:txBody>
                    <a:bodyPr/>
                    <a:lstStyle/>
                    <a:p>
                      <a:r>
                        <a:rPr lang="en-US" altLang="zh-CN" sz="2400" dirty="0" smtClean="0">
                          <a:solidFill>
                            <a:srgbClr val="FFFF00"/>
                          </a:solidFill>
                        </a:rPr>
                        <a:t>OOD</a:t>
                      </a:r>
                      <a:r>
                        <a:rPr lang="zh-CN" altLang="en-US" sz="2400" dirty="0" smtClean="0">
                          <a:solidFill>
                            <a:srgbClr val="FFFF00"/>
                          </a:solidFill>
                        </a:rPr>
                        <a:t>类</a:t>
                      </a:r>
                      <a:endParaRPr lang="zh-CN" altLang="en-US" sz="2400" dirty="0">
                        <a:solidFill>
                          <a:srgbClr val="FFFF00"/>
                        </a:solidFill>
                      </a:endParaRPr>
                    </a:p>
                  </a:txBody>
                  <a:tcPr/>
                </a:tc>
                <a:extLst>
                  <a:ext uri="{0D108BD9-81ED-4DB2-BD59-A6C34878D82A}">
                    <a16:rowId xmlns:a16="http://schemas.microsoft.com/office/drawing/2014/main" val="10000"/>
                  </a:ext>
                </a:extLst>
              </a:tr>
              <a:tr h="370840">
                <a:tc>
                  <a:txBody>
                    <a:bodyPr/>
                    <a:lstStyle/>
                    <a:p>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1"/>
                  </a:ext>
                </a:extLst>
              </a:tr>
              <a:tr h="370840">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box(in)">
                                      <p:cBhvr>
                                        <p:cTn id="7" dur="500"/>
                                        <p:tgtEl>
                                          <p:spTgt spid="4">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box(in)">
                                      <p:cBhvr>
                                        <p:cTn id="10" dur="500"/>
                                        <p:tgtEl>
                                          <p:spTgt spid="4">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in)">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736600" y="501650"/>
            <a:ext cx="7124700" cy="863600"/>
          </a:xfrm>
        </p:spPr>
        <p:txBody>
          <a:bodyPr>
            <a:normAutofit/>
          </a:bodyPr>
          <a:lstStyle/>
          <a:p>
            <a:r>
              <a:rPr lang="en-US" altLang="zh-CN" b="0" i="1" dirty="0" smtClean="0"/>
              <a:t>8.5</a:t>
            </a:r>
            <a:r>
              <a:rPr lang="zh-CN" altLang="en-US" b="0" i="1" dirty="0" smtClean="0"/>
              <a:t>设计人－机交互子系统</a:t>
            </a:r>
            <a:endParaRPr lang="en-US" altLang="zh-CN" b="0" i="1" dirty="0"/>
          </a:p>
        </p:txBody>
      </p:sp>
      <p:sp>
        <p:nvSpPr>
          <p:cNvPr id="172035" name="Rectangle 3"/>
          <p:cNvSpPr>
            <a:spLocks noGrp="1" noChangeArrowheads="1"/>
          </p:cNvSpPr>
          <p:nvPr>
            <p:ph idx="1"/>
          </p:nvPr>
        </p:nvSpPr>
        <p:spPr>
          <a:xfrm>
            <a:off x="685800" y="1600200"/>
            <a:ext cx="7620000" cy="4400568"/>
          </a:xfrm>
        </p:spPr>
        <p:txBody>
          <a:bodyPr>
            <a:normAutofit/>
          </a:bodyPr>
          <a:lstStyle/>
          <a:p>
            <a:pPr algn="just">
              <a:spcAft>
                <a:spcPct val="40000"/>
              </a:spcAft>
            </a:pPr>
            <a:r>
              <a:rPr lang="zh-CN" altLang="en-US" sz="2400" dirty="0" smtClean="0">
                <a:latin typeface="宋体" pitchFamily="2" charset="-122"/>
              </a:rPr>
              <a:t>在面向对象</a:t>
            </a:r>
            <a:r>
              <a:rPr lang="zh-CN" altLang="en-US" sz="2400" dirty="0">
                <a:latin typeface="宋体" pitchFamily="2" charset="-122"/>
              </a:rPr>
              <a:t>的分析中，已经对用户界面需求进行了初步分析；在</a:t>
            </a:r>
            <a:r>
              <a:rPr lang="zh-CN" altLang="en-US" sz="2400" dirty="0" smtClean="0">
                <a:latin typeface="宋体" pitchFamily="2" charset="-122"/>
              </a:rPr>
              <a:t>面向对象设计</a:t>
            </a:r>
            <a:r>
              <a:rPr lang="zh-CN" altLang="en-US" sz="2400" dirty="0">
                <a:latin typeface="宋体" pitchFamily="2" charset="-122"/>
              </a:rPr>
              <a:t>过程中，</a:t>
            </a:r>
            <a:r>
              <a:rPr lang="zh-CN" altLang="en-US" sz="2400" dirty="0" smtClean="0">
                <a:latin typeface="宋体" pitchFamily="2" charset="-122"/>
              </a:rPr>
              <a:t>则应该对系统</a:t>
            </a:r>
            <a:r>
              <a:rPr lang="zh-CN" altLang="en-US" sz="2400" dirty="0">
                <a:latin typeface="宋体" pitchFamily="2" charset="-122"/>
              </a:rPr>
              <a:t>的人</a:t>
            </a:r>
            <a:r>
              <a:rPr lang="en-US" altLang="zh-CN" sz="2400" dirty="0">
                <a:latin typeface="宋体" pitchFamily="2" charset="-122"/>
              </a:rPr>
              <a:t>-</a:t>
            </a:r>
            <a:r>
              <a:rPr lang="zh-CN" altLang="en-US" sz="2400" dirty="0">
                <a:latin typeface="宋体" pitchFamily="2" charset="-122"/>
              </a:rPr>
              <a:t>机交互子系统进行详细设计，以确定人</a:t>
            </a:r>
            <a:r>
              <a:rPr lang="en-US" altLang="zh-CN" sz="2400" dirty="0">
                <a:latin typeface="宋体" pitchFamily="2" charset="-122"/>
              </a:rPr>
              <a:t>-</a:t>
            </a:r>
            <a:r>
              <a:rPr lang="zh-CN" altLang="en-US" sz="2400" dirty="0">
                <a:latin typeface="宋体" pitchFamily="2" charset="-122"/>
              </a:rPr>
              <a:t>机交互的细节，包括指定窗口和报表的形式、设计命令层次等</a:t>
            </a:r>
            <a:endParaRPr lang="en-US" altLang="zh-CN" sz="2400" dirty="0">
              <a:latin typeface="宋体" pitchFamily="2" charset="-122"/>
            </a:endParaRPr>
          </a:p>
          <a:p>
            <a:pPr algn="just">
              <a:spcAft>
                <a:spcPct val="40000"/>
              </a:spcAft>
            </a:pPr>
            <a:r>
              <a:rPr lang="zh-CN" altLang="en-US" sz="2400" dirty="0">
                <a:latin typeface="宋体" pitchFamily="2" charset="-122"/>
              </a:rPr>
              <a:t>人机交互部分的设计结果，将对用户情绪和工作效率产生重要影响</a:t>
            </a:r>
          </a:p>
          <a:p>
            <a:pPr algn="just">
              <a:spcAft>
                <a:spcPct val="40000"/>
              </a:spcAft>
            </a:pPr>
            <a:r>
              <a:rPr lang="zh-CN" altLang="en-US" sz="2400" dirty="0">
                <a:latin typeface="宋体" pitchFamily="2" charset="-122"/>
              </a:rPr>
              <a:t>使用由原型支持的系统化的设计策略，是成功地设计</a:t>
            </a:r>
            <a:r>
              <a:rPr lang="zh-CN" altLang="en-US" sz="2400" dirty="0" smtClean="0">
                <a:latin typeface="宋体" pitchFamily="2" charset="-122"/>
              </a:rPr>
              <a:t>人</a:t>
            </a:r>
            <a:r>
              <a:rPr lang="en-US" altLang="zh-CN" sz="2400" dirty="0" smtClean="0">
                <a:latin typeface="宋体" pitchFamily="2" charset="-122"/>
              </a:rPr>
              <a:t>—</a:t>
            </a:r>
            <a:r>
              <a:rPr lang="zh-CN" altLang="en-US" sz="2400" dirty="0" smtClean="0">
                <a:latin typeface="宋体" pitchFamily="2" charset="-122"/>
              </a:rPr>
              <a:t>机交互</a:t>
            </a:r>
            <a:r>
              <a:rPr lang="zh-CN" altLang="en-US" sz="2400" dirty="0">
                <a:latin typeface="宋体" pitchFamily="2" charset="-122"/>
              </a:rPr>
              <a:t>子系统</a:t>
            </a:r>
            <a:r>
              <a:rPr lang="zh-CN" altLang="en-US" sz="2400" dirty="0" smtClean="0">
                <a:latin typeface="宋体" pitchFamily="2" charset="-122"/>
              </a:rPr>
              <a:t>的关键</a:t>
            </a:r>
            <a:endParaRPr lang="zh-CN" altLang="en-US" sz="24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68E01B50-D4D4-4FA8-82DB-36FC8EFFB3D5}" type="slidenum">
              <a:rPr lang="en-US" altLang="zh-CN"/>
              <a:pPr/>
              <a:t>28</a:t>
            </a:fld>
            <a:endParaRPr lang="en-US" altLang="zh-C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5" name="Rectangle 3"/>
          <p:cNvSpPr>
            <a:spLocks noGrp="1" noChangeArrowheads="1"/>
          </p:cNvSpPr>
          <p:nvPr>
            <p:ph idx="1"/>
          </p:nvPr>
        </p:nvSpPr>
        <p:spPr>
          <a:xfrm>
            <a:off x="685800" y="1600200"/>
            <a:ext cx="7620000" cy="4329130"/>
          </a:xfrm>
        </p:spPr>
        <p:txBody>
          <a:bodyPr/>
          <a:lstStyle/>
          <a:p>
            <a:pPr algn="just">
              <a:spcAft>
                <a:spcPct val="40000"/>
              </a:spcAft>
            </a:pPr>
            <a:r>
              <a:rPr lang="en-US" altLang="zh-CN" sz="2800" b="1" dirty="0" smtClean="0">
                <a:latin typeface="宋体" pitchFamily="2" charset="-122"/>
              </a:rPr>
              <a:t>1</a:t>
            </a:r>
            <a:r>
              <a:rPr lang="zh-CN" altLang="en-US" sz="2800" b="1" dirty="0" smtClean="0">
                <a:latin typeface="宋体" pitchFamily="2" charset="-122"/>
              </a:rPr>
              <a:t>、设计</a:t>
            </a:r>
            <a:r>
              <a:rPr lang="zh-CN" altLang="en-US" sz="2800" b="1" dirty="0">
                <a:latin typeface="宋体" pitchFamily="2" charset="-122"/>
              </a:rPr>
              <a:t>人－机交互界面的准则</a:t>
            </a:r>
          </a:p>
          <a:p>
            <a:pPr lvl="2" algn="just">
              <a:spcAft>
                <a:spcPct val="40000"/>
              </a:spcAft>
            </a:pPr>
            <a:r>
              <a:rPr lang="zh-CN" altLang="en-US" sz="2000" dirty="0" smtClean="0">
                <a:latin typeface="宋体" pitchFamily="2" charset="-122"/>
              </a:rPr>
              <a:t>一致性（术语、步骤、动作）   </a:t>
            </a:r>
            <a:endParaRPr lang="zh-CN" altLang="en-US" sz="2000" dirty="0">
              <a:latin typeface="宋体" pitchFamily="2" charset="-122"/>
            </a:endParaRPr>
          </a:p>
          <a:p>
            <a:pPr lvl="2" algn="just">
              <a:spcAft>
                <a:spcPct val="40000"/>
              </a:spcAft>
            </a:pPr>
            <a:r>
              <a:rPr lang="zh-CN" altLang="en-US" sz="2000" dirty="0">
                <a:latin typeface="宋体" pitchFamily="2" charset="-122"/>
              </a:rPr>
              <a:t>减少</a:t>
            </a:r>
            <a:r>
              <a:rPr lang="zh-CN" altLang="en-US" sz="2000" dirty="0" smtClean="0">
                <a:latin typeface="宋体" pitchFamily="2" charset="-122"/>
              </a:rPr>
              <a:t>步骤（所需时间最少，如热键）  </a:t>
            </a:r>
            <a:endParaRPr lang="zh-CN" altLang="en-US" sz="2000" dirty="0">
              <a:latin typeface="宋体" pitchFamily="2" charset="-122"/>
            </a:endParaRPr>
          </a:p>
          <a:p>
            <a:pPr lvl="2" algn="just">
              <a:spcAft>
                <a:spcPct val="40000"/>
              </a:spcAft>
            </a:pPr>
            <a:r>
              <a:rPr lang="zh-CN" altLang="en-US" sz="2000" dirty="0">
                <a:latin typeface="宋体" pitchFamily="2" charset="-122"/>
              </a:rPr>
              <a:t>及时提供反馈</a:t>
            </a:r>
            <a:r>
              <a:rPr lang="zh-CN" altLang="en-US" sz="2000" dirty="0" smtClean="0">
                <a:latin typeface="宋体" pitchFamily="2" charset="-122"/>
              </a:rPr>
              <a:t>信息（如进度条、当前位置）</a:t>
            </a:r>
            <a:endParaRPr lang="zh-CN" altLang="en-US" sz="2000" dirty="0">
              <a:latin typeface="宋体" pitchFamily="2" charset="-122"/>
            </a:endParaRPr>
          </a:p>
          <a:p>
            <a:pPr lvl="2" algn="just">
              <a:spcAft>
                <a:spcPct val="40000"/>
              </a:spcAft>
            </a:pPr>
            <a:r>
              <a:rPr lang="zh-CN" altLang="en-US" sz="2000" dirty="0">
                <a:latin typeface="宋体" pitchFamily="2" charset="-122"/>
              </a:rPr>
              <a:t>提供撤销</a:t>
            </a:r>
            <a:r>
              <a:rPr lang="zh-CN" altLang="en-US" sz="2000" dirty="0" smtClean="0">
                <a:latin typeface="宋体" pitchFamily="2" charset="-122"/>
              </a:rPr>
              <a:t>命令（事务回滚）  </a:t>
            </a:r>
            <a:endParaRPr lang="zh-CN" altLang="en-US" sz="2000" dirty="0">
              <a:latin typeface="宋体" pitchFamily="2" charset="-122"/>
            </a:endParaRPr>
          </a:p>
          <a:p>
            <a:pPr lvl="2" algn="just">
              <a:spcAft>
                <a:spcPct val="40000"/>
              </a:spcAft>
            </a:pPr>
            <a:r>
              <a:rPr lang="zh-CN" altLang="en-US" sz="2000" dirty="0">
                <a:latin typeface="宋体" pitchFamily="2" charset="-122"/>
              </a:rPr>
              <a:t>无须</a:t>
            </a:r>
            <a:r>
              <a:rPr lang="zh-CN" altLang="en-US" sz="2000" dirty="0" smtClean="0">
                <a:latin typeface="宋体" pitchFamily="2" charset="-122"/>
              </a:rPr>
              <a:t>记忆（思考使用方法的时间少，实际工作时间多）  </a:t>
            </a:r>
            <a:endParaRPr lang="zh-CN" altLang="en-US" sz="2000" dirty="0">
              <a:latin typeface="宋体" pitchFamily="2" charset="-122"/>
            </a:endParaRPr>
          </a:p>
          <a:p>
            <a:pPr lvl="2" algn="just">
              <a:spcAft>
                <a:spcPct val="40000"/>
              </a:spcAft>
            </a:pPr>
            <a:r>
              <a:rPr lang="zh-CN" altLang="en-US" sz="2000" dirty="0" smtClean="0">
                <a:latin typeface="宋体" pitchFamily="2" charset="-122"/>
              </a:rPr>
              <a:t>易学（应提供联机帮助）</a:t>
            </a:r>
            <a:endParaRPr lang="zh-CN" altLang="en-US" sz="2000" dirty="0">
              <a:latin typeface="宋体" pitchFamily="2" charset="-122"/>
            </a:endParaRPr>
          </a:p>
          <a:p>
            <a:pPr lvl="2" algn="just">
              <a:spcAft>
                <a:spcPct val="40000"/>
              </a:spcAft>
            </a:pPr>
            <a:r>
              <a:rPr lang="zh-CN" altLang="en-US" sz="2000" dirty="0">
                <a:latin typeface="宋体" pitchFamily="2" charset="-122"/>
              </a:rPr>
              <a:t>富有</a:t>
            </a:r>
            <a:r>
              <a:rPr lang="zh-CN" altLang="en-US" sz="2000" dirty="0" smtClean="0">
                <a:latin typeface="宋体" pitchFamily="2" charset="-122"/>
              </a:rPr>
              <a:t>吸引力（</a:t>
            </a:r>
            <a:r>
              <a:rPr lang="en-US" altLang="zh-CN" sz="2000" dirty="0" smtClean="0">
                <a:latin typeface="宋体" pitchFamily="2" charset="-122"/>
              </a:rPr>
              <a:t>WPF</a:t>
            </a:r>
            <a:r>
              <a:rPr lang="zh-CN" altLang="en-US" sz="2000" dirty="0" smtClean="0">
                <a:latin typeface="宋体" pitchFamily="2" charset="-122"/>
              </a:rPr>
              <a:t>、</a:t>
            </a:r>
            <a:r>
              <a:rPr lang="en-US" altLang="zh-CN" sz="2000" dirty="0" err="1" smtClean="0">
                <a:latin typeface="宋体" pitchFamily="2" charset="-122"/>
              </a:rPr>
              <a:t>SilverLight</a:t>
            </a:r>
            <a:r>
              <a:rPr lang="zh-CN" altLang="en-US" sz="2000" dirty="0" smtClean="0">
                <a:latin typeface="宋体" pitchFamily="2" charset="-122"/>
              </a:rPr>
              <a:t>、</a:t>
            </a:r>
            <a:r>
              <a:rPr lang="en-US" altLang="zh-CN" sz="2000" dirty="0" smtClean="0">
                <a:latin typeface="宋体" pitchFamily="2" charset="-122"/>
              </a:rPr>
              <a:t>Flash</a:t>
            </a:r>
            <a:r>
              <a:rPr lang="zh-CN" altLang="en-US" sz="2000" dirty="0" smtClean="0">
                <a:latin typeface="宋体" pitchFamily="2" charset="-122"/>
              </a:rPr>
              <a:t>、脚本、</a:t>
            </a:r>
            <a:r>
              <a:rPr lang="en-US" altLang="zh-CN" sz="2000" dirty="0" smtClean="0">
                <a:latin typeface="宋体" pitchFamily="2" charset="-122"/>
              </a:rPr>
              <a:t>CSS</a:t>
            </a:r>
            <a:r>
              <a:rPr lang="zh-CN" altLang="en-US" sz="2000" dirty="0" smtClean="0">
                <a:latin typeface="宋体" pitchFamily="2" charset="-122"/>
              </a:rPr>
              <a:t>）</a:t>
            </a:r>
            <a:endParaRPr lang="zh-CN" altLang="en-US" sz="2000" dirty="0"/>
          </a:p>
        </p:txBody>
      </p:sp>
      <p:sp>
        <p:nvSpPr>
          <p:cNvPr id="4" name="灯片编号占位符 5"/>
          <p:cNvSpPr>
            <a:spLocks noGrp="1"/>
          </p:cNvSpPr>
          <p:nvPr>
            <p:ph type="sldNum" sz="quarter" idx="12"/>
          </p:nvPr>
        </p:nvSpPr>
        <p:spPr/>
        <p:txBody>
          <a:bodyPr>
            <a:normAutofit/>
          </a:bodyPr>
          <a:lstStyle/>
          <a:p>
            <a:fld id="{7A841E6F-E598-4C65-8556-B6AE56DA40AF}" type="slidenum">
              <a:rPr lang="en-US" altLang="zh-CN"/>
              <a:pPr/>
              <a:t>29</a:t>
            </a:fld>
            <a:endParaRPr lang="en-US" altLang="zh-CN"/>
          </a:p>
        </p:txBody>
      </p:sp>
      <p:sp>
        <p:nvSpPr>
          <p:cNvPr id="6" name="Rectangle 2"/>
          <p:cNvSpPr txBox="1">
            <a:spLocks noChangeArrowheads="1"/>
          </p:cNvSpPr>
          <p:nvPr/>
        </p:nvSpPr>
        <p:spPr>
          <a:xfrm>
            <a:off x="736600" y="501650"/>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8.5</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设计人－机交互子系统</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87395">
                                            <p:txEl>
                                              <p:pRg st="2" end="2"/>
                                            </p:txEl>
                                          </p:spTgt>
                                        </p:tgtEl>
                                        <p:attrNameLst>
                                          <p:attrName>style.visibility</p:attrName>
                                        </p:attrNameLst>
                                      </p:cBhvr>
                                      <p:to>
                                        <p:strVal val="visible"/>
                                      </p:to>
                                    </p:set>
                                    <p:anim calcmode="discrete" valueType="clr">
                                      <p:cBhvr override="childStyle">
                                        <p:cTn id="7" dur="80"/>
                                        <p:tgtEl>
                                          <p:spTgt spid="18739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87395">
                                            <p:txEl>
                                              <p:pRg st="2" end="2"/>
                                            </p:txEl>
                                          </p:spTgt>
                                        </p:tgtEl>
                                        <p:attrNameLst>
                                          <p:attrName>fillcolor</p:attrName>
                                        </p:attrNameLst>
                                      </p:cBhvr>
                                      <p:tavLst>
                                        <p:tav tm="0">
                                          <p:val>
                                            <p:clrVal>
                                              <a:schemeClr val="accent2"/>
                                            </p:clrVal>
                                          </p:val>
                                        </p:tav>
                                        <p:tav tm="50000">
                                          <p:val>
                                            <p:clrVal>
                                              <a:schemeClr val="hlink"/>
                                            </p:clrVal>
                                          </p:val>
                                        </p:tav>
                                      </p:tavLst>
                                    </p:anim>
                                    <p:set>
                                      <p:cBhvr>
                                        <p:cTn id="9" dur="80"/>
                                        <p:tgtEl>
                                          <p:spTgt spid="187395">
                                            <p:txEl>
                                              <p:pRg st="2" end="2"/>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87395">
                                            <p:txEl>
                                              <p:pRg st="3" end="3"/>
                                            </p:txEl>
                                          </p:spTgt>
                                        </p:tgtEl>
                                        <p:attrNameLst>
                                          <p:attrName>style.visibility</p:attrName>
                                        </p:attrNameLst>
                                      </p:cBhvr>
                                      <p:to>
                                        <p:strVal val="visible"/>
                                      </p:to>
                                    </p:set>
                                    <p:anim calcmode="discrete" valueType="clr">
                                      <p:cBhvr override="childStyle">
                                        <p:cTn id="14" dur="80"/>
                                        <p:tgtEl>
                                          <p:spTgt spid="18739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87395">
                                            <p:txEl>
                                              <p:pRg st="3" end="3"/>
                                            </p:txEl>
                                          </p:spTgt>
                                        </p:tgtEl>
                                        <p:attrNameLst>
                                          <p:attrName>fillcolor</p:attrName>
                                        </p:attrNameLst>
                                      </p:cBhvr>
                                      <p:tavLst>
                                        <p:tav tm="0">
                                          <p:val>
                                            <p:clrVal>
                                              <a:schemeClr val="accent2"/>
                                            </p:clrVal>
                                          </p:val>
                                        </p:tav>
                                        <p:tav tm="50000">
                                          <p:val>
                                            <p:clrVal>
                                              <a:schemeClr val="hlink"/>
                                            </p:clrVal>
                                          </p:val>
                                        </p:tav>
                                      </p:tavLst>
                                    </p:anim>
                                    <p:set>
                                      <p:cBhvr>
                                        <p:cTn id="16" dur="80"/>
                                        <p:tgtEl>
                                          <p:spTgt spid="187395">
                                            <p:txEl>
                                              <p:pRg st="3" end="3"/>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87395">
                                            <p:txEl>
                                              <p:pRg st="4" end="4"/>
                                            </p:txEl>
                                          </p:spTgt>
                                        </p:tgtEl>
                                        <p:attrNameLst>
                                          <p:attrName>style.visibility</p:attrName>
                                        </p:attrNameLst>
                                      </p:cBhvr>
                                      <p:to>
                                        <p:strVal val="visible"/>
                                      </p:to>
                                    </p:set>
                                    <p:anim calcmode="discrete" valueType="clr">
                                      <p:cBhvr override="childStyle">
                                        <p:cTn id="21" dur="80"/>
                                        <p:tgtEl>
                                          <p:spTgt spid="18739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87395">
                                            <p:txEl>
                                              <p:pRg st="4" end="4"/>
                                            </p:txEl>
                                          </p:spTgt>
                                        </p:tgtEl>
                                        <p:attrNameLst>
                                          <p:attrName>fillcolor</p:attrName>
                                        </p:attrNameLst>
                                      </p:cBhvr>
                                      <p:tavLst>
                                        <p:tav tm="0">
                                          <p:val>
                                            <p:clrVal>
                                              <a:schemeClr val="accent2"/>
                                            </p:clrVal>
                                          </p:val>
                                        </p:tav>
                                        <p:tav tm="50000">
                                          <p:val>
                                            <p:clrVal>
                                              <a:schemeClr val="hlink"/>
                                            </p:clrVal>
                                          </p:val>
                                        </p:tav>
                                      </p:tavLst>
                                    </p:anim>
                                    <p:set>
                                      <p:cBhvr>
                                        <p:cTn id="23" dur="80"/>
                                        <p:tgtEl>
                                          <p:spTgt spid="187395">
                                            <p:txEl>
                                              <p:pRg st="4" end="4"/>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87395">
                                            <p:txEl>
                                              <p:pRg st="5" end="5"/>
                                            </p:txEl>
                                          </p:spTgt>
                                        </p:tgtEl>
                                        <p:attrNameLst>
                                          <p:attrName>style.visibility</p:attrName>
                                        </p:attrNameLst>
                                      </p:cBhvr>
                                      <p:to>
                                        <p:strVal val="visible"/>
                                      </p:to>
                                    </p:set>
                                    <p:anim calcmode="discrete" valueType="clr">
                                      <p:cBhvr override="childStyle">
                                        <p:cTn id="28" dur="80"/>
                                        <p:tgtEl>
                                          <p:spTgt spid="18739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87395">
                                            <p:txEl>
                                              <p:pRg st="5" end="5"/>
                                            </p:txEl>
                                          </p:spTgt>
                                        </p:tgtEl>
                                        <p:attrNameLst>
                                          <p:attrName>fillcolor</p:attrName>
                                        </p:attrNameLst>
                                      </p:cBhvr>
                                      <p:tavLst>
                                        <p:tav tm="0">
                                          <p:val>
                                            <p:clrVal>
                                              <a:schemeClr val="accent2"/>
                                            </p:clrVal>
                                          </p:val>
                                        </p:tav>
                                        <p:tav tm="50000">
                                          <p:val>
                                            <p:clrVal>
                                              <a:schemeClr val="hlink"/>
                                            </p:clrVal>
                                          </p:val>
                                        </p:tav>
                                      </p:tavLst>
                                    </p:anim>
                                    <p:set>
                                      <p:cBhvr>
                                        <p:cTn id="30" dur="80"/>
                                        <p:tgtEl>
                                          <p:spTgt spid="187395">
                                            <p:txEl>
                                              <p:pRg st="5" end="5"/>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187395">
                                            <p:txEl>
                                              <p:pRg st="6" end="6"/>
                                            </p:txEl>
                                          </p:spTgt>
                                        </p:tgtEl>
                                        <p:attrNameLst>
                                          <p:attrName>style.visibility</p:attrName>
                                        </p:attrNameLst>
                                      </p:cBhvr>
                                      <p:to>
                                        <p:strVal val="visible"/>
                                      </p:to>
                                    </p:set>
                                    <p:anim calcmode="discrete" valueType="clr">
                                      <p:cBhvr override="childStyle">
                                        <p:cTn id="35" dur="80"/>
                                        <p:tgtEl>
                                          <p:spTgt spid="18739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87395">
                                            <p:txEl>
                                              <p:pRg st="6" end="6"/>
                                            </p:txEl>
                                          </p:spTgt>
                                        </p:tgtEl>
                                        <p:attrNameLst>
                                          <p:attrName>fillcolor</p:attrName>
                                        </p:attrNameLst>
                                      </p:cBhvr>
                                      <p:tavLst>
                                        <p:tav tm="0">
                                          <p:val>
                                            <p:clrVal>
                                              <a:schemeClr val="accent2"/>
                                            </p:clrVal>
                                          </p:val>
                                        </p:tav>
                                        <p:tav tm="50000">
                                          <p:val>
                                            <p:clrVal>
                                              <a:schemeClr val="hlink"/>
                                            </p:clrVal>
                                          </p:val>
                                        </p:tav>
                                      </p:tavLst>
                                    </p:anim>
                                    <p:set>
                                      <p:cBhvr>
                                        <p:cTn id="37" dur="80"/>
                                        <p:tgtEl>
                                          <p:spTgt spid="187395">
                                            <p:txEl>
                                              <p:pRg st="6" end="6"/>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187395">
                                            <p:txEl>
                                              <p:pRg st="7" end="7"/>
                                            </p:txEl>
                                          </p:spTgt>
                                        </p:tgtEl>
                                        <p:attrNameLst>
                                          <p:attrName>style.visibility</p:attrName>
                                        </p:attrNameLst>
                                      </p:cBhvr>
                                      <p:to>
                                        <p:strVal val="visible"/>
                                      </p:to>
                                    </p:set>
                                    <p:anim calcmode="discrete" valueType="clr">
                                      <p:cBhvr override="childStyle">
                                        <p:cTn id="42" dur="80"/>
                                        <p:tgtEl>
                                          <p:spTgt spid="187395">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187395">
                                            <p:txEl>
                                              <p:pRg st="7" end="7"/>
                                            </p:txEl>
                                          </p:spTgt>
                                        </p:tgtEl>
                                        <p:attrNameLst>
                                          <p:attrName>fillcolor</p:attrName>
                                        </p:attrNameLst>
                                      </p:cBhvr>
                                      <p:tavLst>
                                        <p:tav tm="0">
                                          <p:val>
                                            <p:clrVal>
                                              <a:schemeClr val="accent2"/>
                                            </p:clrVal>
                                          </p:val>
                                        </p:tav>
                                        <p:tav tm="50000">
                                          <p:val>
                                            <p:clrVal>
                                              <a:schemeClr val="hlink"/>
                                            </p:clrVal>
                                          </p:val>
                                        </p:tav>
                                      </p:tavLst>
                                    </p:anim>
                                    <p:set>
                                      <p:cBhvr>
                                        <p:cTn id="44" dur="80"/>
                                        <p:tgtEl>
                                          <p:spTgt spid="187395">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59" name="Rectangle 3"/>
          <p:cNvSpPr>
            <a:spLocks noGrp="1" noChangeArrowheads="1"/>
          </p:cNvSpPr>
          <p:nvPr>
            <p:ph idx="1"/>
          </p:nvPr>
        </p:nvSpPr>
        <p:spPr>
          <a:xfrm>
            <a:off x="685800" y="1262082"/>
            <a:ext cx="7620000" cy="4738686"/>
          </a:xfrm>
        </p:spPr>
        <p:txBody>
          <a:bodyPr/>
          <a:lstStyle/>
          <a:p>
            <a:pPr algn="just">
              <a:spcAft>
                <a:spcPct val="40000"/>
              </a:spcAft>
            </a:pPr>
            <a:r>
              <a:rPr lang="en-US" altLang="zh-CN" sz="2800" b="1" dirty="0" smtClean="0">
                <a:latin typeface="宋体" pitchFamily="2" charset="-122"/>
              </a:rPr>
              <a:t>2</a:t>
            </a:r>
            <a:r>
              <a:rPr lang="zh-CN" altLang="en-US" sz="2800" b="1" dirty="0" smtClean="0">
                <a:latin typeface="宋体" pitchFamily="2" charset="-122"/>
              </a:rPr>
              <a:t>、设计</a:t>
            </a:r>
            <a:r>
              <a:rPr lang="zh-CN" altLang="en-US" sz="2800" b="1" dirty="0">
                <a:latin typeface="宋体" pitchFamily="2" charset="-122"/>
              </a:rPr>
              <a:t>人－机交互子系统的策略</a:t>
            </a:r>
          </a:p>
          <a:p>
            <a:pPr lvl="2" algn="just">
              <a:spcAft>
                <a:spcPts val="600"/>
              </a:spcAft>
            </a:pPr>
            <a:r>
              <a:rPr lang="zh-CN" altLang="en-US" dirty="0">
                <a:latin typeface="宋体" pitchFamily="2" charset="-122"/>
              </a:rPr>
              <a:t>分类</a:t>
            </a:r>
            <a:r>
              <a:rPr lang="zh-CN" altLang="en-US" dirty="0" smtClean="0">
                <a:latin typeface="宋体" pitchFamily="2" charset="-122"/>
              </a:rPr>
              <a:t>用户</a:t>
            </a:r>
            <a:endParaRPr lang="en-US" altLang="zh-CN" dirty="0" smtClean="0">
              <a:latin typeface="宋体" pitchFamily="2" charset="-122"/>
            </a:endParaRPr>
          </a:p>
          <a:p>
            <a:pPr lvl="3" algn="just">
              <a:spcAft>
                <a:spcPts val="600"/>
              </a:spcAft>
            </a:pPr>
            <a:r>
              <a:rPr lang="zh-CN" altLang="en-US" sz="2200" dirty="0" smtClean="0">
                <a:latin typeface="宋体" pitchFamily="2" charset="-122"/>
              </a:rPr>
              <a:t>按技能水平；职务；所属类别</a:t>
            </a:r>
            <a:endParaRPr lang="zh-CN" altLang="en-US" sz="2200" dirty="0">
              <a:latin typeface="宋体" pitchFamily="2" charset="-122"/>
            </a:endParaRPr>
          </a:p>
          <a:p>
            <a:pPr lvl="2" algn="just">
              <a:spcAft>
                <a:spcPts val="600"/>
              </a:spcAft>
            </a:pPr>
            <a:r>
              <a:rPr lang="zh-CN" altLang="en-US" dirty="0">
                <a:latin typeface="宋体" pitchFamily="2" charset="-122"/>
              </a:rPr>
              <a:t>描述</a:t>
            </a:r>
            <a:r>
              <a:rPr lang="zh-CN" altLang="en-US" dirty="0" smtClean="0">
                <a:latin typeface="宋体" pitchFamily="2" charset="-122"/>
              </a:rPr>
              <a:t>用户</a:t>
            </a:r>
            <a:endParaRPr lang="en-US" altLang="zh-CN" dirty="0" smtClean="0">
              <a:latin typeface="宋体" pitchFamily="2" charset="-122"/>
            </a:endParaRPr>
          </a:p>
          <a:p>
            <a:pPr lvl="3" algn="just">
              <a:spcAft>
                <a:spcPts val="600"/>
              </a:spcAft>
            </a:pPr>
            <a:r>
              <a:rPr lang="zh-CN" altLang="en-US" sz="2200" dirty="0" smtClean="0">
                <a:latin typeface="宋体" pitchFamily="2" charset="-122"/>
              </a:rPr>
              <a:t>不同的用户有不同的使用特点</a:t>
            </a:r>
            <a:endParaRPr lang="zh-CN" altLang="en-US" sz="2200" dirty="0">
              <a:latin typeface="宋体" pitchFamily="2" charset="-122"/>
            </a:endParaRPr>
          </a:p>
          <a:p>
            <a:pPr lvl="2" algn="just">
              <a:spcAft>
                <a:spcPts val="600"/>
              </a:spcAft>
            </a:pPr>
            <a:r>
              <a:rPr lang="zh-CN" altLang="en-US" dirty="0">
                <a:latin typeface="宋体" pitchFamily="2" charset="-122"/>
              </a:rPr>
              <a:t>设计命令</a:t>
            </a:r>
            <a:r>
              <a:rPr lang="zh-CN" altLang="en-US" dirty="0" smtClean="0">
                <a:latin typeface="宋体" pitchFamily="2" charset="-122"/>
              </a:rPr>
              <a:t>层次</a:t>
            </a:r>
            <a:endParaRPr lang="en-US" altLang="zh-CN" dirty="0" smtClean="0">
              <a:latin typeface="宋体" pitchFamily="2" charset="-122"/>
            </a:endParaRPr>
          </a:p>
          <a:p>
            <a:pPr lvl="3" algn="just">
              <a:spcAft>
                <a:spcPts val="600"/>
              </a:spcAft>
            </a:pPr>
            <a:r>
              <a:rPr lang="zh-CN" altLang="en-US" sz="2200" dirty="0" smtClean="0">
                <a:latin typeface="宋体" pitchFamily="2" charset="-122"/>
              </a:rPr>
              <a:t>研究现有已被广泛接受的（如</a:t>
            </a:r>
            <a:r>
              <a:rPr lang="en-US" altLang="zh-CN" sz="2200" dirty="0" smtClean="0">
                <a:latin typeface="宋体" pitchFamily="2" charset="-122"/>
              </a:rPr>
              <a:t>windows</a:t>
            </a:r>
            <a:r>
              <a:rPr lang="zh-CN" altLang="en-US" sz="2200" dirty="0" smtClean="0">
                <a:latin typeface="宋体" pitchFamily="2" charset="-122"/>
              </a:rPr>
              <a:t>操作）；命令层次要考虑次序、关系、宽度和深度、操作步骤等因素进行精化设计</a:t>
            </a:r>
            <a:endParaRPr lang="zh-CN" altLang="en-US" sz="2200" dirty="0">
              <a:latin typeface="宋体" pitchFamily="2" charset="-122"/>
            </a:endParaRPr>
          </a:p>
          <a:p>
            <a:pPr lvl="2" algn="just">
              <a:spcAft>
                <a:spcPts val="600"/>
              </a:spcAft>
            </a:pPr>
            <a:r>
              <a:rPr lang="zh-CN" altLang="en-US" dirty="0">
                <a:latin typeface="宋体" pitchFamily="2" charset="-122"/>
              </a:rPr>
              <a:t>设计人－机交互</a:t>
            </a:r>
            <a:r>
              <a:rPr lang="zh-CN" altLang="en-US" dirty="0" smtClean="0">
                <a:latin typeface="宋体" pitchFamily="2" charset="-122"/>
              </a:rPr>
              <a:t>类（可从类库集成）</a:t>
            </a:r>
            <a:endParaRPr lang="zh-CN" altLang="en-US" dirty="0"/>
          </a:p>
        </p:txBody>
      </p:sp>
      <p:sp>
        <p:nvSpPr>
          <p:cNvPr id="4" name="灯片编号占位符 5"/>
          <p:cNvSpPr>
            <a:spLocks noGrp="1"/>
          </p:cNvSpPr>
          <p:nvPr>
            <p:ph type="sldNum" sz="quarter" idx="12"/>
          </p:nvPr>
        </p:nvSpPr>
        <p:spPr/>
        <p:txBody>
          <a:bodyPr>
            <a:normAutofit/>
          </a:bodyPr>
          <a:lstStyle/>
          <a:p>
            <a:fld id="{C7ED4994-E3DB-4C9D-9943-99A0E7F4AB42}" type="slidenum">
              <a:rPr lang="en-US" altLang="zh-CN"/>
              <a:pPr/>
              <a:t>30</a:t>
            </a:fld>
            <a:endParaRPr lang="en-US" altLang="zh-CN"/>
          </a:p>
        </p:txBody>
      </p:sp>
      <p:sp>
        <p:nvSpPr>
          <p:cNvPr id="6" name="Rectangle 2"/>
          <p:cNvSpPr txBox="1">
            <a:spLocks noChangeArrowheads="1"/>
          </p:cNvSpPr>
          <p:nvPr/>
        </p:nvSpPr>
        <p:spPr>
          <a:xfrm>
            <a:off x="736600" y="285728"/>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8.5</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设计人－机交互子系统</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pic>
        <p:nvPicPr>
          <p:cNvPr id="7" name="Picture 3"/>
          <p:cNvPicPr>
            <a:picLocks noChangeAspect="1" noChangeArrowheads="1"/>
          </p:cNvPicPr>
          <p:nvPr/>
        </p:nvPicPr>
        <p:blipFill>
          <a:blip r:embed="rId2"/>
          <a:srcRect/>
          <a:stretch>
            <a:fillRect/>
          </a:stretch>
        </p:blipFill>
        <p:spPr bwMode="auto">
          <a:xfrm>
            <a:off x="5286375" y="1143000"/>
            <a:ext cx="3324225" cy="27336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173059">
                                            <p:txEl>
                                              <p:pRg st="3" end="3"/>
                                            </p:txEl>
                                          </p:spTgt>
                                        </p:tgtEl>
                                        <p:attrNameLst>
                                          <p:attrName>style.visibility</p:attrName>
                                        </p:attrNameLst>
                                      </p:cBhvr>
                                      <p:to>
                                        <p:strVal val="visible"/>
                                      </p:to>
                                    </p:set>
                                    <p:animEffect transition="in" filter="fade">
                                      <p:cBhvr>
                                        <p:cTn id="7" dur="500"/>
                                        <p:tgtEl>
                                          <p:spTgt spid="173059">
                                            <p:txEl>
                                              <p:pRg st="3" end="3"/>
                                            </p:txEl>
                                          </p:spTgt>
                                        </p:tgtEl>
                                      </p:cBhvr>
                                    </p:animEffect>
                                    <p:anim calcmode="lin" valueType="num">
                                      <p:cBhvr>
                                        <p:cTn id="8" dur="500" fill="hold"/>
                                        <p:tgtEl>
                                          <p:spTgt spid="173059">
                                            <p:txEl>
                                              <p:pRg st="3" end="3"/>
                                            </p:txEl>
                                          </p:spTgt>
                                        </p:tgtEl>
                                        <p:attrNameLst>
                                          <p:attrName>ppt_x</p:attrName>
                                        </p:attrNameLst>
                                      </p:cBhvr>
                                      <p:tavLst>
                                        <p:tav tm="0">
                                          <p:val>
                                            <p:strVal val="#ppt_x-.1"/>
                                          </p:val>
                                        </p:tav>
                                        <p:tav tm="100000">
                                          <p:val>
                                            <p:strVal val="#ppt_x"/>
                                          </p:val>
                                        </p:tav>
                                      </p:tavLst>
                                    </p:anim>
                                    <p:anim calcmode="lin" valueType="num">
                                      <p:cBhvr>
                                        <p:cTn id="9" dur="500" fill="hold"/>
                                        <p:tgtEl>
                                          <p:spTgt spid="173059">
                                            <p:txEl>
                                              <p:pRg st="3" end="3"/>
                                            </p:txEl>
                                          </p:spTgt>
                                        </p:tgtEl>
                                        <p:attrNameLst>
                                          <p:attrName>ppt_y</p:attrName>
                                        </p:attrNameLst>
                                      </p:cBhvr>
                                      <p:tavLst>
                                        <p:tav tm="0">
                                          <p:val>
                                            <p:strVal val="#ppt_y"/>
                                          </p:val>
                                        </p:tav>
                                        <p:tav tm="100000">
                                          <p:val>
                                            <p:strVal val="#ppt_y"/>
                                          </p:val>
                                        </p:tav>
                                      </p:tavLst>
                                    </p:anim>
                                  </p:childTnLst>
                                </p:cTn>
                              </p:par>
                              <p:par>
                                <p:cTn id="10" presetID="40" presetClass="entr" presetSubtype="0" fill="hold" nodeType="withEffect">
                                  <p:stCondLst>
                                    <p:cond delay="0"/>
                                  </p:stCondLst>
                                  <p:iterate type="lt">
                                    <p:tmPct val="10000"/>
                                  </p:iterate>
                                  <p:childTnLst>
                                    <p:set>
                                      <p:cBhvr>
                                        <p:cTn id="11" dur="1" fill="hold">
                                          <p:stCondLst>
                                            <p:cond delay="0"/>
                                          </p:stCondLst>
                                        </p:cTn>
                                        <p:tgtEl>
                                          <p:spTgt spid="173059">
                                            <p:txEl>
                                              <p:pRg st="4" end="4"/>
                                            </p:txEl>
                                          </p:spTgt>
                                        </p:tgtEl>
                                        <p:attrNameLst>
                                          <p:attrName>style.visibility</p:attrName>
                                        </p:attrNameLst>
                                      </p:cBhvr>
                                      <p:to>
                                        <p:strVal val="visible"/>
                                      </p:to>
                                    </p:set>
                                    <p:animEffect transition="in" filter="fade">
                                      <p:cBhvr>
                                        <p:cTn id="12" dur="500"/>
                                        <p:tgtEl>
                                          <p:spTgt spid="173059">
                                            <p:txEl>
                                              <p:pRg st="4" end="4"/>
                                            </p:txEl>
                                          </p:spTgt>
                                        </p:tgtEl>
                                      </p:cBhvr>
                                    </p:animEffect>
                                    <p:anim calcmode="lin" valueType="num">
                                      <p:cBhvr>
                                        <p:cTn id="13" dur="500" fill="hold"/>
                                        <p:tgtEl>
                                          <p:spTgt spid="173059">
                                            <p:txEl>
                                              <p:pRg st="4" end="4"/>
                                            </p:txEl>
                                          </p:spTgt>
                                        </p:tgtEl>
                                        <p:attrNameLst>
                                          <p:attrName>ppt_x</p:attrName>
                                        </p:attrNameLst>
                                      </p:cBhvr>
                                      <p:tavLst>
                                        <p:tav tm="0">
                                          <p:val>
                                            <p:strVal val="#ppt_x-.1"/>
                                          </p:val>
                                        </p:tav>
                                        <p:tav tm="100000">
                                          <p:val>
                                            <p:strVal val="#ppt_x"/>
                                          </p:val>
                                        </p:tav>
                                      </p:tavLst>
                                    </p:anim>
                                    <p:anim calcmode="lin" valueType="num">
                                      <p:cBhvr>
                                        <p:cTn id="14" dur="500" fill="hold"/>
                                        <p:tgtEl>
                                          <p:spTgt spid="173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0" presetClass="entr" presetSubtype="0" fill="hold" nodeType="clickEffect">
                                  <p:stCondLst>
                                    <p:cond delay="0"/>
                                  </p:stCondLst>
                                  <p:iterate type="lt">
                                    <p:tmPct val="10000"/>
                                  </p:iterate>
                                  <p:childTnLst>
                                    <p:set>
                                      <p:cBhvr>
                                        <p:cTn id="18" dur="1" fill="hold">
                                          <p:stCondLst>
                                            <p:cond delay="0"/>
                                          </p:stCondLst>
                                        </p:cTn>
                                        <p:tgtEl>
                                          <p:spTgt spid="173059">
                                            <p:txEl>
                                              <p:pRg st="5" end="5"/>
                                            </p:txEl>
                                          </p:spTgt>
                                        </p:tgtEl>
                                        <p:attrNameLst>
                                          <p:attrName>style.visibility</p:attrName>
                                        </p:attrNameLst>
                                      </p:cBhvr>
                                      <p:to>
                                        <p:strVal val="visible"/>
                                      </p:to>
                                    </p:set>
                                    <p:animEffect transition="in" filter="fade">
                                      <p:cBhvr>
                                        <p:cTn id="19" dur="500"/>
                                        <p:tgtEl>
                                          <p:spTgt spid="173059">
                                            <p:txEl>
                                              <p:pRg st="5" end="5"/>
                                            </p:txEl>
                                          </p:spTgt>
                                        </p:tgtEl>
                                      </p:cBhvr>
                                    </p:animEffect>
                                    <p:anim calcmode="lin" valueType="num">
                                      <p:cBhvr>
                                        <p:cTn id="20" dur="500" fill="hold"/>
                                        <p:tgtEl>
                                          <p:spTgt spid="173059">
                                            <p:txEl>
                                              <p:pRg st="5" end="5"/>
                                            </p:txEl>
                                          </p:spTgt>
                                        </p:tgtEl>
                                        <p:attrNameLst>
                                          <p:attrName>ppt_x</p:attrName>
                                        </p:attrNameLst>
                                      </p:cBhvr>
                                      <p:tavLst>
                                        <p:tav tm="0">
                                          <p:val>
                                            <p:strVal val="#ppt_x-.1"/>
                                          </p:val>
                                        </p:tav>
                                        <p:tav tm="100000">
                                          <p:val>
                                            <p:strVal val="#ppt_x"/>
                                          </p:val>
                                        </p:tav>
                                      </p:tavLst>
                                    </p:anim>
                                    <p:anim calcmode="lin" valueType="num">
                                      <p:cBhvr>
                                        <p:cTn id="21" dur="500" fill="hold"/>
                                        <p:tgtEl>
                                          <p:spTgt spid="173059">
                                            <p:txEl>
                                              <p:pRg st="5" end="5"/>
                                            </p:txEl>
                                          </p:spTgt>
                                        </p:tgtEl>
                                        <p:attrNameLst>
                                          <p:attrName>ppt_y</p:attrName>
                                        </p:attrNameLst>
                                      </p:cBhvr>
                                      <p:tavLst>
                                        <p:tav tm="0">
                                          <p:val>
                                            <p:strVal val="#ppt_y"/>
                                          </p:val>
                                        </p:tav>
                                        <p:tav tm="100000">
                                          <p:val>
                                            <p:strVal val="#ppt_y"/>
                                          </p:val>
                                        </p:tav>
                                      </p:tavLst>
                                    </p:anim>
                                  </p:childTnLst>
                                </p:cTn>
                              </p:par>
                              <p:par>
                                <p:cTn id="22" presetID="40" presetClass="entr" presetSubtype="0" fill="hold" nodeType="withEffect">
                                  <p:stCondLst>
                                    <p:cond delay="0"/>
                                  </p:stCondLst>
                                  <p:iterate type="lt">
                                    <p:tmPct val="10000"/>
                                  </p:iterate>
                                  <p:childTnLst>
                                    <p:set>
                                      <p:cBhvr>
                                        <p:cTn id="23" dur="1" fill="hold">
                                          <p:stCondLst>
                                            <p:cond delay="0"/>
                                          </p:stCondLst>
                                        </p:cTn>
                                        <p:tgtEl>
                                          <p:spTgt spid="173059">
                                            <p:txEl>
                                              <p:pRg st="6" end="6"/>
                                            </p:txEl>
                                          </p:spTgt>
                                        </p:tgtEl>
                                        <p:attrNameLst>
                                          <p:attrName>style.visibility</p:attrName>
                                        </p:attrNameLst>
                                      </p:cBhvr>
                                      <p:to>
                                        <p:strVal val="visible"/>
                                      </p:to>
                                    </p:set>
                                    <p:animEffect transition="in" filter="fade">
                                      <p:cBhvr>
                                        <p:cTn id="24" dur="500"/>
                                        <p:tgtEl>
                                          <p:spTgt spid="173059">
                                            <p:txEl>
                                              <p:pRg st="6" end="6"/>
                                            </p:txEl>
                                          </p:spTgt>
                                        </p:tgtEl>
                                      </p:cBhvr>
                                    </p:animEffect>
                                    <p:anim calcmode="lin" valueType="num">
                                      <p:cBhvr>
                                        <p:cTn id="25" dur="500" fill="hold"/>
                                        <p:tgtEl>
                                          <p:spTgt spid="173059">
                                            <p:txEl>
                                              <p:pRg st="6" end="6"/>
                                            </p:txEl>
                                          </p:spTgt>
                                        </p:tgtEl>
                                        <p:attrNameLst>
                                          <p:attrName>ppt_x</p:attrName>
                                        </p:attrNameLst>
                                      </p:cBhvr>
                                      <p:tavLst>
                                        <p:tav tm="0">
                                          <p:val>
                                            <p:strVal val="#ppt_x-.1"/>
                                          </p:val>
                                        </p:tav>
                                        <p:tav tm="100000">
                                          <p:val>
                                            <p:strVal val="#ppt_x"/>
                                          </p:val>
                                        </p:tav>
                                      </p:tavLst>
                                    </p:anim>
                                    <p:anim calcmode="lin" valueType="num">
                                      <p:cBhvr>
                                        <p:cTn id="26" dur="500" fill="hold"/>
                                        <p:tgtEl>
                                          <p:spTgt spid="1730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0" presetClass="entr" presetSubtype="0" fill="hold" nodeType="clickEffect">
                                  <p:stCondLst>
                                    <p:cond delay="0"/>
                                  </p:stCondLst>
                                  <p:iterate type="lt">
                                    <p:tmPct val="10000"/>
                                  </p:iterate>
                                  <p:childTnLst>
                                    <p:set>
                                      <p:cBhvr>
                                        <p:cTn id="30" dur="1" fill="hold">
                                          <p:stCondLst>
                                            <p:cond delay="0"/>
                                          </p:stCondLst>
                                        </p:cTn>
                                        <p:tgtEl>
                                          <p:spTgt spid="173059">
                                            <p:txEl>
                                              <p:pRg st="7" end="7"/>
                                            </p:txEl>
                                          </p:spTgt>
                                        </p:tgtEl>
                                        <p:attrNameLst>
                                          <p:attrName>style.visibility</p:attrName>
                                        </p:attrNameLst>
                                      </p:cBhvr>
                                      <p:to>
                                        <p:strVal val="visible"/>
                                      </p:to>
                                    </p:set>
                                    <p:animEffect transition="in" filter="fade">
                                      <p:cBhvr>
                                        <p:cTn id="31" dur="500"/>
                                        <p:tgtEl>
                                          <p:spTgt spid="173059">
                                            <p:txEl>
                                              <p:pRg st="7" end="7"/>
                                            </p:txEl>
                                          </p:spTgt>
                                        </p:tgtEl>
                                      </p:cBhvr>
                                    </p:animEffect>
                                    <p:anim calcmode="lin" valueType="num">
                                      <p:cBhvr>
                                        <p:cTn id="32" dur="500" fill="hold"/>
                                        <p:tgtEl>
                                          <p:spTgt spid="173059">
                                            <p:txEl>
                                              <p:pRg st="7" end="7"/>
                                            </p:txEl>
                                          </p:spTgt>
                                        </p:tgtEl>
                                        <p:attrNameLst>
                                          <p:attrName>ppt_x</p:attrName>
                                        </p:attrNameLst>
                                      </p:cBhvr>
                                      <p:tavLst>
                                        <p:tav tm="0">
                                          <p:val>
                                            <p:strVal val="#ppt_x-.1"/>
                                          </p:val>
                                        </p:tav>
                                        <p:tav tm="100000">
                                          <p:val>
                                            <p:strVal val="#ppt_x"/>
                                          </p:val>
                                        </p:tav>
                                      </p:tavLst>
                                    </p:anim>
                                    <p:anim calcmode="lin" valueType="num">
                                      <p:cBhvr>
                                        <p:cTn id="33" dur="500" fill="hold"/>
                                        <p:tgtEl>
                                          <p:spTgt spid="17305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6"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arn(inHorizontal)">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59" name="Rectangle 3"/>
          <p:cNvSpPr>
            <a:spLocks noGrp="1" noChangeArrowheads="1"/>
          </p:cNvSpPr>
          <p:nvPr>
            <p:ph idx="1"/>
          </p:nvPr>
        </p:nvSpPr>
        <p:spPr>
          <a:xfrm>
            <a:off x="685800" y="1262082"/>
            <a:ext cx="7620000" cy="4738686"/>
          </a:xfrm>
        </p:spPr>
        <p:txBody>
          <a:bodyPr>
            <a:normAutofit/>
          </a:bodyPr>
          <a:lstStyle/>
          <a:p>
            <a:pPr algn="just">
              <a:spcAft>
                <a:spcPct val="40000"/>
              </a:spcAft>
            </a:pPr>
            <a:r>
              <a:rPr lang="zh-CN" altLang="en-US" sz="2800" b="1" dirty="0" smtClean="0">
                <a:latin typeface="宋体" pitchFamily="2" charset="-122"/>
              </a:rPr>
              <a:t>设计</a:t>
            </a:r>
            <a:r>
              <a:rPr lang="zh-CN" altLang="en-US" sz="2800" b="1" dirty="0">
                <a:latin typeface="宋体" pitchFamily="2" charset="-122"/>
              </a:rPr>
              <a:t>人－机交互子系统</a:t>
            </a:r>
            <a:r>
              <a:rPr lang="zh-CN" altLang="en-US" sz="2800" b="1" dirty="0" smtClean="0">
                <a:latin typeface="宋体" pitchFamily="2" charset="-122"/>
              </a:rPr>
              <a:t>的方法</a:t>
            </a:r>
            <a:endParaRPr lang="zh-CN" altLang="en-US" sz="2800" b="1" dirty="0">
              <a:latin typeface="宋体" pitchFamily="2" charset="-122"/>
            </a:endParaRPr>
          </a:p>
          <a:p>
            <a:pPr lvl="1"/>
            <a:r>
              <a:rPr lang="zh-CN" altLang="en-US" dirty="0" smtClean="0">
                <a:ea typeface="宋体" charset="-122"/>
              </a:rPr>
              <a:t>一般以一种选定的界面支持系统为基础，利用所支持的界面构造成分，设计一个可满足人机交互需求、适合使用者的人机界面设计模型。</a:t>
            </a:r>
            <a:endParaRPr lang="en-US" altLang="zh-CN" dirty="0" smtClean="0">
              <a:ea typeface="宋体" charset="-122"/>
            </a:endParaRPr>
          </a:p>
          <a:p>
            <a:pPr lvl="1"/>
            <a:r>
              <a:rPr lang="zh-CN" altLang="en-US" dirty="0" smtClean="0">
                <a:ea typeface="宋体" charset="-122"/>
              </a:rPr>
              <a:t>现在比较常见的做法是：</a:t>
            </a:r>
            <a:endParaRPr lang="en-US" altLang="zh-CN" dirty="0" smtClean="0">
              <a:ea typeface="宋体" charset="-122"/>
            </a:endParaRPr>
          </a:p>
          <a:p>
            <a:pPr lvl="2"/>
            <a:r>
              <a:rPr lang="zh-CN" altLang="en-US" sz="2400" dirty="0" smtClean="0">
                <a:ea typeface="宋体" charset="-122"/>
              </a:rPr>
              <a:t>使用可视化的编程环境或编辑工具，如</a:t>
            </a:r>
            <a:r>
              <a:rPr lang="en-US" altLang="zh-CN" sz="2400" dirty="0" smtClean="0">
                <a:ea typeface="宋体" charset="-122"/>
              </a:rPr>
              <a:t>FrontPage</a:t>
            </a:r>
            <a:r>
              <a:rPr lang="zh-CN" altLang="en-US" sz="2400" dirty="0" smtClean="0">
                <a:ea typeface="宋体" charset="-122"/>
              </a:rPr>
              <a:t>、</a:t>
            </a:r>
            <a:r>
              <a:rPr lang="en-US" altLang="zh-CN" sz="2400" dirty="0" smtClean="0">
                <a:ea typeface="宋体" charset="-122"/>
              </a:rPr>
              <a:t>Visual Studio</a:t>
            </a:r>
            <a:r>
              <a:rPr lang="zh-CN" altLang="en-US" sz="2400" dirty="0" smtClean="0">
                <a:ea typeface="宋体" charset="-122"/>
              </a:rPr>
              <a:t>、</a:t>
            </a:r>
            <a:r>
              <a:rPr lang="en-US" altLang="zh-CN" sz="2400" dirty="0" smtClean="0">
                <a:ea typeface="宋体" charset="-122"/>
              </a:rPr>
              <a:t>Dreamweaver</a:t>
            </a:r>
            <a:r>
              <a:rPr lang="zh-CN" altLang="en-US" sz="2400" dirty="0" smtClean="0">
                <a:ea typeface="宋体" charset="-122"/>
              </a:rPr>
              <a:t>、</a:t>
            </a:r>
            <a:r>
              <a:rPr lang="en-US" altLang="zh-CN" dirty="0"/>
              <a:t> Briefs</a:t>
            </a:r>
            <a:r>
              <a:rPr lang="zh-CN" altLang="en-US" sz="2400" dirty="0" smtClean="0">
                <a:ea typeface="宋体" charset="-122"/>
              </a:rPr>
              <a:t>等快速构建原型系统；</a:t>
            </a:r>
            <a:endParaRPr lang="en-US" altLang="zh-CN" sz="2400" dirty="0" smtClean="0">
              <a:ea typeface="宋体" charset="-122"/>
            </a:endParaRPr>
          </a:p>
          <a:p>
            <a:pPr lvl="2"/>
            <a:r>
              <a:rPr lang="zh-CN" altLang="en-US" sz="2400" dirty="0" smtClean="0">
                <a:ea typeface="宋体" charset="-122"/>
              </a:rPr>
              <a:t>使用手绘方式描述界面；</a:t>
            </a:r>
            <a:endParaRPr lang="en-US" altLang="zh-CN" sz="2400" dirty="0" smtClean="0">
              <a:ea typeface="宋体" charset="-122"/>
            </a:endParaRPr>
          </a:p>
          <a:p>
            <a:pPr lvl="2"/>
            <a:r>
              <a:rPr lang="zh-CN" altLang="en-US" sz="2400" dirty="0" smtClean="0">
                <a:ea typeface="宋体" charset="-122"/>
              </a:rPr>
              <a:t>使用制图工具，如</a:t>
            </a:r>
            <a:r>
              <a:rPr lang="en-US" altLang="zh-CN" sz="2400" dirty="0" smtClean="0">
                <a:ea typeface="宋体" charset="-122"/>
              </a:rPr>
              <a:t>Visio</a:t>
            </a:r>
            <a:r>
              <a:rPr lang="zh-CN" altLang="en-US" sz="2400" dirty="0" smtClean="0">
                <a:ea typeface="宋体" charset="-122"/>
              </a:rPr>
              <a:t>、</a:t>
            </a:r>
            <a:r>
              <a:rPr lang="en-US" altLang="zh-CN" sz="2400" dirty="0" smtClean="0">
                <a:ea typeface="宋体" charset="-122"/>
              </a:rPr>
              <a:t>Photoshop</a:t>
            </a:r>
            <a:r>
              <a:rPr lang="zh-CN" altLang="en-US" sz="2400" dirty="0" smtClean="0">
                <a:ea typeface="宋体" charset="-122"/>
              </a:rPr>
              <a:t>、</a:t>
            </a:r>
            <a:r>
              <a:rPr lang="en-US" altLang="zh-CN" sz="2400" dirty="0">
                <a:ea typeface="宋体" charset="-122"/>
              </a:rPr>
              <a:t> </a:t>
            </a:r>
            <a:r>
              <a:rPr lang="en-US" altLang="zh-CN" sz="2400" dirty="0" err="1">
                <a:ea typeface="宋体" charset="-122"/>
              </a:rPr>
              <a:t>Axure</a:t>
            </a:r>
            <a:r>
              <a:rPr lang="zh-CN" altLang="en-US" sz="2400" dirty="0" smtClean="0">
                <a:ea typeface="宋体" charset="-122"/>
              </a:rPr>
              <a:t>等设计界面。</a:t>
            </a:r>
          </a:p>
          <a:p>
            <a:pPr lvl="2" algn="just">
              <a:spcAft>
                <a:spcPts val="600"/>
              </a:spcAft>
            </a:pPr>
            <a:endParaRPr lang="zh-CN" altLang="en-US" dirty="0"/>
          </a:p>
        </p:txBody>
      </p:sp>
      <p:sp>
        <p:nvSpPr>
          <p:cNvPr id="4" name="灯片编号占位符 5"/>
          <p:cNvSpPr>
            <a:spLocks noGrp="1"/>
          </p:cNvSpPr>
          <p:nvPr>
            <p:ph type="sldNum" sz="quarter" idx="12"/>
          </p:nvPr>
        </p:nvSpPr>
        <p:spPr/>
        <p:txBody>
          <a:bodyPr>
            <a:normAutofit/>
          </a:bodyPr>
          <a:lstStyle/>
          <a:p>
            <a:fld id="{C7ED4994-E3DB-4C9D-9943-99A0E7F4AB42}" type="slidenum">
              <a:rPr lang="en-US" altLang="zh-CN"/>
              <a:pPr/>
              <a:t>31</a:t>
            </a:fld>
            <a:endParaRPr lang="en-US" altLang="zh-CN"/>
          </a:p>
        </p:txBody>
      </p:sp>
      <p:sp>
        <p:nvSpPr>
          <p:cNvPr id="6" name="Rectangle 2"/>
          <p:cNvSpPr txBox="1">
            <a:spLocks noChangeArrowheads="1"/>
          </p:cNvSpPr>
          <p:nvPr/>
        </p:nvSpPr>
        <p:spPr>
          <a:xfrm>
            <a:off x="736600" y="285728"/>
            <a:ext cx="7124700" cy="86360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8.5</a:t>
            </a:r>
            <a:r>
              <a:rPr kumimoji="0" lang="zh-CN" altLang="en-US" sz="36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设计人－机交互子系统</a:t>
            </a:r>
            <a:endParaRPr kumimoji="0" lang="en-US" altLang="zh-CN" sz="3600" b="0" i="1" u="none" strike="noStrike" kern="1200" cap="none" spc="0" normalizeH="0" baseline="0" noProof="0" dirty="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736600" y="501650"/>
            <a:ext cx="7124700" cy="863600"/>
          </a:xfrm>
        </p:spPr>
        <p:txBody>
          <a:bodyPr/>
          <a:lstStyle/>
          <a:p>
            <a:r>
              <a:rPr lang="en-US" altLang="zh-CN" b="0" i="1" dirty="0" smtClean="0"/>
              <a:t>8.6</a:t>
            </a:r>
            <a:r>
              <a:rPr lang="zh-CN" altLang="en-US" b="0" i="1" dirty="0" smtClean="0"/>
              <a:t>设计任务管理子系统</a:t>
            </a:r>
            <a:endParaRPr lang="en-US" altLang="zh-CN" b="0" i="1" dirty="0"/>
          </a:p>
        </p:txBody>
      </p:sp>
      <p:sp>
        <p:nvSpPr>
          <p:cNvPr id="174083" name="Rectangle 3"/>
          <p:cNvSpPr>
            <a:spLocks noGrp="1" noChangeArrowheads="1"/>
          </p:cNvSpPr>
          <p:nvPr>
            <p:ph idx="1"/>
          </p:nvPr>
        </p:nvSpPr>
        <p:spPr>
          <a:xfrm>
            <a:off x="685800" y="1600200"/>
            <a:ext cx="7620000" cy="3971940"/>
          </a:xfrm>
        </p:spPr>
        <p:txBody>
          <a:bodyPr/>
          <a:lstStyle/>
          <a:p>
            <a:pPr algn="just">
              <a:spcAft>
                <a:spcPct val="40000"/>
              </a:spcAft>
              <a:buFont typeface="Wingdings" pitchFamily="2" charset="2"/>
              <a:buNone/>
            </a:pPr>
            <a:r>
              <a:rPr lang="zh-CN" altLang="en-US" sz="2400" dirty="0" smtClean="0">
                <a:latin typeface="宋体" pitchFamily="2" charset="-122"/>
              </a:rPr>
              <a:t>      在</a:t>
            </a:r>
            <a:r>
              <a:rPr lang="zh-CN" altLang="en-US" sz="2400" dirty="0">
                <a:latin typeface="宋体" pitchFamily="2" charset="-122"/>
              </a:rPr>
              <a:t>实际系统中，许多对象之间往往存在相互依赖关系。此外，在实际使用的硬件中，可能仅有一个处理器支持多个对象。因此，设计工作的一项重要内容就是，确定哪些是必须同时动作的对象，哪些是相互排斥的对象。然后进一步设计任务管理子系统。</a:t>
            </a:r>
            <a:endParaRPr lang="en-US" altLang="zh-CN" sz="2400" dirty="0">
              <a:latin typeface="宋体" pitchFamily="2" charset="-122"/>
            </a:endParaRPr>
          </a:p>
          <a:p>
            <a:pPr algn="just">
              <a:spcAft>
                <a:spcPct val="40000"/>
              </a:spcAft>
              <a:buFont typeface="Wingdings" pitchFamily="2" charset="2"/>
              <a:buNone/>
            </a:pPr>
            <a:endParaRPr lang="zh-CN" altLang="en-US" b="1" dirty="0"/>
          </a:p>
        </p:txBody>
      </p:sp>
      <p:sp>
        <p:nvSpPr>
          <p:cNvPr id="4" name="灯片编号占位符 5"/>
          <p:cNvSpPr>
            <a:spLocks noGrp="1"/>
          </p:cNvSpPr>
          <p:nvPr>
            <p:ph type="sldNum" sz="quarter" idx="12"/>
          </p:nvPr>
        </p:nvSpPr>
        <p:spPr/>
        <p:txBody>
          <a:bodyPr>
            <a:normAutofit/>
          </a:bodyPr>
          <a:lstStyle/>
          <a:p>
            <a:fld id="{B481BA4E-B800-406E-83AE-6A1CD9B3E114}" type="slidenum">
              <a:rPr lang="en-US" altLang="zh-CN"/>
              <a:pPr/>
              <a:t>32</a:t>
            </a:fld>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736600" y="501650"/>
            <a:ext cx="7124700" cy="863600"/>
          </a:xfrm>
        </p:spPr>
        <p:txBody>
          <a:bodyPr/>
          <a:lstStyle/>
          <a:p>
            <a:r>
              <a:rPr lang="en-US" altLang="zh-CN" b="0" i="1" dirty="0" smtClean="0"/>
              <a:t>8.6</a:t>
            </a:r>
            <a:r>
              <a:rPr lang="zh-CN" altLang="en-US" b="0" i="1" dirty="0" smtClean="0"/>
              <a:t>设计任务管理子系统</a:t>
            </a:r>
            <a:endParaRPr lang="en-US" altLang="zh-CN" b="0" i="1" dirty="0"/>
          </a:p>
        </p:txBody>
      </p:sp>
      <p:sp>
        <p:nvSpPr>
          <p:cNvPr id="190467" name="Rectangle 3"/>
          <p:cNvSpPr>
            <a:spLocks noGrp="1" noChangeArrowheads="1"/>
          </p:cNvSpPr>
          <p:nvPr>
            <p:ph idx="1"/>
          </p:nvPr>
        </p:nvSpPr>
        <p:spPr>
          <a:xfrm>
            <a:off x="685800" y="1600200"/>
            <a:ext cx="7620000" cy="4257692"/>
          </a:xfrm>
        </p:spPr>
        <p:txBody>
          <a:bodyPr/>
          <a:lstStyle/>
          <a:p>
            <a:pPr algn="just">
              <a:spcAft>
                <a:spcPct val="40000"/>
              </a:spcAft>
              <a:buFont typeface="Wingdings" pitchFamily="2" charset="2"/>
              <a:buNone/>
            </a:pPr>
            <a:r>
              <a:rPr lang="en-US" altLang="zh-CN" b="1" dirty="0" smtClean="0">
                <a:latin typeface="宋体" pitchFamily="2" charset="-122"/>
              </a:rPr>
              <a:t>1</a:t>
            </a:r>
            <a:r>
              <a:rPr lang="zh-CN" altLang="en-US" b="1" dirty="0" smtClean="0">
                <a:latin typeface="宋体" pitchFamily="2" charset="-122"/>
              </a:rPr>
              <a:t>、分析</a:t>
            </a:r>
            <a:r>
              <a:rPr lang="zh-CN" altLang="en-US" b="1" dirty="0">
                <a:latin typeface="宋体" pitchFamily="2" charset="-122"/>
              </a:rPr>
              <a:t>并发性</a:t>
            </a:r>
          </a:p>
          <a:p>
            <a:pPr algn="just">
              <a:spcAft>
                <a:spcPct val="40000"/>
              </a:spcAft>
              <a:buFont typeface="Wingdings" pitchFamily="2" charset="2"/>
              <a:buNone/>
            </a:pPr>
            <a:r>
              <a:rPr lang="zh-CN" altLang="en-US" b="1" dirty="0">
                <a:latin typeface="宋体" pitchFamily="2" charset="-122"/>
              </a:rPr>
              <a:t> </a:t>
            </a:r>
            <a:r>
              <a:rPr lang="zh-CN" altLang="en-US" b="1" dirty="0" smtClean="0">
                <a:latin typeface="宋体" pitchFamily="2" charset="-122"/>
              </a:rPr>
              <a:t> </a:t>
            </a:r>
            <a:r>
              <a:rPr lang="zh-CN" altLang="en-US" sz="2400" dirty="0" smtClean="0">
                <a:latin typeface="宋体" pitchFamily="2" charset="-122"/>
              </a:rPr>
              <a:t>如果</a:t>
            </a:r>
            <a:r>
              <a:rPr lang="zh-CN" altLang="en-US" sz="2400" dirty="0">
                <a:latin typeface="宋体" pitchFamily="2" charset="-122"/>
              </a:rPr>
              <a:t>两个对象彼此间不存在交互，或者它们同时接受事件，则这两个对象在本质上是并发的。</a:t>
            </a:r>
            <a:endParaRPr lang="en-US" altLang="zh-CN" sz="2400" dirty="0">
              <a:latin typeface="宋体" pitchFamily="2" charset="-122"/>
            </a:endParaRPr>
          </a:p>
          <a:p>
            <a:pPr algn="just">
              <a:spcAft>
                <a:spcPct val="40000"/>
              </a:spcAft>
              <a:buFont typeface="Wingdings" pitchFamily="2" charset="2"/>
              <a:buNone/>
            </a:pPr>
            <a:r>
              <a:rPr lang="en-US" altLang="zh-CN" b="1" dirty="0" smtClean="0">
                <a:latin typeface="宋体" pitchFamily="2" charset="-122"/>
              </a:rPr>
              <a:t>2</a:t>
            </a:r>
            <a:r>
              <a:rPr lang="zh-CN" altLang="en-US" b="1" dirty="0" smtClean="0">
                <a:latin typeface="宋体" pitchFamily="2" charset="-122"/>
              </a:rPr>
              <a:t>、设计</a:t>
            </a:r>
            <a:r>
              <a:rPr lang="zh-CN" altLang="en-US" b="1" dirty="0">
                <a:latin typeface="宋体" pitchFamily="2" charset="-122"/>
              </a:rPr>
              <a:t>任务管理子系统</a:t>
            </a:r>
          </a:p>
          <a:p>
            <a:pPr algn="just">
              <a:spcAft>
                <a:spcPct val="40000"/>
              </a:spcAft>
              <a:buFont typeface="Wingdings" pitchFamily="2" charset="2"/>
              <a:buNone/>
            </a:pPr>
            <a:r>
              <a:rPr lang="zh-CN" altLang="en-US" b="1" dirty="0">
                <a:latin typeface="宋体" pitchFamily="2" charset="-122"/>
              </a:rPr>
              <a:t>	</a:t>
            </a:r>
            <a:r>
              <a:rPr lang="zh-CN" altLang="en-US" b="1" dirty="0" smtClean="0">
                <a:latin typeface="宋体" pitchFamily="2" charset="-122"/>
              </a:rPr>
              <a:t>   </a:t>
            </a:r>
            <a:r>
              <a:rPr lang="zh-CN" altLang="en-US" sz="2400" dirty="0" smtClean="0">
                <a:latin typeface="宋体" pitchFamily="2" charset="-122"/>
              </a:rPr>
              <a:t>常见</a:t>
            </a:r>
            <a:r>
              <a:rPr lang="zh-CN" altLang="en-US" sz="2400" dirty="0">
                <a:latin typeface="宋体" pitchFamily="2" charset="-122"/>
              </a:rPr>
              <a:t>的</a:t>
            </a:r>
            <a:r>
              <a:rPr lang="zh-CN" altLang="en-US" sz="2400" dirty="0" smtClean="0">
                <a:latin typeface="宋体" pitchFamily="2" charset="-122"/>
              </a:rPr>
              <a:t>任务有事件驱动</a:t>
            </a:r>
            <a:r>
              <a:rPr lang="zh-CN" altLang="en-US" sz="2400" dirty="0">
                <a:latin typeface="宋体" pitchFamily="2" charset="-122"/>
              </a:rPr>
              <a:t>型任务、时钟驱动型任务、优先任务、关键任务和协调任务等。设计任务管理子系统，包括确定各类任务并把任务分配给适当的硬件或软件去执行。</a:t>
            </a:r>
            <a:endParaRPr lang="zh-CN" altLang="en-US" sz="2400" dirty="0"/>
          </a:p>
        </p:txBody>
      </p:sp>
      <p:sp>
        <p:nvSpPr>
          <p:cNvPr id="4" name="灯片编号占位符 5"/>
          <p:cNvSpPr>
            <a:spLocks noGrp="1"/>
          </p:cNvSpPr>
          <p:nvPr>
            <p:ph type="sldNum" sz="quarter" idx="12"/>
          </p:nvPr>
        </p:nvSpPr>
        <p:spPr/>
        <p:txBody>
          <a:bodyPr>
            <a:normAutofit/>
          </a:bodyPr>
          <a:lstStyle/>
          <a:p>
            <a:fld id="{246585C8-51B0-4F45-8920-9C59AF84757E}" type="slidenum">
              <a:rPr lang="en-US" altLang="zh-CN"/>
              <a:pPr/>
              <a:t>33</a:t>
            </a:fld>
            <a:endParaRPr lang="en-US" altLang="zh-CN"/>
          </a:p>
        </p:txBody>
      </p:sp>
      <p:pic>
        <p:nvPicPr>
          <p:cNvPr id="5" name="Picture 2"/>
          <p:cNvPicPr>
            <a:picLocks noChangeAspect="1" noChangeArrowheads="1"/>
          </p:cNvPicPr>
          <p:nvPr/>
        </p:nvPicPr>
        <p:blipFill>
          <a:blip r:embed="rId2"/>
          <a:srcRect/>
          <a:stretch>
            <a:fillRect/>
          </a:stretch>
        </p:blipFill>
        <p:spPr bwMode="auto">
          <a:xfrm>
            <a:off x="3857620" y="1571612"/>
            <a:ext cx="4714875" cy="361791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736600" y="214290"/>
            <a:ext cx="7124700" cy="863600"/>
          </a:xfrm>
        </p:spPr>
        <p:txBody>
          <a:bodyPr/>
          <a:lstStyle/>
          <a:p>
            <a:r>
              <a:rPr lang="en-US" altLang="zh-CN" b="0" i="1" dirty="0" smtClean="0"/>
              <a:t>8.7 </a:t>
            </a:r>
            <a:r>
              <a:rPr lang="zh-CN" altLang="en-US" b="0" i="1" dirty="0" smtClean="0"/>
              <a:t>设计数据管理子系统</a:t>
            </a:r>
          </a:p>
        </p:txBody>
      </p:sp>
      <p:sp>
        <p:nvSpPr>
          <p:cNvPr id="175107" name="Rectangle 3"/>
          <p:cNvSpPr>
            <a:spLocks noGrp="1" noChangeArrowheads="1"/>
          </p:cNvSpPr>
          <p:nvPr>
            <p:ph idx="1"/>
          </p:nvPr>
        </p:nvSpPr>
        <p:spPr>
          <a:xfrm>
            <a:off x="685800" y="1214422"/>
            <a:ext cx="7743852" cy="5072098"/>
          </a:xfrm>
        </p:spPr>
        <p:txBody>
          <a:bodyPr>
            <a:normAutofit fontScale="92500" lnSpcReduction="20000"/>
          </a:bodyPr>
          <a:lstStyle/>
          <a:p>
            <a:pPr algn="just">
              <a:spcAft>
                <a:spcPct val="40000"/>
              </a:spcAft>
              <a:buFont typeface="Wingdings" pitchFamily="2" charset="2"/>
              <a:buNone/>
            </a:pPr>
            <a:r>
              <a:rPr lang="zh-CN" altLang="en-US" sz="2600" b="1" dirty="0" smtClean="0">
                <a:latin typeface="宋体" pitchFamily="2" charset="-122"/>
              </a:rPr>
              <a:t>      </a:t>
            </a:r>
            <a:r>
              <a:rPr lang="zh-CN" altLang="en-US" sz="2400" dirty="0" smtClean="0">
                <a:latin typeface="宋体" pitchFamily="2" charset="-122"/>
              </a:rPr>
              <a:t>数据管理</a:t>
            </a:r>
            <a:r>
              <a:rPr lang="zh-CN" altLang="en-US" sz="2400" dirty="0">
                <a:latin typeface="宋体" pitchFamily="2" charset="-122"/>
              </a:rPr>
              <a:t>子系统是系统存储或检索对象的基本设施，它建立在某种数据存储管理系统之上的，并且隔离了数据管理模式的影响</a:t>
            </a:r>
            <a:r>
              <a:rPr lang="zh-CN" altLang="en-US" sz="2400" dirty="0" smtClean="0">
                <a:latin typeface="宋体" pitchFamily="2" charset="-122"/>
              </a:rPr>
              <a:t>。</a:t>
            </a:r>
            <a:endParaRPr lang="en-US" altLang="zh-CN" sz="2400" dirty="0" smtClean="0">
              <a:latin typeface="宋体" pitchFamily="2" charset="-122"/>
            </a:endParaRPr>
          </a:p>
          <a:p>
            <a:pPr algn="just">
              <a:spcAft>
                <a:spcPct val="40000"/>
              </a:spcAft>
              <a:buFont typeface="Wingdings" pitchFamily="2" charset="2"/>
              <a:buNone/>
            </a:pPr>
            <a:r>
              <a:rPr lang="en-US" altLang="zh-CN" sz="2400" dirty="0" smtClean="0">
                <a:solidFill>
                  <a:srgbClr val="FF0000"/>
                </a:solidFill>
                <a:latin typeface="宋体" pitchFamily="2" charset="-122"/>
              </a:rPr>
              <a:t>1</a:t>
            </a:r>
            <a:r>
              <a:rPr lang="zh-CN" altLang="en-US" sz="2400" dirty="0" smtClean="0">
                <a:solidFill>
                  <a:srgbClr val="FF0000"/>
                </a:solidFill>
                <a:latin typeface="宋体" pitchFamily="2" charset="-122"/>
              </a:rPr>
              <a:t>、选择数据存储管理模式</a:t>
            </a:r>
          </a:p>
          <a:p>
            <a:pPr algn="just">
              <a:spcAft>
                <a:spcPct val="40000"/>
              </a:spcAft>
              <a:buFont typeface="Wingdings" pitchFamily="2" charset="2"/>
              <a:buNone/>
            </a:pPr>
            <a:r>
              <a:rPr lang="zh-CN" altLang="en-US" sz="2400" dirty="0" smtClean="0"/>
              <a:t>	      不同的数据存储模式有不同的特点，适用范围也不同，设计者应根据系统的特点选择使用的模式</a:t>
            </a:r>
          </a:p>
          <a:p>
            <a:pPr algn="just">
              <a:spcAft>
                <a:spcPct val="40000"/>
              </a:spcAft>
              <a:buFont typeface="Wingdings" pitchFamily="2" charset="2"/>
              <a:buNone/>
            </a:pPr>
            <a:r>
              <a:rPr lang="en-US" altLang="zh-CN" sz="2400" dirty="0" smtClean="0"/>
              <a:t>		1</a:t>
            </a:r>
            <a:r>
              <a:rPr lang="zh-CN" altLang="en-US" sz="2400" dirty="0" smtClean="0"/>
              <a:t>）文件管理系统</a:t>
            </a:r>
          </a:p>
          <a:p>
            <a:pPr algn="just">
              <a:spcAft>
                <a:spcPct val="40000"/>
              </a:spcAft>
              <a:buFont typeface="Wingdings" pitchFamily="2" charset="2"/>
              <a:buNone/>
            </a:pPr>
            <a:r>
              <a:rPr lang="en-US" altLang="zh-CN" sz="2400" dirty="0" smtClean="0"/>
              <a:t>		2</a:t>
            </a:r>
            <a:r>
              <a:rPr lang="zh-CN" altLang="en-US" sz="2400" dirty="0" smtClean="0"/>
              <a:t>）关系数据库管理系统</a:t>
            </a:r>
          </a:p>
          <a:p>
            <a:pPr algn="just">
              <a:spcAft>
                <a:spcPct val="40000"/>
              </a:spcAft>
              <a:buFont typeface="Wingdings" pitchFamily="2" charset="2"/>
              <a:buNone/>
            </a:pPr>
            <a:r>
              <a:rPr lang="en-US" altLang="zh-CN" sz="2400" dirty="0" smtClean="0"/>
              <a:t>		3</a:t>
            </a:r>
            <a:r>
              <a:rPr lang="zh-CN" altLang="en-US" sz="2400" dirty="0" smtClean="0"/>
              <a:t>）面向对象数据库管理系统</a:t>
            </a:r>
            <a:endParaRPr lang="en-US" altLang="zh-CN" sz="2400" dirty="0" smtClean="0"/>
          </a:p>
          <a:p>
            <a:pPr algn="just">
              <a:spcAft>
                <a:spcPct val="40000"/>
              </a:spcAft>
              <a:buFont typeface="Wingdings" pitchFamily="2" charset="2"/>
              <a:buNone/>
            </a:pPr>
            <a:r>
              <a:rPr lang="en-US" altLang="zh-CN" sz="2400" dirty="0" smtClean="0"/>
              <a:t>		4</a:t>
            </a:r>
            <a:r>
              <a:rPr lang="zh-CN" altLang="en-US" sz="2400" dirty="0" smtClean="0"/>
              <a:t>）</a:t>
            </a:r>
            <a:r>
              <a:rPr lang="en-US" altLang="zh-CN" sz="2400" dirty="0" err="1" smtClean="0"/>
              <a:t>NoSQL</a:t>
            </a:r>
            <a:r>
              <a:rPr lang="zh-CN" altLang="en-US" sz="2400" dirty="0" smtClean="0"/>
              <a:t>，</a:t>
            </a:r>
            <a:r>
              <a:rPr lang="en-US" altLang="zh-CN" sz="2400" dirty="0" err="1" smtClean="0"/>
              <a:t>NewSQL</a:t>
            </a:r>
            <a:endParaRPr lang="en-US" altLang="zh-CN" sz="2400" dirty="0" smtClean="0"/>
          </a:p>
          <a:p>
            <a:pPr algn="just">
              <a:spcAft>
                <a:spcPct val="40000"/>
              </a:spcAft>
              <a:buFont typeface="Wingdings" pitchFamily="2" charset="2"/>
              <a:buNone/>
            </a:pPr>
            <a:r>
              <a:rPr lang="en-US" altLang="zh-CN" sz="2400" dirty="0" smtClean="0">
                <a:solidFill>
                  <a:srgbClr val="FF0000"/>
                </a:solidFill>
                <a:latin typeface="宋体" pitchFamily="2" charset="-122"/>
              </a:rPr>
              <a:t>2</a:t>
            </a:r>
            <a:r>
              <a:rPr lang="zh-CN" altLang="en-US" sz="2400" dirty="0" smtClean="0">
                <a:solidFill>
                  <a:srgbClr val="FF0000"/>
                </a:solidFill>
                <a:latin typeface="宋体" pitchFamily="2" charset="-122"/>
              </a:rPr>
              <a:t>、设计数据管理子系统</a:t>
            </a:r>
            <a:endParaRPr lang="en-US" altLang="zh-CN" sz="2400" dirty="0" smtClean="0">
              <a:solidFill>
                <a:srgbClr val="FF0000"/>
              </a:solidFill>
              <a:latin typeface="宋体" pitchFamily="2" charset="-122"/>
            </a:endParaRPr>
          </a:p>
          <a:p>
            <a:pPr algn="just">
              <a:spcAft>
                <a:spcPct val="40000"/>
              </a:spcAft>
              <a:buNone/>
            </a:pPr>
            <a:r>
              <a:rPr lang="zh-CN" altLang="en-US" sz="2400" dirty="0" smtClean="0"/>
              <a:t>        设计数据格式和设计相应的服务</a:t>
            </a:r>
            <a:endParaRPr lang="en-US" altLang="zh-CN" sz="24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3C8C9076-FD26-452F-8C46-B9CDFF9766D5}" type="slidenum">
              <a:rPr lang="en-US" altLang="zh-CN"/>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5107">
                                            <p:txEl>
                                              <p:pRg st="1" end="1"/>
                                            </p:txEl>
                                          </p:spTgt>
                                        </p:tgtEl>
                                        <p:attrNameLst>
                                          <p:attrName>style.visibility</p:attrName>
                                        </p:attrNameLst>
                                      </p:cBhvr>
                                      <p:to>
                                        <p:strVal val="visible"/>
                                      </p:to>
                                    </p:set>
                                    <p:anim calcmode="lin" valueType="num">
                                      <p:cBhvr additive="base">
                                        <p:cTn id="7" dur="5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510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5107">
                                            <p:txEl>
                                              <p:pRg st="2" end="2"/>
                                            </p:txEl>
                                          </p:spTgt>
                                        </p:tgtEl>
                                        <p:attrNameLst>
                                          <p:attrName>style.visibility</p:attrName>
                                        </p:attrNameLst>
                                      </p:cBhvr>
                                      <p:to>
                                        <p:strVal val="visible"/>
                                      </p:to>
                                    </p:set>
                                    <p:anim calcmode="lin" valueType="num">
                                      <p:cBhvr additive="base">
                                        <p:cTn id="11" dur="5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510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5107">
                                            <p:txEl>
                                              <p:pRg st="3" end="3"/>
                                            </p:txEl>
                                          </p:spTgt>
                                        </p:tgtEl>
                                        <p:attrNameLst>
                                          <p:attrName>style.visibility</p:attrName>
                                        </p:attrNameLst>
                                      </p:cBhvr>
                                      <p:to>
                                        <p:strVal val="visible"/>
                                      </p:to>
                                    </p:set>
                                    <p:anim calcmode="lin" valueType="num">
                                      <p:cBhvr additive="base">
                                        <p:cTn id="15" dur="500" fill="hold"/>
                                        <p:tgtEl>
                                          <p:spTgt spid="17510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510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5107">
                                            <p:txEl>
                                              <p:pRg st="4" end="4"/>
                                            </p:txEl>
                                          </p:spTgt>
                                        </p:tgtEl>
                                        <p:attrNameLst>
                                          <p:attrName>style.visibility</p:attrName>
                                        </p:attrNameLst>
                                      </p:cBhvr>
                                      <p:to>
                                        <p:strVal val="visible"/>
                                      </p:to>
                                    </p:set>
                                    <p:anim calcmode="lin" valueType="num">
                                      <p:cBhvr additive="base">
                                        <p:cTn id="19" dur="500" fill="hold"/>
                                        <p:tgtEl>
                                          <p:spTgt spid="17510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5107">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5107">
                                            <p:txEl>
                                              <p:pRg st="5" end="5"/>
                                            </p:txEl>
                                          </p:spTgt>
                                        </p:tgtEl>
                                        <p:attrNameLst>
                                          <p:attrName>style.visibility</p:attrName>
                                        </p:attrNameLst>
                                      </p:cBhvr>
                                      <p:to>
                                        <p:strVal val="visible"/>
                                      </p:to>
                                    </p:set>
                                    <p:anim calcmode="lin" valueType="num">
                                      <p:cBhvr additive="base">
                                        <p:cTn id="23" dur="500" fill="hold"/>
                                        <p:tgtEl>
                                          <p:spTgt spid="17510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107">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5107">
                                            <p:txEl>
                                              <p:pRg st="6" end="6"/>
                                            </p:txEl>
                                          </p:spTgt>
                                        </p:tgtEl>
                                        <p:attrNameLst>
                                          <p:attrName>style.visibility</p:attrName>
                                        </p:attrNameLst>
                                      </p:cBhvr>
                                      <p:to>
                                        <p:strVal val="visible"/>
                                      </p:to>
                                    </p:set>
                                    <p:anim calcmode="lin" valueType="num">
                                      <p:cBhvr additive="base">
                                        <p:cTn id="27" dur="500" fill="hold"/>
                                        <p:tgtEl>
                                          <p:spTgt spid="17510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75107">
                                            <p:txEl>
                                              <p:pRg st="7" end="7"/>
                                            </p:txEl>
                                          </p:spTgt>
                                        </p:tgtEl>
                                        <p:attrNameLst>
                                          <p:attrName>style.visibility</p:attrName>
                                        </p:attrNameLst>
                                      </p:cBhvr>
                                      <p:to>
                                        <p:strVal val="visible"/>
                                      </p:to>
                                    </p:set>
                                    <p:anim calcmode="lin" valueType="num">
                                      <p:cBhvr additive="base">
                                        <p:cTn id="33" dur="500" fill="hold"/>
                                        <p:tgtEl>
                                          <p:spTgt spid="175107">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75107">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5107">
                                            <p:txEl>
                                              <p:pRg st="8" end="8"/>
                                            </p:txEl>
                                          </p:spTgt>
                                        </p:tgtEl>
                                        <p:attrNameLst>
                                          <p:attrName>style.visibility</p:attrName>
                                        </p:attrNameLst>
                                      </p:cBhvr>
                                      <p:to>
                                        <p:strVal val="visible"/>
                                      </p:to>
                                    </p:set>
                                    <p:anim calcmode="lin" valueType="num">
                                      <p:cBhvr additive="base">
                                        <p:cTn id="37" dur="500" fill="hold"/>
                                        <p:tgtEl>
                                          <p:spTgt spid="175107">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5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920" y="1214422"/>
            <a:ext cx="8183880" cy="4643470"/>
          </a:xfrm>
        </p:spPr>
        <p:txBody>
          <a:bodyPr/>
          <a:lstStyle/>
          <a:p>
            <a:r>
              <a:rPr lang="zh-CN" altLang="en-US" dirty="0" smtClean="0">
                <a:ea typeface="宋体" charset="-122"/>
              </a:rPr>
              <a:t>有效地实现数据在永久性存储空间的存储与管理需要特定的软件系统支持。</a:t>
            </a:r>
            <a:endParaRPr lang="en-US" altLang="zh-CN" dirty="0" smtClean="0">
              <a:ea typeface="宋体" charset="-122"/>
            </a:endParaRPr>
          </a:p>
          <a:p>
            <a:r>
              <a:rPr lang="zh-CN" altLang="en-US" dirty="0" smtClean="0">
                <a:ea typeface="宋体" charset="-122"/>
              </a:rPr>
              <a:t>实现数据存储、检索、管理、维护的系统称作数据管理系统。包括文件系统和数据库管理系统（</a:t>
            </a:r>
            <a:r>
              <a:rPr lang="en-US" altLang="zh-CN" dirty="0" smtClean="0">
                <a:ea typeface="宋体" charset="-122"/>
              </a:rPr>
              <a:t>RDBMS</a:t>
            </a:r>
            <a:r>
              <a:rPr lang="zh-CN" altLang="en-US" dirty="0" smtClean="0">
                <a:ea typeface="宋体" charset="-122"/>
              </a:rPr>
              <a:t>、</a:t>
            </a:r>
            <a:r>
              <a:rPr lang="en-US" altLang="zh-CN" dirty="0" smtClean="0">
                <a:ea typeface="宋体" charset="-122"/>
              </a:rPr>
              <a:t>NoSQL</a:t>
            </a:r>
            <a:r>
              <a:rPr lang="zh-CN" altLang="en-US" dirty="0" smtClean="0">
                <a:ea typeface="宋体" charset="-122"/>
              </a:rPr>
              <a:t>）两大类。</a:t>
            </a:r>
            <a:endParaRPr lang="en-US" altLang="zh-CN" dirty="0" smtClean="0">
              <a:ea typeface="宋体" charset="-122"/>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35</a:t>
            </a:fld>
            <a:endParaRPr lang="en-US" altLang="zh-CN"/>
          </a:p>
        </p:txBody>
      </p:sp>
      <p:sp>
        <p:nvSpPr>
          <p:cNvPr id="6" name="Rectangle 2"/>
          <p:cNvSpPr>
            <a:spLocks noGrp="1" noChangeArrowheads="1"/>
          </p:cNvSpPr>
          <p:nvPr>
            <p:ph type="title"/>
          </p:nvPr>
        </p:nvSpPr>
        <p:spPr>
          <a:xfrm>
            <a:off x="736600" y="214290"/>
            <a:ext cx="7124700" cy="863600"/>
          </a:xfrm>
        </p:spPr>
        <p:txBody>
          <a:bodyPr/>
          <a:lstStyle/>
          <a:p>
            <a:r>
              <a:rPr lang="en-US" altLang="zh-CN" b="0" i="1" dirty="0" smtClean="0"/>
              <a:t>8.7 </a:t>
            </a:r>
            <a:r>
              <a:rPr lang="zh-CN" altLang="en-US" b="0" i="1" dirty="0" smtClean="0"/>
              <a:t>设计数据管理子系统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920" y="1214422"/>
            <a:ext cx="8183880" cy="4643470"/>
          </a:xfrm>
        </p:spPr>
        <p:txBody>
          <a:bodyPr/>
          <a:lstStyle/>
          <a:p>
            <a:r>
              <a:rPr lang="en-US" altLang="zh-CN" dirty="0" smtClean="0">
                <a:ea typeface="宋体" charset="-122"/>
              </a:rPr>
              <a:t>1</a:t>
            </a:r>
            <a:r>
              <a:rPr lang="zh-CN" altLang="en-US" dirty="0" smtClean="0">
                <a:ea typeface="宋体" charset="-122"/>
              </a:rPr>
              <a:t>、选择：</a:t>
            </a:r>
            <a:endParaRPr lang="en-US" altLang="zh-CN" dirty="0" smtClean="0">
              <a:ea typeface="宋体" charset="-122"/>
            </a:endParaRPr>
          </a:p>
          <a:p>
            <a:pPr lvl="1"/>
            <a:r>
              <a:rPr lang="en-US" altLang="zh-CN" dirty="0" smtClean="0">
                <a:ea typeface="宋体" charset="-122"/>
              </a:rPr>
              <a:t>1</a:t>
            </a:r>
            <a:r>
              <a:rPr lang="zh-CN" altLang="en-US" dirty="0" smtClean="0">
                <a:ea typeface="宋体" charset="-122"/>
              </a:rPr>
              <a:t>）非技术因素</a:t>
            </a:r>
          </a:p>
          <a:p>
            <a:pPr lvl="2"/>
            <a:r>
              <a:rPr lang="zh-CN" altLang="en-US" sz="2400" dirty="0" smtClean="0">
                <a:ea typeface="宋体" charset="-122"/>
              </a:rPr>
              <a:t>成熟度和先进性</a:t>
            </a:r>
          </a:p>
          <a:p>
            <a:pPr lvl="2"/>
            <a:r>
              <a:rPr lang="zh-CN" altLang="en-US" sz="2400" dirty="0" smtClean="0">
                <a:ea typeface="宋体" charset="-122"/>
              </a:rPr>
              <a:t>价格</a:t>
            </a:r>
          </a:p>
          <a:p>
            <a:pPr lvl="2"/>
            <a:r>
              <a:rPr lang="zh-CN" altLang="en-US" sz="2400" dirty="0" smtClean="0">
                <a:ea typeface="宋体" charset="-122"/>
              </a:rPr>
              <a:t>开发队伍的技术背景</a:t>
            </a:r>
          </a:p>
          <a:p>
            <a:pPr lvl="2"/>
            <a:r>
              <a:rPr lang="zh-CN" altLang="en-US" sz="2400" dirty="0" smtClean="0">
                <a:ea typeface="宋体" charset="-122"/>
              </a:rPr>
              <a:t>待开发系统与其他系统的关系</a:t>
            </a:r>
          </a:p>
          <a:p>
            <a:pPr lvl="1"/>
            <a:r>
              <a:rPr lang="en-US" altLang="zh-CN" dirty="0" smtClean="0">
                <a:ea typeface="宋体" charset="-122"/>
              </a:rPr>
              <a:t>2</a:t>
            </a:r>
            <a:r>
              <a:rPr lang="zh-CN" altLang="en-US" dirty="0" smtClean="0">
                <a:ea typeface="宋体" charset="-122"/>
              </a:rPr>
              <a:t>）技术因素</a:t>
            </a:r>
          </a:p>
          <a:p>
            <a:pPr lvl="2"/>
            <a:r>
              <a:rPr lang="zh-CN" altLang="en-US" sz="2400" dirty="0" smtClean="0">
                <a:ea typeface="宋体" charset="-122"/>
              </a:rPr>
              <a:t>对比文件系统、关系型和面向对象数据管理系统的优缺点。</a:t>
            </a:r>
          </a:p>
          <a:p>
            <a:pPr lvl="1"/>
            <a:r>
              <a:rPr lang="zh-CN" altLang="en-US" dirty="0" smtClean="0">
                <a:solidFill>
                  <a:srgbClr val="FF0000"/>
                </a:solidFill>
                <a:ea typeface="宋体" charset="-122"/>
              </a:rPr>
              <a:t>某些应用系统同时采用</a:t>
            </a:r>
            <a:r>
              <a:rPr lang="en-US" altLang="zh-CN" dirty="0" smtClean="0">
                <a:solidFill>
                  <a:srgbClr val="FF0000"/>
                </a:solidFill>
                <a:ea typeface="宋体" charset="-122"/>
              </a:rPr>
              <a:t>RDBMS</a:t>
            </a:r>
            <a:r>
              <a:rPr lang="zh-CN" altLang="en-US" dirty="0" smtClean="0">
                <a:solidFill>
                  <a:srgbClr val="FF0000"/>
                </a:solidFill>
                <a:ea typeface="宋体" charset="-122"/>
              </a:rPr>
              <a:t>和文件系统。</a:t>
            </a:r>
          </a:p>
          <a:p>
            <a:pPr lvl="1"/>
            <a:endParaRPr lang="en-US" altLang="zh-CN" dirty="0" smtClean="0">
              <a:ea typeface="宋体" charset="-122"/>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36</a:t>
            </a:fld>
            <a:endParaRPr lang="en-US" altLang="zh-CN"/>
          </a:p>
        </p:txBody>
      </p:sp>
      <p:sp>
        <p:nvSpPr>
          <p:cNvPr id="6" name="Rectangle 2"/>
          <p:cNvSpPr>
            <a:spLocks noGrp="1" noChangeArrowheads="1"/>
          </p:cNvSpPr>
          <p:nvPr>
            <p:ph type="title"/>
          </p:nvPr>
        </p:nvSpPr>
        <p:spPr>
          <a:xfrm>
            <a:off x="736600" y="214290"/>
            <a:ext cx="7124700" cy="863600"/>
          </a:xfrm>
        </p:spPr>
        <p:txBody>
          <a:bodyPr/>
          <a:lstStyle/>
          <a:p>
            <a:r>
              <a:rPr lang="en-US" altLang="zh-CN" b="0" i="1" dirty="0" smtClean="0"/>
              <a:t>8.7 </a:t>
            </a:r>
            <a:r>
              <a:rPr lang="zh-CN" altLang="en-US" b="0" i="1" dirty="0" smtClean="0"/>
              <a:t>设计数据管理子系统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2920" y="1214422"/>
            <a:ext cx="8183880" cy="4643470"/>
          </a:xfrm>
        </p:spPr>
        <p:txBody>
          <a:bodyPr/>
          <a:lstStyle/>
          <a:p>
            <a:r>
              <a:rPr lang="en-US" altLang="zh-CN" dirty="0" smtClean="0">
                <a:ea typeface="宋体" charset="-122"/>
              </a:rPr>
              <a:t>2</a:t>
            </a:r>
            <a:r>
              <a:rPr lang="zh-CN" altLang="en-US" dirty="0" smtClean="0">
                <a:ea typeface="宋体" charset="-122"/>
              </a:rPr>
              <a:t>、数据接口：</a:t>
            </a:r>
            <a:endParaRPr lang="en-US" altLang="zh-CN" dirty="0" smtClean="0">
              <a:ea typeface="宋体" charset="-122"/>
            </a:endParaRPr>
          </a:p>
          <a:p>
            <a:pPr lvl="1"/>
            <a:r>
              <a:rPr lang="zh-CN" altLang="en-US" dirty="0" smtClean="0">
                <a:ea typeface="宋体" charset="-122"/>
              </a:rPr>
              <a:t>数据接口部分是</a:t>
            </a:r>
            <a:r>
              <a:rPr lang="en-US" altLang="zh-CN" dirty="0" smtClean="0">
                <a:ea typeface="宋体" charset="-122"/>
              </a:rPr>
              <a:t>OOD</a:t>
            </a:r>
            <a:r>
              <a:rPr lang="zh-CN" altLang="en-US" dirty="0" smtClean="0">
                <a:ea typeface="宋体" charset="-122"/>
              </a:rPr>
              <a:t>模型中负责与具体的数据管理系统衔接的外围组成部分，它为系统中需要长期存储的对象提供了在选定的数据管理系统中进行数据存储与恢复的功能。</a:t>
            </a:r>
            <a:endParaRPr lang="en-US" altLang="zh-CN" dirty="0" smtClean="0">
              <a:ea typeface="宋体" charset="-122"/>
            </a:endParaRPr>
          </a:p>
          <a:p>
            <a:endParaRPr lang="en-US" altLang="zh-CN" dirty="0" smtClean="0">
              <a:ea typeface="宋体" charset="-122"/>
            </a:endParaRPr>
          </a:p>
          <a:p>
            <a:pPr lvl="1"/>
            <a:r>
              <a:rPr lang="zh-CN" altLang="en-US" dirty="0" smtClean="0">
                <a:ea typeface="宋体" charset="-122"/>
              </a:rPr>
              <a:t>对于较为流行的三层架构而言（表示层</a:t>
            </a:r>
            <a:r>
              <a:rPr lang="en-US" altLang="zh-CN" dirty="0" smtClean="0">
                <a:ea typeface="宋体" charset="-122"/>
              </a:rPr>
              <a:t>UI</a:t>
            </a:r>
            <a:r>
              <a:rPr lang="zh-CN" altLang="en-US" dirty="0" smtClean="0">
                <a:ea typeface="宋体" charset="-122"/>
              </a:rPr>
              <a:t>、业务逻辑层</a:t>
            </a:r>
            <a:r>
              <a:rPr lang="en-US" altLang="zh-CN" dirty="0" smtClean="0">
                <a:ea typeface="宋体" charset="-122"/>
              </a:rPr>
              <a:t>BLL/service</a:t>
            </a:r>
            <a:r>
              <a:rPr lang="zh-CN" altLang="en-US" dirty="0" smtClean="0">
                <a:ea typeface="宋体" charset="-122"/>
              </a:rPr>
              <a:t>、数据访问层</a:t>
            </a:r>
            <a:r>
              <a:rPr lang="en-US" altLang="zh-CN" dirty="0" smtClean="0">
                <a:ea typeface="宋体" charset="-122"/>
              </a:rPr>
              <a:t>DAL/</a:t>
            </a:r>
            <a:r>
              <a:rPr lang="en-US" altLang="zh-CN" dirty="0" err="1" smtClean="0">
                <a:ea typeface="宋体" charset="-122"/>
              </a:rPr>
              <a:t>dao</a:t>
            </a:r>
            <a:r>
              <a:rPr lang="zh-CN" altLang="en-US" dirty="0" smtClean="0">
                <a:ea typeface="宋体" charset="-122"/>
              </a:rPr>
              <a:t>），</a:t>
            </a:r>
            <a:r>
              <a:rPr lang="en-US" altLang="zh-CN" dirty="0" smtClean="0">
                <a:ea typeface="宋体" charset="-122"/>
              </a:rPr>
              <a:t>DAL/</a:t>
            </a:r>
            <a:r>
              <a:rPr lang="en-US" altLang="zh-CN" dirty="0" err="1" smtClean="0">
                <a:ea typeface="宋体" charset="-122"/>
              </a:rPr>
              <a:t>dao</a:t>
            </a:r>
            <a:r>
              <a:rPr lang="zh-CN" altLang="en-US" dirty="0" smtClean="0">
                <a:ea typeface="宋体" charset="-122"/>
              </a:rPr>
              <a:t>就负责数据接口部分的功能实现</a:t>
            </a:r>
            <a:endParaRPr lang="zh-CN" altLang="en-US" dirty="0" smtClean="0">
              <a:solidFill>
                <a:srgbClr val="FF0000"/>
              </a:solidFill>
              <a:ea typeface="宋体" charset="-122"/>
            </a:endParaRPr>
          </a:p>
          <a:p>
            <a:pPr lvl="1"/>
            <a:endParaRPr lang="en-US" altLang="zh-CN" dirty="0" smtClean="0">
              <a:ea typeface="宋体" charset="-122"/>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37</a:t>
            </a:fld>
            <a:endParaRPr lang="en-US" altLang="zh-CN"/>
          </a:p>
        </p:txBody>
      </p:sp>
      <p:sp>
        <p:nvSpPr>
          <p:cNvPr id="6" name="Rectangle 2"/>
          <p:cNvSpPr>
            <a:spLocks noGrp="1" noChangeArrowheads="1"/>
          </p:cNvSpPr>
          <p:nvPr>
            <p:ph type="title"/>
          </p:nvPr>
        </p:nvSpPr>
        <p:spPr>
          <a:xfrm>
            <a:off x="736600" y="214290"/>
            <a:ext cx="7124700" cy="863600"/>
          </a:xfrm>
        </p:spPr>
        <p:txBody>
          <a:bodyPr/>
          <a:lstStyle/>
          <a:p>
            <a:r>
              <a:rPr lang="en-US" altLang="zh-CN" b="0" i="1" dirty="0" smtClean="0"/>
              <a:t>8.7 </a:t>
            </a:r>
            <a:r>
              <a:rPr lang="zh-CN" altLang="en-US" b="0" i="1" dirty="0" smtClean="0"/>
              <a:t>设计数据管理子系统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357158" y="142852"/>
            <a:ext cx="8183880" cy="1051560"/>
          </a:xfrm>
        </p:spPr>
        <p:txBody>
          <a:bodyPr>
            <a:normAutofit/>
          </a:bodyPr>
          <a:lstStyle/>
          <a:p>
            <a:r>
              <a:rPr lang="en-US" altLang="zh-CN" sz="3200" b="0" i="1" dirty="0" smtClean="0"/>
              <a:t>8.7 </a:t>
            </a:r>
            <a:r>
              <a:rPr lang="zh-CN" altLang="en-US" sz="3200" b="0" i="1" dirty="0" smtClean="0"/>
              <a:t>设计数据管理子系统 *</a:t>
            </a:r>
            <a:endParaRPr lang="zh-CN" altLang="en-US" sz="3400" dirty="0" smtClean="0">
              <a:ea typeface="宋体" charset="-122"/>
            </a:endParaRPr>
          </a:p>
        </p:txBody>
      </p:sp>
      <p:sp>
        <p:nvSpPr>
          <p:cNvPr id="3" name="内容占位符 2"/>
          <p:cNvSpPr>
            <a:spLocks noGrp="1"/>
          </p:cNvSpPr>
          <p:nvPr>
            <p:ph idx="1"/>
          </p:nvPr>
        </p:nvSpPr>
        <p:spPr>
          <a:xfrm>
            <a:off x="467544" y="1447800"/>
            <a:ext cx="8219256" cy="4552968"/>
          </a:xfrm>
        </p:spPr>
        <p:txBody>
          <a:bodyPr>
            <a:normAutofit/>
          </a:bodyPr>
          <a:lstStyle/>
          <a:p>
            <a:r>
              <a:rPr lang="en-US" altLang="zh-CN" dirty="0" smtClean="0">
                <a:ea typeface="宋体" charset="-122"/>
              </a:rPr>
              <a:t>3</a:t>
            </a:r>
            <a:r>
              <a:rPr lang="zh-CN" altLang="en-US" dirty="0" smtClean="0">
                <a:ea typeface="宋体" charset="-122"/>
              </a:rPr>
              <a:t>、对象存储方案和数据接口的设计策略（</a:t>
            </a:r>
            <a:r>
              <a:rPr lang="en-US" altLang="zh-CN" dirty="0" smtClean="0">
                <a:ea typeface="宋体" charset="-122"/>
              </a:rPr>
              <a:t>RDBMS</a:t>
            </a:r>
            <a:r>
              <a:rPr lang="zh-CN" altLang="en-US" dirty="0" smtClean="0">
                <a:ea typeface="宋体" charset="-122"/>
              </a:rPr>
              <a:t>）</a:t>
            </a:r>
            <a:endParaRPr lang="en-US" altLang="zh-CN" dirty="0" smtClean="0">
              <a:ea typeface="宋体" charset="-122"/>
            </a:endParaRPr>
          </a:p>
          <a:p>
            <a:r>
              <a:rPr lang="zh-CN" altLang="en-US" sz="2600" b="1" dirty="0" smtClean="0">
                <a:ea typeface="宋体" charset="-122"/>
              </a:rPr>
              <a:t>（</a:t>
            </a:r>
            <a:r>
              <a:rPr lang="en-US" altLang="zh-CN" sz="2600" b="1" dirty="0" smtClean="0">
                <a:ea typeface="宋体" charset="-122"/>
              </a:rPr>
              <a:t>1</a:t>
            </a:r>
            <a:r>
              <a:rPr lang="zh-CN" altLang="en-US" sz="2600" b="1" dirty="0" smtClean="0">
                <a:ea typeface="宋体" charset="-122"/>
              </a:rPr>
              <a:t>）对象及其对数据库的使用</a:t>
            </a:r>
            <a:endParaRPr lang="en-US" altLang="zh-CN" sz="2600" b="1" dirty="0" smtClean="0">
              <a:ea typeface="宋体" charset="-122"/>
            </a:endParaRPr>
          </a:p>
          <a:p>
            <a:pPr lvl="1"/>
            <a:r>
              <a:rPr lang="zh-CN" altLang="en-US" sz="2600" dirty="0" smtClean="0">
                <a:ea typeface="宋体" charset="-122"/>
              </a:rPr>
              <a:t>应用层采用面向对象的范型；</a:t>
            </a:r>
            <a:endParaRPr lang="en-US" altLang="zh-CN" sz="2600" dirty="0" smtClean="0">
              <a:ea typeface="宋体" charset="-122"/>
            </a:endParaRPr>
          </a:p>
          <a:p>
            <a:pPr lvl="1"/>
            <a:r>
              <a:rPr lang="zh-CN" altLang="en-US" sz="2600" dirty="0" smtClean="0">
                <a:ea typeface="宋体" charset="-122"/>
              </a:rPr>
              <a:t>数据管理系统只是在底层为应用层的对象保存数据；</a:t>
            </a:r>
            <a:endParaRPr lang="en-US" altLang="zh-CN" sz="2600" dirty="0" smtClean="0">
              <a:ea typeface="宋体" charset="-122"/>
            </a:endParaRPr>
          </a:p>
          <a:p>
            <a:pPr lvl="1"/>
            <a:r>
              <a:rPr lang="zh-CN" altLang="en-US" sz="2600" dirty="0" smtClean="0">
                <a:ea typeface="宋体" charset="-122"/>
              </a:rPr>
              <a:t>应用系统只是通过一个接口（接口也由对象构成）来利用</a:t>
            </a:r>
            <a:r>
              <a:rPr lang="en-US" altLang="zh-CN" sz="2600" dirty="0" smtClean="0">
                <a:ea typeface="宋体" charset="-122"/>
              </a:rPr>
              <a:t>RDBMS</a:t>
            </a:r>
            <a:r>
              <a:rPr lang="zh-CN" altLang="en-US" sz="2600" dirty="0" smtClean="0">
                <a:ea typeface="宋体" charset="-122"/>
              </a:rPr>
              <a:t>来保存对象的数据。</a:t>
            </a:r>
          </a:p>
        </p:txBody>
      </p:sp>
      <p:sp>
        <p:nvSpPr>
          <p:cNvPr id="27652" name="灯片编号占位符 3"/>
          <p:cNvSpPr>
            <a:spLocks noGrp="1"/>
          </p:cNvSpPr>
          <p:nvPr>
            <p:ph type="sldNum" sz="quarter" idx="12"/>
          </p:nvPr>
        </p:nvSpPr>
        <p:spPr>
          <a:noFill/>
        </p:spPr>
        <p:txBody>
          <a:bodyPr/>
          <a:lstStyle/>
          <a:p>
            <a:fld id="{197AC64F-9E1A-443A-B9E4-29014076C8FC}" type="slidenum">
              <a:rPr lang="en-US" altLang="zh-CN" smtClean="0"/>
              <a:pPr/>
              <a:t>38</a:t>
            </a:fld>
            <a:endParaRPr lang="en-US" altLang="zh-CN" smtClean="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1357298"/>
            <a:ext cx="8001000" cy="4643470"/>
          </a:xfrm>
        </p:spPr>
        <p:txBody>
          <a:bodyPr/>
          <a:lstStyle/>
          <a:p>
            <a:r>
              <a:rPr lang="zh-CN" altLang="en-US" sz="2600" b="1" dirty="0" smtClean="0">
                <a:ea typeface="宋体" charset="-122"/>
              </a:rPr>
              <a:t>（</a:t>
            </a:r>
            <a:r>
              <a:rPr lang="en-US" altLang="zh-CN" sz="2600" b="1" dirty="0" smtClean="0">
                <a:ea typeface="宋体" charset="-122"/>
              </a:rPr>
              <a:t>1</a:t>
            </a:r>
            <a:r>
              <a:rPr lang="zh-CN" altLang="en-US" sz="2600" b="1" dirty="0" smtClean="0">
                <a:ea typeface="宋体" charset="-122"/>
              </a:rPr>
              <a:t>）对象及其对数据库的使用（续）</a:t>
            </a:r>
            <a:endParaRPr lang="en-US" altLang="zh-CN" sz="2600" b="1" dirty="0" smtClean="0">
              <a:solidFill>
                <a:srgbClr val="FF0000"/>
              </a:solidFill>
              <a:ea typeface="宋体" charset="-122"/>
            </a:endParaRPr>
          </a:p>
          <a:p>
            <a:r>
              <a:rPr lang="zh-CN" altLang="en-US" sz="2400" b="1" dirty="0" smtClean="0">
                <a:solidFill>
                  <a:srgbClr val="FF0000"/>
                </a:solidFill>
                <a:ea typeface="宋体" charset="-122"/>
              </a:rPr>
              <a:t>对象实例在内存空间和关系数据库中的存储映像的一种常见的方式</a:t>
            </a:r>
            <a:r>
              <a:rPr lang="zh-CN" altLang="en-US" sz="2400" dirty="0" smtClean="0">
                <a:ea typeface="宋体" charset="-122"/>
              </a:rPr>
              <a:t>是：一个类所有需要永久存储的对象都在数据库的一个表中对应着一个元组，而在内存空间中只是根据算法的需要创建一个或几个对象实例。需要对某个对象的数据进行操作时将其恢复到内存中，并进行相应的操作；操作完成后，又将其保存到数据库中。</a:t>
            </a:r>
            <a:endParaRPr lang="en-US" altLang="zh-CN" sz="2400" dirty="0" smtClean="0">
              <a:ea typeface="宋体" charset="-122"/>
            </a:endParaRPr>
          </a:p>
          <a:p>
            <a:r>
              <a:rPr lang="zh-CN" altLang="en-US" sz="2400" b="1" dirty="0" smtClean="0">
                <a:solidFill>
                  <a:srgbClr val="FF0000"/>
                </a:solidFill>
                <a:ea typeface="宋体" charset="-122"/>
              </a:rPr>
              <a:t>数据库的使用</a:t>
            </a:r>
            <a:r>
              <a:rPr lang="zh-CN" altLang="en-US" sz="2400" dirty="0" smtClean="0">
                <a:ea typeface="宋体" charset="-122"/>
              </a:rPr>
              <a:t>：</a:t>
            </a:r>
            <a:endParaRPr lang="en-US" altLang="zh-CN" sz="2400" dirty="0" smtClean="0">
              <a:ea typeface="宋体" charset="-122"/>
            </a:endParaRPr>
          </a:p>
          <a:p>
            <a:pPr lvl="1"/>
            <a:r>
              <a:rPr lang="zh-CN" altLang="en-US" dirty="0" smtClean="0">
                <a:ea typeface="宋体" charset="-122"/>
              </a:rPr>
              <a:t>对象可能非映射式地使用库中的数据；</a:t>
            </a:r>
            <a:endParaRPr lang="en-US" altLang="zh-CN" dirty="0" smtClean="0">
              <a:ea typeface="宋体" charset="-122"/>
            </a:endParaRPr>
          </a:p>
          <a:p>
            <a:pPr lvl="1"/>
            <a:r>
              <a:rPr lang="zh-CN" altLang="en-US" dirty="0" smtClean="0">
                <a:ea typeface="宋体" charset="-122"/>
              </a:rPr>
              <a:t>为了满足关系数据库的数据格式的要求，可能需要数据格式转换。</a:t>
            </a:r>
          </a:p>
        </p:txBody>
      </p:sp>
      <p:sp>
        <p:nvSpPr>
          <p:cNvPr id="28676" name="灯片编号占位符 3"/>
          <p:cNvSpPr>
            <a:spLocks noGrp="1"/>
          </p:cNvSpPr>
          <p:nvPr>
            <p:ph type="sldNum" sz="quarter" idx="12"/>
          </p:nvPr>
        </p:nvSpPr>
        <p:spPr>
          <a:noFill/>
        </p:spPr>
        <p:txBody>
          <a:bodyPr/>
          <a:lstStyle/>
          <a:p>
            <a:fld id="{64A6ADE6-97B7-4B7A-8476-41569DAFCBBB}" type="slidenum">
              <a:rPr lang="en-US" altLang="zh-CN" smtClean="0"/>
              <a:pPr/>
              <a:t>39</a:t>
            </a:fld>
            <a:endParaRPr lang="en-US" altLang="zh-CN" smtClean="0"/>
          </a:p>
        </p:txBody>
      </p:sp>
      <p:sp>
        <p:nvSpPr>
          <p:cNvPr id="8"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685800" y="1447800"/>
            <a:ext cx="8001000" cy="4481530"/>
          </a:xfrm>
        </p:spPr>
        <p:txBody>
          <a:bodyPr/>
          <a:lstStyle/>
          <a:p>
            <a:r>
              <a:rPr lang="zh-CN" altLang="en-US" sz="2600" b="1" dirty="0" smtClean="0">
                <a:ea typeface="宋体" charset="-122"/>
              </a:rPr>
              <a:t>（</a:t>
            </a:r>
            <a:r>
              <a:rPr lang="en-US" altLang="zh-CN" sz="2600" b="1" dirty="0" smtClean="0">
                <a:ea typeface="宋体" charset="-122"/>
              </a:rPr>
              <a:t>2</a:t>
            </a:r>
            <a:r>
              <a:rPr lang="zh-CN" altLang="en-US" sz="2600" b="1" dirty="0" smtClean="0">
                <a:ea typeface="宋体" charset="-122"/>
              </a:rPr>
              <a:t>）对象在数据库中的存放策略</a:t>
            </a:r>
            <a:endParaRPr lang="en-US" altLang="zh-CN" sz="2600" b="1" dirty="0" smtClean="0">
              <a:ea typeface="宋体" charset="-122"/>
            </a:endParaRPr>
          </a:p>
          <a:p>
            <a:pPr lvl="1"/>
            <a:r>
              <a:rPr lang="zh-CN" altLang="en-US" dirty="0" smtClean="0">
                <a:ea typeface="宋体" charset="-122"/>
              </a:rPr>
              <a:t>用关系数据库存放对象的基本策略是：把由每个类直接定义并需要永久存储的全部对象实例存放到一个数据库表中。</a:t>
            </a:r>
            <a:endParaRPr lang="en-US" altLang="zh-CN" dirty="0" smtClean="0">
              <a:ea typeface="宋体" charset="-122"/>
            </a:endParaRPr>
          </a:p>
          <a:p>
            <a:pPr lvl="1"/>
            <a:r>
              <a:rPr lang="zh-CN" altLang="en-US" dirty="0" smtClean="0">
                <a:ea typeface="宋体" charset="-122"/>
              </a:rPr>
              <a:t>每个类对应一个数据库表，经过规范化之后的类的每个属性对应数据库表的一个属性（列），类的每个对象实例对应数据库表中的一个元组（行）。</a:t>
            </a:r>
            <a:endParaRPr lang="en-US" altLang="zh-CN" dirty="0" smtClean="0">
              <a:ea typeface="宋体" charset="-122"/>
            </a:endParaRPr>
          </a:p>
          <a:p>
            <a:pPr lvl="1"/>
            <a:r>
              <a:rPr lang="zh-CN" altLang="en-US" dirty="0" smtClean="0">
                <a:ea typeface="宋体" charset="-122"/>
              </a:rPr>
              <a:t>本节只针对一个类对应一个数据库表的策略进行讨论。</a:t>
            </a:r>
          </a:p>
        </p:txBody>
      </p:sp>
      <p:sp>
        <p:nvSpPr>
          <p:cNvPr id="29700" name="灯片编号占位符 3"/>
          <p:cNvSpPr>
            <a:spLocks noGrp="1"/>
          </p:cNvSpPr>
          <p:nvPr>
            <p:ph type="sldNum" sz="quarter" idx="12"/>
          </p:nvPr>
        </p:nvSpPr>
        <p:spPr>
          <a:noFill/>
        </p:spPr>
        <p:txBody>
          <a:bodyPr/>
          <a:lstStyle/>
          <a:p>
            <a:fld id="{7583AD88-46D5-47F1-AF30-B34AA012AC9C}" type="slidenum">
              <a:rPr lang="en-US" altLang="zh-CN" smtClean="0"/>
              <a:pPr/>
              <a:t>40</a:t>
            </a:fld>
            <a:endParaRPr lang="en-US" altLang="zh-CN" smtClean="0"/>
          </a:p>
        </p:txBody>
      </p:sp>
      <p:sp>
        <p:nvSpPr>
          <p:cNvPr id="6"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685800" y="1447800"/>
            <a:ext cx="8001000" cy="4338654"/>
          </a:xfrm>
        </p:spPr>
        <p:txBody>
          <a:bodyPr/>
          <a:lstStyle/>
          <a:p>
            <a:r>
              <a:rPr lang="en-US" altLang="zh-CN" sz="2600" b="1" dirty="0" smtClean="0">
                <a:ea typeface="宋体" charset="-122"/>
              </a:rPr>
              <a:t>2</a:t>
            </a:r>
            <a:r>
              <a:rPr lang="zh-CN" altLang="en-US" sz="2600" b="1" dirty="0" smtClean="0">
                <a:ea typeface="宋体" charset="-122"/>
              </a:rPr>
              <a:t>、对象在数据库中的存放策略</a:t>
            </a:r>
            <a:endParaRPr lang="en-US" altLang="zh-CN" sz="2600" b="1" dirty="0" smtClean="0">
              <a:ea typeface="宋体" charset="-122"/>
            </a:endParaRPr>
          </a:p>
          <a:p>
            <a:r>
              <a:rPr lang="zh-CN" altLang="en-US" dirty="0" smtClean="0">
                <a:solidFill>
                  <a:srgbClr val="FF0000"/>
                </a:solidFill>
                <a:ea typeface="宋体" charset="-122"/>
              </a:rPr>
              <a:t>（</a:t>
            </a:r>
            <a:r>
              <a:rPr lang="en-US" altLang="zh-CN" dirty="0" smtClean="0">
                <a:solidFill>
                  <a:srgbClr val="FF0000"/>
                </a:solidFill>
                <a:ea typeface="宋体" charset="-122"/>
              </a:rPr>
              <a:t>1</a:t>
            </a:r>
            <a:r>
              <a:rPr lang="zh-CN" altLang="en-US" dirty="0" smtClean="0">
                <a:solidFill>
                  <a:srgbClr val="FF0000"/>
                </a:solidFill>
                <a:ea typeface="宋体" charset="-122"/>
              </a:rPr>
              <a:t>）对象数据的规范化</a:t>
            </a:r>
            <a:endParaRPr lang="en-US" altLang="zh-CN" dirty="0" smtClean="0">
              <a:solidFill>
                <a:srgbClr val="FF0000"/>
              </a:solidFill>
              <a:ea typeface="宋体" charset="-122"/>
            </a:endParaRPr>
          </a:p>
          <a:p>
            <a:pPr lvl="1"/>
            <a:r>
              <a:rPr lang="zh-CN" altLang="en-US" dirty="0" smtClean="0">
                <a:ea typeface="宋体" charset="-122"/>
              </a:rPr>
              <a:t>关系数据库用范式来衡量规范化的高低，至少满足第一范式。</a:t>
            </a:r>
            <a:endParaRPr lang="en-US" altLang="zh-CN" dirty="0" smtClean="0">
              <a:ea typeface="宋体" charset="-122"/>
            </a:endParaRPr>
          </a:p>
          <a:p>
            <a:pPr lvl="1"/>
            <a:r>
              <a:rPr lang="zh-CN" altLang="en-US" dirty="0" smtClean="0">
                <a:ea typeface="宋体" charset="-122"/>
              </a:rPr>
              <a:t>规范化要付出一定的代价：</a:t>
            </a:r>
            <a:r>
              <a:rPr lang="en-US" altLang="zh-CN" dirty="0" smtClean="0">
                <a:ea typeface="宋体" charset="-122"/>
              </a:rPr>
              <a:t>1</a:t>
            </a:r>
            <a:r>
              <a:rPr lang="zh-CN" altLang="en-US" dirty="0" smtClean="0">
                <a:ea typeface="宋体" charset="-122"/>
              </a:rPr>
              <a:t>）规范化后的数据格式对问题域的事物特征的映射不如之前直接；</a:t>
            </a:r>
            <a:r>
              <a:rPr lang="en-US" altLang="zh-CN" dirty="0" smtClean="0">
                <a:ea typeface="宋体" charset="-122"/>
              </a:rPr>
              <a:t>2</a:t>
            </a:r>
            <a:r>
              <a:rPr lang="zh-CN" altLang="en-US" dirty="0" smtClean="0">
                <a:ea typeface="宋体" charset="-122"/>
              </a:rPr>
              <a:t>）第二范式及更高的范式的规范化通常要增加表的数量以及多表连接查询的开销。</a:t>
            </a:r>
            <a:endParaRPr lang="en-US" altLang="zh-CN" dirty="0" smtClean="0">
              <a:ea typeface="宋体" charset="-122"/>
            </a:endParaRPr>
          </a:p>
          <a:p>
            <a:pPr lvl="1"/>
            <a:r>
              <a:rPr lang="zh-CN" altLang="en-US" dirty="0" smtClean="0">
                <a:ea typeface="宋体" charset="-122"/>
              </a:rPr>
              <a:t>并非规范化的程度越高越好，要根据系统的实际情况权衡利弊。</a:t>
            </a:r>
            <a:endParaRPr lang="en-US" altLang="zh-CN" dirty="0" smtClean="0">
              <a:ea typeface="宋体" charset="-122"/>
            </a:endParaRPr>
          </a:p>
        </p:txBody>
      </p:sp>
      <p:sp>
        <p:nvSpPr>
          <p:cNvPr id="30724" name="灯片编号占位符 3"/>
          <p:cNvSpPr>
            <a:spLocks noGrp="1"/>
          </p:cNvSpPr>
          <p:nvPr>
            <p:ph type="sldNum" sz="quarter" idx="12"/>
          </p:nvPr>
        </p:nvSpPr>
        <p:spPr>
          <a:noFill/>
        </p:spPr>
        <p:txBody>
          <a:bodyPr/>
          <a:lstStyle/>
          <a:p>
            <a:fld id="{D9E9653B-2624-43FF-BC47-8BC4C952A320}" type="slidenum">
              <a:rPr lang="en-US" altLang="zh-CN" smtClean="0"/>
              <a:pPr/>
              <a:t>41</a:t>
            </a:fld>
            <a:endParaRPr lang="en-US" altLang="zh-CN" smtClean="0"/>
          </a:p>
        </p:txBody>
      </p:sp>
      <p:sp>
        <p:nvSpPr>
          <p:cNvPr id="7"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685800" y="1447800"/>
            <a:ext cx="8001000" cy="4338654"/>
          </a:xfrm>
        </p:spPr>
        <p:txBody>
          <a:bodyPr/>
          <a:lstStyle/>
          <a:p>
            <a:r>
              <a:rPr lang="en-US" altLang="zh-CN" sz="2600" b="1" dirty="0" smtClean="0">
                <a:ea typeface="宋体" charset="-122"/>
              </a:rPr>
              <a:t>2</a:t>
            </a:r>
            <a:r>
              <a:rPr lang="zh-CN" altLang="en-US" sz="2600" b="1" dirty="0" smtClean="0">
                <a:ea typeface="宋体" charset="-122"/>
              </a:rPr>
              <a:t>、对象在数据库中的存放策略</a:t>
            </a:r>
            <a:endParaRPr lang="en-US" altLang="zh-CN" sz="2600" b="1" dirty="0" smtClean="0">
              <a:ea typeface="宋体" charset="-122"/>
            </a:endParaRPr>
          </a:p>
          <a:p>
            <a:r>
              <a:rPr lang="zh-CN" altLang="en-US" dirty="0" smtClean="0">
                <a:solidFill>
                  <a:srgbClr val="FF0000"/>
                </a:solidFill>
                <a:ea typeface="宋体" charset="-122"/>
              </a:rPr>
              <a:t>（</a:t>
            </a:r>
            <a:r>
              <a:rPr lang="en-US" altLang="zh-CN" dirty="0" smtClean="0">
                <a:solidFill>
                  <a:srgbClr val="FF0000"/>
                </a:solidFill>
                <a:ea typeface="宋体" charset="-122"/>
              </a:rPr>
              <a:t>1</a:t>
            </a:r>
            <a:r>
              <a:rPr lang="zh-CN" altLang="en-US" dirty="0" smtClean="0">
                <a:solidFill>
                  <a:srgbClr val="FF0000"/>
                </a:solidFill>
                <a:ea typeface="宋体" charset="-122"/>
              </a:rPr>
              <a:t>）对象数据的规范化</a:t>
            </a:r>
            <a:endParaRPr lang="en-US" altLang="zh-CN" dirty="0" smtClean="0">
              <a:solidFill>
                <a:srgbClr val="FF0000"/>
              </a:solidFill>
              <a:ea typeface="宋体" charset="-122"/>
            </a:endParaRPr>
          </a:p>
          <a:p>
            <a:pPr lvl="1"/>
            <a:r>
              <a:rPr lang="zh-CN" altLang="en-US" dirty="0" smtClean="0">
                <a:ea typeface="宋体" charset="-122"/>
              </a:rPr>
              <a:t>恰当地运用面向对象方法可以得到符合较高范式要求的数据库表，因为面向对象强调以对象为单位来组织数据，避免了描述不同事物特征的数据组织到一个表中；此外可通过新增类解决多对多关联，从而避免在描述一类事物特征的表中包含许多描述各类事物之间关联的信息。</a:t>
            </a:r>
            <a:endParaRPr lang="en-US" altLang="zh-CN" dirty="0" smtClean="0">
              <a:ea typeface="宋体" charset="-122"/>
            </a:endParaRPr>
          </a:p>
          <a:p>
            <a:pPr lvl="1"/>
            <a:r>
              <a:rPr lang="zh-CN" altLang="en-US" dirty="0" smtClean="0">
                <a:ea typeface="宋体" charset="-122"/>
              </a:rPr>
              <a:t>但这并不能保证面向对象方法总能得到规范化的结果</a:t>
            </a:r>
            <a:endParaRPr lang="en-US" altLang="zh-CN" dirty="0" smtClean="0">
              <a:ea typeface="宋体" charset="-122"/>
            </a:endParaRPr>
          </a:p>
          <a:p>
            <a:pPr lvl="1"/>
            <a:endParaRPr lang="en-US" altLang="zh-CN" dirty="0" smtClean="0">
              <a:ea typeface="宋体" charset="-122"/>
            </a:endParaRPr>
          </a:p>
        </p:txBody>
      </p:sp>
      <p:sp>
        <p:nvSpPr>
          <p:cNvPr id="30724" name="灯片编号占位符 3"/>
          <p:cNvSpPr>
            <a:spLocks noGrp="1"/>
          </p:cNvSpPr>
          <p:nvPr>
            <p:ph type="sldNum" sz="quarter" idx="12"/>
          </p:nvPr>
        </p:nvSpPr>
        <p:spPr>
          <a:noFill/>
        </p:spPr>
        <p:txBody>
          <a:bodyPr/>
          <a:lstStyle/>
          <a:p>
            <a:fld id="{D9E9653B-2624-43FF-BC47-8BC4C952A320}" type="slidenum">
              <a:rPr lang="en-US" altLang="zh-CN" smtClean="0"/>
              <a:pPr/>
              <a:t>42</a:t>
            </a:fld>
            <a:endParaRPr lang="en-US" altLang="zh-CN" smtClean="0"/>
          </a:p>
        </p:txBody>
      </p:sp>
      <p:sp>
        <p:nvSpPr>
          <p:cNvPr id="7"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685800" y="1447800"/>
            <a:ext cx="8001000" cy="4624406"/>
          </a:xfrm>
        </p:spPr>
        <p:txBody>
          <a:bodyPr>
            <a:normAutofit lnSpcReduction="10000"/>
          </a:bodyPr>
          <a:lstStyle/>
          <a:p>
            <a:r>
              <a:rPr lang="en-US" altLang="zh-CN" sz="2600" b="1" dirty="0" smtClean="0">
                <a:ea typeface="宋体" charset="-122"/>
              </a:rPr>
              <a:t>2</a:t>
            </a:r>
            <a:r>
              <a:rPr lang="zh-CN" altLang="en-US" sz="2600" b="1" dirty="0" smtClean="0">
                <a:ea typeface="宋体" charset="-122"/>
              </a:rPr>
              <a:t>、对象在数据库中的存放策略</a:t>
            </a:r>
            <a:endParaRPr lang="en-US" altLang="zh-CN" sz="2600" b="1" dirty="0" smtClean="0">
              <a:ea typeface="宋体" charset="-122"/>
            </a:endParaRPr>
          </a:p>
          <a:p>
            <a:r>
              <a:rPr lang="zh-CN" altLang="en-US" dirty="0" smtClean="0">
                <a:solidFill>
                  <a:srgbClr val="FF0000"/>
                </a:solidFill>
                <a:ea typeface="宋体" charset="-122"/>
              </a:rPr>
              <a:t>（</a:t>
            </a:r>
            <a:r>
              <a:rPr lang="en-US" altLang="zh-CN" dirty="0" smtClean="0">
                <a:solidFill>
                  <a:srgbClr val="FF0000"/>
                </a:solidFill>
                <a:ea typeface="宋体" charset="-122"/>
              </a:rPr>
              <a:t>2</a:t>
            </a:r>
            <a:r>
              <a:rPr lang="zh-CN" altLang="en-US" dirty="0" smtClean="0">
                <a:solidFill>
                  <a:srgbClr val="FF0000"/>
                </a:solidFill>
                <a:ea typeface="宋体" charset="-122"/>
              </a:rPr>
              <a:t>）修改类图</a:t>
            </a:r>
            <a:endParaRPr lang="en-US" altLang="zh-CN" dirty="0" smtClean="0">
              <a:solidFill>
                <a:srgbClr val="FF0000"/>
              </a:solidFill>
              <a:ea typeface="宋体" charset="-122"/>
            </a:endParaRPr>
          </a:p>
          <a:p>
            <a:pPr lvl="1"/>
            <a:r>
              <a:rPr lang="en-US" altLang="zh-CN" dirty="0" smtClean="0">
                <a:ea typeface="宋体" charset="-122"/>
              </a:rPr>
              <a:t>A. </a:t>
            </a:r>
            <a:r>
              <a:rPr lang="zh-CN" altLang="en-US" dirty="0" smtClean="0">
                <a:ea typeface="宋体" charset="-122"/>
              </a:rPr>
              <a:t>保持原先的类图不变，只是按照规范化的结果定义数据库表</a:t>
            </a:r>
            <a:endParaRPr lang="en-US" altLang="zh-CN" dirty="0" smtClean="0">
              <a:ea typeface="宋体" charset="-122"/>
            </a:endParaRPr>
          </a:p>
          <a:p>
            <a:pPr lvl="1"/>
            <a:r>
              <a:rPr lang="en-US" altLang="zh-CN" dirty="0" smtClean="0">
                <a:ea typeface="宋体" charset="-122"/>
              </a:rPr>
              <a:t>B. </a:t>
            </a:r>
            <a:r>
              <a:rPr lang="zh-CN" altLang="en-US" dirty="0" smtClean="0">
                <a:ea typeface="宋体" charset="-122"/>
              </a:rPr>
              <a:t>按照规范化的要求修改类图。包括类内部的属性变化（第一范式），以及类的分解</a:t>
            </a:r>
            <a:endParaRPr lang="en-US" altLang="zh-CN" dirty="0" smtClean="0">
              <a:ea typeface="宋体" charset="-122"/>
            </a:endParaRPr>
          </a:p>
          <a:p>
            <a:r>
              <a:rPr lang="zh-CN" altLang="en-US" dirty="0" smtClean="0">
                <a:solidFill>
                  <a:srgbClr val="FF0000"/>
                </a:solidFill>
                <a:ea typeface="宋体" charset="-122"/>
              </a:rPr>
              <a:t>（</a:t>
            </a:r>
            <a:r>
              <a:rPr lang="en-US" altLang="zh-CN" dirty="0" smtClean="0">
                <a:solidFill>
                  <a:srgbClr val="FF0000"/>
                </a:solidFill>
                <a:ea typeface="宋体" charset="-122"/>
              </a:rPr>
              <a:t>3</a:t>
            </a:r>
            <a:r>
              <a:rPr lang="zh-CN" altLang="en-US" dirty="0" smtClean="0">
                <a:solidFill>
                  <a:srgbClr val="FF0000"/>
                </a:solidFill>
                <a:ea typeface="宋体" charset="-122"/>
              </a:rPr>
              <a:t>）确定关键字</a:t>
            </a:r>
            <a:endParaRPr lang="en-US" altLang="zh-CN" dirty="0" smtClean="0">
              <a:solidFill>
                <a:srgbClr val="FF0000"/>
              </a:solidFill>
              <a:ea typeface="宋体" charset="-122"/>
            </a:endParaRPr>
          </a:p>
          <a:p>
            <a:pPr lvl="1"/>
            <a:r>
              <a:rPr lang="zh-CN" altLang="en-US" dirty="0" smtClean="0">
                <a:ea typeface="宋体" charset="-122"/>
              </a:rPr>
              <a:t>用尽可能少的属性（一个最好）作为关键字。很多情况下，可人为地给找不到简单关键字的类增加一个可以单独作为关键字的属性，如“编号”，尤其对实体事物很有效。另外，考虑用该实体对象的“编号”属性作为外键来表示关联</a:t>
            </a:r>
            <a:endParaRPr lang="en-US" altLang="zh-CN" dirty="0" smtClean="0">
              <a:ea typeface="宋体" charset="-122"/>
            </a:endParaRPr>
          </a:p>
          <a:p>
            <a:pPr lvl="1"/>
            <a:endParaRPr lang="en-US" altLang="zh-CN" dirty="0" smtClean="0">
              <a:ea typeface="宋体" charset="-122"/>
            </a:endParaRPr>
          </a:p>
        </p:txBody>
      </p:sp>
      <p:sp>
        <p:nvSpPr>
          <p:cNvPr id="30724" name="灯片编号占位符 3"/>
          <p:cNvSpPr>
            <a:spLocks noGrp="1"/>
          </p:cNvSpPr>
          <p:nvPr>
            <p:ph type="sldNum" sz="quarter" idx="12"/>
          </p:nvPr>
        </p:nvSpPr>
        <p:spPr>
          <a:noFill/>
        </p:spPr>
        <p:txBody>
          <a:bodyPr/>
          <a:lstStyle/>
          <a:p>
            <a:fld id="{D9E9653B-2624-43FF-BC47-8BC4C952A320}" type="slidenum">
              <a:rPr lang="en-US" altLang="zh-CN" smtClean="0"/>
              <a:pPr/>
              <a:t>43</a:t>
            </a:fld>
            <a:endParaRPr lang="en-US" altLang="zh-CN" smtClean="0"/>
          </a:p>
        </p:txBody>
      </p:sp>
      <p:sp>
        <p:nvSpPr>
          <p:cNvPr id="7"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pRg st="4" end="4"/>
                                            </p:txEl>
                                          </p:spTgt>
                                        </p:tgtEl>
                                        <p:attrNameLst>
                                          <p:attrName>style.visibility</p:attrName>
                                        </p:attrNameLst>
                                      </p:cBhvr>
                                      <p:to>
                                        <p:strVal val="visible"/>
                                      </p:to>
                                    </p:set>
                                    <p:anim calcmode="lin" valueType="num">
                                      <p:cBhvr additive="base">
                                        <p:cTn id="7" dur="500" fill="hold"/>
                                        <p:tgtEl>
                                          <p:spTgt spid="3072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23">
                                            <p:txEl>
                                              <p:pRg st="5" end="5"/>
                                            </p:txEl>
                                          </p:spTgt>
                                        </p:tgtEl>
                                        <p:attrNameLst>
                                          <p:attrName>style.visibility</p:attrName>
                                        </p:attrNameLst>
                                      </p:cBhvr>
                                      <p:to>
                                        <p:strVal val="visible"/>
                                      </p:to>
                                    </p:set>
                                    <p:anim calcmode="lin" valueType="num">
                                      <p:cBhvr additive="base">
                                        <p:cTn id="11" dur="500" fill="hold"/>
                                        <p:tgtEl>
                                          <p:spTgt spid="3072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685800" y="1447800"/>
            <a:ext cx="8001000" cy="4410092"/>
          </a:xfrm>
        </p:spPr>
        <p:txBody>
          <a:bodyPr>
            <a:normAutofit/>
          </a:bodyPr>
          <a:lstStyle/>
          <a:p>
            <a:r>
              <a:rPr lang="en-US" altLang="zh-CN" sz="2600" b="1" dirty="0" smtClean="0">
                <a:ea typeface="宋体" charset="-122"/>
              </a:rPr>
              <a:t>2</a:t>
            </a:r>
            <a:r>
              <a:rPr lang="zh-CN" altLang="en-US" sz="2600" b="1" dirty="0" smtClean="0">
                <a:ea typeface="宋体" charset="-122"/>
              </a:rPr>
              <a:t>、对象在数据库中的存放策略</a:t>
            </a:r>
            <a:endParaRPr lang="en-US" altLang="zh-CN" sz="2600" b="1" dirty="0" smtClean="0">
              <a:ea typeface="宋体" charset="-122"/>
            </a:endParaRPr>
          </a:p>
          <a:p>
            <a:r>
              <a:rPr lang="zh-CN" altLang="en-US" dirty="0" smtClean="0">
                <a:solidFill>
                  <a:srgbClr val="FF0000"/>
                </a:solidFill>
                <a:ea typeface="宋体" charset="-122"/>
              </a:rPr>
              <a:t>（</a:t>
            </a:r>
            <a:r>
              <a:rPr lang="en-US" altLang="zh-CN" dirty="0" smtClean="0">
                <a:solidFill>
                  <a:srgbClr val="FF0000"/>
                </a:solidFill>
                <a:ea typeface="宋体" charset="-122"/>
              </a:rPr>
              <a:t>4</a:t>
            </a:r>
            <a:r>
              <a:rPr lang="zh-CN" altLang="en-US" dirty="0" smtClean="0">
                <a:solidFill>
                  <a:srgbClr val="FF0000"/>
                </a:solidFill>
                <a:ea typeface="宋体" charset="-122"/>
              </a:rPr>
              <a:t>）从类图到数据库的映射</a:t>
            </a:r>
            <a:endParaRPr lang="en-US" altLang="zh-CN" dirty="0" smtClean="0">
              <a:solidFill>
                <a:srgbClr val="FF0000"/>
              </a:solidFill>
              <a:ea typeface="宋体" charset="-122"/>
            </a:endParaRPr>
          </a:p>
          <a:p>
            <a:pPr lvl="1"/>
            <a:r>
              <a:rPr lang="zh-CN" altLang="en-US" dirty="0" smtClean="0">
                <a:ea typeface="宋体" charset="-122"/>
              </a:rPr>
              <a:t>一般</a:t>
            </a:r>
            <a:r>
              <a:rPr lang="en-US" altLang="zh-CN" dirty="0" smtClean="0">
                <a:ea typeface="宋体" charset="-122"/>
              </a:rPr>
              <a:t>-</a:t>
            </a:r>
            <a:r>
              <a:rPr lang="zh-CN" altLang="en-US" dirty="0" smtClean="0">
                <a:ea typeface="宋体" charset="-122"/>
              </a:rPr>
              <a:t>特殊结构：每个类分别对应一张表</a:t>
            </a:r>
            <a:endParaRPr lang="en-US" altLang="zh-CN" dirty="0" smtClean="0">
              <a:ea typeface="宋体" charset="-122"/>
            </a:endParaRPr>
          </a:p>
          <a:p>
            <a:pPr lvl="1"/>
            <a:r>
              <a:rPr lang="zh-CN" altLang="en-US" dirty="0" smtClean="0">
                <a:ea typeface="宋体" charset="-122"/>
              </a:rPr>
              <a:t>关联：一对一、一对多、多对多</a:t>
            </a:r>
            <a:endParaRPr lang="en-US" altLang="zh-CN" dirty="0" smtClean="0">
              <a:ea typeface="宋体" charset="-122"/>
            </a:endParaRPr>
          </a:p>
          <a:p>
            <a:pPr lvl="1"/>
            <a:r>
              <a:rPr lang="zh-CN" altLang="en-US" dirty="0" smtClean="0">
                <a:ea typeface="宋体" charset="-122"/>
              </a:rPr>
              <a:t>整体</a:t>
            </a:r>
            <a:r>
              <a:rPr lang="en-US" altLang="zh-CN" dirty="0" smtClean="0">
                <a:ea typeface="宋体" charset="-122"/>
              </a:rPr>
              <a:t>-</a:t>
            </a:r>
            <a:r>
              <a:rPr lang="zh-CN" altLang="en-US" dirty="0" smtClean="0">
                <a:ea typeface="宋体" charset="-122"/>
              </a:rPr>
              <a:t>部分结构：松散的方式参考关联的处理</a:t>
            </a:r>
            <a:endParaRPr lang="en-US" altLang="zh-CN" dirty="0" smtClean="0">
              <a:ea typeface="宋体" charset="-122"/>
            </a:endParaRPr>
          </a:p>
        </p:txBody>
      </p:sp>
      <p:sp>
        <p:nvSpPr>
          <p:cNvPr id="30724" name="灯片编号占位符 3"/>
          <p:cNvSpPr>
            <a:spLocks noGrp="1"/>
          </p:cNvSpPr>
          <p:nvPr>
            <p:ph type="sldNum" sz="quarter" idx="12"/>
          </p:nvPr>
        </p:nvSpPr>
        <p:spPr>
          <a:noFill/>
        </p:spPr>
        <p:txBody>
          <a:bodyPr/>
          <a:lstStyle/>
          <a:p>
            <a:fld id="{D9E9653B-2624-43FF-BC47-8BC4C952A320}" type="slidenum">
              <a:rPr lang="en-US" altLang="zh-CN" smtClean="0"/>
              <a:pPr/>
              <a:t>44</a:t>
            </a:fld>
            <a:endParaRPr lang="en-US" altLang="zh-CN" smtClean="0"/>
          </a:p>
        </p:txBody>
      </p:sp>
      <p:sp>
        <p:nvSpPr>
          <p:cNvPr id="7" name="标题 1"/>
          <p:cNvSpPr txBox="1">
            <a:spLocks/>
          </p:cNvSpPr>
          <p:nvPr/>
        </p:nvSpPr>
        <p:spPr>
          <a:xfrm>
            <a:off x="357158" y="142852"/>
            <a:ext cx="8183880" cy="1051560"/>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8.7 </a:t>
            </a:r>
            <a:r>
              <a:rPr kumimoji="0" lang="zh-CN" altLang="en-US" sz="3200" b="0" i="1"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mj-ea"/>
                <a:cs typeface="+mj-cs"/>
              </a:rPr>
              <a:t>设计数据管理子系统 *</a:t>
            </a:r>
            <a:endParaRPr kumimoji="0" lang="zh-CN" altLang="en-US" sz="3400" b="1" i="0" u="none" strike="noStrike" kern="1200" cap="none" spc="0" normalizeH="0" baseline="0" noProof="0" dirty="0" smtClean="0">
              <a:ln>
                <a:noFill/>
              </a:ln>
              <a:solidFill>
                <a:schemeClr val="accent1">
                  <a:tint val="88000"/>
                  <a:satMod val="150000"/>
                </a:schemeClr>
              </a:solidFill>
              <a:effectLst>
                <a:outerShdw blurRad="53975" dist="22860" dir="5400000" algn="tl" rotWithShape="0">
                  <a:srgbClr val="000000">
                    <a:alpha val="55000"/>
                  </a:srgbClr>
                </a:outerShdw>
              </a:effectLst>
              <a:uLnTx/>
              <a:uFillTx/>
              <a:latin typeface="+mj-lt"/>
              <a:ea typeface="宋体" charset="-122"/>
              <a:cs typeface="+mj-cs"/>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736600" y="285728"/>
            <a:ext cx="7124700" cy="863600"/>
          </a:xfrm>
        </p:spPr>
        <p:txBody>
          <a:bodyPr/>
          <a:lstStyle/>
          <a:p>
            <a:r>
              <a:rPr lang="en-US" altLang="zh-CN" b="0" i="1" dirty="0" smtClean="0"/>
              <a:t>8.8 </a:t>
            </a:r>
            <a:r>
              <a:rPr lang="zh-CN" altLang="en-US" b="0" i="1" dirty="0" smtClean="0"/>
              <a:t>设计类中的服务</a:t>
            </a:r>
          </a:p>
        </p:txBody>
      </p:sp>
      <p:sp>
        <p:nvSpPr>
          <p:cNvPr id="192515" name="Rectangle 3"/>
          <p:cNvSpPr>
            <a:spLocks noGrp="1" noChangeArrowheads="1"/>
          </p:cNvSpPr>
          <p:nvPr>
            <p:ph idx="1"/>
          </p:nvPr>
        </p:nvSpPr>
        <p:spPr>
          <a:xfrm>
            <a:off x="642910" y="1357298"/>
            <a:ext cx="7786742" cy="4500594"/>
          </a:xfrm>
        </p:spPr>
        <p:txBody>
          <a:bodyPr>
            <a:normAutofit/>
          </a:bodyPr>
          <a:lstStyle/>
          <a:p>
            <a:pPr algn="just">
              <a:spcAft>
                <a:spcPct val="40000"/>
              </a:spcAft>
              <a:buFont typeface="Wingdings" pitchFamily="2" charset="2"/>
              <a:buNone/>
            </a:pPr>
            <a:r>
              <a:rPr lang="zh-CN" altLang="en-US" sz="2400" dirty="0" smtClean="0"/>
              <a:t>        面向对象分析</a:t>
            </a:r>
            <a:r>
              <a:rPr lang="zh-CN" altLang="en-US" sz="2400" dirty="0"/>
              <a:t>得出的对象模型，通常不详细描述类中的服务。面向对象设计则是扩充完善和细化面向对象分析模型的过程，设计类中的服务是它的一项重要的工作内容</a:t>
            </a:r>
            <a:r>
              <a:rPr lang="zh-CN" altLang="en-US" sz="2400" dirty="0" smtClean="0"/>
              <a:t>。</a:t>
            </a:r>
            <a:endParaRPr lang="en-US" altLang="zh-CN" sz="2400" dirty="0" smtClean="0"/>
          </a:p>
          <a:p>
            <a:pPr algn="just">
              <a:spcAft>
                <a:spcPct val="40000"/>
              </a:spcAft>
              <a:buFont typeface="Wingdings" pitchFamily="2" charset="2"/>
              <a:buNone/>
            </a:pPr>
            <a:r>
              <a:rPr lang="en-US" altLang="zh-CN" sz="2400" dirty="0" smtClean="0">
                <a:solidFill>
                  <a:srgbClr val="FF0000"/>
                </a:solidFill>
                <a:latin typeface="宋体" pitchFamily="2" charset="-122"/>
              </a:rPr>
              <a:t>1</a:t>
            </a:r>
            <a:r>
              <a:rPr lang="zh-CN" altLang="en-US" sz="2400" dirty="0" smtClean="0">
                <a:solidFill>
                  <a:srgbClr val="FF0000"/>
                </a:solidFill>
                <a:latin typeface="宋体" pitchFamily="2" charset="-122"/>
              </a:rPr>
              <a:t>、确定类中应用的服务</a:t>
            </a:r>
          </a:p>
          <a:p>
            <a:pPr algn="just">
              <a:spcAft>
                <a:spcPct val="40000"/>
              </a:spcAft>
              <a:buFont typeface="Wingdings" pitchFamily="2" charset="2"/>
              <a:buNone/>
            </a:pPr>
            <a:r>
              <a:rPr lang="zh-CN" altLang="en-US" sz="2400" dirty="0" smtClean="0"/>
              <a:t>        需要综合考虑对象模型、动态模型和功能模型，才能正确确定类中应有的服务。对象模型是进行对象设计的基本框架。</a:t>
            </a:r>
            <a:endParaRPr lang="en-US" altLang="zh-CN" sz="2400" dirty="0"/>
          </a:p>
        </p:txBody>
      </p:sp>
      <p:sp>
        <p:nvSpPr>
          <p:cNvPr id="4" name="灯片编号占位符 5"/>
          <p:cNvSpPr>
            <a:spLocks noGrp="1"/>
          </p:cNvSpPr>
          <p:nvPr>
            <p:ph type="sldNum" sz="quarter" idx="12"/>
          </p:nvPr>
        </p:nvSpPr>
        <p:spPr/>
        <p:txBody>
          <a:bodyPr>
            <a:normAutofit/>
          </a:bodyPr>
          <a:lstStyle/>
          <a:p>
            <a:fld id="{A195AA89-9BD6-42A9-B534-86C216C1438E}" type="slidenum">
              <a:rPr lang="en-US" altLang="zh-CN"/>
              <a:pPr/>
              <a:t>45</a:t>
            </a:fld>
            <a:endParaRPr lang="en-US"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736600" y="285728"/>
            <a:ext cx="7124700" cy="863600"/>
          </a:xfrm>
        </p:spPr>
        <p:txBody>
          <a:bodyPr/>
          <a:lstStyle/>
          <a:p>
            <a:r>
              <a:rPr lang="en-US" altLang="zh-CN" b="0" i="1" dirty="0" smtClean="0"/>
              <a:t>8.8 </a:t>
            </a:r>
            <a:r>
              <a:rPr lang="zh-CN" altLang="en-US" b="0" i="1" dirty="0" smtClean="0"/>
              <a:t>设计类中的服务</a:t>
            </a:r>
          </a:p>
        </p:txBody>
      </p:sp>
      <p:sp>
        <p:nvSpPr>
          <p:cNvPr id="192515" name="Rectangle 3"/>
          <p:cNvSpPr>
            <a:spLocks noGrp="1" noChangeArrowheads="1"/>
          </p:cNvSpPr>
          <p:nvPr>
            <p:ph idx="1"/>
          </p:nvPr>
        </p:nvSpPr>
        <p:spPr>
          <a:xfrm>
            <a:off x="642910" y="1357298"/>
            <a:ext cx="7786742" cy="4500594"/>
          </a:xfrm>
        </p:spPr>
        <p:txBody>
          <a:bodyPr>
            <a:normAutofit/>
          </a:bodyPr>
          <a:lstStyle/>
          <a:p>
            <a:pPr algn="just">
              <a:spcAft>
                <a:spcPct val="40000"/>
              </a:spcAft>
              <a:buNone/>
            </a:pPr>
            <a:r>
              <a:rPr lang="en-US" altLang="zh-CN" sz="2400" dirty="0" smtClean="0">
                <a:solidFill>
                  <a:srgbClr val="FF0000"/>
                </a:solidFill>
                <a:latin typeface="宋体" pitchFamily="2" charset="-122"/>
              </a:rPr>
              <a:t>2</a:t>
            </a:r>
            <a:r>
              <a:rPr lang="zh-CN" altLang="en-US" sz="2400" dirty="0" smtClean="0">
                <a:solidFill>
                  <a:srgbClr val="FF0000"/>
                </a:solidFill>
                <a:latin typeface="宋体" pitchFamily="2" charset="-122"/>
              </a:rPr>
              <a:t>、设计实现服务的方法</a:t>
            </a:r>
          </a:p>
          <a:p>
            <a:pPr algn="just">
              <a:spcAft>
                <a:spcPct val="40000"/>
              </a:spcAft>
              <a:buFont typeface="Wingdings" pitchFamily="2" charset="2"/>
              <a:buNone/>
            </a:pPr>
            <a:r>
              <a:rPr lang="en-US" altLang="zh-CN" sz="2400" b="1" dirty="0" smtClean="0">
                <a:latin typeface="宋体" pitchFamily="2" charset="-122"/>
              </a:rPr>
              <a:t>	</a:t>
            </a:r>
            <a:r>
              <a:rPr lang="zh-CN" altLang="en-US" sz="2400" dirty="0" smtClean="0">
                <a:latin typeface="宋体" pitchFamily="2" charset="-122"/>
              </a:rPr>
              <a:t>主要完成以下工作：</a:t>
            </a:r>
          </a:p>
          <a:p>
            <a:pPr algn="just">
              <a:spcAft>
                <a:spcPct val="40000"/>
              </a:spcAft>
              <a:buFont typeface="Wingdings" pitchFamily="2" charset="2"/>
              <a:buNone/>
            </a:pPr>
            <a:r>
              <a:rPr lang="en-US" altLang="zh-CN" sz="2400" dirty="0" smtClean="0">
                <a:latin typeface="宋体" pitchFamily="2" charset="-122"/>
              </a:rPr>
              <a:t>	1</a:t>
            </a:r>
            <a:r>
              <a:rPr lang="zh-CN" altLang="en-US" sz="2400" dirty="0" smtClean="0">
                <a:latin typeface="宋体" pitchFamily="2" charset="-122"/>
              </a:rPr>
              <a:t>、设计实现服务的算法</a:t>
            </a:r>
          </a:p>
          <a:p>
            <a:pPr algn="just">
              <a:spcAft>
                <a:spcPct val="40000"/>
              </a:spcAft>
              <a:buFont typeface="Wingdings" pitchFamily="2" charset="2"/>
              <a:buNone/>
            </a:pPr>
            <a:r>
              <a:rPr lang="en-US" altLang="zh-CN" sz="2400" dirty="0" smtClean="0">
                <a:latin typeface="宋体" pitchFamily="2" charset="-122"/>
              </a:rPr>
              <a:t>		</a:t>
            </a:r>
            <a:r>
              <a:rPr lang="en-US" altLang="zh-CN" sz="2200" dirty="0" smtClean="0">
                <a:latin typeface="宋体" pitchFamily="2" charset="-122"/>
              </a:rPr>
              <a:t>1</a:t>
            </a:r>
            <a:r>
              <a:rPr lang="zh-CN" altLang="en-US" sz="2200" dirty="0" smtClean="0">
                <a:latin typeface="宋体" pitchFamily="2" charset="-122"/>
              </a:rPr>
              <a:t>）算法复杂度</a:t>
            </a:r>
          </a:p>
          <a:p>
            <a:pPr algn="just">
              <a:spcAft>
                <a:spcPct val="40000"/>
              </a:spcAft>
              <a:buFont typeface="Wingdings" pitchFamily="2" charset="2"/>
              <a:buNone/>
            </a:pPr>
            <a:r>
              <a:rPr lang="en-US" altLang="zh-CN" sz="2200" dirty="0" smtClean="0">
                <a:latin typeface="宋体" pitchFamily="2" charset="-122"/>
              </a:rPr>
              <a:t>		2</a:t>
            </a:r>
            <a:r>
              <a:rPr lang="zh-CN" altLang="en-US" sz="2200" dirty="0" smtClean="0">
                <a:latin typeface="宋体" pitchFamily="2" charset="-122"/>
              </a:rPr>
              <a:t>）容易理解与容易实现</a:t>
            </a:r>
          </a:p>
          <a:p>
            <a:pPr algn="just">
              <a:spcAft>
                <a:spcPct val="40000"/>
              </a:spcAft>
              <a:buFont typeface="Wingdings" pitchFamily="2" charset="2"/>
              <a:buNone/>
            </a:pPr>
            <a:r>
              <a:rPr lang="en-US" altLang="zh-CN" sz="2200" dirty="0" smtClean="0">
                <a:latin typeface="宋体" pitchFamily="2" charset="-122"/>
              </a:rPr>
              <a:t>		3</a:t>
            </a:r>
            <a:r>
              <a:rPr lang="zh-CN" altLang="en-US" sz="2200" dirty="0" smtClean="0">
                <a:latin typeface="宋体" pitchFamily="2" charset="-122"/>
              </a:rPr>
              <a:t>）易修改</a:t>
            </a:r>
          </a:p>
          <a:p>
            <a:pPr algn="just">
              <a:spcAft>
                <a:spcPct val="40000"/>
              </a:spcAft>
              <a:buFont typeface="Wingdings" pitchFamily="2" charset="2"/>
              <a:buNone/>
            </a:pPr>
            <a:r>
              <a:rPr lang="en-US" altLang="zh-CN" sz="2400" dirty="0" smtClean="0"/>
              <a:t>	2</a:t>
            </a:r>
            <a:r>
              <a:rPr lang="zh-CN" altLang="en-US" sz="2400" dirty="0" smtClean="0"/>
              <a:t>、选择数据结构</a:t>
            </a:r>
          </a:p>
          <a:p>
            <a:pPr algn="just">
              <a:spcAft>
                <a:spcPct val="40000"/>
              </a:spcAft>
              <a:buFont typeface="Wingdings" pitchFamily="2" charset="2"/>
              <a:buNone/>
            </a:pPr>
            <a:r>
              <a:rPr lang="en-US" altLang="zh-CN" sz="2400" dirty="0" smtClean="0"/>
              <a:t>	3</a:t>
            </a:r>
            <a:r>
              <a:rPr lang="zh-CN" altLang="en-US" sz="2400" dirty="0" smtClean="0"/>
              <a:t>、定义内部类和内部操作</a:t>
            </a:r>
            <a:endParaRPr lang="en-US" altLang="zh-CN" sz="2400" dirty="0" smtClean="0"/>
          </a:p>
          <a:p>
            <a:pPr algn="just">
              <a:spcAft>
                <a:spcPct val="40000"/>
              </a:spcAft>
              <a:buFont typeface="Wingdings" pitchFamily="2" charset="2"/>
              <a:buNone/>
            </a:pPr>
            <a:endParaRPr lang="en-US" altLang="zh-CN" sz="2400" dirty="0"/>
          </a:p>
        </p:txBody>
      </p:sp>
      <p:sp>
        <p:nvSpPr>
          <p:cNvPr id="4" name="灯片编号占位符 5"/>
          <p:cNvSpPr>
            <a:spLocks noGrp="1"/>
          </p:cNvSpPr>
          <p:nvPr>
            <p:ph type="sldNum" sz="quarter" idx="12"/>
          </p:nvPr>
        </p:nvSpPr>
        <p:spPr/>
        <p:txBody>
          <a:bodyPr>
            <a:normAutofit/>
          </a:bodyPr>
          <a:lstStyle/>
          <a:p>
            <a:fld id="{A195AA89-9BD6-42A9-B534-86C216C1438E}" type="slidenum">
              <a:rPr lang="en-US" altLang="zh-CN"/>
              <a:pPr/>
              <a:t>46</a:t>
            </a:fld>
            <a:endParaRPr lang="en-US" altLang="zh-CN"/>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736600" y="501650"/>
            <a:ext cx="7124700" cy="863600"/>
          </a:xfrm>
        </p:spPr>
        <p:txBody>
          <a:bodyPr/>
          <a:lstStyle/>
          <a:p>
            <a:r>
              <a:rPr lang="en-US" altLang="zh-CN" b="0" i="1" dirty="0" smtClean="0"/>
              <a:t>8.9 </a:t>
            </a:r>
            <a:r>
              <a:rPr lang="zh-CN" altLang="en-US" b="0" i="1" dirty="0" smtClean="0"/>
              <a:t>设计关联</a:t>
            </a:r>
          </a:p>
        </p:txBody>
      </p:sp>
      <p:sp>
        <p:nvSpPr>
          <p:cNvPr id="177155" name="Rectangle 3"/>
          <p:cNvSpPr>
            <a:spLocks noGrp="1" noChangeArrowheads="1"/>
          </p:cNvSpPr>
          <p:nvPr>
            <p:ph idx="1"/>
          </p:nvPr>
        </p:nvSpPr>
        <p:spPr>
          <a:xfrm>
            <a:off x="720436" y="1600200"/>
            <a:ext cx="7585364" cy="4403436"/>
          </a:xfrm>
        </p:spPr>
        <p:txBody>
          <a:bodyPr/>
          <a:lstStyle/>
          <a:p>
            <a:pPr algn="just">
              <a:spcAft>
                <a:spcPct val="40000"/>
              </a:spcAft>
              <a:buFont typeface="Wingdings" pitchFamily="2" charset="2"/>
              <a:buNone/>
            </a:pPr>
            <a:r>
              <a:rPr lang="zh-CN" altLang="en-US" sz="2600" b="1" dirty="0">
                <a:latin typeface="宋体" pitchFamily="2" charset="-122"/>
              </a:rPr>
              <a:t>	</a:t>
            </a:r>
            <a:r>
              <a:rPr lang="zh-CN" altLang="en-US" sz="2600" b="1" dirty="0" smtClean="0">
                <a:latin typeface="宋体" pitchFamily="2" charset="-122"/>
              </a:rPr>
              <a:t>    </a:t>
            </a:r>
            <a:r>
              <a:rPr lang="zh-CN" altLang="en-US" sz="2400" dirty="0" smtClean="0">
                <a:latin typeface="宋体" pitchFamily="2" charset="-122"/>
              </a:rPr>
              <a:t>在</a:t>
            </a:r>
            <a:r>
              <a:rPr lang="zh-CN" altLang="en-US" sz="2400" dirty="0">
                <a:latin typeface="宋体" pitchFamily="2" charset="-122"/>
              </a:rPr>
              <a:t>对象模型中，</a:t>
            </a:r>
            <a:r>
              <a:rPr lang="zh-CN" altLang="en-US" sz="2400" dirty="0">
                <a:solidFill>
                  <a:srgbClr val="C00000"/>
                </a:solidFill>
                <a:latin typeface="宋体" pitchFamily="2" charset="-122"/>
              </a:rPr>
              <a:t>关联是联结不同对象的纽带，他指定了对象相互间的访问路径</a:t>
            </a:r>
            <a:r>
              <a:rPr lang="zh-CN" altLang="en-US" sz="2400" dirty="0" smtClean="0">
                <a:latin typeface="宋体" pitchFamily="2" charset="-122"/>
              </a:rPr>
              <a:t>。</a:t>
            </a:r>
            <a:endParaRPr lang="en-US" altLang="zh-CN" sz="2400" dirty="0" smtClean="0">
              <a:latin typeface="宋体" pitchFamily="2" charset="-122"/>
            </a:endParaRPr>
          </a:p>
          <a:p>
            <a:pPr algn="just">
              <a:spcAft>
                <a:spcPct val="40000"/>
              </a:spcAft>
              <a:buFont typeface="Wingdings" pitchFamily="2" charset="2"/>
              <a:buNone/>
            </a:pPr>
            <a:r>
              <a:rPr lang="en-US" altLang="zh-CN" sz="2400" dirty="0">
                <a:latin typeface="宋体" pitchFamily="2" charset="-122"/>
              </a:rPr>
              <a:t> </a:t>
            </a:r>
            <a:r>
              <a:rPr lang="en-US" altLang="zh-CN" sz="2400" dirty="0" smtClean="0">
                <a:latin typeface="宋体" pitchFamily="2" charset="-122"/>
              </a:rPr>
              <a:t>     </a:t>
            </a:r>
            <a:r>
              <a:rPr lang="zh-CN" altLang="en-US" sz="2400" dirty="0" smtClean="0">
                <a:latin typeface="宋体" pitchFamily="2" charset="-122"/>
              </a:rPr>
              <a:t>在</a:t>
            </a:r>
            <a:r>
              <a:rPr lang="zh-CN" altLang="en-US" sz="2400" dirty="0">
                <a:latin typeface="宋体" pitchFamily="2" charset="-122"/>
              </a:rPr>
              <a:t>面向对象设计过程中，设计人员必须确定实现关联的具体策略。既可以选定一个全局性的策略统一实现所有的关联，也可以分别为每个关联选择具体的实现策略，以与它在应用系统中的使用方式相适应。</a:t>
            </a:r>
          </a:p>
        </p:txBody>
      </p:sp>
      <p:sp>
        <p:nvSpPr>
          <p:cNvPr id="4" name="灯片编号占位符 5"/>
          <p:cNvSpPr>
            <a:spLocks noGrp="1"/>
          </p:cNvSpPr>
          <p:nvPr>
            <p:ph type="sldNum" sz="quarter" idx="12"/>
          </p:nvPr>
        </p:nvSpPr>
        <p:spPr/>
        <p:txBody>
          <a:bodyPr>
            <a:normAutofit/>
          </a:bodyPr>
          <a:lstStyle/>
          <a:p>
            <a:fld id="{80DD2483-0F5D-46DD-A185-4BFF0B031C92}" type="slidenum">
              <a:rPr lang="en-US" altLang="zh-CN"/>
              <a:pPr/>
              <a:t>47</a:t>
            </a:fld>
            <a:endParaRPr lang="en-US"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736600" y="501650"/>
            <a:ext cx="7124700" cy="863600"/>
          </a:xfrm>
        </p:spPr>
        <p:txBody>
          <a:bodyPr/>
          <a:lstStyle/>
          <a:p>
            <a:r>
              <a:rPr lang="en-US" altLang="zh-CN" b="0" i="1" dirty="0" smtClean="0"/>
              <a:t>8.9 </a:t>
            </a:r>
            <a:r>
              <a:rPr lang="zh-CN" altLang="en-US" b="0" i="1" dirty="0" smtClean="0"/>
              <a:t>设计关联</a:t>
            </a:r>
            <a:endParaRPr lang="en-US" altLang="zh-CN" b="0" i="1" dirty="0"/>
          </a:p>
        </p:txBody>
      </p:sp>
      <p:sp>
        <p:nvSpPr>
          <p:cNvPr id="195587" name="Rectangle 3"/>
          <p:cNvSpPr>
            <a:spLocks noGrp="1" noChangeArrowheads="1"/>
          </p:cNvSpPr>
          <p:nvPr>
            <p:ph idx="1"/>
          </p:nvPr>
        </p:nvSpPr>
        <p:spPr>
          <a:xfrm>
            <a:off x="685800" y="1600200"/>
            <a:ext cx="7620000" cy="4686320"/>
          </a:xfrm>
        </p:spPr>
        <p:txBody>
          <a:bodyPr>
            <a:normAutofit/>
          </a:bodyPr>
          <a:lstStyle/>
          <a:p>
            <a:pPr algn="just">
              <a:spcBef>
                <a:spcPts val="0"/>
              </a:spcBef>
              <a:spcAft>
                <a:spcPts val="600"/>
              </a:spcAft>
              <a:buFont typeface="Wingdings" pitchFamily="2" charset="2"/>
              <a:buNone/>
            </a:pPr>
            <a:r>
              <a:rPr lang="en-US" altLang="zh-CN" sz="2600" dirty="0" smtClean="0">
                <a:solidFill>
                  <a:srgbClr val="FF0000"/>
                </a:solidFill>
                <a:latin typeface="宋体" pitchFamily="2" charset="-122"/>
              </a:rPr>
              <a:t>1</a:t>
            </a:r>
            <a:r>
              <a:rPr lang="zh-CN" altLang="en-US" sz="2600" dirty="0" smtClean="0">
                <a:solidFill>
                  <a:srgbClr val="FF0000"/>
                </a:solidFill>
                <a:latin typeface="宋体" pitchFamily="2" charset="-122"/>
              </a:rPr>
              <a:t>、关联</a:t>
            </a:r>
            <a:r>
              <a:rPr lang="zh-CN" altLang="en-US" sz="2600" dirty="0">
                <a:solidFill>
                  <a:srgbClr val="FF0000"/>
                </a:solidFill>
                <a:latin typeface="宋体" pitchFamily="2" charset="-122"/>
              </a:rPr>
              <a:t>的遍历</a:t>
            </a:r>
          </a:p>
          <a:p>
            <a:pPr algn="just">
              <a:spcBef>
                <a:spcPts val="0"/>
              </a:spcBef>
              <a:spcAft>
                <a:spcPts val="600"/>
              </a:spcAft>
              <a:buFont typeface="Wingdings" pitchFamily="2" charset="2"/>
              <a:buNone/>
            </a:pPr>
            <a:r>
              <a:rPr lang="zh-CN" altLang="en-US" sz="2600" b="1" dirty="0">
                <a:latin typeface="宋体" pitchFamily="2" charset="-122"/>
              </a:rPr>
              <a:t>	</a:t>
            </a:r>
            <a:r>
              <a:rPr lang="en-US" altLang="zh-CN" sz="2600" b="1" dirty="0">
                <a:latin typeface="宋体" pitchFamily="2" charset="-122"/>
              </a:rPr>
              <a:t>	</a:t>
            </a:r>
            <a:r>
              <a:rPr lang="en-US" altLang="zh-CN" sz="2400" dirty="0" smtClean="0">
                <a:latin typeface="宋体" pitchFamily="2" charset="-122"/>
              </a:rPr>
              <a:t>1</a:t>
            </a:r>
            <a:r>
              <a:rPr lang="zh-CN" altLang="en-US" sz="2400" dirty="0" smtClean="0">
                <a:latin typeface="宋体" pitchFamily="2" charset="-122"/>
              </a:rPr>
              <a:t>）单向</a:t>
            </a:r>
            <a:r>
              <a:rPr lang="zh-CN" altLang="en-US" sz="2400" dirty="0">
                <a:latin typeface="宋体" pitchFamily="2" charset="-122"/>
              </a:rPr>
              <a:t>遍历</a:t>
            </a:r>
          </a:p>
          <a:p>
            <a:pPr algn="just">
              <a:spcBef>
                <a:spcPts val="0"/>
              </a:spcBef>
              <a:spcAft>
                <a:spcPts val="600"/>
              </a:spcAft>
              <a:buFont typeface="Wingdings" pitchFamily="2" charset="2"/>
              <a:buNone/>
            </a:pPr>
            <a:r>
              <a:rPr lang="zh-CN" altLang="en-US" sz="2400" dirty="0">
                <a:latin typeface="宋体" pitchFamily="2" charset="-122"/>
              </a:rPr>
              <a:t>		</a:t>
            </a:r>
            <a:r>
              <a:rPr lang="en-US" altLang="zh-CN" sz="2400" dirty="0" smtClean="0">
                <a:latin typeface="宋体" pitchFamily="2" charset="-122"/>
              </a:rPr>
              <a:t>2</a:t>
            </a:r>
            <a:r>
              <a:rPr lang="zh-CN" altLang="en-US" sz="2400" dirty="0" smtClean="0">
                <a:latin typeface="宋体" pitchFamily="2" charset="-122"/>
              </a:rPr>
              <a:t>）双向遍历</a:t>
            </a:r>
            <a:endParaRPr lang="en-US" altLang="zh-CN" sz="2400" dirty="0" smtClean="0">
              <a:latin typeface="宋体" pitchFamily="2" charset="-122"/>
            </a:endParaRPr>
          </a:p>
          <a:p>
            <a:pPr algn="just">
              <a:spcAft>
                <a:spcPct val="40000"/>
              </a:spcAft>
              <a:buFont typeface="Wingdings" pitchFamily="2" charset="2"/>
              <a:buNone/>
            </a:pPr>
            <a:r>
              <a:rPr lang="en-US" altLang="zh-CN" sz="2600" dirty="0" smtClean="0">
                <a:solidFill>
                  <a:srgbClr val="FF0000"/>
                </a:solidFill>
                <a:latin typeface="宋体" pitchFamily="2" charset="-122"/>
              </a:rPr>
              <a:t>2</a:t>
            </a:r>
            <a:r>
              <a:rPr lang="zh-CN" altLang="en-US" sz="2600" dirty="0" smtClean="0">
                <a:solidFill>
                  <a:srgbClr val="FF0000"/>
                </a:solidFill>
                <a:latin typeface="宋体" pitchFamily="2" charset="-122"/>
              </a:rPr>
              <a:t>、实现双向关联</a:t>
            </a:r>
          </a:p>
          <a:p>
            <a:pPr algn="just">
              <a:spcAft>
                <a:spcPct val="40000"/>
              </a:spcAft>
              <a:buFont typeface="Wingdings" pitchFamily="2" charset="2"/>
              <a:buNone/>
            </a:pPr>
            <a:r>
              <a:rPr lang="zh-CN" altLang="en-US" sz="2400" dirty="0" smtClean="0">
                <a:latin typeface="宋体" pitchFamily="2" charset="-122"/>
              </a:rPr>
              <a:t>	</a:t>
            </a:r>
            <a:r>
              <a:rPr lang="en-US" altLang="zh-CN" sz="2400" dirty="0" smtClean="0">
                <a:latin typeface="宋体" pitchFamily="2" charset="-122"/>
              </a:rPr>
              <a:t>1</a:t>
            </a:r>
            <a:r>
              <a:rPr lang="zh-CN" altLang="en-US" sz="2400" dirty="0" smtClean="0">
                <a:latin typeface="宋体" pitchFamily="2" charset="-122"/>
              </a:rPr>
              <a:t>）只用属性实现一个方向的关联，当需要反向遍历  	时就执行一次正向查找。</a:t>
            </a:r>
          </a:p>
          <a:p>
            <a:pPr algn="just">
              <a:spcAft>
                <a:spcPct val="40000"/>
              </a:spcAft>
              <a:buFont typeface="Wingdings" pitchFamily="2" charset="2"/>
              <a:buNone/>
            </a:pPr>
            <a:r>
              <a:rPr lang="zh-CN" altLang="en-US" sz="2400" dirty="0" smtClean="0">
                <a:latin typeface="宋体" pitchFamily="2" charset="-122"/>
              </a:rPr>
              <a:t>  </a:t>
            </a:r>
            <a:r>
              <a:rPr lang="en-US" altLang="zh-CN" sz="2400" dirty="0" smtClean="0">
                <a:latin typeface="宋体" pitchFamily="2" charset="-122"/>
              </a:rPr>
              <a:t>2</a:t>
            </a:r>
            <a:r>
              <a:rPr lang="zh-CN" altLang="en-US" sz="2400" dirty="0" smtClean="0">
                <a:latin typeface="宋体" pitchFamily="2" charset="-122"/>
              </a:rPr>
              <a:t>）两个方向的关联都用属性实现</a:t>
            </a:r>
          </a:p>
          <a:p>
            <a:pPr algn="just">
              <a:spcAft>
                <a:spcPct val="40000"/>
              </a:spcAft>
              <a:buFont typeface="Wingdings" pitchFamily="2" charset="2"/>
              <a:buNone/>
            </a:pPr>
            <a:r>
              <a:rPr lang="zh-CN" altLang="en-US" sz="2400" dirty="0" smtClean="0">
                <a:latin typeface="宋体" pitchFamily="2" charset="-122"/>
              </a:rPr>
              <a:t>  </a:t>
            </a:r>
            <a:r>
              <a:rPr lang="en-US" altLang="zh-CN" sz="2400" dirty="0" smtClean="0">
                <a:latin typeface="宋体" pitchFamily="2" charset="-122"/>
              </a:rPr>
              <a:t>3</a:t>
            </a:r>
            <a:r>
              <a:rPr lang="zh-CN" altLang="en-US" sz="2400" dirty="0" smtClean="0">
                <a:latin typeface="宋体" pitchFamily="2" charset="-122"/>
              </a:rPr>
              <a:t>）用独立的关联对象实现双向关联。关联对象不属于相互关联的任何一个类。</a:t>
            </a:r>
          </a:p>
          <a:p>
            <a:pPr algn="just">
              <a:spcBef>
                <a:spcPts val="0"/>
              </a:spcBef>
              <a:spcAft>
                <a:spcPts val="600"/>
              </a:spcAft>
              <a:buFont typeface="Wingdings" pitchFamily="2" charset="2"/>
              <a:buNone/>
            </a:pPr>
            <a:endParaRPr lang="en-US" altLang="zh-CN" sz="2400" dirty="0">
              <a:latin typeface="宋体" pitchFamily="2" charset="-122"/>
            </a:endParaRPr>
          </a:p>
        </p:txBody>
      </p:sp>
      <p:sp>
        <p:nvSpPr>
          <p:cNvPr id="4" name="灯片编号占位符 5"/>
          <p:cNvSpPr>
            <a:spLocks noGrp="1"/>
          </p:cNvSpPr>
          <p:nvPr>
            <p:ph type="sldNum" sz="quarter" idx="12"/>
          </p:nvPr>
        </p:nvSpPr>
        <p:spPr/>
        <p:txBody>
          <a:bodyPr>
            <a:normAutofit/>
          </a:bodyPr>
          <a:lstStyle/>
          <a:p>
            <a:fld id="{3CFECBFF-2DF9-449E-828F-EA57DF600501}" type="slidenum">
              <a:rPr lang="en-US" altLang="zh-CN"/>
              <a:pPr/>
              <a:t>48</a:t>
            </a:fld>
            <a:endParaRPr lang="en-US" altLang="zh-CN"/>
          </a:p>
        </p:txBody>
      </p:sp>
      <p:graphicFrame>
        <p:nvGraphicFramePr>
          <p:cNvPr id="1026" name="Object 2"/>
          <p:cNvGraphicFramePr>
            <a:graphicFrameLocks noChangeAspect="1"/>
          </p:cNvGraphicFramePr>
          <p:nvPr/>
        </p:nvGraphicFramePr>
        <p:xfrm>
          <a:off x="4572000" y="357166"/>
          <a:ext cx="4176713" cy="3565525"/>
        </p:xfrm>
        <a:graphic>
          <a:graphicData uri="http://schemas.openxmlformats.org/presentationml/2006/ole">
            <mc:AlternateContent xmlns:mc="http://schemas.openxmlformats.org/markup-compatibility/2006">
              <mc:Choice xmlns:v="urn:schemas-microsoft-com:vml" Requires="v">
                <p:oleObj spid="_x0000_s1051" name="Visio" r:id="rId3" imgW="2019656" imgH="1720553" progId="Visio.Drawing.11">
                  <p:embed/>
                </p:oleObj>
              </mc:Choice>
              <mc:Fallback>
                <p:oleObj name="Visio" r:id="rId3" imgW="2019656" imgH="1720553"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57166"/>
                        <a:ext cx="4176713" cy="3565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5587">
                                            <p:txEl>
                                              <p:pRg st="3" end="3"/>
                                            </p:txEl>
                                          </p:spTgt>
                                        </p:tgtEl>
                                        <p:attrNameLst>
                                          <p:attrName>style.visibility</p:attrName>
                                        </p:attrNameLst>
                                      </p:cBhvr>
                                      <p:to>
                                        <p:strVal val="visible"/>
                                      </p:to>
                                    </p:set>
                                    <p:anim calcmode="lin" valueType="num">
                                      <p:cBhvr additive="base">
                                        <p:cTn id="7" dur="500" fill="hold"/>
                                        <p:tgtEl>
                                          <p:spTgt spid="1955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558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5587">
                                            <p:txEl>
                                              <p:pRg st="4" end="4"/>
                                            </p:txEl>
                                          </p:spTgt>
                                        </p:tgtEl>
                                        <p:attrNameLst>
                                          <p:attrName>style.visibility</p:attrName>
                                        </p:attrNameLst>
                                      </p:cBhvr>
                                      <p:to>
                                        <p:strVal val="visible"/>
                                      </p:to>
                                    </p:set>
                                    <p:anim calcmode="lin" valueType="num">
                                      <p:cBhvr additive="base">
                                        <p:cTn id="11" dur="500" fill="hold"/>
                                        <p:tgtEl>
                                          <p:spTgt spid="19558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558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5587">
                                            <p:txEl>
                                              <p:pRg st="5" end="5"/>
                                            </p:txEl>
                                          </p:spTgt>
                                        </p:tgtEl>
                                        <p:attrNameLst>
                                          <p:attrName>style.visibility</p:attrName>
                                        </p:attrNameLst>
                                      </p:cBhvr>
                                      <p:to>
                                        <p:strVal val="visible"/>
                                      </p:to>
                                    </p:set>
                                    <p:anim calcmode="lin" valueType="num">
                                      <p:cBhvr additive="base">
                                        <p:cTn id="15" dur="500" fill="hold"/>
                                        <p:tgtEl>
                                          <p:spTgt spid="19558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5587">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5587">
                                            <p:txEl>
                                              <p:pRg st="6" end="6"/>
                                            </p:txEl>
                                          </p:spTgt>
                                        </p:tgtEl>
                                        <p:attrNameLst>
                                          <p:attrName>style.visibility</p:attrName>
                                        </p:attrNameLst>
                                      </p:cBhvr>
                                      <p:to>
                                        <p:strVal val="visible"/>
                                      </p:to>
                                    </p:set>
                                    <p:anim calcmode="lin" valueType="num">
                                      <p:cBhvr additive="base">
                                        <p:cTn id="19" dur="500" fill="hold"/>
                                        <p:tgtEl>
                                          <p:spTgt spid="19558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558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p>
        </p:txBody>
      </p:sp>
      <p:sp>
        <p:nvSpPr>
          <p:cNvPr id="178179" name="Rectangle 3"/>
          <p:cNvSpPr>
            <a:spLocks noGrp="1" noChangeArrowheads="1"/>
          </p:cNvSpPr>
          <p:nvPr>
            <p:ph idx="1"/>
          </p:nvPr>
        </p:nvSpPr>
        <p:spPr>
          <a:xfrm>
            <a:off x="685800" y="1600200"/>
            <a:ext cx="7620000" cy="4953000"/>
          </a:xfrm>
        </p:spPr>
        <p:txBody>
          <a:bodyPr/>
          <a:lstStyle/>
          <a:p>
            <a:pPr algn="just">
              <a:spcAft>
                <a:spcPct val="40000"/>
              </a:spcAft>
              <a:buFont typeface="Wingdings" pitchFamily="2" charset="2"/>
              <a:buNone/>
            </a:pPr>
            <a:r>
              <a:rPr lang="en-US" altLang="zh-CN" dirty="0" smtClean="0">
                <a:solidFill>
                  <a:srgbClr val="FF0000"/>
                </a:solidFill>
                <a:latin typeface="宋体" pitchFamily="2" charset="-122"/>
              </a:rPr>
              <a:t>1</a:t>
            </a:r>
            <a:r>
              <a:rPr lang="zh-CN" altLang="en-US" dirty="0" smtClean="0">
                <a:solidFill>
                  <a:srgbClr val="FF0000"/>
                </a:solidFill>
                <a:latin typeface="宋体" pitchFamily="2" charset="-122"/>
              </a:rPr>
              <a:t>、确定</a:t>
            </a:r>
            <a:r>
              <a:rPr lang="zh-CN" altLang="en-US" dirty="0">
                <a:solidFill>
                  <a:srgbClr val="FF0000"/>
                </a:solidFill>
                <a:latin typeface="宋体" pitchFamily="2" charset="-122"/>
              </a:rPr>
              <a:t>优先级</a:t>
            </a:r>
          </a:p>
          <a:p>
            <a:pPr algn="just">
              <a:spcAft>
                <a:spcPct val="40000"/>
              </a:spcAft>
              <a:buFont typeface="Wingdings" pitchFamily="2" charset="2"/>
              <a:buNone/>
            </a:pPr>
            <a:r>
              <a:rPr lang="zh-CN" altLang="en-US" sz="2600" dirty="0"/>
              <a:t>	</a:t>
            </a:r>
            <a:r>
              <a:rPr lang="zh-CN" altLang="en-US" sz="2600" dirty="0" smtClean="0"/>
              <a:t>      </a:t>
            </a:r>
            <a:r>
              <a:rPr lang="zh-CN" altLang="en-US" sz="2400" dirty="0" smtClean="0"/>
              <a:t>由于</a:t>
            </a:r>
            <a:r>
              <a:rPr lang="zh-CN" altLang="en-US" sz="2400" dirty="0"/>
              <a:t>系统的各项质量指标并不是同等重要的，设计人员必须确定各项质量指标的相对重要性（优先级），以便在优化设计时制定折衷方案。</a:t>
            </a:r>
          </a:p>
        </p:txBody>
      </p:sp>
      <p:sp>
        <p:nvSpPr>
          <p:cNvPr id="4" name="灯片编号占位符 5"/>
          <p:cNvSpPr>
            <a:spLocks noGrp="1"/>
          </p:cNvSpPr>
          <p:nvPr>
            <p:ph type="sldNum" sz="quarter" idx="12"/>
          </p:nvPr>
        </p:nvSpPr>
        <p:spPr/>
        <p:txBody>
          <a:bodyPr>
            <a:normAutofit/>
          </a:bodyPr>
          <a:lstStyle/>
          <a:p>
            <a:fld id="{ED78AA49-4BFD-4B3C-83AF-D40F54B2E8CD}" type="slidenum">
              <a:rPr lang="en-US" altLang="zh-CN"/>
              <a:pPr/>
              <a:t>49</a:t>
            </a:fld>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endParaRPr lang="en-US" altLang="zh-CN" b="0" i="1" dirty="0"/>
          </a:p>
        </p:txBody>
      </p:sp>
      <p:sp>
        <p:nvSpPr>
          <p:cNvPr id="199683" name="Rectangle 3"/>
          <p:cNvSpPr>
            <a:spLocks noGrp="1" noChangeArrowheads="1"/>
          </p:cNvSpPr>
          <p:nvPr>
            <p:ph idx="1"/>
          </p:nvPr>
        </p:nvSpPr>
        <p:spPr>
          <a:xfrm>
            <a:off x="685800" y="1600200"/>
            <a:ext cx="7620000" cy="4472006"/>
          </a:xfrm>
        </p:spPr>
        <p:txBody>
          <a:bodyPr>
            <a:normAutofit/>
          </a:bodyPr>
          <a:lstStyle/>
          <a:p>
            <a:pPr algn="just">
              <a:spcAft>
                <a:spcPct val="40000"/>
              </a:spcAft>
              <a:buFont typeface="Wingdings" pitchFamily="2" charset="2"/>
              <a:buNone/>
            </a:pPr>
            <a:r>
              <a:rPr lang="en-US" altLang="zh-CN" sz="2600" dirty="0" smtClean="0">
                <a:solidFill>
                  <a:srgbClr val="FF0000"/>
                </a:solidFill>
                <a:latin typeface="宋体" pitchFamily="2" charset="-122"/>
              </a:rPr>
              <a:t>2</a:t>
            </a:r>
            <a:r>
              <a:rPr lang="zh-CN" altLang="en-US" sz="2600" dirty="0" smtClean="0">
                <a:solidFill>
                  <a:srgbClr val="FF0000"/>
                </a:solidFill>
                <a:latin typeface="宋体" pitchFamily="2" charset="-122"/>
              </a:rPr>
              <a:t>、提高</a:t>
            </a:r>
            <a:r>
              <a:rPr lang="zh-CN" altLang="en-US" sz="2600" dirty="0">
                <a:solidFill>
                  <a:srgbClr val="FF0000"/>
                </a:solidFill>
                <a:latin typeface="宋体" pitchFamily="2" charset="-122"/>
              </a:rPr>
              <a:t>效率的几项技术</a:t>
            </a:r>
          </a:p>
          <a:p>
            <a:pPr algn="just">
              <a:spcAft>
                <a:spcPct val="40000"/>
              </a:spcAft>
              <a:buFont typeface="Wingdings" pitchFamily="2" charset="2"/>
              <a:buNone/>
            </a:pPr>
            <a:r>
              <a:rPr lang="en-US" altLang="zh-CN" sz="2400" dirty="0">
                <a:latin typeface="宋体" pitchFamily="2" charset="-122"/>
              </a:rPr>
              <a:t>		1</a:t>
            </a:r>
            <a:r>
              <a:rPr lang="zh-CN" altLang="en-US" sz="2400" dirty="0">
                <a:latin typeface="宋体" pitchFamily="2" charset="-122"/>
              </a:rPr>
              <a:t>、增加冗余关联以提高访问效率</a:t>
            </a:r>
          </a:p>
          <a:p>
            <a:pPr algn="just">
              <a:spcAft>
                <a:spcPct val="40000"/>
              </a:spcAft>
              <a:buFont typeface="Wingdings" pitchFamily="2" charset="2"/>
              <a:buNone/>
            </a:pPr>
            <a:r>
              <a:rPr lang="en-US" altLang="zh-CN" sz="2400" dirty="0">
                <a:latin typeface="宋体" pitchFamily="2" charset="-122"/>
              </a:rPr>
              <a:t>		</a:t>
            </a:r>
            <a:endParaRPr lang="zh-CN" altLang="en-US" sz="2400" dirty="0"/>
          </a:p>
        </p:txBody>
      </p:sp>
      <p:sp>
        <p:nvSpPr>
          <p:cNvPr id="4" name="灯片编号占位符 5"/>
          <p:cNvSpPr>
            <a:spLocks noGrp="1"/>
          </p:cNvSpPr>
          <p:nvPr>
            <p:ph type="sldNum" sz="quarter" idx="12"/>
          </p:nvPr>
        </p:nvSpPr>
        <p:spPr/>
        <p:txBody>
          <a:bodyPr>
            <a:normAutofit/>
          </a:bodyPr>
          <a:lstStyle/>
          <a:p>
            <a:fld id="{86FF76D6-A11E-41FE-838E-2864C96BF180}" type="slidenum">
              <a:rPr lang="en-US" altLang="zh-CN"/>
              <a:pPr/>
              <a:t>50</a:t>
            </a:fld>
            <a:endParaRPr lang="en-US" altLang="zh-CN"/>
          </a:p>
        </p:txBody>
      </p:sp>
      <p:graphicFrame>
        <p:nvGraphicFramePr>
          <p:cNvPr id="3074" name="Object 2"/>
          <p:cNvGraphicFramePr>
            <a:graphicFrameLocks noChangeAspect="1"/>
          </p:cNvGraphicFramePr>
          <p:nvPr/>
        </p:nvGraphicFramePr>
        <p:xfrm>
          <a:off x="1114401" y="3063884"/>
          <a:ext cx="6624637" cy="860425"/>
        </p:xfrm>
        <a:graphic>
          <a:graphicData uri="http://schemas.openxmlformats.org/presentationml/2006/ole">
            <mc:AlternateContent xmlns:mc="http://schemas.openxmlformats.org/markup-compatibility/2006">
              <mc:Choice xmlns:v="urn:schemas-microsoft-com:vml" Requires="v">
                <p:oleObj spid="_x0000_s3124" name="Visio" r:id="rId3" imgW="2538314" imgH="330095" progId="Visio.Drawing.11">
                  <p:embed/>
                </p:oleObj>
              </mc:Choice>
              <mc:Fallback>
                <p:oleObj name="Visio" r:id="rId3" imgW="2538314" imgH="330095"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401" y="3063884"/>
                        <a:ext cx="6624637"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3" name="Object 3"/>
          <p:cNvGraphicFramePr>
            <a:graphicFrameLocks noChangeAspect="1"/>
          </p:cNvGraphicFramePr>
          <p:nvPr/>
        </p:nvGraphicFramePr>
        <p:xfrm>
          <a:off x="1142976" y="4714884"/>
          <a:ext cx="6530975" cy="868363"/>
        </p:xfrm>
        <a:graphic>
          <a:graphicData uri="http://schemas.openxmlformats.org/presentationml/2006/ole">
            <mc:AlternateContent xmlns:mc="http://schemas.openxmlformats.org/markup-compatibility/2006">
              <mc:Choice xmlns:v="urn:schemas-microsoft-com:vml" Requires="v">
                <p:oleObj spid="_x0000_s3125" r:id="rId5" imgW="2317302" imgH="314918" progId="Visio.Drawing.11">
                  <p:embed/>
                </p:oleObj>
              </mc:Choice>
              <mc:Fallback>
                <p:oleObj r:id="rId5" imgW="2317302" imgH="314918"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2976" y="4714884"/>
                        <a:ext cx="6530975" cy="86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ppt_x"/>
                                          </p:val>
                                        </p:tav>
                                        <p:tav tm="100000">
                                          <p:val>
                                            <p:strVal val="#ppt_x"/>
                                          </p:val>
                                        </p:tav>
                                      </p:tavLst>
                                    </p:anim>
                                    <p:anim calcmode="lin" valueType="num">
                                      <p:cBhvr additive="base">
                                        <p:cTn id="8" dur="500" fill="hold"/>
                                        <p:tgtEl>
                                          <p:spTgt spid="512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endParaRPr lang="en-US" altLang="zh-CN" b="0" i="1" dirty="0"/>
          </a:p>
        </p:txBody>
      </p:sp>
      <p:sp>
        <p:nvSpPr>
          <p:cNvPr id="199683" name="Rectangle 3"/>
          <p:cNvSpPr>
            <a:spLocks noGrp="1" noChangeArrowheads="1"/>
          </p:cNvSpPr>
          <p:nvPr>
            <p:ph idx="1"/>
          </p:nvPr>
        </p:nvSpPr>
        <p:spPr>
          <a:xfrm>
            <a:off x="685800" y="1600200"/>
            <a:ext cx="7620000" cy="4472006"/>
          </a:xfrm>
        </p:spPr>
        <p:txBody>
          <a:bodyPr>
            <a:normAutofit/>
          </a:bodyPr>
          <a:lstStyle/>
          <a:p>
            <a:pPr algn="just">
              <a:spcAft>
                <a:spcPct val="40000"/>
              </a:spcAft>
              <a:buFont typeface="Wingdings" pitchFamily="2" charset="2"/>
              <a:buNone/>
            </a:pPr>
            <a:r>
              <a:rPr lang="en-US" altLang="zh-CN" sz="2600" dirty="0" smtClean="0">
                <a:solidFill>
                  <a:srgbClr val="FF0000"/>
                </a:solidFill>
                <a:latin typeface="宋体" pitchFamily="2" charset="-122"/>
              </a:rPr>
              <a:t>2</a:t>
            </a:r>
            <a:r>
              <a:rPr lang="zh-CN" altLang="en-US" sz="2600" dirty="0" smtClean="0">
                <a:solidFill>
                  <a:srgbClr val="FF0000"/>
                </a:solidFill>
                <a:latin typeface="宋体" pitchFamily="2" charset="-122"/>
              </a:rPr>
              <a:t>、提高</a:t>
            </a:r>
            <a:r>
              <a:rPr lang="zh-CN" altLang="en-US" sz="2600" dirty="0">
                <a:solidFill>
                  <a:srgbClr val="FF0000"/>
                </a:solidFill>
                <a:latin typeface="宋体" pitchFamily="2" charset="-122"/>
              </a:rPr>
              <a:t>效率的几项技术</a:t>
            </a:r>
          </a:p>
          <a:p>
            <a:pPr algn="just">
              <a:spcAft>
                <a:spcPct val="40000"/>
              </a:spcAft>
              <a:buFont typeface="Wingdings" pitchFamily="2" charset="2"/>
              <a:buNone/>
            </a:pPr>
            <a:r>
              <a:rPr lang="en-US" altLang="zh-CN" sz="2400" dirty="0">
                <a:latin typeface="宋体" pitchFamily="2" charset="-122"/>
              </a:rPr>
              <a:t>		</a:t>
            </a:r>
            <a:r>
              <a:rPr lang="en-US" altLang="zh-CN" sz="2400" dirty="0" smtClean="0">
                <a:latin typeface="宋体" pitchFamily="2" charset="-122"/>
              </a:rPr>
              <a:t>2</a:t>
            </a:r>
            <a:r>
              <a:rPr lang="zh-CN" altLang="en-US" sz="2400" dirty="0" smtClean="0">
                <a:latin typeface="宋体" pitchFamily="2" charset="-122"/>
              </a:rPr>
              <a:t>、调整查询次序</a:t>
            </a:r>
          </a:p>
          <a:p>
            <a:pPr>
              <a:buNone/>
            </a:pPr>
            <a:r>
              <a:rPr lang="en-US" altLang="zh-CN" sz="2400" dirty="0" smtClean="0">
                <a:latin typeface="宋体" pitchFamily="2" charset="-122"/>
                <a:ea typeface="宋体" charset="-122"/>
              </a:rPr>
              <a:t>      </a:t>
            </a:r>
            <a:r>
              <a:rPr lang="zh-CN" altLang="en-US" sz="2400" dirty="0" smtClean="0">
                <a:ea typeface="宋体" charset="-122"/>
              </a:rPr>
              <a:t>调整对象模型的结构以便优化经常的遍历后，下一件事就是优化算法本身。</a:t>
            </a:r>
            <a:endParaRPr lang="en-US" altLang="zh-CN" sz="2400" dirty="0" smtClean="0">
              <a:ea typeface="宋体" charset="-122"/>
            </a:endParaRPr>
          </a:p>
          <a:p>
            <a:pPr>
              <a:buNone/>
            </a:pPr>
            <a:r>
              <a:rPr lang="zh-CN" altLang="en-US" sz="2400" dirty="0" smtClean="0">
                <a:ea typeface="宋体" charset="-122"/>
              </a:rPr>
              <a:t>         如；书中的例子，如果要查找所有既会将法语又会讲英语的雇员。假定</a:t>
            </a:r>
            <a:r>
              <a:rPr lang="en-US" altLang="zh-CN" sz="2400" dirty="0" smtClean="0">
                <a:ea typeface="宋体" charset="-122"/>
              </a:rPr>
              <a:t>5</a:t>
            </a:r>
            <a:r>
              <a:rPr lang="zh-CN" altLang="en-US" sz="2400" dirty="0" smtClean="0">
                <a:ea typeface="宋体" charset="-122"/>
              </a:rPr>
              <a:t>个会讲法语，</a:t>
            </a:r>
            <a:r>
              <a:rPr lang="en-US" altLang="zh-CN" sz="2400" dirty="0" smtClean="0">
                <a:ea typeface="宋体" charset="-122"/>
              </a:rPr>
              <a:t>100</a:t>
            </a:r>
            <a:r>
              <a:rPr lang="zh-CN" altLang="en-US" sz="2400" dirty="0" smtClean="0">
                <a:ea typeface="宋体" charset="-122"/>
              </a:rPr>
              <a:t>个会讲英语，那么先检查和查找那一类呢？</a:t>
            </a:r>
          </a:p>
          <a:p>
            <a:pPr algn="just">
              <a:spcAft>
                <a:spcPct val="40000"/>
              </a:spcAft>
              <a:buFont typeface="Wingdings" pitchFamily="2" charset="2"/>
              <a:buNone/>
            </a:pPr>
            <a:endParaRPr lang="zh-CN" altLang="en-US" sz="2400" dirty="0"/>
          </a:p>
        </p:txBody>
      </p:sp>
      <p:sp>
        <p:nvSpPr>
          <p:cNvPr id="4" name="灯片编号占位符 5"/>
          <p:cNvSpPr>
            <a:spLocks noGrp="1"/>
          </p:cNvSpPr>
          <p:nvPr>
            <p:ph type="sldNum" sz="quarter" idx="12"/>
          </p:nvPr>
        </p:nvSpPr>
        <p:spPr/>
        <p:txBody>
          <a:bodyPr>
            <a:normAutofit/>
          </a:bodyPr>
          <a:lstStyle/>
          <a:p>
            <a:fld id="{86FF76D6-A11E-41FE-838E-2864C96BF180}" type="slidenum">
              <a:rPr lang="en-US" altLang="zh-CN"/>
              <a:pPr/>
              <a:t>51</a:t>
            </a:fld>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endParaRPr lang="en-US" altLang="zh-CN" b="0" i="1" dirty="0"/>
          </a:p>
        </p:txBody>
      </p:sp>
      <p:sp>
        <p:nvSpPr>
          <p:cNvPr id="199683" name="Rectangle 3"/>
          <p:cNvSpPr>
            <a:spLocks noGrp="1" noChangeArrowheads="1"/>
          </p:cNvSpPr>
          <p:nvPr>
            <p:ph idx="1"/>
          </p:nvPr>
        </p:nvSpPr>
        <p:spPr>
          <a:xfrm>
            <a:off x="685800" y="1600200"/>
            <a:ext cx="7620000" cy="4472006"/>
          </a:xfrm>
        </p:spPr>
        <p:txBody>
          <a:bodyPr>
            <a:normAutofit/>
          </a:bodyPr>
          <a:lstStyle/>
          <a:p>
            <a:pPr algn="just">
              <a:spcAft>
                <a:spcPct val="40000"/>
              </a:spcAft>
              <a:buFont typeface="Wingdings" pitchFamily="2" charset="2"/>
              <a:buNone/>
            </a:pPr>
            <a:r>
              <a:rPr lang="en-US" altLang="zh-CN" sz="2600" dirty="0" smtClean="0">
                <a:solidFill>
                  <a:srgbClr val="FF0000"/>
                </a:solidFill>
                <a:latin typeface="宋体" pitchFamily="2" charset="-122"/>
              </a:rPr>
              <a:t>2</a:t>
            </a:r>
            <a:r>
              <a:rPr lang="zh-CN" altLang="en-US" sz="2600" dirty="0" smtClean="0">
                <a:solidFill>
                  <a:srgbClr val="FF0000"/>
                </a:solidFill>
                <a:latin typeface="宋体" pitchFamily="2" charset="-122"/>
              </a:rPr>
              <a:t>、提高</a:t>
            </a:r>
            <a:r>
              <a:rPr lang="zh-CN" altLang="en-US" sz="2600" dirty="0">
                <a:solidFill>
                  <a:srgbClr val="FF0000"/>
                </a:solidFill>
                <a:latin typeface="宋体" pitchFamily="2" charset="-122"/>
              </a:rPr>
              <a:t>效率的几项技术</a:t>
            </a:r>
          </a:p>
          <a:p>
            <a:pPr algn="just">
              <a:spcAft>
                <a:spcPct val="40000"/>
              </a:spcAft>
              <a:buFont typeface="Wingdings" pitchFamily="2" charset="2"/>
              <a:buNone/>
            </a:pPr>
            <a:r>
              <a:rPr lang="en-US" altLang="zh-CN" sz="2400" dirty="0">
                <a:latin typeface="宋体" pitchFamily="2" charset="-122"/>
              </a:rPr>
              <a:t>		</a:t>
            </a:r>
            <a:r>
              <a:rPr lang="en-US" altLang="zh-CN" sz="2400" dirty="0" smtClean="0">
                <a:latin typeface="宋体" pitchFamily="2" charset="-122"/>
              </a:rPr>
              <a:t>3</a:t>
            </a:r>
            <a:r>
              <a:rPr lang="zh-CN" altLang="en-US" sz="2400" dirty="0" smtClean="0">
                <a:latin typeface="宋体" pitchFamily="2" charset="-122"/>
              </a:rPr>
              <a:t>、保留派生属性</a:t>
            </a:r>
            <a:endParaRPr lang="en-US" altLang="zh-CN" sz="2400" dirty="0" smtClean="0">
              <a:latin typeface="宋体" pitchFamily="2" charset="-122"/>
            </a:endParaRPr>
          </a:p>
          <a:p>
            <a:pPr>
              <a:buNone/>
            </a:pPr>
            <a:r>
              <a:rPr lang="zh-CN" altLang="en-US" sz="2400" dirty="0" smtClean="0">
                <a:ea typeface="宋体" charset="-122"/>
              </a:rPr>
              <a:t>         冗余的数据，因为它从其他数据导出，所以为了避免重复计算，减少计算机的总开销，可以进行“缓存”或存储。可考虑定义新类来保留这个信息。</a:t>
            </a:r>
            <a:endParaRPr lang="en-US" altLang="zh-CN" sz="2400" dirty="0" smtClean="0">
              <a:ea typeface="宋体" charset="-122"/>
            </a:endParaRPr>
          </a:p>
          <a:p>
            <a:endParaRPr lang="en-US" altLang="zh-CN" sz="2400" dirty="0" smtClean="0">
              <a:ea typeface="宋体" charset="-122"/>
            </a:endParaRPr>
          </a:p>
          <a:p>
            <a:pPr>
              <a:buNone/>
            </a:pPr>
            <a:r>
              <a:rPr lang="zh-CN" altLang="en-US" sz="2400" dirty="0" smtClean="0">
                <a:ea typeface="宋体" charset="-122"/>
              </a:rPr>
              <a:t>         要注意数据的一致性。</a:t>
            </a:r>
          </a:p>
          <a:p>
            <a:pPr algn="just">
              <a:spcAft>
                <a:spcPct val="40000"/>
              </a:spcAft>
              <a:buFont typeface="Wingdings" pitchFamily="2" charset="2"/>
              <a:buNone/>
            </a:pPr>
            <a:endParaRPr lang="zh-CN" altLang="en-US" sz="2400" dirty="0"/>
          </a:p>
        </p:txBody>
      </p:sp>
      <p:sp>
        <p:nvSpPr>
          <p:cNvPr id="4" name="灯片编号占位符 5"/>
          <p:cNvSpPr>
            <a:spLocks noGrp="1"/>
          </p:cNvSpPr>
          <p:nvPr>
            <p:ph type="sldNum" sz="quarter" idx="12"/>
          </p:nvPr>
        </p:nvSpPr>
        <p:spPr/>
        <p:txBody>
          <a:bodyPr>
            <a:normAutofit/>
          </a:bodyPr>
          <a:lstStyle/>
          <a:p>
            <a:fld id="{86FF76D6-A11E-41FE-838E-2864C96BF180}" type="slidenum">
              <a:rPr lang="en-US" altLang="zh-CN"/>
              <a:pPr/>
              <a:t>52</a:t>
            </a:fld>
            <a:endParaRPr lang="en-US" altLang="zh-C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endParaRPr lang="en-US" altLang="zh-CN" b="0" i="1" dirty="0"/>
          </a:p>
        </p:txBody>
      </p:sp>
      <p:sp>
        <p:nvSpPr>
          <p:cNvPr id="200707" name="Rectangle 3"/>
          <p:cNvSpPr>
            <a:spLocks noGrp="1" noChangeArrowheads="1"/>
          </p:cNvSpPr>
          <p:nvPr>
            <p:ph idx="1"/>
          </p:nvPr>
        </p:nvSpPr>
        <p:spPr>
          <a:xfrm>
            <a:off x="685800" y="1600200"/>
            <a:ext cx="7620000" cy="4257692"/>
          </a:xfrm>
        </p:spPr>
        <p:txBody>
          <a:bodyPr/>
          <a:lstStyle/>
          <a:p>
            <a:pPr algn="just">
              <a:spcAft>
                <a:spcPct val="40000"/>
              </a:spcAft>
              <a:buFont typeface="Wingdings" pitchFamily="2" charset="2"/>
              <a:buNone/>
            </a:pPr>
            <a:r>
              <a:rPr lang="en-US" altLang="zh-CN" sz="2600" dirty="0" smtClean="0">
                <a:solidFill>
                  <a:srgbClr val="FF0000"/>
                </a:solidFill>
                <a:latin typeface="宋体" pitchFamily="2" charset="-122"/>
              </a:rPr>
              <a:t>3</a:t>
            </a:r>
            <a:r>
              <a:rPr lang="zh-CN" altLang="en-US" sz="2600" dirty="0" smtClean="0">
                <a:solidFill>
                  <a:srgbClr val="FF0000"/>
                </a:solidFill>
                <a:latin typeface="宋体" pitchFamily="2" charset="-122"/>
              </a:rPr>
              <a:t>、调整</a:t>
            </a:r>
            <a:r>
              <a:rPr lang="zh-CN" altLang="en-US" sz="2600" dirty="0">
                <a:solidFill>
                  <a:srgbClr val="FF0000"/>
                </a:solidFill>
                <a:latin typeface="宋体" pitchFamily="2" charset="-122"/>
              </a:rPr>
              <a:t>继承关系</a:t>
            </a:r>
          </a:p>
          <a:p>
            <a:pPr lvl="1" algn="just">
              <a:spcAft>
                <a:spcPct val="40000"/>
              </a:spcAft>
              <a:buFont typeface="Wingdings" pitchFamily="2" charset="2"/>
              <a:buNone/>
            </a:pPr>
            <a:r>
              <a:rPr lang="en-US" altLang="zh-CN" dirty="0">
                <a:latin typeface="宋体" pitchFamily="2" charset="-122"/>
              </a:rPr>
              <a:t>	1</a:t>
            </a:r>
            <a:r>
              <a:rPr lang="zh-CN" altLang="en-US" dirty="0">
                <a:latin typeface="宋体" pitchFamily="2" charset="-122"/>
              </a:rPr>
              <a:t>、抽象与</a:t>
            </a:r>
            <a:r>
              <a:rPr lang="zh-CN" altLang="en-US" dirty="0" smtClean="0">
                <a:latin typeface="宋体" pitchFamily="2" charset="-122"/>
              </a:rPr>
              <a:t>具体（参考书中的示例）</a:t>
            </a:r>
            <a:endParaRPr lang="zh-CN" altLang="en-US" dirty="0">
              <a:latin typeface="宋体" pitchFamily="2" charset="-122"/>
            </a:endParaRPr>
          </a:p>
          <a:p>
            <a:pPr lvl="1" algn="just">
              <a:spcAft>
                <a:spcPct val="40000"/>
              </a:spcAft>
              <a:buFont typeface="Wingdings" pitchFamily="2" charset="2"/>
              <a:buNone/>
            </a:pPr>
            <a:r>
              <a:rPr lang="en-US" altLang="zh-CN" dirty="0">
                <a:latin typeface="宋体" pitchFamily="2" charset="-122"/>
              </a:rPr>
              <a:t>	2</a:t>
            </a:r>
            <a:r>
              <a:rPr lang="zh-CN" altLang="en-US" dirty="0">
                <a:latin typeface="宋体" pitchFamily="2" charset="-122"/>
              </a:rPr>
              <a:t>、为提高继承的程度而修改类定义</a:t>
            </a:r>
          </a:p>
          <a:p>
            <a:pPr lvl="1" algn="just">
              <a:spcAft>
                <a:spcPct val="40000"/>
              </a:spcAft>
              <a:buFont typeface="Wingdings" pitchFamily="2" charset="2"/>
              <a:buNone/>
            </a:pPr>
            <a:r>
              <a:rPr lang="en-US" altLang="zh-CN" dirty="0">
                <a:latin typeface="宋体" pitchFamily="2" charset="-122"/>
              </a:rPr>
              <a:t>	3</a:t>
            </a:r>
            <a:r>
              <a:rPr lang="zh-CN" altLang="en-US" dirty="0">
                <a:latin typeface="宋体" pitchFamily="2" charset="-122"/>
              </a:rPr>
              <a:t>、</a:t>
            </a:r>
            <a:r>
              <a:rPr lang="zh-CN" altLang="en-US" dirty="0" smtClean="0">
                <a:latin typeface="宋体" pitchFamily="2" charset="-122"/>
              </a:rPr>
              <a:t>利用组合实现</a:t>
            </a:r>
            <a:r>
              <a:rPr lang="zh-CN" altLang="en-US" dirty="0">
                <a:latin typeface="宋体" pitchFamily="2" charset="-122"/>
              </a:rPr>
              <a:t>行为共享</a:t>
            </a:r>
          </a:p>
          <a:p>
            <a:pPr algn="just">
              <a:spcAft>
                <a:spcPct val="40000"/>
              </a:spcAft>
              <a:buFont typeface="Wingdings" pitchFamily="2" charset="2"/>
              <a:buNone/>
            </a:pPr>
            <a:endParaRPr lang="en-US" altLang="zh-CN" b="1" dirty="0"/>
          </a:p>
        </p:txBody>
      </p:sp>
      <p:sp>
        <p:nvSpPr>
          <p:cNvPr id="4" name="灯片编号占位符 5"/>
          <p:cNvSpPr>
            <a:spLocks noGrp="1"/>
          </p:cNvSpPr>
          <p:nvPr>
            <p:ph type="sldNum" sz="quarter" idx="12"/>
          </p:nvPr>
        </p:nvSpPr>
        <p:spPr/>
        <p:txBody>
          <a:bodyPr>
            <a:normAutofit/>
          </a:bodyPr>
          <a:lstStyle/>
          <a:p>
            <a:fld id="{E316AD42-C875-4077-9029-5589A4DD91E5}" type="slidenum">
              <a:rPr lang="en-US" altLang="zh-CN"/>
              <a:pPr/>
              <a:t>53</a:t>
            </a:fld>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736600" y="501650"/>
            <a:ext cx="7124700" cy="863600"/>
          </a:xfrm>
        </p:spPr>
        <p:txBody>
          <a:bodyPr/>
          <a:lstStyle/>
          <a:p>
            <a:r>
              <a:rPr lang="en-US" altLang="zh-CN" b="0" i="1" dirty="0" smtClean="0"/>
              <a:t>8.10</a:t>
            </a:r>
            <a:r>
              <a:rPr lang="zh-CN" altLang="en-US" b="0" i="1" dirty="0" smtClean="0"/>
              <a:t>设计优化</a:t>
            </a:r>
            <a:endParaRPr lang="en-US" altLang="zh-CN" b="0" i="1" dirty="0"/>
          </a:p>
        </p:txBody>
      </p:sp>
      <p:sp>
        <p:nvSpPr>
          <p:cNvPr id="200707" name="Rectangle 3"/>
          <p:cNvSpPr>
            <a:spLocks noGrp="1" noChangeArrowheads="1"/>
          </p:cNvSpPr>
          <p:nvPr>
            <p:ph idx="1"/>
          </p:nvPr>
        </p:nvSpPr>
        <p:spPr>
          <a:xfrm>
            <a:off x="685800" y="1600200"/>
            <a:ext cx="7620000" cy="4257692"/>
          </a:xfrm>
        </p:spPr>
        <p:txBody>
          <a:bodyPr/>
          <a:lstStyle/>
          <a:p>
            <a:pPr algn="just">
              <a:spcAft>
                <a:spcPct val="40000"/>
              </a:spcAft>
              <a:buFont typeface="Wingdings" pitchFamily="2" charset="2"/>
              <a:buNone/>
            </a:pPr>
            <a:r>
              <a:rPr lang="zh-CN" altLang="en-US" sz="2600" dirty="0" smtClean="0">
                <a:solidFill>
                  <a:srgbClr val="FF0000"/>
                </a:solidFill>
                <a:latin typeface="宋体" pitchFamily="2" charset="-122"/>
              </a:rPr>
              <a:t>抽象出公共的行为*</a:t>
            </a:r>
            <a:endParaRPr lang="zh-CN" altLang="en-US" sz="2600" dirty="0">
              <a:solidFill>
                <a:srgbClr val="FF0000"/>
              </a:solidFill>
              <a:latin typeface="宋体" pitchFamily="2" charset="-122"/>
            </a:endParaRPr>
          </a:p>
          <a:p>
            <a:r>
              <a:rPr lang="zh-CN" altLang="en-US" sz="2400" dirty="0" smtClean="0">
                <a:ea typeface="宋体" charset="-122"/>
              </a:rPr>
              <a:t>使用继承并不总是在分析阶段。设计阶段，重新检查对象模型，寻找类与类之间的共同性。另外，由于在设计中添加了新类和操作，所以重新检查是很有必要。</a:t>
            </a:r>
            <a:endParaRPr lang="en-US" altLang="zh-CN" sz="2400" dirty="0" smtClean="0">
              <a:ea typeface="宋体" charset="-122"/>
            </a:endParaRPr>
          </a:p>
          <a:p>
            <a:r>
              <a:rPr lang="zh-CN" altLang="en-US" sz="2400" dirty="0" smtClean="0">
                <a:ea typeface="宋体" charset="-122"/>
              </a:rPr>
              <a:t>如果区分出了公共特性，那么可建立一个实现共享特性的公共超类，在子类中只留下专门的特性。这称为抽象出公共超类或公共的行为。</a:t>
            </a:r>
            <a:endParaRPr lang="en-US" altLang="zh-CN" sz="2400" dirty="0" smtClean="0">
              <a:ea typeface="宋体" charset="-122"/>
            </a:endParaRPr>
          </a:p>
          <a:p>
            <a:r>
              <a:rPr lang="zh-CN" altLang="en-US" sz="2400" dirty="0" smtClean="0">
                <a:ea typeface="宋体" charset="-122"/>
              </a:rPr>
              <a:t>通常抽象出的超类是抽象的。抽象出超类是很有价值的，可提高重用性和可扩充性。</a:t>
            </a:r>
          </a:p>
          <a:p>
            <a:pPr lvl="1" algn="just">
              <a:spcAft>
                <a:spcPct val="40000"/>
              </a:spcAft>
              <a:buFont typeface="Wingdings" pitchFamily="2" charset="2"/>
              <a:buNone/>
            </a:pPr>
            <a:endParaRPr lang="en-US" altLang="zh-CN" b="1" dirty="0"/>
          </a:p>
        </p:txBody>
      </p:sp>
      <p:sp>
        <p:nvSpPr>
          <p:cNvPr id="4" name="灯片编号占位符 5"/>
          <p:cNvSpPr>
            <a:spLocks noGrp="1"/>
          </p:cNvSpPr>
          <p:nvPr>
            <p:ph type="sldNum" sz="quarter" idx="12"/>
          </p:nvPr>
        </p:nvSpPr>
        <p:spPr/>
        <p:txBody>
          <a:bodyPr>
            <a:normAutofit/>
          </a:bodyPr>
          <a:lstStyle/>
          <a:p>
            <a:fld id="{E316AD42-C875-4077-9029-5589A4DD91E5}" type="slidenum">
              <a:rPr lang="en-US" altLang="zh-CN"/>
              <a:pPr/>
              <a:t>54</a:t>
            </a:fld>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736600" y="501650"/>
            <a:ext cx="7124700" cy="863600"/>
          </a:xfrm>
        </p:spPr>
        <p:txBody>
          <a:bodyPr/>
          <a:lstStyle/>
          <a:p>
            <a:r>
              <a:rPr lang="zh-CN" altLang="en-US" dirty="0" smtClean="0">
                <a:latin typeface="宋体" pitchFamily="2" charset="-122"/>
              </a:rPr>
              <a:t>小结</a:t>
            </a:r>
            <a:endParaRPr lang="en-US" altLang="zh-CN" b="0" i="1" dirty="0"/>
          </a:p>
        </p:txBody>
      </p:sp>
      <p:sp>
        <p:nvSpPr>
          <p:cNvPr id="180227" name="Rectangle 3"/>
          <p:cNvSpPr>
            <a:spLocks noGrp="1" noChangeArrowheads="1"/>
          </p:cNvSpPr>
          <p:nvPr>
            <p:ph idx="1"/>
          </p:nvPr>
        </p:nvSpPr>
        <p:spPr>
          <a:xfrm>
            <a:off x="685800" y="1600200"/>
            <a:ext cx="7620000" cy="4614882"/>
          </a:xfrm>
        </p:spPr>
        <p:txBody>
          <a:bodyPr/>
          <a:lstStyle/>
          <a:p>
            <a:pPr algn="just">
              <a:spcAft>
                <a:spcPct val="40000"/>
              </a:spcAft>
              <a:buFont typeface="Wingdings" pitchFamily="2" charset="2"/>
              <a:buNone/>
            </a:pPr>
            <a:r>
              <a:rPr lang="zh-CN" altLang="en-US" b="1" dirty="0">
                <a:latin typeface="宋体" pitchFamily="2" charset="-122"/>
              </a:rPr>
              <a:t>	</a:t>
            </a:r>
            <a:r>
              <a:rPr lang="en-US" altLang="zh-CN" dirty="0" smtClean="0">
                <a:latin typeface="宋体" pitchFamily="2" charset="-122"/>
              </a:rPr>
              <a:t>	</a:t>
            </a:r>
            <a:r>
              <a:rPr lang="zh-CN" altLang="en-US" sz="2600" dirty="0" smtClean="0">
                <a:latin typeface="宋体" pitchFamily="2" charset="-122"/>
              </a:rPr>
              <a:t>面向对象设计</a:t>
            </a:r>
            <a:r>
              <a:rPr lang="zh-CN" altLang="en-US" sz="2600" dirty="0">
                <a:latin typeface="宋体" pitchFamily="2" charset="-122"/>
              </a:rPr>
              <a:t>，就是用面向对象观点建立求解空间模型的过程</a:t>
            </a:r>
            <a:r>
              <a:rPr lang="zh-CN" altLang="en-US" sz="2600" dirty="0" smtClean="0">
                <a:latin typeface="宋体" pitchFamily="2" charset="-122"/>
              </a:rPr>
              <a:t>。</a:t>
            </a:r>
            <a:endParaRPr lang="en-US" altLang="zh-CN" sz="2600" dirty="0" smtClean="0">
              <a:latin typeface="宋体" pitchFamily="2" charset="-122"/>
            </a:endParaRPr>
          </a:p>
          <a:p>
            <a:pPr algn="just">
              <a:spcAft>
                <a:spcPct val="40000"/>
              </a:spcAft>
              <a:buFont typeface="Wingdings" pitchFamily="2" charset="2"/>
              <a:buNone/>
            </a:pPr>
            <a:r>
              <a:rPr lang="en-US" altLang="zh-CN" sz="2600" dirty="0" smtClean="0">
                <a:latin typeface="宋体" pitchFamily="2" charset="-122"/>
              </a:rPr>
              <a:t>		</a:t>
            </a:r>
            <a:r>
              <a:rPr lang="zh-CN" altLang="en-US" sz="2600" dirty="0" smtClean="0">
                <a:latin typeface="宋体" pitchFamily="2" charset="-122"/>
              </a:rPr>
              <a:t>通过</a:t>
            </a:r>
            <a:r>
              <a:rPr lang="zh-CN" altLang="en-US" sz="2600" dirty="0">
                <a:latin typeface="宋体" pitchFamily="2" charset="-122"/>
              </a:rPr>
              <a:t>面向对象分析得出的问题域模型，为建立求解空间模型奠定了坚实的基础</a:t>
            </a:r>
            <a:r>
              <a:rPr lang="zh-CN" altLang="en-US" sz="2600" dirty="0" smtClean="0">
                <a:latin typeface="宋体" pitchFamily="2" charset="-122"/>
              </a:rPr>
              <a:t>。</a:t>
            </a:r>
            <a:endParaRPr lang="en-US" altLang="zh-CN" sz="2600" dirty="0" smtClean="0">
              <a:latin typeface="宋体" pitchFamily="2" charset="-122"/>
            </a:endParaRPr>
          </a:p>
          <a:p>
            <a:pPr algn="just">
              <a:spcAft>
                <a:spcPct val="40000"/>
              </a:spcAft>
              <a:buFont typeface="Wingdings" pitchFamily="2" charset="2"/>
              <a:buNone/>
            </a:pPr>
            <a:r>
              <a:rPr lang="en-US" altLang="zh-CN" sz="2600" dirty="0" smtClean="0">
                <a:latin typeface="宋体" pitchFamily="2" charset="-122"/>
              </a:rPr>
              <a:t>		</a:t>
            </a:r>
            <a:r>
              <a:rPr lang="zh-CN" altLang="en-US" sz="2600" dirty="0" smtClean="0">
                <a:latin typeface="宋体" pitchFamily="2" charset="-122"/>
              </a:rPr>
              <a:t>分析</a:t>
            </a:r>
            <a:r>
              <a:rPr lang="zh-CN" altLang="en-US" sz="2600" dirty="0">
                <a:latin typeface="宋体" pitchFamily="2" charset="-122"/>
              </a:rPr>
              <a:t>与设计本质上是一个多次反复迭代的过程，而面向对象分析与面向对象设计的界限尤其模糊。</a:t>
            </a:r>
            <a:endParaRPr lang="en-US" altLang="zh-CN" sz="2600" dirty="0"/>
          </a:p>
        </p:txBody>
      </p:sp>
      <p:sp>
        <p:nvSpPr>
          <p:cNvPr id="4" name="灯片编号占位符 5"/>
          <p:cNvSpPr>
            <a:spLocks noGrp="1"/>
          </p:cNvSpPr>
          <p:nvPr>
            <p:ph type="sldNum" sz="quarter" idx="12"/>
          </p:nvPr>
        </p:nvSpPr>
        <p:spPr/>
        <p:txBody>
          <a:bodyPr>
            <a:normAutofit/>
          </a:bodyPr>
          <a:lstStyle/>
          <a:p>
            <a:fld id="{DC74E459-9DA0-4D79-936B-C55C103D8737}" type="slidenum">
              <a:rPr lang="en-US" altLang="zh-CN"/>
              <a:pPr/>
              <a:t>55</a:t>
            </a:fld>
            <a:endParaRPr lang="en-US" altLang="zh-CN"/>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视点">
  <a:themeElements>
    <a:clrScheme name="视点">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视点">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13610</TotalTime>
  <Words>4071</Words>
  <Application>Microsoft Office PowerPoint</Application>
  <PresentationFormat>全屏显示(4:3)</PresentationFormat>
  <Paragraphs>417</Paragraphs>
  <Slides>55</Slides>
  <Notes>8</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65" baseType="lpstr">
      <vt:lpstr>宋体</vt:lpstr>
      <vt:lpstr>微软雅黑</vt:lpstr>
      <vt:lpstr>Arial</vt:lpstr>
      <vt:lpstr>Times New Roman</vt:lpstr>
      <vt:lpstr>Verdana</vt:lpstr>
      <vt:lpstr>Wingdings</vt:lpstr>
      <vt:lpstr>Wingdings 2</vt:lpstr>
      <vt:lpstr>视点</vt:lpstr>
      <vt:lpstr>Visio</vt:lpstr>
      <vt:lpstr>Microsoft Visio 2003-2010 绘图</vt:lpstr>
      <vt:lpstr>第八章 面向对象设计</vt:lpstr>
      <vt:lpstr>OOD在软件生命周期中的位置</vt:lpstr>
      <vt:lpstr>OOD与OOA的关系</vt:lpstr>
      <vt:lpstr>PowerPoint 演示文稿</vt:lpstr>
      <vt:lpstr>PowerPoint 演示文稿</vt:lpstr>
      <vt:lpstr>PowerPoint 演示文稿</vt:lpstr>
      <vt:lpstr>面向对象设计 OOD</vt:lpstr>
      <vt:lpstr>面向对象设计 OOD</vt:lpstr>
      <vt:lpstr>8.1面向对象设计的准则</vt:lpstr>
      <vt:lpstr>8.1面向对象设计的准则</vt:lpstr>
      <vt:lpstr>PowerPoint 演示文稿</vt:lpstr>
      <vt:lpstr>PowerPoint 演示文稿</vt:lpstr>
      <vt:lpstr>PowerPoint 演示文稿</vt:lpstr>
      <vt:lpstr>PowerPoint 演示文稿</vt:lpstr>
      <vt:lpstr>8.3系统分解</vt:lpstr>
      <vt:lpstr>8.3系统分解</vt:lpstr>
      <vt:lpstr>面向对象设计模型（求解域对象模型）</vt:lpstr>
      <vt:lpstr>1、子系统之间的两种交互方式</vt:lpstr>
      <vt:lpstr>2、组织系统的方案</vt:lpstr>
      <vt:lpstr>8.4 设计问题域子系统</vt:lpstr>
      <vt:lpstr>可能的对问题域模型的修改</vt:lpstr>
      <vt:lpstr>可能的对问题域模型的修改</vt:lpstr>
      <vt:lpstr>可能的对问题域模型的修改</vt:lpstr>
      <vt:lpstr>问题域的设计 *</vt:lpstr>
      <vt:lpstr>问题域的设计 *</vt:lpstr>
      <vt:lpstr>问题域的设计 *</vt:lpstr>
      <vt:lpstr>问题域的设计 *</vt:lpstr>
      <vt:lpstr>8.5设计人－机交互子系统</vt:lpstr>
      <vt:lpstr>PowerPoint 演示文稿</vt:lpstr>
      <vt:lpstr>PowerPoint 演示文稿</vt:lpstr>
      <vt:lpstr>PowerPoint 演示文稿</vt:lpstr>
      <vt:lpstr>8.6设计任务管理子系统</vt:lpstr>
      <vt:lpstr>8.6设计任务管理子系统</vt:lpstr>
      <vt:lpstr>8.7 设计数据管理子系统</vt:lpstr>
      <vt:lpstr>8.7 设计数据管理子系统 *</vt:lpstr>
      <vt:lpstr>8.7 设计数据管理子系统 *</vt:lpstr>
      <vt:lpstr>8.7 设计数据管理子系统 *</vt:lpstr>
      <vt:lpstr>8.7 设计数据管理子系统 *</vt:lpstr>
      <vt:lpstr>PowerPoint 演示文稿</vt:lpstr>
      <vt:lpstr>PowerPoint 演示文稿</vt:lpstr>
      <vt:lpstr>PowerPoint 演示文稿</vt:lpstr>
      <vt:lpstr>PowerPoint 演示文稿</vt:lpstr>
      <vt:lpstr>PowerPoint 演示文稿</vt:lpstr>
      <vt:lpstr>PowerPoint 演示文稿</vt:lpstr>
      <vt:lpstr>8.8 设计类中的服务</vt:lpstr>
      <vt:lpstr>8.8 设计类中的服务</vt:lpstr>
      <vt:lpstr>8.9 设计关联</vt:lpstr>
      <vt:lpstr>8.9 设计关联</vt:lpstr>
      <vt:lpstr>8.10设计优化</vt:lpstr>
      <vt:lpstr>8.10设计优化</vt:lpstr>
      <vt:lpstr>8.10设计优化</vt:lpstr>
      <vt:lpstr>8.10设计优化</vt:lpstr>
      <vt:lpstr>8.10设计优化</vt:lpstr>
      <vt:lpstr>8.10设计优化</vt:lpstr>
      <vt:lpstr>小结</vt:lpstr>
    </vt:vector>
  </TitlesOfParts>
  <Manager/>
  <Company>miti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软件工程</dc:title>
  <dc:subject/>
  <dc:creator>温宇俊</dc:creator>
  <cp:keywords/>
  <dc:description/>
  <cp:lastModifiedBy>张弛</cp:lastModifiedBy>
  <cp:revision>559</cp:revision>
  <dcterms:created xsi:type="dcterms:W3CDTF">2008-02-27T02:45:04Z</dcterms:created>
  <dcterms:modified xsi:type="dcterms:W3CDTF">2021-05-13T05:02:14Z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TC010183732052</vt:lpwstr>
  </property>
</Properties>
</file>
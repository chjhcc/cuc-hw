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m4a" ContentType="audio/mp4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ink/inkAction1.xml" ContentType="application/vnd.ms-office.inkAction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tags/tag4.xml" ContentType="application/vnd.openxmlformats-officedocument.presentationml.tags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6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5" r:id="rId2"/>
    <p:sldId id="420" r:id="rId3"/>
    <p:sldId id="421" r:id="rId4"/>
    <p:sldId id="411" r:id="rId5"/>
    <p:sldId id="422" r:id="rId6"/>
    <p:sldId id="424" r:id="rId7"/>
    <p:sldId id="423" r:id="rId8"/>
    <p:sldId id="425" r:id="rId9"/>
    <p:sldId id="427" r:id="rId10"/>
    <p:sldId id="426" r:id="rId11"/>
    <p:sldId id="410" r:id="rId12"/>
    <p:sldId id="412" r:id="rId13"/>
    <p:sldId id="415" r:id="rId14"/>
    <p:sldId id="417" r:id="rId15"/>
    <p:sldId id="414" r:id="rId16"/>
    <p:sldId id="419" r:id="rId17"/>
    <p:sldId id="429" r:id="rId18"/>
    <p:sldId id="428" r:id="rId19"/>
    <p:sldId id="409" r:id="rId20"/>
    <p:sldId id="431" r:id="rId21"/>
    <p:sldId id="432" r:id="rId22"/>
    <p:sldId id="430" r:id="rId23"/>
    <p:sldId id="368" r:id="rId24"/>
    <p:sldId id="43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弛" initials="zc" lastIdx="1" clrIdx="0">
    <p:extLst>
      <p:ext uri="{19B8F6BF-5375-455C-9EA6-DF929625EA0E}">
        <p15:presenceInfo xmlns:p15="http://schemas.microsoft.com/office/powerpoint/2012/main" userId="张弛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353"/>
    <a:srgbClr val="82A3DE"/>
    <a:srgbClr val="FEBA32"/>
    <a:srgbClr val="89A8DF"/>
    <a:srgbClr val="AAE597"/>
    <a:srgbClr val="77B550"/>
    <a:srgbClr val="AAC0E8"/>
    <a:srgbClr val="5582D3"/>
    <a:srgbClr val="3265B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16" autoAdjust="0"/>
    <p:restoredTop sz="88054" autoAdjust="0"/>
  </p:normalViewPr>
  <p:slideViewPr>
    <p:cSldViewPr snapToGrid="0">
      <p:cViewPr varScale="1">
        <p:scale>
          <a:sx n="76" d="100"/>
          <a:sy n="76" d="100"/>
        </p:scale>
        <p:origin x="61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units="cm"/>
          <inkml:channel name="Y" type="integer" units="cm"/>
          <inkml:channel name="T" type="integer" max="2.14748E9" units="dev"/>
        </inkml:traceFormat>
        <inkml:channelProperties>
          <inkml:channelProperty channel="X" name="resolution" value="0.28222" units="1/cm"/>
          <inkml:channelProperty channel="Y" name="resolution" value="0.28222" units="1/cm"/>
          <inkml:channelProperty channel="T" name="resolution" value="1" units="1/dev"/>
        </inkml:channelProperties>
      </inkml:inkSource>
      <inkml:timestamp xml:id="ts0" timeString="2020-09-21T12:24:30.653Z"/>
    </inkml:context>
    <inkml:brush xml:id="br0">
      <inkml:brushProperty name="width" value="0.07651" units="cm"/>
      <inkml:brushProperty name="height" value="0.07651" units="cm"/>
      <inkml:brushProperty name="color" value="#FFFFFF"/>
    </inkml:brush>
    <inkml:brush xml:id="brinv">
      <inkml:brushProperty name="width" value="0.05" units="cm"/>
      <inkml:brushProperty name="height" value="0.05" units="cm"/>
      <inkml:brushProperty name="color" value="#000000"/>
      <inkml:brushProperty name="transparency" value="255"/>
    </inkml:brush>
  </inkml:definitions>
  <iact:action type="add" startTime="1683">
    <iact:property name="dataType"/>
    <iact:actionData xml:id="d0">
      <inkml:trace xmlns:inkml="http://www.w3.org/2003/InkML" xml:id="stk0" contextRef="#ctx0" brushRef="#br0">9 9 0</inkml:trace>
    </iact:actionData>
  </iact:action>
  <iact:action type="add" startTime="1684">
    <iact:property name="dataType"/>
    <iact:actionData xml:id="d1">
      <inkml:trace xmlns:inkml="http://www.w3.org/2003/InkML" xml:id="stk1" contextRef="#ctx0" brushRef="#brinv">0 0 0</inkml:trace>
    </iact:actionData>
  </iact:action>
  <iact:action type="add" startTime="1685">
    <iact:property name="dataType"/>
    <iact:actionData xml:id="d2">
      <inkml:trace xmlns:inkml="http://www.w3.org/2003/InkML" xml:id="stk2" contextRef="#ctx0" brushRef="#brinv">17 17 0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E7748-2459-448E-9E6E-310BC3CD486D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275B1-7F9A-43B6-B8D5-C1B08A39EE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76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smtClean="0"/>
              <a:t>HD1</a:t>
            </a:r>
            <a:r>
              <a:rPr lang="zh-CN" altLang="en-US" dirty="0" smtClean="0"/>
              <a:t>：软件生命周期的三个阶段</a:t>
            </a:r>
            <a:endParaRPr lang="en-US" altLang="zh-CN" dirty="0" smtClean="0"/>
          </a:p>
          <a:p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ym typeface="Wingdings" panose="05000000000000000000" pitchFamily="2" charset="2"/>
              </a:rPr>
              <a:t>引出 功能建模（本讲内容）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679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不是掌握，是因为还需要反复实践</a:t>
            </a:r>
            <a:r>
              <a:rPr lang="en-US" altLang="zh-CN" dirty="0" smtClean="0"/>
              <a:t>+</a:t>
            </a:r>
            <a:r>
              <a:rPr lang="zh-CN" altLang="en-US" dirty="0" smtClean="0"/>
              <a:t>思考（需要消化沉淀的过程）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606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397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要点：技术和管理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ym typeface="Wingdings" panose="05000000000000000000" pitchFamily="2" charset="2"/>
              </a:rPr>
              <a:t>减少误差累积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、技术问题、商业问题、环境问题、管理问题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2</a:t>
            </a:r>
            <a:r>
              <a:rPr lang="zh-CN" altLang="en-US" dirty="0" smtClean="0"/>
              <a:t>、误差累积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）源头最为关键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需求理解程度很大程度上决定了软件质量的高低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）好的需求规格说明书，为系统分析、设计、测试等奠定基础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738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 smtClean="0"/>
              <a:t>HD2</a:t>
            </a:r>
            <a:r>
              <a:rPr lang="zh-CN" altLang="en-US" dirty="0" smtClean="0"/>
              <a:t>：提问关键词。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 smtClean="0"/>
              <a:t>BS1</a:t>
            </a:r>
            <a:r>
              <a:rPr lang="zh-CN" altLang="en-US" dirty="0" smtClean="0"/>
              <a:t>：做什么</a:t>
            </a:r>
            <a:r>
              <a:rPr lang="en-US" altLang="zh-CN" dirty="0" smtClean="0"/>
              <a:t>/</a:t>
            </a:r>
            <a:r>
              <a:rPr lang="zh-CN" altLang="en-US" dirty="0" smtClean="0"/>
              <a:t>商定</a:t>
            </a:r>
            <a:r>
              <a:rPr lang="en-US" altLang="zh-CN" dirty="0" smtClean="0"/>
              <a:t>/</a:t>
            </a:r>
            <a:r>
              <a:rPr lang="zh-CN" altLang="en-US" dirty="0" smtClean="0"/>
              <a:t>清晰准确具体</a:t>
            </a:r>
            <a:r>
              <a:rPr lang="en-US" altLang="zh-CN" dirty="0" smtClean="0"/>
              <a:t>/</a:t>
            </a:r>
            <a:r>
              <a:rPr lang="zh-CN" altLang="en-US" dirty="0" smtClean="0"/>
              <a:t>书面文档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发现 求精 建模 规格说明 复审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036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对应板书，一一得出；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dirty="0" smtClean="0"/>
              <a:t>发现 求精 建模 规格说明 复审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BS2</a:t>
            </a:r>
            <a:r>
              <a:rPr lang="zh-CN" altLang="en-US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：“建模”。</a:t>
            </a:r>
            <a:endParaRPr lang="en-US" altLang="zh-CN" sz="1200" b="1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BS3</a:t>
            </a:r>
            <a:r>
              <a:rPr lang="zh-CN" altLang="en-US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zh-CN" altLang="en-US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语言，</a:t>
            </a:r>
            <a:r>
              <a:rPr lang="en-US" altLang="zh-CN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petri</a:t>
            </a:r>
            <a:r>
              <a:rPr lang="zh-CN" altLang="en-US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</a:t>
            </a:r>
            <a:endParaRPr lang="en-US" altLang="zh-CN" sz="1200" b="1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SZ1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：全面多角度认识事物，看待社会现象、分析问题（矿泉水瓶：水质、外观、价格）</a:t>
            </a:r>
            <a:endParaRPr lang="en-US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形式化方法</a:t>
            </a:r>
            <a:r>
              <a:rPr lang="zh-CN" altLang="en-US" baseline="0" dirty="0" smtClean="0"/>
              <a:t>：在计算机科学和软件工程领域，是基于数学的特种技术，用于软件和硬件系统的描述、开发和验证。</a:t>
            </a:r>
            <a:endParaRPr lang="en-US" altLang="zh-CN" baseline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 smtClean="0"/>
              <a:t>类比：结构化数据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半结构化数据</a:t>
            </a:r>
            <a:r>
              <a:rPr lang="en-US" altLang="zh-CN" dirty="0" smtClean="0"/>
              <a:t>—</a:t>
            </a:r>
            <a:r>
              <a:rPr lang="zh-CN" altLang="en-US" dirty="0" smtClean="0"/>
              <a:t>非结构化数据。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095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b="1" dirty="0" smtClean="0"/>
              <a:t>要点</a:t>
            </a:r>
            <a:r>
              <a:rPr lang="zh-CN" altLang="en-US" b="1" dirty="0" smtClean="0">
                <a:sym typeface="Wingdings" panose="05000000000000000000" pitchFamily="2" charset="2"/>
              </a:rPr>
              <a:t>：</a:t>
            </a:r>
            <a:r>
              <a:rPr lang="zh-CN" altLang="en-US" dirty="0" smtClean="0">
                <a:sym typeface="Wingdings" panose="05000000000000000000" pitchFamily="2" charset="2"/>
              </a:rPr>
              <a:t>（</a:t>
            </a:r>
            <a:r>
              <a:rPr lang="en-US" altLang="zh-CN" dirty="0" smtClean="0">
                <a:sym typeface="Wingdings" panose="05000000000000000000" pitchFamily="2" charset="2"/>
              </a:rPr>
              <a:t>1</a:t>
            </a:r>
            <a:r>
              <a:rPr lang="zh-CN" altLang="en-US" dirty="0" smtClean="0">
                <a:sym typeface="Wingdings" panose="05000000000000000000" pitchFamily="2" charset="2"/>
              </a:rPr>
              <a:t>）分析问题的角度，建模角度；（</a:t>
            </a:r>
            <a:r>
              <a:rPr lang="en-US" altLang="zh-CN" dirty="0" smtClean="0">
                <a:sym typeface="Wingdings" panose="05000000000000000000" pitchFamily="2" charset="2"/>
              </a:rPr>
              <a:t>2</a:t>
            </a:r>
            <a:r>
              <a:rPr lang="zh-CN" altLang="en-US" dirty="0" smtClean="0">
                <a:sym typeface="Wingdings" panose="05000000000000000000" pitchFamily="2" charset="2"/>
              </a:rPr>
              <a:t>）</a:t>
            </a:r>
            <a:r>
              <a:rPr lang="zh-CN" altLang="en-US" b="1" dirty="0" smtClean="0"/>
              <a:t>功能分解（思考、梳理、设计）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自顶向下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逐步求精</a:t>
            </a:r>
            <a:r>
              <a:rPr lang="zh-CN" altLang="en-US" dirty="0" smtClean="0"/>
              <a:t>（每一步都是一层抽象）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简述业务场景：开机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登录</a:t>
            </a:r>
            <a:r>
              <a:rPr lang="en-US" altLang="zh-CN" dirty="0" smtClean="0"/>
              <a:t>—</a:t>
            </a:r>
            <a:r>
              <a:rPr lang="zh-CN" altLang="en-US" dirty="0" smtClean="0"/>
              <a:t>购买</a:t>
            </a:r>
            <a:r>
              <a:rPr lang="en-US" altLang="zh-CN" dirty="0" smtClean="0"/>
              <a:t>/</a:t>
            </a:r>
            <a:r>
              <a:rPr lang="zh-CN" altLang="en-US" dirty="0" smtClean="0"/>
              <a:t>退还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注销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第三方支付接口（教鞭）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b="1" dirty="0" smtClean="0"/>
              <a:t>BS4</a:t>
            </a:r>
            <a:r>
              <a:rPr lang="zh-CN" altLang="en-US" dirty="0" smtClean="0"/>
              <a:t>：编号</a:t>
            </a:r>
            <a:r>
              <a:rPr lang="en-US" altLang="zh-CN" dirty="0" smtClean="0"/>
              <a:t>/</a:t>
            </a:r>
            <a:r>
              <a:rPr lang="zh-CN" altLang="en-US" dirty="0" smtClean="0"/>
              <a:t>平衡</a:t>
            </a:r>
            <a:r>
              <a:rPr lang="en-US" altLang="zh-CN" dirty="0" smtClean="0"/>
              <a:t>/</a:t>
            </a:r>
            <a:r>
              <a:rPr lang="zh-CN" altLang="en-US" dirty="0" smtClean="0"/>
              <a:t>非控制流（没有明确的先后顺序</a:t>
            </a:r>
            <a:r>
              <a:rPr lang="en-US" altLang="zh-CN" dirty="0" smtClean="0"/>
              <a:t>+</a:t>
            </a:r>
            <a:r>
              <a:rPr lang="zh-CN" altLang="en-US" dirty="0" smtClean="0"/>
              <a:t>不是调用关系，如计算价格，会给一个商品数量就生成应付款并调用显示方法吗）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005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b="1" dirty="0" smtClean="0"/>
              <a:t>加板书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603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 smtClean="0"/>
              <a:t>Answer1</a:t>
            </a:r>
            <a:r>
              <a:rPr lang="zh-CN" altLang="en-US" dirty="0" smtClean="0"/>
              <a:t>、流水账</a:t>
            </a:r>
            <a:r>
              <a:rPr lang="en-US" altLang="zh-CN" dirty="0" smtClean="0"/>
              <a:t>【</a:t>
            </a:r>
            <a:r>
              <a:rPr lang="zh-CN" altLang="en-US" dirty="0" smtClean="0"/>
              <a:t>控制流？</a:t>
            </a:r>
            <a:r>
              <a:rPr lang="en-US" altLang="zh-CN" dirty="0" smtClean="0">
                <a:sym typeface="Wingdings" panose="05000000000000000000" pitchFamily="2" charset="2"/>
              </a:rPr>
              <a:t> </a:t>
            </a:r>
            <a:r>
              <a:rPr lang="zh-CN" altLang="en-US" dirty="0" smtClean="0">
                <a:sym typeface="Wingdings" panose="05000000000000000000" pitchFamily="2" charset="2"/>
              </a:rPr>
              <a:t>做什么？</a:t>
            </a:r>
            <a:r>
              <a:rPr lang="en-US" altLang="zh-CN" dirty="0" smtClean="0">
                <a:sym typeface="Wingdings" panose="05000000000000000000" pitchFamily="2" charset="2"/>
              </a:rPr>
              <a:t>】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 smtClean="0"/>
              <a:t>Answer2: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）用于结构化分析方法的功能模型建模；体现了结构化分析的核心思想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ym typeface="Wingdings" panose="05000000000000000000" pitchFamily="2" charset="2"/>
              </a:rPr>
              <a:t>自顶向下，逐步求精（解决复杂问题的有效方法</a:t>
            </a:r>
            <a:r>
              <a:rPr lang="en-US" altLang="zh-CN" dirty="0" smtClean="0">
                <a:sym typeface="Wingdings" panose="05000000000000000000" pitchFamily="2" charset="2"/>
              </a:rPr>
              <a:t>【SZ2】</a:t>
            </a:r>
            <a:r>
              <a:rPr lang="zh-CN" altLang="en-US" dirty="0" smtClean="0">
                <a:sym typeface="Wingdings" panose="05000000000000000000" pitchFamily="2" charset="2"/>
              </a:rPr>
              <a:t>）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>
                <a:sym typeface="Wingdings" panose="05000000000000000000" pitchFamily="2" charset="2"/>
              </a:rPr>
              <a:t>（</a:t>
            </a:r>
            <a:r>
              <a:rPr lang="en-US" altLang="zh-CN" dirty="0" smtClean="0">
                <a:sym typeface="Wingdings" panose="05000000000000000000" pitchFamily="2" charset="2"/>
              </a:rPr>
              <a:t>2</a:t>
            </a:r>
            <a:r>
              <a:rPr lang="zh-CN" altLang="en-US" dirty="0" smtClean="0">
                <a:sym typeface="Wingdings" panose="05000000000000000000" pitchFamily="2" charset="2"/>
              </a:rPr>
              <a:t>）既适用于结构化程序，又可以单独用于系统业务分析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>
                <a:sym typeface="Wingdings" panose="05000000000000000000" pitchFamily="2" charset="2"/>
              </a:rPr>
              <a:t>何为结构化：语句结构化 </a:t>
            </a:r>
            <a:r>
              <a:rPr lang="en-US" altLang="zh-CN" dirty="0" smtClean="0">
                <a:sym typeface="Wingdings" panose="05000000000000000000" pitchFamily="2" charset="2"/>
              </a:rPr>
              <a:t>/ </a:t>
            </a:r>
            <a:r>
              <a:rPr lang="zh-CN" altLang="en-US" dirty="0" smtClean="0">
                <a:sym typeface="Wingdings" panose="05000000000000000000" pitchFamily="2" charset="2"/>
              </a:rPr>
              <a:t>程序结构化 </a:t>
            </a:r>
            <a:r>
              <a:rPr lang="en-US" altLang="zh-CN" dirty="0" smtClean="0">
                <a:sym typeface="Wingdings" panose="05000000000000000000" pitchFamily="2" charset="2"/>
              </a:rPr>
              <a:t>/ </a:t>
            </a:r>
            <a:r>
              <a:rPr lang="zh-CN" altLang="en-US" dirty="0" smtClean="0">
                <a:sym typeface="Wingdings" panose="05000000000000000000" pitchFamily="2" charset="2"/>
              </a:rPr>
              <a:t>分析过程 </a:t>
            </a:r>
            <a:r>
              <a:rPr lang="en-US" altLang="zh-CN" dirty="0" smtClean="0">
                <a:sym typeface="Wingdings" panose="05000000000000000000" pitchFamily="2" charset="2"/>
              </a:rPr>
              <a:t>- </a:t>
            </a:r>
            <a:r>
              <a:rPr lang="zh-CN" altLang="en-US" dirty="0" smtClean="0">
                <a:sym typeface="Wingdings" panose="05000000000000000000" pitchFamily="2" charset="2"/>
              </a:rPr>
              <a:t>自顶向下逐步求精</a:t>
            </a:r>
            <a:endParaRPr lang="en-US" altLang="zh-CN" dirty="0" smtClean="0">
              <a:sym typeface="Wingdings" panose="05000000000000000000" pitchFamily="2" charset="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02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200" dirty="0" smtClean="0">
                <a:latin typeface="+mn-ea"/>
              </a:rPr>
              <a:t>数据字典和数据流共同构成了系统的功能模型，是结构化分析方法中软件需求说明书的主要组成部分。</a:t>
            </a:r>
            <a:endParaRPr lang="en-US" altLang="zh-CN" sz="1200" dirty="0" smtClean="0">
              <a:latin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200" dirty="0" smtClean="0">
                <a:latin typeface="+mn-ea"/>
              </a:rPr>
              <a:t>外部实体？</a:t>
            </a:r>
            <a:endParaRPr lang="en-US" altLang="zh-CN" sz="1200" dirty="0" smtClean="0">
              <a:latin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939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b="1" dirty="0" smtClean="0"/>
              <a:t>解数学题！陌生而又熟悉。考研</a:t>
            </a:r>
            <a:endParaRPr lang="en-US" altLang="zh-CN" b="1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b="1" dirty="0" smtClean="0"/>
              <a:t>板书</a:t>
            </a:r>
            <a:r>
              <a:rPr lang="zh-CN" altLang="en-US" dirty="0" smtClean="0">
                <a:sym typeface="Wingdings" panose="05000000000000000000" pitchFamily="2" charset="2"/>
              </a:rPr>
              <a:t>：</a:t>
            </a:r>
            <a:r>
              <a:rPr lang="en-US" altLang="zh-CN" dirty="0" smtClean="0">
                <a:sym typeface="Wingdings" panose="05000000000000000000" pitchFamily="2" charset="2"/>
              </a:rPr>
              <a:t>DFD+DD</a:t>
            </a:r>
            <a:r>
              <a:rPr lang="zh-CN" altLang="en-US" dirty="0" smtClean="0">
                <a:sym typeface="Wingdings" panose="05000000000000000000" pitchFamily="2" charset="2"/>
              </a:rPr>
              <a:t>，然后画圈</a:t>
            </a:r>
            <a:r>
              <a:rPr lang="en-US" altLang="zh-CN" dirty="0" smtClean="0">
                <a:sym typeface="Wingdings" panose="05000000000000000000" pitchFamily="2" charset="2"/>
              </a:rPr>
              <a:t>—why how what</a:t>
            </a:r>
            <a:r>
              <a:rPr lang="zh-CN" altLang="en-US" dirty="0" smtClean="0">
                <a:sym typeface="Wingdings" panose="05000000000000000000" pitchFamily="2" charset="2"/>
              </a:rPr>
              <a:t>，并连线。</a:t>
            </a:r>
            <a:endParaRPr lang="en-US" altLang="zh-CN" dirty="0" smtClean="0">
              <a:sym typeface="Wingdings" panose="05000000000000000000" pitchFamily="2" charset="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讲解</a:t>
            </a:r>
            <a:r>
              <a:rPr lang="en-US" altLang="zh-CN" dirty="0" smtClean="0"/>
              <a:t>WHW </a:t>
            </a:r>
            <a:r>
              <a:rPr lang="en-US" altLang="zh-CN" dirty="0" smtClean="0">
                <a:sym typeface="Wingdings" panose="05000000000000000000" pitchFamily="2" charset="2"/>
              </a:rPr>
              <a:t> </a:t>
            </a:r>
            <a:r>
              <a:rPr lang="zh-CN" altLang="en-US" dirty="0" smtClean="0">
                <a:sym typeface="Wingdings" panose="05000000000000000000" pitchFamily="2" charset="2"/>
              </a:rPr>
              <a:t>既是学习方法，又是分析和解决问题的思路</a:t>
            </a:r>
            <a:r>
              <a:rPr lang="en-US" altLang="zh-CN" dirty="0" smtClean="0">
                <a:sym typeface="Wingdings" panose="05000000000000000000" pitchFamily="2" charset="2"/>
              </a:rPr>
              <a:t>【</a:t>
            </a:r>
            <a:r>
              <a:rPr lang="zh-CN" altLang="en-US" dirty="0" smtClean="0">
                <a:sym typeface="Wingdings" panose="05000000000000000000" pitchFamily="2" charset="2"/>
              </a:rPr>
              <a:t>学习导图</a:t>
            </a:r>
            <a:r>
              <a:rPr lang="en-US" altLang="zh-CN" dirty="0" smtClean="0">
                <a:sym typeface="Wingdings" panose="05000000000000000000" pitchFamily="2" charset="2"/>
              </a:rPr>
              <a:t>/</a:t>
            </a:r>
            <a:r>
              <a:rPr lang="zh-CN" altLang="en-US" dirty="0" smtClean="0">
                <a:sym typeface="Wingdings" panose="05000000000000000000" pitchFamily="2" charset="2"/>
              </a:rPr>
              <a:t>解题导图</a:t>
            </a:r>
            <a:r>
              <a:rPr lang="en-US" altLang="zh-CN" dirty="0" smtClean="0">
                <a:sym typeface="Wingdings" panose="05000000000000000000" pitchFamily="2" charset="2"/>
              </a:rPr>
              <a:t>】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150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与板书结合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 smtClean="0"/>
              <a:t>SZ2</a:t>
            </a:r>
            <a:r>
              <a:rPr lang="zh-CN" altLang="en-US" dirty="0" smtClean="0"/>
              <a:t>：</a:t>
            </a:r>
            <a:r>
              <a:rPr lang="zh-CN" altLang="en-US" baseline="0" dirty="0" smtClean="0"/>
              <a:t>大道至简；治大国如烹小鲜（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en-US" altLang="zh-CN" dirty="0" smtClean="0"/>
              <a:t>/</a:t>
            </a:r>
            <a:r>
              <a:rPr lang="zh-CN" altLang="en-US" dirty="0" smtClean="0"/>
              <a:t>类图</a:t>
            </a:r>
            <a:r>
              <a:rPr lang="en-US" altLang="zh-CN" dirty="0" smtClean="0"/>
              <a:t>/</a:t>
            </a:r>
            <a:r>
              <a:rPr lang="zh-CN" altLang="en-US" dirty="0" smtClean="0"/>
              <a:t>物理公式</a:t>
            </a:r>
            <a:r>
              <a:rPr lang="zh-CN" altLang="en-US" baseline="0" dirty="0" smtClean="0"/>
              <a:t>）</a:t>
            </a:r>
            <a:endParaRPr lang="en-US" altLang="zh-CN" baseline="0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baseline="0" dirty="0" smtClean="0"/>
              <a:t>HD1</a:t>
            </a:r>
            <a:r>
              <a:rPr lang="zh-CN" altLang="en-US" baseline="0" dirty="0" smtClean="0"/>
              <a:t>：第三方支付（系统边界处补充新的功能，数据交换）</a:t>
            </a:r>
            <a:endParaRPr lang="en-US" altLang="zh-CN" baseline="0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165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 smtClean="0"/>
              <a:t>HD2</a:t>
            </a:r>
            <a:r>
              <a:rPr lang="zh-CN" altLang="en-US" dirty="0" smtClean="0"/>
              <a:t>：黑盒？有没有问题？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包含：刷卡支付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扩展：调货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308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自然语言？？？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032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反色了，精心设计过的哈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044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15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、描述系统做什么，为分析设计开发提供依据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、抽象：</a:t>
            </a:r>
            <a:r>
              <a:rPr lang="en-US" altLang="zh-CN" dirty="0" smtClean="0"/>
              <a:t>DFD</a:t>
            </a:r>
            <a:r>
              <a:rPr lang="zh-CN" altLang="en-US" dirty="0" smtClean="0"/>
              <a:t>抓住数据流转的本质；</a:t>
            </a:r>
            <a:r>
              <a:rPr lang="en-US" altLang="zh-CN" dirty="0" smtClean="0"/>
              <a:t>UC</a:t>
            </a:r>
            <a:r>
              <a:rPr lang="zh-CN" altLang="en-US" dirty="0" smtClean="0"/>
              <a:t>抓住交互过程的本质；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DFD</a:t>
            </a:r>
            <a:r>
              <a:rPr lang="zh-CN" altLang="en-US" dirty="0" smtClean="0"/>
              <a:t>可用于结构化、</a:t>
            </a:r>
            <a:r>
              <a:rPr lang="en-US" altLang="zh-CN" dirty="0" smtClean="0"/>
              <a:t>OO</a:t>
            </a:r>
            <a:r>
              <a:rPr lang="zh-CN" altLang="en-US" dirty="0" smtClean="0"/>
              <a:t>等方法学。。。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510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 smtClean="0">
                <a:solidFill>
                  <a:srgbClr val="FF0000"/>
                </a:solidFill>
                <a:latin typeface="+mn-lt"/>
                <a:ea typeface="+mn-ea"/>
              </a:rPr>
              <a:t>普适</a:t>
            </a:r>
            <a:r>
              <a:rPr lang="en-US" altLang="zh-CN" sz="1200" b="1" dirty="0" smtClean="0">
                <a:solidFill>
                  <a:srgbClr val="FF0000"/>
                </a:solidFill>
                <a:latin typeface="+mn-lt"/>
                <a:ea typeface="+mn-ea"/>
              </a:rPr>
              <a:t>/</a:t>
            </a:r>
            <a:r>
              <a:rPr lang="zh-CN" altLang="en-US" sz="1200" b="1" dirty="0" smtClean="0">
                <a:solidFill>
                  <a:srgbClr val="FF0000"/>
                </a:solidFill>
                <a:latin typeface="+mn-lt"/>
                <a:ea typeface="+mn-ea"/>
              </a:rPr>
              <a:t>结合</a:t>
            </a:r>
            <a:endParaRPr lang="en-US" altLang="zh-CN" sz="1200" b="1" dirty="0" smtClean="0">
              <a:solidFill>
                <a:srgbClr val="FF0000"/>
              </a:solidFill>
              <a:latin typeface="+mn-lt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 smtClean="0">
                <a:latin typeface="+mn-lt"/>
                <a:ea typeface="+mn-ea"/>
              </a:rPr>
              <a:t>庐山</a:t>
            </a:r>
            <a:r>
              <a:rPr lang="zh-CN" altLang="en-US" sz="1200" b="0" dirty="0" smtClean="0">
                <a:latin typeface="+mn-lt"/>
                <a:ea typeface="+mn-ea"/>
              </a:rPr>
              <a:t>：</a:t>
            </a:r>
            <a:r>
              <a:rPr lang="zh-CN" altLang="en-US" sz="1200" dirty="0" smtClean="0">
                <a:latin typeface="+mn-lt"/>
                <a:ea typeface="+mn-ea"/>
              </a:rPr>
              <a:t>只见树木，不见森林。</a:t>
            </a:r>
            <a:endParaRPr lang="en-US" altLang="zh-CN" sz="1200" dirty="0" smtClean="0">
              <a:latin typeface="+mn-lt"/>
              <a:ea typeface="+mn-ea"/>
            </a:endParaRPr>
          </a:p>
          <a:p>
            <a:r>
              <a:rPr lang="en-US" altLang="zh-CN" sz="2600" dirty="0" smtClean="0"/>
              <a:t>1993</a:t>
            </a:r>
            <a:r>
              <a:rPr lang="zh-CN" altLang="en-US" sz="2600" dirty="0" smtClean="0"/>
              <a:t>年美国</a:t>
            </a:r>
            <a:r>
              <a:rPr lang="en-US" altLang="zh-CN" sz="2600" dirty="0" smtClean="0"/>
              <a:t>《IEEE</a:t>
            </a:r>
            <a:r>
              <a:rPr lang="zh-CN" altLang="en-US" sz="2600" dirty="0" smtClean="0"/>
              <a:t>软件工程标准术语</a:t>
            </a:r>
            <a:r>
              <a:rPr lang="en-US" altLang="zh-CN" sz="2600" dirty="0" smtClean="0"/>
              <a:t>》</a:t>
            </a:r>
            <a:r>
              <a:rPr lang="zh-CN" altLang="en-US" sz="2600" dirty="0" smtClean="0"/>
              <a:t>对</a:t>
            </a:r>
            <a:r>
              <a:rPr lang="zh-CN" altLang="en-US" sz="2600" b="1" dirty="0" smtClean="0">
                <a:solidFill>
                  <a:srgbClr val="FFFF00"/>
                </a:solidFill>
              </a:rPr>
              <a:t>软件工程的定义</a:t>
            </a:r>
            <a:r>
              <a:rPr lang="zh-CN" altLang="en-US" sz="2600" dirty="0" smtClean="0"/>
              <a:t>为：</a:t>
            </a:r>
            <a:endParaRPr lang="en-US" altLang="zh-CN" sz="2600" dirty="0" smtClean="0"/>
          </a:p>
          <a:p>
            <a:pPr lvl="1"/>
            <a:r>
              <a:rPr lang="zh-CN" altLang="en-US" sz="2600" dirty="0" smtClean="0"/>
              <a:t>（</a:t>
            </a:r>
            <a:r>
              <a:rPr lang="en-US" altLang="zh-CN" sz="2600" dirty="0" smtClean="0"/>
              <a:t>1</a:t>
            </a:r>
            <a:r>
              <a:rPr lang="zh-CN" altLang="en-US" sz="2600" dirty="0" smtClean="0"/>
              <a:t>）把系统化的、规范的、可度量的途径应用于软件开发、运行和维护的过程，也就是把工程化应用于软件中；</a:t>
            </a:r>
            <a:endParaRPr lang="en-US" altLang="zh-CN" sz="2600" dirty="0" smtClean="0"/>
          </a:p>
          <a:p>
            <a:pPr lvl="1"/>
            <a:r>
              <a:rPr lang="zh-CN" altLang="en-US" sz="2600" dirty="0" smtClean="0"/>
              <a:t>（</a:t>
            </a:r>
            <a:r>
              <a:rPr lang="en-US" altLang="zh-CN" sz="2600" dirty="0" smtClean="0"/>
              <a:t>2</a:t>
            </a:r>
            <a:r>
              <a:rPr lang="zh-CN" altLang="en-US" sz="2600" dirty="0" smtClean="0"/>
              <a:t>）研究（</a:t>
            </a:r>
            <a:r>
              <a:rPr lang="en-US" altLang="zh-CN" sz="2600" dirty="0" smtClean="0"/>
              <a:t>1)</a:t>
            </a:r>
            <a:r>
              <a:rPr lang="zh-CN" altLang="en-US" sz="2600" dirty="0" smtClean="0"/>
              <a:t>中提到的途径。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普适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DFD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用于任何软件开发方法；用例也是普适的方法，如同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E-R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概念模型。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 smtClean="0"/>
              <a:t>结合</a:t>
            </a:r>
            <a:r>
              <a:rPr lang="zh-CN" altLang="en-US" dirty="0" smtClean="0"/>
              <a:t>：系统物理结构、技术架构、功能结构、数据流图、用例模型。。。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907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知识图谱（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图，意图</a:t>
            </a:r>
            <a:r>
              <a:rPr lang="en-US" altLang="zh-CN" dirty="0" smtClean="0"/>
              <a:t>/</a:t>
            </a:r>
            <a:r>
              <a:rPr lang="zh-CN" altLang="en-US" dirty="0" smtClean="0"/>
              <a:t>事件图谱，社交网络）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抽象：抓住本质、忽略细节（数据流转，忽略调用顺序</a:t>
            </a:r>
            <a:r>
              <a:rPr lang="en-US" altLang="zh-CN" dirty="0" smtClean="0"/>
              <a:t>/</a:t>
            </a:r>
            <a:r>
              <a:rPr lang="zh-CN" altLang="en-US" dirty="0" smtClean="0"/>
              <a:t>外部参与者看到的系统功能，忽略交互过程</a:t>
            </a:r>
            <a:r>
              <a:rPr lang="en-US" altLang="zh-CN" dirty="0" smtClean="0"/>
              <a:t>/</a:t>
            </a:r>
            <a:r>
              <a:rPr lang="zh-CN" altLang="en-US" dirty="0" smtClean="0"/>
              <a:t>交互过程描述，忽略每一项具体信息</a:t>
            </a:r>
            <a:r>
              <a:rPr lang="en-US" altLang="zh-CN" dirty="0" smtClean="0"/>
              <a:t>/</a:t>
            </a:r>
            <a:r>
              <a:rPr lang="zh-CN" altLang="en-US" dirty="0" smtClean="0"/>
              <a:t>数据字典描述数据流的细节）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逐步求精：与抽象相对应，与分层思想都是解决复杂问题的有力武器。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 smtClean="0"/>
              <a:t>分层</a:t>
            </a:r>
            <a:r>
              <a:rPr lang="en-US" altLang="zh-CN" dirty="0" smtClean="0"/>
              <a:t>【</a:t>
            </a:r>
            <a:r>
              <a:rPr lang="zh-CN" altLang="en-US" dirty="0" smtClean="0"/>
              <a:t>避免僵化思维</a:t>
            </a:r>
            <a:r>
              <a:rPr lang="en-US" altLang="zh-CN" dirty="0" err="1" smtClean="0"/>
              <a:t>SyBase</a:t>
            </a:r>
            <a:r>
              <a:rPr lang="en-US" altLang="zh-CN" dirty="0" smtClean="0"/>
              <a:t>】</a:t>
            </a:r>
            <a:r>
              <a:rPr lang="zh-CN" altLang="en-US" dirty="0" smtClean="0"/>
              <a:t>：软件体系结构</a:t>
            </a:r>
            <a:r>
              <a:rPr lang="en-US" altLang="zh-CN" dirty="0" smtClean="0"/>
              <a:t>/</a:t>
            </a:r>
            <a:r>
              <a:rPr lang="zh-CN" altLang="en-US" dirty="0" smtClean="0"/>
              <a:t>数据库设计</a:t>
            </a:r>
            <a:r>
              <a:rPr lang="en-US" altLang="zh-CN" dirty="0" smtClean="0"/>
              <a:t>/</a:t>
            </a:r>
            <a:r>
              <a:rPr lang="zh-CN" altLang="en-US" dirty="0" smtClean="0"/>
              <a:t>计算机网络</a:t>
            </a:r>
            <a:r>
              <a:rPr lang="en-US" altLang="zh-CN" dirty="0" smtClean="0"/>
              <a:t>/</a:t>
            </a:r>
            <a:r>
              <a:rPr lang="zh-CN" altLang="en-US" dirty="0" smtClean="0"/>
              <a:t>组织结构</a:t>
            </a:r>
            <a:endParaRPr lang="en-US" altLang="zh-CN" dirty="0" smtClean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 smtClean="0"/>
              <a:t>WHW</a:t>
            </a:r>
            <a:r>
              <a:rPr lang="zh-CN" altLang="en-US" dirty="0" smtClean="0"/>
              <a:t>反例：常见，听课</a:t>
            </a:r>
            <a:r>
              <a:rPr lang="en-US" altLang="zh-CN" dirty="0" smtClean="0"/>
              <a:t>/</a:t>
            </a:r>
            <a:r>
              <a:rPr lang="zh-CN" altLang="en-US" dirty="0" smtClean="0"/>
              <a:t>读研。</a:t>
            </a:r>
            <a:r>
              <a:rPr lang="zh-CN" altLang="en-US" sz="1200" dirty="0" smtClean="0"/>
              <a:t>学习、做事、解题的</a:t>
            </a:r>
            <a:r>
              <a:rPr lang="zh-CN" altLang="en-US" sz="1400" dirty="0" smtClean="0">
                <a:solidFill>
                  <a:schemeClr val="tx1"/>
                </a:solidFill>
              </a:rPr>
              <a:t>有效方法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407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、理论方法需要大量实践来掌握；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、讨论</a:t>
            </a:r>
            <a:r>
              <a:rPr lang="en-US" altLang="zh-CN" dirty="0" smtClean="0"/>
              <a:t>+</a:t>
            </a:r>
            <a:r>
              <a:rPr lang="zh-CN" altLang="en-US" dirty="0" smtClean="0"/>
              <a:t>思考，越辩越明。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问题：游戏需求分析：兼而有之，数据流图描述数据处理过程；用例图和描述表现用户交互过程；游戏脚本设计游戏情节和发展路径。。。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6623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、理论方法需要大量实践来掌握；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、讨论</a:t>
            </a:r>
            <a:r>
              <a:rPr lang="en-US" altLang="zh-CN" dirty="0" smtClean="0"/>
              <a:t>+</a:t>
            </a:r>
            <a:r>
              <a:rPr lang="zh-CN" altLang="en-US" dirty="0" smtClean="0"/>
              <a:t>思考，越辩越明。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问题：游戏需求分析：兼而有之，数据流图描述数据处理过程；用例图和描述表现用户交互过程；游戏脚本设计游戏情节和发展路径。。。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275B1-7F9A-43B6-B8D5-C1B08A39EEB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907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13D-9AEF-4F3A-B417-E8BF6B8EFC45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C8A-821B-4139-B445-02EC66E8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47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894"/>
          <a:stretch/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1139638" y="706437"/>
            <a:ext cx="2711824" cy="777875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62000" y="609600"/>
            <a:ext cx="1289050" cy="971550"/>
            <a:chOff x="762000" y="609600"/>
            <a:chExt cx="1289050" cy="971550"/>
          </a:xfrm>
        </p:grpSpPr>
        <p:sp>
          <p:nvSpPr>
            <p:cNvPr id="13" name="矩形 12"/>
            <p:cNvSpPr/>
            <p:nvPr/>
          </p:nvSpPr>
          <p:spPr>
            <a:xfrm rot="2664561">
              <a:off x="762000" y="609600"/>
              <a:ext cx="971550" cy="971550"/>
            </a:xfrm>
            <a:prstGeom prst="rect">
              <a:avLst/>
            </a:prstGeom>
            <a:noFill/>
            <a:ln>
              <a:solidFill>
                <a:srgbClr val="F0C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rot="2664561">
              <a:off x="1079500" y="609600"/>
              <a:ext cx="971550" cy="971550"/>
            </a:xfrm>
            <a:prstGeom prst="rect">
              <a:avLst/>
            </a:prstGeom>
            <a:noFill/>
            <a:ln>
              <a:solidFill>
                <a:srgbClr val="F0C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044" y="6378159"/>
            <a:ext cx="2756956" cy="553583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36280" y="6479918"/>
            <a:ext cx="2149874" cy="409612"/>
            <a:chOff x="36280" y="6479918"/>
            <a:chExt cx="2149874" cy="409612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D659FCDE-9D5B-4231-A987-F55D4FFBE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280" y="6479918"/>
              <a:ext cx="408061" cy="40961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364970" y="6489420"/>
              <a:ext cx="1821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dirty="0" smtClean="0">
                  <a:solidFill>
                    <a:schemeClr val="bg1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中国传媒大学</a:t>
              </a:r>
              <a:endParaRPr lang="zh-CN" altLang="en-US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7393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894"/>
          <a:stretch/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530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4" r="29370"/>
          <a:stretch/>
        </p:blipFill>
        <p:spPr>
          <a:xfrm>
            <a:off x="0" y="1"/>
            <a:ext cx="12191999" cy="682865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133850"/>
            <a:ext cx="12192000" cy="2694808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  <a:alpha val="0"/>
                </a:schemeClr>
              </a:gs>
              <a:gs pos="71000">
                <a:srgbClr val="1D1D1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1139638" y="706437"/>
            <a:ext cx="2711824" cy="777875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762000" y="609600"/>
            <a:ext cx="1289050" cy="971550"/>
            <a:chOff x="762000" y="609600"/>
            <a:chExt cx="1289050" cy="971550"/>
          </a:xfrm>
        </p:grpSpPr>
        <p:sp>
          <p:nvSpPr>
            <p:cNvPr id="6" name="矩形 5"/>
            <p:cNvSpPr/>
            <p:nvPr/>
          </p:nvSpPr>
          <p:spPr>
            <a:xfrm rot="2664561">
              <a:off x="762000" y="609600"/>
              <a:ext cx="971550" cy="971550"/>
            </a:xfrm>
            <a:prstGeom prst="rect">
              <a:avLst/>
            </a:prstGeom>
            <a:noFill/>
            <a:ln>
              <a:solidFill>
                <a:srgbClr val="F0C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2664561">
              <a:off x="1079500" y="609600"/>
              <a:ext cx="971550" cy="971550"/>
            </a:xfrm>
            <a:prstGeom prst="rect">
              <a:avLst/>
            </a:prstGeom>
            <a:noFill/>
            <a:ln>
              <a:solidFill>
                <a:srgbClr val="F0C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060368" y="6356124"/>
            <a:ext cx="2131632" cy="484292"/>
            <a:chOff x="10060368" y="6373708"/>
            <a:chExt cx="2131632" cy="484292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659FCDE-9D5B-4231-A987-F55D4FFBE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60368" y="6373708"/>
              <a:ext cx="482458" cy="484292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0468429" y="6415799"/>
              <a:ext cx="17235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2000" dirty="0" smtClean="0">
                  <a:solidFill>
                    <a:schemeClr val="bg1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中国传媒大学</a:t>
              </a:r>
              <a:endPara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932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894"/>
          <a:stretch/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762000" y="609600"/>
            <a:ext cx="1289050" cy="971550"/>
            <a:chOff x="762000" y="609600"/>
            <a:chExt cx="1289050" cy="971550"/>
          </a:xfrm>
        </p:grpSpPr>
        <p:sp>
          <p:nvSpPr>
            <p:cNvPr id="11" name="矩形 10"/>
            <p:cNvSpPr/>
            <p:nvPr/>
          </p:nvSpPr>
          <p:spPr>
            <a:xfrm rot="2664561">
              <a:off x="762000" y="609600"/>
              <a:ext cx="971550" cy="971550"/>
            </a:xfrm>
            <a:prstGeom prst="rect">
              <a:avLst/>
            </a:prstGeom>
            <a:noFill/>
            <a:ln>
              <a:solidFill>
                <a:srgbClr val="F0C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 rot="2664561">
              <a:off x="1079500" y="609600"/>
              <a:ext cx="971550" cy="971550"/>
            </a:xfrm>
            <a:prstGeom prst="rect">
              <a:avLst/>
            </a:prstGeom>
            <a:noFill/>
            <a:ln>
              <a:solidFill>
                <a:srgbClr val="F0C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09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6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894"/>
          <a:stretch/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1828800"/>
            <a:ext cx="12192000" cy="3352800"/>
          </a:xfrm>
          <a:prstGeom prst="rect">
            <a:avLst/>
          </a:prstGeom>
          <a:solidFill>
            <a:srgbClr val="1D1D1D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007642" y="2436926"/>
            <a:ext cx="4176715" cy="57150"/>
            <a:chOff x="4860131" y="2378869"/>
            <a:chExt cx="4176715" cy="57150"/>
          </a:xfrm>
        </p:grpSpPr>
        <p:sp>
          <p:nvSpPr>
            <p:cNvPr id="8" name="椭圆 7"/>
            <p:cNvSpPr/>
            <p:nvPr/>
          </p:nvSpPr>
          <p:spPr>
            <a:xfrm>
              <a:off x="4860131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5000625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5141119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5283994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426869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5569744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5712619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5853113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5993607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6136482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6279357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6422232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6565107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6705601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6846095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6988970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7131845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7274720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7417595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7558089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7698583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7841458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7984333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8127208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8270083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8410577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8551071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693946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8836821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8979696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>
            <a:off x="4007642" y="4418126"/>
            <a:ext cx="4176715" cy="57150"/>
            <a:chOff x="4860131" y="2378869"/>
            <a:chExt cx="4176715" cy="57150"/>
          </a:xfrm>
        </p:grpSpPr>
        <p:sp>
          <p:nvSpPr>
            <p:cNvPr id="39" name="椭圆 38"/>
            <p:cNvSpPr/>
            <p:nvPr/>
          </p:nvSpPr>
          <p:spPr>
            <a:xfrm>
              <a:off x="4860131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5000625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5141119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5283994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5426869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5569744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5712619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5853113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5993607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6136482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6279357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6422232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6565107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6705601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6846095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6988970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7131845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7274720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7417595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7558089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7698583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7841458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7984333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8127208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8270083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8410577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8551071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8693946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8836821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8979696" y="2378869"/>
              <a:ext cx="57150" cy="57150"/>
            </a:xfrm>
            <a:prstGeom prst="ellipse">
              <a:avLst/>
            </a:prstGeom>
            <a:solidFill>
              <a:srgbClr val="D29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446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013D-9AEF-4F3A-B417-E8BF6B8EFC45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C8A-821B-4139-B445-02EC66E8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27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259746" y="3740751"/>
            <a:ext cx="334739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9585"/>
            <a:r>
              <a:rPr kumimoji="1" lang="zh-CN" altLang="en-US" sz="1333" dirty="0">
                <a:solidFill>
                  <a:prstClr val="black">
                    <a:lumMod val="75000"/>
                    <a:lumOff val="25000"/>
                  </a:prstClr>
                </a:solidFill>
              </a:rPr>
              <a:t>点击</a:t>
            </a:r>
            <a:r>
              <a:rPr kumimoji="1" lang="en-US" altLang="zh-CN" sz="1333" dirty="0">
                <a:solidFill>
                  <a:prstClr val="black">
                    <a:lumMod val="75000"/>
                    <a:lumOff val="25000"/>
                  </a:prstClr>
                </a:solidFill>
              </a:rPr>
              <a:t>Logo</a:t>
            </a:r>
            <a:r>
              <a:rPr kumimoji="1" lang="zh-CN" altLang="en-US" sz="1333" dirty="0">
                <a:solidFill>
                  <a:prstClr val="black">
                    <a:lumMod val="75000"/>
                    <a:lumOff val="25000"/>
                  </a:prstClr>
                </a:solidFill>
              </a:rPr>
              <a:t>获取更多优质模板（放映模式）</a:t>
            </a:r>
          </a:p>
        </p:txBody>
      </p:sp>
      <p:pic>
        <p:nvPicPr>
          <p:cNvPr id="3" name="图片 2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441" y="2657355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5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9013D-9AEF-4F3A-B417-E8BF6B8EFC45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25C8A-821B-4139-B445-02EC66E8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75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microsoft.com/office/2011/relationships/inkAction" Target="../ink/inkAction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>
            <a:off x="2744872" y="1483529"/>
            <a:ext cx="2481943" cy="2139606"/>
          </a:xfrm>
          <a:prstGeom prst="triangle">
            <a:avLst/>
          </a:prstGeom>
          <a:solidFill>
            <a:srgbClr val="D29F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10800000">
            <a:off x="2744871" y="2122156"/>
            <a:ext cx="2481943" cy="2139606"/>
          </a:xfrm>
          <a:prstGeom prst="triangle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243809" y="2875451"/>
            <a:ext cx="825150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600" b="1" smtClean="0">
                <a:solidFill>
                  <a:schemeClr val="bg1"/>
                </a:solidFill>
                <a:latin typeface="Bodoni MT Condensed" panose="02070606080606020203" pitchFamily="18" charset="0"/>
                <a:cs typeface="Adobe Arabic" panose="02040503050201020203" pitchFamily="18" charset="-78"/>
              </a:rPr>
              <a:t>第四讲       </a:t>
            </a:r>
            <a:r>
              <a:rPr kumimoji="1" lang="zh-CN" altLang="en-US" sz="3600" b="1" dirty="0" smtClean="0">
                <a:solidFill>
                  <a:schemeClr val="bg1"/>
                </a:solidFill>
                <a:latin typeface="Bodoni MT Condensed" panose="02070606080606020203" pitchFamily="18" charset="0"/>
                <a:cs typeface="Adobe Arabic" panose="02040503050201020203" pitchFamily="18" charset="-78"/>
              </a:rPr>
              <a:t>需求分析</a:t>
            </a:r>
            <a:r>
              <a:rPr kumimoji="1" lang="en-US" altLang="zh-CN" sz="3600" b="1" dirty="0" smtClean="0">
                <a:solidFill>
                  <a:schemeClr val="bg1"/>
                </a:solidFill>
                <a:latin typeface="Bodoni MT Condensed" panose="02070606080606020203" pitchFamily="18" charset="0"/>
                <a:cs typeface="Adobe Arabic" panose="02040503050201020203" pitchFamily="18" charset="-78"/>
              </a:rPr>
              <a:t>  </a:t>
            </a:r>
            <a:r>
              <a:rPr kumimoji="1" lang="zh-CN" altLang="en-US" sz="4400" b="1" dirty="0" smtClean="0">
                <a:solidFill>
                  <a:srgbClr val="FFFF00"/>
                </a:solidFill>
                <a:latin typeface="方正舒体" panose="02010601030101010101" pitchFamily="2" charset="-122"/>
                <a:ea typeface="方正舒体" panose="02010601030101010101" pitchFamily="2" charset="-122"/>
                <a:cs typeface="Adobe Arabic" panose="02040503050201020203" pitchFamily="18" charset="-78"/>
              </a:rPr>
              <a:t>之</a:t>
            </a:r>
            <a:r>
              <a:rPr kumimoji="1" lang="zh-CN" altLang="en-US" sz="3600" b="1" dirty="0" smtClean="0">
                <a:solidFill>
                  <a:schemeClr val="bg1"/>
                </a:solidFill>
                <a:latin typeface="Bodoni MT Condensed" panose="02070606080606020203" pitchFamily="18" charset="0"/>
                <a:cs typeface="Adobe Arabic" panose="02040503050201020203" pitchFamily="18" charset="-78"/>
              </a:rPr>
              <a:t>  </a:t>
            </a:r>
            <a:r>
              <a:rPr kumimoji="1" lang="zh-CN" altLang="en-US" sz="4000" b="1" dirty="0" smtClean="0">
                <a:solidFill>
                  <a:srgbClr val="FFFF00"/>
                </a:solidFill>
                <a:latin typeface="Bodoni MT Condensed" panose="02070606080606020203" pitchFamily="18" charset="0"/>
                <a:cs typeface="Adobe Arabic" panose="02040503050201020203" pitchFamily="18" charset="-78"/>
              </a:rPr>
              <a:t>功能模型建模</a:t>
            </a:r>
            <a:endParaRPr kumimoji="1" lang="zh-CN" altLang="en-US" sz="4000" b="1" dirty="0">
              <a:solidFill>
                <a:srgbClr val="FFFF00"/>
              </a:solidFill>
              <a:latin typeface="Bodoni MT Condensed" panose="02070606080606020203" pitchFamily="18" charset="0"/>
              <a:cs typeface="Adobe Arabic" panose="02040503050201020203" pitchFamily="18" charset="-78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476938" y="5590655"/>
            <a:ext cx="2650670" cy="0"/>
          </a:xfrm>
          <a:prstGeom prst="line">
            <a:avLst/>
          </a:prstGeom>
          <a:ln w="12700">
            <a:solidFill>
              <a:srgbClr val="D29F10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5721D6E-E335-488D-B7B7-CE20DA9A8813}"/>
              </a:ext>
            </a:extLst>
          </p:cNvPr>
          <p:cNvSpPr/>
          <p:nvPr/>
        </p:nvSpPr>
        <p:spPr>
          <a:xfrm>
            <a:off x="6476938" y="5128990"/>
            <a:ext cx="2774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 smtClean="0">
                <a:solidFill>
                  <a:schemeClr val="bg1"/>
                </a:solidFill>
                <a:latin typeface="+mj-ea"/>
                <a:ea typeface="+mj-ea"/>
                <a:cs typeface="Adobe Arabic" panose="02040503050201020203" pitchFamily="18" charset="-78"/>
              </a:rPr>
              <a:t>张 弛 </a:t>
            </a:r>
            <a:endParaRPr kumimoji="1" lang="zh-CN" altLang="en-US" sz="2400" dirty="0">
              <a:solidFill>
                <a:schemeClr val="bg1"/>
              </a:solidFill>
              <a:latin typeface="+mj-ea"/>
              <a:ea typeface="+mj-ea"/>
              <a:cs typeface="Adobe Arabic" panose="02040503050201020203" pitchFamily="18" charset="-78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280" y="6479918"/>
            <a:ext cx="2149874" cy="409612"/>
            <a:chOff x="36280" y="6479918"/>
            <a:chExt cx="2149874" cy="40961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659FCDE-9D5B-4231-A987-F55D4FFBE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280" y="6479918"/>
              <a:ext cx="408061" cy="409612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364970" y="6489420"/>
              <a:ext cx="1821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dirty="0" smtClean="0">
                  <a:solidFill>
                    <a:schemeClr val="bg1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中国传媒大学</a:t>
              </a:r>
              <a:endParaRPr lang="zh-CN" altLang="en-US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044" y="6376402"/>
            <a:ext cx="2756956" cy="55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734839" y="1967635"/>
            <a:ext cx="10935544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734838" y="1967635"/>
            <a:ext cx="10935545" cy="4367177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2291254" y="728525"/>
            <a:ext cx="4952825" cy="777875"/>
          </a:xfrm>
        </p:spPr>
        <p:txBody>
          <a:bodyPr>
            <a:noAutofit/>
          </a:bodyPr>
          <a:lstStyle/>
          <a:p>
            <a:r>
              <a:rPr lang="zh-CN" altLang="en-US" sz="3600" dirty="0" smtClean="0">
                <a:latin typeface="Arial Rounded MT Bold" panose="020F0704030504030204" pitchFamily="34" charset="0"/>
              </a:rPr>
              <a:t>授课目标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4838" y="2075892"/>
            <a:ext cx="107052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C000"/>
                </a:solidFill>
                <a:latin typeface="+mn-ea"/>
              </a:rPr>
              <a:t>理解</a:t>
            </a:r>
            <a:r>
              <a:rPr lang="zh-CN" altLang="en-US" sz="2600" dirty="0" smtClean="0">
                <a:latin typeface="+mn-ea"/>
              </a:rPr>
              <a:t>软件工程建模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C000"/>
                </a:solidFill>
                <a:latin typeface="+mn-ea"/>
              </a:rPr>
              <a:t>理解</a:t>
            </a:r>
            <a:r>
              <a:rPr lang="zh-CN" altLang="en-US" sz="2600" dirty="0" smtClean="0">
                <a:latin typeface="+mn-ea"/>
              </a:rPr>
              <a:t>并可以尝试运用两种功能模型建模方法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C000"/>
                </a:solidFill>
                <a:latin typeface="+mn-ea"/>
              </a:rPr>
              <a:t>理解</a:t>
            </a:r>
            <a:r>
              <a:rPr lang="zh-CN" altLang="en-US" sz="2600" dirty="0" smtClean="0">
                <a:latin typeface="+mn-ea"/>
              </a:rPr>
              <a:t>抽象、逐步求精和分层思想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solidFill>
                  <a:srgbClr val="FEBA32"/>
                </a:solidFill>
                <a:latin typeface="+mn-ea"/>
              </a:rPr>
              <a:t>学习体会</a:t>
            </a:r>
            <a:r>
              <a:rPr lang="zh-CN" altLang="en-US" sz="2600" dirty="0" smtClean="0">
                <a:latin typeface="+mn-ea"/>
              </a:rPr>
              <a:t>“</a:t>
            </a:r>
            <a:r>
              <a:rPr lang="en-US" altLang="zh-CN" sz="2600" dirty="0" smtClean="0">
                <a:latin typeface="+mn-ea"/>
              </a:rPr>
              <a:t>WHW</a:t>
            </a:r>
            <a:r>
              <a:rPr lang="zh-CN" altLang="en-US" sz="2600" dirty="0" smtClean="0">
                <a:latin typeface="+mn-ea"/>
              </a:rPr>
              <a:t>”</a:t>
            </a:r>
            <a:endParaRPr lang="en-US" altLang="zh-CN" sz="2600" dirty="0" smtClean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50731" y="4319751"/>
            <a:ext cx="4645572" cy="544890"/>
          </a:xfrm>
          <a:prstGeom prst="rect">
            <a:avLst/>
          </a:prstGeom>
          <a:solidFill>
            <a:srgbClr val="FEBA32">
              <a:alpha val="9686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02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734839" y="1967635"/>
            <a:ext cx="10935544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734838" y="1967635"/>
            <a:ext cx="10935545" cy="4367177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2291254" y="728525"/>
            <a:ext cx="4952825" cy="777875"/>
          </a:xfrm>
        </p:spPr>
        <p:txBody>
          <a:bodyPr>
            <a:noAutofit/>
          </a:bodyPr>
          <a:lstStyle/>
          <a:p>
            <a:r>
              <a:rPr lang="zh-CN" altLang="en-US" sz="3600" dirty="0" smtClean="0">
                <a:latin typeface="Arial Rounded MT Bold" panose="020F0704030504030204" pitchFamily="34" charset="0"/>
              </a:rPr>
              <a:t>主要</a:t>
            </a:r>
            <a:r>
              <a:rPr lang="zh-CN" altLang="en-US" sz="3600" dirty="0">
                <a:latin typeface="Arial Rounded MT Bold" panose="020F0704030504030204" pitchFamily="34" charset="0"/>
              </a:rPr>
              <a:t>内容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4838" y="2075892"/>
            <a:ext cx="10705265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+mn-ea"/>
              </a:rPr>
              <a:t>一、再看需求分析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+mn-ea"/>
              </a:rPr>
              <a:t>二、数据流图</a:t>
            </a:r>
            <a:r>
              <a:rPr lang="en-US" altLang="zh-CN" sz="2600" dirty="0" smtClean="0">
                <a:latin typeface="+mn-ea"/>
              </a:rPr>
              <a:t>+</a:t>
            </a:r>
            <a:r>
              <a:rPr lang="zh-CN" altLang="en-US" sz="2600" dirty="0" smtClean="0">
                <a:latin typeface="+mn-ea"/>
              </a:rPr>
              <a:t>数据字典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+mn-ea"/>
              </a:rPr>
              <a:t>三、用例图</a:t>
            </a:r>
            <a:r>
              <a:rPr lang="en-US" altLang="zh-CN" sz="2600" dirty="0" smtClean="0">
                <a:latin typeface="+mn-ea"/>
              </a:rPr>
              <a:t>+</a:t>
            </a:r>
            <a:r>
              <a:rPr lang="zh-CN" altLang="en-US" sz="2600" dirty="0" smtClean="0">
                <a:latin typeface="+mn-ea"/>
              </a:rPr>
              <a:t>用例描述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+mn-ea"/>
              </a:rPr>
              <a:t>四、对比分析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+mn-ea"/>
              </a:rPr>
              <a:t>五、总结</a:t>
            </a:r>
            <a:endParaRPr lang="en-US" altLang="zh-CN" sz="26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116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1034631" y="670419"/>
            <a:ext cx="920294" cy="4815981"/>
          </a:xfrm>
        </p:spPr>
        <p:txBody>
          <a:bodyPr>
            <a:noAutofit/>
          </a:bodyPr>
          <a:lstStyle/>
          <a:p>
            <a:r>
              <a:rPr lang="zh-CN" altLang="en-US" sz="3600" dirty="0" smtClean="0">
                <a:latin typeface="Arial Rounded MT Bold" panose="020F0704030504030204" pitchFamily="34" charset="0"/>
              </a:rPr>
              <a:t>一、</a:t>
            </a:r>
            <a:r>
              <a:rPr lang="en-US" altLang="zh-CN" sz="3600" dirty="0" smtClean="0">
                <a:latin typeface="Arial Rounded MT Bold" panose="020F0704030504030204" pitchFamily="34" charset="0"/>
              </a:rPr>
              <a:t/>
            </a:r>
            <a:br>
              <a:rPr lang="en-US" altLang="zh-CN" sz="3600" dirty="0" smtClean="0">
                <a:latin typeface="Arial Rounded MT Bold" panose="020F0704030504030204" pitchFamily="34" charset="0"/>
              </a:rPr>
            </a:br>
            <a:r>
              <a:rPr lang="en-US" altLang="zh-CN" sz="3600" dirty="0">
                <a:latin typeface="Arial Rounded MT Bold" panose="020F0704030504030204" pitchFamily="34" charset="0"/>
              </a:rPr>
              <a:t/>
            </a:r>
            <a:br>
              <a:rPr lang="en-US" altLang="zh-CN" sz="3600" dirty="0">
                <a:latin typeface="Arial Rounded MT Bold" panose="020F0704030504030204" pitchFamily="34" charset="0"/>
              </a:rPr>
            </a:br>
            <a:r>
              <a:rPr lang="zh-CN" altLang="en-US" sz="3600" dirty="0" smtClean="0">
                <a:latin typeface="Arial Rounded MT Bold" panose="020F0704030504030204" pitchFamily="34" charset="0"/>
              </a:rPr>
              <a:t>    </a:t>
            </a:r>
            <a:r>
              <a:rPr lang="zh-CN" altLang="en-US" sz="3600" dirty="0">
                <a:latin typeface="Arial Rounded MT Bold" panose="020F0704030504030204" pitchFamily="34" charset="0"/>
              </a:rPr>
              <a:t>再</a:t>
            </a:r>
            <a:r>
              <a:rPr lang="zh-CN" altLang="en-US" sz="3600" dirty="0" smtClean="0">
                <a:latin typeface="Arial Rounded MT Bold" panose="020F0704030504030204" pitchFamily="34" charset="0"/>
              </a:rPr>
              <a:t>看需求分析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  <p:pic>
        <p:nvPicPr>
          <p:cNvPr id="11" name="内容占位符 4" descr="新图像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3180" y="237561"/>
            <a:ext cx="8762683" cy="6185406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387533" y="305124"/>
            <a:ext cx="1632268" cy="295955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49499" y="282624"/>
            <a:ext cx="1636556" cy="298205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13448" y="289884"/>
            <a:ext cx="1672672" cy="297479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679702" y="289884"/>
            <a:ext cx="1650921" cy="297479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28900" y="3394197"/>
            <a:ext cx="1615440" cy="302877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385311" y="3394197"/>
            <a:ext cx="1625284" cy="302877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149499" y="3397827"/>
            <a:ext cx="1636556" cy="30099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924960" y="3397827"/>
            <a:ext cx="1661159" cy="30099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691214" y="3397827"/>
            <a:ext cx="1639409" cy="30099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081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734839" y="1967635"/>
            <a:ext cx="10935544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734838" y="1954924"/>
            <a:ext cx="10935545" cy="4379888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1066161" y="728525"/>
            <a:ext cx="6177919" cy="777875"/>
          </a:xfrm>
        </p:spPr>
        <p:txBody>
          <a:bodyPr>
            <a:noAutofit/>
          </a:bodyPr>
          <a:lstStyle/>
          <a:p>
            <a:r>
              <a:rPr lang="zh-CN" altLang="en-US" sz="3600" dirty="0" smtClean="0">
                <a:latin typeface="Arial Rounded MT Bold" panose="020F0704030504030204" pitchFamily="34" charset="0"/>
              </a:rPr>
              <a:t>一、    </a:t>
            </a:r>
            <a:r>
              <a:rPr lang="zh-CN" altLang="en-US" sz="3600" dirty="0">
                <a:latin typeface="Arial Rounded MT Bold" panose="020F0704030504030204" pitchFamily="34" charset="0"/>
              </a:rPr>
              <a:t>再</a:t>
            </a:r>
            <a:r>
              <a:rPr lang="zh-CN" altLang="en-US" sz="3600" dirty="0" smtClean="0">
                <a:latin typeface="Arial Rounded MT Bold" panose="020F0704030504030204" pitchFamily="34" charset="0"/>
              </a:rPr>
              <a:t>看需求分析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4838" y="2075892"/>
            <a:ext cx="10705265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solidFill>
                  <a:srgbClr val="FF6600"/>
                </a:solidFill>
                <a:latin typeface="+mn-ea"/>
              </a:rPr>
              <a:t>需求分析（</a:t>
            </a:r>
            <a:r>
              <a:rPr lang="en-US" altLang="zh-CN" sz="2600" dirty="0" smtClean="0">
                <a:solidFill>
                  <a:srgbClr val="FF6600"/>
                </a:solidFill>
                <a:latin typeface="+mn-ea"/>
              </a:rPr>
              <a:t>Requir</a:t>
            </a:r>
            <a:r>
              <a:rPr lang="en-US" altLang="zh-CN" sz="2600" dirty="0">
                <a:solidFill>
                  <a:srgbClr val="FF6600"/>
                </a:solidFill>
                <a:latin typeface="+mn-ea"/>
              </a:rPr>
              <a:t>e</a:t>
            </a:r>
            <a:r>
              <a:rPr lang="en-US" altLang="zh-CN" sz="2600" dirty="0" smtClean="0">
                <a:solidFill>
                  <a:srgbClr val="FF6600"/>
                </a:solidFill>
                <a:latin typeface="+mn-ea"/>
              </a:rPr>
              <a:t>ment Analysis</a:t>
            </a:r>
            <a:r>
              <a:rPr lang="zh-CN" altLang="en-US" sz="2600" dirty="0" smtClean="0">
                <a:solidFill>
                  <a:srgbClr val="FF6600"/>
                </a:solidFill>
                <a:latin typeface="+mn-ea"/>
              </a:rPr>
              <a:t>）</a:t>
            </a:r>
            <a:endParaRPr lang="en-US" altLang="zh-CN" sz="2600" dirty="0" smtClean="0">
              <a:solidFill>
                <a:srgbClr val="FF6600"/>
              </a:solidFill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系统分析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员                        ，并且                           地</a:t>
            </a:r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描述软件产品必须具有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的       、</a:t>
            </a:r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性能、运行规格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等要求。</a:t>
            </a:r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最终把双方共同的理解明确地表达成一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份              </a:t>
            </a:r>
            <a:r>
              <a:rPr lang="en-US" altLang="zh-CN" sz="2400" dirty="0" smtClean="0">
                <a:solidFill>
                  <a:schemeClr val="bg1"/>
                </a:solidFill>
                <a:latin typeface="+mn-ea"/>
              </a:rPr>
              <a:t>——</a:t>
            </a:r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软件需求规格说明书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。</a:t>
            </a:r>
            <a:endParaRPr lang="en-US" altLang="zh-CN" sz="24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93743" y="2815423"/>
            <a:ext cx="2339102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prstClr val="white"/>
                </a:solidFill>
                <a:latin typeface="微软雅黑"/>
              </a:rPr>
              <a:t>与用户一起商定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258159" y="2797779"/>
            <a:ext cx="2646878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清晰、准确、具体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198470" y="389753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书面文档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880473" y="335698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prstClr val="white"/>
                </a:solidFill>
                <a:latin typeface="微软雅黑"/>
              </a:rPr>
              <a:t>功能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225158" y="4943418"/>
            <a:ext cx="1415772" cy="461665"/>
          </a:xfrm>
          <a:prstGeom prst="rect">
            <a:avLst/>
          </a:prstGeom>
          <a:solidFill>
            <a:srgbClr val="CB51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</a:rPr>
              <a:t>阶段成果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98123" y="4936214"/>
            <a:ext cx="1415772" cy="461665"/>
          </a:xfrm>
          <a:prstGeom prst="rect">
            <a:avLst/>
          </a:prstGeom>
          <a:solidFill>
            <a:srgbClr val="CB51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</a:rPr>
              <a:t>设计基础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71088" y="4943418"/>
            <a:ext cx="1415772" cy="461665"/>
          </a:xfrm>
          <a:prstGeom prst="rect">
            <a:avLst/>
          </a:prstGeom>
          <a:solidFill>
            <a:srgbClr val="CB51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</a:rPr>
              <a:t>验收依据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169784" y="4377833"/>
            <a:ext cx="28483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>
            <a:off x="5192110" y="4377833"/>
            <a:ext cx="448820" cy="456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6559809" y="4390544"/>
            <a:ext cx="0" cy="44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7571088" y="4377833"/>
            <a:ext cx="534884" cy="448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10588833" y="588592"/>
            <a:ext cx="1081550" cy="1082923"/>
            <a:chOff x="2489689" y="2188899"/>
            <a:chExt cx="1081550" cy="1082923"/>
          </a:xfrm>
          <a:solidFill>
            <a:srgbClr val="FFC000"/>
          </a:solidFill>
        </p:grpSpPr>
        <p:sp>
          <p:nvSpPr>
            <p:cNvPr id="26" name="椭圆 25"/>
            <p:cNvSpPr/>
            <p:nvPr/>
          </p:nvSpPr>
          <p:spPr>
            <a:xfrm>
              <a:off x="2489689" y="2188899"/>
              <a:ext cx="1081550" cy="1082923"/>
            </a:xfrm>
            <a:prstGeom prst="ellipse">
              <a:avLst/>
            </a:prstGeom>
            <a:grp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562017" y="2468750"/>
              <a:ext cx="959472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685800">
                <a:defRPr sz="2800">
                  <a:solidFill>
                    <a:schemeClr val="bg1"/>
                  </a:solidFill>
                  <a:latin typeface="Bodoni MT Condensed" panose="02070606080606020203" pitchFamily="18" charset="0"/>
                </a:defRPr>
              </a:lvl1pPr>
            </a:lstStyle>
            <a:p>
              <a:pPr algn="ctr"/>
              <a:r>
                <a:rPr lang="en-US" altLang="zh-CN" dirty="0" smtClean="0">
                  <a:latin typeface="Arial Rounded MT Bold" panose="020F0704030504030204" pitchFamily="34" charset="0"/>
                </a:rPr>
                <a:t>Why</a:t>
              </a:r>
              <a:endParaRPr lang="zh-CN" altLang="en-US" dirty="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8" name="标题 2"/>
          <p:cNvSpPr txBox="1">
            <a:spLocks/>
          </p:cNvSpPr>
          <p:nvPr/>
        </p:nvSpPr>
        <p:spPr>
          <a:xfrm>
            <a:off x="8778704" y="891194"/>
            <a:ext cx="1810129" cy="5731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 smtClean="0">
                <a:solidFill>
                  <a:srgbClr val="FFC000"/>
                </a:solidFill>
              </a:rPr>
              <a:t>确定目标</a:t>
            </a:r>
            <a:endParaRPr lang="zh-CN" altLang="en-US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60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3" grpId="0" animBg="1"/>
      <p:bldP spid="11" grpId="0" animBg="1"/>
      <p:bldP spid="12" grpId="0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7155916" y="2030992"/>
            <a:ext cx="4928053" cy="41329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193959" y="2559474"/>
            <a:ext cx="3557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、</a:t>
            </a:r>
            <a:r>
              <a:rPr lang="zh-CN" altLang="en-US" sz="3200" dirty="0" smtClean="0">
                <a:solidFill>
                  <a:schemeClr val="bg1"/>
                </a:solidFill>
                <a:latin typeface="+mn-ea"/>
              </a:rPr>
              <a:t>自然语言</a:t>
            </a:r>
            <a:endParaRPr lang="en-US" altLang="zh-CN" sz="32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193959" y="3353469"/>
            <a:ext cx="3557376" cy="743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rgbClr val="89A8DF"/>
                </a:solidFill>
                <a:latin typeface="+mn-ea"/>
              </a:rPr>
              <a:t>2</a:t>
            </a:r>
            <a:r>
              <a:rPr lang="zh-CN" altLang="en-US" sz="3200" b="1" dirty="0" smtClean="0">
                <a:solidFill>
                  <a:srgbClr val="89A8DF"/>
                </a:solidFill>
                <a:latin typeface="+mn-ea"/>
              </a:rPr>
              <a:t>、建立模型</a:t>
            </a:r>
            <a:endParaRPr lang="en-US" altLang="zh-CN" sz="3200" b="1" dirty="0">
              <a:solidFill>
                <a:srgbClr val="89A8DF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93959" y="4183241"/>
            <a:ext cx="35573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i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3</a:t>
            </a:r>
            <a:r>
              <a:rPr lang="zh-CN" altLang="en-US" sz="3200" i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、形式化方法</a:t>
            </a:r>
            <a:endParaRPr lang="en-US" altLang="zh-CN" sz="3200" i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28861" y="2117287"/>
            <a:ext cx="2474311" cy="8925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600" dirty="0" smtClean="0">
                <a:solidFill>
                  <a:schemeClr val="accent5">
                    <a:lumMod val="50000"/>
                  </a:schemeClr>
                </a:solidFill>
              </a:rPr>
              <a:t>共同语言</a:t>
            </a:r>
            <a:endParaRPr lang="en-US" altLang="zh-CN" sz="26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zh-CN" altLang="en-US" sz="2600" dirty="0" smtClean="0">
                <a:solidFill>
                  <a:schemeClr val="accent5">
                    <a:lumMod val="50000"/>
                  </a:schemeClr>
                </a:solidFill>
              </a:rPr>
              <a:t>简明、易懂</a:t>
            </a:r>
            <a:endParaRPr lang="zh-CN" altLang="en-US" sz="2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28860" y="3278657"/>
            <a:ext cx="2474311" cy="8925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2600" dirty="0">
                <a:solidFill>
                  <a:schemeClr val="accent5">
                    <a:lumMod val="50000"/>
                  </a:schemeClr>
                </a:solidFill>
              </a:rPr>
              <a:t>规范化</a:t>
            </a:r>
            <a:endParaRPr lang="en-US" altLang="zh-CN" sz="26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2600" dirty="0">
                <a:solidFill>
                  <a:schemeClr val="accent5">
                    <a:lumMod val="50000"/>
                  </a:schemeClr>
                </a:solidFill>
              </a:rPr>
              <a:t>图表化</a:t>
            </a:r>
            <a:endParaRPr lang="en-US" altLang="zh-CN" sz="2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28861" y="4453345"/>
            <a:ext cx="2474311" cy="12926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600" dirty="0" smtClean="0">
                <a:solidFill>
                  <a:schemeClr val="accent5">
                    <a:lumMod val="50000"/>
                  </a:schemeClr>
                </a:solidFill>
              </a:rPr>
              <a:t>结构性强</a:t>
            </a:r>
            <a:endParaRPr lang="en-US" altLang="zh-CN" sz="26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zh-CN" altLang="en-US" sz="2600" dirty="0">
                <a:solidFill>
                  <a:schemeClr val="accent5">
                    <a:lumMod val="50000"/>
                  </a:schemeClr>
                </a:solidFill>
              </a:rPr>
              <a:t>层次</a:t>
            </a:r>
            <a:r>
              <a:rPr lang="zh-CN" altLang="en-US" sz="2600" dirty="0" smtClean="0">
                <a:solidFill>
                  <a:schemeClr val="accent5">
                    <a:lumMod val="50000"/>
                  </a:schemeClr>
                </a:solidFill>
              </a:rPr>
              <a:t>清晰</a:t>
            </a:r>
            <a:endParaRPr lang="en-US" altLang="zh-CN" sz="26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zh-CN" altLang="en-US" sz="2600" dirty="0" smtClean="0">
                <a:solidFill>
                  <a:schemeClr val="accent5">
                    <a:lumMod val="50000"/>
                  </a:schemeClr>
                </a:solidFill>
              </a:rPr>
              <a:t>详实可读</a:t>
            </a:r>
            <a:endParaRPr lang="zh-CN" altLang="en-US" sz="2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0588833" y="588592"/>
            <a:ext cx="1081550" cy="1082923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649872" y="868443"/>
            <a:ext cx="959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algn="ctr"/>
            <a:r>
              <a:rPr lang="en-US" altLang="zh-CN" dirty="0">
                <a:latin typeface="Arial Rounded MT Bold" panose="020F0704030504030204" pitchFamily="34" charset="0"/>
              </a:rPr>
              <a:t>How</a:t>
            </a:r>
            <a:endParaRPr lang="zh-CN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27" name="标题 2"/>
          <p:cNvSpPr txBox="1">
            <a:spLocks/>
          </p:cNvSpPr>
          <p:nvPr/>
        </p:nvSpPr>
        <p:spPr>
          <a:xfrm>
            <a:off x="7483366" y="868443"/>
            <a:ext cx="3105467" cy="5731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dirty="0">
                <a:solidFill>
                  <a:srgbClr val="82A3DE"/>
                </a:solidFill>
              </a:rPr>
              <a:t>想</a:t>
            </a:r>
            <a:r>
              <a:rPr lang="zh-CN" altLang="en-US" sz="3200" dirty="0" smtClean="0">
                <a:solidFill>
                  <a:srgbClr val="82A3DE"/>
                </a:solidFill>
              </a:rPr>
              <a:t>办法达到目标</a:t>
            </a:r>
            <a:endParaRPr lang="zh-CN" altLang="en-US" sz="3200" dirty="0">
              <a:solidFill>
                <a:srgbClr val="82A3DE"/>
              </a:solidFill>
            </a:endParaRPr>
          </a:p>
        </p:txBody>
      </p:sp>
      <p:cxnSp>
        <p:nvCxnSpPr>
          <p:cNvPr id="5" name="直接连接符 4"/>
          <p:cNvCxnSpPr>
            <a:stCxn id="41" idx="3"/>
            <a:endCxn id="54" idx="1"/>
          </p:cNvCxnSpPr>
          <p:nvPr/>
        </p:nvCxnSpPr>
        <p:spPr>
          <a:xfrm>
            <a:off x="3003172" y="2563563"/>
            <a:ext cx="1190787" cy="116189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42" idx="3"/>
            <a:endCxn id="54" idx="1"/>
          </p:cNvCxnSpPr>
          <p:nvPr/>
        </p:nvCxnSpPr>
        <p:spPr>
          <a:xfrm>
            <a:off x="3003171" y="3724933"/>
            <a:ext cx="1190788" cy="52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48" idx="3"/>
            <a:endCxn id="54" idx="1"/>
          </p:cNvCxnSpPr>
          <p:nvPr/>
        </p:nvCxnSpPr>
        <p:spPr>
          <a:xfrm flipV="1">
            <a:off x="3003172" y="3725462"/>
            <a:ext cx="1190787" cy="1374214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155918" y="2030992"/>
            <a:ext cx="4928052" cy="4132926"/>
          </a:xfrm>
          <a:prstGeom prst="rect">
            <a:avLst/>
          </a:prstGeom>
          <a:noFill/>
          <a:ln>
            <a:solidFill>
              <a:srgbClr val="FEBA3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AAC0E8"/>
                </a:solidFill>
              </a:rPr>
              <a:t>为理解事物而对事物做出的一种</a:t>
            </a:r>
            <a:r>
              <a:rPr lang="zh-CN" altLang="en-US" sz="2400" dirty="0">
                <a:solidFill>
                  <a:srgbClr val="FFC000"/>
                </a:solidFill>
              </a:rPr>
              <a:t>抽象</a:t>
            </a:r>
            <a:r>
              <a:rPr lang="zh-CN" altLang="en-US" sz="2400" dirty="0">
                <a:solidFill>
                  <a:srgbClr val="AAC0E8"/>
                </a:solidFill>
              </a:rPr>
              <a:t>，是对事物的一种无歧义的书面描述。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AAC0E8"/>
                </a:solidFill>
              </a:rPr>
              <a:t>模型从某</a:t>
            </a:r>
            <a:r>
              <a:rPr lang="zh-CN" altLang="en-US" sz="2400" dirty="0">
                <a:solidFill>
                  <a:srgbClr val="FFC000"/>
                </a:solidFill>
              </a:rPr>
              <a:t>一个建模观点</a:t>
            </a:r>
            <a:r>
              <a:rPr lang="zh-CN" altLang="en-US" sz="2400" dirty="0">
                <a:solidFill>
                  <a:srgbClr val="AAC0E8"/>
                </a:solidFill>
              </a:rPr>
              <a:t>出发，抓住事物最重要的方面而简化或忽略其他方面。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AAC0E8"/>
                </a:solidFill>
              </a:rPr>
              <a:t>软件系统的模型用建模语言来表达，如</a:t>
            </a:r>
            <a:r>
              <a:rPr lang="en-US" altLang="zh-CN" sz="2400" dirty="0">
                <a:solidFill>
                  <a:srgbClr val="AAC0E8"/>
                </a:solidFill>
              </a:rPr>
              <a:t>UML</a:t>
            </a:r>
            <a:r>
              <a:rPr lang="zh-CN" altLang="en-US" sz="2400" dirty="0">
                <a:solidFill>
                  <a:srgbClr val="AAC0E8"/>
                </a:solidFill>
              </a:rPr>
              <a:t>。模型包含语义信息和表示法，可以采用</a:t>
            </a:r>
            <a:r>
              <a:rPr lang="zh-CN" altLang="en-US" sz="2400" dirty="0">
                <a:solidFill>
                  <a:srgbClr val="FFC000"/>
                </a:solidFill>
              </a:rPr>
              <a:t>图形和文字</a:t>
            </a:r>
            <a:r>
              <a:rPr lang="zh-CN" altLang="en-US" sz="2400" dirty="0">
                <a:solidFill>
                  <a:srgbClr val="AAC0E8"/>
                </a:solidFill>
              </a:rPr>
              <a:t>等多种不同形式</a:t>
            </a:r>
            <a:r>
              <a:rPr lang="zh-CN" altLang="en-US" sz="2400" dirty="0" smtClean="0">
                <a:solidFill>
                  <a:srgbClr val="AAC0E8"/>
                </a:solidFill>
              </a:rPr>
              <a:t>。</a:t>
            </a:r>
            <a:endParaRPr lang="zh-CN" altLang="en-US" sz="2400" dirty="0">
              <a:solidFill>
                <a:srgbClr val="AAC0E8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464560" y="877492"/>
            <a:ext cx="3508476" cy="54483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600" dirty="0"/>
              <a:t>描述“系统做什么”</a:t>
            </a:r>
          </a:p>
        </p:txBody>
      </p:sp>
      <p:cxnSp>
        <p:nvCxnSpPr>
          <p:cNvPr id="12" name="直接箭头连接符 11"/>
          <p:cNvCxnSpPr>
            <a:stCxn id="27" idx="1"/>
            <a:endCxn id="10" idx="3"/>
          </p:cNvCxnSpPr>
          <p:nvPr/>
        </p:nvCxnSpPr>
        <p:spPr>
          <a:xfrm flipH="1" flipV="1">
            <a:off x="6973036" y="1149907"/>
            <a:ext cx="510330" cy="5119"/>
          </a:xfrm>
          <a:prstGeom prst="straightConnector1">
            <a:avLst/>
          </a:prstGeom>
          <a:ln w="28575">
            <a:solidFill>
              <a:srgbClr val="89A8DF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36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  <p:bldP spid="54" grpId="0"/>
      <p:bldP spid="2" grpId="0"/>
      <p:bldP spid="41" grpId="0" animBg="1"/>
      <p:bldP spid="42" grpId="0" animBg="1"/>
      <p:bldP spid="48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64338" y="1930176"/>
            <a:ext cx="6515142" cy="2263452"/>
            <a:chOff x="3773214" y="4309240"/>
            <a:chExt cx="7897169" cy="2025571"/>
          </a:xfrm>
        </p:grpSpPr>
        <p:sp>
          <p:nvSpPr>
            <p:cNvPr id="41" name="矩形 40"/>
            <p:cNvSpPr/>
            <p:nvPr/>
          </p:nvSpPr>
          <p:spPr>
            <a:xfrm>
              <a:off x="3773215" y="4315118"/>
              <a:ext cx="7897168" cy="20196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3773214" y="4309240"/>
              <a:ext cx="7897169" cy="2025571"/>
            </a:xfrm>
            <a:prstGeom prst="rect">
              <a:avLst/>
            </a:prstGeom>
            <a:noFill/>
            <a:ln>
              <a:solidFill>
                <a:srgbClr val="D29F1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1040523" y="696993"/>
            <a:ext cx="9595946" cy="777875"/>
          </a:xfrm>
        </p:spPr>
        <p:txBody>
          <a:bodyPr>
            <a:noAutofit/>
          </a:bodyPr>
          <a:lstStyle/>
          <a:p>
            <a:r>
              <a:rPr lang="zh-CN" altLang="en-US" sz="3600" dirty="0" smtClean="0">
                <a:latin typeface="Arial Rounded MT Bold" panose="020F0704030504030204" pitchFamily="34" charset="0"/>
              </a:rPr>
              <a:t>二、  </a:t>
            </a:r>
            <a:r>
              <a:rPr lang="zh-CN" altLang="en-US" sz="36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数据流图</a:t>
            </a:r>
            <a:r>
              <a:rPr lang="zh-CN" altLang="en-US" sz="28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（</a:t>
            </a:r>
            <a:r>
              <a:rPr lang="en-US" altLang="zh-CN" sz="28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Data Flow Diagram</a:t>
            </a:r>
            <a:r>
              <a:rPr lang="zh-CN" altLang="en-US" sz="28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）</a:t>
            </a:r>
            <a:r>
              <a:rPr lang="zh-CN" altLang="en-US" sz="36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800" b="0" dirty="0" smtClean="0">
                <a:latin typeface="Arial Rounded MT Bold" panose="020F0704030504030204" pitchFamily="34" charset="0"/>
              </a:rPr>
              <a:t>+ </a:t>
            </a:r>
            <a:r>
              <a:rPr lang="zh-CN" altLang="en-US" sz="2800" b="0" dirty="0" smtClean="0">
                <a:latin typeface="Arial Rounded MT Bold" panose="020F0704030504030204" pitchFamily="34" charset="0"/>
              </a:rPr>
              <a:t>数据字典</a:t>
            </a:r>
            <a:endParaRPr lang="zh-CN" altLang="en-US" sz="3600" b="0" dirty="0">
              <a:solidFill>
                <a:srgbClr val="FFFF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01353" y="1760899"/>
            <a:ext cx="493839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AAE597"/>
                </a:solidFill>
                <a:latin typeface="+mn-ea"/>
              </a:rPr>
              <a:t>举例</a:t>
            </a:r>
            <a:r>
              <a:rPr lang="zh-CN" altLang="en-US" sz="2400" dirty="0" smtClean="0">
                <a:solidFill>
                  <a:srgbClr val="AAE597"/>
                </a:solidFill>
                <a:latin typeface="+mn-ea"/>
              </a:rPr>
              <a:t>：</a:t>
            </a:r>
            <a:r>
              <a:rPr lang="zh-CN" altLang="en-US" sz="2400" dirty="0" smtClean="0">
                <a:latin typeface="+mn-ea"/>
              </a:rPr>
              <a:t>超市商品销售终端软件</a:t>
            </a:r>
            <a:endParaRPr lang="en-US" altLang="zh-CN" sz="2000" dirty="0" smtClean="0">
              <a:latin typeface="+mn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338582" y="2521370"/>
            <a:ext cx="2176040" cy="96069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 smtClean="0"/>
              <a:t>超市商品销售终端</a:t>
            </a:r>
            <a:endParaRPr lang="zh-CN" altLang="en-US" sz="2200" dirty="0"/>
          </a:p>
        </p:txBody>
      </p:sp>
      <p:sp>
        <p:nvSpPr>
          <p:cNvPr id="3" name="矩形 2"/>
          <p:cNvSpPr/>
          <p:nvPr/>
        </p:nvSpPr>
        <p:spPr>
          <a:xfrm>
            <a:off x="184267" y="2665422"/>
            <a:ext cx="1250066" cy="67133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/>
              <a:t>收银员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37643" y="263227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账号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12" name="直接箭头连接符 11"/>
          <p:cNvCxnSpPr>
            <a:stCxn id="37" idx="1"/>
            <a:endCxn id="2" idx="6"/>
          </p:cNvCxnSpPr>
          <p:nvPr/>
        </p:nvCxnSpPr>
        <p:spPr>
          <a:xfrm flipH="1">
            <a:off x="4514622" y="2997727"/>
            <a:ext cx="672569" cy="399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516729" y="2645668"/>
            <a:ext cx="7039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用户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信息</a:t>
            </a:r>
          </a:p>
        </p:txBody>
      </p:sp>
      <p:cxnSp>
        <p:nvCxnSpPr>
          <p:cNvPr id="14" name="直接箭头连接符 13"/>
          <p:cNvCxnSpPr>
            <a:stCxn id="3" idx="3"/>
            <a:endCxn id="2" idx="2"/>
          </p:cNvCxnSpPr>
          <p:nvPr/>
        </p:nvCxnSpPr>
        <p:spPr>
          <a:xfrm>
            <a:off x="1434333" y="3001088"/>
            <a:ext cx="904249" cy="6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00058" y="1930176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购买商品信息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19" name="曲线连接符 18"/>
          <p:cNvCxnSpPr>
            <a:stCxn id="3" idx="0"/>
            <a:endCxn id="2" idx="1"/>
          </p:cNvCxnSpPr>
          <p:nvPr/>
        </p:nvCxnSpPr>
        <p:spPr>
          <a:xfrm rot="5400000" flipH="1" flipV="1">
            <a:off x="1731598" y="1739764"/>
            <a:ext cx="3361" cy="1847956"/>
          </a:xfrm>
          <a:prstGeom prst="curvedConnector3">
            <a:avLst>
              <a:gd name="adj1" fmla="val 11087533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曲线连接符 29"/>
          <p:cNvCxnSpPr>
            <a:stCxn id="2" idx="3"/>
            <a:endCxn id="3" idx="2"/>
          </p:cNvCxnSpPr>
          <p:nvPr/>
        </p:nvCxnSpPr>
        <p:spPr>
          <a:xfrm rot="5400000" flipH="1">
            <a:off x="1730966" y="2415087"/>
            <a:ext cx="4624" cy="1847956"/>
          </a:xfrm>
          <a:prstGeom prst="curvedConnector3">
            <a:avLst>
              <a:gd name="adj1" fmla="val -7986397"/>
            </a:avLst>
          </a:prstGeom>
          <a:ln>
            <a:headEnd type="triangl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147723" y="3671787"/>
            <a:ext cx="122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付款信息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187191" y="2662061"/>
            <a:ext cx="1250066" cy="67133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 smtClean="0"/>
              <a:t>管理员</a:t>
            </a:r>
            <a:endParaRPr lang="zh-CN" altLang="en-US" sz="2200" dirty="0"/>
          </a:p>
        </p:txBody>
      </p:sp>
      <p:sp>
        <p:nvSpPr>
          <p:cNvPr id="44" name="标题 2"/>
          <p:cNvSpPr txBox="1">
            <a:spLocks/>
          </p:cNvSpPr>
          <p:nvPr/>
        </p:nvSpPr>
        <p:spPr>
          <a:xfrm>
            <a:off x="5187191" y="3671787"/>
            <a:ext cx="1392290" cy="529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0" dirty="0" smtClean="0">
                <a:solidFill>
                  <a:srgbClr val="FFC000"/>
                </a:solidFill>
              </a:rPr>
              <a:t>顶层</a:t>
            </a:r>
            <a:r>
              <a:rPr lang="en-US" altLang="zh-CN" b="0" dirty="0" smtClean="0">
                <a:solidFill>
                  <a:srgbClr val="FFC000"/>
                </a:solidFill>
                <a:latin typeface="+mn-lt"/>
              </a:rPr>
              <a:t>DFD</a:t>
            </a:r>
            <a:endParaRPr lang="zh-CN" altLang="en-US" b="0" dirty="0">
              <a:solidFill>
                <a:srgbClr val="FFC000"/>
              </a:solidFill>
              <a:latin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4339" y="4357384"/>
            <a:ext cx="6515142" cy="2500615"/>
            <a:chOff x="3773214" y="4309240"/>
            <a:chExt cx="7897169" cy="2025571"/>
          </a:xfrm>
        </p:grpSpPr>
        <p:sp>
          <p:nvSpPr>
            <p:cNvPr id="46" name="矩形 45"/>
            <p:cNvSpPr/>
            <p:nvPr/>
          </p:nvSpPr>
          <p:spPr>
            <a:xfrm>
              <a:off x="3773215" y="4315118"/>
              <a:ext cx="7897168" cy="20196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3773214" y="4309240"/>
              <a:ext cx="7897169" cy="2025571"/>
            </a:xfrm>
            <a:prstGeom prst="rect">
              <a:avLst/>
            </a:prstGeom>
            <a:noFill/>
            <a:ln>
              <a:solidFill>
                <a:srgbClr val="D29F1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椭圆 47"/>
          <p:cNvSpPr/>
          <p:nvPr/>
        </p:nvSpPr>
        <p:spPr>
          <a:xfrm>
            <a:off x="1147723" y="4864958"/>
            <a:ext cx="1415220" cy="14152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dirty="0" smtClean="0"/>
              <a:t>1. </a:t>
            </a:r>
            <a:br>
              <a:rPr lang="en-US" altLang="zh-CN" sz="2200" dirty="0" smtClean="0"/>
            </a:br>
            <a:r>
              <a:rPr lang="zh-CN" altLang="en-US" sz="2200" dirty="0" smtClean="0"/>
              <a:t>系统管理</a:t>
            </a:r>
            <a:endParaRPr lang="zh-CN" altLang="en-US" sz="2200" dirty="0"/>
          </a:p>
        </p:txBody>
      </p:sp>
      <p:sp>
        <p:nvSpPr>
          <p:cNvPr id="49" name="椭圆 48"/>
          <p:cNvSpPr/>
          <p:nvPr/>
        </p:nvSpPr>
        <p:spPr>
          <a:xfrm>
            <a:off x="3819294" y="4860853"/>
            <a:ext cx="1415220" cy="14152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dirty="0" smtClean="0"/>
              <a:t>2. </a:t>
            </a:r>
            <a:br>
              <a:rPr lang="en-US" altLang="zh-CN" sz="2200" dirty="0" smtClean="0"/>
            </a:br>
            <a:r>
              <a:rPr lang="zh-CN" altLang="en-US" sz="2200" dirty="0" smtClean="0"/>
              <a:t>购买商品</a:t>
            </a:r>
            <a:endParaRPr lang="zh-CN" altLang="en-US" sz="2200" dirty="0"/>
          </a:p>
        </p:txBody>
      </p:sp>
      <p:grpSp>
        <p:nvGrpSpPr>
          <p:cNvPr id="53" name="组合 52"/>
          <p:cNvGrpSpPr/>
          <p:nvPr/>
        </p:nvGrpSpPr>
        <p:grpSpPr>
          <a:xfrm>
            <a:off x="2735911" y="6154111"/>
            <a:ext cx="905475" cy="226761"/>
            <a:chOff x="7620000" y="4487917"/>
            <a:chExt cx="1177159" cy="351915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7620000" y="4487917"/>
              <a:ext cx="1177159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7620000" y="4839832"/>
              <a:ext cx="1177159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2839834" y="635806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用户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20193" y="556522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账号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59" name="直接箭头连接符 58"/>
          <p:cNvCxnSpPr/>
          <p:nvPr/>
        </p:nvCxnSpPr>
        <p:spPr>
          <a:xfrm>
            <a:off x="316883" y="5943601"/>
            <a:ext cx="904249" cy="6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0" name="曲线连接符 59"/>
          <p:cNvCxnSpPr>
            <a:stCxn id="48" idx="6"/>
          </p:cNvCxnSpPr>
          <p:nvPr/>
        </p:nvCxnSpPr>
        <p:spPr>
          <a:xfrm>
            <a:off x="2562943" y="5572568"/>
            <a:ext cx="464040" cy="581543"/>
          </a:xfrm>
          <a:prstGeom prst="curvedConnector2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曲线连接符 62"/>
          <p:cNvCxnSpPr>
            <a:endCxn id="49" idx="2"/>
          </p:cNvCxnSpPr>
          <p:nvPr/>
        </p:nvCxnSpPr>
        <p:spPr>
          <a:xfrm rot="5400000" flipH="1" flipV="1">
            <a:off x="3319672" y="5654490"/>
            <a:ext cx="585648" cy="413595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320463" y="5214778"/>
            <a:ext cx="904249" cy="63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63712" y="477587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用户信息</a:t>
            </a:r>
            <a:endParaRPr lang="en-US" altLang="zh-CN" sz="2000" dirty="0" smtClean="0">
              <a:solidFill>
                <a:schemeClr val="bg1"/>
              </a:solidFill>
            </a:endParaRPr>
          </a:p>
        </p:txBody>
      </p:sp>
      <p:cxnSp>
        <p:nvCxnSpPr>
          <p:cNvPr id="68" name="直接箭头连接符 67"/>
          <p:cNvCxnSpPr>
            <a:stCxn id="49" idx="6"/>
          </p:cNvCxnSpPr>
          <p:nvPr/>
        </p:nvCxnSpPr>
        <p:spPr>
          <a:xfrm>
            <a:off x="5234514" y="5568463"/>
            <a:ext cx="112486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1" name="曲线连接符 70"/>
          <p:cNvCxnSpPr>
            <a:endCxn id="49" idx="0"/>
          </p:cNvCxnSpPr>
          <p:nvPr/>
        </p:nvCxnSpPr>
        <p:spPr>
          <a:xfrm rot="10800000" flipV="1">
            <a:off x="4526905" y="4637371"/>
            <a:ext cx="1811975" cy="22348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4885835" y="4666831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购买商品信息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209036" y="5587298"/>
            <a:ext cx="122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付款信息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6" name="标题 2"/>
          <p:cNvSpPr txBox="1">
            <a:spLocks/>
          </p:cNvSpPr>
          <p:nvPr/>
        </p:nvSpPr>
        <p:spPr>
          <a:xfrm>
            <a:off x="5177294" y="6379357"/>
            <a:ext cx="1392290" cy="529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0" dirty="0">
                <a:solidFill>
                  <a:srgbClr val="FFC000"/>
                </a:solidFill>
              </a:rPr>
              <a:t>一级</a:t>
            </a:r>
            <a:r>
              <a:rPr lang="en-US" altLang="zh-CN" b="0" dirty="0" smtClean="0">
                <a:solidFill>
                  <a:srgbClr val="FFC000"/>
                </a:solidFill>
                <a:latin typeface="+mn-lt"/>
              </a:rPr>
              <a:t>DFD</a:t>
            </a:r>
            <a:endParaRPr lang="zh-CN" altLang="en-US" b="0" dirty="0">
              <a:solidFill>
                <a:srgbClr val="FFC000"/>
              </a:solidFill>
              <a:latin typeface="+mn-lt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6888510" y="2521370"/>
            <a:ext cx="5230274" cy="4336629"/>
            <a:chOff x="3773214" y="4309240"/>
            <a:chExt cx="7897169" cy="2025571"/>
          </a:xfrm>
        </p:grpSpPr>
        <p:sp>
          <p:nvSpPr>
            <p:cNvPr id="88" name="矩形 87"/>
            <p:cNvSpPr/>
            <p:nvPr/>
          </p:nvSpPr>
          <p:spPr>
            <a:xfrm>
              <a:off x="3773215" y="4315118"/>
              <a:ext cx="7897168" cy="20196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矩形 88"/>
            <p:cNvSpPr/>
            <p:nvPr/>
          </p:nvSpPr>
          <p:spPr>
            <a:xfrm>
              <a:off x="3773214" y="4309240"/>
              <a:ext cx="7897169" cy="2025571"/>
            </a:xfrm>
            <a:prstGeom prst="rect">
              <a:avLst/>
            </a:prstGeom>
            <a:noFill/>
            <a:ln>
              <a:solidFill>
                <a:srgbClr val="D29F1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0" name="椭圆 89"/>
          <p:cNvSpPr/>
          <p:nvPr/>
        </p:nvSpPr>
        <p:spPr>
          <a:xfrm>
            <a:off x="7455498" y="3082335"/>
            <a:ext cx="1255256" cy="125525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dirty="0" smtClean="0"/>
              <a:t>2.1 </a:t>
            </a:r>
            <a:br>
              <a:rPr lang="en-US" altLang="zh-CN" sz="2200" dirty="0" smtClean="0"/>
            </a:br>
            <a:r>
              <a:rPr lang="zh-CN" altLang="en-US" sz="2200" dirty="0" smtClean="0"/>
              <a:t>扫码</a:t>
            </a:r>
            <a:endParaRPr lang="zh-CN" altLang="en-US" sz="2200" dirty="0"/>
          </a:p>
        </p:txBody>
      </p:sp>
      <p:sp>
        <p:nvSpPr>
          <p:cNvPr id="91" name="椭圆 90"/>
          <p:cNvSpPr/>
          <p:nvPr/>
        </p:nvSpPr>
        <p:spPr>
          <a:xfrm>
            <a:off x="9760687" y="3082335"/>
            <a:ext cx="1255256" cy="125525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dirty="0" smtClean="0"/>
              <a:t>2.2 </a:t>
            </a:r>
            <a:endParaRPr lang="en-US" altLang="zh-CN" sz="2200" dirty="0"/>
          </a:p>
          <a:p>
            <a:pPr algn="ctr"/>
            <a:r>
              <a:rPr lang="zh-CN" altLang="en-US" sz="2200" dirty="0" smtClean="0"/>
              <a:t>计算价格</a:t>
            </a:r>
            <a:endParaRPr lang="zh-CN" altLang="en-US" sz="2200" dirty="0"/>
          </a:p>
        </p:txBody>
      </p:sp>
      <p:sp>
        <p:nvSpPr>
          <p:cNvPr id="92" name="椭圆 91"/>
          <p:cNvSpPr/>
          <p:nvPr/>
        </p:nvSpPr>
        <p:spPr>
          <a:xfrm>
            <a:off x="8623424" y="5293273"/>
            <a:ext cx="1255256" cy="125525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dirty="0" smtClean="0"/>
              <a:t>2.3 </a:t>
            </a:r>
            <a:endParaRPr lang="en-US" altLang="zh-CN" sz="2200" dirty="0"/>
          </a:p>
          <a:p>
            <a:pPr algn="ctr"/>
            <a:r>
              <a:rPr lang="zh-CN" altLang="en-US" sz="2200" dirty="0" smtClean="0"/>
              <a:t>收款</a:t>
            </a:r>
            <a:endParaRPr lang="zh-CN" altLang="en-US" sz="2200" dirty="0"/>
          </a:p>
        </p:txBody>
      </p:sp>
      <p:cxnSp>
        <p:nvCxnSpPr>
          <p:cNvPr id="93" name="曲线连接符 92"/>
          <p:cNvCxnSpPr>
            <a:endCxn id="90" idx="0"/>
          </p:cNvCxnSpPr>
          <p:nvPr/>
        </p:nvCxnSpPr>
        <p:spPr>
          <a:xfrm>
            <a:off x="7033193" y="2923880"/>
            <a:ext cx="1049933" cy="158455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/>
        </p:nvSpPr>
        <p:spPr>
          <a:xfrm>
            <a:off x="6989890" y="25352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商品条码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97" name="直接箭头连接符 96"/>
          <p:cNvCxnSpPr>
            <a:stCxn id="90" idx="6"/>
            <a:endCxn id="91" idx="2"/>
          </p:cNvCxnSpPr>
          <p:nvPr/>
        </p:nvCxnSpPr>
        <p:spPr>
          <a:xfrm>
            <a:off x="8710754" y="3709963"/>
            <a:ext cx="10499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8643210" y="327167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商品</a:t>
            </a:r>
            <a:r>
              <a:rPr lang="zh-CN" altLang="en-US" sz="2000" dirty="0">
                <a:solidFill>
                  <a:schemeClr val="bg1"/>
                </a:solidFill>
              </a:rPr>
              <a:t>编号</a:t>
            </a:r>
          </a:p>
        </p:txBody>
      </p:sp>
      <p:cxnSp>
        <p:nvCxnSpPr>
          <p:cNvPr id="102" name="曲线连接符 101"/>
          <p:cNvCxnSpPr>
            <a:endCxn id="91" idx="0"/>
          </p:cNvCxnSpPr>
          <p:nvPr/>
        </p:nvCxnSpPr>
        <p:spPr>
          <a:xfrm rot="10800000" flipV="1">
            <a:off x="10388315" y="2923881"/>
            <a:ext cx="1255256" cy="15845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10521459" y="25352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商品数量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107" name="曲线连接符 106"/>
          <p:cNvCxnSpPr>
            <a:stCxn id="91" idx="3"/>
          </p:cNvCxnSpPr>
          <p:nvPr/>
        </p:nvCxnSpPr>
        <p:spPr>
          <a:xfrm rot="5400000">
            <a:off x="9540108" y="3902054"/>
            <a:ext cx="152699" cy="656117"/>
          </a:xfrm>
          <a:prstGeom prst="curvedConnector4">
            <a:avLst>
              <a:gd name="adj1" fmla="val -49902"/>
              <a:gd name="adj2" fmla="val 103629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09" name="组合 108"/>
          <p:cNvGrpSpPr/>
          <p:nvPr/>
        </p:nvGrpSpPr>
        <p:grpSpPr>
          <a:xfrm>
            <a:off x="8887942" y="4345544"/>
            <a:ext cx="905475" cy="430334"/>
            <a:chOff x="7620000" y="4487917"/>
            <a:chExt cx="1177159" cy="351915"/>
          </a:xfrm>
        </p:grpSpPr>
        <p:cxnSp>
          <p:nvCxnSpPr>
            <p:cNvPr id="110" name="直接连接符 109"/>
            <p:cNvCxnSpPr/>
            <p:nvPr/>
          </p:nvCxnSpPr>
          <p:spPr>
            <a:xfrm>
              <a:off x="7620000" y="4487917"/>
              <a:ext cx="1177159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7620000" y="4839832"/>
              <a:ext cx="1177159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13" name="文本框 112"/>
          <p:cNvSpPr txBox="1"/>
          <p:nvPr/>
        </p:nvSpPr>
        <p:spPr>
          <a:xfrm>
            <a:off x="8825705" y="434554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收付款</a:t>
            </a:r>
          </a:p>
        </p:txBody>
      </p:sp>
      <p:cxnSp>
        <p:nvCxnSpPr>
          <p:cNvPr id="114" name="曲线连接符 113"/>
          <p:cNvCxnSpPr>
            <a:stCxn id="92" idx="0"/>
          </p:cNvCxnSpPr>
          <p:nvPr/>
        </p:nvCxnSpPr>
        <p:spPr>
          <a:xfrm rot="5400000" flipH="1" flipV="1">
            <a:off x="9021932" y="5026807"/>
            <a:ext cx="495587" cy="37347"/>
          </a:xfrm>
          <a:prstGeom prst="curvedConnector3">
            <a:avLst>
              <a:gd name="adj1" fmla="val 50000"/>
            </a:avLst>
          </a:prstGeom>
          <a:ln>
            <a:headEnd type="triangl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曲线连接符 121"/>
          <p:cNvCxnSpPr>
            <a:stCxn id="91" idx="5"/>
          </p:cNvCxnSpPr>
          <p:nvPr/>
        </p:nvCxnSpPr>
        <p:spPr>
          <a:xfrm rot="16200000" flipH="1">
            <a:off x="11144234" y="3841643"/>
            <a:ext cx="271464" cy="895703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3" name="文本框 122"/>
          <p:cNvSpPr txBox="1"/>
          <p:nvPr/>
        </p:nvSpPr>
        <p:spPr>
          <a:xfrm>
            <a:off x="10696915" y="435738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应付款</a:t>
            </a:r>
          </a:p>
        </p:txBody>
      </p:sp>
      <p:cxnSp>
        <p:nvCxnSpPr>
          <p:cNvPr id="130" name="曲线连接符 129"/>
          <p:cNvCxnSpPr>
            <a:endCxn id="92" idx="2"/>
          </p:cNvCxnSpPr>
          <p:nvPr/>
        </p:nvCxnSpPr>
        <p:spPr>
          <a:xfrm flipV="1">
            <a:off x="7152640" y="5920901"/>
            <a:ext cx="1470784" cy="3138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1" name="文本框 130"/>
          <p:cNvSpPr txBox="1"/>
          <p:nvPr/>
        </p:nvSpPr>
        <p:spPr>
          <a:xfrm>
            <a:off x="7413469" y="566722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付款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141" name="曲线连接符 140"/>
          <p:cNvCxnSpPr>
            <a:stCxn id="92" idx="6"/>
          </p:cNvCxnSpPr>
          <p:nvPr/>
        </p:nvCxnSpPr>
        <p:spPr>
          <a:xfrm>
            <a:off x="9878680" y="5920901"/>
            <a:ext cx="1586271" cy="21872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2" name="文本框 141"/>
          <p:cNvSpPr txBox="1"/>
          <p:nvPr/>
        </p:nvSpPr>
        <p:spPr>
          <a:xfrm>
            <a:off x="10582339" y="563015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找零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8" name="标题 2"/>
          <p:cNvSpPr txBox="1">
            <a:spLocks/>
          </p:cNvSpPr>
          <p:nvPr/>
        </p:nvSpPr>
        <p:spPr>
          <a:xfrm>
            <a:off x="10726494" y="6376626"/>
            <a:ext cx="1392290" cy="529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0" dirty="0" smtClean="0">
                <a:solidFill>
                  <a:srgbClr val="FFC000"/>
                </a:solidFill>
              </a:rPr>
              <a:t>二级</a:t>
            </a:r>
            <a:r>
              <a:rPr lang="en-US" altLang="zh-CN" b="0" dirty="0" smtClean="0">
                <a:solidFill>
                  <a:srgbClr val="FFC000"/>
                </a:solidFill>
                <a:latin typeface="+mn-lt"/>
              </a:rPr>
              <a:t>DFD</a:t>
            </a:r>
            <a:endParaRPr lang="zh-CN" altLang="en-US" b="0" dirty="0">
              <a:solidFill>
                <a:srgbClr val="FFC000"/>
              </a:solidFill>
              <a:latin typeface="+mn-lt"/>
            </a:endParaRPr>
          </a:p>
        </p:txBody>
      </p:sp>
      <p:cxnSp>
        <p:nvCxnSpPr>
          <p:cNvPr id="172" name="曲线连接符 171"/>
          <p:cNvCxnSpPr>
            <a:endCxn id="90" idx="4"/>
          </p:cNvCxnSpPr>
          <p:nvPr/>
        </p:nvCxnSpPr>
        <p:spPr>
          <a:xfrm flipV="1">
            <a:off x="7033193" y="4337591"/>
            <a:ext cx="1049933" cy="394865"/>
          </a:xfrm>
          <a:prstGeom prst="curvedConnector2">
            <a:avLst/>
          </a:prstGeom>
          <a:ln>
            <a:solidFill>
              <a:srgbClr val="FF5353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6" name="文本框 175"/>
          <p:cNvSpPr txBox="1"/>
          <p:nvPr/>
        </p:nvSpPr>
        <p:spPr>
          <a:xfrm>
            <a:off x="7159376" y="46702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5353"/>
                </a:solidFill>
              </a:rPr>
              <a:t>当前用户</a:t>
            </a:r>
            <a:endParaRPr lang="zh-CN" altLang="en-US" dirty="0">
              <a:solidFill>
                <a:srgbClr val="FF53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35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/>
      <p:bldP spid="13" grpId="0"/>
      <p:bldP spid="15" grpId="0"/>
      <p:bldP spid="33" grpId="0"/>
      <p:bldP spid="37" grpId="0" animBg="1"/>
      <p:bldP spid="44" grpId="0"/>
      <p:bldP spid="48" grpId="0" animBg="1"/>
      <p:bldP spid="49" grpId="0" animBg="1"/>
      <p:bldP spid="54" grpId="0"/>
      <p:bldP spid="58" grpId="0"/>
      <p:bldP spid="67" grpId="0"/>
      <p:bldP spid="77" grpId="0"/>
      <p:bldP spid="79" grpId="0"/>
      <p:bldP spid="86" grpId="0"/>
      <p:bldP spid="90" grpId="0" animBg="1"/>
      <p:bldP spid="91" grpId="0" animBg="1"/>
      <p:bldP spid="92" grpId="0" animBg="1"/>
      <p:bldP spid="96" grpId="0"/>
      <p:bldP spid="101" grpId="0"/>
      <p:bldP spid="103" grpId="0"/>
      <p:bldP spid="113" grpId="0"/>
      <p:bldP spid="123" grpId="0"/>
      <p:bldP spid="131" grpId="0"/>
      <p:bldP spid="142" grpId="0"/>
      <p:bldP spid="168" grpId="0"/>
      <p:bldP spid="1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/>
          <p:cNvSpPr/>
          <p:nvPr/>
        </p:nvSpPr>
        <p:spPr>
          <a:xfrm>
            <a:off x="734837" y="1953302"/>
            <a:ext cx="10935546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734838" y="1954924"/>
            <a:ext cx="10935545" cy="4379888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1040523" y="696993"/>
            <a:ext cx="9595946" cy="777875"/>
          </a:xfrm>
        </p:spPr>
        <p:txBody>
          <a:bodyPr>
            <a:noAutofit/>
          </a:bodyPr>
          <a:lstStyle/>
          <a:p>
            <a:r>
              <a:rPr lang="zh-CN" altLang="en-US" sz="3600" dirty="0" smtClean="0">
                <a:latin typeface="Arial Rounded MT Bold" panose="020F0704030504030204" pitchFamily="34" charset="0"/>
              </a:rPr>
              <a:t>二、  </a:t>
            </a:r>
            <a:r>
              <a:rPr lang="zh-CN" altLang="en-US" sz="36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数据流图</a:t>
            </a:r>
            <a:r>
              <a:rPr lang="zh-CN" altLang="en-US" sz="28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（</a:t>
            </a:r>
            <a:r>
              <a:rPr lang="en-US" altLang="zh-CN" sz="28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Data Flow Diagram</a:t>
            </a:r>
            <a:r>
              <a:rPr lang="zh-CN" altLang="en-US" sz="28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）</a:t>
            </a:r>
            <a:r>
              <a:rPr lang="zh-CN" altLang="en-US" sz="36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800" b="0" dirty="0" smtClean="0">
                <a:latin typeface="Arial Rounded MT Bold" panose="020F0704030504030204" pitchFamily="34" charset="0"/>
              </a:rPr>
              <a:t>+ </a:t>
            </a:r>
            <a:r>
              <a:rPr lang="zh-CN" altLang="en-US" sz="2800" b="0" dirty="0" smtClean="0">
                <a:latin typeface="Arial Rounded MT Bold" panose="020F0704030504030204" pitchFamily="34" charset="0"/>
              </a:rPr>
              <a:t>数据字典</a:t>
            </a:r>
            <a:endParaRPr lang="zh-CN" altLang="en-US" sz="3600" b="0" dirty="0">
              <a:solidFill>
                <a:srgbClr val="FFFF00"/>
              </a:solidFill>
            </a:endParaRPr>
          </a:p>
        </p:txBody>
      </p:sp>
      <p:sp>
        <p:nvSpPr>
          <p:cNvPr id="50" name="Rectangle 4"/>
          <p:cNvSpPr>
            <a:spLocks noChangeArrowheads="1"/>
          </p:cNvSpPr>
          <p:nvPr/>
        </p:nvSpPr>
        <p:spPr bwMode="auto">
          <a:xfrm>
            <a:off x="1851558" y="5589964"/>
            <a:ext cx="614047" cy="528412"/>
          </a:xfrm>
          <a:prstGeom prst="rect">
            <a:avLst/>
          </a:prstGeom>
          <a:solidFill>
            <a:srgbClr val="77B550"/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55" name="AutoShape 5"/>
          <p:cNvSpPr>
            <a:spLocks noChangeArrowheads="1"/>
          </p:cNvSpPr>
          <p:nvPr/>
        </p:nvSpPr>
        <p:spPr bwMode="auto">
          <a:xfrm>
            <a:off x="901157" y="5559576"/>
            <a:ext cx="579655" cy="646225"/>
          </a:xfrm>
          <a:prstGeom prst="cube">
            <a:avLst>
              <a:gd name="adj" fmla="val 25000"/>
            </a:avLst>
          </a:prstGeom>
          <a:solidFill>
            <a:srgbClr val="77B550"/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grpSp>
        <p:nvGrpSpPr>
          <p:cNvPr id="56" name="Group 12"/>
          <p:cNvGrpSpPr>
            <a:grpSpLocks/>
          </p:cNvGrpSpPr>
          <p:nvPr/>
        </p:nvGrpSpPr>
        <p:grpSpPr bwMode="auto">
          <a:xfrm>
            <a:off x="1922844" y="5076713"/>
            <a:ext cx="471473" cy="142307"/>
            <a:chOff x="4558" y="3022"/>
            <a:chExt cx="363" cy="91"/>
          </a:xfrm>
        </p:grpSpPr>
        <p:sp>
          <p:nvSpPr>
            <p:cNvPr id="57" name="Line 8"/>
            <p:cNvSpPr>
              <a:spLocks noChangeShapeType="1"/>
            </p:cNvSpPr>
            <p:nvPr/>
          </p:nvSpPr>
          <p:spPr bwMode="auto">
            <a:xfrm>
              <a:off x="4558" y="3022"/>
              <a:ext cx="363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" name="Line 9"/>
            <p:cNvSpPr>
              <a:spLocks noChangeShapeType="1"/>
            </p:cNvSpPr>
            <p:nvPr/>
          </p:nvSpPr>
          <p:spPr bwMode="auto">
            <a:xfrm>
              <a:off x="4558" y="3113"/>
              <a:ext cx="363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2" name="Group 11"/>
          <p:cNvGrpSpPr>
            <a:grpSpLocks/>
          </p:cNvGrpSpPr>
          <p:nvPr/>
        </p:nvGrpSpPr>
        <p:grpSpPr bwMode="auto">
          <a:xfrm>
            <a:off x="955247" y="4977404"/>
            <a:ext cx="471474" cy="284614"/>
            <a:chOff x="3969" y="2976"/>
            <a:chExt cx="363" cy="182"/>
          </a:xfrm>
        </p:grpSpPr>
        <p:sp>
          <p:nvSpPr>
            <p:cNvPr id="64" name="Line 6"/>
            <p:cNvSpPr>
              <a:spLocks noChangeShapeType="1"/>
            </p:cNvSpPr>
            <p:nvPr/>
          </p:nvSpPr>
          <p:spPr bwMode="auto">
            <a:xfrm>
              <a:off x="3969" y="2976"/>
              <a:ext cx="363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" name="Line 7"/>
            <p:cNvSpPr>
              <a:spLocks noChangeShapeType="1"/>
            </p:cNvSpPr>
            <p:nvPr/>
          </p:nvSpPr>
          <p:spPr bwMode="auto">
            <a:xfrm>
              <a:off x="3969" y="3158"/>
              <a:ext cx="363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" name="Line 10"/>
            <p:cNvSpPr>
              <a:spLocks noChangeShapeType="1"/>
            </p:cNvSpPr>
            <p:nvPr/>
          </p:nvSpPr>
          <p:spPr bwMode="auto">
            <a:xfrm>
              <a:off x="3969" y="2976"/>
              <a:ext cx="0" cy="182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0" name="AutoShape 13"/>
          <p:cNvSpPr>
            <a:spLocks noChangeArrowheads="1"/>
          </p:cNvSpPr>
          <p:nvPr/>
        </p:nvSpPr>
        <p:spPr bwMode="auto">
          <a:xfrm>
            <a:off x="901157" y="4033823"/>
            <a:ext cx="593911" cy="5443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72" name="Oval 14"/>
          <p:cNvSpPr>
            <a:spLocks noChangeArrowheads="1"/>
          </p:cNvSpPr>
          <p:nvPr/>
        </p:nvSpPr>
        <p:spPr bwMode="auto">
          <a:xfrm>
            <a:off x="1858443" y="4033823"/>
            <a:ext cx="592459" cy="544387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73" name="Line 15"/>
          <p:cNvSpPr>
            <a:spLocks noChangeShapeType="1"/>
          </p:cNvSpPr>
          <p:nvPr/>
        </p:nvSpPr>
        <p:spPr bwMode="auto">
          <a:xfrm>
            <a:off x="1251009" y="3475429"/>
            <a:ext cx="903663" cy="0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none"/>
          <a:lstStyle/>
          <a:p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734837" y="1967635"/>
            <a:ext cx="1070526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AAE597"/>
                </a:solidFill>
                <a:latin typeface="+mn-ea"/>
              </a:rPr>
              <a:t>数据流图</a:t>
            </a:r>
            <a:r>
              <a:rPr lang="zh-CN" altLang="en-US" sz="2600" dirty="0" smtClean="0">
                <a:latin typeface="+mn-ea"/>
              </a:rPr>
              <a:t>（简称</a:t>
            </a:r>
            <a:r>
              <a:rPr lang="en-US" altLang="zh-CN" sz="2600" dirty="0" smtClean="0">
                <a:latin typeface="+mn-ea"/>
              </a:rPr>
              <a:t>DFD</a:t>
            </a:r>
            <a:r>
              <a:rPr lang="zh-CN" altLang="en-US" sz="2600" dirty="0" smtClean="0">
                <a:latin typeface="+mn-ea"/>
              </a:rPr>
              <a:t>）：以</a:t>
            </a:r>
            <a:r>
              <a:rPr lang="zh-CN" altLang="en-US" sz="2600" dirty="0">
                <a:latin typeface="+mn-ea"/>
              </a:rPr>
              <a:t>图形的方式刻画数据从输入到输出的流转变换过程，有层次地描述系统功能</a:t>
            </a:r>
            <a:r>
              <a:rPr lang="zh-CN" altLang="en-US" sz="2600" dirty="0" smtClean="0">
                <a:latin typeface="+mn-ea"/>
              </a:rPr>
              <a:t>。</a:t>
            </a:r>
            <a:endParaRPr lang="en-US" altLang="zh-CN" sz="2600" dirty="0" smtClean="0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82853" y="3190173"/>
            <a:ext cx="163275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数据流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Data Flow 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80" name="矩形 79"/>
          <p:cNvSpPr/>
          <p:nvPr/>
        </p:nvSpPr>
        <p:spPr>
          <a:xfrm>
            <a:off x="734836" y="1950093"/>
            <a:ext cx="10935545" cy="1105449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2809217" y="3987529"/>
            <a:ext cx="198002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数据处理或</a:t>
            </a:r>
            <a:r>
              <a:rPr lang="zh-CN" altLang="en-US" sz="2000" dirty="0" smtClean="0">
                <a:solidFill>
                  <a:schemeClr val="bg1"/>
                </a:solidFill>
              </a:rPr>
              <a:t>加工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（ </a:t>
            </a:r>
            <a:r>
              <a:rPr lang="en-US" altLang="zh-CN" dirty="0">
                <a:solidFill>
                  <a:schemeClr val="bg1"/>
                </a:solidFill>
              </a:rPr>
              <a:t>Data Process 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2931335" y="4805819"/>
            <a:ext cx="173579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数据</a:t>
            </a:r>
            <a:r>
              <a:rPr lang="zh-CN" altLang="en-US" sz="2000" dirty="0" smtClean="0">
                <a:solidFill>
                  <a:schemeClr val="bg1"/>
                </a:solidFill>
              </a:rPr>
              <a:t>存储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（ </a:t>
            </a:r>
            <a:r>
              <a:rPr lang="en-US" altLang="zh-CN" dirty="0">
                <a:solidFill>
                  <a:schemeClr val="bg1"/>
                </a:solidFill>
              </a:rPr>
              <a:t>Data Store 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2741443" y="5624109"/>
            <a:ext cx="211557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</a:rPr>
              <a:t>外部实体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（ </a:t>
            </a:r>
            <a:r>
              <a:rPr lang="en-US" altLang="zh-CN" dirty="0">
                <a:solidFill>
                  <a:schemeClr val="bg1"/>
                </a:solidFill>
              </a:rPr>
              <a:t>External Entity 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789246" y="3211079"/>
            <a:ext cx="6650856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流动中的数据</a:t>
            </a:r>
            <a:r>
              <a:rPr lang="zh-CN" altLang="en-US" dirty="0" smtClean="0"/>
              <a:t>，在两个加工之间、外部实体与加工之间、数据存储与加工之间流动。</a:t>
            </a:r>
            <a:endParaRPr lang="zh-CN" altLang="en-US" dirty="0"/>
          </a:p>
        </p:txBody>
      </p:sp>
      <p:sp>
        <p:nvSpPr>
          <p:cNvPr id="84" name="文本框 83"/>
          <p:cNvSpPr txBox="1"/>
          <p:nvPr/>
        </p:nvSpPr>
        <p:spPr>
          <a:xfrm>
            <a:off x="4789246" y="4117806"/>
            <a:ext cx="6650856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对数据进行某种操作或变换</a:t>
            </a:r>
            <a:r>
              <a:rPr lang="zh-CN" altLang="en-US" dirty="0">
                <a:solidFill>
                  <a:schemeClr val="tx1"/>
                </a:solidFill>
              </a:rPr>
              <a:t>。用动词短语命名。分层时需加编号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85" name="文本框 84"/>
          <p:cNvSpPr txBox="1"/>
          <p:nvPr/>
        </p:nvSpPr>
        <p:spPr>
          <a:xfrm>
            <a:off x="4789246" y="4962091"/>
            <a:ext cx="6650856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数据库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zh-CN" altLang="en-US" dirty="0" smtClean="0">
                <a:solidFill>
                  <a:schemeClr val="tx1"/>
                </a:solidFill>
              </a:rPr>
              <a:t>文件</a:t>
            </a:r>
            <a:r>
              <a:rPr lang="zh-CN" altLang="en-US" dirty="0">
                <a:solidFill>
                  <a:schemeClr val="tx1"/>
                </a:solidFill>
              </a:rPr>
              <a:t>或任何形式的数据组织</a:t>
            </a:r>
            <a:r>
              <a:rPr lang="zh-CN" altLang="en-US" dirty="0" smtClean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789246" y="5698022"/>
            <a:ext cx="6650856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软件系统外部环境中的实体（包括人员、组织或其他软件系统）。</a:t>
            </a:r>
          </a:p>
        </p:txBody>
      </p:sp>
    </p:spTree>
    <p:extLst>
      <p:ext uri="{BB962C8B-B14F-4D97-AF65-F5344CB8AC3E}">
        <p14:creationId xmlns:p14="http://schemas.microsoft.com/office/powerpoint/2010/main" val="402121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5" grpId="0" animBg="1"/>
      <p:bldP spid="70" grpId="0" animBg="1"/>
      <p:bldP spid="72" grpId="0" animBg="1"/>
      <p:bldP spid="73" grpId="0" animBg="1"/>
      <p:bldP spid="11" grpId="0"/>
      <p:bldP spid="81" grpId="0"/>
      <p:bldP spid="82" grpId="0"/>
      <p:bldP spid="83" grpId="0"/>
      <p:bldP spid="16" grpId="0" animBg="1"/>
      <p:bldP spid="84" grpId="0" animBg="1"/>
      <p:bldP spid="85" grpId="0" animBg="1"/>
      <p:bldP spid="9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734839" y="1967635"/>
            <a:ext cx="10935544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734838" y="1954924"/>
            <a:ext cx="10935545" cy="4379888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34838" y="2261792"/>
            <a:ext cx="1070526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solidFill>
                  <a:srgbClr val="FF5353"/>
                </a:solidFill>
                <a:latin typeface="+mn-ea"/>
              </a:rPr>
              <a:t>问题 </a:t>
            </a:r>
            <a:r>
              <a:rPr lang="en-US" altLang="zh-CN" sz="2600" dirty="0" smtClean="0">
                <a:solidFill>
                  <a:srgbClr val="FF5353"/>
                </a:solidFill>
                <a:latin typeface="+mn-ea"/>
              </a:rPr>
              <a:t>1 </a:t>
            </a:r>
            <a:r>
              <a:rPr lang="zh-CN" altLang="en-US" sz="2400" dirty="0" smtClean="0">
                <a:latin typeface="+mn-ea"/>
              </a:rPr>
              <a:t>：从描述“系统做什么”来看，直观吗？</a:t>
            </a:r>
            <a:endParaRPr lang="en-US" altLang="zh-CN" sz="2600" dirty="0" smtClean="0">
              <a:solidFill>
                <a:srgbClr val="FF6600"/>
              </a:solidFill>
              <a:latin typeface="+mn-ea"/>
            </a:endParaRPr>
          </a:p>
        </p:txBody>
      </p:sp>
      <p:sp>
        <p:nvSpPr>
          <p:cNvPr id="29" name="标题 2"/>
          <p:cNvSpPr>
            <a:spLocks noGrp="1"/>
          </p:cNvSpPr>
          <p:nvPr>
            <p:ph type="title"/>
          </p:nvPr>
        </p:nvSpPr>
        <p:spPr>
          <a:xfrm>
            <a:off x="1040523" y="696993"/>
            <a:ext cx="9595946" cy="777875"/>
          </a:xfrm>
        </p:spPr>
        <p:txBody>
          <a:bodyPr>
            <a:noAutofit/>
          </a:bodyPr>
          <a:lstStyle/>
          <a:p>
            <a:r>
              <a:rPr lang="zh-CN" altLang="en-US" sz="3600" dirty="0" smtClean="0">
                <a:latin typeface="Arial Rounded MT Bold" panose="020F0704030504030204" pitchFamily="34" charset="0"/>
              </a:rPr>
              <a:t>二、  </a:t>
            </a:r>
            <a:r>
              <a:rPr lang="zh-CN" altLang="en-US" sz="36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数据流图</a:t>
            </a:r>
            <a:r>
              <a:rPr lang="zh-CN" altLang="en-US" sz="28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（</a:t>
            </a:r>
            <a:r>
              <a:rPr lang="en-US" altLang="zh-CN" sz="28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Data Flow Diagram</a:t>
            </a:r>
            <a:r>
              <a:rPr lang="zh-CN" altLang="en-US" sz="28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）</a:t>
            </a:r>
            <a:r>
              <a:rPr lang="zh-CN" altLang="en-US" sz="36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800" b="0" dirty="0" smtClean="0">
                <a:latin typeface="Arial Rounded MT Bold" panose="020F0704030504030204" pitchFamily="34" charset="0"/>
              </a:rPr>
              <a:t>+ </a:t>
            </a:r>
            <a:r>
              <a:rPr lang="zh-CN" altLang="en-US" sz="2800" b="0" dirty="0" smtClean="0">
                <a:latin typeface="Arial Rounded MT Bold" panose="020F0704030504030204" pitchFamily="34" charset="0"/>
              </a:rPr>
              <a:t>数据字典</a:t>
            </a:r>
            <a:endParaRPr lang="zh-CN" altLang="en-US" sz="3600" b="0" dirty="0">
              <a:solidFill>
                <a:srgbClr val="FFFF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34838" y="3248445"/>
            <a:ext cx="1070526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FF5353"/>
                </a:solidFill>
                <a:latin typeface="+mn-ea"/>
              </a:rPr>
              <a:t>问题 </a:t>
            </a:r>
            <a:r>
              <a:rPr lang="en-US" altLang="zh-CN" sz="2600" dirty="0">
                <a:solidFill>
                  <a:srgbClr val="FF5353"/>
                </a:solidFill>
                <a:latin typeface="+mn-ea"/>
              </a:rPr>
              <a:t>2 </a:t>
            </a:r>
            <a:r>
              <a:rPr lang="zh-CN" altLang="en-US" sz="2400" dirty="0" smtClean="0">
                <a:latin typeface="+mn-ea"/>
              </a:rPr>
              <a:t>：那为什么这样来建模呢？</a:t>
            </a:r>
            <a:endParaRPr lang="en-US" altLang="zh-CN" sz="2600" dirty="0" smtClean="0">
              <a:solidFill>
                <a:srgbClr val="FF6600"/>
              </a:solidFill>
              <a:latin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600960" y="4592320"/>
            <a:ext cx="2130340" cy="113792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b="1" dirty="0" smtClean="0"/>
              <a:t>SA</a:t>
            </a:r>
          </a:p>
          <a:p>
            <a:pPr algn="ctr"/>
            <a:r>
              <a:rPr lang="en-US" altLang="zh-CN" sz="2400" dirty="0"/>
              <a:t>Structured Analysis</a:t>
            </a:r>
            <a:endParaRPr lang="zh-CN" altLang="en-US" sz="2400" dirty="0"/>
          </a:p>
        </p:txBody>
      </p:sp>
      <p:sp>
        <p:nvSpPr>
          <p:cNvPr id="31" name="圆角矩形 30"/>
          <p:cNvSpPr/>
          <p:nvPr/>
        </p:nvSpPr>
        <p:spPr>
          <a:xfrm>
            <a:off x="5350680" y="4592320"/>
            <a:ext cx="2130340" cy="113792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b="1" dirty="0" smtClean="0"/>
              <a:t>SD</a:t>
            </a:r>
          </a:p>
          <a:p>
            <a:pPr algn="ctr"/>
            <a:r>
              <a:rPr lang="en-US" altLang="zh-CN" sz="2400" dirty="0"/>
              <a:t>Structured </a:t>
            </a:r>
            <a:r>
              <a:rPr lang="en-US" altLang="zh-CN" sz="2400" dirty="0" smtClean="0"/>
              <a:t>Design</a:t>
            </a:r>
            <a:endParaRPr lang="zh-CN" altLang="en-US" sz="2600" dirty="0"/>
          </a:p>
        </p:txBody>
      </p:sp>
      <p:sp>
        <p:nvSpPr>
          <p:cNvPr id="32" name="圆角矩形 31"/>
          <p:cNvSpPr/>
          <p:nvPr/>
        </p:nvSpPr>
        <p:spPr>
          <a:xfrm>
            <a:off x="8110940" y="4592320"/>
            <a:ext cx="2130340" cy="113792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b="1" dirty="0" smtClean="0"/>
              <a:t>SP</a:t>
            </a:r>
          </a:p>
          <a:p>
            <a:pPr algn="ctr"/>
            <a:r>
              <a:rPr lang="en-US" altLang="zh-CN" sz="2400" dirty="0"/>
              <a:t>Structured </a:t>
            </a:r>
            <a:r>
              <a:rPr lang="en-US" altLang="zh-CN" sz="2400" dirty="0" smtClean="0"/>
              <a:t>Programming</a:t>
            </a:r>
            <a:endParaRPr lang="zh-CN" altLang="en-US" sz="2400" dirty="0"/>
          </a:p>
        </p:txBody>
      </p:sp>
      <p:sp>
        <p:nvSpPr>
          <p:cNvPr id="13" name="圆角矩形 12"/>
          <p:cNvSpPr/>
          <p:nvPr/>
        </p:nvSpPr>
        <p:spPr>
          <a:xfrm>
            <a:off x="8110939" y="4053840"/>
            <a:ext cx="2130341" cy="5384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200" dirty="0" smtClean="0"/>
              <a:t>过程</a:t>
            </a:r>
            <a:r>
              <a:rPr lang="en-US" altLang="zh-CN" sz="2200" dirty="0" smtClean="0"/>
              <a:t>+</a:t>
            </a:r>
            <a:r>
              <a:rPr lang="zh-CN" altLang="en-US" sz="2200" dirty="0" smtClean="0"/>
              <a:t>过程调用</a:t>
            </a:r>
            <a:endParaRPr lang="zh-CN" altLang="en-US" sz="2200" dirty="0"/>
          </a:p>
        </p:txBody>
      </p:sp>
      <p:sp>
        <p:nvSpPr>
          <p:cNvPr id="33" name="右箭头 32"/>
          <p:cNvSpPr/>
          <p:nvPr/>
        </p:nvSpPr>
        <p:spPr>
          <a:xfrm>
            <a:off x="4731300" y="5064760"/>
            <a:ext cx="629920" cy="18796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>
            <a:off x="7470480" y="5064760"/>
            <a:ext cx="629920" cy="18796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曲线连接符 35"/>
          <p:cNvCxnSpPr>
            <a:stCxn id="32" idx="2"/>
            <a:endCxn id="31" idx="2"/>
          </p:cNvCxnSpPr>
          <p:nvPr/>
        </p:nvCxnSpPr>
        <p:spPr>
          <a:xfrm rot="5400000">
            <a:off x="7795980" y="4350110"/>
            <a:ext cx="12700" cy="2760260"/>
          </a:xfrm>
          <a:prstGeom prst="curvedConnector3">
            <a:avLst>
              <a:gd name="adj1" fmla="val 268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曲线连接符 38"/>
          <p:cNvCxnSpPr>
            <a:stCxn id="31" idx="2"/>
            <a:endCxn id="6" idx="2"/>
          </p:cNvCxnSpPr>
          <p:nvPr/>
        </p:nvCxnSpPr>
        <p:spPr>
          <a:xfrm rot="5400000">
            <a:off x="5040990" y="4355380"/>
            <a:ext cx="12700" cy="2749720"/>
          </a:xfrm>
          <a:prstGeom prst="curvedConnector3">
            <a:avLst>
              <a:gd name="adj1" fmla="val 284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5">
            <p14:nvContentPartPr>
              <p14:cNvPr id="8" name="墨迹 7"/>
              <p14:cNvContentPartPr/>
              <p14:nvPr>
                <p:custDataLst>
                  <p:tags r:id="rId2"/>
                </p:custDataLst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6148331" y="1719089"/>
              <a:ext cx="27542" cy="27535"/>
            </p14:xfrm>
          </p:contentPart>
        </mc:Choice>
        <mc:Fallback xmlns="">
          <p:pic>
            <p:nvPicPr>
              <p:cNvPr id="8" name="墨迹 7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39389" y="1710031"/>
                <a:ext cx="45426" cy="4565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本框 8"/>
          <p:cNvSpPr txBox="1"/>
          <p:nvPr/>
        </p:nvSpPr>
        <p:spPr>
          <a:xfrm>
            <a:off x="8498163" y="2255442"/>
            <a:ext cx="30043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FF00"/>
                </a:solidFill>
              </a:rPr>
              <a:t>基于</a:t>
            </a:r>
            <a:r>
              <a:rPr lang="zh-CN" altLang="en-US" sz="2400" b="1" dirty="0" smtClean="0">
                <a:solidFill>
                  <a:srgbClr val="FFFF00"/>
                </a:solidFill>
              </a:rPr>
              <a:t>功能分解</a:t>
            </a:r>
            <a:endParaRPr lang="en-US" altLang="zh-CN" sz="2400" b="1" dirty="0" smtClean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rgbClr val="FFFF00"/>
                </a:solidFill>
              </a:rPr>
              <a:t>自顶向下 逐步求精</a:t>
            </a:r>
            <a:endParaRPr lang="en-US" altLang="zh-CN" sz="2400" b="1" dirty="0" smtClean="0">
              <a:solidFill>
                <a:srgbClr val="FFFF00"/>
              </a:solidFill>
            </a:endParaRPr>
          </a:p>
          <a:p>
            <a:r>
              <a:rPr lang="zh-CN" altLang="en-US" sz="2400" b="1" dirty="0" smtClean="0">
                <a:solidFill>
                  <a:srgbClr val="FFFF00"/>
                </a:solidFill>
              </a:rPr>
              <a:t>            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结构化？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790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6" grpId="0" animBg="1"/>
      <p:bldP spid="31" grpId="0" animBg="1"/>
      <p:bldP spid="32" grpId="0" animBg="1"/>
      <p:bldP spid="13" grpId="0" animBg="1"/>
      <p:bldP spid="33" grpId="0" animBg="1"/>
      <p:bldP spid="34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734839" y="1967635"/>
            <a:ext cx="10935544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734838" y="1954924"/>
            <a:ext cx="10935545" cy="4379888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标题 2"/>
          <p:cNvSpPr>
            <a:spLocks noGrp="1"/>
          </p:cNvSpPr>
          <p:nvPr>
            <p:ph type="title"/>
          </p:nvPr>
        </p:nvSpPr>
        <p:spPr>
          <a:xfrm>
            <a:off x="1040523" y="696993"/>
            <a:ext cx="9595946" cy="777875"/>
          </a:xfrm>
        </p:spPr>
        <p:txBody>
          <a:bodyPr>
            <a:noAutofit/>
          </a:bodyPr>
          <a:lstStyle/>
          <a:p>
            <a:r>
              <a:rPr lang="zh-CN" altLang="en-US" sz="3600" dirty="0" smtClean="0">
                <a:latin typeface="Arial Rounded MT Bold" panose="020F0704030504030204" pitchFamily="34" charset="0"/>
              </a:rPr>
              <a:t>二、  </a:t>
            </a:r>
            <a:r>
              <a:rPr lang="zh-CN" altLang="en-US" sz="2800" b="0" dirty="0" smtClean="0">
                <a:latin typeface="Arial Rounded MT Bold" panose="020F0704030504030204" pitchFamily="34" charset="0"/>
              </a:rPr>
              <a:t>数据流图</a:t>
            </a:r>
            <a:r>
              <a:rPr lang="zh-CN" altLang="en-US" sz="28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zh-CN" sz="2800" b="0" dirty="0" smtClean="0">
                <a:latin typeface="Arial Rounded MT Bold" panose="020F0704030504030204" pitchFamily="34" charset="0"/>
              </a:rPr>
              <a:t>+ </a:t>
            </a:r>
            <a:r>
              <a:rPr lang="zh-CN" altLang="en-US" sz="36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数据字典</a:t>
            </a:r>
            <a:r>
              <a:rPr lang="zh-CN" altLang="en-US" sz="32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（</a:t>
            </a:r>
            <a:r>
              <a:rPr lang="en-US" altLang="zh-CN" sz="3200" dirty="0">
                <a:solidFill>
                  <a:srgbClr val="AAE597"/>
                </a:solidFill>
                <a:latin typeface="Arial Rounded MT Bold" panose="020F0704030504030204" pitchFamily="34" charset="0"/>
              </a:rPr>
              <a:t>Data Dictionary</a:t>
            </a:r>
            <a:r>
              <a:rPr lang="zh-CN" altLang="en-US" sz="3200" dirty="0" smtClean="0">
                <a:solidFill>
                  <a:srgbClr val="AAE597"/>
                </a:solidFill>
                <a:latin typeface="Arial Rounded MT Bold" panose="020F0704030504030204" pitchFamily="34" charset="0"/>
              </a:rPr>
              <a:t>）</a:t>
            </a:r>
            <a:endParaRPr lang="zh-CN" altLang="en-US" sz="3600" b="0" dirty="0">
              <a:solidFill>
                <a:srgbClr val="FFFF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34837" y="1967635"/>
            <a:ext cx="1070526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AAE597"/>
                </a:solidFill>
                <a:latin typeface="+mn-ea"/>
              </a:rPr>
              <a:t>数据字典</a:t>
            </a:r>
            <a:r>
              <a:rPr lang="zh-CN" altLang="en-US" sz="2600" dirty="0" smtClean="0">
                <a:latin typeface="+mn-ea"/>
              </a:rPr>
              <a:t>（简称</a:t>
            </a:r>
            <a:r>
              <a:rPr lang="en-US" altLang="zh-CN" sz="2600" dirty="0">
                <a:latin typeface="+mn-ea"/>
              </a:rPr>
              <a:t>DD</a:t>
            </a:r>
            <a:r>
              <a:rPr lang="zh-CN" altLang="en-US" sz="2600" dirty="0">
                <a:latin typeface="+mn-ea"/>
              </a:rPr>
              <a:t>）是关于数据的信息集合，是对数据流图中包含的所有元素的定义的集合</a:t>
            </a:r>
            <a:r>
              <a:rPr lang="zh-CN" altLang="en-US" sz="2600" dirty="0" smtClean="0">
                <a:latin typeface="+mn-ea"/>
              </a:rPr>
              <a:t>。</a:t>
            </a:r>
            <a:endParaRPr lang="en-US" altLang="zh-CN" sz="2600" dirty="0" smtClean="0">
              <a:latin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275443" y="3482868"/>
            <a:ext cx="1676400" cy="5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数据流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3275443" y="4084257"/>
            <a:ext cx="1676400" cy="5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数据</a:t>
            </a:r>
            <a:r>
              <a:rPr lang="zh-CN" altLang="en-US" sz="2400" dirty="0"/>
              <a:t>项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3275443" y="4685646"/>
            <a:ext cx="1676400" cy="5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数据存储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275443" y="5287035"/>
            <a:ext cx="1676400" cy="5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数据加工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3275443" y="3482868"/>
            <a:ext cx="1676400" cy="508000"/>
          </a:xfrm>
          <a:prstGeom prst="rect">
            <a:avLst/>
          </a:prstGeom>
          <a:solidFill>
            <a:srgbClr val="FEBA32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5538559" y="3404354"/>
            <a:ext cx="5901543" cy="2800767"/>
          </a:xfrm>
          <a:prstGeom prst="rect">
            <a:avLst/>
          </a:prstGeom>
          <a:noFill/>
          <a:ln>
            <a:solidFill>
              <a:srgbClr val="FEBA3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rgbClr val="FFC000"/>
                </a:solidFill>
              </a:rPr>
              <a:t>数据流名称</a:t>
            </a:r>
            <a:r>
              <a:rPr lang="zh-CN" altLang="en-US" sz="2200" dirty="0">
                <a:solidFill>
                  <a:schemeClr val="bg1"/>
                </a:solidFill>
              </a:rPr>
              <a:t>：订单。</a:t>
            </a:r>
          </a:p>
          <a:p>
            <a:r>
              <a:rPr lang="zh-CN" altLang="en-US" sz="2200" dirty="0">
                <a:solidFill>
                  <a:srgbClr val="FFC000"/>
                </a:solidFill>
              </a:rPr>
              <a:t>别名</a:t>
            </a:r>
            <a:r>
              <a:rPr lang="zh-CN" altLang="en-US" sz="2200" dirty="0">
                <a:solidFill>
                  <a:schemeClr val="bg1"/>
                </a:solidFill>
              </a:rPr>
              <a:t>：无。</a:t>
            </a:r>
          </a:p>
          <a:p>
            <a:r>
              <a:rPr lang="zh-CN" altLang="en-US" sz="2200" dirty="0">
                <a:solidFill>
                  <a:srgbClr val="FFC000"/>
                </a:solidFill>
              </a:rPr>
              <a:t>简述</a:t>
            </a:r>
            <a:r>
              <a:rPr lang="zh-CN" altLang="en-US" sz="2200" dirty="0">
                <a:solidFill>
                  <a:schemeClr val="bg1"/>
                </a:solidFill>
              </a:rPr>
              <a:t>：旅客订票时填写的项目。</a:t>
            </a:r>
          </a:p>
          <a:p>
            <a:r>
              <a:rPr lang="zh-CN" altLang="en-US" sz="2200" dirty="0">
                <a:solidFill>
                  <a:srgbClr val="FFC000"/>
                </a:solidFill>
              </a:rPr>
              <a:t>来源</a:t>
            </a:r>
            <a:r>
              <a:rPr lang="zh-CN" altLang="en-US" sz="2200" dirty="0">
                <a:solidFill>
                  <a:schemeClr val="bg1"/>
                </a:solidFill>
              </a:rPr>
              <a:t>：旅客。</a:t>
            </a:r>
          </a:p>
          <a:p>
            <a:r>
              <a:rPr lang="zh-CN" altLang="en-US" sz="2200" dirty="0">
                <a:solidFill>
                  <a:srgbClr val="FFC000"/>
                </a:solidFill>
              </a:rPr>
              <a:t>去向</a:t>
            </a:r>
            <a:r>
              <a:rPr lang="zh-CN" altLang="en-US" sz="2200" dirty="0">
                <a:solidFill>
                  <a:schemeClr val="bg1"/>
                </a:solidFill>
              </a:rPr>
              <a:t>：加工</a:t>
            </a:r>
            <a:r>
              <a:rPr lang="en-US" altLang="zh-CN" sz="2200" dirty="0">
                <a:solidFill>
                  <a:schemeClr val="bg1"/>
                </a:solidFill>
              </a:rPr>
              <a:t>1“</a:t>
            </a:r>
            <a:r>
              <a:rPr lang="zh-CN" altLang="en-US" sz="2200" dirty="0">
                <a:solidFill>
                  <a:schemeClr val="bg1"/>
                </a:solidFill>
              </a:rPr>
              <a:t>检验订单”。</a:t>
            </a:r>
          </a:p>
          <a:p>
            <a:r>
              <a:rPr lang="zh-CN" altLang="en-US" sz="2200" dirty="0">
                <a:solidFill>
                  <a:srgbClr val="FFC000"/>
                </a:solidFill>
              </a:rPr>
              <a:t>数据流量</a:t>
            </a:r>
            <a:r>
              <a:rPr lang="zh-CN" altLang="en-US" sz="2200" dirty="0">
                <a:solidFill>
                  <a:schemeClr val="bg1"/>
                </a:solidFill>
              </a:rPr>
              <a:t>：</a:t>
            </a:r>
            <a:r>
              <a:rPr lang="en-US" altLang="zh-CN" sz="2200" dirty="0">
                <a:solidFill>
                  <a:schemeClr val="bg1"/>
                </a:solidFill>
              </a:rPr>
              <a:t>2000</a:t>
            </a:r>
            <a:r>
              <a:rPr lang="zh-CN" altLang="en-US" sz="2200" dirty="0">
                <a:solidFill>
                  <a:schemeClr val="bg1"/>
                </a:solidFill>
              </a:rPr>
              <a:t>份</a:t>
            </a:r>
            <a:r>
              <a:rPr lang="en-US" altLang="zh-CN" sz="2200" dirty="0">
                <a:solidFill>
                  <a:schemeClr val="bg1"/>
                </a:solidFill>
              </a:rPr>
              <a:t>/</a:t>
            </a:r>
            <a:r>
              <a:rPr lang="zh-CN" altLang="en-US" sz="2200" dirty="0" smtClean="0">
                <a:solidFill>
                  <a:schemeClr val="bg1"/>
                </a:solidFill>
              </a:rPr>
              <a:t>每天。</a:t>
            </a:r>
            <a:endParaRPr lang="zh-CN" altLang="en-US" sz="2200" dirty="0">
              <a:solidFill>
                <a:schemeClr val="bg1"/>
              </a:solidFill>
            </a:endParaRPr>
          </a:p>
          <a:p>
            <a:r>
              <a:rPr lang="zh-CN" altLang="en-US" sz="2200" dirty="0">
                <a:solidFill>
                  <a:srgbClr val="FFC000"/>
                </a:solidFill>
              </a:rPr>
              <a:t>组成</a:t>
            </a:r>
            <a:r>
              <a:rPr lang="zh-CN" altLang="en-US" sz="2200" dirty="0">
                <a:solidFill>
                  <a:schemeClr val="bg1"/>
                </a:solidFill>
              </a:rPr>
              <a:t>：编号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订票日期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旅客编号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地址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 smtClean="0">
                <a:solidFill>
                  <a:schemeClr val="bg1"/>
                </a:solidFill>
              </a:rPr>
              <a:t>电话</a:t>
            </a:r>
            <a:endParaRPr lang="en-US" altLang="zh-CN" sz="2200" dirty="0" smtClean="0">
              <a:solidFill>
                <a:schemeClr val="bg1"/>
              </a:solidFill>
            </a:endParaRPr>
          </a:p>
          <a:p>
            <a:r>
              <a:rPr lang="en-US" altLang="zh-CN" sz="2200" dirty="0">
                <a:solidFill>
                  <a:schemeClr val="bg1"/>
                </a:solidFill>
              </a:rPr>
              <a:t> </a:t>
            </a:r>
            <a:r>
              <a:rPr lang="en-US" altLang="zh-CN" sz="2200" dirty="0" smtClean="0">
                <a:solidFill>
                  <a:schemeClr val="bg1"/>
                </a:solidFill>
              </a:rPr>
              <a:t>            +</a:t>
            </a:r>
            <a:r>
              <a:rPr lang="zh-CN" altLang="en-US" sz="2200" dirty="0">
                <a:solidFill>
                  <a:schemeClr val="bg1"/>
                </a:solidFill>
              </a:rPr>
              <a:t>银行账号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预订日期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目的地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数量。</a:t>
            </a:r>
          </a:p>
        </p:txBody>
      </p:sp>
      <p:sp>
        <p:nvSpPr>
          <p:cNvPr id="52" name="矩形 51"/>
          <p:cNvSpPr/>
          <p:nvPr/>
        </p:nvSpPr>
        <p:spPr>
          <a:xfrm>
            <a:off x="3275443" y="4084258"/>
            <a:ext cx="1676400" cy="508000"/>
          </a:xfrm>
          <a:prstGeom prst="rect">
            <a:avLst/>
          </a:prstGeom>
          <a:solidFill>
            <a:srgbClr val="FEBA32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5538558" y="3404353"/>
            <a:ext cx="5901544" cy="28007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sz="2200" dirty="0">
                <a:solidFill>
                  <a:schemeClr val="bg1"/>
                </a:solidFill>
              </a:rPr>
              <a:t>机票</a:t>
            </a:r>
            <a:r>
              <a:rPr lang="en-US" altLang="zh-CN" sz="2200" dirty="0">
                <a:solidFill>
                  <a:schemeClr val="bg1"/>
                </a:solidFill>
              </a:rPr>
              <a:t>=</a:t>
            </a:r>
            <a:r>
              <a:rPr lang="zh-CN" altLang="en-US" sz="2200" dirty="0">
                <a:solidFill>
                  <a:schemeClr val="bg1"/>
                </a:solidFill>
              </a:rPr>
              <a:t>姓名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日期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航班号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始发地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目的地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费用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2200" dirty="0" smtClean="0">
                <a:solidFill>
                  <a:schemeClr val="bg1"/>
                </a:solidFill>
              </a:rPr>
              <a:t>姓名 </a:t>
            </a:r>
            <a:r>
              <a:rPr lang="en-US" altLang="zh-CN" sz="2200" dirty="0" smtClean="0">
                <a:solidFill>
                  <a:schemeClr val="bg1"/>
                </a:solidFill>
              </a:rPr>
              <a:t>= </a:t>
            </a:r>
            <a:r>
              <a:rPr lang="en-US" altLang="zh-CN" sz="2200" dirty="0" smtClean="0">
                <a:solidFill>
                  <a:srgbClr val="FFC000"/>
                </a:solidFill>
              </a:rPr>
              <a:t>{ </a:t>
            </a:r>
            <a:r>
              <a:rPr lang="zh-CN" altLang="en-US" sz="2200" dirty="0" smtClean="0">
                <a:solidFill>
                  <a:srgbClr val="FFC000"/>
                </a:solidFill>
              </a:rPr>
              <a:t>字母 </a:t>
            </a:r>
            <a:r>
              <a:rPr lang="en-US" altLang="zh-CN" sz="2200" dirty="0" smtClean="0">
                <a:solidFill>
                  <a:srgbClr val="FFC000"/>
                </a:solidFill>
              </a:rPr>
              <a:t>} </a:t>
            </a:r>
            <a:r>
              <a:rPr lang="en-US" altLang="zh-CN" sz="2200" baseline="-25000" dirty="0">
                <a:solidFill>
                  <a:srgbClr val="FFC000"/>
                </a:solidFill>
              </a:rPr>
              <a:t>2</a:t>
            </a:r>
            <a:r>
              <a:rPr lang="en-US" altLang="zh-CN" sz="2200" baseline="30000" dirty="0">
                <a:solidFill>
                  <a:srgbClr val="FFC000"/>
                </a:solidFill>
              </a:rPr>
              <a:t>18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2200" dirty="0">
                <a:solidFill>
                  <a:schemeClr val="bg1"/>
                </a:solidFill>
              </a:rPr>
              <a:t>航班</a:t>
            </a:r>
            <a:r>
              <a:rPr lang="zh-CN" altLang="en-US" sz="2200" dirty="0" smtClean="0">
                <a:solidFill>
                  <a:schemeClr val="bg1"/>
                </a:solidFill>
              </a:rPr>
              <a:t>号 </a:t>
            </a:r>
            <a:r>
              <a:rPr lang="en-US" altLang="zh-CN" sz="2200" dirty="0" smtClean="0">
                <a:solidFill>
                  <a:schemeClr val="bg1"/>
                </a:solidFill>
              </a:rPr>
              <a:t>= </a:t>
            </a:r>
            <a:r>
              <a:rPr lang="en-US" altLang="zh-CN" sz="2200" dirty="0" smtClean="0">
                <a:solidFill>
                  <a:srgbClr val="FFC000"/>
                </a:solidFill>
                <a:latin typeface="Arial" charset="0"/>
              </a:rPr>
              <a:t>“</a:t>
            </a:r>
            <a:r>
              <a:rPr lang="en-US" altLang="zh-CN" sz="2200" dirty="0">
                <a:solidFill>
                  <a:srgbClr val="FFC000"/>
                </a:solidFill>
              </a:rPr>
              <a:t>CZ9938</a:t>
            </a:r>
            <a:r>
              <a:rPr lang="en-US" altLang="zh-CN" sz="2200" dirty="0">
                <a:solidFill>
                  <a:srgbClr val="FFC000"/>
                </a:solidFill>
                <a:latin typeface="Arial" charset="0"/>
              </a:rPr>
              <a:t>”··“</a:t>
            </a:r>
            <a:r>
              <a:rPr lang="en-US" altLang="zh-CN" sz="2200" dirty="0">
                <a:solidFill>
                  <a:srgbClr val="FFC000"/>
                </a:solidFill>
              </a:rPr>
              <a:t>CZ9948</a:t>
            </a:r>
            <a:r>
              <a:rPr lang="en-US" altLang="zh-CN" sz="2200" dirty="0">
                <a:solidFill>
                  <a:srgbClr val="FFC000"/>
                </a:solidFill>
                <a:latin typeface="Arial" charset="0"/>
              </a:rPr>
              <a:t>”</a:t>
            </a:r>
            <a:endParaRPr lang="en-US" altLang="zh-CN" sz="2200" dirty="0">
              <a:solidFill>
                <a:srgbClr val="FFC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200" dirty="0" smtClean="0">
                <a:solidFill>
                  <a:schemeClr val="bg1"/>
                </a:solidFill>
              </a:rPr>
              <a:t>目的地 </a:t>
            </a:r>
            <a:r>
              <a:rPr lang="en-US" altLang="zh-CN" sz="2200" dirty="0" smtClean="0">
                <a:solidFill>
                  <a:schemeClr val="bg1"/>
                </a:solidFill>
              </a:rPr>
              <a:t>= </a:t>
            </a:r>
            <a:r>
              <a:rPr lang="en-US" altLang="zh-CN" sz="2200" dirty="0" smtClean="0">
                <a:solidFill>
                  <a:srgbClr val="FFC000"/>
                </a:solidFill>
              </a:rPr>
              <a:t>[</a:t>
            </a:r>
            <a:r>
              <a:rPr lang="zh-CN" altLang="en-US" sz="2200" dirty="0" smtClean="0">
                <a:solidFill>
                  <a:srgbClr val="FFC000"/>
                </a:solidFill>
              </a:rPr>
              <a:t>上海 │ 北京 │ 广州 </a:t>
            </a:r>
            <a:r>
              <a:rPr lang="en-US" altLang="zh-CN" sz="2200" dirty="0" smtClean="0">
                <a:solidFill>
                  <a:srgbClr val="FFC000"/>
                </a:solidFill>
              </a:rPr>
              <a:t>]</a:t>
            </a:r>
            <a:endParaRPr lang="zh-CN" altLang="en-US" sz="2200" dirty="0">
              <a:solidFill>
                <a:srgbClr val="FFC00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538558" y="3227948"/>
            <a:ext cx="5901544" cy="280076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defRPr/>
            </a:pPr>
            <a:r>
              <a:rPr lang="zh-CN" altLang="en-US" sz="2200" dirty="0">
                <a:solidFill>
                  <a:schemeClr val="bg1"/>
                </a:solidFill>
              </a:rPr>
              <a:t>数据项名称：货物编号。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200" dirty="0">
                <a:solidFill>
                  <a:schemeClr val="bg1"/>
                </a:solidFill>
              </a:rPr>
              <a:t>别名：</a:t>
            </a:r>
            <a:r>
              <a:rPr lang="en-US" altLang="zh-CN" sz="2200" dirty="0">
                <a:solidFill>
                  <a:schemeClr val="bg1"/>
                </a:solidFill>
              </a:rPr>
              <a:t>W—No</a:t>
            </a:r>
            <a:r>
              <a:rPr lang="zh-CN" altLang="en-US" sz="2200" dirty="0">
                <a:solidFill>
                  <a:schemeClr val="bg1"/>
                </a:solidFill>
              </a:rPr>
              <a:t>，</a:t>
            </a:r>
            <a:r>
              <a:rPr lang="en-US" altLang="zh-CN" sz="2200" dirty="0">
                <a:solidFill>
                  <a:schemeClr val="bg1"/>
                </a:solidFill>
              </a:rPr>
              <a:t>W—</a:t>
            </a:r>
            <a:r>
              <a:rPr lang="en-US" altLang="zh-CN" sz="2200" dirty="0" err="1">
                <a:solidFill>
                  <a:schemeClr val="bg1"/>
                </a:solidFill>
              </a:rPr>
              <a:t>num</a:t>
            </a:r>
            <a:r>
              <a:rPr lang="zh-CN" altLang="en-US" sz="2200" dirty="0">
                <a:solidFill>
                  <a:schemeClr val="bg1"/>
                </a:solidFill>
              </a:rPr>
              <a:t>，</a:t>
            </a:r>
            <a:r>
              <a:rPr lang="en-US" altLang="zh-CN" sz="2200" dirty="0">
                <a:solidFill>
                  <a:schemeClr val="bg1"/>
                </a:solidFill>
              </a:rPr>
              <a:t>GW—No</a:t>
            </a:r>
            <a:r>
              <a:rPr lang="zh-CN" altLang="en-US" sz="2200" dirty="0">
                <a:solidFill>
                  <a:schemeClr val="bg1"/>
                </a:solidFill>
              </a:rPr>
              <a:t>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200" dirty="0">
                <a:solidFill>
                  <a:schemeClr val="bg1"/>
                </a:solidFill>
              </a:rPr>
              <a:t>简述：公司内部所有货物的编号。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200" dirty="0">
                <a:solidFill>
                  <a:schemeClr val="bg1"/>
                </a:solidFill>
              </a:rPr>
              <a:t>类型：字符串。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200" dirty="0">
                <a:solidFill>
                  <a:schemeClr val="bg1"/>
                </a:solidFill>
              </a:rPr>
              <a:t>长度：</a:t>
            </a:r>
            <a:r>
              <a:rPr lang="en-US" altLang="zh-CN" sz="2200" dirty="0">
                <a:solidFill>
                  <a:schemeClr val="bg1"/>
                </a:solidFill>
              </a:rPr>
              <a:t>10</a:t>
            </a:r>
            <a:r>
              <a:rPr lang="zh-CN" altLang="en-US" sz="2200" dirty="0">
                <a:solidFill>
                  <a:schemeClr val="bg1"/>
                </a:solidFill>
              </a:rPr>
              <a:t>。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200" dirty="0">
                <a:solidFill>
                  <a:schemeClr val="bg1"/>
                </a:solidFill>
              </a:rPr>
              <a:t>取值范围及含义：第</a:t>
            </a:r>
            <a:r>
              <a:rPr lang="en-US" altLang="zh-CN" sz="2200" dirty="0">
                <a:solidFill>
                  <a:schemeClr val="bg1"/>
                </a:solidFill>
              </a:rPr>
              <a:t>1</a:t>
            </a:r>
            <a:r>
              <a:rPr lang="zh-CN" altLang="en-US" sz="2200" dirty="0">
                <a:solidFill>
                  <a:schemeClr val="bg1"/>
                </a:solidFill>
              </a:rPr>
              <a:t>位：进口</a:t>
            </a:r>
            <a:r>
              <a:rPr lang="en-US" altLang="zh-CN" sz="2200" dirty="0">
                <a:solidFill>
                  <a:schemeClr val="bg1"/>
                </a:solidFill>
              </a:rPr>
              <a:t>/</a:t>
            </a:r>
            <a:r>
              <a:rPr lang="zh-CN" altLang="en-US" sz="2200" dirty="0">
                <a:solidFill>
                  <a:schemeClr val="bg1"/>
                </a:solidFill>
              </a:rPr>
              <a:t>国产；第</a:t>
            </a:r>
            <a:r>
              <a:rPr lang="en-US" altLang="zh-CN" sz="2200" dirty="0">
                <a:solidFill>
                  <a:schemeClr val="bg1"/>
                </a:solidFill>
              </a:rPr>
              <a:t>2~4</a:t>
            </a:r>
            <a:r>
              <a:rPr lang="zh-CN" altLang="en-US" sz="2200" dirty="0">
                <a:solidFill>
                  <a:schemeClr val="bg1"/>
                </a:solidFill>
              </a:rPr>
              <a:t>位：类别；第</a:t>
            </a:r>
            <a:r>
              <a:rPr lang="en-US" altLang="zh-CN" sz="2200" dirty="0">
                <a:solidFill>
                  <a:schemeClr val="bg1"/>
                </a:solidFill>
              </a:rPr>
              <a:t>5~7</a:t>
            </a:r>
            <a:r>
              <a:rPr lang="zh-CN" altLang="en-US" sz="2200" dirty="0">
                <a:solidFill>
                  <a:schemeClr val="bg1"/>
                </a:solidFill>
              </a:rPr>
              <a:t>位：规格；第</a:t>
            </a:r>
            <a:r>
              <a:rPr lang="en-US" altLang="zh-CN" sz="2200" dirty="0">
                <a:solidFill>
                  <a:schemeClr val="bg1"/>
                </a:solidFill>
              </a:rPr>
              <a:t>8~10</a:t>
            </a:r>
            <a:r>
              <a:rPr lang="zh-CN" altLang="en-US" sz="2200" dirty="0">
                <a:solidFill>
                  <a:schemeClr val="bg1"/>
                </a:solidFill>
              </a:rPr>
              <a:t>位：产品编号。</a:t>
            </a:r>
            <a:endParaRPr lang="zh-CN" altLang="en-US" sz="2200" dirty="0">
              <a:solidFill>
                <a:srgbClr val="FFC000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538557" y="3240659"/>
            <a:ext cx="5901544" cy="280076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lang="zh-CN" altLang="en-US" sz="2200" dirty="0">
                <a:solidFill>
                  <a:srgbClr val="FFC000"/>
                </a:solidFill>
              </a:rPr>
              <a:t>数据存储名称</a:t>
            </a:r>
            <a:r>
              <a:rPr lang="zh-CN" altLang="en-US" sz="2200" dirty="0">
                <a:solidFill>
                  <a:schemeClr val="bg1"/>
                </a:solidFill>
              </a:rPr>
              <a:t>：顾客记录。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200" dirty="0">
                <a:solidFill>
                  <a:srgbClr val="FFC000"/>
                </a:solidFill>
              </a:rPr>
              <a:t>别名</a:t>
            </a:r>
            <a:r>
              <a:rPr lang="zh-CN" altLang="en-US" sz="2200" dirty="0">
                <a:solidFill>
                  <a:schemeClr val="bg1"/>
                </a:solidFill>
              </a:rPr>
              <a:t>：无。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200" dirty="0">
                <a:solidFill>
                  <a:srgbClr val="FFC000"/>
                </a:solidFill>
              </a:rPr>
              <a:t>简述</a:t>
            </a:r>
            <a:r>
              <a:rPr lang="zh-CN" altLang="en-US" sz="2200" dirty="0">
                <a:solidFill>
                  <a:schemeClr val="bg1"/>
                </a:solidFill>
              </a:rPr>
              <a:t>：存放顾客的信息。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200" dirty="0">
                <a:solidFill>
                  <a:srgbClr val="FFC000"/>
                </a:solidFill>
              </a:rPr>
              <a:t>组成</a:t>
            </a:r>
            <a:r>
              <a:rPr lang="zh-CN" altLang="en-US" sz="2200" dirty="0">
                <a:solidFill>
                  <a:schemeClr val="bg1"/>
                </a:solidFill>
              </a:rPr>
              <a:t>：姓名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编号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航班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目的地</a:t>
            </a:r>
            <a:r>
              <a:rPr lang="en-US" altLang="zh-CN" sz="2200" dirty="0">
                <a:solidFill>
                  <a:schemeClr val="bg1"/>
                </a:solidFill>
              </a:rPr>
              <a:t>+</a:t>
            </a:r>
            <a:r>
              <a:rPr lang="zh-CN" altLang="en-US" sz="2200" dirty="0">
                <a:solidFill>
                  <a:schemeClr val="bg1"/>
                </a:solidFill>
              </a:rPr>
              <a:t>身份证号码。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200" dirty="0">
                <a:solidFill>
                  <a:srgbClr val="FFC000"/>
                </a:solidFill>
              </a:rPr>
              <a:t>组织方式</a:t>
            </a:r>
            <a:r>
              <a:rPr lang="zh-CN" altLang="en-US" sz="2200" dirty="0">
                <a:solidFill>
                  <a:schemeClr val="bg1"/>
                </a:solidFill>
              </a:rPr>
              <a:t>：索引文件，以姓名编号为关键字。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200" dirty="0">
                <a:solidFill>
                  <a:srgbClr val="FFC000"/>
                </a:solidFill>
              </a:rPr>
              <a:t>查询要求</a:t>
            </a:r>
            <a:r>
              <a:rPr lang="zh-CN" altLang="en-US" sz="2200" dirty="0">
                <a:solidFill>
                  <a:schemeClr val="bg1"/>
                </a:solidFill>
              </a:rPr>
              <a:t>：要求能立即查询。</a:t>
            </a:r>
          </a:p>
        </p:txBody>
      </p:sp>
      <p:sp>
        <p:nvSpPr>
          <p:cNvPr id="57" name="矩形 56"/>
          <p:cNvSpPr/>
          <p:nvPr/>
        </p:nvSpPr>
        <p:spPr>
          <a:xfrm>
            <a:off x="3275443" y="4685645"/>
            <a:ext cx="1676400" cy="508000"/>
          </a:xfrm>
          <a:prstGeom prst="rect">
            <a:avLst/>
          </a:prstGeom>
          <a:solidFill>
            <a:srgbClr val="FEBA32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3275443" y="5287034"/>
            <a:ext cx="1676400" cy="508000"/>
          </a:xfrm>
          <a:prstGeom prst="rect">
            <a:avLst/>
          </a:prstGeom>
          <a:solidFill>
            <a:srgbClr val="FEBA32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5152477" y="2611120"/>
            <a:ext cx="6517906" cy="372369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加工名：</a:t>
            </a:r>
            <a:r>
              <a:rPr lang="zh-CN" altLang="en-US" sz="2000" dirty="0">
                <a:solidFill>
                  <a:schemeClr val="bg1"/>
                </a:solidFill>
              </a:rPr>
              <a:t>判定能否提供机票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编号：</a:t>
            </a:r>
            <a:r>
              <a:rPr lang="en-US" altLang="zh-CN" sz="2000" dirty="0">
                <a:solidFill>
                  <a:schemeClr val="bg1"/>
                </a:solidFill>
              </a:rPr>
              <a:t>1.2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激发条件：</a:t>
            </a:r>
            <a:r>
              <a:rPr lang="zh-CN" altLang="en-US" sz="2000" dirty="0">
                <a:solidFill>
                  <a:schemeClr val="bg1"/>
                </a:solidFill>
              </a:rPr>
              <a:t>接收到合格订票单时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优先级：</a:t>
            </a:r>
            <a:r>
              <a:rPr lang="zh-CN" altLang="en-US" sz="2000" dirty="0">
                <a:solidFill>
                  <a:schemeClr val="bg1"/>
                </a:solidFill>
              </a:rPr>
              <a:t>普通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输入：</a:t>
            </a:r>
            <a:r>
              <a:rPr lang="zh-CN" altLang="en-US" sz="2000" dirty="0">
                <a:solidFill>
                  <a:schemeClr val="bg1"/>
                </a:solidFill>
              </a:rPr>
              <a:t>合格订单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输出：</a:t>
            </a:r>
            <a:r>
              <a:rPr lang="zh-CN" altLang="en-US" sz="2000" dirty="0">
                <a:solidFill>
                  <a:schemeClr val="bg1"/>
                </a:solidFill>
              </a:rPr>
              <a:t>能提供机票、不能提供机票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加工逻辑：</a:t>
            </a:r>
            <a:r>
              <a:rPr lang="zh-CN" altLang="en-US" sz="2000" dirty="0">
                <a:solidFill>
                  <a:schemeClr val="bg1"/>
                </a:solidFill>
              </a:rPr>
              <a:t>根据库存记录。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2000" dirty="0">
                <a:solidFill>
                  <a:schemeClr val="bg1"/>
                </a:solidFill>
              </a:rPr>
              <a:t>	IF</a:t>
            </a:r>
            <a:r>
              <a:rPr lang="zh-CN" altLang="en-US" sz="2000" dirty="0">
                <a:solidFill>
                  <a:schemeClr val="bg1"/>
                </a:solidFill>
              </a:rPr>
              <a:t>订单项目的数量＜该项目库存量的临界值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2000" dirty="0">
                <a:solidFill>
                  <a:schemeClr val="bg1"/>
                </a:solidFill>
              </a:rPr>
              <a:t>	      THEN</a:t>
            </a:r>
            <a:r>
              <a:rPr lang="zh-CN" altLang="en-US" sz="2000" dirty="0">
                <a:solidFill>
                  <a:schemeClr val="bg1"/>
                </a:solidFill>
              </a:rPr>
              <a:t>提供机票处理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000" dirty="0">
                <a:solidFill>
                  <a:schemeClr val="bg1"/>
                </a:solidFill>
              </a:rPr>
              <a:t>	</a:t>
            </a:r>
            <a:r>
              <a:rPr lang="en-US" altLang="zh-CN" sz="2000" dirty="0">
                <a:solidFill>
                  <a:schemeClr val="bg1"/>
                </a:solidFill>
              </a:rPr>
              <a:t>      ELSE</a:t>
            </a:r>
            <a:r>
              <a:rPr lang="zh-CN" altLang="en-US" sz="2000" dirty="0">
                <a:solidFill>
                  <a:schemeClr val="bg1"/>
                </a:solidFill>
              </a:rPr>
              <a:t>此订单缺票，登录，待有票后再处理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000" dirty="0">
                <a:solidFill>
                  <a:schemeClr val="bg1"/>
                </a:solidFill>
              </a:rPr>
              <a:t>	</a:t>
            </a:r>
            <a:r>
              <a:rPr lang="en-US" altLang="zh-CN" sz="2000" dirty="0">
                <a:solidFill>
                  <a:schemeClr val="bg1"/>
                </a:solidFill>
              </a:rPr>
              <a:t>ENDIF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93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50" grpId="0" animBg="1"/>
      <p:bldP spid="50" grpId="1" animBg="1"/>
      <p:bldP spid="51" grpId="0" animBg="1"/>
      <p:bldP spid="52" grpId="0" animBg="1"/>
      <p:bldP spid="52" grpId="1" animBg="1"/>
      <p:bldP spid="54" grpId="0" animBg="1"/>
      <p:bldP spid="55" grpId="0" animBg="1"/>
      <p:bldP spid="56" grpId="0" animBg="1"/>
      <p:bldP spid="57" grpId="0" animBg="1"/>
      <p:bldP spid="57" grpId="1" animBg="1"/>
      <p:bldP spid="58" grpId="0" animBg="1"/>
      <p:bldP spid="5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2164569" y="721202"/>
            <a:ext cx="7326271" cy="777875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阶段小结</a:t>
            </a:r>
            <a:endParaRPr lang="zh-CN" altLang="en-US" sz="280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2748788" y="2741934"/>
            <a:ext cx="1081550" cy="1082923"/>
            <a:chOff x="2489689" y="2188899"/>
            <a:chExt cx="1081550" cy="1082923"/>
          </a:xfrm>
        </p:grpSpPr>
        <p:sp>
          <p:nvSpPr>
            <p:cNvPr id="23" name="椭圆 22"/>
            <p:cNvSpPr/>
            <p:nvPr/>
          </p:nvSpPr>
          <p:spPr>
            <a:xfrm>
              <a:off x="2489689" y="2188899"/>
              <a:ext cx="1081550" cy="108292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550728" y="2468750"/>
              <a:ext cx="9594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685800">
                <a:defRPr sz="2800">
                  <a:solidFill>
                    <a:schemeClr val="bg1"/>
                  </a:solidFill>
                  <a:latin typeface="Bodoni MT Condensed" panose="02070606080606020203" pitchFamily="18" charset="0"/>
                </a:defRPr>
              </a:lvl1pPr>
            </a:lstStyle>
            <a:p>
              <a:pPr algn="ctr"/>
              <a:r>
                <a:rPr lang="en-US" altLang="zh-CN" dirty="0" smtClean="0">
                  <a:latin typeface="Arial Rounded MT Bold" panose="020F0704030504030204" pitchFamily="34" charset="0"/>
                </a:rPr>
                <a:t>Why</a:t>
              </a:r>
              <a:endParaRPr lang="zh-CN" altLang="en-US" dirty="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6" name="圆角矩形 25"/>
          <p:cNvSpPr/>
          <p:nvPr/>
        </p:nvSpPr>
        <p:spPr>
          <a:xfrm>
            <a:off x="4724022" y="2714906"/>
            <a:ext cx="3369324" cy="113697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面向数据流的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建模方法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017534" y="2741934"/>
            <a:ext cx="1117032" cy="1082923"/>
            <a:chOff x="8758435" y="2188899"/>
            <a:chExt cx="1117032" cy="1082923"/>
          </a:xfrm>
        </p:grpSpPr>
        <p:sp>
          <p:nvSpPr>
            <p:cNvPr id="29" name="椭圆 28"/>
            <p:cNvSpPr/>
            <p:nvPr/>
          </p:nvSpPr>
          <p:spPr>
            <a:xfrm>
              <a:off x="8776176" y="2188899"/>
              <a:ext cx="1081550" cy="1082923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758435" y="2468750"/>
              <a:ext cx="1117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685800">
                <a:defRPr sz="2800">
                  <a:solidFill>
                    <a:schemeClr val="bg1"/>
                  </a:solidFill>
                  <a:latin typeface="Bodoni MT Condensed" panose="02070606080606020203" pitchFamily="18" charset="0"/>
                </a:defRPr>
              </a:lvl1pPr>
            </a:lstStyle>
            <a:p>
              <a:pPr algn="ctr"/>
              <a:r>
                <a:rPr lang="en-US" altLang="zh-CN" dirty="0" smtClean="0">
                  <a:latin typeface="Arial Rounded MT Bold" panose="020F0704030504030204" pitchFamily="34" charset="0"/>
                </a:rPr>
                <a:t>What</a:t>
              </a:r>
              <a:endParaRPr lang="zh-CN" altLang="en-US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850167" y="4841917"/>
            <a:ext cx="1117032" cy="1082923"/>
            <a:chOff x="5591068" y="4288882"/>
            <a:chExt cx="1117032" cy="1082923"/>
          </a:xfrm>
        </p:grpSpPr>
        <p:sp>
          <p:nvSpPr>
            <p:cNvPr id="33" name="椭圆 32"/>
            <p:cNvSpPr/>
            <p:nvPr/>
          </p:nvSpPr>
          <p:spPr>
            <a:xfrm>
              <a:off x="5608809" y="4288882"/>
              <a:ext cx="1081550" cy="1082923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5591068" y="4568733"/>
              <a:ext cx="1117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685800">
                <a:defRPr sz="2800">
                  <a:solidFill>
                    <a:schemeClr val="bg1"/>
                  </a:solidFill>
                  <a:latin typeface="Bodoni MT Condensed" panose="02070606080606020203" pitchFamily="18" charset="0"/>
                </a:defRPr>
              </a:lvl1pPr>
            </a:lstStyle>
            <a:p>
              <a:pPr algn="ctr"/>
              <a:r>
                <a:rPr lang="en-US" altLang="zh-CN" dirty="0">
                  <a:latin typeface="Arial Rounded MT Bold" panose="020F0704030504030204" pitchFamily="34" charset="0"/>
                </a:rPr>
                <a:t>How</a:t>
              </a:r>
              <a:endParaRPr lang="zh-CN" altLang="en-US" dirty="0"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41" name="直接连接符 40"/>
          <p:cNvCxnSpPr>
            <a:stCxn id="26" idx="1"/>
            <a:endCxn id="23" idx="6"/>
          </p:cNvCxnSpPr>
          <p:nvPr/>
        </p:nvCxnSpPr>
        <p:spPr>
          <a:xfrm flipH="1">
            <a:off x="3830338" y="3283395"/>
            <a:ext cx="893684" cy="1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0" idx="1"/>
            <a:endCxn id="26" idx="3"/>
          </p:cNvCxnSpPr>
          <p:nvPr/>
        </p:nvCxnSpPr>
        <p:spPr>
          <a:xfrm flipH="1">
            <a:off x="8093346" y="3283395"/>
            <a:ext cx="924188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26" idx="2"/>
            <a:endCxn id="33" idx="0"/>
          </p:cNvCxnSpPr>
          <p:nvPr/>
        </p:nvCxnSpPr>
        <p:spPr>
          <a:xfrm flipH="1">
            <a:off x="6408683" y="3851884"/>
            <a:ext cx="1" cy="990033"/>
          </a:xfrm>
          <a:prstGeom prst="line">
            <a:avLst/>
          </a:prstGeom>
          <a:ln w="28575">
            <a:solidFill>
              <a:srgbClr val="A2B9E2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曲线连接符 43"/>
          <p:cNvCxnSpPr>
            <a:stCxn id="23" idx="4"/>
            <a:endCxn id="34" idx="1"/>
          </p:cNvCxnSpPr>
          <p:nvPr/>
        </p:nvCxnSpPr>
        <p:spPr>
          <a:xfrm rot="16200000" flipH="1">
            <a:off x="3790605" y="3323815"/>
            <a:ext cx="1558521" cy="256060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曲线连接符 44"/>
          <p:cNvCxnSpPr>
            <a:stCxn id="34" idx="3"/>
            <a:endCxn id="29" idx="4"/>
          </p:cNvCxnSpPr>
          <p:nvPr/>
        </p:nvCxnSpPr>
        <p:spPr>
          <a:xfrm flipV="1">
            <a:off x="6967199" y="3824857"/>
            <a:ext cx="2608851" cy="1558521"/>
          </a:xfrm>
          <a:prstGeom prst="curvedConnector2">
            <a:avLst/>
          </a:prstGeom>
          <a:ln>
            <a:solidFill>
              <a:srgbClr val="89A8DF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6" name="曲线连接符 45"/>
          <p:cNvCxnSpPr>
            <a:stCxn id="29" idx="0"/>
            <a:endCxn id="23" idx="0"/>
          </p:cNvCxnSpPr>
          <p:nvPr/>
        </p:nvCxnSpPr>
        <p:spPr>
          <a:xfrm rot="16200000" flipV="1">
            <a:off x="6432807" y="-401310"/>
            <a:ext cx="12700" cy="6286487"/>
          </a:xfrm>
          <a:prstGeom prst="curvedConnector3">
            <a:avLst>
              <a:gd name="adj1" fmla="val 5914291"/>
            </a:avLst>
          </a:prstGeom>
          <a:ln w="28575">
            <a:solidFill>
              <a:srgbClr val="79B55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0187458" y="2860540"/>
            <a:ext cx="1590590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具体的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建模方法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880641" y="5973829"/>
            <a:ext cx="1117032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建模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77090" y="3538096"/>
            <a:ext cx="2510659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latin typeface="微软雅黑"/>
              </a:rPr>
              <a:t>与用户一起商定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77090" y="3984266"/>
            <a:ext cx="2510659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清晰、准确、具体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77090" y="3101172"/>
            <a:ext cx="2518752" cy="4308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描述系统做什么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77090" y="4431350"/>
            <a:ext cx="2510659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zh-CN" altLang="en-US" sz="2200" dirty="0" smtClean="0">
                <a:solidFill>
                  <a:schemeClr val="tx1"/>
                </a:solidFill>
              </a:rPr>
              <a:t>书面文档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4732893" y="2707549"/>
            <a:ext cx="3369324" cy="113697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用例模型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Use Case Model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767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3087032" y="1884292"/>
            <a:ext cx="5731847" cy="41898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2" name="矩形 21"/>
          <p:cNvSpPr/>
          <p:nvPr/>
        </p:nvSpPr>
        <p:spPr>
          <a:xfrm>
            <a:off x="4338320" y="1884291"/>
            <a:ext cx="3230880" cy="418987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0" name="文本框 19"/>
          <p:cNvSpPr txBox="1"/>
          <p:nvPr/>
        </p:nvSpPr>
        <p:spPr>
          <a:xfrm>
            <a:off x="7223109" y="718926"/>
            <a:ext cx="493839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C000"/>
                </a:solidFill>
                <a:latin typeface="+mn-ea"/>
              </a:rPr>
              <a:t>举例</a:t>
            </a:r>
            <a:r>
              <a:rPr lang="zh-CN" altLang="en-US" sz="2400" dirty="0" smtClean="0">
                <a:solidFill>
                  <a:srgbClr val="FFC000"/>
                </a:solidFill>
                <a:latin typeface="+mn-ea"/>
              </a:rPr>
              <a:t>：</a:t>
            </a:r>
            <a:r>
              <a:rPr lang="zh-CN" altLang="en-US" sz="2400" dirty="0" smtClean="0">
                <a:latin typeface="+mn-ea"/>
              </a:rPr>
              <a:t>超市商品销售终端软件</a:t>
            </a:r>
            <a:endParaRPr lang="en-US" altLang="zh-CN" sz="2000" dirty="0" smtClean="0">
              <a:latin typeface="+mn-ea"/>
            </a:endParaRPr>
          </a:p>
        </p:txBody>
      </p:sp>
      <p:sp>
        <p:nvSpPr>
          <p:cNvPr id="26" name="标题 2"/>
          <p:cNvSpPr>
            <a:spLocks noGrp="1"/>
          </p:cNvSpPr>
          <p:nvPr>
            <p:ph type="title"/>
          </p:nvPr>
        </p:nvSpPr>
        <p:spPr>
          <a:xfrm>
            <a:off x="1066161" y="728525"/>
            <a:ext cx="5819368" cy="777875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Arial Rounded MT Bold" panose="020F0704030504030204" pitchFamily="34" charset="0"/>
              </a:rPr>
              <a:t>三</a:t>
            </a:r>
            <a:r>
              <a:rPr lang="zh-CN" altLang="en-US" sz="3200" dirty="0" smtClean="0">
                <a:latin typeface="Arial Rounded MT Bold" panose="020F0704030504030204" pitchFamily="34" charset="0"/>
              </a:rPr>
              <a:t>、    </a:t>
            </a:r>
            <a:r>
              <a:rPr lang="zh-CN" altLang="en-US" sz="3600" dirty="0">
                <a:solidFill>
                  <a:srgbClr val="AAE597"/>
                </a:solidFill>
                <a:latin typeface="Arial Rounded MT Bold" panose="020F0704030504030204" pitchFamily="34" charset="0"/>
              </a:rPr>
              <a:t>用例图 </a:t>
            </a:r>
            <a:r>
              <a:rPr lang="en-US" altLang="zh-CN" sz="2800" b="0" dirty="0">
                <a:latin typeface="Arial Rounded MT Bold" panose="020F0704030504030204" pitchFamily="34" charset="0"/>
              </a:rPr>
              <a:t>+ </a:t>
            </a:r>
            <a:r>
              <a:rPr lang="zh-CN" altLang="en-US" sz="2800" b="0" dirty="0">
                <a:latin typeface="Arial Rounded MT Bold" panose="020F0704030504030204" pitchFamily="34" charset="0"/>
              </a:rPr>
              <a:t>用例描述</a:t>
            </a:r>
          </a:p>
        </p:txBody>
      </p:sp>
      <p:sp>
        <p:nvSpPr>
          <p:cNvPr id="4" name="椭圆 3"/>
          <p:cNvSpPr/>
          <p:nvPr/>
        </p:nvSpPr>
        <p:spPr>
          <a:xfrm>
            <a:off x="5034279" y="2569476"/>
            <a:ext cx="189992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登录</a:t>
            </a:r>
            <a:endParaRPr lang="zh-CN" altLang="en-US" sz="2000" dirty="0"/>
          </a:p>
        </p:txBody>
      </p:sp>
      <p:grpSp>
        <p:nvGrpSpPr>
          <p:cNvPr id="7" name="组合 6"/>
          <p:cNvGrpSpPr/>
          <p:nvPr/>
        </p:nvGrpSpPr>
        <p:grpSpPr>
          <a:xfrm>
            <a:off x="3087032" y="2449334"/>
            <a:ext cx="954107" cy="1130456"/>
            <a:chOff x="1430953" y="2298499"/>
            <a:chExt cx="954107" cy="113045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2142" y="2298499"/>
              <a:ext cx="395738" cy="788933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1430953" y="3028845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</a:rPr>
                <a:t>收银员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椭圆 30"/>
          <p:cNvSpPr/>
          <p:nvPr/>
        </p:nvSpPr>
        <p:spPr>
          <a:xfrm>
            <a:off x="5034279" y="3297684"/>
            <a:ext cx="189992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购买商品</a:t>
            </a:r>
          </a:p>
        </p:txBody>
      </p:sp>
      <p:sp>
        <p:nvSpPr>
          <p:cNvPr id="32" name="椭圆 31"/>
          <p:cNvSpPr/>
          <p:nvPr/>
        </p:nvSpPr>
        <p:spPr>
          <a:xfrm>
            <a:off x="5034279" y="4021220"/>
            <a:ext cx="189992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退还商品</a:t>
            </a:r>
            <a:endParaRPr lang="zh-CN" altLang="en-US" sz="2000" dirty="0"/>
          </a:p>
        </p:txBody>
      </p:sp>
      <p:sp>
        <p:nvSpPr>
          <p:cNvPr id="34" name="椭圆 33"/>
          <p:cNvSpPr/>
          <p:nvPr/>
        </p:nvSpPr>
        <p:spPr>
          <a:xfrm>
            <a:off x="5034279" y="4880351"/>
            <a:ext cx="189992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管理用户</a:t>
            </a:r>
            <a:endParaRPr lang="zh-CN" altLang="en-US" sz="2000" dirty="0"/>
          </a:p>
        </p:txBody>
      </p:sp>
      <p:grpSp>
        <p:nvGrpSpPr>
          <p:cNvPr id="8" name="组合 7"/>
          <p:cNvGrpSpPr/>
          <p:nvPr/>
        </p:nvGrpSpPr>
        <p:grpSpPr>
          <a:xfrm>
            <a:off x="8069619" y="2449334"/>
            <a:ext cx="697627" cy="1130456"/>
            <a:chOff x="5560100" y="2389939"/>
            <a:chExt cx="697627" cy="1130456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3428" y="2389939"/>
              <a:ext cx="395738" cy="788933"/>
            </a:xfrm>
            <a:prstGeom prst="rect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5560100" y="3120285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schemeClr val="bg1"/>
                  </a:solidFill>
                </a:rPr>
                <a:t>顾客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087032" y="4718094"/>
            <a:ext cx="954107" cy="1130456"/>
            <a:chOff x="1430953" y="2298499"/>
            <a:chExt cx="954107" cy="1130456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2142" y="2298499"/>
              <a:ext cx="395738" cy="788933"/>
            </a:xfrm>
            <a:prstGeom prst="rect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1430953" y="3028845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</a:rPr>
                <a:t>管理员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6" name="直接连接符 15"/>
          <p:cNvCxnSpPr>
            <a:stCxn id="5" idx="3"/>
            <a:endCxn id="4" idx="2"/>
          </p:cNvCxnSpPr>
          <p:nvPr/>
        </p:nvCxnSpPr>
        <p:spPr>
          <a:xfrm flipV="1">
            <a:off x="3743959" y="2798076"/>
            <a:ext cx="1290320" cy="45725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1" idx="6"/>
            <a:endCxn id="36" idx="1"/>
          </p:cNvCxnSpPr>
          <p:nvPr/>
        </p:nvCxnSpPr>
        <p:spPr>
          <a:xfrm flipV="1">
            <a:off x="6934199" y="2843801"/>
            <a:ext cx="1288748" cy="682483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5" idx="3"/>
            <a:endCxn id="31" idx="2"/>
          </p:cNvCxnSpPr>
          <p:nvPr/>
        </p:nvCxnSpPr>
        <p:spPr>
          <a:xfrm>
            <a:off x="3743959" y="2843801"/>
            <a:ext cx="1290320" cy="682483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5" idx="3"/>
            <a:endCxn id="32" idx="2"/>
          </p:cNvCxnSpPr>
          <p:nvPr/>
        </p:nvCxnSpPr>
        <p:spPr>
          <a:xfrm>
            <a:off x="3743959" y="2843801"/>
            <a:ext cx="1290320" cy="1406019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32" idx="6"/>
            <a:endCxn id="36" idx="1"/>
          </p:cNvCxnSpPr>
          <p:nvPr/>
        </p:nvCxnSpPr>
        <p:spPr>
          <a:xfrm flipV="1">
            <a:off x="6934199" y="2843801"/>
            <a:ext cx="1288748" cy="1406019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39" idx="3"/>
          </p:cNvCxnSpPr>
          <p:nvPr/>
        </p:nvCxnSpPr>
        <p:spPr>
          <a:xfrm flipV="1">
            <a:off x="3743959" y="2798076"/>
            <a:ext cx="1290320" cy="2314485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39" idx="3"/>
            <a:endCxn id="34" idx="2"/>
          </p:cNvCxnSpPr>
          <p:nvPr/>
        </p:nvCxnSpPr>
        <p:spPr>
          <a:xfrm flipV="1">
            <a:off x="3743959" y="5108951"/>
            <a:ext cx="1290320" cy="3610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4834705" y="1921564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</a:rPr>
              <a:t>超市销售终端软件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9692309" y="2049224"/>
            <a:ext cx="569388" cy="1130456"/>
            <a:chOff x="5624220" y="2389939"/>
            <a:chExt cx="569388" cy="1130456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3428" y="2389939"/>
              <a:ext cx="395738" cy="788933"/>
            </a:xfrm>
            <a:prstGeom prst="rect">
              <a:avLst/>
            </a:prstGeom>
          </p:spPr>
        </p:pic>
        <p:sp>
          <p:nvSpPr>
            <p:cNvPr id="63" name="文本框 62"/>
            <p:cNvSpPr txBox="1"/>
            <p:nvPr/>
          </p:nvSpPr>
          <p:spPr>
            <a:xfrm>
              <a:off x="5624220" y="3120285"/>
              <a:ext cx="5693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schemeClr val="bg1"/>
                  </a:solidFill>
                </a:rPr>
                <a:t>***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10350921" y="2093025"/>
            <a:ext cx="11400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 smtClean="0">
                <a:solidFill>
                  <a:schemeClr val="bg1"/>
                </a:solidFill>
              </a:rPr>
              <a:t>执行者</a:t>
            </a:r>
            <a:r>
              <a:rPr lang="en-US" altLang="zh-CN" sz="2200" dirty="0" smtClean="0">
                <a:solidFill>
                  <a:schemeClr val="bg1"/>
                </a:solidFill>
              </a:rPr>
              <a:t/>
            </a:r>
            <a:br>
              <a:rPr lang="en-US" altLang="zh-CN" sz="2200" dirty="0" smtClean="0">
                <a:solidFill>
                  <a:schemeClr val="bg1"/>
                </a:solidFill>
              </a:rPr>
            </a:br>
            <a:r>
              <a:rPr lang="en-US" altLang="zh-CN" sz="2200" dirty="0" smtClean="0">
                <a:solidFill>
                  <a:schemeClr val="bg1"/>
                </a:solidFill>
              </a:rPr>
              <a:t>/</a:t>
            </a:r>
            <a:r>
              <a:rPr lang="zh-CN" altLang="en-US" sz="2200" dirty="0" smtClean="0">
                <a:solidFill>
                  <a:schemeClr val="bg1"/>
                </a:solidFill>
              </a:rPr>
              <a:t>参与者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9549228" y="3245663"/>
            <a:ext cx="85555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***</a:t>
            </a:r>
            <a:endParaRPr lang="zh-CN" altLang="en-US" sz="2000" dirty="0"/>
          </a:p>
        </p:txBody>
      </p:sp>
      <p:sp>
        <p:nvSpPr>
          <p:cNvPr id="66" name="文本框 65"/>
          <p:cNvSpPr txBox="1"/>
          <p:nvPr/>
        </p:nvSpPr>
        <p:spPr>
          <a:xfrm>
            <a:off x="10718799" y="3256697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</a:rPr>
              <a:t>用例</a:t>
            </a:r>
          </a:p>
        </p:txBody>
      </p:sp>
      <p:cxnSp>
        <p:nvCxnSpPr>
          <p:cNvPr id="67" name="直接连接符 66"/>
          <p:cNvCxnSpPr/>
          <p:nvPr/>
        </p:nvCxnSpPr>
        <p:spPr>
          <a:xfrm>
            <a:off x="9549228" y="4245629"/>
            <a:ext cx="959616" cy="0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9553645" y="4740426"/>
            <a:ext cx="756345" cy="0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3" name="流程图: 摘录 72"/>
          <p:cNvSpPr/>
          <p:nvPr/>
        </p:nvSpPr>
        <p:spPr>
          <a:xfrm rot="5400000">
            <a:off x="10312619" y="4600132"/>
            <a:ext cx="263458" cy="268715"/>
          </a:xfrm>
          <a:prstGeom prst="flowChartExtract">
            <a:avLst/>
          </a:prstGeom>
          <a:noFill/>
          <a:ln w="19050">
            <a:solidFill>
              <a:srgbClr val="A0C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箭头连接符 75"/>
          <p:cNvCxnSpPr/>
          <p:nvPr/>
        </p:nvCxnSpPr>
        <p:spPr>
          <a:xfrm>
            <a:off x="9379717" y="5384778"/>
            <a:ext cx="1423725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9350605" y="5012023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</a:rPr>
              <a:t>&lt;&lt;include&gt;&gt;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81" name="直接箭头连接符 80"/>
          <p:cNvCxnSpPr/>
          <p:nvPr/>
        </p:nvCxnSpPr>
        <p:spPr>
          <a:xfrm>
            <a:off x="9370553" y="5879782"/>
            <a:ext cx="1423725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9362825" y="5507027"/>
            <a:ext cx="1414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</a:rPr>
              <a:t>&lt;&lt;extend&gt;&gt;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0777508" y="4023904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</a:rPr>
              <a:t>关联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10777507" y="4552984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</a:rPr>
              <a:t>继承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10803444" y="5153779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</a:rPr>
              <a:t>包含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10817826" y="5643275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 smtClean="0">
                <a:solidFill>
                  <a:schemeClr val="bg1"/>
                </a:solidFill>
              </a:rPr>
              <a:t>扩展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10723" y="2036817"/>
            <a:ext cx="2354808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200" dirty="0" smtClean="0">
                <a:solidFill>
                  <a:schemeClr val="tx1"/>
                </a:solidFill>
                <a:latin typeface="微软雅黑"/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  <a:latin typeface="微软雅黑"/>
              </a:rPr>
              <a:t>、识别用例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10723" y="2920737"/>
            <a:ext cx="2354808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200" dirty="0" smtClean="0">
                <a:solidFill>
                  <a:schemeClr val="tx1"/>
                </a:solidFill>
                <a:latin typeface="微软雅黑"/>
              </a:rPr>
              <a:t>2</a:t>
            </a:r>
            <a:r>
              <a:rPr lang="zh-CN" altLang="en-US" sz="2200" dirty="0" smtClean="0">
                <a:solidFill>
                  <a:schemeClr val="tx1"/>
                </a:solidFill>
                <a:latin typeface="微软雅黑"/>
              </a:rPr>
              <a:t>、识别参与者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10723" y="3804657"/>
            <a:ext cx="2354808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200" dirty="0" smtClean="0">
                <a:solidFill>
                  <a:schemeClr val="tx1"/>
                </a:solidFill>
                <a:latin typeface="微软雅黑"/>
              </a:rPr>
              <a:t>3</a:t>
            </a:r>
            <a:r>
              <a:rPr lang="zh-CN" altLang="en-US" sz="2200" dirty="0" smtClean="0">
                <a:solidFill>
                  <a:schemeClr val="tx1"/>
                </a:solidFill>
                <a:latin typeface="微软雅黑"/>
              </a:rPr>
              <a:t>、关系连接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10723" y="4681674"/>
            <a:ext cx="2354808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200" dirty="0" smtClean="0">
                <a:solidFill>
                  <a:schemeClr val="tx1"/>
                </a:solidFill>
                <a:latin typeface="微软雅黑"/>
              </a:rPr>
              <a:t>4</a:t>
            </a:r>
            <a:r>
              <a:rPr lang="zh-CN" altLang="en-US" sz="2200" dirty="0" smtClean="0">
                <a:solidFill>
                  <a:schemeClr val="tx1"/>
                </a:solidFill>
                <a:latin typeface="微软雅黑"/>
              </a:rPr>
              <a:t>、确定系统边界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180657" y="6196806"/>
            <a:ext cx="1503956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用例图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50" name="直接连接符 49"/>
          <p:cNvCxnSpPr>
            <a:stCxn id="31" idx="6"/>
            <a:endCxn id="55" idx="1"/>
          </p:cNvCxnSpPr>
          <p:nvPr/>
        </p:nvCxnSpPr>
        <p:spPr>
          <a:xfrm>
            <a:off x="6934199" y="3526284"/>
            <a:ext cx="1276175" cy="722394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/>
        </p:nvGrpSpPr>
        <p:grpSpPr>
          <a:xfrm>
            <a:off x="7967279" y="3854211"/>
            <a:ext cx="877163" cy="1376677"/>
            <a:chOff x="5470333" y="2389939"/>
            <a:chExt cx="877163" cy="1376677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3428" y="2389939"/>
              <a:ext cx="395738" cy="788933"/>
            </a:xfrm>
            <a:prstGeom prst="rect">
              <a:avLst/>
            </a:prstGeom>
          </p:spPr>
        </p:pic>
        <p:sp>
          <p:nvSpPr>
            <p:cNvPr id="56" name="文本框 55"/>
            <p:cNvSpPr txBox="1"/>
            <p:nvPr/>
          </p:nvSpPr>
          <p:spPr>
            <a:xfrm>
              <a:off x="5470333" y="3120285"/>
              <a:ext cx="8771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</a:rPr>
                <a:t>第三方</a:t>
              </a:r>
              <a:endParaRPr lang="en-US" altLang="zh-CN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 smtClean="0">
                  <a:solidFill>
                    <a:schemeClr val="bg1"/>
                  </a:solidFill>
                </a:rPr>
                <a:t>支付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8" name="直接连接符 57"/>
          <p:cNvCxnSpPr>
            <a:endCxn id="55" idx="1"/>
          </p:cNvCxnSpPr>
          <p:nvPr/>
        </p:nvCxnSpPr>
        <p:spPr>
          <a:xfrm flipV="1">
            <a:off x="6934199" y="4248678"/>
            <a:ext cx="1276175" cy="33270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752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4" grpId="0" animBg="1"/>
      <p:bldP spid="31" grpId="0" animBg="1"/>
      <p:bldP spid="32" grpId="0" animBg="1"/>
      <p:bldP spid="34" grpId="0" animBg="1"/>
      <p:bldP spid="60" grpId="0"/>
      <p:bldP spid="64" grpId="0"/>
      <p:bldP spid="65" grpId="0" animBg="1"/>
      <p:bldP spid="66" grpId="0"/>
      <p:bldP spid="73" grpId="0" animBg="1"/>
      <p:bldP spid="78" grpId="0"/>
      <p:bldP spid="82" grpId="0"/>
      <p:bldP spid="83" grpId="0"/>
      <p:bldP spid="84" grpId="0"/>
      <p:bldP spid="85" grpId="0"/>
      <p:bldP spid="86" grpId="0"/>
      <p:bldP spid="89" grpId="0" animBg="1"/>
      <p:bldP spid="90" grpId="0" animBg="1"/>
      <p:bldP spid="91" grpId="0" animBg="1"/>
      <p:bldP spid="92" grpId="0" animBg="1"/>
      <p:bldP spid="9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://dl.iteye.com/upload/attachment/0043/4522/06893491-b890-311d-91ac-46ef35257be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4230" y="0"/>
            <a:ext cx="7493283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344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288629" y="1967635"/>
            <a:ext cx="11568092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288628" y="1931297"/>
            <a:ext cx="4731165" cy="4441223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364045" y="1967635"/>
            <a:ext cx="4609321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marL="0" lvl="1">
              <a:lnSpc>
                <a:spcPct val="125000"/>
              </a:lnSpc>
            </a:pPr>
            <a:r>
              <a:rPr lang="zh-CN" altLang="en-US" sz="2800" dirty="0" smtClean="0">
                <a:solidFill>
                  <a:srgbClr val="AAE597"/>
                </a:solidFill>
                <a:latin typeface="+mn-ea"/>
              </a:rPr>
              <a:t>用</a:t>
            </a:r>
            <a:r>
              <a:rPr lang="zh-CN" altLang="en-US" sz="2800" dirty="0">
                <a:solidFill>
                  <a:srgbClr val="AAE597"/>
                </a:solidFill>
                <a:latin typeface="+mn-ea"/>
              </a:rPr>
              <a:t>例图</a:t>
            </a:r>
            <a:endParaRPr lang="en-US" altLang="zh-CN" sz="2800" dirty="0">
              <a:solidFill>
                <a:srgbClr val="AAE597"/>
              </a:solidFill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属于统一建模语言（</a:t>
            </a:r>
            <a:r>
              <a:rPr lang="en-US" altLang="zh-CN" sz="2400" dirty="0" smtClean="0">
                <a:solidFill>
                  <a:schemeClr val="bg1"/>
                </a:solidFill>
                <a:latin typeface="+mn-ea"/>
              </a:rPr>
              <a:t>UML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）</a:t>
            </a:r>
            <a:endParaRPr lang="en-US" altLang="zh-CN" sz="2400" dirty="0" smtClean="0">
              <a:solidFill>
                <a:schemeClr val="bg1"/>
              </a:solidFill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用于描述系统</a:t>
            </a:r>
            <a:r>
              <a:rPr lang="zh-CN" altLang="en-US" sz="24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</a:rPr>
              <a:t>功能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需求</a:t>
            </a:r>
            <a:endParaRPr lang="en-US" altLang="zh-CN" sz="2400" dirty="0" smtClean="0">
              <a:solidFill>
                <a:schemeClr val="bg1"/>
              </a:solidFill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将系统看作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黑盒</a:t>
            </a:r>
            <a:r>
              <a:rPr lang="zh-CN" altLang="en-US" sz="2400" dirty="0" smtClean="0">
                <a:solidFill>
                  <a:schemeClr val="bg1"/>
                </a:solidFill>
                <a:latin typeface="+mn-ea"/>
              </a:rPr>
              <a:t>，仅从外部执行者角度来理解系统</a:t>
            </a:r>
            <a:endParaRPr lang="en-US" altLang="zh-CN" sz="24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838221" y="2347518"/>
            <a:ext cx="4018501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chemeClr val="tx1"/>
                </a:solidFill>
              </a:rPr>
              <a:t>用户、设备、其他系统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838220" y="3158539"/>
            <a:ext cx="4018501" cy="7694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指系统的一个功能</a:t>
            </a:r>
            <a:r>
              <a:rPr lang="zh-CN" altLang="en-US" sz="2200" dirty="0" smtClean="0">
                <a:solidFill>
                  <a:schemeClr val="tx1"/>
                </a:solidFill>
              </a:rPr>
              <a:t>单元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chemeClr val="tx1"/>
                </a:solidFill>
              </a:rPr>
              <a:t>相对独立的过程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5488799" y="2172135"/>
            <a:ext cx="569388" cy="1130456"/>
            <a:chOff x="5624220" y="2389939"/>
            <a:chExt cx="569388" cy="1130456"/>
          </a:xfrm>
        </p:grpSpPr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3428" y="2389939"/>
              <a:ext cx="395738" cy="788933"/>
            </a:xfrm>
            <a:prstGeom prst="rect">
              <a:avLst/>
            </a:prstGeom>
          </p:spPr>
        </p:pic>
        <p:sp>
          <p:nvSpPr>
            <p:cNvPr id="68" name="文本框 67"/>
            <p:cNvSpPr txBox="1"/>
            <p:nvPr/>
          </p:nvSpPr>
          <p:spPr>
            <a:xfrm>
              <a:off x="5624220" y="3120285"/>
              <a:ext cx="5693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 smtClean="0">
                  <a:solidFill>
                    <a:schemeClr val="bg1"/>
                  </a:solidFill>
                </a:rPr>
                <a:t>***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6198211" y="2215936"/>
            <a:ext cx="11400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 smtClean="0">
                <a:solidFill>
                  <a:schemeClr val="bg1"/>
                </a:solidFill>
              </a:rPr>
              <a:t>执行者</a:t>
            </a:r>
            <a:r>
              <a:rPr lang="en-US" altLang="zh-CN" sz="2200" dirty="0" smtClean="0">
                <a:solidFill>
                  <a:schemeClr val="bg1"/>
                </a:solidFill>
              </a:rPr>
              <a:t/>
            </a:r>
            <a:br>
              <a:rPr lang="en-US" altLang="zh-CN" sz="2200" dirty="0" smtClean="0">
                <a:solidFill>
                  <a:schemeClr val="bg1"/>
                </a:solidFill>
              </a:rPr>
            </a:br>
            <a:r>
              <a:rPr lang="en-US" altLang="zh-CN" sz="2200" dirty="0" smtClean="0">
                <a:solidFill>
                  <a:schemeClr val="bg1"/>
                </a:solidFill>
              </a:rPr>
              <a:t>/</a:t>
            </a:r>
            <a:r>
              <a:rPr lang="zh-CN" altLang="en-US" sz="2200" dirty="0" smtClean="0">
                <a:solidFill>
                  <a:schemeClr val="bg1"/>
                </a:solidFill>
              </a:rPr>
              <a:t>参与者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5345718" y="3368574"/>
            <a:ext cx="855550" cy="457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***</a:t>
            </a:r>
            <a:endParaRPr lang="zh-CN" altLang="en-US" sz="2000" dirty="0"/>
          </a:p>
        </p:txBody>
      </p:sp>
      <p:sp>
        <p:nvSpPr>
          <p:cNvPr id="72" name="文本框 71"/>
          <p:cNvSpPr txBox="1"/>
          <p:nvPr/>
        </p:nvSpPr>
        <p:spPr>
          <a:xfrm>
            <a:off x="6535609" y="3379608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</a:rPr>
              <a:t>用例</a:t>
            </a:r>
          </a:p>
        </p:txBody>
      </p:sp>
      <p:cxnSp>
        <p:nvCxnSpPr>
          <p:cNvPr id="74" name="直接连接符 73"/>
          <p:cNvCxnSpPr/>
          <p:nvPr/>
        </p:nvCxnSpPr>
        <p:spPr>
          <a:xfrm>
            <a:off x="5345718" y="4368540"/>
            <a:ext cx="959616" cy="0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350135" y="4863337"/>
            <a:ext cx="756345" cy="0"/>
          </a:xfrm>
          <a:prstGeom prst="line">
            <a:avLst/>
          </a:prstGeom>
          <a:ln w="19050">
            <a:solidFill>
              <a:srgbClr val="A0CC82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7" name="流程图: 摘录 76"/>
          <p:cNvSpPr/>
          <p:nvPr/>
        </p:nvSpPr>
        <p:spPr>
          <a:xfrm rot="5400000">
            <a:off x="6109109" y="4723043"/>
            <a:ext cx="263458" cy="268715"/>
          </a:xfrm>
          <a:prstGeom prst="flowChartExtract">
            <a:avLst/>
          </a:prstGeom>
          <a:noFill/>
          <a:ln w="19050">
            <a:solidFill>
              <a:srgbClr val="A0CC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箭头连接符 78"/>
          <p:cNvCxnSpPr/>
          <p:nvPr/>
        </p:nvCxnSpPr>
        <p:spPr>
          <a:xfrm>
            <a:off x="5176207" y="5507689"/>
            <a:ext cx="1423725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5147095" y="5134934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</a:rPr>
              <a:t>&lt;&lt;include&gt;&gt;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>
            <a:off x="5167043" y="6002693"/>
            <a:ext cx="1423725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5159315" y="5629938"/>
            <a:ext cx="1414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</a:rPr>
              <a:t>&lt;&lt;extend&gt;&gt;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573998" y="4146815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</a:rPr>
              <a:t>关联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6573998" y="4675895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 smtClean="0">
                <a:solidFill>
                  <a:schemeClr val="bg1"/>
                </a:solidFill>
              </a:rPr>
              <a:t>泛化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599934" y="5276690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</a:rPr>
              <a:t>包含</a:t>
            </a:r>
          </a:p>
        </p:txBody>
      </p:sp>
      <p:sp>
        <p:nvSpPr>
          <p:cNvPr id="97" name="文本框 96"/>
          <p:cNvSpPr txBox="1"/>
          <p:nvPr/>
        </p:nvSpPr>
        <p:spPr>
          <a:xfrm>
            <a:off x="6614316" y="5766186"/>
            <a:ext cx="7489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dirty="0" smtClean="0">
                <a:solidFill>
                  <a:schemeClr val="bg1"/>
                </a:solidFill>
              </a:rPr>
              <a:t>扩展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7838219" y="4115561"/>
            <a:ext cx="4018501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chemeClr val="tx1"/>
                </a:solidFill>
              </a:rPr>
              <a:t>表示执行者执行某个用例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7838218" y="4654584"/>
            <a:ext cx="4018501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chemeClr val="tx1"/>
                </a:solidFill>
              </a:rPr>
              <a:t>执行者之间 </a:t>
            </a:r>
            <a:r>
              <a:rPr lang="en-US" altLang="zh-CN" sz="2200" dirty="0" smtClean="0">
                <a:solidFill>
                  <a:schemeClr val="tx1"/>
                </a:solidFill>
              </a:rPr>
              <a:t>/ </a:t>
            </a:r>
            <a:r>
              <a:rPr lang="zh-CN" altLang="en-US" sz="2200" dirty="0" smtClean="0">
                <a:solidFill>
                  <a:schemeClr val="tx1"/>
                </a:solidFill>
              </a:rPr>
              <a:t>用例之间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838218" y="5230266"/>
            <a:ext cx="4018501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chemeClr val="tx1"/>
                </a:solidFill>
              </a:rPr>
              <a:t>用例之间；功能包含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7838217" y="5760879"/>
            <a:ext cx="4018502" cy="430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chemeClr val="tx1"/>
                </a:solidFill>
              </a:rPr>
              <a:t>用例之间；功能扩展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zh-CN" altLang="en-US" sz="2200" dirty="0" smtClean="0">
                <a:solidFill>
                  <a:schemeClr val="tx1"/>
                </a:solidFill>
              </a:rPr>
              <a:t>非必须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175867" y="1931297"/>
            <a:ext cx="6756270" cy="4441223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标题 2"/>
          <p:cNvSpPr>
            <a:spLocks noGrp="1"/>
          </p:cNvSpPr>
          <p:nvPr>
            <p:ph type="title"/>
          </p:nvPr>
        </p:nvSpPr>
        <p:spPr>
          <a:xfrm>
            <a:off x="1066161" y="728525"/>
            <a:ext cx="5819368" cy="777875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Arial Rounded MT Bold" panose="020F0704030504030204" pitchFamily="34" charset="0"/>
              </a:rPr>
              <a:t>三</a:t>
            </a:r>
            <a:r>
              <a:rPr lang="zh-CN" altLang="en-US" sz="3200" dirty="0" smtClean="0">
                <a:latin typeface="Arial Rounded MT Bold" panose="020F0704030504030204" pitchFamily="34" charset="0"/>
              </a:rPr>
              <a:t>、    </a:t>
            </a:r>
            <a:r>
              <a:rPr lang="zh-CN" altLang="en-US" sz="3600" dirty="0">
                <a:solidFill>
                  <a:srgbClr val="AAE597"/>
                </a:solidFill>
                <a:latin typeface="Arial Rounded MT Bold" panose="020F0704030504030204" pitchFamily="34" charset="0"/>
              </a:rPr>
              <a:t>用例图 </a:t>
            </a:r>
            <a:r>
              <a:rPr lang="en-US" altLang="zh-CN" sz="2800" b="0" dirty="0">
                <a:latin typeface="Arial Rounded MT Bold" panose="020F0704030504030204" pitchFamily="34" charset="0"/>
              </a:rPr>
              <a:t>+ </a:t>
            </a:r>
            <a:r>
              <a:rPr lang="zh-CN" altLang="en-US" sz="2800" b="0" dirty="0">
                <a:latin typeface="Arial Rounded MT Bold" panose="020F0704030504030204" pitchFamily="34" charset="0"/>
              </a:rPr>
              <a:t>用例描述</a:t>
            </a:r>
          </a:p>
        </p:txBody>
      </p:sp>
    </p:spTree>
    <p:extLst>
      <p:ext uri="{BB962C8B-B14F-4D97-AF65-F5344CB8AC3E}">
        <p14:creationId xmlns:p14="http://schemas.microsoft.com/office/powerpoint/2010/main" val="170952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69" grpId="0"/>
      <p:bldP spid="70" grpId="0" animBg="1"/>
      <p:bldP spid="72" grpId="0"/>
      <p:bldP spid="77" grpId="0" animBg="1"/>
      <p:bldP spid="80" grpId="0"/>
      <p:bldP spid="88" grpId="0"/>
      <p:bldP spid="94" grpId="0"/>
      <p:bldP spid="95" grpId="0"/>
      <p:bldP spid="96" grpId="0"/>
      <p:bldP spid="97" grpId="0"/>
      <p:bldP spid="98" grpId="0" animBg="1"/>
      <p:bldP spid="99" grpId="0" animBg="1"/>
      <p:bldP spid="100" grpId="0" animBg="1"/>
      <p:bldP spid="10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659423" y="1931297"/>
            <a:ext cx="10840915" cy="3108063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812183" y="1989312"/>
            <a:ext cx="10487900" cy="665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03" y="1989312"/>
            <a:ext cx="5200650" cy="29622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880" y="561832"/>
            <a:ext cx="5917704" cy="5817234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740703" y="1966047"/>
            <a:ext cx="1025035" cy="3567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676124" y="2380802"/>
            <a:ext cx="1025035" cy="2741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511538" y="524503"/>
            <a:ext cx="2012352" cy="2847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406433" y="3681664"/>
            <a:ext cx="2937263" cy="2702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1066161" y="728525"/>
            <a:ext cx="5819368" cy="777875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Arial Rounded MT Bold" panose="020F0704030504030204" pitchFamily="34" charset="0"/>
              </a:rPr>
              <a:t>三</a:t>
            </a:r>
            <a:r>
              <a:rPr lang="zh-CN" altLang="en-US" sz="3200" dirty="0" smtClean="0">
                <a:latin typeface="Arial Rounded MT Bold" panose="020F0704030504030204" pitchFamily="34" charset="0"/>
              </a:rPr>
              <a:t>、    </a:t>
            </a:r>
            <a:r>
              <a:rPr lang="zh-CN" altLang="en-US" sz="2800" b="0" dirty="0">
                <a:latin typeface="Arial Rounded MT Bold" panose="020F0704030504030204" pitchFamily="34" charset="0"/>
              </a:rPr>
              <a:t>用例图 </a:t>
            </a:r>
            <a:r>
              <a:rPr lang="en-US" altLang="zh-CN" sz="2800" b="0" dirty="0">
                <a:latin typeface="Arial Rounded MT Bold" panose="020F0704030504030204" pitchFamily="34" charset="0"/>
              </a:rPr>
              <a:t>+ </a:t>
            </a:r>
            <a:r>
              <a:rPr lang="zh-CN" altLang="en-US" sz="3600" dirty="0">
                <a:solidFill>
                  <a:srgbClr val="AAE597"/>
                </a:solidFill>
                <a:latin typeface="Arial Rounded MT Bold" panose="020F0704030504030204" pitchFamily="34" charset="0"/>
              </a:rPr>
              <a:t>用例描述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6375953" y="5816295"/>
            <a:ext cx="1426927" cy="33490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50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2748788" y="2741934"/>
            <a:ext cx="1081550" cy="1082923"/>
            <a:chOff x="2489689" y="2188899"/>
            <a:chExt cx="1081550" cy="1082923"/>
          </a:xfrm>
        </p:grpSpPr>
        <p:sp>
          <p:nvSpPr>
            <p:cNvPr id="8" name="椭圆 7"/>
            <p:cNvSpPr/>
            <p:nvPr/>
          </p:nvSpPr>
          <p:spPr>
            <a:xfrm>
              <a:off x="2489689" y="2188899"/>
              <a:ext cx="1081550" cy="1082923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550728" y="2468750"/>
              <a:ext cx="9594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685800">
                <a:defRPr sz="2800">
                  <a:solidFill>
                    <a:schemeClr val="bg1"/>
                  </a:solidFill>
                  <a:latin typeface="Bodoni MT Condensed" panose="02070606080606020203" pitchFamily="18" charset="0"/>
                </a:defRPr>
              </a:lvl1pPr>
            </a:lstStyle>
            <a:p>
              <a:pPr algn="ctr"/>
              <a:r>
                <a:rPr lang="en-US" altLang="zh-CN" dirty="0" smtClean="0">
                  <a:latin typeface="Arial Rounded MT Bold" panose="020F0704030504030204" pitchFamily="34" charset="0"/>
                </a:rPr>
                <a:t>Why</a:t>
              </a:r>
              <a:endParaRPr lang="zh-CN" altLang="en-US" dirty="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4726503" y="2529433"/>
            <a:ext cx="3369324" cy="14932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用例模型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</a:rPr>
              <a:t>Use Case Model</a:t>
            </a:r>
            <a:r>
              <a:rPr lang="zh-CN" altLang="en-US" sz="2800" dirty="0" smtClean="0">
                <a:solidFill>
                  <a:schemeClr val="tx1"/>
                </a:solidFill>
              </a:rPr>
              <a:t>）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9017534" y="2741934"/>
            <a:ext cx="1117032" cy="1082923"/>
            <a:chOff x="8758435" y="2188899"/>
            <a:chExt cx="1117032" cy="1082923"/>
          </a:xfrm>
        </p:grpSpPr>
        <p:sp>
          <p:nvSpPr>
            <p:cNvPr id="12" name="椭圆 11"/>
            <p:cNvSpPr/>
            <p:nvPr/>
          </p:nvSpPr>
          <p:spPr>
            <a:xfrm>
              <a:off x="8776176" y="2188899"/>
              <a:ext cx="1081550" cy="1082923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758435" y="2468750"/>
              <a:ext cx="1117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685800">
                <a:defRPr sz="2800">
                  <a:solidFill>
                    <a:schemeClr val="bg1"/>
                  </a:solidFill>
                  <a:latin typeface="Bodoni MT Condensed" panose="02070606080606020203" pitchFamily="18" charset="0"/>
                </a:defRPr>
              </a:lvl1pPr>
            </a:lstStyle>
            <a:p>
              <a:pPr algn="ctr"/>
              <a:r>
                <a:rPr lang="en-US" altLang="zh-CN" dirty="0" smtClean="0">
                  <a:latin typeface="Arial Rounded MT Bold" panose="020F0704030504030204" pitchFamily="34" charset="0"/>
                </a:rPr>
                <a:t>What</a:t>
              </a:r>
              <a:endParaRPr lang="zh-CN" altLang="en-US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850167" y="4841917"/>
            <a:ext cx="1117032" cy="1082923"/>
            <a:chOff x="5591068" y="4288882"/>
            <a:chExt cx="1117032" cy="1082923"/>
          </a:xfrm>
        </p:grpSpPr>
        <p:sp>
          <p:nvSpPr>
            <p:cNvPr id="14" name="椭圆 13"/>
            <p:cNvSpPr/>
            <p:nvPr/>
          </p:nvSpPr>
          <p:spPr>
            <a:xfrm>
              <a:off x="5608809" y="4288882"/>
              <a:ext cx="1081550" cy="1082923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591068" y="4568733"/>
              <a:ext cx="1117032" cy="523220"/>
            </a:xfrm>
            <a:prstGeom prst="rect">
              <a:avLst/>
            </a:prstGeom>
            <a:noFill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 defTabSz="685800">
                <a:defRPr sz="2800">
                  <a:solidFill>
                    <a:schemeClr val="bg1"/>
                  </a:solidFill>
                  <a:latin typeface="Bodoni MT Condensed" panose="02070606080606020203" pitchFamily="18" charset="0"/>
                </a:defRPr>
              </a:lvl1pPr>
            </a:lstStyle>
            <a:p>
              <a:pPr algn="ctr"/>
              <a:r>
                <a:rPr lang="en-US" altLang="zh-CN" dirty="0">
                  <a:latin typeface="Arial Rounded MT Bold" panose="020F0704030504030204" pitchFamily="34" charset="0"/>
                </a:rPr>
                <a:t>How</a:t>
              </a:r>
              <a:endParaRPr lang="zh-CN" altLang="en-US" dirty="0"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4" name="直接连接符 3"/>
          <p:cNvCxnSpPr>
            <a:stCxn id="2" idx="1"/>
            <a:endCxn id="8" idx="6"/>
          </p:cNvCxnSpPr>
          <p:nvPr/>
        </p:nvCxnSpPr>
        <p:spPr>
          <a:xfrm flipH="1">
            <a:off x="3830338" y="3276039"/>
            <a:ext cx="896165" cy="7357"/>
          </a:xfrm>
          <a:prstGeom prst="line">
            <a:avLst/>
          </a:prstGeom>
          <a:ln w="28575">
            <a:solidFill>
              <a:srgbClr val="A2B9E2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13" idx="1"/>
            <a:endCxn id="2" idx="3"/>
          </p:cNvCxnSpPr>
          <p:nvPr/>
        </p:nvCxnSpPr>
        <p:spPr>
          <a:xfrm flipH="1" flipV="1">
            <a:off x="8095827" y="3276039"/>
            <a:ext cx="921707" cy="7356"/>
          </a:xfrm>
          <a:prstGeom prst="line">
            <a:avLst/>
          </a:prstGeom>
          <a:ln w="28575">
            <a:solidFill>
              <a:srgbClr val="A2B9E2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2" idx="2"/>
            <a:endCxn id="14" idx="0"/>
          </p:cNvCxnSpPr>
          <p:nvPr/>
        </p:nvCxnSpPr>
        <p:spPr>
          <a:xfrm flipH="1">
            <a:off x="6408683" y="4022645"/>
            <a:ext cx="2482" cy="819272"/>
          </a:xfrm>
          <a:prstGeom prst="line">
            <a:avLst/>
          </a:prstGeom>
          <a:ln w="28575">
            <a:solidFill>
              <a:srgbClr val="A2B9E2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曲线连接符 27"/>
          <p:cNvCxnSpPr>
            <a:stCxn id="8" idx="4"/>
            <a:endCxn id="15" idx="1"/>
          </p:cNvCxnSpPr>
          <p:nvPr/>
        </p:nvCxnSpPr>
        <p:spPr>
          <a:xfrm rot="16200000" flipH="1">
            <a:off x="3790605" y="3323815"/>
            <a:ext cx="1558521" cy="256060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曲线连接符 31"/>
          <p:cNvCxnSpPr>
            <a:stCxn id="15" idx="3"/>
            <a:endCxn id="12" idx="4"/>
          </p:cNvCxnSpPr>
          <p:nvPr/>
        </p:nvCxnSpPr>
        <p:spPr>
          <a:xfrm flipV="1">
            <a:off x="6967199" y="3824857"/>
            <a:ext cx="2608851" cy="1558521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曲线连接符 21"/>
          <p:cNvCxnSpPr>
            <a:stCxn id="12" idx="0"/>
            <a:endCxn id="8" idx="0"/>
          </p:cNvCxnSpPr>
          <p:nvPr/>
        </p:nvCxnSpPr>
        <p:spPr>
          <a:xfrm rot="16200000" flipV="1">
            <a:off x="6432807" y="-401310"/>
            <a:ext cx="12700" cy="6286487"/>
          </a:xfrm>
          <a:prstGeom prst="curvedConnector3">
            <a:avLst>
              <a:gd name="adj1" fmla="val 5914291"/>
            </a:avLst>
          </a:prstGeom>
          <a:ln w="28575">
            <a:solidFill>
              <a:srgbClr val="79B55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0125759" y="3302552"/>
            <a:ext cx="159059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用例描述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116825" y="2820701"/>
            <a:ext cx="159952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用例图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850167" y="5924838"/>
            <a:ext cx="1117032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建模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9" name="标题 2"/>
          <p:cNvSpPr>
            <a:spLocks noGrp="1"/>
          </p:cNvSpPr>
          <p:nvPr>
            <p:ph type="title"/>
          </p:nvPr>
        </p:nvSpPr>
        <p:spPr>
          <a:xfrm>
            <a:off x="1089396" y="721202"/>
            <a:ext cx="3804150" cy="777875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              </a:t>
            </a:r>
            <a:r>
              <a:rPr lang="zh-CN" altLang="en-US" sz="3200" dirty="0"/>
              <a:t>阶段</a:t>
            </a:r>
            <a:r>
              <a:rPr lang="zh-CN" altLang="en-US" sz="3200" dirty="0" smtClean="0"/>
              <a:t>小结</a:t>
            </a:r>
            <a:endParaRPr lang="zh-CN" altLang="en-US" sz="3200" dirty="0"/>
          </a:p>
        </p:txBody>
      </p:sp>
      <p:sp>
        <p:nvSpPr>
          <p:cNvPr id="3" name="圆角矩形 2"/>
          <p:cNvSpPr/>
          <p:nvPr/>
        </p:nvSpPr>
        <p:spPr>
          <a:xfrm>
            <a:off x="5535011" y="746403"/>
            <a:ext cx="949125" cy="4742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了解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6841741" y="746403"/>
            <a:ext cx="949125" cy="47421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会用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8148471" y="746403"/>
            <a:ext cx="949125" cy="4742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理解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9455201" y="746403"/>
            <a:ext cx="949125" cy="47421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掌握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10767224" y="733802"/>
            <a:ext cx="949125" cy="474219"/>
          </a:xfrm>
          <a:prstGeom prst="roundRect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创新</a:t>
            </a:r>
          </a:p>
        </p:txBody>
      </p:sp>
      <p:cxnSp>
        <p:nvCxnSpPr>
          <p:cNvPr id="6" name="直接箭头连接符 5"/>
          <p:cNvCxnSpPr>
            <a:stCxn id="3" idx="3"/>
            <a:endCxn id="27" idx="1"/>
          </p:cNvCxnSpPr>
          <p:nvPr/>
        </p:nvCxnSpPr>
        <p:spPr>
          <a:xfrm>
            <a:off x="6484136" y="983513"/>
            <a:ext cx="3576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27" idx="3"/>
            <a:endCxn id="29" idx="1"/>
          </p:cNvCxnSpPr>
          <p:nvPr/>
        </p:nvCxnSpPr>
        <p:spPr>
          <a:xfrm>
            <a:off x="7790866" y="983513"/>
            <a:ext cx="3576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9" idx="3"/>
            <a:endCxn id="30" idx="1"/>
          </p:cNvCxnSpPr>
          <p:nvPr/>
        </p:nvCxnSpPr>
        <p:spPr>
          <a:xfrm>
            <a:off x="9097596" y="983513"/>
            <a:ext cx="3576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30" idx="3"/>
            <a:endCxn id="31" idx="1"/>
          </p:cNvCxnSpPr>
          <p:nvPr/>
        </p:nvCxnSpPr>
        <p:spPr>
          <a:xfrm flipV="1">
            <a:off x="10404326" y="970912"/>
            <a:ext cx="362898" cy="12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177090" y="3538096"/>
            <a:ext cx="2510659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latin typeface="微软雅黑"/>
              </a:rPr>
              <a:t>与用户一起商定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77090" y="3984266"/>
            <a:ext cx="2510659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清晰、准确、具体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77090" y="3101172"/>
            <a:ext cx="2518752" cy="4308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描述系统做什么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77090" y="4431350"/>
            <a:ext cx="2510659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zh-CN" altLang="en-US" sz="2200" dirty="0" smtClean="0">
                <a:solidFill>
                  <a:schemeClr val="tx1"/>
                </a:solidFill>
              </a:rPr>
              <a:t>书面文档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91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7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734839" y="1967635"/>
            <a:ext cx="10935544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734838" y="1967635"/>
            <a:ext cx="10935545" cy="4367177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2291254" y="728525"/>
            <a:ext cx="4952825" cy="777875"/>
          </a:xfrm>
        </p:spPr>
        <p:txBody>
          <a:bodyPr>
            <a:noAutofit/>
          </a:bodyPr>
          <a:lstStyle/>
          <a:p>
            <a:r>
              <a:rPr lang="zh-CN" altLang="en-US" sz="3600" dirty="0" smtClean="0">
                <a:latin typeface="Arial Rounded MT Bold" panose="020F0704030504030204" pitchFamily="34" charset="0"/>
              </a:rPr>
              <a:t>主要</a:t>
            </a:r>
            <a:r>
              <a:rPr lang="zh-CN" altLang="en-US" sz="3600" dirty="0">
                <a:latin typeface="Arial Rounded MT Bold" panose="020F0704030504030204" pitchFamily="34" charset="0"/>
              </a:rPr>
              <a:t>内容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4838" y="2075892"/>
            <a:ext cx="10705265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+mn-ea"/>
              </a:rPr>
              <a:t>一、再看需求分析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+mn-ea"/>
              </a:rPr>
              <a:t>二、数据流图</a:t>
            </a:r>
            <a:r>
              <a:rPr lang="en-US" altLang="zh-CN" sz="2600" dirty="0" smtClean="0">
                <a:latin typeface="+mn-ea"/>
              </a:rPr>
              <a:t>+</a:t>
            </a:r>
            <a:r>
              <a:rPr lang="zh-CN" altLang="en-US" sz="2600" dirty="0" smtClean="0">
                <a:latin typeface="+mn-ea"/>
              </a:rPr>
              <a:t>数据字典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+mn-ea"/>
              </a:rPr>
              <a:t>三、用例图</a:t>
            </a:r>
            <a:r>
              <a:rPr lang="en-US" altLang="zh-CN" sz="2600" dirty="0" smtClean="0">
                <a:latin typeface="+mn-ea"/>
              </a:rPr>
              <a:t>+</a:t>
            </a:r>
            <a:r>
              <a:rPr lang="zh-CN" altLang="en-US" sz="2600" dirty="0" smtClean="0">
                <a:latin typeface="+mn-ea"/>
              </a:rPr>
              <a:t>用例描述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solidFill>
                  <a:srgbClr val="FFFF00"/>
                </a:solidFill>
                <a:latin typeface="+mn-ea"/>
              </a:rPr>
              <a:t>四、对比分析</a:t>
            </a:r>
            <a:endParaRPr lang="en-US" altLang="zh-CN" sz="2600" dirty="0" smtClean="0">
              <a:solidFill>
                <a:srgbClr val="FFFF00"/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latin typeface="+mn-ea"/>
              </a:rPr>
              <a:t>五、总结</a:t>
            </a:r>
            <a:endParaRPr lang="en-US" altLang="zh-CN" sz="26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3131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158" y="716597"/>
            <a:ext cx="5606602" cy="7778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3200" dirty="0" smtClean="0"/>
              <a:t>四、      数据流图</a:t>
            </a:r>
            <a:r>
              <a:rPr lang="en-US" altLang="zh-CN" sz="3200" dirty="0" smtClean="0"/>
              <a:t>   </a:t>
            </a:r>
            <a:r>
              <a:rPr lang="en-US" altLang="zh-CN" sz="3200" dirty="0" smtClean="0">
                <a:solidFill>
                  <a:srgbClr val="FFC000"/>
                </a:solidFill>
                <a:latin typeface="+mn-lt"/>
              </a:rPr>
              <a:t>VS </a:t>
            </a:r>
            <a:r>
              <a:rPr lang="en-US" altLang="zh-CN" sz="3200" dirty="0" smtClean="0"/>
              <a:t> </a:t>
            </a:r>
            <a:r>
              <a:rPr lang="zh-CN" altLang="en-US" sz="3200" dirty="0"/>
              <a:t>用</a:t>
            </a:r>
            <a:r>
              <a:rPr lang="zh-CN" altLang="en-US" sz="3200" dirty="0" smtClean="0"/>
              <a:t>例图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734838" y="1943910"/>
            <a:ext cx="4162283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34839" y="1943910"/>
            <a:ext cx="4162282" cy="4367177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04240" y="2052167"/>
            <a:ext cx="39928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600" b="1" dirty="0" smtClean="0">
                <a:solidFill>
                  <a:srgbClr val="FFC000"/>
                </a:solidFill>
                <a:latin typeface="+mn-ea"/>
              </a:rPr>
              <a:t>相同点：</a:t>
            </a:r>
            <a:endParaRPr lang="en-US" altLang="zh-CN" sz="2600" b="1" dirty="0">
              <a:solidFill>
                <a:srgbClr val="FFC000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smtClean="0">
                <a:latin typeface="+mn-ea"/>
              </a:rPr>
              <a:t>、主要用于</a:t>
            </a:r>
            <a:r>
              <a:rPr lang="zh-CN" altLang="en-US" sz="2400" dirty="0" smtClean="0">
                <a:latin typeface="+mn-ea"/>
              </a:rPr>
              <a:t>功能模型建模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 smtClean="0">
                <a:latin typeface="+mn-ea"/>
              </a:rPr>
              <a:t>2</a:t>
            </a:r>
            <a:r>
              <a:rPr lang="zh-CN" altLang="en-US" sz="2400" dirty="0" smtClean="0">
                <a:latin typeface="+mn-ea"/>
              </a:rPr>
              <a:t>、抽象、分层、逐步求精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 smtClean="0">
                <a:latin typeface="+mn-ea"/>
              </a:rPr>
              <a:t>3</a:t>
            </a:r>
            <a:r>
              <a:rPr lang="zh-CN" altLang="en-US" sz="2400" dirty="0" smtClean="0">
                <a:latin typeface="+mn-ea"/>
              </a:rPr>
              <a:t>、简明易懂</a:t>
            </a:r>
            <a:endParaRPr lang="en-US" altLang="zh-CN" sz="2400" dirty="0" smtClean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16880" y="1920338"/>
            <a:ext cx="6065518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516880" y="1943910"/>
            <a:ext cx="6065518" cy="4367177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720079" y="2028595"/>
            <a:ext cx="221488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600" b="1" dirty="0" smtClean="0">
                <a:solidFill>
                  <a:srgbClr val="FFFF00"/>
                </a:solidFill>
                <a:latin typeface="+mn-ea"/>
              </a:rPr>
              <a:t>不同点：</a:t>
            </a:r>
            <a:endParaRPr lang="en-US" altLang="zh-CN" sz="2600" b="1" dirty="0">
              <a:solidFill>
                <a:srgbClr val="FFFF00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dirty="0" smtClean="0">
                <a:latin typeface="+mn-ea"/>
              </a:rPr>
              <a:t>、建模角度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 smtClean="0">
                <a:latin typeface="+mn-ea"/>
              </a:rPr>
              <a:t>2</a:t>
            </a:r>
            <a:r>
              <a:rPr lang="zh-CN" altLang="en-US" sz="2400" dirty="0" smtClean="0">
                <a:latin typeface="+mn-ea"/>
              </a:rPr>
              <a:t>、思路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 smtClean="0">
                <a:latin typeface="+mn-ea"/>
              </a:rPr>
              <a:t>3</a:t>
            </a:r>
            <a:r>
              <a:rPr lang="zh-CN" altLang="en-US" sz="2400" dirty="0" smtClean="0">
                <a:latin typeface="+mn-ea"/>
              </a:rPr>
              <a:t>、映射方向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 smtClean="0">
                <a:latin typeface="+mn-ea"/>
              </a:rPr>
              <a:t>4</a:t>
            </a:r>
            <a:r>
              <a:rPr lang="zh-CN" altLang="en-US" sz="2400" dirty="0">
                <a:latin typeface="+mn-ea"/>
              </a:rPr>
              <a:t>、应用场景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sz="2400" dirty="0" smtClean="0"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70799" y="2028594"/>
            <a:ext cx="3911599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 smtClean="0">
                <a:solidFill>
                  <a:srgbClr val="FFFF00"/>
                </a:solidFill>
                <a:latin typeface="+mn-ea"/>
              </a:rPr>
              <a:t> </a:t>
            </a:r>
            <a:endParaRPr lang="en-US" altLang="zh-CN" sz="2600" b="1" dirty="0">
              <a:solidFill>
                <a:srgbClr val="FFFF00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 smtClean="0">
                <a:solidFill>
                  <a:srgbClr val="FFFF00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2400" dirty="0" smtClean="0">
                <a:solidFill>
                  <a:srgbClr val="82A3DE"/>
                </a:solidFill>
                <a:latin typeface="+mn-ea"/>
              </a:rPr>
              <a:t>数据流转 </a:t>
            </a:r>
            <a:r>
              <a:rPr lang="en-US" altLang="zh-CN" sz="2400" dirty="0" smtClean="0">
                <a:latin typeface="+mn-ea"/>
              </a:rPr>
              <a:t>/ </a:t>
            </a:r>
            <a:r>
              <a:rPr lang="zh-CN" altLang="en-US" sz="2400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n-ea"/>
              </a:rPr>
              <a:t>场景</a:t>
            </a:r>
            <a:r>
              <a:rPr lang="en-US" altLang="zh-CN" sz="2400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n-ea"/>
              </a:rPr>
              <a:t>+</a:t>
            </a:r>
            <a:r>
              <a:rPr lang="zh-CN" altLang="en-US" sz="2400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+mn-ea"/>
              </a:rPr>
              <a:t>交互</a:t>
            </a:r>
            <a:endParaRPr lang="en-US" altLang="zh-CN" sz="2400" dirty="0">
              <a:solidFill>
                <a:schemeClr val="accent6">
                  <a:lumMod val="40000"/>
                  <a:lumOff val="6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>
                <a:solidFill>
                  <a:srgbClr val="FFFF00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2400" dirty="0" smtClean="0">
                <a:solidFill>
                  <a:srgbClr val="82A3DE"/>
                </a:solidFill>
                <a:latin typeface="+mn-ea"/>
              </a:rPr>
              <a:t>倒</a:t>
            </a:r>
            <a:r>
              <a:rPr lang="zh-CN" altLang="en-US" sz="2400" dirty="0">
                <a:solidFill>
                  <a:srgbClr val="82A3DE"/>
                </a:solidFill>
                <a:latin typeface="+mn-ea"/>
              </a:rPr>
              <a:t>推</a:t>
            </a:r>
            <a:r>
              <a:rPr lang="zh-CN" altLang="en-US" sz="2400" dirty="0" smtClean="0">
                <a:latin typeface="+mn-ea"/>
              </a:rPr>
              <a:t> </a:t>
            </a:r>
            <a:r>
              <a:rPr lang="en-US" altLang="zh-CN" sz="2400" dirty="0" smtClean="0">
                <a:latin typeface="+mn-ea"/>
              </a:rPr>
              <a:t>/ </a:t>
            </a:r>
            <a:r>
              <a:rPr lang="zh-CN" alt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n-ea"/>
              </a:rPr>
              <a:t>从问题本身出发</a:t>
            </a:r>
            <a:endParaRPr lang="en-US" altLang="zh-CN" sz="2400" dirty="0">
              <a:solidFill>
                <a:schemeClr val="accent6">
                  <a:lumMod val="40000"/>
                  <a:lumOff val="6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 smtClean="0">
                <a:solidFill>
                  <a:srgbClr val="FFFF00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rgbClr val="82A3DE"/>
                </a:solidFill>
                <a:latin typeface="+mn-ea"/>
              </a:rPr>
              <a:t>映射求解</a:t>
            </a:r>
            <a:r>
              <a:rPr lang="zh-CN" altLang="en-US" sz="2400" dirty="0" smtClean="0">
                <a:solidFill>
                  <a:srgbClr val="82A3DE"/>
                </a:solidFill>
                <a:latin typeface="+mn-ea"/>
              </a:rPr>
              <a:t>域 </a:t>
            </a:r>
            <a:r>
              <a:rPr lang="en-US" altLang="zh-CN" sz="2400" dirty="0" smtClean="0">
                <a:latin typeface="+mn-ea"/>
              </a:rPr>
              <a:t>/ </a:t>
            </a:r>
            <a:r>
              <a:rPr lang="zh-CN" alt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n-ea"/>
              </a:rPr>
              <a:t>映射问题域</a:t>
            </a:r>
            <a:endParaRPr lang="en-US" altLang="zh-CN" sz="2400" dirty="0">
              <a:solidFill>
                <a:schemeClr val="accent6">
                  <a:lumMod val="40000"/>
                  <a:lumOff val="6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 smtClean="0">
                <a:solidFill>
                  <a:srgbClr val="FFFF00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2400" u="sng" dirty="0" smtClean="0">
                <a:solidFill>
                  <a:srgbClr val="82A3DE"/>
                </a:solidFill>
                <a:latin typeface="+mn-ea"/>
                <a:sym typeface="Wingdings" panose="05000000000000000000" pitchFamily="2" charset="2"/>
              </a:rPr>
              <a:t>数据处理系统</a:t>
            </a:r>
            <a:r>
              <a:rPr lang="zh-CN" altLang="en-US" sz="2400" dirty="0" smtClean="0">
                <a:solidFill>
                  <a:srgbClr val="82A3DE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/</a:t>
            </a:r>
            <a:r>
              <a:rPr lang="en-US" altLang="zh-CN" sz="2400" dirty="0" smtClean="0">
                <a:solidFill>
                  <a:srgbClr val="82A3DE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n-ea"/>
                <a:sym typeface="Wingdings" panose="05000000000000000000" pitchFamily="2" charset="2"/>
              </a:rPr>
              <a:t>……</a:t>
            </a:r>
            <a:endParaRPr lang="en-US" altLang="zh-CN" sz="2400" dirty="0">
              <a:solidFill>
                <a:schemeClr val="accent6">
                  <a:lumMod val="40000"/>
                  <a:lumOff val="6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altLang="zh-CN" sz="2400" dirty="0" smtClean="0">
              <a:latin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689" y="98552"/>
            <a:ext cx="2248729" cy="14336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348" y="98552"/>
            <a:ext cx="1790815" cy="14336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4294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4811" y="20435"/>
            <a:ext cx="2567189" cy="640080"/>
          </a:xfrm>
        </p:spPr>
        <p:txBody>
          <a:bodyPr>
            <a:noAutofit/>
          </a:bodyPr>
          <a:lstStyle/>
          <a:p>
            <a:pPr algn="ctr"/>
            <a:r>
              <a:rPr lang="zh-CN" altLang="en-US" sz="3200" dirty="0" smtClean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+mj-ea"/>
              </a:rPr>
              <a:t>软件 </a:t>
            </a:r>
            <a:r>
              <a:rPr lang="en-US" altLang="zh-CN" sz="3200" dirty="0" smtClean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+mj-ea"/>
              </a:rPr>
              <a:t>+ </a:t>
            </a:r>
            <a:r>
              <a:rPr lang="zh-CN" altLang="en-US" sz="3200" dirty="0" smtClean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latin typeface="+mj-ea"/>
              </a:rPr>
              <a:t>工程</a:t>
            </a:r>
            <a:endParaRPr lang="zh-CN" altLang="en-US" sz="1200" dirty="0">
              <a:latin typeface="+mj-ea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64150" y="799001"/>
            <a:ext cx="9700722" cy="58478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1958132" y="799001"/>
            <a:ext cx="9797012" cy="584782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75247" y="2369247"/>
            <a:ext cx="1348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不可见</a:t>
            </a:r>
            <a:endParaRPr lang="en-US" altLang="zh-CN" sz="20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442153" y="3304885"/>
            <a:ext cx="1348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智力发挥</a:t>
            </a:r>
            <a:endParaRPr lang="en-US" altLang="zh-CN" sz="2000" dirty="0" smtClean="0"/>
          </a:p>
        </p:txBody>
      </p:sp>
      <p:sp>
        <p:nvSpPr>
          <p:cNvPr id="7" name="文本框 6"/>
          <p:cNvSpPr txBox="1"/>
          <p:nvPr/>
        </p:nvSpPr>
        <p:spPr>
          <a:xfrm>
            <a:off x="607288" y="4258009"/>
            <a:ext cx="1348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人的因素</a:t>
            </a:r>
            <a:endParaRPr lang="en-US" altLang="zh-CN" sz="2000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10229016" y="2158590"/>
            <a:ext cx="11160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更大</a:t>
            </a:r>
            <a:endParaRPr lang="en-US" altLang="zh-CN" sz="2200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2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更复杂</a:t>
            </a:r>
            <a:endParaRPr lang="zh-CN" altLang="en-US" sz="2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58273" y="3145313"/>
            <a:ext cx="8241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时间</a:t>
            </a:r>
            <a:endParaRPr lang="en-US" altLang="zh-CN" sz="2200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2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人力</a:t>
            </a:r>
            <a:endParaRPr lang="en-US" altLang="zh-CN" sz="2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2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物力</a:t>
            </a:r>
            <a:endParaRPr lang="zh-CN" altLang="en-US" sz="2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41272" y="4310977"/>
            <a:ext cx="74892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高效</a:t>
            </a:r>
            <a:endParaRPr lang="en-US" altLang="zh-CN" sz="2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2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可靠</a:t>
            </a:r>
            <a:endParaRPr lang="en-US" altLang="zh-CN" sz="2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2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有用</a:t>
            </a:r>
            <a:endParaRPr lang="zh-CN" altLang="en-US" sz="2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967168" y="691998"/>
            <a:ext cx="8421078" cy="6029360"/>
          </a:xfrm>
          <a:prstGeom prst="ellipse">
            <a:avLst/>
          </a:prstGeom>
          <a:solidFill>
            <a:srgbClr val="0581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351494" y="836821"/>
            <a:ext cx="1528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</a:rPr>
              <a:t>Software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594963" y="842450"/>
            <a:ext cx="1907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</a:rPr>
              <a:t>Engineering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965370" y="3426387"/>
            <a:ext cx="842107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792684" y="575053"/>
            <a:ext cx="800219" cy="4616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847556" y="6267856"/>
            <a:ext cx="800219" cy="4616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管理</a:t>
            </a:r>
            <a:endParaRPr lang="zh-CN" altLang="en-US" sz="2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956334" y="4050892"/>
            <a:ext cx="842107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967852" y="340587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FF00"/>
                </a:solidFill>
              </a:rPr>
              <a:t>问题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r>
              <a:rPr lang="zh-CN" altLang="en-US" dirty="0" smtClean="0">
                <a:solidFill>
                  <a:srgbClr val="FFFF00"/>
                </a:solidFill>
              </a:rPr>
              <a:t>定义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575866" y="3400480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可行性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研究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15136" y="340864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FF00"/>
                </a:solidFill>
              </a:rPr>
              <a:t>需求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r>
              <a:rPr lang="zh-CN" altLang="en-US" dirty="0" smtClean="0">
                <a:solidFill>
                  <a:srgbClr val="FFFF00"/>
                </a:solidFill>
              </a:rPr>
              <a:t>分析</a:t>
            </a:r>
            <a:endParaRPr lang="zh-CN" altLang="en-US" dirty="0">
              <a:solidFill>
                <a:srgbClr val="FFFF00"/>
              </a:solidFill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087281" y="3500406"/>
            <a:ext cx="9331" cy="4839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125218" y="340456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FF00"/>
                </a:solidFill>
              </a:rPr>
              <a:t>概要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r>
              <a:rPr lang="zh-CN" altLang="en-US" dirty="0" smtClean="0">
                <a:solidFill>
                  <a:srgbClr val="FFFF00"/>
                </a:solidFill>
              </a:rPr>
              <a:t>设计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708006" y="340048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详细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设计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97673" y="340864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编码与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单元测试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12756" y="341439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FF00"/>
                </a:solidFill>
              </a:rPr>
              <a:t>集成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r>
              <a:rPr lang="zh-CN" altLang="en-US" dirty="0" smtClean="0">
                <a:solidFill>
                  <a:srgbClr val="FFFF00"/>
                </a:solidFill>
              </a:rPr>
              <a:t>测试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84011" y="342212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确认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测试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511596" y="340864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F00"/>
                </a:solidFill>
              </a:rPr>
              <a:t>系统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测试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61765" y="340864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运行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pPr algn="ctr"/>
            <a:r>
              <a:rPr lang="zh-CN" altLang="en-US" dirty="0" smtClean="0">
                <a:solidFill>
                  <a:srgbClr val="FFFF00"/>
                </a:solidFill>
              </a:rPr>
              <a:t>维护</a:t>
            </a:r>
            <a:endParaRPr lang="en-US" altLang="zh-CN" dirty="0" smtClean="0">
              <a:solidFill>
                <a:srgbClr val="FFFF00"/>
              </a:solidFill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8208684" y="3489814"/>
            <a:ext cx="9331" cy="4839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2199578" y="4246150"/>
            <a:ext cx="110706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+mn-ea"/>
              </a:rPr>
              <a:t>瀑布模型</a:t>
            </a:r>
            <a:endParaRPr lang="zh-CN" altLang="en-US" dirty="0">
              <a:latin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363498" y="4246150"/>
            <a:ext cx="110706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原型</a:t>
            </a:r>
            <a:r>
              <a:rPr lang="zh-CN" altLang="en-US" dirty="0" smtClean="0">
                <a:latin typeface="+mn-ea"/>
              </a:rPr>
              <a:t>模型</a:t>
            </a:r>
            <a:endParaRPr lang="zh-CN" altLang="en-US" dirty="0">
              <a:latin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527417" y="4246150"/>
            <a:ext cx="166537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+mn-ea"/>
              </a:rPr>
              <a:t>迭代增量模型</a:t>
            </a:r>
            <a:endParaRPr lang="zh-CN" altLang="en-US" dirty="0">
              <a:latin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47666" y="4246150"/>
            <a:ext cx="110706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螺旋</a:t>
            </a:r>
            <a:r>
              <a:rPr lang="zh-CN" altLang="en-US" dirty="0" smtClean="0">
                <a:latin typeface="+mn-ea"/>
              </a:rPr>
              <a:t>模型</a:t>
            </a:r>
            <a:endParaRPr lang="zh-CN" altLang="en-US" dirty="0">
              <a:latin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406754" y="4246150"/>
            <a:ext cx="110706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喷泉</a:t>
            </a:r>
            <a:r>
              <a:rPr lang="zh-CN" altLang="en-US" dirty="0" smtClean="0">
                <a:latin typeface="+mn-ea"/>
              </a:rPr>
              <a:t>模型</a:t>
            </a:r>
            <a:endParaRPr lang="zh-CN" altLang="en-US" dirty="0">
              <a:latin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565842" y="4246150"/>
            <a:ext cx="110706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V</a:t>
            </a:r>
            <a:r>
              <a:rPr lang="zh-CN" altLang="en-US" dirty="0" smtClean="0">
                <a:latin typeface="+mn-ea"/>
              </a:rPr>
              <a:t>模型</a:t>
            </a:r>
            <a:endParaRPr lang="zh-CN" altLang="en-US" dirty="0">
              <a:latin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252387" y="4813882"/>
            <a:ext cx="1612473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+mn-ea"/>
              </a:rPr>
              <a:t>RUP</a:t>
            </a:r>
            <a:endParaRPr lang="zh-CN" altLang="en-US" dirty="0">
              <a:latin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102878" y="4813882"/>
            <a:ext cx="1612473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敏捷过程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953369" y="4813882"/>
            <a:ext cx="1612473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+mn-ea"/>
              </a:rPr>
              <a:t>MSF</a:t>
            </a:r>
            <a:endParaRPr lang="zh-CN" altLang="en-US" dirty="0">
              <a:latin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624811" y="404178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</a:t>
            </a:r>
            <a:endParaRPr lang="en-US" altLang="zh-CN" b="1" dirty="0" smtClean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478337" y="474800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软件开发过程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888455" y="3408641"/>
            <a:ext cx="156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软件生命周期</a:t>
            </a:r>
            <a:endParaRPr lang="en-US" altLang="zh-CN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软件过程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091771" y="5328081"/>
            <a:ext cx="191394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+mn-ea"/>
              </a:rPr>
              <a:t>ISO9000</a:t>
            </a:r>
            <a:endParaRPr lang="zh-CN" altLang="en-US" dirty="0">
              <a:latin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104721" y="5328081"/>
            <a:ext cx="191394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CMM/TSP/PSP</a:t>
            </a:r>
            <a:endParaRPr lang="zh-CN" altLang="en-US" dirty="0">
              <a:latin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147753" y="5328081"/>
            <a:ext cx="191394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ISO/IEC 15504</a:t>
            </a:r>
            <a:endParaRPr lang="zh-CN" altLang="en-US" dirty="0">
              <a:latin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125218" y="5831112"/>
            <a:ext cx="3906443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启动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ym typeface="Wingdings" panose="05000000000000000000" pitchFamily="2" charset="2"/>
              </a:rPr>
              <a:t>策划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ym typeface="Wingdings" panose="05000000000000000000" pitchFamily="2" charset="2"/>
              </a:rPr>
              <a:t>实施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ym typeface="Wingdings" panose="05000000000000000000" pitchFamily="2" charset="2"/>
              </a:rPr>
              <a:t>监控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ym typeface="Wingdings" panose="05000000000000000000" pitchFamily="2" charset="2"/>
              </a:rPr>
              <a:t>收尾</a:t>
            </a:r>
            <a:endParaRPr lang="zh-CN" altLang="en-US" dirty="0">
              <a:latin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377488" y="2908062"/>
            <a:ext cx="763061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smtClean="0"/>
              <a:t>    SA</a:t>
            </a:r>
            <a:r>
              <a:rPr lang="en-US" altLang="zh-CN" dirty="0" smtClean="0">
                <a:sym typeface="Wingdings" panose="05000000000000000000" pitchFamily="2" charset="2"/>
              </a:rPr>
              <a:t>  SD   SP   </a:t>
            </a:r>
            <a:r>
              <a:rPr lang="zh-CN" altLang="en-US" dirty="0" smtClean="0">
                <a:sym typeface="Wingdings" panose="05000000000000000000" pitchFamily="2" charset="2"/>
              </a:rPr>
              <a:t>：功能</a:t>
            </a:r>
            <a:r>
              <a:rPr lang="zh-CN" altLang="en-US" dirty="0">
                <a:sym typeface="Wingdings" panose="05000000000000000000" pitchFamily="2" charset="2"/>
              </a:rPr>
              <a:t>模型</a:t>
            </a:r>
            <a:r>
              <a:rPr lang="en-US" altLang="zh-CN" dirty="0" smtClean="0">
                <a:sym typeface="Wingdings" panose="05000000000000000000" pitchFamily="2" charset="2"/>
              </a:rPr>
              <a:t>[</a:t>
            </a:r>
            <a:r>
              <a:rPr lang="en-US" altLang="zh-CN" dirty="0">
                <a:sym typeface="Wingdings" panose="05000000000000000000" pitchFamily="2" charset="2"/>
              </a:rPr>
              <a:t>DFD</a:t>
            </a:r>
            <a:r>
              <a:rPr lang="en-US" altLang="zh-CN" dirty="0" smtClean="0">
                <a:sym typeface="Wingdings" panose="05000000000000000000" pitchFamily="2" charset="2"/>
              </a:rPr>
              <a:t>]</a:t>
            </a:r>
            <a:r>
              <a:rPr lang="zh-CN" altLang="en-US" dirty="0" smtClean="0">
                <a:sym typeface="Wingdings" panose="05000000000000000000" pitchFamily="2" charset="2"/>
              </a:rPr>
              <a:t>、数据</a:t>
            </a:r>
            <a:r>
              <a:rPr lang="zh-CN" altLang="en-US" dirty="0">
                <a:sym typeface="Wingdings" panose="05000000000000000000" pitchFamily="2" charset="2"/>
              </a:rPr>
              <a:t>模型</a:t>
            </a:r>
            <a:r>
              <a:rPr lang="en-US" altLang="zh-CN" dirty="0" smtClean="0">
                <a:sym typeface="Wingdings" panose="05000000000000000000" pitchFamily="2" charset="2"/>
              </a:rPr>
              <a:t>[E-R]</a:t>
            </a:r>
            <a:r>
              <a:rPr lang="zh-CN" altLang="en-US" dirty="0" smtClean="0">
                <a:sym typeface="Wingdings" panose="05000000000000000000" pitchFamily="2" charset="2"/>
              </a:rPr>
              <a:t>、行为</a:t>
            </a:r>
            <a:r>
              <a:rPr lang="zh-CN" altLang="en-US" dirty="0">
                <a:sym typeface="Wingdings" panose="05000000000000000000" pitchFamily="2" charset="2"/>
              </a:rPr>
              <a:t>模型</a:t>
            </a:r>
            <a:r>
              <a:rPr lang="en-US" altLang="zh-CN" dirty="0" smtClean="0">
                <a:sym typeface="Wingdings" panose="05000000000000000000" pitchFamily="2" charset="2"/>
              </a:rPr>
              <a:t>[</a:t>
            </a:r>
            <a:r>
              <a:rPr lang="zh-CN" altLang="en-US" dirty="0">
                <a:sym typeface="Wingdings" panose="05000000000000000000" pitchFamily="2" charset="2"/>
              </a:rPr>
              <a:t>状态图</a:t>
            </a:r>
            <a:r>
              <a:rPr lang="en-US" altLang="zh-CN" dirty="0" smtClean="0">
                <a:sym typeface="Wingdings" panose="05000000000000000000" pitchFamily="2" charset="2"/>
              </a:rPr>
              <a:t>]</a:t>
            </a:r>
            <a:endParaRPr lang="zh-CN" altLang="en-US" dirty="0">
              <a:latin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377487" y="2469824"/>
            <a:ext cx="763061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smtClean="0"/>
              <a:t>OOA</a:t>
            </a:r>
            <a:r>
              <a:rPr lang="en-US" altLang="zh-CN" dirty="0" smtClean="0">
                <a:sym typeface="Wingdings" panose="05000000000000000000" pitchFamily="2" charset="2"/>
              </a:rPr>
              <a:t>OODOO</a:t>
            </a:r>
            <a:r>
              <a:rPr lang="zh-CN" altLang="en-US" dirty="0" smtClean="0">
                <a:sym typeface="Wingdings" panose="05000000000000000000" pitchFamily="2" charset="2"/>
              </a:rPr>
              <a:t>：功能模型</a:t>
            </a:r>
            <a:r>
              <a:rPr lang="en-US" altLang="zh-CN" dirty="0" smtClean="0">
                <a:sym typeface="Wingdings" panose="05000000000000000000" pitchFamily="2" charset="2"/>
              </a:rPr>
              <a:t>[</a:t>
            </a:r>
            <a:r>
              <a:rPr lang="zh-CN" altLang="en-US" dirty="0" smtClean="0">
                <a:sym typeface="Wingdings" panose="05000000000000000000" pitchFamily="2" charset="2"/>
              </a:rPr>
              <a:t>用例</a:t>
            </a:r>
            <a:r>
              <a:rPr lang="en-US" altLang="zh-CN" dirty="0" smtClean="0">
                <a:sym typeface="Wingdings" panose="05000000000000000000" pitchFamily="2" charset="2"/>
              </a:rPr>
              <a:t>]</a:t>
            </a:r>
            <a:r>
              <a:rPr lang="zh-CN" altLang="en-US" dirty="0" smtClean="0">
                <a:sym typeface="Wingdings" panose="05000000000000000000" pitchFamily="2" charset="2"/>
              </a:rPr>
              <a:t>、对象</a:t>
            </a:r>
            <a:r>
              <a:rPr lang="zh-CN" altLang="en-US" dirty="0">
                <a:sym typeface="Wingdings" panose="05000000000000000000" pitchFamily="2" charset="2"/>
              </a:rPr>
              <a:t>模型</a:t>
            </a:r>
            <a:r>
              <a:rPr lang="en-US" altLang="zh-CN" dirty="0" smtClean="0">
                <a:sym typeface="Wingdings" panose="05000000000000000000" pitchFamily="2" charset="2"/>
              </a:rPr>
              <a:t>[</a:t>
            </a:r>
            <a:r>
              <a:rPr lang="zh-CN" altLang="en-US" dirty="0" smtClean="0">
                <a:sym typeface="Wingdings" panose="05000000000000000000" pitchFamily="2" charset="2"/>
              </a:rPr>
              <a:t>类图</a:t>
            </a:r>
            <a:r>
              <a:rPr lang="en-US" altLang="zh-CN" dirty="0" smtClean="0">
                <a:sym typeface="Wingdings" panose="05000000000000000000" pitchFamily="2" charset="2"/>
              </a:rPr>
              <a:t>]</a:t>
            </a:r>
            <a:r>
              <a:rPr lang="zh-CN" altLang="en-US" dirty="0" smtClean="0">
                <a:sym typeface="Wingdings" panose="05000000000000000000" pitchFamily="2" charset="2"/>
              </a:rPr>
              <a:t>、动态</a:t>
            </a:r>
            <a:r>
              <a:rPr lang="zh-CN" altLang="en-US" dirty="0">
                <a:sym typeface="Wingdings" panose="05000000000000000000" pitchFamily="2" charset="2"/>
              </a:rPr>
              <a:t>模型</a:t>
            </a:r>
            <a:r>
              <a:rPr lang="en-US" altLang="zh-CN" dirty="0" smtClean="0">
                <a:sym typeface="Wingdings" panose="05000000000000000000" pitchFamily="2" charset="2"/>
              </a:rPr>
              <a:t>[</a:t>
            </a:r>
            <a:r>
              <a:rPr lang="zh-CN" altLang="en-US" dirty="0" smtClean="0">
                <a:sym typeface="Wingdings" panose="05000000000000000000" pitchFamily="2" charset="2"/>
              </a:rPr>
              <a:t>时序图</a:t>
            </a:r>
            <a:r>
              <a:rPr lang="en-US" altLang="zh-CN" dirty="0" smtClean="0">
                <a:sym typeface="Wingdings" panose="05000000000000000000" pitchFamily="2" charset="2"/>
              </a:rPr>
              <a:t>]</a:t>
            </a:r>
            <a:endParaRPr lang="zh-CN" altLang="en-US" dirty="0">
              <a:latin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96571" y="2010756"/>
            <a:ext cx="131254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+mn-ea"/>
              </a:rPr>
              <a:t>信息隐藏</a:t>
            </a:r>
            <a:endParaRPr lang="zh-CN" altLang="en-US" dirty="0">
              <a:latin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082029" y="2010756"/>
            <a:ext cx="131254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抽象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111113" y="2001292"/>
            <a:ext cx="144874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+mn-ea"/>
              </a:rPr>
              <a:t>模块独立性</a:t>
            </a:r>
            <a:endParaRPr lang="zh-CN" altLang="en-US" dirty="0">
              <a:latin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759605" y="2002864"/>
            <a:ext cx="131254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+mn-ea"/>
              </a:rPr>
              <a:t>耦合</a:t>
            </a:r>
            <a:r>
              <a:rPr lang="en-US" altLang="zh-CN" dirty="0" smtClean="0">
                <a:latin typeface="+mn-ea"/>
              </a:rPr>
              <a:t>/</a:t>
            </a:r>
            <a:r>
              <a:rPr lang="zh-CN" altLang="en-US" dirty="0" smtClean="0">
                <a:latin typeface="+mn-ea"/>
              </a:rPr>
              <a:t>内聚</a:t>
            </a:r>
            <a:endParaRPr lang="zh-CN" altLang="en-US" dirty="0">
              <a:latin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99217" y="1509034"/>
            <a:ext cx="49922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+mn-ea"/>
              </a:rPr>
              <a:t>开闭</a:t>
            </a:r>
            <a:r>
              <a:rPr lang="en-US" altLang="zh-CN" dirty="0" smtClean="0">
                <a:latin typeface="+mn-ea"/>
              </a:rPr>
              <a:t>/</a:t>
            </a:r>
            <a:r>
              <a:rPr lang="zh-CN" altLang="en-US" dirty="0" smtClean="0">
                <a:latin typeface="+mn-ea"/>
              </a:rPr>
              <a:t>依赖倒转</a:t>
            </a:r>
            <a:r>
              <a:rPr lang="en-US" altLang="zh-CN" dirty="0" smtClean="0">
                <a:latin typeface="+mn-ea"/>
              </a:rPr>
              <a:t>/</a:t>
            </a:r>
            <a:r>
              <a:rPr lang="zh-CN" altLang="en-US" dirty="0" smtClean="0">
                <a:latin typeface="+mn-ea"/>
              </a:rPr>
              <a:t>里氏替换</a:t>
            </a:r>
            <a:r>
              <a:rPr lang="en-US" altLang="zh-CN" dirty="0" smtClean="0">
                <a:latin typeface="+mn-ea"/>
              </a:rPr>
              <a:t>/</a:t>
            </a:r>
            <a:r>
              <a:rPr lang="zh-CN" altLang="en-US" dirty="0" smtClean="0">
                <a:latin typeface="+mn-ea"/>
              </a:rPr>
              <a:t>单一职责</a:t>
            </a:r>
            <a:r>
              <a:rPr lang="en-US" altLang="zh-CN" dirty="0" smtClean="0">
                <a:latin typeface="+mn-ea"/>
              </a:rPr>
              <a:t>/</a:t>
            </a:r>
            <a:r>
              <a:rPr lang="zh-CN" altLang="en-US" dirty="0" smtClean="0">
                <a:latin typeface="+mn-ea"/>
              </a:rPr>
              <a:t>接口隔离</a:t>
            </a:r>
            <a:endParaRPr lang="zh-CN" altLang="en-US" dirty="0">
              <a:latin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234091" y="1075264"/>
            <a:ext cx="226378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+mn-ea"/>
              </a:rPr>
              <a:t>设计模式</a:t>
            </a:r>
            <a:r>
              <a:rPr lang="en-US" altLang="zh-CN" dirty="0" smtClean="0">
                <a:latin typeface="+mn-ea"/>
              </a:rPr>
              <a:t>/</a:t>
            </a:r>
            <a:r>
              <a:rPr lang="zh-CN" altLang="en-US" dirty="0" smtClean="0">
                <a:latin typeface="+mn-ea"/>
              </a:rPr>
              <a:t>体系结构</a:t>
            </a:r>
            <a:endParaRPr lang="zh-CN" altLang="en-US" dirty="0">
              <a:latin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735921" y="1067269"/>
            <a:ext cx="144874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+mn-ea"/>
              </a:rPr>
              <a:t>测试方法</a:t>
            </a:r>
            <a:endParaRPr lang="zh-CN" altLang="en-US" dirty="0">
              <a:latin typeface="+mn-ea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3442016" y="3442903"/>
            <a:ext cx="595715" cy="562264"/>
          </a:xfrm>
          <a:prstGeom prst="roundRect">
            <a:avLst/>
          </a:prstGeom>
          <a:noFill/>
          <a:ln w="2857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4448383" y="2916246"/>
            <a:ext cx="1460731" cy="339367"/>
          </a:xfrm>
          <a:prstGeom prst="roundRect">
            <a:avLst/>
          </a:prstGeom>
          <a:noFill/>
          <a:ln w="2857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圆角矩形 61"/>
          <p:cNvSpPr/>
          <p:nvPr/>
        </p:nvSpPr>
        <p:spPr>
          <a:xfrm>
            <a:off x="4234091" y="2475969"/>
            <a:ext cx="1613465" cy="339367"/>
          </a:xfrm>
          <a:prstGeom prst="roundRect">
            <a:avLst/>
          </a:prstGeom>
          <a:noFill/>
          <a:ln w="2857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6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/>
      <p:bldP spid="13" grpId="0"/>
      <p:bldP spid="15" grpId="0" animBg="1"/>
      <p:bldP spid="16" grpId="0" animBg="1"/>
      <p:bldP spid="18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60" grpId="0" animBg="1"/>
      <p:bldP spid="57" grpId="0" animBg="1"/>
      <p:bldP spid="6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138427"/>
              </p:ext>
            </p:extLst>
          </p:nvPr>
        </p:nvGraphicFramePr>
        <p:xfrm>
          <a:off x="2193323" y="144966"/>
          <a:ext cx="9887165" cy="6188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图片" r:id="rId3" imgW="4187952" imgH="2380488" progId="Word.Picture.8">
                  <p:embed/>
                </p:oleObj>
              </mc:Choice>
              <mc:Fallback>
                <p:oleObj name="图片" r:id="rId3" imgW="4187952" imgH="2380488" progId="Word.Picture.8">
                  <p:embed/>
                  <p:pic>
                    <p:nvPicPr>
                      <p:cNvPr id="942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323" y="144966"/>
                        <a:ext cx="9887165" cy="6188927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879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427" y="0"/>
            <a:ext cx="7641446" cy="692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3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734839" y="1967635"/>
            <a:ext cx="10935544" cy="43671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734838" y="1967635"/>
            <a:ext cx="10935545" cy="4367177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1045435" y="732395"/>
            <a:ext cx="4952825" cy="777875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五</a:t>
            </a:r>
            <a:r>
              <a:rPr lang="zh-CN" altLang="en-US" sz="3600" dirty="0" smtClean="0"/>
              <a:t>、  总结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4838" y="2075892"/>
            <a:ext cx="10705265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defTabSz="685800">
              <a:defRPr sz="2800">
                <a:solidFill>
                  <a:schemeClr val="bg1"/>
                </a:solidFill>
                <a:latin typeface="Bodoni MT Condensed" panose="02070606080606020203" pitchFamily="18" charset="0"/>
              </a:defRPr>
            </a:lvl1pPr>
          </a:lstStyle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C000"/>
                </a:solidFill>
                <a:latin typeface="+mn-ea"/>
              </a:rPr>
              <a:t>理解</a:t>
            </a:r>
            <a:r>
              <a:rPr lang="zh-CN" altLang="en-US" sz="2600" dirty="0" smtClean="0">
                <a:latin typeface="+mn-ea"/>
              </a:rPr>
              <a:t>软件工程建模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C000"/>
                </a:solidFill>
                <a:latin typeface="+mn-ea"/>
              </a:rPr>
              <a:t>理解</a:t>
            </a:r>
            <a:r>
              <a:rPr lang="zh-CN" altLang="en-US" sz="2600" dirty="0" smtClean="0">
                <a:latin typeface="+mn-ea"/>
              </a:rPr>
              <a:t>并可以尝试运用两种功能模型建模方法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C000"/>
                </a:solidFill>
                <a:latin typeface="+mn-ea"/>
              </a:rPr>
              <a:t>理解</a:t>
            </a:r>
            <a:r>
              <a:rPr lang="zh-CN" altLang="en-US" sz="2600" dirty="0" smtClean="0">
                <a:latin typeface="+mn-ea"/>
              </a:rPr>
              <a:t>抽象、逐步求精和分层思想</a:t>
            </a:r>
            <a:endParaRPr lang="en-US" altLang="zh-CN" sz="26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C000"/>
                </a:solidFill>
                <a:latin typeface="+mn-ea"/>
              </a:rPr>
              <a:t>学习体会</a:t>
            </a:r>
            <a:r>
              <a:rPr lang="zh-CN" altLang="en-US" sz="2600" dirty="0" smtClean="0">
                <a:latin typeface="+mn-ea"/>
              </a:rPr>
              <a:t>“</a:t>
            </a:r>
            <a:r>
              <a:rPr lang="en-US" altLang="zh-CN" sz="2600" dirty="0" smtClean="0">
                <a:latin typeface="+mn-ea"/>
              </a:rPr>
              <a:t>WHW</a:t>
            </a:r>
            <a:r>
              <a:rPr lang="zh-CN" altLang="en-US" sz="2600" dirty="0" smtClean="0">
                <a:latin typeface="+mn-ea"/>
              </a:rPr>
              <a:t>”</a:t>
            </a:r>
            <a:endParaRPr lang="en-US" altLang="zh-CN" sz="2600" dirty="0" smtClean="0">
              <a:latin typeface="+mn-ea"/>
            </a:endParaRPr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202610" y="2243966"/>
            <a:ext cx="5416868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tx1"/>
                </a:solidFill>
              </a:rPr>
              <a:t>全面</a:t>
            </a:r>
            <a:r>
              <a:rPr lang="zh-CN" altLang="en-US" sz="2200" dirty="0" smtClean="0"/>
              <a:t>认识事物、看待</a:t>
            </a:r>
            <a:r>
              <a:rPr lang="zh-CN" altLang="en-US" sz="2200" dirty="0"/>
              <a:t>社会现象、分析问题</a:t>
            </a:r>
          </a:p>
        </p:txBody>
      </p:sp>
      <p:sp>
        <p:nvSpPr>
          <p:cNvPr id="9" name="矩形 8"/>
          <p:cNvSpPr/>
          <p:nvPr/>
        </p:nvSpPr>
        <p:spPr>
          <a:xfrm>
            <a:off x="7459364" y="3676132"/>
            <a:ext cx="4160113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200" dirty="0"/>
              <a:t>分析解决复杂问题的</a:t>
            </a:r>
            <a:r>
              <a:rPr lang="zh-CN" altLang="en-US" sz="2800" dirty="0" smtClean="0">
                <a:solidFill>
                  <a:schemeClr val="tx1"/>
                </a:solidFill>
              </a:rPr>
              <a:t>有力武器</a:t>
            </a:r>
            <a:endParaRPr lang="zh-CN" altLang="en-US" sz="2200" dirty="0"/>
          </a:p>
        </p:txBody>
      </p:sp>
      <p:sp>
        <p:nvSpPr>
          <p:cNvPr id="10" name="矩形 9"/>
          <p:cNvSpPr/>
          <p:nvPr/>
        </p:nvSpPr>
        <p:spPr>
          <a:xfrm>
            <a:off x="7459364" y="4331525"/>
            <a:ext cx="4160113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chemeClr val="tx1"/>
                </a:solidFill>
              </a:rPr>
              <a:t>知其然且知其所以然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03157" y="2960049"/>
            <a:ext cx="3416320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大道至简、勇于创新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7668366" y="430876"/>
            <a:ext cx="3951111" cy="66604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/>
              <a:t>既专业，又不“专业”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182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776806" y="2005343"/>
            <a:ext cx="10626817" cy="39382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59423" y="1931297"/>
            <a:ext cx="10840915" cy="4126604"/>
          </a:xfrm>
          <a:prstGeom prst="rect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标题 2"/>
          <p:cNvSpPr>
            <a:spLocks noGrp="1"/>
          </p:cNvSpPr>
          <p:nvPr>
            <p:ph type="title"/>
          </p:nvPr>
        </p:nvSpPr>
        <p:spPr>
          <a:xfrm>
            <a:off x="1089396" y="721202"/>
            <a:ext cx="3804150" cy="777875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              课后作业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884743" y="2350783"/>
            <a:ext cx="10410942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smtClean="0">
                <a:solidFill>
                  <a:schemeClr val="bg1"/>
                </a:solidFill>
                <a:latin typeface="+mn-ea"/>
              </a:rPr>
              <a:t>1</a:t>
            </a:r>
            <a:r>
              <a:rPr lang="zh-CN" altLang="en-US" sz="2600" dirty="0">
                <a:solidFill>
                  <a:schemeClr val="bg1"/>
                </a:solidFill>
                <a:latin typeface="+mn-ea"/>
              </a:rPr>
              <a:t>、分组构思</a:t>
            </a:r>
            <a:r>
              <a:rPr lang="zh-CN" altLang="en-US" sz="2600" dirty="0" smtClean="0">
                <a:solidFill>
                  <a:schemeClr val="bg1"/>
                </a:solidFill>
                <a:latin typeface="+mn-ea"/>
              </a:rPr>
              <a:t>需求，并开始建模。</a:t>
            </a:r>
            <a:endParaRPr lang="en-US" altLang="zh-CN" sz="2600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 smtClean="0">
                <a:solidFill>
                  <a:schemeClr val="bg1"/>
                </a:solidFill>
                <a:latin typeface="+mn-ea"/>
              </a:rPr>
              <a:t>       </a:t>
            </a:r>
            <a:r>
              <a:rPr lang="en-US" altLang="zh-CN" sz="24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【</a:t>
            </a:r>
            <a:r>
              <a:rPr lang="zh-CN" altLang="en-US" sz="24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下次实践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课，</a:t>
            </a:r>
            <a:r>
              <a:rPr lang="zh-CN" altLang="en-US" sz="24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用</a:t>
            </a:r>
            <a:r>
              <a:rPr lang="en-US" altLang="zh-CN" sz="24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Microsoft Visio</a:t>
            </a:r>
            <a:r>
              <a:rPr lang="zh-CN" altLang="en-US" sz="24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工具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画</a:t>
            </a:r>
            <a:r>
              <a:rPr lang="en-US" altLang="zh-CN" sz="24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DFD</a:t>
            </a:r>
            <a:r>
              <a:rPr lang="zh-CN" altLang="en-US" sz="24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和用例图，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分组讨论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】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600" dirty="0" smtClean="0">
              <a:solidFill>
                <a:schemeClr val="bg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smtClean="0">
                <a:solidFill>
                  <a:schemeClr val="bg1"/>
                </a:solidFill>
                <a:latin typeface="+mn-ea"/>
              </a:rPr>
              <a:t>2</a:t>
            </a:r>
            <a:r>
              <a:rPr lang="zh-CN" altLang="en-US" sz="2600" dirty="0" smtClean="0">
                <a:solidFill>
                  <a:schemeClr val="bg1"/>
                </a:solidFill>
                <a:latin typeface="+mn-ea"/>
              </a:rPr>
              <a:t>、思考其他建立功能模型的方法。</a:t>
            </a:r>
            <a:endParaRPr lang="en-US" altLang="zh-CN" sz="2600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2600" dirty="0" smtClean="0">
                <a:solidFill>
                  <a:schemeClr val="bg1"/>
                </a:solidFill>
                <a:latin typeface="+mn-ea"/>
              </a:rPr>
              <a:t>      </a:t>
            </a:r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【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下次理论课</a:t>
            </a:r>
            <a:r>
              <a:rPr lang="zh-CN" altLang="en-US" sz="24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，课堂讨论</a:t>
            </a:r>
            <a:r>
              <a:rPr lang="en-US" altLang="zh-CN" sz="2400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】</a:t>
            </a:r>
            <a:endParaRPr lang="en-US" altLang="zh-CN" sz="24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6779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/>
        </p:nvSpPr>
        <p:spPr>
          <a:xfrm>
            <a:off x="4658916" y="1728608"/>
            <a:ext cx="2481943" cy="2139606"/>
          </a:xfrm>
          <a:prstGeom prst="triangle">
            <a:avLst/>
          </a:prstGeom>
          <a:solidFill>
            <a:srgbClr val="D29F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/>
        </p:nvSpPr>
        <p:spPr>
          <a:xfrm rot="10800000">
            <a:off x="4658915" y="2367235"/>
            <a:ext cx="2481943" cy="2139606"/>
          </a:xfrm>
          <a:prstGeom prst="triangle">
            <a:avLst/>
          </a:prstGeom>
          <a:noFill/>
          <a:ln>
            <a:solidFill>
              <a:srgbClr val="D29F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56253" y="3106073"/>
            <a:ext cx="22038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</a:rPr>
              <a:t>  谢 谢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934781" y="4506841"/>
            <a:ext cx="2650670" cy="0"/>
          </a:xfrm>
          <a:prstGeom prst="line">
            <a:avLst/>
          </a:prstGeom>
          <a:ln w="12700">
            <a:solidFill>
              <a:srgbClr val="D29F10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85721D6E-E335-488D-B7B7-CE20DA9A8813}"/>
              </a:ext>
            </a:extLst>
          </p:cNvPr>
          <p:cNvSpPr/>
          <p:nvPr/>
        </p:nvSpPr>
        <p:spPr>
          <a:xfrm>
            <a:off x="7575076" y="4045176"/>
            <a:ext cx="13253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 smtClean="0">
                <a:solidFill>
                  <a:schemeClr val="bg1"/>
                </a:solidFill>
                <a:latin typeface="+mj-ea"/>
                <a:ea typeface="+mj-ea"/>
                <a:cs typeface="Adobe Arabic" panose="02040503050201020203" pitchFamily="18" charset="-78"/>
              </a:rPr>
              <a:t>张弛</a:t>
            </a:r>
            <a:endParaRPr kumimoji="1" lang="zh-CN" altLang="en-US" sz="2400" dirty="0">
              <a:solidFill>
                <a:schemeClr val="bg1"/>
              </a:solidFill>
              <a:latin typeface="+mj-ea"/>
              <a:ea typeface="+mj-ea"/>
              <a:cs typeface="Adobe Arabic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9510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34|1.436|2.701|0.8580003|1.44|1.2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MIXSHAPE" val="AAEAAAD/////AQAAAAAAAAAMAgAAAE9BdXRob3JQUFQsIFZlcnNpb249MC4xLjU1NTguMCwgQ3VsdHVyZT1uZXV0cmFsLCBQdWJsaWNLZXlUb2tlbj0zMWJmMzg1NmFkMzY0ZTM1BQEAAAALSW5rTWF0dGVyVjEEAAAABVNjYWxlDUxpc3RgMStfaXRlbXMMTGlzdGAxK19zaXplD0xpc3RgMStfdmVyc2lvbgAEAAALF1NoYXJlZC5JbmtpbmcuSW5rQXRvbVtdAgAAAAgIAgAAAGwPOT8JAwAAAAEAAAAEAAAABwMAAAAAAQAAAAQAAAAECUlua0F0b21WMQIAAAAJBAAAAA0DBQQAAAALUGVuU3Ryb2tlVjEEAAAACkF0dHJpYnV0ZXMFVHJhY2UJU3RhcnRUaW1lBFR5cGUEBAAED1BlbkF0dHJpYnV0ZXNWMQIAAAAKSW5rVHJhY2VWMQIAAAAQDEFjdGlvblR5cGVWMQIAAAACAAAACQUAAAAJBgAAAJMGAAAAAAAABfn///8MQWN0aW9uVHlwZVYxAQAAAAd2YWx1ZV9fAAgCAAAAAAAAAAUFAAAAD1BlbkF0dHJpYnV0ZXNWMQoAAAAHX2NvbG9yQQdfY29sb3JSB19jb2xvckcHX2NvbG9yQgpGaXRUb0N1cnZlBkhlaWdodA5JZ25vcmVQcmVzc3VyZQ1Jc0hpZ2hsaWdodGVyBVNoYXBlBVdpZHRoAAAAAAAAAAAEAAICAgIBBgEBDEJydXNoU2hhcGVWMQIAAAAGAgAAAP////8AAAAAAAAACEAAAAX4////DEJydXNoU2hhcGVWMQEAAAAHdmFsdWVfXwAIAgAAAAEAAAAAAAAAAAAIQAUGAAAACklua1RyYWNlVjEDAAAADUxpc3RgMStfaXRlbXMMTGlzdGAxK19zaXplD0xpc3RgMStfdmVyc2lvbgQAABhTaGFyZWQuSW5raW5nLklua1BvaW50W10CAAAACAgCAAAACQkAAAABAAAAAQAAAAcJAAAAAAEAAAAEAAAABApJbmtQb2ludFYxAgAAAAkKAAAADQMFCgAAAApJbmtQb2ludFYxBAAAAAFYAVkOUHJlc3N1cmVGYWN0b3IJVGltZVN0YW1wAAAAAAYGCxACAAAAAAAAAAAA4D9AAAAAAADgPwAAAD8AAAAAAAAAAAs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7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73|1.7|1.325|1.72|1.746|2.04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73|0.8110001|0.790999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MIXSHAPE" val="|embedded=true|audioOnly=true|recordStart=0|recordEnd=20891|recordLength=20891|start=0|end=20891|audioFormat={00001610-0000-0010-8000-00AA00389B71}|audioRate=44100|muted=false|volume=0.8|fadeIn=0|fadeOut=0"/>
</p:tagLst>
</file>

<file path=ppt/theme/theme1.xml><?xml version="1.0" encoding="utf-8"?>
<a:theme xmlns:a="http://schemas.openxmlformats.org/drawingml/2006/main" name="Office 主题">
  <a:themeElements>
    <a:clrScheme name="自定义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BA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Bodoni MT Condensed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27088</TotalTime>
  <Words>2356</Words>
  <Application>Microsoft Office PowerPoint</Application>
  <PresentationFormat>宽屏</PresentationFormat>
  <Paragraphs>414</Paragraphs>
  <Slides>24</Slides>
  <Notes>21</Notes>
  <HiddenSlides>0</HiddenSlides>
  <MMClips>1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Adobe Arabic</vt:lpstr>
      <vt:lpstr>等线</vt:lpstr>
      <vt:lpstr>方正舒体</vt:lpstr>
      <vt:lpstr>黑体</vt:lpstr>
      <vt:lpstr>华文行楷</vt:lpstr>
      <vt:lpstr>宋体</vt:lpstr>
      <vt:lpstr>微软雅黑</vt:lpstr>
      <vt:lpstr>Arial</vt:lpstr>
      <vt:lpstr>Arial Rounded MT Bold</vt:lpstr>
      <vt:lpstr>Bodoni MT Condensed</vt:lpstr>
      <vt:lpstr>Calibri</vt:lpstr>
      <vt:lpstr>Wingdings</vt:lpstr>
      <vt:lpstr>Office 主题</vt:lpstr>
      <vt:lpstr>图片</vt:lpstr>
      <vt:lpstr>PowerPoint 演示文稿</vt:lpstr>
      <vt:lpstr>授课目标</vt:lpstr>
      <vt:lpstr>主要内容</vt:lpstr>
      <vt:lpstr>一、      再看需求分析</vt:lpstr>
      <vt:lpstr>一、    再看需求分析</vt:lpstr>
      <vt:lpstr>PowerPoint 演示文稿</vt:lpstr>
      <vt:lpstr>二、  数据流图（Data Flow Diagram） + 数据字典</vt:lpstr>
      <vt:lpstr>二、  数据流图（Data Flow Diagram） + 数据字典</vt:lpstr>
      <vt:lpstr>二、  数据流图（Data Flow Diagram） + 数据字典</vt:lpstr>
      <vt:lpstr>二、  数据流图 + 数据字典（Data Dictionary）</vt:lpstr>
      <vt:lpstr>阶段小结</vt:lpstr>
      <vt:lpstr>三、    用例图 + 用例描述</vt:lpstr>
      <vt:lpstr>PowerPoint 演示文稿</vt:lpstr>
      <vt:lpstr>三、    用例图 + 用例描述</vt:lpstr>
      <vt:lpstr>三、    用例图 + 用例描述</vt:lpstr>
      <vt:lpstr>              阶段小结</vt:lpstr>
      <vt:lpstr>主要内容</vt:lpstr>
      <vt:lpstr>四、      数据流图   VS  用例图</vt:lpstr>
      <vt:lpstr>软件 + 工程</vt:lpstr>
      <vt:lpstr>PowerPoint 演示文稿</vt:lpstr>
      <vt:lpstr>PowerPoint 演示文稿</vt:lpstr>
      <vt:lpstr>五、  总结</vt:lpstr>
      <vt:lpstr>              课后作业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cucfzb2021@outlook.com</cp:lastModifiedBy>
  <cp:revision>917</cp:revision>
  <dcterms:created xsi:type="dcterms:W3CDTF">2015-08-20T02:39:59Z</dcterms:created>
  <dcterms:modified xsi:type="dcterms:W3CDTF">2022-03-09T08:58:53Z</dcterms:modified>
</cp:coreProperties>
</file>
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70"/>
  </p:notesMasterIdLst>
  <p:handoutMasterIdLst>
    <p:handoutMasterId r:id="rId71"/>
  </p:handoutMasterIdLst>
  <p:sldIdLst>
    <p:sldId id="256" r:id="rId2"/>
    <p:sldId id="257"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317" r:id="rId43"/>
    <p:sldId id="319" r:id="rId44"/>
    <p:sldId id="320" r:id="rId45"/>
    <p:sldId id="321" r:id="rId46"/>
    <p:sldId id="322" r:id="rId47"/>
    <p:sldId id="323" r:id="rId48"/>
    <p:sldId id="324" r:id="rId49"/>
    <p:sldId id="325" r:id="rId50"/>
    <p:sldId id="326" r:id="rId51"/>
    <p:sldId id="327" r:id="rId52"/>
    <p:sldId id="328" r:id="rId53"/>
    <p:sldId id="329" r:id="rId54"/>
    <p:sldId id="330" r:id="rId55"/>
    <p:sldId id="331" r:id="rId56"/>
    <p:sldId id="332" r:id="rId57"/>
    <p:sldId id="333" r:id="rId58"/>
    <p:sldId id="334" r:id="rId59"/>
    <p:sldId id="335" r:id="rId60"/>
    <p:sldId id="336" r:id="rId61"/>
    <p:sldId id="337" r:id="rId62"/>
    <p:sldId id="338" r:id="rId63"/>
    <p:sldId id="339" r:id="rId64"/>
    <p:sldId id="340" r:id="rId65"/>
    <p:sldId id="291" r:id="rId66"/>
    <p:sldId id="292" r:id="rId67"/>
    <p:sldId id="293" r:id="rId68"/>
    <p:sldId id="341" r:id="rId6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FF"/>
    <a:srgbClr val="5F5F5F"/>
    <a:srgbClr val="FFFF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0" autoAdjust="0"/>
    <p:restoredTop sz="94700" autoAdjust="0"/>
  </p:normalViewPr>
  <p:slideViewPr>
    <p:cSldViewPr>
      <p:cViewPr varScale="1">
        <p:scale>
          <a:sx n="83" d="100"/>
          <a:sy n="83" d="100"/>
        </p:scale>
        <p:origin x="1450" y="62"/>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cs typeface="Times New Roman" pitchFamily="18" charset="0"/>
              </a:defRPr>
            </a:lvl1pPr>
          </a:lstStyle>
          <a:p>
            <a:pPr>
              <a:defRPr/>
            </a:pPr>
            <a:endParaRPr lang="zh-CN" altLang="en-US"/>
          </a:p>
        </p:txBody>
      </p:sp>
      <p:sp>
        <p:nvSpPr>
          <p:cNvPr id="15363" name="Rectangle 3"/>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cs typeface="Times New Roman" pitchFamily="18" charset="0"/>
              </a:defRPr>
            </a:lvl1pPr>
          </a:lstStyle>
          <a:p>
            <a:pPr>
              <a:defRPr/>
            </a:pPr>
            <a:endParaRPr lang="en-US" altLang="zh-CN"/>
          </a:p>
        </p:txBody>
      </p:sp>
      <p:sp>
        <p:nvSpPr>
          <p:cNvPr id="15364" name="Rectangle 4"/>
          <p:cNvSpPr>
            <a:spLocks noGrp="1" noChangeArrowheads="1"/>
          </p:cNvSpPr>
          <p:nvPr>
            <p:ph type="ftr" sz="quarter" idx="2"/>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cs typeface="Times New Roman" pitchFamily="18" charset="0"/>
              </a:defRPr>
            </a:lvl1pPr>
          </a:lstStyle>
          <a:p>
            <a:pPr>
              <a:defRPr/>
            </a:pPr>
            <a:endParaRPr lang="en-US" altLang="zh-CN"/>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mn-ea"/>
                <a:cs typeface="Times New Roman" pitchFamily="18" charset="0"/>
              </a:defRPr>
            </a:lvl1pPr>
          </a:lstStyle>
          <a:p>
            <a:pPr>
              <a:defRPr/>
            </a:pPr>
            <a:fld id="{5DBF71BA-F9F0-4180-8A27-A8014295261F}" type="slidenum">
              <a:rPr lang="zh-CN" altLang="en-US"/>
              <a:pPr>
                <a:defRPr/>
              </a:pPr>
              <a:t>‹#›</a:t>
            </a:fld>
            <a:endParaRPr lang="en-US" altLang="zh-CN"/>
          </a:p>
        </p:txBody>
      </p:sp>
    </p:spTree>
    <p:extLst>
      <p:ext uri="{BB962C8B-B14F-4D97-AF65-F5344CB8AC3E}">
        <p14:creationId xmlns:p14="http://schemas.microsoft.com/office/powerpoint/2010/main" val="778734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cs typeface="Times New Roman" pitchFamily="18" charset="0"/>
              </a:defRPr>
            </a:lvl1pPr>
          </a:lstStyle>
          <a:p>
            <a:pPr>
              <a:defRPr/>
            </a:pPr>
            <a:endParaRPr lang="zh-CN" altLang="en-US"/>
          </a:p>
        </p:txBody>
      </p:sp>
      <p:sp>
        <p:nvSpPr>
          <p:cNvPr id="17411" name="Rectangle 3"/>
          <p:cNvSpPr>
            <a:spLocks noGrp="1" noChangeArrowheads="1"/>
          </p:cNvSpPr>
          <p:nvPr>
            <p:ph type="dt"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cs typeface="Times New Roman" pitchFamily="18" charset="0"/>
              </a:defRPr>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cs typeface="Times New Roman" pitchFamily="18" charset="0"/>
              </a:defRPr>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mn-ea"/>
                <a:cs typeface="Times New Roman" pitchFamily="18" charset="0"/>
              </a:defRPr>
            </a:lvl1pPr>
          </a:lstStyle>
          <a:p>
            <a:pPr>
              <a:defRPr/>
            </a:pPr>
            <a:fld id="{F67DF6CF-4927-4085-A26C-F69EF9A111AC}" type="slidenum">
              <a:rPr lang="zh-CN" altLang="en-US"/>
              <a:pPr>
                <a:defRPr/>
              </a:pPr>
              <a:t>‹#›</a:t>
            </a:fld>
            <a:endParaRPr lang="en-US" altLang="zh-CN"/>
          </a:p>
        </p:txBody>
      </p:sp>
    </p:spTree>
    <p:extLst>
      <p:ext uri="{BB962C8B-B14F-4D97-AF65-F5344CB8AC3E}">
        <p14:creationId xmlns:p14="http://schemas.microsoft.com/office/powerpoint/2010/main" val="31591117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宋体" charset="-122"/>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宋体" charset="-122"/>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宋体" charset="-122"/>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宋体" charset="-122"/>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宋体" charset="-122"/>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B6E4BD90-F621-4C0C-BA5B-F97781D39E16}" type="slidenum">
              <a:rPr lang="zh-CN" altLang="en-US">
                <a:ea typeface="宋体" charset="-122"/>
              </a:rPr>
              <a:pPr/>
              <a:t>35</a:t>
            </a:fld>
            <a:endParaRPr lang="en-US" altLang="zh-CN">
              <a:ea typeface="宋体" charset="-122"/>
            </a:endParaRPr>
          </a:p>
        </p:txBody>
      </p:sp>
      <p:sp>
        <p:nvSpPr>
          <p:cNvPr id="46083" name="Rectangle 2"/>
          <p:cNvSpPr>
            <a:spLocks noGrp="1" noRot="1" noChangeAspect="1" noChangeArrowheads="1" noTextEdit="1"/>
          </p:cNvSpPr>
          <p:nvPr>
            <p:ph type="sldImg"/>
          </p:nvPr>
        </p:nvSpPr>
        <p:spPr>
          <a:xfrm>
            <a:off x="1152525" y="690563"/>
            <a:ext cx="4557713" cy="3417887"/>
          </a:xfrm>
          <a:ln/>
        </p:spPr>
      </p:sp>
      <p:sp>
        <p:nvSpPr>
          <p:cNvPr id="46084" name="Rectangle 3"/>
          <p:cNvSpPr>
            <a:spLocks noGrp="1" noChangeArrowheads="1"/>
          </p:cNvSpPr>
          <p:nvPr>
            <p:ph type="body" idx="1"/>
          </p:nvPr>
        </p:nvSpPr>
        <p:spPr>
          <a:xfrm>
            <a:off x="915988" y="4343400"/>
            <a:ext cx="5026025" cy="4114800"/>
          </a:xfrm>
          <a:noFill/>
          <a:ln/>
        </p:spPr>
        <p:txBody>
          <a:bodyPr/>
          <a:lstStyle/>
          <a:p>
            <a:pPr eaLnBrk="1" hangingPunct="1"/>
            <a:r>
              <a:rPr lang="en-US" altLang="zh-CN" sz="1600" smtClean="0">
                <a:ea typeface="宋体" charset="-122"/>
              </a:rPr>
              <a:t>The Problem domain is determined by analyzing the overall scope of the problem to be solved and defining the parameters of the problem for which  a software solution is feasible.</a:t>
            </a:r>
          </a:p>
          <a:p>
            <a:pPr eaLnBrk="1" hangingPunct="1"/>
            <a:r>
              <a:rPr lang="en-US" altLang="zh-CN" sz="1600" smtClean="0">
                <a:ea typeface="宋体" charset="-122"/>
              </a:rPr>
              <a:t>The Goal of the software design is to produce a </a:t>
            </a:r>
            <a:r>
              <a:rPr lang="en-US" altLang="zh-CN" sz="1600" smtClean="0">
                <a:latin typeface="Arial" charset="0"/>
                <a:ea typeface="宋体" charset="-122"/>
              </a:rPr>
              <a:t>“</a:t>
            </a:r>
            <a:r>
              <a:rPr lang="en-US" altLang="zh-CN" sz="1600" smtClean="0">
                <a:ea typeface="宋体" charset="-122"/>
              </a:rPr>
              <a:t>general</a:t>
            </a:r>
            <a:r>
              <a:rPr lang="en-US" altLang="zh-CN" sz="1600" smtClean="0">
                <a:latin typeface="Arial" charset="0"/>
                <a:ea typeface="宋体" charset="-122"/>
              </a:rPr>
              <a:t>”</a:t>
            </a:r>
            <a:r>
              <a:rPr lang="en-US" altLang="zh-CN" sz="1600" smtClean="0">
                <a:ea typeface="宋体" charset="-122"/>
              </a:rPr>
              <a:t> software specification from the problem domain. The software design model specifies the characteristics and kinds of data associated with problem domain entities, the characteristics of the interfaces between </a:t>
            </a:r>
            <a:r>
              <a:rPr lang="en-US" altLang="zh-CN" sz="1600" smtClean="0">
                <a:latin typeface="Arial" charset="0"/>
                <a:ea typeface="宋体" charset="-122"/>
              </a:rPr>
              <a:t>“</a:t>
            </a:r>
            <a:r>
              <a:rPr lang="en-US" altLang="zh-CN" sz="1600" smtClean="0">
                <a:ea typeface="宋体" charset="-122"/>
              </a:rPr>
              <a:t>objects</a:t>
            </a:r>
            <a:r>
              <a:rPr lang="en-US" altLang="zh-CN" sz="1600" smtClean="0">
                <a:latin typeface="Arial" charset="0"/>
                <a:ea typeface="宋体" charset="-122"/>
              </a:rPr>
              <a:t>”</a:t>
            </a:r>
            <a:r>
              <a:rPr lang="en-US" altLang="zh-CN" sz="1600" smtClean="0">
                <a:ea typeface="宋体" charset="-122"/>
              </a:rPr>
              <a:t> corresponding to the relationships between entities in the problem domain and the characteristics of the processes which describe the sequence of events in the problem domain</a:t>
            </a:r>
          </a:p>
          <a:p>
            <a:pPr eaLnBrk="1" hangingPunct="1"/>
            <a:r>
              <a:rPr lang="en-US" altLang="zh-CN" sz="1600" smtClean="0">
                <a:ea typeface="宋体" charset="-122"/>
              </a:rPr>
              <a:t>the software program assigns specific data types to </a:t>
            </a:r>
            <a:r>
              <a:rPr lang="en-US" altLang="zh-CN" sz="1600" smtClean="0">
                <a:latin typeface="Arial" charset="0"/>
                <a:ea typeface="宋体" charset="-122"/>
              </a:rPr>
              <a:t>“</a:t>
            </a:r>
            <a:r>
              <a:rPr lang="en-US" altLang="zh-CN" sz="1600" smtClean="0">
                <a:ea typeface="宋体" charset="-122"/>
              </a:rPr>
              <a:t>objects</a:t>
            </a:r>
            <a:r>
              <a:rPr lang="en-US" altLang="zh-CN" sz="1600" smtClean="0">
                <a:latin typeface="Arial" charset="0"/>
                <a:ea typeface="宋体" charset="-122"/>
              </a:rPr>
              <a:t>”</a:t>
            </a:r>
            <a:r>
              <a:rPr lang="en-US" altLang="zh-CN" sz="1600" smtClean="0">
                <a:ea typeface="宋体" charset="-122"/>
              </a:rPr>
              <a:t> and describes the algorithms, procedures and control structures</a:t>
            </a:r>
            <a:endParaRPr lang="en-US" altLang="zh-CN" smtClean="0">
              <a:ea typeface="宋体" charset="-122"/>
            </a:endParaRPr>
          </a:p>
        </p:txBody>
      </p:sp>
    </p:spTree>
    <p:extLst>
      <p:ext uri="{BB962C8B-B14F-4D97-AF65-F5344CB8AC3E}">
        <p14:creationId xmlns:p14="http://schemas.microsoft.com/office/powerpoint/2010/main" val="18811980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1" descr="scifair_front"/>
          <p:cNvPicPr>
            <a:picLocks noChangeAspect="1" noChangeArrowheads="1"/>
          </p:cNvPicPr>
          <p:nvPr/>
        </p:nvPicPr>
        <p:blipFill>
          <a:blip r:embed="rId2"/>
          <a:srcRect/>
          <a:stretch>
            <a:fillRect/>
          </a:stretch>
        </p:blipFill>
        <p:spPr bwMode="auto">
          <a:xfrm>
            <a:off x="-9525" y="-4763"/>
            <a:ext cx="9163050" cy="6867526"/>
          </a:xfrm>
          <a:prstGeom prst="rect">
            <a:avLst/>
          </a:prstGeom>
          <a:noFill/>
          <a:ln w="9525">
            <a:noFill/>
            <a:miter lim="800000"/>
            <a:headEnd/>
            <a:tailEnd/>
          </a:ln>
        </p:spPr>
      </p:pic>
      <p:sp>
        <p:nvSpPr>
          <p:cNvPr id="26626" name="Rectangle 2"/>
          <p:cNvSpPr>
            <a:spLocks noGrp="1" noChangeArrowheads="1"/>
          </p:cNvSpPr>
          <p:nvPr>
            <p:ph type="ctrTitle"/>
          </p:nvPr>
        </p:nvSpPr>
        <p:spPr>
          <a:xfrm>
            <a:off x="1905000" y="685800"/>
            <a:ext cx="6477000" cy="1752600"/>
          </a:xfrm>
        </p:spPr>
        <p:txBody>
          <a:bodyPr/>
          <a:lstStyle>
            <a:lvl1pPr algn="r">
              <a:defRPr sz="4400"/>
            </a:lvl1pPr>
          </a:lstStyle>
          <a:p>
            <a:r>
              <a:rPr lang="zh-CN" altLang="en-US" smtClean="0"/>
              <a:t>单击此处编辑母版标题样式</a:t>
            </a:r>
            <a:endParaRPr lang="zh-CN" altLang="en-US"/>
          </a:p>
        </p:txBody>
      </p:sp>
      <p:sp>
        <p:nvSpPr>
          <p:cNvPr id="26627" name="Rectangle 3"/>
          <p:cNvSpPr>
            <a:spLocks noGrp="1" noChangeArrowheads="1"/>
          </p:cNvSpPr>
          <p:nvPr>
            <p:ph type="subTitle" idx="1"/>
          </p:nvPr>
        </p:nvSpPr>
        <p:spPr>
          <a:xfrm>
            <a:off x="1676400" y="2133600"/>
            <a:ext cx="6477000" cy="1981200"/>
          </a:xfrm>
        </p:spPr>
        <p:txBody>
          <a:bodyPr/>
          <a:lstStyle>
            <a:lvl1pPr marL="0" indent="0" algn="r">
              <a:buFont typeface="Wingdings" pitchFamily="2" charset="2"/>
              <a:buNone/>
              <a:defRPr sz="1400" i="1"/>
            </a:lvl1pPr>
          </a:lstStyle>
          <a:p>
            <a:r>
              <a:rPr lang="zh-CN" altLang="en-US" smtClean="0"/>
              <a:t>单击此处编辑母版副标题样式</a:t>
            </a:r>
            <a:endParaRPr lang="zh-CN" altLang="en-US"/>
          </a:p>
        </p:txBody>
      </p:sp>
      <p:sp>
        <p:nvSpPr>
          <p:cNvPr id="5" name="Rectangle 4"/>
          <p:cNvSpPr>
            <a:spLocks noGrp="1" noChangeArrowheads="1"/>
          </p:cNvSpPr>
          <p:nvPr>
            <p:ph type="dt" sz="half" idx="10"/>
          </p:nvPr>
        </p:nvSpPr>
        <p:spPr>
          <a:xfrm>
            <a:off x="7086600" y="6248400"/>
            <a:ext cx="1524000" cy="457200"/>
          </a:xfr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3810000" y="6248400"/>
            <a:ext cx="2895600" cy="457200"/>
          </a:xfr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2209800" y="6248400"/>
            <a:ext cx="1219200" cy="457200"/>
          </a:xfrm>
        </p:spPr>
        <p:txBody>
          <a:bodyPr/>
          <a:lstStyle>
            <a:lvl1pPr>
              <a:defRPr/>
            </a:lvl1pPr>
          </a:lstStyle>
          <a:p>
            <a:pPr>
              <a:defRPr/>
            </a:pPr>
            <a:fld id="{4C7614FC-EA57-4866-9C0C-64305E56FCBD}" type="slidenum">
              <a:rPr lang="zh-CN" altLang="en-US"/>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928662" y="1357298"/>
            <a:ext cx="7215238" cy="3352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9032E66-95B1-4F91-A220-FEFB0075B15A}" type="slidenum">
              <a:rPr lang="zh-CN" altLang="en-US"/>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5EFA540-9B0D-4CCA-8F01-B7F7D440569A}" type="slidenum">
              <a:rPr lang="zh-CN" altLang="en-US"/>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2667000"/>
            <a:ext cx="44196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572000" y="2667000"/>
            <a:ext cx="44196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2491D71-22F2-4209-B570-8D1791B6674D}"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BEBD848-6FD5-4F13-AFF3-AF9D2DB739E1}"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29BF156-20BC-44C0-92B0-460627C75787}"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7A72C860-321E-485B-85F8-B4FFF272614D}"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45D2226-FAB6-4032-AB52-9E71C863D162}"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F533D7A-517E-437E-936C-DD392524CFD1}"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B41CE72-9B76-42B2-9D45-B288C43CE497}"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838200"/>
            <a:ext cx="2286000" cy="5181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838200"/>
            <a:ext cx="6705600" cy="51816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F5AD2D1-58B1-4FC9-8CD4-9D616A0A0696}"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3" descr="scifair_INSIDE"/>
          <p:cNvPicPr>
            <a:picLocks noChangeAspect="1" noChangeArrowheads="1"/>
          </p:cNvPicPr>
          <p:nvPr/>
        </p:nvPicPr>
        <p:blipFill>
          <a:blip r:embed="rId13"/>
          <a:srcRect/>
          <a:stretch>
            <a:fillRect/>
          </a:stretch>
        </p:blipFill>
        <p:spPr bwMode="auto">
          <a:xfrm>
            <a:off x="-9525" y="-4763"/>
            <a:ext cx="9163050" cy="6867526"/>
          </a:xfrm>
          <a:prstGeom prst="rect">
            <a:avLst/>
          </a:prstGeom>
          <a:noFill/>
          <a:ln w="9525">
            <a:noFill/>
            <a:miter lim="800000"/>
            <a:headEnd/>
            <a:tailEnd/>
          </a:ln>
        </p:spPr>
      </p:pic>
      <p:sp>
        <p:nvSpPr>
          <p:cNvPr id="1027" name="Rectangle 2"/>
          <p:cNvSpPr>
            <a:spLocks noGrp="1" noChangeArrowheads="1"/>
          </p:cNvSpPr>
          <p:nvPr>
            <p:ph type="title"/>
          </p:nvPr>
        </p:nvSpPr>
        <p:spPr bwMode="auto">
          <a:xfrm>
            <a:off x="0" y="285750"/>
            <a:ext cx="91440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8" name="Rectangle 3"/>
          <p:cNvSpPr>
            <a:spLocks noGrp="1" noChangeArrowheads="1"/>
          </p:cNvSpPr>
          <p:nvPr>
            <p:ph type="body" idx="1"/>
          </p:nvPr>
        </p:nvSpPr>
        <p:spPr bwMode="auto">
          <a:xfrm>
            <a:off x="928688" y="1428750"/>
            <a:ext cx="7215187" cy="4429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5604" name="Rectangle 4"/>
          <p:cNvSpPr>
            <a:spLocks noGrp="1" noChangeArrowheads="1"/>
          </p:cNvSpPr>
          <p:nvPr>
            <p:ph type="dt" sz="half" idx="2"/>
          </p:nvPr>
        </p:nvSpPr>
        <p:spPr bwMode="auto">
          <a:xfrm>
            <a:off x="66294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a typeface="+mn-ea"/>
                <a:cs typeface="Times New Roman" pitchFamily="18" charset="0"/>
              </a:defRPr>
            </a:lvl1pPr>
          </a:lstStyle>
          <a:p>
            <a:pPr>
              <a:defRPr/>
            </a:pPr>
            <a:endParaRPr lang="en-US" altLang="zh-CN"/>
          </a:p>
        </p:txBody>
      </p:sp>
      <p:sp>
        <p:nvSpPr>
          <p:cNvPr id="25605" name="Rectangle 5"/>
          <p:cNvSpPr>
            <a:spLocks noGrp="1" noChangeArrowheads="1"/>
          </p:cNvSpPr>
          <p:nvPr>
            <p:ph type="ftr" sz="quarter" idx="3"/>
          </p:nvPr>
        </p:nvSpPr>
        <p:spPr bwMode="auto">
          <a:xfrm>
            <a:off x="32766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a typeface="+mn-ea"/>
                <a:cs typeface="Times New Roman" pitchFamily="18" charset="0"/>
              </a:defRPr>
            </a:lvl1pPr>
          </a:lstStyle>
          <a:p>
            <a:pPr>
              <a:defRPr/>
            </a:pPr>
            <a:endParaRPr lang="en-US" altLang="zh-CN"/>
          </a:p>
        </p:txBody>
      </p:sp>
      <p:sp>
        <p:nvSpPr>
          <p:cNvPr id="25606" name="Rectangle 6"/>
          <p:cNvSpPr>
            <a:spLocks noGrp="1" noChangeArrowheads="1"/>
          </p:cNvSpPr>
          <p:nvPr>
            <p:ph type="sldNum" sz="quarter" idx="4"/>
          </p:nvPr>
        </p:nvSpPr>
        <p:spPr bwMode="auto">
          <a:xfrm>
            <a:off x="1524000" y="6248400"/>
            <a:ext cx="1295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ea typeface="+mn-ea"/>
                <a:cs typeface="Times New Roman" pitchFamily="18" charset="0"/>
              </a:defRPr>
            </a:lvl1pPr>
          </a:lstStyle>
          <a:p>
            <a:pPr>
              <a:defRPr/>
            </a:pPr>
            <a:fld id="{A20A393D-D00C-4A9B-BC7A-F0ADCD0E5A2F}" type="slidenum">
              <a:rPr lang="zh-CN" altLang="en-US"/>
              <a:pPr>
                <a:defRPr/>
              </a:pPr>
              <a:t>‹#›</a:t>
            </a:fld>
            <a:endParaRPr lang="en-US" altLang="zh-CN"/>
          </a:p>
        </p:txBody>
      </p:sp>
      <p:sp>
        <p:nvSpPr>
          <p:cNvPr id="25615" name="Rectangle 15"/>
          <p:cNvSpPr>
            <a:spLocks noChangeArrowheads="1"/>
          </p:cNvSpPr>
          <p:nvPr/>
        </p:nvSpPr>
        <p:spPr bwMode="auto">
          <a:xfrm>
            <a:off x="1071563" y="1143000"/>
            <a:ext cx="6934200" cy="19050"/>
          </a:xfrm>
          <a:prstGeom prst="rect">
            <a:avLst/>
          </a:prstGeom>
          <a:solidFill>
            <a:srgbClr val="808080"/>
          </a:solidFill>
          <a:ln w="12700">
            <a:noFill/>
            <a:miter lim="800000"/>
            <a:headEnd type="none" w="sm" len="sm"/>
            <a:tailEnd type="none" w="sm" len="sm"/>
          </a:ln>
          <a:effectLst/>
        </p:spPr>
        <p:txBody>
          <a:bodyPr wrap="none" anchor="ctr"/>
          <a:lstStyle/>
          <a:p>
            <a:pPr>
              <a:defRPr/>
            </a:pPr>
            <a:endParaRPr lang="zh-CN" altLang="en-US">
              <a:ea typeface="+mn-ea"/>
              <a:cs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729"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宋体" charset="-122"/>
          <a:ea typeface="宋体" charset="-122"/>
        </a:defRPr>
      </a:lvl2pPr>
      <a:lvl3pPr algn="ctr" rtl="0" eaLnBrk="0" fontAlgn="base" hangingPunct="0">
        <a:spcBef>
          <a:spcPct val="0"/>
        </a:spcBef>
        <a:spcAft>
          <a:spcPct val="0"/>
        </a:spcAft>
        <a:defRPr sz="3600">
          <a:solidFill>
            <a:schemeClr val="tx2"/>
          </a:solidFill>
          <a:latin typeface="宋体" charset="-122"/>
          <a:ea typeface="宋体" charset="-122"/>
        </a:defRPr>
      </a:lvl3pPr>
      <a:lvl4pPr algn="ctr" rtl="0" eaLnBrk="0" fontAlgn="base" hangingPunct="0">
        <a:spcBef>
          <a:spcPct val="0"/>
        </a:spcBef>
        <a:spcAft>
          <a:spcPct val="0"/>
        </a:spcAft>
        <a:defRPr sz="3600">
          <a:solidFill>
            <a:schemeClr val="tx2"/>
          </a:solidFill>
          <a:latin typeface="宋体" charset="-122"/>
          <a:ea typeface="宋体" charset="-122"/>
        </a:defRPr>
      </a:lvl4pPr>
      <a:lvl5pPr algn="ctr" rtl="0" eaLnBrk="0" fontAlgn="base" hangingPunct="0">
        <a:spcBef>
          <a:spcPct val="0"/>
        </a:spcBef>
        <a:spcAft>
          <a:spcPct val="0"/>
        </a:spcAft>
        <a:defRPr sz="3600">
          <a:solidFill>
            <a:schemeClr val="tx2"/>
          </a:solidFill>
          <a:latin typeface="宋体" charset="-122"/>
          <a:ea typeface="宋体" charset="-122"/>
        </a:defRPr>
      </a:lvl5pPr>
      <a:lvl6pPr marL="457200" algn="ctr" rtl="0" eaLnBrk="1" fontAlgn="base" hangingPunct="1">
        <a:spcBef>
          <a:spcPct val="0"/>
        </a:spcBef>
        <a:spcAft>
          <a:spcPct val="0"/>
        </a:spcAft>
        <a:defRPr sz="3600">
          <a:solidFill>
            <a:schemeClr val="tx2"/>
          </a:solidFill>
          <a:latin typeface="宋体" charset="-122"/>
          <a:ea typeface="宋体" charset="-122"/>
        </a:defRPr>
      </a:lvl6pPr>
      <a:lvl7pPr marL="914400" algn="ctr" rtl="0" eaLnBrk="1" fontAlgn="base" hangingPunct="1">
        <a:spcBef>
          <a:spcPct val="0"/>
        </a:spcBef>
        <a:spcAft>
          <a:spcPct val="0"/>
        </a:spcAft>
        <a:defRPr sz="3600">
          <a:solidFill>
            <a:schemeClr val="tx2"/>
          </a:solidFill>
          <a:latin typeface="宋体" charset="-122"/>
          <a:ea typeface="宋体" charset="-122"/>
        </a:defRPr>
      </a:lvl7pPr>
      <a:lvl8pPr marL="1371600" algn="ctr" rtl="0" eaLnBrk="1" fontAlgn="base" hangingPunct="1">
        <a:spcBef>
          <a:spcPct val="0"/>
        </a:spcBef>
        <a:spcAft>
          <a:spcPct val="0"/>
        </a:spcAft>
        <a:defRPr sz="3600">
          <a:solidFill>
            <a:schemeClr val="tx2"/>
          </a:solidFill>
          <a:latin typeface="宋体" charset="-122"/>
          <a:ea typeface="宋体" charset="-122"/>
        </a:defRPr>
      </a:lvl8pPr>
      <a:lvl9pPr marL="1828800" algn="ctr" rtl="0" eaLnBrk="1" fontAlgn="base" hangingPunct="1">
        <a:spcBef>
          <a:spcPct val="0"/>
        </a:spcBef>
        <a:spcAft>
          <a:spcPct val="0"/>
        </a:spcAft>
        <a:defRPr sz="3600">
          <a:solidFill>
            <a:schemeClr val="tx2"/>
          </a:solidFill>
          <a:latin typeface="宋体" charset="-122"/>
          <a:ea typeface="宋体" charset="-122"/>
        </a:defRPr>
      </a:lvl9pPr>
    </p:titleStyle>
    <p:bodyStyle>
      <a:lvl1pPr marL="342900" indent="-342900" algn="l" rtl="0" eaLnBrk="0" fontAlgn="base" hangingPunct="0">
        <a:spcBef>
          <a:spcPct val="20000"/>
        </a:spcBef>
        <a:spcAft>
          <a:spcPct val="0"/>
        </a:spcAft>
        <a:buClr>
          <a:srgbClr val="5F5F5F"/>
        </a:buClr>
        <a:buFont typeface="Wingdings" pitchFamily="2" charset="2"/>
        <a:buChar char="§"/>
        <a:defRPr sz="2200">
          <a:solidFill>
            <a:schemeClr val="tx2"/>
          </a:solidFill>
          <a:latin typeface="+mn-lt"/>
          <a:ea typeface="+mn-ea"/>
          <a:cs typeface="+mn-cs"/>
        </a:defRPr>
      </a:lvl1pPr>
      <a:lvl2pPr marL="742950" indent="-285750" algn="l" rtl="0" eaLnBrk="0" fontAlgn="base" hangingPunct="0">
        <a:spcBef>
          <a:spcPct val="20000"/>
        </a:spcBef>
        <a:spcAft>
          <a:spcPct val="0"/>
        </a:spcAft>
        <a:buClr>
          <a:srgbClr val="5F5F5F"/>
        </a:buClr>
        <a:buFont typeface="Wingdings" pitchFamily="2" charset="2"/>
        <a:buChar char="§"/>
        <a:defRPr sz="2100">
          <a:solidFill>
            <a:schemeClr val="tx2"/>
          </a:solidFill>
          <a:latin typeface="+mn-lt"/>
          <a:ea typeface="+mn-ea"/>
        </a:defRPr>
      </a:lvl2pPr>
      <a:lvl3pPr marL="1143000" indent="-228600" algn="l" rtl="0" eaLnBrk="0" fontAlgn="base" hangingPunct="0">
        <a:spcBef>
          <a:spcPct val="20000"/>
        </a:spcBef>
        <a:spcAft>
          <a:spcPct val="0"/>
        </a:spcAft>
        <a:buClr>
          <a:srgbClr val="5F5F5F"/>
        </a:buClr>
        <a:buFont typeface="Wingdings" pitchFamily="2" charset="2"/>
        <a:buChar char="§"/>
        <a:defRPr sz="2000">
          <a:solidFill>
            <a:schemeClr val="tx2"/>
          </a:solidFill>
          <a:latin typeface="+mn-lt"/>
          <a:ea typeface="+mn-ea"/>
        </a:defRPr>
      </a:lvl3pPr>
      <a:lvl4pPr marL="1600200" indent="-228600" algn="l" rtl="0" eaLnBrk="0" fontAlgn="base" hangingPunct="0">
        <a:spcBef>
          <a:spcPct val="20000"/>
        </a:spcBef>
        <a:spcAft>
          <a:spcPct val="0"/>
        </a:spcAft>
        <a:buClr>
          <a:srgbClr val="5F5F5F"/>
        </a:buClr>
        <a:buFont typeface="Wingdings" pitchFamily="2" charset="2"/>
        <a:buChar char="§"/>
        <a:defRPr sz="2000">
          <a:solidFill>
            <a:schemeClr val="tx2"/>
          </a:solidFill>
          <a:latin typeface="+mn-lt"/>
          <a:ea typeface="+mn-ea"/>
        </a:defRPr>
      </a:lvl4pPr>
      <a:lvl5pPr marL="2057400" indent="-228600" algn="l" rtl="0" eaLnBrk="0" fontAlgn="base" hangingPunct="0">
        <a:spcBef>
          <a:spcPct val="20000"/>
        </a:spcBef>
        <a:spcAft>
          <a:spcPct val="0"/>
        </a:spcAft>
        <a:buClr>
          <a:srgbClr val="5F5F5F"/>
        </a:buClr>
        <a:buFont typeface="Wingdings" pitchFamily="2" charset="2"/>
        <a:buChar char="§"/>
        <a:defRPr sz="1500">
          <a:solidFill>
            <a:schemeClr val="tx2"/>
          </a:solidFill>
          <a:latin typeface="+mn-lt"/>
          <a:ea typeface="+mn-ea"/>
        </a:defRPr>
      </a:lvl5pPr>
      <a:lvl6pPr marL="2514600" indent="-228600" algn="ctr" rtl="0" eaLnBrk="1" fontAlgn="base" hangingPunct="1">
        <a:spcBef>
          <a:spcPct val="20000"/>
        </a:spcBef>
        <a:spcAft>
          <a:spcPct val="0"/>
        </a:spcAft>
        <a:buClr>
          <a:srgbClr val="5F5F5F"/>
        </a:buClr>
        <a:buFont typeface="Wingdings" pitchFamily="2" charset="2"/>
        <a:buChar char="§"/>
        <a:defRPr sz="1400">
          <a:solidFill>
            <a:schemeClr val="tx2"/>
          </a:solidFill>
          <a:latin typeface="+mn-lt"/>
          <a:ea typeface="+mn-ea"/>
        </a:defRPr>
      </a:lvl6pPr>
      <a:lvl7pPr marL="2971800" indent="-228600" algn="ctr" rtl="0" eaLnBrk="1" fontAlgn="base" hangingPunct="1">
        <a:spcBef>
          <a:spcPct val="20000"/>
        </a:spcBef>
        <a:spcAft>
          <a:spcPct val="0"/>
        </a:spcAft>
        <a:buClr>
          <a:srgbClr val="5F5F5F"/>
        </a:buClr>
        <a:buFont typeface="Wingdings" pitchFamily="2" charset="2"/>
        <a:buChar char="§"/>
        <a:defRPr sz="1400">
          <a:solidFill>
            <a:schemeClr val="tx2"/>
          </a:solidFill>
          <a:latin typeface="+mn-lt"/>
          <a:ea typeface="+mn-ea"/>
        </a:defRPr>
      </a:lvl7pPr>
      <a:lvl8pPr marL="3429000" indent="-228600" algn="ctr" rtl="0" eaLnBrk="1" fontAlgn="base" hangingPunct="1">
        <a:spcBef>
          <a:spcPct val="20000"/>
        </a:spcBef>
        <a:spcAft>
          <a:spcPct val="0"/>
        </a:spcAft>
        <a:buClr>
          <a:srgbClr val="5F5F5F"/>
        </a:buClr>
        <a:buFont typeface="Wingdings" pitchFamily="2" charset="2"/>
        <a:buChar char="§"/>
        <a:defRPr sz="1400">
          <a:solidFill>
            <a:schemeClr val="tx2"/>
          </a:solidFill>
          <a:latin typeface="+mn-lt"/>
          <a:ea typeface="+mn-ea"/>
        </a:defRPr>
      </a:lvl8pPr>
      <a:lvl9pPr marL="3886200" indent="-228600" algn="ctr" rtl="0" eaLnBrk="1" fontAlgn="base" hangingPunct="1">
        <a:spcBef>
          <a:spcPct val="20000"/>
        </a:spcBef>
        <a:spcAft>
          <a:spcPct val="0"/>
        </a:spcAft>
        <a:buClr>
          <a:srgbClr val="5F5F5F"/>
        </a:buClr>
        <a:buFont typeface="Wingdings" pitchFamily="2" charset="2"/>
        <a:buChar char="§"/>
        <a:defRPr sz="1400">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785786" y="357166"/>
            <a:ext cx="7924800" cy="1752600"/>
          </a:xfrm>
        </p:spPr>
        <p:txBody>
          <a:bodyPr/>
          <a:lstStyle/>
          <a:p>
            <a:pPr algn="ctr" eaLnBrk="1" hangingPunct="1"/>
            <a:r>
              <a:rPr lang="en-US" altLang="zh-CN" sz="5400" b="1" dirty="0" smtClean="0"/>
              <a:t/>
            </a:r>
            <a:br>
              <a:rPr lang="en-US" altLang="zh-CN" sz="5400" b="1" dirty="0" smtClean="0"/>
            </a:br>
            <a:r>
              <a:rPr lang="zh-CN" altLang="en-US" sz="5400" b="1" dirty="0" smtClean="0">
                <a:latin typeface="华文新魏" pitchFamily="2" charset="-122"/>
                <a:ea typeface="华文新魏" pitchFamily="2" charset="-122"/>
              </a:rPr>
              <a:t>面向对象方法学导论</a:t>
            </a:r>
          </a:p>
        </p:txBody>
      </p:sp>
      <p:sp>
        <p:nvSpPr>
          <p:cNvPr id="4" name="灯片编号占位符 3"/>
          <p:cNvSpPr>
            <a:spLocks noGrp="1"/>
          </p:cNvSpPr>
          <p:nvPr>
            <p:ph type="sldNum" sz="quarter" idx="12"/>
          </p:nvPr>
        </p:nvSpPr>
        <p:spPr/>
        <p:txBody>
          <a:bodyPr/>
          <a:lstStyle/>
          <a:p>
            <a:pPr>
              <a:defRPr/>
            </a:pPr>
            <a:fld id="{871FE666-BCE5-4657-98E3-F2E4CD740452}" type="slidenum">
              <a:rPr lang="zh-CN" altLang="en-US" smtClean="0"/>
              <a:pPr>
                <a:defRPr/>
              </a:pPr>
              <a:t>1</a:t>
            </a:fld>
            <a:endParaRPr lang="en-US" altLang="zh-CN"/>
          </a:p>
        </p:txBody>
      </p:sp>
      <p:sp>
        <p:nvSpPr>
          <p:cNvPr id="2" name="副标题 1"/>
          <p:cNvSpPr>
            <a:spLocks noGrp="1"/>
          </p:cNvSpPr>
          <p:nvPr>
            <p:ph type="subTitle" idx="1"/>
          </p:nvPr>
        </p:nvSpPr>
        <p:spPr/>
        <p:txBody>
          <a:bodyPr/>
          <a:lstStyle/>
          <a:p>
            <a:endParaRPr lang="zh-CN" altLang="en-US"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100"/>
                                        </p:tgtEl>
                                        <p:attrNameLst>
                                          <p:attrName>style.visibility</p:attrName>
                                        </p:attrNameLst>
                                      </p:cBhvr>
                                      <p:to>
                                        <p:strVal val="visible"/>
                                      </p:to>
                                    </p:set>
                                    <p:anim calcmode="lin" valueType="num">
                                      <p:cBhvr additive="base">
                                        <p:cTn id="7" dur="500" fill="hold"/>
                                        <p:tgtEl>
                                          <p:spTgt spid="4100"/>
                                        </p:tgtEl>
                                        <p:attrNameLst>
                                          <p:attrName>ppt_x</p:attrName>
                                        </p:attrNameLst>
                                      </p:cBhvr>
                                      <p:tavLst>
                                        <p:tav tm="0">
                                          <p:val>
                                            <p:strVal val="#ppt_x"/>
                                          </p:val>
                                        </p:tav>
                                        <p:tav tm="100000">
                                          <p:val>
                                            <p:strVal val="#ppt_x"/>
                                          </p:val>
                                        </p:tav>
                                      </p:tavLst>
                                    </p:anim>
                                    <p:anim calcmode="lin" valueType="num">
                                      <p:cBhvr additive="base">
                                        <p:cTn id="8" dur="500" fill="hold"/>
                                        <p:tgtEl>
                                          <p:spTgt spid="410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i="1" smtClean="0"/>
              <a:t>面向对象</a:t>
            </a:r>
            <a:r>
              <a:rPr lang="zh-CN" altLang="en-US" i="1" dirty="0" smtClean="0"/>
              <a:t>方法学导论</a:t>
            </a:r>
          </a:p>
        </p:txBody>
      </p:sp>
      <p:sp>
        <p:nvSpPr>
          <p:cNvPr id="4" name="灯片编号占位符 5"/>
          <p:cNvSpPr>
            <a:spLocks noGrp="1"/>
          </p:cNvSpPr>
          <p:nvPr>
            <p:ph type="sldNum" sz="quarter" idx="12"/>
          </p:nvPr>
        </p:nvSpPr>
        <p:spPr/>
        <p:txBody>
          <a:bodyPr/>
          <a:lstStyle/>
          <a:p>
            <a:pPr>
              <a:defRPr/>
            </a:pPr>
            <a:fld id="{3E3E7053-59E8-4868-BA5A-33F0901E3AEA}" type="slidenum">
              <a:rPr lang="en-US" altLang="zh-CN"/>
              <a:pPr>
                <a:defRPr/>
              </a:pPr>
              <a:t>2</a:t>
            </a:fld>
            <a:endParaRPr lang="en-US" altLang="zh-CN"/>
          </a:p>
        </p:txBody>
      </p:sp>
      <p:sp>
        <p:nvSpPr>
          <p:cNvPr id="8196" name="Rectangle 3"/>
          <p:cNvSpPr>
            <a:spLocks noGrp="1" noChangeArrowheads="1"/>
          </p:cNvSpPr>
          <p:nvPr>
            <p:ph sz="quarter" idx="1"/>
          </p:nvPr>
        </p:nvSpPr>
        <p:spPr>
          <a:xfrm>
            <a:off x="928662" y="1357298"/>
            <a:ext cx="7215238" cy="4714908"/>
          </a:xfrm>
        </p:spPr>
        <p:txBody>
          <a:bodyPr/>
          <a:lstStyle/>
          <a:p>
            <a:pPr algn="just">
              <a:spcAft>
                <a:spcPct val="40000"/>
              </a:spcAft>
            </a:pPr>
            <a:r>
              <a:rPr lang="zh-CN" altLang="en-US" sz="2800" b="1" dirty="0" smtClean="0">
                <a:latin typeface="黑体" pitchFamily="2" charset="-122"/>
                <a:cs typeface="Times New Roman" pitchFamily="18" charset="0"/>
              </a:rPr>
              <a:t>主要内容</a:t>
            </a:r>
            <a:endParaRPr lang="en-US" altLang="zh-CN" sz="2800" b="1" dirty="0" smtClean="0">
              <a:latin typeface="黑体" pitchFamily="2" charset="-122"/>
              <a:cs typeface="Times New Roman" pitchFamily="18" charset="0"/>
            </a:endParaRPr>
          </a:p>
          <a:p>
            <a:pPr lvl="1" algn="just">
              <a:spcAft>
                <a:spcPct val="40000"/>
              </a:spcAft>
            </a:pPr>
            <a:r>
              <a:rPr lang="en-US" altLang="zh-CN" b="1" u="sng" dirty="0" smtClean="0">
                <a:solidFill>
                  <a:srgbClr val="FF0000"/>
                </a:solidFill>
                <a:latin typeface="黑体" pitchFamily="2" charset="-122"/>
                <a:cs typeface="Times New Roman" pitchFamily="18" charset="0"/>
              </a:rPr>
              <a:t>1</a:t>
            </a:r>
            <a:r>
              <a:rPr lang="zh-CN" altLang="en-US" b="1" u="sng" dirty="0" smtClean="0">
                <a:solidFill>
                  <a:srgbClr val="FF0000"/>
                </a:solidFill>
                <a:latin typeface="黑体" pitchFamily="2" charset="-122"/>
                <a:cs typeface="Times New Roman" pitchFamily="18" charset="0"/>
              </a:rPr>
              <a:t>、</a:t>
            </a:r>
            <a:r>
              <a:rPr lang="en-US" altLang="zh-CN" b="1" u="sng" dirty="0" smtClean="0">
                <a:solidFill>
                  <a:srgbClr val="FF0000"/>
                </a:solidFill>
                <a:latin typeface="黑体" pitchFamily="2" charset="-122"/>
                <a:cs typeface="Times New Roman" pitchFamily="18" charset="0"/>
              </a:rPr>
              <a:t>*</a:t>
            </a:r>
            <a:r>
              <a:rPr lang="zh-CN" altLang="en-US" b="1" u="sng" dirty="0" smtClean="0">
                <a:solidFill>
                  <a:srgbClr val="FF0000"/>
                </a:solidFill>
                <a:latin typeface="黑体" pitchFamily="2" charset="-122"/>
                <a:cs typeface="Times New Roman" pitchFamily="18" charset="0"/>
              </a:rPr>
              <a:t>结构化设计 </a:t>
            </a:r>
            <a:r>
              <a:rPr lang="en-US" altLang="zh-CN" b="1" u="sng" dirty="0" smtClean="0">
                <a:solidFill>
                  <a:srgbClr val="FF0000"/>
                </a:solidFill>
                <a:latin typeface="黑体" pitchFamily="2" charset="-122"/>
                <a:cs typeface="Times New Roman" pitchFamily="18" charset="0"/>
              </a:rPr>
              <a:t>VS </a:t>
            </a:r>
            <a:r>
              <a:rPr lang="zh-CN" altLang="en-US" b="1" u="sng" dirty="0" smtClean="0">
                <a:solidFill>
                  <a:srgbClr val="FF0000"/>
                </a:solidFill>
                <a:latin typeface="黑体" pitchFamily="2" charset="-122"/>
                <a:cs typeface="Times New Roman" pitchFamily="18" charset="0"/>
              </a:rPr>
              <a:t>面向对象设计</a:t>
            </a:r>
            <a:endParaRPr lang="en-US" altLang="zh-CN" b="1" u="sng" dirty="0" smtClean="0">
              <a:solidFill>
                <a:srgbClr val="FF0000"/>
              </a:solidFill>
              <a:latin typeface="黑体" pitchFamily="2" charset="-122"/>
              <a:cs typeface="Times New Roman" pitchFamily="18" charset="0"/>
            </a:endParaRPr>
          </a:p>
          <a:p>
            <a:pPr lvl="1" algn="just">
              <a:spcAft>
                <a:spcPct val="40000"/>
              </a:spcAft>
            </a:pPr>
            <a:r>
              <a:rPr lang="en-US" altLang="zh-CN" b="1" u="sng" dirty="0" smtClean="0">
                <a:solidFill>
                  <a:srgbClr val="FF0000"/>
                </a:solidFill>
                <a:latin typeface="黑体" pitchFamily="2" charset="-122"/>
                <a:cs typeface="Times New Roman" pitchFamily="18" charset="0"/>
              </a:rPr>
              <a:t>2</a:t>
            </a:r>
            <a:r>
              <a:rPr lang="zh-CN" altLang="en-US" b="1" u="sng" dirty="0" smtClean="0">
                <a:solidFill>
                  <a:srgbClr val="FF0000"/>
                </a:solidFill>
                <a:latin typeface="黑体" pitchFamily="2" charset="-122"/>
                <a:cs typeface="Times New Roman" pitchFamily="18" charset="0"/>
              </a:rPr>
              <a:t>、</a:t>
            </a:r>
            <a:r>
              <a:rPr lang="en-US" altLang="zh-CN" b="1" u="sng" dirty="0" smtClean="0">
                <a:solidFill>
                  <a:srgbClr val="FF0000"/>
                </a:solidFill>
                <a:latin typeface="黑体" pitchFamily="2" charset="-122"/>
                <a:cs typeface="Times New Roman" pitchFamily="18" charset="0"/>
              </a:rPr>
              <a:t>*</a:t>
            </a:r>
            <a:r>
              <a:rPr lang="zh-CN" altLang="en-US" b="1" u="sng" dirty="0" smtClean="0">
                <a:solidFill>
                  <a:srgbClr val="FF0000"/>
                </a:solidFill>
                <a:latin typeface="黑体" pitchFamily="2" charset="-122"/>
                <a:cs typeface="Times New Roman" pitchFamily="18" charset="0"/>
              </a:rPr>
              <a:t>理解面向对象</a:t>
            </a:r>
            <a:endParaRPr lang="en-US" altLang="zh-CN" b="1" u="sng" dirty="0" smtClean="0">
              <a:solidFill>
                <a:srgbClr val="FF0000"/>
              </a:solidFill>
              <a:latin typeface="黑体" pitchFamily="2" charset="-122"/>
              <a:cs typeface="Times New Roman" pitchFamily="18" charset="0"/>
            </a:endParaRPr>
          </a:p>
          <a:p>
            <a:pPr lvl="1" algn="just">
              <a:spcAft>
                <a:spcPct val="40000"/>
              </a:spcAft>
            </a:pPr>
            <a:r>
              <a:rPr lang="en-US" altLang="zh-CN" b="1" dirty="0" smtClean="0">
                <a:latin typeface="黑体" pitchFamily="2" charset="-122"/>
                <a:cs typeface="Times New Roman" pitchFamily="18" charset="0"/>
              </a:rPr>
              <a:t>3</a:t>
            </a:r>
            <a:r>
              <a:rPr lang="zh-CN" altLang="en-US" b="1" dirty="0" smtClean="0">
                <a:latin typeface="黑体" pitchFamily="2" charset="-122"/>
                <a:cs typeface="Times New Roman" pitchFamily="18" charset="0"/>
              </a:rPr>
              <a:t>、面向对象设计实例</a:t>
            </a:r>
            <a:endParaRPr lang="en-US" altLang="zh-CN" b="1" dirty="0" smtClean="0">
              <a:latin typeface="黑体" pitchFamily="2" charset="-122"/>
              <a:cs typeface="Times New Roman" pitchFamily="18" charset="0"/>
            </a:endParaRPr>
          </a:p>
          <a:p>
            <a:pPr lvl="1" algn="just">
              <a:spcAft>
                <a:spcPct val="40000"/>
              </a:spcAft>
            </a:pPr>
            <a:r>
              <a:rPr lang="en-US" altLang="zh-CN" b="1" dirty="0" smtClean="0">
                <a:latin typeface="黑体" pitchFamily="2" charset="-122"/>
                <a:cs typeface="Times New Roman" pitchFamily="18" charset="0"/>
              </a:rPr>
              <a:t>4</a:t>
            </a:r>
            <a:r>
              <a:rPr lang="zh-CN" altLang="en-US" b="1" dirty="0" smtClean="0">
                <a:latin typeface="黑体" pitchFamily="2" charset="-122"/>
                <a:cs typeface="Times New Roman" pitchFamily="18" charset="0"/>
              </a:rPr>
              <a:t>、面向对象方法学概述</a:t>
            </a:r>
            <a:endParaRPr lang="en-US" altLang="zh-CN" b="1" dirty="0" smtClean="0">
              <a:latin typeface="黑体" pitchFamily="2" charset="-122"/>
              <a:cs typeface="Times New Roman" pitchFamily="18" charset="0"/>
            </a:endParaRPr>
          </a:p>
          <a:p>
            <a:pPr lvl="1" algn="just">
              <a:spcAft>
                <a:spcPct val="40000"/>
              </a:spcAft>
            </a:pPr>
            <a:r>
              <a:rPr lang="en-US" altLang="zh-CN" b="1" dirty="0" smtClean="0">
                <a:latin typeface="黑体" pitchFamily="2" charset="-122"/>
                <a:cs typeface="Times New Roman" pitchFamily="18" charset="0"/>
              </a:rPr>
              <a:t>5</a:t>
            </a:r>
            <a:r>
              <a:rPr lang="zh-CN" altLang="en-US" b="1" dirty="0" smtClean="0">
                <a:latin typeface="黑体" pitchFamily="2" charset="-122"/>
                <a:cs typeface="Times New Roman" pitchFamily="18" charset="0"/>
              </a:rPr>
              <a:t>、面向对象方法学的主要优点（重点理解）</a:t>
            </a:r>
            <a:endParaRPr lang="en-US" altLang="zh-CN" b="1" dirty="0" smtClean="0">
              <a:latin typeface="黑体" pitchFamily="2" charset="-122"/>
              <a:cs typeface="Times New Roman" pitchFamily="18" charset="0"/>
            </a:endParaRPr>
          </a:p>
          <a:p>
            <a:pPr lvl="1" algn="just">
              <a:spcAft>
                <a:spcPct val="40000"/>
              </a:spcAft>
            </a:pPr>
            <a:r>
              <a:rPr lang="en-US" altLang="zh-CN" b="1" dirty="0" smtClean="0">
                <a:latin typeface="黑体" pitchFamily="2" charset="-122"/>
                <a:cs typeface="Times New Roman" pitchFamily="18" charset="0"/>
              </a:rPr>
              <a:t>6</a:t>
            </a:r>
            <a:r>
              <a:rPr lang="zh-CN" altLang="en-US" b="1" dirty="0" smtClean="0">
                <a:latin typeface="黑体" pitchFamily="2" charset="-122"/>
                <a:cs typeface="Times New Roman" pitchFamily="18" charset="0"/>
              </a:rPr>
              <a:t>、面向对象方法学的概念（重点理解）</a:t>
            </a:r>
            <a:endParaRPr lang="en-US" altLang="zh-CN" b="1" dirty="0" smtClean="0">
              <a:latin typeface="黑体" pitchFamily="2" charset="-122"/>
              <a:cs typeface="Times New Roman" pitchFamily="18" charset="0"/>
            </a:endParaRPr>
          </a:p>
          <a:p>
            <a:pPr lvl="1" algn="just">
              <a:spcAft>
                <a:spcPct val="40000"/>
              </a:spcAft>
            </a:pPr>
            <a:r>
              <a:rPr lang="en-US" altLang="zh-CN" b="1" dirty="0" smtClean="0">
                <a:latin typeface="黑体" pitchFamily="2" charset="-122"/>
                <a:cs typeface="Times New Roman" pitchFamily="18" charset="0"/>
              </a:rPr>
              <a:t>7</a:t>
            </a:r>
            <a:r>
              <a:rPr lang="zh-CN" altLang="en-US" b="1" dirty="0" smtClean="0">
                <a:latin typeface="黑体" pitchFamily="2" charset="-122"/>
                <a:cs typeface="Times New Roman" pitchFamily="18" charset="0"/>
              </a:rPr>
              <a:t>、面向对象建模（重点）</a:t>
            </a:r>
            <a:endParaRPr lang="en-US" altLang="zh-CN" b="1" dirty="0" smtClean="0">
              <a:latin typeface="黑体" pitchFamily="2" charset="-122"/>
              <a:cs typeface="Times New Roman" pitchFamily="18" charset="0"/>
            </a:endParaRPr>
          </a:p>
          <a:p>
            <a:pPr lvl="1" algn="just">
              <a:spcAft>
                <a:spcPct val="40000"/>
              </a:spcAft>
            </a:pPr>
            <a:r>
              <a:rPr lang="en-US" altLang="zh-CN" b="1" dirty="0" smtClean="0">
                <a:latin typeface="黑体" pitchFamily="2" charset="-122"/>
                <a:cs typeface="Times New Roman" pitchFamily="18" charset="0"/>
              </a:rPr>
              <a:t>8</a:t>
            </a:r>
            <a:r>
              <a:rPr lang="zh-CN" altLang="en-US" b="1" dirty="0" smtClean="0">
                <a:latin typeface="黑体" pitchFamily="2" charset="-122"/>
                <a:cs typeface="Times New Roman" pitchFamily="18" charset="0"/>
              </a:rPr>
              <a:t>、三种模型及其相互的关系（重点）</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215238" cy="4786346"/>
          </a:xfrm>
        </p:spPr>
        <p:txBody>
          <a:bodyPr/>
          <a:lstStyle/>
          <a:p>
            <a:r>
              <a:rPr lang="zh-CN" altLang="en-US" sz="2800" dirty="0" smtClean="0"/>
              <a:t>主要内容：</a:t>
            </a:r>
            <a:endParaRPr lang="en-US" altLang="zh-CN" sz="2800" dirty="0" smtClean="0"/>
          </a:p>
          <a:p>
            <a:pPr lvl="1"/>
            <a:r>
              <a:rPr lang="zh-CN" altLang="en-US" sz="2400" dirty="0" smtClean="0"/>
              <a:t>一、结构化设计</a:t>
            </a:r>
            <a:endParaRPr lang="en-US" altLang="zh-CN" sz="2400" dirty="0" smtClean="0"/>
          </a:p>
          <a:p>
            <a:pPr lvl="2"/>
            <a:r>
              <a:rPr lang="en-US" altLang="zh-CN" sz="2300" dirty="0" smtClean="0"/>
              <a:t>1</a:t>
            </a:r>
            <a:r>
              <a:rPr lang="zh-CN" altLang="en-US" sz="2300" dirty="0" smtClean="0"/>
              <a:t>、结构化设计的产生背景</a:t>
            </a:r>
            <a:endParaRPr lang="en-US" altLang="zh-CN" sz="2300" dirty="0" smtClean="0"/>
          </a:p>
          <a:p>
            <a:pPr lvl="2"/>
            <a:r>
              <a:rPr lang="en-US" altLang="zh-CN" sz="2300" dirty="0" smtClean="0"/>
              <a:t>2</a:t>
            </a:r>
            <a:r>
              <a:rPr lang="zh-CN" altLang="en-US" sz="2300" dirty="0" smtClean="0"/>
              <a:t>、“结构化”的表现方面</a:t>
            </a:r>
            <a:endParaRPr lang="en-US" altLang="zh-CN" sz="2300" dirty="0" smtClean="0"/>
          </a:p>
          <a:p>
            <a:pPr lvl="2"/>
            <a:r>
              <a:rPr lang="en-US" altLang="zh-CN" sz="2300" dirty="0" smtClean="0"/>
              <a:t>3</a:t>
            </a:r>
            <a:r>
              <a:rPr lang="zh-CN" altLang="en-US" sz="2300" dirty="0" smtClean="0"/>
              <a:t>、利用结构化设计来求解问题域的基本过程</a:t>
            </a:r>
            <a:endParaRPr lang="en-US" altLang="zh-CN" sz="2300" dirty="0" smtClean="0"/>
          </a:p>
          <a:p>
            <a:pPr lvl="1"/>
            <a:r>
              <a:rPr lang="zh-CN" altLang="en-US" sz="2400" dirty="0" smtClean="0"/>
              <a:t>二、面向对象设计</a:t>
            </a:r>
            <a:endParaRPr lang="en-US" altLang="zh-CN" sz="2400" dirty="0" smtClean="0"/>
          </a:p>
          <a:p>
            <a:pPr lvl="2"/>
            <a:r>
              <a:rPr lang="en-US" altLang="zh-CN" sz="2300" dirty="0" smtClean="0"/>
              <a:t>1</a:t>
            </a:r>
            <a:r>
              <a:rPr lang="zh-CN" altLang="en-US" sz="2300" dirty="0" smtClean="0"/>
              <a:t>、面向对象设计的产生背景</a:t>
            </a:r>
            <a:endParaRPr lang="en-US" altLang="zh-CN" sz="2300" dirty="0" smtClean="0"/>
          </a:p>
          <a:p>
            <a:pPr lvl="2"/>
            <a:r>
              <a:rPr lang="en-US" altLang="zh-CN" sz="2300" dirty="0" smtClean="0"/>
              <a:t>2</a:t>
            </a:r>
            <a:r>
              <a:rPr lang="zh-CN" altLang="en-US" sz="2300" dirty="0" smtClean="0"/>
              <a:t>、面向对象设计实例</a:t>
            </a:r>
            <a:endParaRPr lang="en-US" altLang="zh-CN" sz="2300" dirty="0" smtClean="0"/>
          </a:p>
          <a:p>
            <a:pPr lvl="2"/>
            <a:endParaRPr lang="zh-CN" altLang="en-US" sz="23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3</a:t>
            </a:fld>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215238" cy="4786346"/>
          </a:xfrm>
        </p:spPr>
        <p:txBody>
          <a:bodyPr/>
          <a:lstStyle/>
          <a:p>
            <a:pPr marL="342900" lvl="1" indent="-342900">
              <a:buNone/>
            </a:pPr>
            <a:r>
              <a:rPr lang="zh-CN" altLang="en-US" sz="2800" dirty="0" smtClean="0"/>
              <a:t>一、结构化设计</a:t>
            </a:r>
          </a:p>
          <a:p>
            <a:pPr marL="342900" lvl="1" indent="-342900">
              <a:buNone/>
            </a:pPr>
            <a:r>
              <a:rPr lang="en-US" altLang="zh-CN" sz="2800" dirty="0" smtClean="0"/>
              <a:t>1</a:t>
            </a:r>
            <a:r>
              <a:rPr lang="zh-CN" altLang="en-US" sz="2800" dirty="0" smtClean="0"/>
              <a:t>、结构化设计的产生背景</a:t>
            </a:r>
            <a:endParaRPr lang="en-US" altLang="zh-CN" sz="2800" dirty="0" smtClean="0"/>
          </a:p>
          <a:p>
            <a:pPr lvl="1"/>
            <a:r>
              <a:rPr lang="zh-CN" altLang="en-US" sz="2400" dirty="0" smtClean="0"/>
              <a:t>回顾计算机的发展历史，计算机软件的发展速度始终滞后于计算机硬件的发展。究其原因，除了软件自身的复杂性外，还包括以下两个主要方面：</a:t>
            </a:r>
            <a:endParaRPr lang="en-US" altLang="zh-CN" sz="2400" dirty="0" smtClean="0"/>
          </a:p>
          <a:p>
            <a:pPr lvl="2"/>
            <a:r>
              <a:rPr lang="zh-CN" altLang="en-US" sz="2300" dirty="0" smtClean="0"/>
              <a:t>（</a:t>
            </a:r>
            <a:r>
              <a:rPr lang="en-US" altLang="zh-CN" sz="2300" dirty="0" smtClean="0"/>
              <a:t>1</a:t>
            </a:r>
            <a:r>
              <a:rPr lang="zh-CN" altLang="en-US" sz="2300" dirty="0" smtClean="0"/>
              <a:t>）个体化</a:t>
            </a:r>
            <a:endParaRPr lang="en-US" altLang="zh-CN" sz="2300" dirty="0" smtClean="0"/>
          </a:p>
          <a:p>
            <a:pPr lvl="2"/>
            <a:r>
              <a:rPr lang="zh-CN" altLang="en-US" sz="2300" dirty="0" smtClean="0"/>
              <a:t>（</a:t>
            </a:r>
            <a:r>
              <a:rPr lang="en-US" altLang="zh-CN" sz="2300" dirty="0" smtClean="0"/>
              <a:t>2</a:t>
            </a:r>
            <a:r>
              <a:rPr lang="zh-CN" altLang="en-US" sz="2300" dirty="0" smtClean="0"/>
              <a:t>）受限于程序设计语言</a:t>
            </a:r>
            <a:endParaRPr lang="zh-CN" altLang="en-US" sz="23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786346"/>
          </a:xfrm>
        </p:spPr>
        <p:txBody>
          <a:bodyPr/>
          <a:lstStyle/>
          <a:p>
            <a:pPr marL="342900" lvl="1" indent="-342900">
              <a:buNone/>
            </a:pPr>
            <a:r>
              <a:rPr lang="zh-CN" altLang="en-US" sz="2800" dirty="0" smtClean="0"/>
              <a:t>一、结构化设计</a:t>
            </a:r>
            <a:r>
              <a:rPr lang="en-US" altLang="zh-CN" sz="2800" dirty="0" smtClean="0"/>
              <a:t>——</a:t>
            </a:r>
            <a:r>
              <a:rPr lang="zh-CN" altLang="en-US" sz="2400" dirty="0" smtClean="0"/>
              <a:t>软件发展速度低</a:t>
            </a:r>
          </a:p>
          <a:p>
            <a:pPr marL="342900" lvl="1" indent="-342900">
              <a:buNone/>
            </a:pPr>
            <a:r>
              <a:rPr lang="zh-CN" altLang="en-US" sz="2800" dirty="0" smtClean="0">
                <a:solidFill>
                  <a:srgbClr val="FF0000"/>
                </a:solidFill>
              </a:rPr>
              <a:t>（</a:t>
            </a:r>
            <a:r>
              <a:rPr lang="en-US" altLang="zh-CN" sz="2800" dirty="0" smtClean="0">
                <a:solidFill>
                  <a:srgbClr val="FF0000"/>
                </a:solidFill>
              </a:rPr>
              <a:t>1</a:t>
            </a:r>
            <a:r>
              <a:rPr lang="zh-CN" altLang="en-US" sz="2800" dirty="0" smtClean="0">
                <a:solidFill>
                  <a:srgbClr val="FF0000"/>
                </a:solidFill>
              </a:rPr>
              <a:t>）个体化</a:t>
            </a:r>
            <a:endParaRPr lang="en-US" altLang="zh-CN" sz="2800" dirty="0" smtClean="0">
              <a:solidFill>
                <a:srgbClr val="FF0000"/>
              </a:solidFill>
            </a:endParaRPr>
          </a:p>
          <a:p>
            <a:pPr lvl="1"/>
            <a:r>
              <a:rPr lang="zh-CN" altLang="en-US" sz="2400" dirty="0" smtClean="0"/>
              <a:t>早期的软件开发就是指编写程序。当时计算机只能识别机器指令，为计算机编写程序是极少数人的事情。</a:t>
            </a:r>
            <a:endParaRPr lang="en-US" altLang="zh-CN" sz="2400" dirty="0" smtClean="0"/>
          </a:p>
          <a:p>
            <a:pPr lvl="1"/>
            <a:r>
              <a:rPr lang="zh-CN" altLang="en-US" sz="2400" dirty="0" smtClean="0"/>
              <a:t>早期计算机稀少，处理能力有限，往往分析、设计、编写、调试甚至最终的维护都由同一个人完成。</a:t>
            </a:r>
            <a:endParaRPr lang="en-US" altLang="zh-CN" sz="2400" dirty="0" smtClean="0"/>
          </a:p>
          <a:p>
            <a:pPr lvl="1"/>
            <a:r>
              <a:rPr lang="zh-CN" altLang="en-US" sz="2400" dirty="0" smtClean="0"/>
              <a:t>这使得软件开发过程没有任何可遵循的规范，极大的限制了发展规模。</a:t>
            </a:r>
            <a:endParaRPr lang="en-US" altLang="zh-CN" sz="2400" dirty="0" smtClean="0"/>
          </a:p>
          <a:p>
            <a:pPr lvl="1"/>
            <a:endParaRPr lang="zh-CN" altLang="en-US" sz="24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5</a:t>
            </a:fld>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786346"/>
          </a:xfrm>
        </p:spPr>
        <p:txBody>
          <a:bodyPr/>
          <a:lstStyle/>
          <a:p>
            <a:pPr marL="342900" lvl="1" indent="-342900">
              <a:buNone/>
            </a:pPr>
            <a:r>
              <a:rPr lang="zh-CN" altLang="en-US" sz="2800" dirty="0" smtClean="0"/>
              <a:t>一、结构化设计</a:t>
            </a:r>
            <a:r>
              <a:rPr lang="en-US" altLang="zh-CN" sz="2800" dirty="0" smtClean="0"/>
              <a:t>——</a:t>
            </a:r>
            <a:r>
              <a:rPr lang="zh-CN" altLang="en-US" sz="2400" dirty="0" smtClean="0"/>
              <a:t>软件发展速度低</a:t>
            </a:r>
          </a:p>
          <a:p>
            <a:pPr marL="342900" lvl="1" indent="-342900">
              <a:buNone/>
            </a:pPr>
            <a:r>
              <a:rPr lang="zh-CN" altLang="en-US" sz="2800" dirty="0" smtClean="0">
                <a:solidFill>
                  <a:srgbClr val="FF0000"/>
                </a:solidFill>
              </a:rPr>
              <a:t>（</a:t>
            </a:r>
            <a:r>
              <a:rPr lang="en-US" altLang="zh-CN" sz="2800" dirty="0" smtClean="0">
                <a:solidFill>
                  <a:srgbClr val="FF0000"/>
                </a:solidFill>
              </a:rPr>
              <a:t>2</a:t>
            </a:r>
            <a:r>
              <a:rPr lang="zh-CN" altLang="en-US" sz="2800" dirty="0" smtClean="0">
                <a:solidFill>
                  <a:srgbClr val="FF0000"/>
                </a:solidFill>
              </a:rPr>
              <a:t>）受限于程序设计语言</a:t>
            </a:r>
            <a:endParaRPr lang="en-US" altLang="zh-CN" sz="2800" dirty="0" smtClean="0">
              <a:solidFill>
                <a:srgbClr val="FF0000"/>
              </a:solidFill>
            </a:endParaRPr>
          </a:p>
          <a:p>
            <a:pPr lvl="1"/>
            <a:r>
              <a:rPr lang="en-US" altLang="zh-CN" sz="2400" dirty="0" smtClean="0"/>
              <a:t>20</a:t>
            </a:r>
            <a:r>
              <a:rPr lang="zh-CN" altLang="en-US" sz="2400" dirty="0" smtClean="0"/>
              <a:t>世纪</a:t>
            </a:r>
            <a:r>
              <a:rPr lang="en-US" altLang="zh-CN" sz="2400" dirty="0" smtClean="0"/>
              <a:t>50</a:t>
            </a:r>
            <a:r>
              <a:rPr lang="zh-CN" altLang="en-US" sz="2400" dirty="0" smtClean="0"/>
              <a:t>年代</a:t>
            </a:r>
            <a:r>
              <a:rPr lang="en-US" altLang="zh-CN" sz="2400" dirty="0" smtClean="0"/>
              <a:t>——</a:t>
            </a:r>
            <a:r>
              <a:rPr lang="zh-CN" altLang="en-US" sz="2400" dirty="0" smtClean="0"/>
              <a:t>低级语言。最初程序中每一条指令都是一串</a:t>
            </a:r>
            <a:r>
              <a:rPr lang="en-US" altLang="zh-CN" sz="2400" dirty="0" smtClean="0"/>
              <a:t>0</a:t>
            </a:r>
            <a:r>
              <a:rPr lang="zh-CN" altLang="en-US" sz="2400" dirty="0" smtClean="0"/>
              <a:t>、</a:t>
            </a:r>
            <a:r>
              <a:rPr lang="en-US" altLang="zh-CN" sz="2400" dirty="0" smtClean="0"/>
              <a:t>1</a:t>
            </a:r>
            <a:r>
              <a:rPr lang="zh-CN" altLang="en-US" sz="2400" dirty="0" smtClean="0"/>
              <a:t>序列，真正能用的程序很少。后来将机器指令符号化，形成了汇编语言。汇编语言仍然没有解决程序难以移植的困惑。</a:t>
            </a:r>
            <a:endParaRPr lang="en-US" altLang="zh-CN" sz="2400" dirty="0" smtClean="0"/>
          </a:p>
          <a:p>
            <a:pPr lvl="1"/>
            <a:r>
              <a:rPr lang="en-US" altLang="zh-CN" sz="2400" dirty="0" smtClean="0"/>
              <a:t>20</a:t>
            </a:r>
            <a:r>
              <a:rPr lang="zh-CN" altLang="en-US" sz="2400" dirty="0" smtClean="0"/>
              <a:t>世纪</a:t>
            </a:r>
            <a:r>
              <a:rPr lang="en-US" altLang="zh-CN" sz="2400" dirty="0" smtClean="0"/>
              <a:t>60</a:t>
            </a:r>
            <a:r>
              <a:rPr lang="zh-CN" altLang="en-US" sz="2400" dirty="0" smtClean="0"/>
              <a:t>年代</a:t>
            </a:r>
            <a:r>
              <a:rPr lang="en-US" altLang="zh-CN" sz="2400" dirty="0" smtClean="0"/>
              <a:t>——</a:t>
            </a:r>
            <a:r>
              <a:rPr lang="zh-CN" altLang="en-US" sz="2400" dirty="0" smtClean="0"/>
              <a:t>高级语言。如</a:t>
            </a:r>
            <a:r>
              <a:rPr lang="en-US" altLang="zh-CN" sz="2400" dirty="0" smtClean="0"/>
              <a:t>FORTRAN</a:t>
            </a:r>
            <a:r>
              <a:rPr lang="zh-CN" altLang="en-US" sz="2400" dirty="0" smtClean="0"/>
              <a:t>、</a:t>
            </a:r>
            <a:r>
              <a:rPr lang="en-US" altLang="zh-CN" sz="2400" dirty="0" smtClean="0"/>
              <a:t>COBOL</a:t>
            </a:r>
            <a:r>
              <a:rPr lang="zh-CN" altLang="en-US" sz="2400" dirty="0" smtClean="0"/>
              <a:t>、</a:t>
            </a:r>
            <a:r>
              <a:rPr lang="en-US" altLang="zh-CN" sz="2400" dirty="0" smtClean="0"/>
              <a:t>APL</a:t>
            </a:r>
            <a:r>
              <a:rPr lang="zh-CN" altLang="en-US" sz="2400" dirty="0" smtClean="0"/>
              <a:t>等语言。更加贴近自然语言。但是还停留在强调其处理功能上，没有考虑从语言的角度制约程序设计的整个过程，致使编写出来的程序普遍缺乏结构性。</a:t>
            </a:r>
            <a:endParaRPr lang="en-US" altLang="zh-CN" sz="2400" dirty="0" smtClean="0"/>
          </a:p>
          <a:p>
            <a:pPr lvl="1"/>
            <a:endParaRPr lang="zh-CN" altLang="en-US" sz="24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ox(in)">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786346"/>
          </a:xfrm>
        </p:spPr>
        <p:txBody>
          <a:bodyPr/>
          <a:lstStyle/>
          <a:p>
            <a:pPr marL="342900" lvl="1" indent="-342900">
              <a:buNone/>
            </a:pPr>
            <a:r>
              <a:rPr lang="zh-CN" altLang="en-US" sz="2800" dirty="0" smtClean="0"/>
              <a:t>一、结构化设计</a:t>
            </a:r>
            <a:r>
              <a:rPr lang="en-US" altLang="zh-CN" sz="2800" dirty="0" smtClean="0"/>
              <a:t>——</a:t>
            </a:r>
            <a:r>
              <a:rPr lang="zh-CN" altLang="en-US" sz="2800" dirty="0" smtClean="0"/>
              <a:t>产生背景</a:t>
            </a:r>
            <a:endParaRPr lang="zh-CN" altLang="en-US" sz="2400" dirty="0" smtClean="0"/>
          </a:p>
          <a:p>
            <a:pPr lvl="1"/>
            <a:r>
              <a:rPr lang="zh-CN" altLang="en-US" sz="2400" dirty="0" smtClean="0"/>
              <a:t>进入</a:t>
            </a:r>
            <a:r>
              <a:rPr lang="en-US" altLang="zh-CN" sz="2400" dirty="0" smtClean="0"/>
              <a:t>70</a:t>
            </a:r>
            <a:r>
              <a:rPr lang="zh-CN" altLang="en-US" sz="2400" dirty="0" smtClean="0"/>
              <a:t>年代后，计算机应用领域迅猛发展，程序规模不断增大，复杂度不断提高。原始的编程方式越来越力不从心。</a:t>
            </a:r>
            <a:endParaRPr lang="en-US" altLang="zh-CN" sz="2400" dirty="0" smtClean="0"/>
          </a:p>
          <a:p>
            <a:pPr lvl="1"/>
            <a:r>
              <a:rPr lang="zh-CN" altLang="en-US" sz="2400" dirty="0" smtClean="0"/>
              <a:t>在这种背景下，人们提出了结构化程序设计方法的概念，出现了一批支持结构化的程序设计语言，如</a:t>
            </a:r>
            <a:r>
              <a:rPr lang="en-US" altLang="zh-CN" sz="2400" dirty="0" smtClean="0"/>
              <a:t>PASCAL</a:t>
            </a:r>
            <a:r>
              <a:rPr lang="zh-CN" altLang="en-US" sz="2400" dirty="0" smtClean="0"/>
              <a:t>、</a:t>
            </a:r>
            <a:r>
              <a:rPr lang="en-US" altLang="zh-CN" sz="2400" dirty="0" smtClean="0"/>
              <a:t>C</a:t>
            </a:r>
            <a:r>
              <a:rPr lang="zh-CN" altLang="en-US" sz="2400" dirty="0" smtClean="0"/>
              <a:t>、</a:t>
            </a:r>
            <a:r>
              <a:rPr lang="en-US" altLang="zh-CN" sz="2400" dirty="0" err="1" smtClean="0"/>
              <a:t>Ada</a:t>
            </a:r>
            <a:r>
              <a:rPr lang="zh-CN" altLang="en-US" sz="2400" dirty="0" smtClean="0"/>
              <a:t>等。</a:t>
            </a:r>
            <a:endParaRPr lang="en-US" altLang="zh-CN" sz="2400" dirty="0" smtClean="0"/>
          </a:p>
          <a:p>
            <a:pPr lvl="1"/>
            <a:endParaRPr lang="zh-CN" altLang="en-US" sz="24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amond(in)">
                                      <p:cBhvr>
                                        <p:cTn id="7"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786346"/>
          </a:xfrm>
        </p:spPr>
        <p:txBody>
          <a:bodyPr/>
          <a:lstStyle/>
          <a:p>
            <a:pPr marL="342900" lvl="1" indent="-342900">
              <a:buNone/>
            </a:pPr>
            <a:r>
              <a:rPr lang="zh-CN" altLang="en-US" sz="2800" dirty="0" smtClean="0"/>
              <a:t>一、结构化设计</a:t>
            </a:r>
            <a:endParaRPr lang="en-US" altLang="zh-CN" sz="2800" dirty="0" smtClean="0"/>
          </a:p>
          <a:p>
            <a:pPr marL="342900" lvl="1" indent="-342900">
              <a:buNone/>
            </a:pPr>
            <a:r>
              <a:rPr lang="en-US" altLang="zh-CN" sz="2800" dirty="0" smtClean="0">
                <a:solidFill>
                  <a:srgbClr val="000000"/>
                </a:solidFill>
                <a:cs typeface="+mn-cs"/>
              </a:rPr>
              <a:t>2</a:t>
            </a:r>
            <a:r>
              <a:rPr lang="zh-CN" altLang="en-US" sz="2800" dirty="0" smtClean="0">
                <a:solidFill>
                  <a:srgbClr val="000000"/>
                </a:solidFill>
                <a:cs typeface="+mn-cs"/>
              </a:rPr>
              <a:t>、</a:t>
            </a:r>
            <a:r>
              <a:rPr lang="zh-CN" altLang="en-US" sz="2300" dirty="0" smtClean="0">
                <a:solidFill>
                  <a:srgbClr val="000000"/>
                </a:solidFill>
                <a:cs typeface="+mn-cs"/>
              </a:rPr>
              <a:t>“结构化”的表现方面</a:t>
            </a:r>
            <a:endParaRPr lang="zh-CN" altLang="en-US" sz="2400" dirty="0" smtClean="0"/>
          </a:p>
          <a:p>
            <a:pPr lvl="1"/>
            <a:r>
              <a:rPr lang="zh-CN" altLang="en-US" sz="2400" dirty="0" smtClean="0"/>
              <a:t>（</a:t>
            </a:r>
            <a:r>
              <a:rPr lang="en-US" altLang="zh-CN" sz="2400" dirty="0" smtClean="0"/>
              <a:t>1</a:t>
            </a:r>
            <a:r>
              <a:rPr lang="zh-CN" altLang="en-US" sz="2400" dirty="0" smtClean="0"/>
              <a:t>）自顶向下，逐步求精。将编写程序看成一个逐步演化的过程。将分析问题的过程划分成若干个层次，每一个新的层次都是上一个层次的细化</a:t>
            </a:r>
            <a:endParaRPr lang="en-US" altLang="zh-CN" sz="2400" dirty="0" smtClean="0"/>
          </a:p>
          <a:p>
            <a:pPr lvl="1"/>
            <a:r>
              <a:rPr lang="zh-CN" altLang="en-US" sz="2400" dirty="0" smtClean="0"/>
              <a:t>（</a:t>
            </a:r>
            <a:r>
              <a:rPr lang="en-US" altLang="zh-CN" sz="2400" dirty="0" smtClean="0"/>
              <a:t>2</a:t>
            </a:r>
            <a:r>
              <a:rPr lang="zh-CN" altLang="en-US" sz="2400" dirty="0" smtClean="0"/>
              <a:t>）模块化。将系统分解成若干个模块，每个模块实现特定的功能，最终的系统将由这些模块组装而成。模块之间通过接口传递信息。</a:t>
            </a:r>
            <a:endParaRPr lang="en-US" altLang="zh-CN" sz="2400" dirty="0" smtClean="0"/>
          </a:p>
          <a:p>
            <a:pPr lvl="1"/>
            <a:r>
              <a:rPr lang="zh-CN" altLang="en-US" sz="2400" dirty="0" smtClean="0"/>
              <a:t>（</a:t>
            </a:r>
            <a:r>
              <a:rPr lang="en-US" altLang="zh-CN" sz="2400" dirty="0" smtClean="0"/>
              <a:t>3</a:t>
            </a:r>
            <a:r>
              <a:rPr lang="zh-CN" altLang="en-US" sz="2400" dirty="0" smtClean="0"/>
              <a:t>）语句结构化。在每个模块中只允许出现顺序、分支和循环三种流程结构的语句。</a:t>
            </a:r>
            <a:endParaRPr lang="en-US" altLang="zh-CN" sz="2400" dirty="0" smtClean="0"/>
          </a:p>
          <a:p>
            <a:pPr lvl="1"/>
            <a:endParaRPr lang="zh-CN" altLang="en-US" sz="24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8</a:t>
            </a:fld>
            <a:endParaRPr lang="en-US" altLang="zh-CN"/>
          </a:p>
        </p:txBody>
      </p:sp>
      <p:sp>
        <p:nvSpPr>
          <p:cNvPr id="5" name="TextBox 4"/>
          <p:cNvSpPr txBox="1"/>
          <p:nvPr/>
        </p:nvSpPr>
        <p:spPr>
          <a:xfrm>
            <a:off x="4572000" y="5643578"/>
            <a:ext cx="3500462" cy="523220"/>
          </a:xfrm>
          <a:prstGeom prst="rect">
            <a:avLst/>
          </a:prstGeom>
          <a:effectLst>
            <a:glow rad="101600">
              <a:schemeClr val="accent4">
                <a:satMod val="175000"/>
                <a:alpha val="40000"/>
              </a:schemeClr>
            </a:glow>
            <a:outerShdw blurRad="40000" dist="20000" dir="5400000" rotWithShape="0">
              <a:srgbClr val="000000">
                <a:alpha val="38000"/>
              </a:srgbClr>
            </a:outerShdw>
          </a:effectLst>
        </p:spPr>
        <p:style>
          <a:lnRef idx="3">
            <a:schemeClr val="lt1"/>
          </a:lnRef>
          <a:fillRef idx="1">
            <a:schemeClr val="dk1"/>
          </a:fillRef>
          <a:effectRef idx="1">
            <a:schemeClr val="dk1"/>
          </a:effectRef>
          <a:fontRef idx="minor">
            <a:schemeClr val="lt1"/>
          </a:fontRef>
        </p:style>
        <p:txBody>
          <a:bodyPr wrap="square" rtlCol="0">
            <a:spAutoFit/>
          </a:bodyPr>
          <a:lstStyle/>
          <a:p>
            <a:r>
              <a:rPr lang="zh-CN" altLang="en-US" sz="2800" dirty="0" smtClean="0"/>
              <a:t>程序</a:t>
            </a:r>
            <a:r>
              <a:rPr lang="en-US" altLang="zh-CN" sz="2800" dirty="0" smtClean="0"/>
              <a:t>=</a:t>
            </a:r>
            <a:r>
              <a:rPr lang="zh-CN" altLang="en-US" sz="2800" dirty="0" smtClean="0"/>
              <a:t>过程</a:t>
            </a:r>
            <a:r>
              <a:rPr lang="en-US" altLang="zh-CN" sz="2800" dirty="0" smtClean="0"/>
              <a:t>+</a:t>
            </a:r>
            <a:r>
              <a:rPr lang="zh-CN" altLang="en-US" sz="2800" dirty="0" smtClean="0"/>
              <a:t>过程调用</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amond(in)">
                                      <p:cBhvr>
                                        <p:cTn id="7" dur="10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amond(in)">
                                      <p:cBhvr>
                                        <p:cTn id="12" dur="10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一、结构化设计</a:t>
            </a:r>
            <a:endParaRPr lang="en-US" altLang="zh-CN" sz="2800" dirty="0" smtClean="0"/>
          </a:p>
          <a:p>
            <a:pPr marL="342900" lvl="1" indent="-342900">
              <a:buNone/>
            </a:pPr>
            <a:r>
              <a:rPr lang="en-US" altLang="zh-CN" sz="2800" dirty="0" smtClean="0">
                <a:solidFill>
                  <a:srgbClr val="000000"/>
                </a:solidFill>
                <a:cs typeface="+mn-cs"/>
              </a:rPr>
              <a:t>3</a:t>
            </a:r>
            <a:r>
              <a:rPr lang="zh-CN" altLang="en-US" sz="2800" dirty="0" smtClean="0">
                <a:solidFill>
                  <a:srgbClr val="000000"/>
                </a:solidFill>
                <a:cs typeface="+mn-cs"/>
              </a:rPr>
              <a:t>、</a:t>
            </a:r>
            <a:r>
              <a:rPr lang="zh-CN" altLang="en-US" sz="2300" dirty="0" smtClean="0"/>
              <a:t>利用结构化设计来求解问题域的基本过程</a:t>
            </a:r>
            <a:endParaRPr lang="zh-CN" altLang="en-US" sz="2400" dirty="0" smtClean="0"/>
          </a:p>
          <a:p>
            <a:pPr lvl="1"/>
            <a:r>
              <a:rPr lang="zh-CN" altLang="en-US" sz="2400" b="1" i="1" dirty="0" smtClean="0">
                <a:solidFill>
                  <a:srgbClr val="FF0000"/>
                </a:solidFill>
              </a:rPr>
              <a:t>分解</a:t>
            </a:r>
            <a:r>
              <a:rPr lang="en-US" altLang="zh-CN" sz="2400" b="1" i="1" dirty="0" smtClean="0">
                <a:solidFill>
                  <a:srgbClr val="FF0000"/>
                </a:solidFill>
              </a:rPr>
              <a:t>+</a:t>
            </a:r>
            <a:r>
              <a:rPr lang="zh-CN" altLang="en-US" sz="2400" b="1" i="1" dirty="0" smtClean="0">
                <a:solidFill>
                  <a:srgbClr val="FF0000"/>
                </a:solidFill>
              </a:rPr>
              <a:t>组装</a:t>
            </a:r>
            <a:endParaRPr lang="en-US" altLang="zh-CN" sz="2400" b="1" i="1" dirty="0" smtClean="0">
              <a:solidFill>
                <a:srgbClr val="FF0000"/>
              </a:solidFill>
            </a:endParaRPr>
          </a:p>
          <a:p>
            <a:pPr lvl="1"/>
            <a:r>
              <a:rPr lang="zh-CN" altLang="en-US" sz="2400" dirty="0" smtClean="0"/>
              <a:t>分解：分析问题域</a:t>
            </a:r>
            <a:r>
              <a:rPr lang="en-US" altLang="zh-CN" sz="2400" dirty="0" smtClean="0">
                <a:sym typeface="Wingdings" pitchFamily="2" charset="2"/>
              </a:rPr>
              <a:t></a:t>
            </a:r>
            <a:r>
              <a:rPr lang="zh-CN" altLang="en-US" sz="2400" dirty="0" smtClean="0">
                <a:sym typeface="Wingdings" pitchFamily="2" charset="2"/>
              </a:rPr>
              <a:t>模块分解（细化）。</a:t>
            </a:r>
            <a:endParaRPr lang="en-US" altLang="zh-CN" sz="2400" dirty="0" smtClean="0">
              <a:sym typeface="Wingdings" pitchFamily="2" charset="2"/>
            </a:endParaRPr>
          </a:p>
          <a:p>
            <a:pPr lvl="2"/>
            <a:r>
              <a:rPr lang="zh-CN" altLang="en-US" sz="2300" dirty="0" smtClean="0">
                <a:sym typeface="Wingdings" pitchFamily="2" charset="2"/>
              </a:rPr>
              <a:t>模块是求解问题域的一种描述。如果用一个模块作为求解一个较复杂问题域的过程描述，那么在设计过程中，可以将这个较复杂的问题域分解成几个相对简单、相对独立的子问题域，并用不同的模块分别描述它们各自的求解过程。</a:t>
            </a:r>
            <a:endParaRPr lang="en-US" altLang="zh-CN" sz="2300" dirty="0" smtClean="0">
              <a:sym typeface="Wingdings" pitchFamily="2" charset="2"/>
            </a:endParaRPr>
          </a:p>
          <a:p>
            <a:pPr lvl="1"/>
            <a:r>
              <a:rPr lang="zh-CN" altLang="en-US" sz="2400" dirty="0" smtClean="0">
                <a:sym typeface="Wingdings" pitchFamily="2" charset="2"/>
              </a:rPr>
              <a:t>组装：实现过程中，从底层模块开始，逐一实现，并通过将底层模块进行适当地组装构成上层模块的内容。</a:t>
            </a:r>
            <a:endParaRPr lang="en-US" altLang="zh-CN" sz="2400" dirty="0" smtClean="0"/>
          </a:p>
          <a:p>
            <a:pPr lvl="1"/>
            <a:endParaRPr lang="zh-CN" altLang="en-US" sz="24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amond(in)">
                                      <p:cBhvr>
                                        <p:cTn id="7" dur="10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amond(in)">
                                      <p:cBhvr>
                                        <p:cTn id="12" dur="1000"/>
                                        <p:tgtEl>
                                          <p:spTgt spid="3">
                                            <p:txEl>
                                              <p:pRg st="3" end="3"/>
                                            </p:txEl>
                                          </p:spTgt>
                                        </p:tgtEl>
                                      </p:cBhvr>
                                    </p:animEffect>
                                  </p:childTnLst>
                                </p:cTn>
                              </p:par>
                              <p:par>
                                <p:cTn id="13" presetID="8" presetClass="entr" presetSubtype="16"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diamond(in)">
                                      <p:cBhvr>
                                        <p:cTn id="15" dur="10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diamond(in)">
                                      <p:cBhvr>
                                        <p:cTn id="20"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一、结构化设计</a:t>
            </a:r>
            <a:r>
              <a:rPr lang="en-US" altLang="zh-CN" sz="2800" dirty="0" smtClean="0"/>
              <a:t>——</a:t>
            </a:r>
            <a:r>
              <a:rPr lang="zh-CN" altLang="en-US" sz="2800" dirty="0" smtClean="0"/>
              <a:t>小结</a:t>
            </a:r>
            <a:endParaRPr lang="en-US" altLang="zh-CN" sz="2400" dirty="0" smtClean="0"/>
          </a:p>
          <a:p>
            <a:pPr lvl="1"/>
            <a:r>
              <a:rPr lang="en-US" altLang="zh-CN" sz="2400" dirty="0" smtClean="0"/>
              <a:t>1</a:t>
            </a:r>
            <a:r>
              <a:rPr lang="zh-CN" altLang="en-US" sz="2400" dirty="0" smtClean="0"/>
              <a:t>、模块是求解某个特定问题的过程描述（通常用动词命名）</a:t>
            </a:r>
            <a:endParaRPr lang="en-US" altLang="zh-CN" sz="2400" dirty="0" smtClean="0"/>
          </a:p>
          <a:p>
            <a:pPr lvl="1"/>
            <a:r>
              <a:rPr lang="en-US" altLang="zh-CN" sz="2400" dirty="0" smtClean="0"/>
              <a:t>2</a:t>
            </a:r>
            <a:r>
              <a:rPr lang="zh-CN" altLang="en-US" sz="2400" dirty="0" smtClean="0"/>
              <a:t>、模块之间只靠接口传递信息</a:t>
            </a:r>
            <a:endParaRPr lang="en-US" altLang="zh-CN" sz="2400" dirty="0" smtClean="0"/>
          </a:p>
          <a:p>
            <a:pPr lvl="1"/>
            <a:r>
              <a:rPr lang="en-US" altLang="zh-CN" sz="2400" dirty="0" smtClean="0"/>
              <a:t>3</a:t>
            </a:r>
            <a:r>
              <a:rPr lang="zh-CN" altLang="en-US" sz="2400" dirty="0" smtClean="0"/>
              <a:t>、模块内部主要包括要处理的数据结构和相应的算法实现。</a:t>
            </a:r>
            <a:endParaRPr lang="en-US" altLang="zh-CN" sz="2400" dirty="0" smtClean="0"/>
          </a:p>
          <a:p>
            <a:pPr lvl="1"/>
            <a:r>
              <a:rPr lang="en-US" altLang="zh-CN" sz="2400" dirty="0" smtClean="0"/>
              <a:t>4</a:t>
            </a:r>
            <a:r>
              <a:rPr lang="zh-CN" altLang="en-US" sz="2400" dirty="0" smtClean="0"/>
              <a:t>、程序</a:t>
            </a:r>
            <a:r>
              <a:rPr lang="en-US" altLang="zh-CN" sz="2400" dirty="0" smtClean="0"/>
              <a:t>=</a:t>
            </a:r>
            <a:r>
              <a:rPr lang="zh-CN" altLang="en-US" sz="2400" dirty="0" smtClean="0"/>
              <a:t>数据结构</a:t>
            </a:r>
            <a:r>
              <a:rPr lang="en-US" altLang="zh-CN" sz="2400" dirty="0" smtClean="0"/>
              <a:t>+</a:t>
            </a:r>
            <a:r>
              <a:rPr lang="zh-CN" altLang="en-US" sz="2400" dirty="0" smtClean="0"/>
              <a:t>算法。即程序功能的实现依赖于算法，算法依赖于表示待处理数据的数据结构。因此，</a:t>
            </a:r>
            <a:r>
              <a:rPr lang="zh-CN" altLang="en-US" sz="2400" dirty="0" smtClean="0">
                <a:solidFill>
                  <a:srgbClr val="FF0000"/>
                </a:solidFill>
              </a:rPr>
              <a:t>选择数据结构，设计算法是结构化程序设计过程的核心任务</a:t>
            </a:r>
            <a:r>
              <a:rPr lang="zh-CN" altLang="en-US" sz="2400" dirty="0" smtClean="0"/>
              <a:t>。</a:t>
            </a:r>
            <a:endParaRPr lang="zh-CN" altLang="en-US" sz="24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ox(i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ox(in)">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二、面向对象设计</a:t>
            </a:r>
            <a:r>
              <a:rPr lang="en-US" altLang="zh-CN" sz="2800" dirty="0" smtClean="0"/>
              <a:t>——</a:t>
            </a:r>
            <a:r>
              <a:rPr lang="zh-CN" altLang="en-US" sz="2800" dirty="0" smtClean="0"/>
              <a:t>产生背景</a:t>
            </a:r>
            <a:endParaRPr lang="en-US" altLang="zh-CN" sz="2400" dirty="0" smtClean="0"/>
          </a:p>
          <a:p>
            <a:pPr lvl="1"/>
            <a:r>
              <a:rPr lang="zh-CN" altLang="en-US" sz="2200" dirty="0" smtClean="0"/>
              <a:t>利用结构化设计方法求解问题的基本策略是</a:t>
            </a:r>
            <a:r>
              <a:rPr lang="zh-CN" altLang="en-US" sz="2200" dirty="0" smtClean="0">
                <a:solidFill>
                  <a:srgbClr val="FF0000"/>
                </a:solidFill>
              </a:rPr>
              <a:t>从功能的角度审视问题域</a:t>
            </a:r>
            <a:r>
              <a:rPr lang="zh-CN" altLang="en-US" sz="2200" dirty="0" smtClean="0"/>
              <a:t>。将应用程序看成是一个能够完成某项特定任务的功能模块，其中的每个子过程是实现某项具体操作的底层功能模块。在某个功能模块中，用数据结构描述待处理数据的组织形式，用算法描述具体的操作过程。</a:t>
            </a:r>
            <a:endParaRPr lang="en-US" altLang="zh-CN" sz="2200" dirty="0" smtClean="0"/>
          </a:p>
          <a:p>
            <a:pPr lvl="1"/>
            <a:r>
              <a:rPr lang="zh-CN" altLang="en-US" sz="2200" dirty="0" smtClean="0"/>
              <a:t>面对日趋复杂的应用，上述的开发思路暴露出一下几个方面的弱点：</a:t>
            </a:r>
            <a:endParaRPr lang="en-US" altLang="zh-CN" sz="2200" dirty="0" smtClean="0"/>
          </a:p>
          <a:p>
            <a:pPr lvl="2"/>
            <a:r>
              <a:rPr lang="en-US" altLang="zh-CN" sz="2200" dirty="0" smtClean="0">
                <a:solidFill>
                  <a:srgbClr val="FF0000"/>
                </a:solidFill>
              </a:rPr>
              <a:t>1</a:t>
            </a:r>
            <a:r>
              <a:rPr lang="zh-CN" altLang="en-US" sz="2200" dirty="0" smtClean="0">
                <a:solidFill>
                  <a:srgbClr val="FF0000"/>
                </a:solidFill>
              </a:rPr>
              <a:t>、审视问题域的视角</a:t>
            </a:r>
            <a:endParaRPr lang="en-US" altLang="zh-CN" sz="2200" dirty="0" smtClean="0">
              <a:solidFill>
                <a:srgbClr val="FF0000"/>
              </a:solidFill>
            </a:endParaRPr>
          </a:p>
          <a:p>
            <a:pPr lvl="2"/>
            <a:r>
              <a:rPr lang="en-US" altLang="zh-CN" sz="2200" dirty="0" smtClean="0">
                <a:solidFill>
                  <a:srgbClr val="FF0000"/>
                </a:solidFill>
              </a:rPr>
              <a:t>2</a:t>
            </a:r>
            <a:r>
              <a:rPr lang="zh-CN" altLang="en-US" sz="2200" dirty="0" smtClean="0">
                <a:solidFill>
                  <a:srgbClr val="FF0000"/>
                </a:solidFill>
              </a:rPr>
              <a:t>、抽象级别</a:t>
            </a:r>
            <a:endParaRPr lang="en-US" altLang="zh-CN" sz="2200" dirty="0" smtClean="0">
              <a:solidFill>
                <a:srgbClr val="FF0000"/>
              </a:solidFill>
            </a:endParaRPr>
          </a:p>
          <a:p>
            <a:pPr lvl="2"/>
            <a:r>
              <a:rPr lang="en-US" altLang="zh-CN" sz="2200" dirty="0" smtClean="0">
                <a:solidFill>
                  <a:srgbClr val="FF0000"/>
                </a:solidFill>
              </a:rPr>
              <a:t>3</a:t>
            </a:r>
            <a:r>
              <a:rPr lang="zh-CN" altLang="en-US" sz="2200" dirty="0" smtClean="0">
                <a:solidFill>
                  <a:srgbClr val="FF0000"/>
                </a:solidFill>
              </a:rPr>
              <a:t>、封装体</a:t>
            </a:r>
            <a:endParaRPr lang="en-US" altLang="zh-CN" sz="2200" dirty="0" smtClean="0">
              <a:solidFill>
                <a:srgbClr val="FF0000"/>
              </a:solidFill>
            </a:endParaRPr>
          </a:p>
          <a:p>
            <a:pPr lvl="2"/>
            <a:r>
              <a:rPr lang="en-US" altLang="zh-CN" sz="2200" dirty="0" smtClean="0">
                <a:solidFill>
                  <a:srgbClr val="FF0000"/>
                </a:solidFill>
              </a:rPr>
              <a:t>4</a:t>
            </a:r>
            <a:r>
              <a:rPr lang="zh-CN" altLang="en-US" sz="2200" dirty="0" smtClean="0">
                <a:solidFill>
                  <a:srgbClr val="FF0000"/>
                </a:solidFill>
              </a:rPr>
              <a:t>、可重用性</a:t>
            </a:r>
            <a:endParaRPr lang="zh-CN" altLang="en-US" sz="2200" dirty="0">
              <a:solidFill>
                <a:srgbClr val="FF0000"/>
              </a:solidFill>
            </a:endParaRP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11</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500"/>
                                        <p:tgtEl>
                                          <p:spTgt spid="3">
                                            <p:txEl>
                                              <p:pRg st="3" end="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ox(in)">
                                      <p:cBhvr>
                                        <p:cTn id="18" dur="500"/>
                                        <p:tgtEl>
                                          <p:spTgt spid="3">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ox(in)">
                                      <p:cBhvr>
                                        <p:cTn id="21" dur="500"/>
                                        <p:tgtEl>
                                          <p:spTgt spid="3">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box(in)">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二、面向对象设计</a:t>
            </a:r>
            <a:r>
              <a:rPr lang="en-US" altLang="zh-CN" sz="2800" dirty="0" smtClean="0"/>
              <a:t>——</a:t>
            </a:r>
            <a:r>
              <a:rPr lang="zh-CN" altLang="en-US" sz="2800" dirty="0" smtClean="0"/>
              <a:t>产生背景</a:t>
            </a:r>
            <a:endParaRPr lang="en-US" altLang="zh-CN" sz="2400" dirty="0" smtClean="0"/>
          </a:p>
          <a:p>
            <a:pPr lvl="1"/>
            <a:r>
              <a:rPr lang="en-US" altLang="zh-CN" sz="2400" dirty="0" smtClean="0">
                <a:solidFill>
                  <a:srgbClr val="FF0000"/>
                </a:solidFill>
              </a:rPr>
              <a:t>1</a:t>
            </a:r>
            <a:r>
              <a:rPr lang="zh-CN" altLang="en-US" sz="2400" dirty="0" smtClean="0">
                <a:solidFill>
                  <a:srgbClr val="FF0000"/>
                </a:solidFill>
              </a:rPr>
              <a:t>、审视问题域的视角</a:t>
            </a:r>
            <a:endParaRPr lang="en-US" altLang="zh-CN" sz="2400" dirty="0" smtClean="0">
              <a:solidFill>
                <a:srgbClr val="FF0000"/>
              </a:solidFill>
            </a:endParaRPr>
          </a:p>
          <a:p>
            <a:pPr lvl="2"/>
            <a:r>
              <a:rPr lang="zh-CN" altLang="en-US" sz="2200" dirty="0" smtClean="0"/>
              <a:t>既然计算机是用来帮助人类解决现实问题的帮手，那么能否可以利用某种表达方式让计算机直接模拟现实世界的环境，并用人类解决问题的习惯方法设计相应的应用程序，从而直接模拟人类解决问题的自然方式？？？</a:t>
            </a:r>
            <a:endParaRPr lang="en-US" altLang="zh-CN" sz="2200" dirty="0" smtClean="0"/>
          </a:p>
          <a:p>
            <a:pPr lvl="2"/>
            <a:r>
              <a:rPr lang="zh-CN" altLang="en-US" sz="2200" dirty="0" smtClean="0"/>
              <a:t>仔细分析可以发现：现实世界中存在的</a:t>
            </a:r>
            <a:r>
              <a:rPr lang="zh-CN" altLang="en-US" sz="2200" i="1" u="sng" dirty="0" smtClean="0">
                <a:solidFill>
                  <a:srgbClr val="FF0000"/>
                </a:solidFill>
              </a:rPr>
              <a:t>客体是问题域的主角</a:t>
            </a:r>
            <a:r>
              <a:rPr lang="zh-CN" altLang="en-US" sz="2200" dirty="0" smtClean="0"/>
              <a:t>。所谓客体：客观存在的对象实体和主观抽象的概念，是人类观察问题和解决问题的主要目标。如：树木（树种、树干粗细、树高等属性；发芽、落叶、一天天长高等行为）。</a:t>
            </a:r>
            <a:r>
              <a:rPr lang="zh-CN" altLang="en-US" sz="2200" i="1" u="sng" dirty="0" smtClean="0">
                <a:solidFill>
                  <a:srgbClr val="FF0000"/>
                </a:solidFill>
              </a:rPr>
              <a:t>每个客体可以用属性和行为描述。</a:t>
            </a:r>
            <a:endParaRPr lang="zh-CN" altLang="en-US" sz="2200" i="1" u="sng" dirty="0">
              <a:solidFill>
                <a:srgbClr val="FF0000"/>
              </a:solidFill>
            </a:endParaRP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12</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ox(in)">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二、面向对象设计</a:t>
            </a:r>
            <a:r>
              <a:rPr lang="en-US" altLang="zh-CN" sz="2800" dirty="0" smtClean="0"/>
              <a:t>——</a:t>
            </a:r>
            <a:r>
              <a:rPr lang="zh-CN" altLang="en-US" sz="2800" dirty="0" smtClean="0"/>
              <a:t>产生背景</a:t>
            </a:r>
            <a:endParaRPr lang="en-US" altLang="zh-CN" sz="2400" dirty="0" smtClean="0"/>
          </a:p>
          <a:p>
            <a:pPr lvl="1"/>
            <a:r>
              <a:rPr lang="en-US" altLang="zh-CN" sz="2400" dirty="0" smtClean="0">
                <a:solidFill>
                  <a:srgbClr val="FF0000"/>
                </a:solidFill>
              </a:rPr>
              <a:t>1</a:t>
            </a:r>
            <a:r>
              <a:rPr lang="zh-CN" altLang="en-US" sz="2400" dirty="0" smtClean="0">
                <a:solidFill>
                  <a:srgbClr val="FF0000"/>
                </a:solidFill>
              </a:rPr>
              <a:t>、审视问题域的视角</a:t>
            </a:r>
            <a:r>
              <a:rPr lang="zh-CN" altLang="en-US" sz="2400" dirty="0" smtClean="0"/>
              <a:t>（续）</a:t>
            </a:r>
            <a:endParaRPr lang="en-US" altLang="zh-CN" sz="2400" dirty="0" smtClean="0"/>
          </a:p>
          <a:p>
            <a:pPr lvl="2"/>
            <a:r>
              <a:rPr lang="zh-CN" altLang="en-US" sz="2200" dirty="0" smtClean="0"/>
              <a:t>通常，人类观察问题的视角是这些客体，客体的属性反映客体在某一时刻的状态，客体的行为反映客体所能够从事的操作。这些操作附着在客体之上并能用来设置、改变和获取客体的状态。</a:t>
            </a:r>
            <a:endParaRPr lang="en-US" altLang="zh-CN" sz="2200" dirty="0" smtClean="0"/>
          </a:p>
          <a:p>
            <a:pPr lvl="2"/>
            <a:r>
              <a:rPr lang="zh-CN" altLang="en-US" sz="2200" dirty="0" smtClean="0"/>
              <a:t>任何问题域都有一系列的客体，因此解决问题的基本方式是让这些客体之间相互驱动、相互作用，最终使得每个客体按照设计者的意愿改变其属性状态</a:t>
            </a: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13</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ox(in)">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二、面向对象设计</a:t>
            </a:r>
            <a:r>
              <a:rPr lang="en-US" altLang="zh-CN" sz="2800" dirty="0" smtClean="0"/>
              <a:t>——</a:t>
            </a:r>
            <a:r>
              <a:rPr lang="zh-CN" altLang="en-US" sz="2800" dirty="0" smtClean="0"/>
              <a:t>产生背景</a:t>
            </a:r>
            <a:endParaRPr lang="en-US" altLang="zh-CN" sz="2400" dirty="0" smtClean="0"/>
          </a:p>
          <a:p>
            <a:pPr lvl="1"/>
            <a:r>
              <a:rPr lang="en-US" altLang="zh-CN" sz="2400" dirty="0" smtClean="0">
                <a:solidFill>
                  <a:srgbClr val="FF0000"/>
                </a:solidFill>
              </a:rPr>
              <a:t>1</a:t>
            </a:r>
            <a:r>
              <a:rPr lang="zh-CN" altLang="en-US" sz="2400" dirty="0" smtClean="0">
                <a:solidFill>
                  <a:srgbClr val="FF0000"/>
                </a:solidFill>
              </a:rPr>
              <a:t>、审视问题域的视角</a:t>
            </a:r>
            <a:r>
              <a:rPr lang="zh-CN" altLang="en-US" sz="2400" dirty="0" smtClean="0"/>
              <a:t>（续）</a:t>
            </a:r>
            <a:endParaRPr lang="en-US" altLang="zh-CN" sz="2400" dirty="0" smtClean="0"/>
          </a:p>
          <a:p>
            <a:pPr lvl="2"/>
            <a:r>
              <a:rPr lang="zh-CN" altLang="en-US" sz="2200" dirty="0" smtClean="0"/>
              <a:t>结构化设计方法所采用的设计思路不是将客体作为一个整体，而是将依附于客体之上的行为抽取出来，以功能为目标来设计构造系统。</a:t>
            </a:r>
            <a:endParaRPr lang="en-US" altLang="zh-CN" sz="2200" dirty="0" smtClean="0"/>
          </a:p>
          <a:p>
            <a:pPr lvl="2"/>
            <a:r>
              <a:rPr lang="zh-CN" altLang="en-US" sz="2200" dirty="0" smtClean="0"/>
              <a:t>这种做法</a:t>
            </a:r>
            <a:r>
              <a:rPr lang="zh-CN" altLang="en-US" sz="2200" i="1" u="sng" dirty="0" smtClean="0">
                <a:solidFill>
                  <a:srgbClr val="FF0000"/>
                </a:solidFill>
              </a:rPr>
              <a:t>将客体构成的现实世界映射到由功能模块组成的解空间中</a:t>
            </a:r>
            <a:r>
              <a:rPr lang="zh-CN" altLang="en-US" sz="2200" dirty="0" smtClean="0"/>
              <a:t>。这种变换不仅增加了程序设计的复杂程度，而且违背了人类观察问题和解决问题的基本思路。</a:t>
            </a:r>
            <a:endParaRPr lang="en-US" altLang="zh-CN" sz="2200" dirty="0" smtClean="0"/>
          </a:p>
          <a:p>
            <a:pPr lvl="2"/>
            <a:r>
              <a:rPr lang="zh-CN" altLang="en-US" sz="2200" dirty="0" smtClean="0"/>
              <a:t>另外，仔细考虑会发现，任何一个问题域中，客体是稳定的，而行为是不稳定的。例如，对于一个图书馆来说，不论大型、小型、国内、国外，都有图书这个客体，但是管理图书的方式确有很大差异。</a:t>
            </a: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14</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ox(in)">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ox(in)">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二、面向对象设计</a:t>
            </a:r>
            <a:r>
              <a:rPr lang="en-US" altLang="zh-CN" sz="2800" dirty="0" smtClean="0"/>
              <a:t>——</a:t>
            </a:r>
            <a:r>
              <a:rPr lang="zh-CN" altLang="en-US" sz="2800" dirty="0" smtClean="0"/>
              <a:t>产生背景</a:t>
            </a:r>
            <a:endParaRPr lang="en-US" altLang="zh-CN" sz="2400" dirty="0" smtClean="0"/>
          </a:p>
          <a:p>
            <a:pPr lvl="1"/>
            <a:r>
              <a:rPr lang="en-US" altLang="zh-CN" sz="2400" dirty="0" smtClean="0">
                <a:solidFill>
                  <a:srgbClr val="FF0000"/>
                </a:solidFill>
              </a:rPr>
              <a:t>1</a:t>
            </a:r>
            <a:r>
              <a:rPr lang="zh-CN" altLang="en-US" sz="2400" dirty="0" smtClean="0">
                <a:solidFill>
                  <a:srgbClr val="FF0000"/>
                </a:solidFill>
              </a:rPr>
              <a:t>、审视问题域的视角</a:t>
            </a:r>
            <a:r>
              <a:rPr lang="zh-CN" altLang="en-US" sz="2400" dirty="0" smtClean="0"/>
              <a:t>（续）</a:t>
            </a:r>
            <a:endParaRPr lang="en-US" altLang="zh-CN" sz="2400" dirty="0" smtClean="0"/>
          </a:p>
          <a:p>
            <a:pPr lvl="2"/>
            <a:r>
              <a:rPr lang="zh-CN" altLang="en-US" sz="2200" dirty="0" smtClean="0"/>
              <a:t>结构化设计方法将审视问题的视角定位于不稳定的操作上，并将描述客体的属性和行为分开，使得应用程序的维护、扩展相当困难。</a:t>
            </a:r>
            <a:endParaRPr lang="en-US" altLang="zh-CN" sz="2200" dirty="0" smtClean="0"/>
          </a:p>
          <a:p>
            <a:pPr lvl="2"/>
            <a:endParaRPr lang="en-US" altLang="zh-CN" sz="2200" dirty="0" smtClean="0"/>
          </a:p>
          <a:p>
            <a:pPr lvl="2"/>
            <a:r>
              <a:rPr lang="zh-CN" altLang="en-US" sz="2200" dirty="0" smtClean="0"/>
              <a:t>将利用计算机解决问题的基本方法统一到人类解决问题的习惯方法上，彻底改变软件设计方法与人类解决问题的常规方式扭曲的现象迫在眉睫。</a:t>
            </a: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15</a:t>
            </a:fld>
            <a:endParaRPr lang="en-US" altLang="zh-CN" dirty="0"/>
          </a:p>
        </p:txBody>
      </p:sp>
      <p:sp>
        <p:nvSpPr>
          <p:cNvPr id="5" name="椭圆形标注 4"/>
          <p:cNvSpPr/>
          <p:nvPr/>
        </p:nvSpPr>
        <p:spPr bwMode="auto">
          <a:xfrm>
            <a:off x="4214810" y="5357826"/>
            <a:ext cx="4429156" cy="642942"/>
          </a:xfrm>
          <a:prstGeom prst="wedgeEllipseCallout">
            <a:avLst>
              <a:gd name="adj1" fmla="val -53496"/>
              <a:gd name="adj2" fmla="val -13004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cs typeface="Times New Roman" pitchFamily="18" charset="0"/>
            </a:endParaRPr>
          </a:p>
        </p:txBody>
      </p:sp>
      <p:sp>
        <p:nvSpPr>
          <p:cNvPr id="6" name="TextBox 5"/>
          <p:cNvSpPr txBox="1"/>
          <p:nvPr/>
        </p:nvSpPr>
        <p:spPr>
          <a:xfrm>
            <a:off x="4429124" y="5500702"/>
            <a:ext cx="4071966" cy="400110"/>
          </a:xfrm>
          <a:prstGeom prst="rect">
            <a:avLst/>
          </a:prstGeom>
          <a:noFill/>
        </p:spPr>
        <p:txBody>
          <a:bodyPr wrap="square" rtlCol="0">
            <a:spAutoFit/>
          </a:bodyPr>
          <a:lstStyle/>
          <a:p>
            <a:r>
              <a:rPr lang="zh-CN" altLang="en-US" sz="2000" b="1" dirty="0" smtClean="0">
                <a:solidFill>
                  <a:srgbClr val="FF0000"/>
                </a:solidFill>
              </a:rPr>
              <a:t>这是提出面向对象设计的首要原因</a:t>
            </a:r>
            <a:endParaRPr lang="zh-CN" altLang="en-US"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ox(in)">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二、面向对象设计</a:t>
            </a:r>
            <a:r>
              <a:rPr lang="en-US" altLang="zh-CN" sz="2800" dirty="0" smtClean="0"/>
              <a:t>——</a:t>
            </a:r>
            <a:r>
              <a:rPr lang="zh-CN" altLang="en-US" sz="2800" dirty="0" smtClean="0"/>
              <a:t>产生背景</a:t>
            </a:r>
            <a:endParaRPr lang="en-US" altLang="zh-CN" sz="2400" dirty="0" smtClean="0"/>
          </a:p>
          <a:p>
            <a:pPr lvl="1"/>
            <a:r>
              <a:rPr lang="en-US" altLang="zh-CN" sz="2400" dirty="0" smtClean="0">
                <a:solidFill>
                  <a:srgbClr val="FF0000"/>
                </a:solidFill>
              </a:rPr>
              <a:t>2</a:t>
            </a:r>
            <a:r>
              <a:rPr lang="zh-CN" altLang="en-US" sz="2400" dirty="0" smtClean="0">
                <a:solidFill>
                  <a:srgbClr val="FF0000"/>
                </a:solidFill>
              </a:rPr>
              <a:t>、抽象级别</a:t>
            </a:r>
            <a:endParaRPr lang="en-US" altLang="zh-CN" sz="2400" dirty="0" smtClean="0">
              <a:solidFill>
                <a:srgbClr val="FF0000"/>
              </a:solidFill>
            </a:endParaRPr>
          </a:p>
          <a:p>
            <a:pPr lvl="2"/>
            <a:r>
              <a:rPr lang="zh-CN" altLang="en-US" sz="2200" dirty="0" smtClean="0"/>
              <a:t>抽象是人类解决问题的基本法宝。</a:t>
            </a:r>
            <a:endParaRPr lang="en-US" altLang="zh-CN" sz="2200" dirty="0" smtClean="0"/>
          </a:p>
          <a:p>
            <a:pPr lvl="2"/>
            <a:r>
              <a:rPr lang="zh-CN" altLang="en-US" sz="2200" dirty="0" smtClean="0"/>
              <a:t>抽象包括：</a:t>
            </a:r>
            <a:r>
              <a:rPr lang="zh-CN" altLang="en-US" sz="2200" dirty="0" smtClean="0">
                <a:solidFill>
                  <a:srgbClr val="FF0000"/>
                </a:solidFill>
              </a:rPr>
              <a:t>过程抽象 </a:t>
            </a:r>
            <a:r>
              <a:rPr lang="zh-CN" altLang="en-US" sz="2200" dirty="0" smtClean="0"/>
              <a:t>和 </a:t>
            </a:r>
            <a:r>
              <a:rPr lang="zh-CN" altLang="en-US" sz="2200" dirty="0" smtClean="0">
                <a:solidFill>
                  <a:srgbClr val="FF0000"/>
                </a:solidFill>
              </a:rPr>
              <a:t>数据抽象</a:t>
            </a: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16</a:t>
            </a:fld>
            <a:endParaRPr lang="en-US" altLang="zh-CN" dirty="0"/>
          </a:p>
        </p:txBody>
      </p:sp>
      <p:grpSp>
        <p:nvGrpSpPr>
          <p:cNvPr id="7" name="组合 6"/>
          <p:cNvGrpSpPr/>
          <p:nvPr/>
        </p:nvGrpSpPr>
        <p:grpSpPr>
          <a:xfrm>
            <a:off x="1785918" y="3643314"/>
            <a:ext cx="1785950" cy="500066"/>
            <a:chOff x="1785918" y="3643314"/>
            <a:chExt cx="1785950" cy="500066"/>
          </a:xfrm>
        </p:grpSpPr>
        <p:sp>
          <p:nvSpPr>
            <p:cNvPr id="5" name="线形标注 1 4"/>
            <p:cNvSpPr/>
            <p:nvPr/>
          </p:nvSpPr>
          <p:spPr bwMode="auto">
            <a:xfrm>
              <a:off x="1785918" y="3643314"/>
              <a:ext cx="1785950" cy="500066"/>
            </a:xfrm>
            <a:prstGeom prst="borderCallout1">
              <a:avLst>
                <a:gd name="adj1" fmla="val 18750"/>
                <a:gd name="adj2" fmla="val 86653"/>
                <a:gd name="adj3" fmla="val -109459"/>
                <a:gd name="adj4" fmla="val 122252"/>
              </a:avLst>
            </a:prstGeom>
            <a:ln>
              <a:headEnd type="none" w="sm" len="sm"/>
              <a:tailEnd type="none" w="sm" len="sm"/>
            </a:ln>
          </p:spPr>
          <p:style>
            <a:lnRef idx="1">
              <a:schemeClr val="dk1"/>
            </a:lnRef>
            <a:fillRef idx="3">
              <a:schemeClr val="dk1"/>
            </a:fillRef>
            <a:effectRef idx="2">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normalizeH="0" baseline="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charset="0"/>
                <a:cs typeface="Times New Roman" pitchFamily="18" charset="0"/>
              </a:endParaRPr>
            </a:p>
          </p:txBody>
        </p:sp>
        <p:sp>
          <p:nvSpPr>
            <p:cNvPr id="6" name="TextBox 5"/>
            <p:cNvSpPr txBox="1"/>
            <p:nvPr/>
          </p:nvSpPr>
          <p:spPr>
            <a:xfrm>
              <a:off x="1785918" y="3681715"/>
              <a:ext cx="1785950" cy="461665"/>
            </a:xfrm>
            <a:prstGeom prst="rect">
              <a:avLst/>
            </a:prstGeom>
            <a:noFill/>
          </p:spPr>
          <p:txBody>
            <a:bodyPr wrap="square" rtlCol="0">
              <a:spAutoFit/>
            </a:bodyPr>
            <a:lstStyle/>
            <a:p>
              <a:r>
                <a:rPr lang="zh-CN" altLang="en-US" sz="2400"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结构化设计</a:t>
              </a:r>
              <a:endParaRPr lang="zh-CN" altLang="en-US" sz="2400"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grpSp>
      <p:grpSp>
        <p:nvGrpSpPr>
          <p:cNvPr id="8" name="组合 7"/>
          <p:cNvGrpSpPr/>
          <p:nvPr/>
        </p:nvGrpSpPr>
        <p:grpSpPr>
          <a:xfrm>
            <a:off x="5643570" y="3643314"/>
            <a:ext cx="2214578" cy="500066"/>
            <a:chOff x="1785918" y="3643314"/>
            <a:chExt cx="2214578" cy="500066"/>
          </a:xfrm>
        </p:grpSpPr>
        <p:sp>
          <p:nvSpPr>
            <p:cNvPr id="9" name="线形标注 1 8"/>
            <p:cNvSpPr/>
            <p:nvPr/>
          </p:nvSpPr>
          <p:spPr bwMode="auto">
            <a:xfrm>
              <a:off x="1785918" y="3643314"/>
              <a:ext cx="2214578" cy="500066"/>
            </a:xfrm>
            <a:prstGeom prst="borderCallout1">
              <a:avLst>
                <a:gd name="adj1" fmla="val 1871"/>
                <a:gd name="adj2" fmla="val 63023"/>
                <a:gd name="adj3" fmla="val -103833"/>
                <a:gd name="adj4" fmla="val 15914"/>
              </a:avLst>
            </a:prstGeom>
            <a:ln>
              <a:headEnd type="none" w="sm" len="sm"/>
              <a:tailEnd type="none" w="sm" len="sm"/>
            </a:ln>
          </p:spPr>
          <p:style>
            <a:lnRef idx="1">
              <a:schemeClr val="dk1"/>
            </a:lnRef>
            <a:fillRef idx="3">
              <a:schemeClr val="dk1"/>
            </a:fillRef>
            <a:effectRef idx="2">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1" i="0" u="none" strike="noStrike" normalizeH="0" baseline="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Arial" charset="0"/>
                <a:cs typeface="Times New Roman" pitchFamily="18" charset="0"/>
              </a:endParaRPr>
            </a:p>
          </p:txBody>
        </p:sp>
        <p:sp>
          <p:nvSpPr>
            <p:cNvPr id="10" name="TextBox 9"/>
            <p:cNvSpPr txBox="1"/>
            <p:nvPr/>
          </p:nvSpPr>
          <p:spPr>
            <a:xfrm>
              <a:off x="1857356" y="3681715"/>
              <a:ext cx="2071702" cy="461665"/>
            </a:xfrm>
            <a:prstGeom prst="rect">
              <a:avLst/>
            </a:prstGeom>
            <a:noFill/>
          </p:spPr>
          <p:txBody>
            <a:bodyPr wrap="square" rtlCol="0">
              <a:spAutoFit/>
            </a:bodyPr>
            <a:lstStyle/>
            <a:p>
              <a:r>
                <a:rPr lang="zh-CN" altLang="en-US" sz="2400"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面向对象设计</a:t>
              </a:r>
              <a:endParaRPr lang="zh-CN" altLang="en-US" sz="2400"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500990" cy="4929222"/>
          </a:xfrm>
        </p:spPr>
        <p:txBody>
          <a:bodyPr/>
          <a:lstStyle/>
          <a:p>
            <a:pPr marL="342900" lvl="1" indent="-342900">
              <a:buNone/>
            </a:pPr>
            <a:r>
              <a:rPr lang="zh-CN" altLang="en-US" sz="2800" dirty="0" smtClean="0"/>
              <a:t>二、面向对象设计</a:t>
            </a:r>
            <a:r>
              <a:rPr lang="en-US" altLang="zh-CN" sz="2800" dirty="0" smtClean="0"/>
              <a:t>——</a:t>
            </a:r>
            <a:r>
              <a:rPr lang="zh-CN" altLang="en-US" sz="2800" dirty="0" smtClean="0"/>
              <a:t>产生背景</a:t>
            </a:r>
            <a:endParaRPr lang="en-US" altLang="zh-CN" sz="2400" dirty="0" smtClean="0"/>
          </a:p>
          <a:p>
            <a:pPr lvl="1"/>
            <a:r>
              <a:rPr lang="en-US" altLang="zh-CN" sz="2400" dirty="0" smtClean="0">
                <a:solidFill>
                  <a:srgbClr val="FF0000"/>
                </a:solidFill>
              </a:rPr>
              <a:t>3</a:t>
            </a:r>
            <a:r>
              <a:rPr lang="zh-CN" altLang="en-US" sz="2400" dirty="0" smtClean="0">
                <a:solidFill>
                  <a:srgbClr val="FF0000"/>
                </a:solidFill>
              </a:rPr>
              <a:t>、封装体</a:t>
            </a:r>
            <a:endParaRPr lang="en-US" altLang="zh-CN" sz="2400" dirty="0" smtClean="0">
              <a:solidFill>
                <a:srgbClr val="FF0000"/>
              </a:solidFill>
            </a:endParaRPr>
          </a:p>
          <a:p>
            <a:pPr lvl="2"/>
            <a:r>
              <a:rPr lang="zh-CN" altLang="en-US" sz="2200" dirty="0" smtClean="0"/>
              <a:t>封装是将现实世界中存在的某个客体的</a:t>
            </a:r>
            <a:r>
              <a:rPr lang="zh-CN" altLang="en-US" sz="2200" dirty="0" smtClean="0">
                <a:solidFill>
                  <a:srgbClr val="FF0000"/>
                </a:solidFill>
              </a:rPr>
              <a:t>属性和行为</a:t>
            </a:r>
            <a:r>
              <a:rPr lang="zh-CN" altLang="en-US" sz="2200" dirty="0" smtClean="0"/>
              <a:t>绑定在一起，放置在一个逻辑单元中。该逻辑单元负责将所描述的客体属性隐藏起来，外界对客体内部属性的所有访问只能通过提供的用户接口实现。</a:t>
            </a:r>
            <a:endParaRPr lang="en-US" altLang="zh-CN" sz="2200" dirty="0" smtClean="0"/>
          </a:p>
          <a:p>
            <a:pPr lvl="2"/>
            <a:r>
              <a:rPr lang="zh-CN" altLang="en-US" sz="2200" dirty="0" smtClean="0"/>
              <a:t>既有保护作用，又可提高系统的可维护性（只要用户接口不改变，任何封装体内的改变都不会对软件系统的其他部分产生影响）</a:t>
            </a:r>
            <a:endParaRPr lang="en-US" altLang="zh-CN" sz="2200" dirty="0" smtClean="0"/>
          </a:p>
          <a:p>
            <a:pPr lvl="2"/>
            <a:r>
              <a:rPr lang="zh-CN" altLang="en-US" sz="2200" dirty="0" smtClean="0"/>
              <a:t>结构化设计没有做到客体的整体封装，只封装了功能模块，而每个功能模块可随意地对没有任何保护能力的客体属性实施操作。同时由于属性与行为分离，一旦属性或行为发生变化，就有可能对整个系统产生影响。</a:t>
            </a:r>
            <a:endParaRPr lang="zh-CN" altLang="en-US" sz="2200" dirty="0" smtClean="0">
              <a:solidFill>
                <a:srgbClr val="FF0000"/>
              </a:solidFill>
            </a:endParaRP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17</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a:t>
            </a:r>
            <a:r>
              <a:rPr lang="zh-CN" altLang="en-US" dirty="0" smtClean="0"/>
              <a:t>、</a:t>
            </a:r>
            <a:r>
              <a:rPr lang="en-US" altLang="zh-CN" dirty="0" smtClean="0">
                <a:latin typeface="黑体" pitchFamily="2" charset="-122"/>
                <a:cs typeface="Times New Roman" pitchFamily="18" charset="0"/>
              </a:rPr>
              <a:t> *</a:t>
            </a:r>
            <a:r>
              <a:rPr lang="zh-CN" altLang="en-US" dirty="0" smtClean="0">
                <a:latin typeface="黑体" pitchFamily="2" charset="-122"/>
                <a:cs typeface="Times New Roman" pitchFamily="18" charset="0"/>
              </a:rPr>
              <a:t>结构化设计 </a:t>
            </a:r>
            <a:r>
              <a:rPr lang="en-US" altLang="zh-CN" dirty="0" smtClean="0">
                <a:latin typeface="黑体" pitchFamily="2" charset="-122"/>
                <a:cs typeface="Times New Roman" pitchFamily="18" charset="0"/>
              </a:rPr>
              <a:t>VS </a:t>
            </a:r>
            <a:r>
              <a:rPr lang="zh-CN" altLang="en-US" dirty="0" smtClean="0">
                <a:latin typeface="黑体" pitchFamily="2" charset="-122"/>
                <a:cs typeface="Times New Roman" pitchFamily="18" charset="0"/>
              </a:rPr>
              <a:t>面向对象设计</a:t>
            </a:r>
            <a:endParaRPr lang="zh-CN" altLang="en-US" dirty="0"/>
          </a:p>
        </p:txBody>
      </p:sp>
      <p:sp>
        <p:nvSpPr>
          <p:cNvPr id="3" name="内容占位符 2"/>
          <p:cNvSpPr>
            <a:spLocks noGrp="1"/>
          </p:cNvSpPr>
          <p:nvPr>
            <p:ph idx="1"/>
          </p:nvPr>
        </p:nvSpPr>
        <p:spPr>
          <a:xfrm>
            <a:off x="928662" y="1357298"/>
            <a:ext cx="7786742" cy="4929222"/>
          </a:xfrm>
        </p:spPr>
        <p:txBody>
          <a:bodyPr/>
          <a:lstStyle/>
          <a:p>
            <a:pPr marL="342900" lvl="1" indent="-342900">
              <a:buNone/>
            </a:pPr>
            <a:r>
              <a:rPr lang="zh-CN" altLang="en-US" sz="2800" dirty="0" smtClean="0"/>
              <a:t>二、面向对象设计</a:t>
            </a:r>
            <a:r>
              <a:rPr lang="en-US" altLang="zh-CN" sz="2800" dirty="0" smtClean="0"/>
              <a:t>——</a:t>
            </a:r>
            <a:r>
              <a:rPr lang="zh-CN" altLang="en-US" sz="2800" dirty="0" smtClean="0"/>
              <a:t>产生背景</a:t>
            </a:r>
            <a:endParaRPr lang="en-US" altLang="zh-CN" sz="2400" dirty="0" smtClean="0"/>
          </a:p>
          <a:p>
            <a:pPr lvl="1"/>
            <a:r>
              <a:rPr lang="en-US" altLang="zh-CN" sz="2400" dirty="0" smtClean="0">
                <a:solidFill>
                  <a:srgbClr val="FF0000"/>
                </a:solidFill>
              </a:rPr>
              <a:t>4</a:t>
            </a:r>
            <a:r>
              <a:rPr lang="zh-CN" altLang="en-US" sz="2400" dirty="0" smtClean="0">
                <a:solidFill>
                  <a:srgbClr val="FF0000"/>
                </a:solidFill>
              </a:rPr>
              <a:t>、可重用性</a:t>
            </a:r>
            <a:endParaRPr lang="en-US" altLang="zh-CN" sz="2400" dirty="0" smtClean="0">
              <a:solidFill>
                <a:srgbClr val="FF0000"/>
              </a:solidFill>
            </a:endParaRPr>
          </a:p>
          <a:p>
            <a:pPr lvl="2"/>
            <a:r>
              <a:rPr lang="zh-CN" altLang="en-US" sz="2200" dirty="0" smtClean="0"/>
              <a:t>人们追求开发更多的、具有通用性的可重用构件。即从过去的语句级编写过程发展到现在的构件组装。</a:t>
            </a:r>
            <a:endParaRPr lang="en-US" altLang="zh-CN" sz="2200" dirty="0" smtClean="0"/>
          </a:p>
          <a:p>
            <a:pPr lvl="2"/>
            <a:r>
              <a:rPr lang="zh-CN" altLang="en-US" sz="2200" dirty="0" smtClean="0"/>
              <a:t>结构化设计的基本单元是模块，每个模块只是实现特定功能的过程描述，因此可重用单位只能是模块（如</a:t>
            </a:r>
            <a:r>
              <a:rPr lang="en-US" altLang="zh-CN" sz="2200" dirty="0" smtClean="0"/>
              <a:t>C</a:t>
            </a:r>
            <a:r>
              <a:rPr lang="zh-CN" altLang="en-US" sz="2200" dirty="0" smtClean="0"/>
              <a:t>语言中的大量标准函数）。这样的重用粒度不够，而且当参与某项操作的数据类型发生变化时，就不能够再使用那些函数了。</a:t>
            </a:r>
            <a:endParaRPr lang="en-US" altLang="zh-CN" sz="2200" dirty="0" smtClean="0"/>
          </a:p>
          <a:p>
            <a:pPr lvl="2"/>
            <a:endParaRPr lang="en-US" altLang="zh-CN" sz="2200" dirty="0" smtClean="0"/>
          </a:p>
          <a:p>
            <a:pPr lvl="2"/>
            <a:r>
              <a:rPr lang="zh-CN" altLang="en-US" sz="2200" dirty="0" smtClean="0"/>
              <a:t>更大粒度的可重用构件是我们所需要的。</a:t>
            </a:r>
          </a:p>
          <a:p>
            <a:pPr lvl="2">
              <a:buNone/>
            </a:pPr>
            <a:endParaRPr lang="zh-CN" altLang="en-US" sz="2200" dirty="0" smtClean="0">
              <a:solidFill>
                <a:srgbClr val="FF0000"/>
              </a:solidFill>
            </a:endParaRPr>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18</a:t>
            </a:fld>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685800" y="228600"/>
            <a:ext cx="8243888" cy="990600"/>
          </a:xfrm>
        </p:spPr>
        <p:txBody>
          <a:bodyPr/>
          <a:lstStyle/>
          <a:p>
            <a:r>
              <a:rPr lang="en-US" altLang="zh-CN" sz="3600" smtClean="0">
                <a:ea typeface="宋体" charset="-122"/>
              </a:rPr>
              <a:t>*</a:t>
            </a:r>
            <a:r>
              <a:rPr lang="zh-CN" altLang="en-US" sz="3600" smtClean="0">
                <a:ea typeface="宋体" charset="-122"/>
              </a:rPr>
              <a:t>理解面向对象：</a:t>
            </a:r>
            <a:r>
              <a:rPr lang="zh-CN" altLang="en-US" sz="3200" smtClean="0">
                <a:ea typeface="宋体" charset="-122"/>
              </a:rPr>
              <a:t>一、由编程语言直观了解</a:t>
            </a:r>
          </a:p>
        </p:txBody>
      </p:sp>
      <p:sp>
        <p:nvSpPr>
          <p:cNvPr id="3" name="内容占位符 2"/>
          <p:cNvSpPr>
            <a:spLocks noGrp="1"/>
          </p:cNvSpPr>
          <p:nvPr>
            <p:ph idx="1"/>
          </p:nvPr>
        </p:nvSpPr>
        <p:spPr/>
        <p:txBody>
          <a:bodyPr/>
          <a:lstStyle/>
          <a:p>
            <a:pPr lvl="1"/>
            <a:r>
              <a:rPr lang="zh-CN" altLang="en-US" dirty="0" smtClean="0">
                <a:ea typeface="宋体" charset="-122"/>
              </a:rPr>
              <a:t>各种面向对象编程语言相互有别，但都能看到它们对面向对象三大机制的支持，即：封装、继承、多态：</a:t>
            </a:r>
          </a:p>
          <a:p>
            <a:pPr lvl="2"/>
            <a:r>
              <a:rPr lang="zh-CN" altLang="en-US" b="1" dirty="0" smtClean="0">
                <a:solidFill>
                  <a:srgbClr val="FF0000"/>
                </a:solidFill>
                <a:ea typeface="宋体" charset="-122"/>
              </a:rPr>
              <a:t>封装：隐藏内部实现</a:t>
            </a:r>
          </a:p>
          <a:p>
            <a:pPr lvl="2"/>
            <a:r>
              <a:rPr lang="zh-CN" altLang="en-US" b="1" dirty="0" smtClean="0">
                <a:solidFill>
                  <a:srgbClr val="FF0000"/>
                </a:solidFill>
                <a:ea typeface="宋体" charset="-122"/>
              </a:rPr>
              <a:t>继承：复用现有代码</a:t>
            </a:r>
          </a:p>
          <a:p>
            <a:pPr lvl="2"/>
            <a:r>
              <a:rPr lang="zh-CN" altLang="en-US" b="1" dirty="0" smtClean="0">
                <a:solidFill>
                  <a:srgbClr val="FF0000"/>
                </a:solidFill>
                <a:ea typeface="宋体" charset="-122"/>
              </a:rPr>
              <a:t>多态：改写对象行为</a:t>
            </a:r>
            <a:endParaRPr lang="en-US" altLang="zh-CN" b="1" dirty="0" smtClean="0">
              <a:solidFill>
                <a:srgbClr val="FF0000"/>
              </a:solidFill>
              <a:ea typeface="宋体" charset="-122"/>
            </a:endParaRPr>
          </a:p>
          <a:p>
            <a:pPr lvl="1"/>
            <a:r>
              <a:rPr lang="zh-CN" altLang="en-US" dirty="0" smtClean="0">
                <a:ea typeface="宋体" charset="-122"/>
              </a:rPr>
              <a:t>使用面向对象编程语言，可以推动程序员以面向对象的思维来思考软件设计结构，从而强化面向对象的编程范式。</a:t>
            </a:r>
          </a:p>
        </p:txBody>
      </p:sp>
      <p:sp>
        <p:nvSpPr>
          <p:cNvPr id="19460" name="灯片编号占位符 3"/>
          <p:cNvSpPr>
            <a:spLocks noGrp="1"/>
          </p:cNvSpPr>
          <p:nvPr>
            <p:ph type="sldNum" sz="quarter" idx="12"/>
          </p:nvPr>
        </p:nvSpPr>
        <p:spPr>
          <a:noFill/>
        </p:spPr>
        <p:txBody>
          <a:bodyPr/>
          <a:lstStyle/>
          <a:p>
            <a:fld id="{5E9129C0-6583-42B8-87B1-6AEC08FEFB82}" type="slidenum">
              <a:rPr lang="en-US" altLang="zh-CN" smtClean="0"/>
              <a:pPr/>
              <a:t>19</a:t>
            </a:fld>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en-US" altLang="zh-CN" sz="3600" smtClean="0">
                <a:ea typeface="宋体" charset="-122"/>
              </a:rPr>
              <a:t>*</a:t>
            </a:r>
            <a:r>
              <a:rPr lang="zh-CN" altLang="en-US" sz="3600" smtClean="0">
                <a:ea typeface="宋体" charset="-122"/>
              </a:rPr>
              <a:t>二、但</a:t>
            </a:r>
            <a:r>
              <a:rPr lang="en-US" altLang="zh-CN" sz="3600" smtClean="0">
                <a:ea typeface="宋体" charset="-122"/>
              </a:rPr>
              <a:t>OOPL</a:t>
            </a:r>
            <a:r>
              <a:rPr lang="zh-CN" altLang="en-US" sz="3600" smtClean="0">
                <a:ea typeface="宋体" charset="-122"/>
              </a:rPr>
              <a:t>并非面向对象的全部</a:t>
            </a:r>
          </a:p>
        </p:txBody>
      </p:sp>
      <p:sp>
        <p:nvSpPr>
          <p:cNvPr id="3" name="内容占位符 2"/>
          <p:cNvSpPr>
            <a:spLocks noGrp="1"/>
          </p:cNvSpPr>
          <p:nvPr>
            <p:ph idx="1"/>
          </p:nvPr>
        </p:nvSpPr>
        <p:spPr/>
        <p:txBody>
          <a:bodyPr/>
          <a:lstStyle/>
          <a:p>
            <a:pPr>
              <a:defRPr/>
            </a:pPr>
            <a:r>
              <a:rPr lang="zh-CN" altLang="en-US" sz="2400" dirty="0" smtClean="0">
                <a:ea typeface="宋体" pitchFamily="2" charset="-122"/>
              </a:rPr>
              <a:t>通过面向对象编程语言（</a:t>
            </a:r>
            <a:r>
              <a:rPr lang="en-US" altLang="zh-CN" sz="2400" dirty="0" smtClean="0">
                <a:ea typeface="宋体" pitchFamily="2" charset="-122"/>
              </a:rPr>
              <a:t>OOPL</a:t>
            </a:r>
            <a:r>
              <a:rPr lang="zh-CN" altLang="en-US" sz="2400" dirty="0" smtClean="0">
                <a:ea typeface="宋体" pitchFamily="2" charset="-122"/>
              </a:rPr>
              <a:t>）认识到的面向对象，并不是面向对象的全部。</a:t>
            </a:r>
          </a:p>
          <a:p>
            <a:pPr>
              <a:defRPr/>
            </a:pPr>
            <a:r>
              <a:rPr lang="zh-CN" altLang="en-US" sz="2400" dirty="0" smtClean="0">
                <a:ea typeface="宋体" pitchFamily="2" charset="-122"/>
              </a:rPr>
              <a:t>三大机制可以表达面向对象的主要概念，但</a:t>
            </a:r>
            <a:r>
              <a:rPr lang="zh-CN" altLang="en-US" sz="2400" b="1" dirty="0" smtClean="0">
                <a:solidFill>
                  <a:srgbClr val="FF0000"/>
                </a:solidFill>
                <a:effectLst>
                  <a:outerShdw blurRad="38100" dist="38100" dir="2700000" algn="tl">
                    <a:srgbClr val="C0C0C0"/>
                  </a:outerShdw>
                </a:effectLst>
                <a:ea typeface="宋体" pitchFamily="2" charset="-122"/>
              </a:rPr>
              <a:t>其本身并没有刻画出面向对象的核心精神</a:t>
            </a:r>
            <a:r>
              <a:rPr lang="zh-CN" altLang="en-US" sz="2400" dirty="0" smtClean="0">
                <a:ea typeface="宋体" pitchFamily="2" charset="-122"/>
              </a:rPr>
              <a:t>。换言之，用这三大机制既可以做出“好的面向对象设计”，也可以做出“差的面向对象设计”。不是使用了面向对象语言，就真正实现了面向对象的设计与开发！</a:t>
            </a:r>
            <a:endParaRPr lang="en-US" altLang="zh-CN" sz="2400" dirty="0" smtClean="0">
              <a:ea typeface="宋体" pitchFamily="2" charset="-122"/>
            </a:endParaRPr>
          </a:p>
          <a:p>
            <a:pPr>
              <a:defRPr/>
            </a:pPr>
            <a:r>
              <a:rPr lang="en-US" altLang="zh-CN" sz="2400" dirty="0" smtClean="0">
                <a:ea typeface="宋体" pitchFamily="2" charset="-122"/>
              </a:rPr>
              <a:t>OOPL</a:t>
            </a:r>
            <a:r>
              <a:rPr lang="zh-CN" altLang="en-US" sz="2400" dirty="0" smtClean="0">
                <a:ea typeface="宋体" pitchFamily="2" charset="-122"/>
              </a:rPr>
              <a:t>没有回答面向对象的根本性问题</a:t>
            </a:r>
            <a:r>
              <a:rPr lang="en-US" altLang="zh-CN" sz="2400" dirty="0" smtClean="0">
                <a:ea typeface="宋体" pitchFamily="2" charset="-122"/>
              </a:rPr>
              <a:t>——</a:t>
            </a:r>
            <a:r>
              <a:rPr lang="zh-CN" altLang="en-US" sz="2400" dirty="0" smtClean="0">
                <a:ea typeface="宋体" pitchFamily="2" charset="-122"/>
              </a:rPr>
              <a:t>我们为什么要使用面向对象？应该如何使用三大机制来实现“好的面向对象”？应该遵循什么样的面向对象原则？</a:t>
            </a:r>
          </a:p>
        </p:txBody>
      </p:sp>
      <p:sp>
        <p:nvSpPr>
          <p:cNvPr id="20484" name="灯片编号占位符 3"/>
          <p:cNvSpPr>
            <a:spLocks noGrp="1"/>
          </p:cNvSpPr>
          <p:nvPr>
            <p:ph type="sldNum" sz="quarter" idx="12"/>
          </p:nvPr>
        </p:nvSpPr>
        <p:spPr>
          <a:noFill/>
        </p:spPr>
        <p:txBody>
          <a:bodyPr/>
          <a:lstStyle/>
          <a:p>
            <a:fld id="{B9BAD2CF-8749-4599-8293-A793649AA194}" type="slidenum">
              <a:rPr lang="en-US" altLang="zh-CN" smtClean="0"/>
              <a:pPr/>
              <a:t>20</a:t>
            </a:fld>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en-US" altLang="zh-CN" sz="3600" smtClean="0">
                <a:ea typeface="宋体" charset="-122"/>
              </a:rPr>
              <a:t>*</a:t>
            </a:r>
            <a:r>
              <a:rPr lang="zh-CN" altLang="en-US" sz="3600" smtClean="0">
                <a:ea typeface="宋体" charset="-122"/>
              </a:rPr>
              <a:t>三、一个具体示例</a:t>
            </a:r>
          </a:p>
        </p:txBody>
      </p:sp>
      <p:sp>
        <p:nvSpPr>
          <p:cNvPr id="3" name="内容占位符 2"/>
          <p:cNvSpPr>
            <a:spLocks noGrp="1"/>
          </p:cNvSpPr>
          <p:nvPr>
            <p:ph idx="1"/>
          </p:nvPr>
        </p:nvSpPr>
        <p:spPr/>
        <p:txBody>
          <a:bodyPr/>
          <a:lstStyle/>
          <a:p>
            <a:r>
              <a:rPr lang="en-US" altLang="zh-CN" sz="2400" b="1" smtClean="0">
                <a:solidFill>
                  <a:srgbClr val="C00000"/>
                </a:solidFill>
                <a:ea typeface="宋体" charset="-122"/>
              </a:rPr>
              <a:t>1</a:t>
            </a:r>
            <a:r>
              <a:rPr lang="zh-CN" altLang="en-US" sz="2400" b="1" smtClean="0">
                <a:solidFill>
                  <a:srgbClr val="C00000"/>
                </a:solidFill>
                <a:ea typeface="宋体" charset="-122"/>
              </a:rPr>
              <a:t>、场景：</a:t>
            </a:r>
          </a:p>
          <a:p>
            <a:pPr lvl="1"/>
            <a:r>
              <a:rPr lang="zh-CN" altLang="en-US" sz="2000" smtClean="0">
                <a:ea typeface="宋体" charset="-122"/>
              </a:rPr>
              <a:t>我们需要设计一个人事管理系统，其中的一个功能是对各种不同类型的员工计算其当月的工资</a:t>
            </a:r>
            <a:r>
              <a:rPr lang="en-US" altLang="zh-CN" sz="2000" smtClean="0">
                <a:ea typeface="宋体" charset="-122"/>
              </a:rPr>
              <a:t>——</a:t>
            </a:r>
            <a:r>
              <a:rPr lang="zh-CN" altLang="en-US" sz="2000" smtClean="0">
                <a:ea typeface="宋体" charset="-122"/>
              </a:rPr>
              <a:t>不同类型的员工，拥有不同的薪金计算制度。</a:t>
            </a:r>
            <a:endParaRPr lang="en-US" altLang="zh-CN" sz="2000" smtClean="0">
              <a:ea typeface="宋体" charset="-122"/>
            </a:endParaRPr>
          </a:p>
          <a:p>
            <a:r>
              <a:rPr lang="en-US" altLang="zh-CN" sz="2400" b="1" smtClean="0">
                <a:solidFill>
                  <a:srgbClr val="C00000"/>
                </a:solidFill>
                <a:ea typeface="宋体" charset="-122"/>
              </a:rPr>
              <a:t>2</a:t>
            </a:r>
            <a:r>
              <a:rPr lang="zh-CN" altLang="en-US" sz="2400" b="1" smtClean="0">
                <a:solidFill>
                  <a:srgbClr val="C00000"/>
                </a:solidFill>
                <a:ea typeface="宋体" charset="-122"/>
              </a:rPr>
              <a:t>、结构化方法</a:t>
            </a:r>
            <a:endParaRPr lang="en-US" altLang="zh-CN" sz="2400" b="1" smtClean="0">
              <a:solidFill>
                <a:srgbClr val="C00000"/>
              </a:solidFill>
              <a:ea typeface="宋体" charset="-122"/>
            </a:endParaRPr>
          </a:p>
          <a:p>
            <a:pPr lvl="1"/>
            <a:r>
              <a:rPr lang="zh-CN" altLang="en-US" sz="2000" smtClean="0">
                <a:ea typeface="宋体" charset="-122"/>
              </a:rPr>
              <a:t>（</a:t>
            </a:r>
            <a:r>
              <a:rPr lang="en-US" altLang="zh-CN" sz="2000" smtClean="0">
                <a:ea typeface="宋体" charset="-122"/>
              </a:rPr>
              <a:t>1</a:t>
            </a:r>
            <a:r>
              <a:rPr lang="zh-CN" altLang="en-US" sz="2000" smtClean="0">
                <a:ea typeface="宋体" charset="-122"/>
              </a:rPr>
              <a:t>）获得认识系统中所有可能的员工类型</a:t>
            </a:r>
          </a:p>
          <a:p>
            <a:pPr lvl="1"/>
            <a:r>
              <a:rPr lang="zh-CN" altLang="en-US" sz="2000" smtClean="0">
                <a:ea typeface="宋体" charset="-122"/>
              </a:rPr>
              <a:t>（</a:t>
            </a:r>
            <a:r>
              <a:rPr lang="en-US" altLang="zh-CN" sz="2000" smtClean="0">
                <a:ea typeface="宋体" charset="-122"/>
              </a:rPr>
              <a:t>2</a:t>
            </a:r>
            <a:r>
              <a:rPr lang="zh-CN" altLang="en-US" sz="2000" smtClean="0">
                <a:ea typeface="宋体" charset="-122"/>
              </a:rPr>
              <a:t>）根据不同的员工类型所对应的不同薪金制度，计算其工资</a:t>
            </a:r>
          </a:p>
        </p:txBody>
      </p:sp>
      <p:sp>
        <p:nvSpPr>
          <p:cNvPr id="21508" name="灯片编号占位符 3"/>
          <p:cNvSpPr>
            <a:spLocks noGrp="1"/>
          </p:cNvSpPr>
          <p:nvPr>
            <p:ph type="sldNum" sz="quarter" idx="12"/>
          </p:nvPr>
        </p:nvSpPr>
        <p:spPr>
          <a:noFill/>
        </p:spPr>
        <p:txBody>
          <a:bodyPr/>
          <a:lstStyle/>
          <a:p>
            <a:fld id="{0C41BBAB-012D-438F-A7F1-DFEF626308C6}" type="slidenum">
              <a:rPr lang="en-US" altLang="zh-CN" smtClean="0"/>
              <a:pPr/>
              <a:t>21</a:t>
            </a:fld>
            <a:endParaRPr lang="en-US" altLang="zh-CN" smtClean="0"/>
          </a:p>
        </p:txBody>
      </p:sp>
      <p:sp>
        <p:nvSpPr>
          <p:cNvPr id="5" name="TextBox 4"/>
          <p:cNvSpPr txBox="1"/>
          <p:nvPr/>
        </p:nvSpPr>
        <p:spPr>
          <a:xfrm>
            <a:off x="1643063" y="4143375"/>
            <a:ext cx="2428875" cy="1754188"/>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en-US" altLang="zh-CN">
                <a:solidFill>
                  <a:srgbClr val="000000"/>
                </a:solidFill>
                <a:ea typeface="宋体" pitchFamily="2" charset="-122"/>
              </a:rPr>
              <a:t>enum EmployeeType{</a:t>
            </a:r>
          </a:p>
          <a:p>
            <a:pPr>
              <a:defRPr/>
            </a:pPr>
            <a:r>
              <a:rPr lang="en-US" altLang="zh-CN">
                <a:solidFill>
                  <a:srgbClr val="000000"/>
                </a:solidFill>
                <a:ea typeface="宋体" pitchFamily="2" charset="-122"/>
              </a:rPr>
              <a:t>	Engineer;</a:t>
            </a:r>
          </a:p>
          <a:p>
            <a:pPr>
              <a:defRPr/>
            </a:pPr>
            <a:r>
              <a:rPr lang="en-US" altLang="zh-CN">
                <a:solidFill>
                  <a:srgbClr val="000000"/>
                </a:solidFill>
                <a:ea typeface="宋体" pitchFamily="2" charset="-122"/>
              </a:rPr>
              <a:t>	Sales;</a:t>
            </a:r>
          </a:p>
          <a:p>
            <a:pPr>
              <a:defRPr/>
            </a:pPr>
            <a:r>
              <a:rPr lang="en-US" altLang="zh-CN">
                <a:solidFill>
                  <a:srgbClr val="000000"/>
                </a:solidFill>
                <a:ea typeface="宋体" pitchFamily="2" charset="-122"/>
              </a:rPr>
              <a:t>	Manager;</a:t>
            </a:r>
          </a:p>
          <a:p>
            <a:pPr>
              <a:defRPr/>
            </a:pPr>
            <a:r>
              <a:rPr lang="en-US" altLang="zh-CN">
                <a:solidFill>
                  <a:srgbClr val="000000"/>
                </a:solidFill>
                <a:ea typeface="宋体" pitchFamily="2" charset="-122"/>
              </a:rPr>
              <a:t>	...</a:t>
            </a:r>
          </a:p>
          <a:p>
            <a:pPr>
              <a:defRPr/>
            </a:pPr>
            <a:r>
              <a:rPr lang="en-US" altLang="zh-CN">
                <a:solidFill>
                  <a:srgbClr val="000000"/>
                </a:solidFill>
                <a:ea typeface="宋体" pitchFamily="2" charset="-122"/>
              </a:rPr>
              <a:t>}</a:t>
            </a:r>
            <a:endParaRPr lang="zh-CN" altLang="en-US">
              <a:solidFill>
                <a:srgbClr val="000000"/>
              </a:solidFill>
              <a:ea typeface="宋体" pitchFamily="2" charset="-122"/>
            </a:endParaRPr>
          </a:p>
        </p:txBody>
      </p:sp>
      <p:sp>
        <p:nvSpPr>
          <p:cNvPr id="6" name="TextBox 5"/>
          <p:cNvSpPr txBox="1"/>
          <p:nvPr/>
        </p:nvSpPr>
        <p:spPr>
          <a:xfrm>
            <a:off x="4357688" y="4143375"/>
            <a:ext cx="4148137" cy="2308225"/>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en-US" altLang="zh-CN">
                <a:solidFill>
                  <a:srgbClr val="000000"/>
                </a:solidFill>
                <a:ea typeface="宋体" pitchFamily="2" charset="-122"/>
              </a:rPr>
              <a:t>//</a:t>
            </a:r>
            <a:r>
              <a:rPr lang="zh-CN" altLang="en-US">
                <a:solidFill>
                  <a:srgbClr val="000000"/>
                </a:solidFill>
                <a:ea typeface="宋体" pitchFamily="2" charset="-122"/>
              </a:rPr>
              <a:t>计算工资程序</a:t>
            </a:r>
          </a:p>
          <a:p>
            <a:pPr>
              <a:defRPr/>
            </a:pPr>
            <a:r>
              <a:rPr lang="en-US" altLang="zh-CN">
                <a:solidFill>
                  <a:srgbClr val="000000"/>
                </a:solidFill>
                <a:ea typeface="宋体" pitchFamily="2" charset="-122"/>
              </a:rPr>
              <a:t>if( type == EmployeeType.Engineer ){</a:t>
            </a:r>
          </a:p>
          <a:p>
            <a:pPr>
              <a:defRPr/>
            </a:pPr>
            <a:r>
              <a:rPr lang="en-US" altLang="zh-CN">
                <a:solidFill>
                  <a:srgbClr val="000000"/>
                </a:solidFill>
                <a:ea typeface="宋体" pitchFamily="2" charset="-122"/>
              </a:rPr>
              <a:t>	...</a:t>
            </a:r>
          </a:p>
          <a:p>
            <a:pPr>
              <a:defRPr/>
            </a:pPr>
            <a:r>
              <a:rPr lang="en-US" altLang="zh-CN">
                <a:solidFill>
                  <a:srgbClr val="000000"/>
                </a:solidFill>
                <a:ea typeface="宋体" pitchFamily="2" charset="-122"/>
              </a:rPr>
              <a:t>}</a:t>
            </a:r>
          </a:p>
          <a:p>
            <a:pPr>
              <a:defRPr/>
            </a:pPr>
            <a:r>
              <a:rPr lang="en-US" altLang="zh-CN">
                <a:solidFill>
                  <a:srgbClr val="000000"/>
                </a:solidFill>
                <a:ea typeface="宋体" pitchFamily="2" charset="-122"/>
              </a:rPr>
              <a:t>else if( type == EmployeeType.Sales ){</a:t>
            </a:r>
          </a:p>
          <a:p>
            <a:pPr>
              <a:defRPr/>
            </a:pPr>
            <a:r>
              <a:rPr lang="en-US" altLang="zh-CN">
                <a:solidFill>
                  <a:srgbClr val="000000"/>
                </a:solidFill>
                <a:ea typeface="宋体" pitchFamily="2" charset="-122"/>
              </a:rPr>
              <a:t>	...</a:t>
            </a:r>
          </a:p>
          <a:p>
            <a:pPr>
              <a:defRPr/>
            </a:pPr>
            <a:r>
              <a:rPr lang="en-US" altLang="zh-CN">
                <a:solidFill>
                  <a:srgbClr val="000000"/>
                </a:solidFill>
                <a:ea typeface="宋体" pitchFamily="2" charset="-122"/>
              </a:rPr>
              <a:t>}</a:t>
            </a:r>
          </a:p>
          <a:p>
            <a:pPr>
              <a:defRPr/>
            </a:pPr>
            <a:r>
              <a:rPr lang="en-US" altLang="zh-CN">
                <a:solidFill>
                  <a:srgbClr val="000000"/>
                </a:solidFill>
                <a:ea typeface="宋体" pitchFamily="2" charset="-122"/>
              </a:rPr>
              <a:t>...</a:t>
            </a:r>
            <a:endParaRPr lang="zh-CN" altLang="en-US">
              <a:solidFill>
                <a:srgbClr val="000000"/>
              </a:solidFill>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500"/>
                                        <p:tgtEl>
                                          <p:spTgt spid="6"/>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ox(in)">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en-US" altLang="zh-CN" sz="3600" smtClean="0">
                <a:ea typeface="宋体" charset="-122"/>
              </a:rPr>
              <a:t>*</a:t>
            </a:r>
            <a:r>
              <a:rPr lang="zh-CN" altLang="en-US" sz="3600" smtClean="0">
                <a:ea typeface="宋体" charset="-122"/>
              </a:rPr>
              <a:t>三、一个具体示例</a:t>
            </a:r>
          </a:p>
        </p:txBody>
      </p:sp>
      <p:sp>
        <p:nvSpPr>
          <p:cNvPr id="22531" name="内容占位符 2"/>
          <p:cNvSpPr>
            <a:spLocks noGrp="1"/>
          </p:cNvSpPr>
          <p:nvPr>
            <p:ph idx="1"/>
          </p:nvPr>
        </p:nvSpPr>
        <p:spPr/>
        <p:txBody>
          <a:bodyPr/>
          <a:lstStyle/>
          <a:p>
            <a:r>
              <a:rPr lang="en-US" altLang="zh-CN" sz="2400" b="1" smtClean="0">
                <a:solidFill>
                  <a:srgbClr val="C00000"/>
                </a:solidFill>
                <a:ea typeface="宋体" charset="-122"/>
              </a:rPr>
              <a:t>3</a:t>
            </a:r>
            <a:r>
              <a:rPr lang="zh-CN" altLang="en-US" sz="2400" b="1" smtClean="0">
                <a:solidFill>
                  <a:srgbClr val="C00000"/>
                </a:solidFill>
                <a:ea typeface="宋体" charset="-122"/>
              </a:rPr>
              <a:t>、面向对象方法：</a:t>
            </a:r>
          </a:p>
          <a:p>
            <a:pPr lvl="1"/>
            <a:r>
              <a:rPr lang="zh-CN" altLang="en-US" sz="2000" smtClean="0">
                <a:ea typeface="宋体" charset="-122"/>
              </a:rPr>
              <a:t>（</a:t>
            </a:r>
            <a:r>
              <a:rPr lang="en-US" altLang="zh-CN" sz="2000" smtClean="0">
                <a:ea typeface="宋体" charset="-122"/>
              </a:rPr>
              <a:t>1</a:t>
            </a:r>
            <a:r>
              <a:rPr lang="zh-CN" altLang="en-US" sz="2000" smtClean="0">
                <a:ea typeface="宋体" charset="-122"/>
              </a:rPr>
              <a:t>）根据不同的员工类型设计不同的类，并使这些类继承自一个</a:t>
            </a:r>
            <a:r>
              <a:rPr lang="en-US" altLang="zh-CN" sz="2000" smtClean="0">
                <a:ea typeface="宋体" charset="-122"/>
              </a:rPr>
              <a:t>Employee</a:t>
            </a:r>
            <a:r>
              <a:rPr lang="zh-CN" altLang="en-US" sz="2000" smtClean="0">
                <a:ea typeface="宋体" charset="-122"/>
              </a:rPr>
              <a:t>抽象类，其中有一个抽象方法</a:t>
            </a:r>
            <a:r>
              <a:rPr lang="en-US" altLang="zh-CN" sz="2000" smtClean="0">
                <a:ea typeface="宋体" charset="-122"/>
              </a:rPr>
              <a:t>GetSalary</a:t>
            </a:r>
            <a:r>
              <a:rPr lang="zh-CN" altLang="en-US" sz="2000" smtClean="0">
                <a:ea typeface="宋体" charset="-122"/>
              </a:rPr>
              <a:t>。</a:t>
            </a:r>
          </a:p>
          <a:p>
            <a:pPr lvl="1"/>
            <a:r>
              <a:rPr lang="zh-CN" altLang="en-US" sz="2000" smtClean="0">
                <a:ea typeface="宋体" charset="-122"/>
              </a:rPr>
              <a:t>（</a:t>
            </a:r>
            <a:r>
              <a:rPr lang="en-US" altLang="zh-CN" sz="2000" smtClean="0">
                <a:ea typeface="宋体" charset="-122"/>
              </a:rPr>
              <a:t>2</a:t>
            </a:r>
            <a:r>
              <a:rPr lang="zh-CN" altLang="en-US" sz="2000" smtClean="0">
                <a:ea typeface="宋体" charset="-122"/>
              </a:rPr>
              <a:t>）在各个不同的员工类中，根据自己的薪金制度，重写</a:t>
            </a:r>
            <a:r>
              <a:rPr lang="en-US" altLang="zh-CN" sz="2000" smtClean="0">
                <a:ea typeface="宋体" charset="-122"/>
              </a:rPr>
              <a:t>GetSalary</a:t>
            </a:r>
            <a:r>
              <a:rPr lang="zh-CN" altLang="en-US" sz="2000" smtClean="0">
                <a:ea typeface="宋体" charset="-122"/>
              </a:rPr>
              <a:t>方法。</a:t>
            </a:r>
          </a:p>
        </p:txBody>
      </p:sp>
      <p:sp>
        <p:nvSpPr>
          <p:cNvPr id="22532" name="灯片编号占位符 3"/>
          <p:cNvSpPr>
            <a:spLocks noGrp="1"/>
          </p:cNvSpPr>
          <p:nvPr>
            <p:ph type="sldNum" sz="quarter" idx="12"/>
          </p:nvPr>
        </p:nvSpPr>
        <p:spPr>
          <a:noFill/>
        </p:spPr>
        <p:txBody>
          <a:bodyPr/>
          <a:lstStyle/>
          <a:p>
            <a:fld id="{826F2D1B-7372-41E8-9027-92D85DEDA857}" type="slidenum">
              <a:rPr lang="en-US" altLang="zh-CN" smtClean="0"/>
              <a:pPr/>
              <a:t>22</a:t>
            </a:fld>
            <a:endParaRPr lang="en-US" altLang="zh-CN" smtClean="0"/>
          </a:p>
        </p:txBody>
      </p:sp>
      <p:sp>
        <p:nvSpPr>
          <p:cNvPr id="7" name="TextBox 6"/>
          <p:cNvSpPr txBox="1"/>
          <p:nvPr/>
        </p:nvSpPr>
        <p:spPr>
          <a:xfrm>
            <a:off x="500063" y="3214688"/>
            <a:ext cx="4545012" cy="3416300"/>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pPr>
              <a:defRPr/>
            </a:pPr>
            <a:r>
              <a:rPr lang="en-US" altLang="zh-CN">
                <a:solidFill>
                  <a:srgbClr val="000000"/>
                </a:solidFill>
                <a:ea typeface="宋体" pitchFamily="2" charset="-122"/>
              </a:rPr>
              <a:t>abstract class Employee{</a:t>
            </a:r>
          </a:p>
          <a:p>
            <a:pPr>
              <a:defRPr/>
            </a:pPr>
            <a:r>
              <a:rPr lang="en-US" altLang="zh-CN">
                <a:solidFill>
                  <a:srgbClr val="000000"/>
                </a:solidFill>
                <a:ea typeface="宋体" pitchFamily="2" charset="-122"/>
              </a:rPr>
              <a:t>	public abstract int GetSalary();</a:t>
            </a:r>
          </a:p>
          <a:p>
            <a:pPr>
              <a:defRPr/>
            </a:pPr>
            <a:r>
              <a:rPr lang="en-US" altLang="zh-CN">
                <a:solidFill>
                  <a:srgbClr val="000000"/>
                </a:solidFill>
                <a:ea typeface="宋体" pitchFamily="2" charset="-122"/>
              </a:rPr>
              <a:t>	...</a:t>
            </a:r>
          </a:p>
          <a:p>
            <a:pPr>
              <a:defRPr/>
            </a:pPr>
            <a:r>
              <a:rPr lang="en-US" altLang="zh-CN">
                <a:solidFill>
                  <a:srgbClr val="000000"/>
                </a:solidFill>
                <a:ea typeface="宋体" pitchFamily="2" charset="-122"/>
              </a:rPr>
              <a:t>}</a:t>
            </a:r>
          </a:p>
          <a:p>
            <a:pPr>
              <a:defRPr/>
            </a:pPr>
            <a:r>
              <a:rPr lang="en-US" altLang="zh-CN">
                <a:solidFill>
                  <a:srgbClr val="000000"/>
                </a:solidFill>
                <a:ea typeface="宋体" pitchFamily="2" charset="-122"/>
              </a:rPr>
              <a:t>class Engineer:Employee{</a:t>
            </a:r>
          </a:p>
          <a:p>
            <a:pPr>
              <a:defRPr/>
            </a:pPr>
            <a:r>
              <a:rPr lang="en-US" altLang="zh-CN">
                <a:solidFill>
                  <a:srgbClr val="000000"/>
                </a:solidFill>
                <a:ea typeface="宋体" pitchFamily="2" charset="-122"/>
              </a:rPr>
              <a:t>	public override int GetSalary(){…}</a:t>
            </a:r>
          </a:p>
          <a:p>
            <a:pPr>
              <a:defRPr/>
            </a:pPr>
            <a:r>
              <a:rPr lang="en-US" altLang="zh-CN">
                <a:solidFill>
                  <a:srgbClr val="000000"/>
                </a:solidFill>
                <a:ea typeface="宋体" pitchFamily="2" charset="-122"/>
              </a:rPr>
              <a:t>	...</a:t>
            </a:r>
          </a:p>
          <a:p>
            <a:pPr>
              <a:defRPr/>
            </a:pPr>
            <a:r>
              <a:rPr lang="en-US" altLang="zh-CN">
                <a:solidFill>
                  <a:srgbClr val="000000"/>
                </a:solidFill>
                <a:ea typeface="宋体" pitchFamily="2" charset="-122"/>
              </a:rPr>
              <a:t>}</a:t>
            </a:r>
          </a:p>
          <a:p>
            <a:pPr>
              <a:defRPr/>
            </a:pPr>
            <a:r>
              <a:rPr lang="en-US" altLang="zh-CN">
                <a:solidFill>
                  <a:srgbClr val="000000"/>
                </a:solidFill>
                <a:ea typeface="宋体" pitchFamily="2" charset="-122"/>
              </a:rPr>
              <a:t>class Sales:Employee{</a:t>
            </a:r>
          </a:p>
          <a:p>
            <a:pPr>
              <a:defRPr/>
            </a:pPr>
            <a:r>
              <a:rPr lang="en-US" altLang="zh-CN">
                <a:solidFill>
                  <a:srgbClr val="000000"/>
                </a:solidFill>
                <a:ea typeface="宋体" pitchFamily="2" charset="-122"/>
              </a:rPr>
              <a:t>	public override int GetSalary(){…}</a:t>
            </a:r>
          </a:p>
          <a:p>
            <a:pPr>
              <a:defRPr/>
            </a:pPr>
            <a:r>
              <a:rPr lang="en-US" altLang="zh-CN">
                <a:solidFill>
                  <a:srgbClr val="000000"/>
                </a:solidFill>
                <a:ea typeface="宋体" pitchFamily="2" charset="-122"/>
              </a:rPr>
              <a:t>	...</a:t>
            </a:r>
          </a:p>
          <a:p>
            <a:pPr>
              <a:defRPr/>
            </a:pPr>
            <a:r>
              <a:rPr lang="en-US" altLang="zh-CN">
                <a:solidFill>
                  <a:srgbClr val="000000"/>
                </a:solidFill>
                <a:ea typeface="宋体" pitchFamily="2" charset="-122"/>
              </a:rPr>
              <a:t>}</a:t>
            </a:r>
            <a:endParaRPr lang="zh-CN" altLang="en-US">
              <a:solidFill>
                <a:srgbClr val="000000"/>
              </a:solidFill>
              <a:ea typeface="宋体" pitchFamily="2" charset="-122"/>
            </a:endParaRPr>
          </a:p>
        </p:txBody>
      </p:sp>
      <p:sp>
        <p:nvSpPr>
          <p:cNvPr id="8" name="TextBox 7"/>
          <p:cNvSpPr txBox="1"/>
          <p:nvPr/>
        </p:nvSpPr>
        <p:spPr>
          <a:xfrm>
            <a:off x="5143500" y="3214688"/>
            <a:ext cx="3416300" cy="1477962"/>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pPr>
              <a:defRPr/>
            </a:pPr>
            <a:r>
              <a:rPr lang="en-US" altLang="zh-CN">
                <a:solidFill>
                  <a:srgbClr val="000000"/>
                </a:solidFill>
                <a:ea typeface="宋体" pitchFamily="2" charset="-122"/>
              </a:rPr>
              <a:t>//</a:t>
            </a:r>
            <a:r>
              <a:rPr lang="zh-CN" altLang="en-US">
                <a:solidFill>
                  <a:srgbClr val="000000"/>
                </a:solidFill>
                <a:ea typeface="宋体" pitchFamily="2" charset="-122"/>
              </a:rPr>
              <a:t>显示工资程序</a:t>
            </a:r>
          </a:p>
          <a:p>
            <a:pPr>
              <a:defRPr/>
            </a:pPr>
            <a:r>
              <a:rPr lang="en-US" altLang="zh-CN">
                <a:solidFill>
                  <a:srgbClr val="000000"/>
                </a:solidFill>
                <a:ea typeface="宋体" pitchFamily="2" charset="-122"/>
              </a:rPr>
              <a:t>Employee e = </a:t>
            </a:r>
          </a:p>
          <a:p>
            <a:pPr>
              <a:defRPr/>
            </a:pPr>
            <a:r>
              <a:rPr lang="en-US" altLang="zh-CN">
                <a:solidFill>
                  <a:srgbClr val="000000"/>
                </a:solidFill>
                <a:ea typeface="宋体" pitchFamily="2" charset="-122"/>
              </a:rPr>
              <a:t>      emFactory.GetEmployee(id);</a:t>
            </a:r>
            <a:br>
              <a:rPr lang="en-US" altLang="zh-CN">
                <a:solidFill>
                  <a:srgbClr val="000000"/>
                </a:solidFill>
                <a:ea typeface="宋体" pitchFamily="2" charset="-122"/>
              </a:rPr>
            </a:br>
            <a:endParaRPr lang="en-US" altLang="zh-CN">
              <a:solidFill>
                <a:srgbClr val="000000"/>
              </a:solidFill>
              <a:ea typeface="宋体" pitchFamily="2" charset="-122"/>
            </a:endParaRPr>
          </a:p>
          <a:p>
            <a:pPr>
              <a:defRPr/>
            </a:pPr>
            <a:r>
              <a:rPr lang="en-US" altLang="zh-CN">
                <a:solidFill>
                  <a:srgbClr val="000000"/>
                </a:solidFill>
                <a:ea typeface="宋体" pitchFamily="2" charset="-122"/>
              </a:rPr>
              <a:t>MessageBox.Show(e.GetSalary());</a:t>
            </a:r>
            <a:endParaRPr lang="zh-CN" altLang="en-US">
              <a:solidFill>
                <a:srgbClr val="000000"/>
              </a:solidFill>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en-US" altLang="zh-CN" sz="3600" smtClean="0">
                <a:ea typeface="宋体" charset="-122"/>
              </a:rPr>
              <a:t>*</a:t>
            </a:r>
            <a:r>
              <a:rPr lang="zh-CN" altLang="en-US" sz="3600" smtClean="0">
                <a:ea typeface="宋体" charset="-122"/>
              </a:rPr>
              <a:t>四、现在需求改变了</a:t>
            </a:r>
          </a:p>
        </p:txBody>
      </p:sp>
      <p:sp>
        <p:nvSpPr>
          <p:cNvPr id="3" name="内容占位符 2"/>
          <p:cNvSpPr>
            <a:spLocks noGrp="1"/>
          </p:cNvSpPr>
          <p:nvPr>
            <p:ph idx="1"/>
          </p:nvPr>
        </p:nvSpPr>
        <p:spPr>
          <a:xfrm>
            <a:off x="685800" y="1447800"/>
            <a:ext cx="8001000" cy="4838700"/>
          </a:xfrm>
        </p:spPr>
        <p:txBody>
          <a:bodyPr/>
          <a:lstStyle/>
          <a:p>
            <a:r>
              <a:rPr lang="en-US" altLang="zh-CN" sz="2400" b="1" dirty="0" smtClean="0">
                <a:solidFill>
                  <a:srgbClr val="C00000"/>
                </a:solidFill>
                <a:ea typeface="宋体" charset="-122"/>
              </a:rPr>
              <a:t>1</a:t>
            </a:r>
            <a:r>
              <a:rPr lang="zh-CN" altLang="en-US" sz="2400" b="1" dirty="0" smtClean="0">
                <a:solidFill>
                  <a:srgbClr val="C00000"/>
                </a:solidFill>
                <a:ea typeface="宋体" charset="-122"/>
              </a:rPr>
              <a:t>、场景：</a:t>
            </a:r>
          </a:p>
          <a:p>
            <a:pPr lvl="1"/>
            <a:r>
              <a:rPr lang="zh-CN" altLang="en-US" sz="2000" dirty="0" smtClean="0">
                <a:ea typeface="宋体" charset="-122"/>
              </a:rPr>
              <a:t>随着客户公司业务规模的拓展，又出现了更多类型的员工，比如钟点工、计件工等等。这意味着原有的人事管理系统必须改变。</a:t>
            </a:r>
          </a:p>
          <a:p>
            <a:r>
              <a:rPr lang="en-US" altLang="zh-CN" sz="2400" b="1" dirty="0" smtClean="0">
                <a:solidFill>
                  <a:srgbClr val="C00000"/>
                </a:solidFill>
                <a:ea typeface="宋体" charset="-122"/>
              </a:rPr>
              <a:t>2</a:t>
            </a:r>
            <a:r>
              <a:rPr lang="zh-CN" altLang="en-US" sz="2400" b="1" dirty="0" smtClean="0">
                <a:solidFill>
                  <a:srgbClr val="C00000"/>
                </a:solidFill>
                <a:ea typeface="宋体" charset="-122"/>
              </a:rPr>
              <a:t>、结构化做法：</a:t>
            </a:r>
          </a:p>
          <a:p>
            <a:pPr lvl="1"/>
            <a:r>
              <a:rPr lang="zh-CN" altLang="en-US" sz="2000" dirty="0" smtClean="0">
                <a:ea typeface="宋体" charset="-122"/>
              </a:rPr>
              <a:t>几乎所有涉及员工类型的地方（当然包括“计算工资程序”）都需要修改。</a:t>
            </a:r>
          </a:p>
          <a:p>
            <a:r>
              <a:rPr lang="en-US" altLang="zh-CN" sz="2400" b="1" dirty="0" smtClean="0">
                <a:solidFill>
                  <a:srgbClr val="C00000"/>
                </a:solidFill>
                <a:ea typeface="宋体" charset="-122"/>
              </a:rPr>
              <a:t>3</a:t>
            </a:r>
            <a:r>
              <a:rPr lang="zh-CN" altLang="en-US" sz="2400" b="1" dirty="0" smtClean="0">
                <a:solidFill>
                  <a:srgbClr val="C00000"/>
                </a:solidFill>
                <a:ea typeface="宋体" charset="-122"/>
              </a:rPr>
              <a:t>、面向对象做法：</a:t>
            </a:r>
          </a:p>
          <a:p>
            <a:pPr lvl="1"/>
            <a:r>
              <a:rPr lang="zh-CN" altLang="en-US" sz="2000" dirty="0" smtClean="0">
                <a:ea typeface="宋体" charset="-122"/>
              </a:rPr>
              <a:t>只需要在新的文件里增添新的员工类，让其继承自</a:t>
            </a:r>
            <a:r>
              <a:rPr lang="en-US" altLang="zh-CN" sz="2000" dirty="0" smtClean="0">
                <a:ea typeface="宋体" charset="-122"/>
              </a:rPr>
              <a:t>Employee</a:t>
            </a:r>
            <a:r>
              <a:rPr lang="zh-CN" altLang="en-US" sz="2000" dirty="0" smtClean="0">
                <a:ea typeface="宋体" charset="-122"/>
              </a:rPr>
              <a:t>抽象类，并重写（</a:t>
            </a:r>
            <a:r>
              <a:rPr lang="en-US" altLang="zh-CN" sz="2000" dirty="0" smtClean="0">
                <a:ea typeface="宋体" charset="-122"/>
              </a:rPr>
              <a:t>override</a:t>
            </a:r>
            <a:r>
              <a:rPr lang="zh-CN" altLang="en-US" sz="2000" dirty="0" smtClean="0">
                <a:ea typeface="宋体" charset="-122"/>
              </a:rPr>
              <a:t>）</a:t>
            </a:r>
            <a:r>
              <a:rPr lang="en-US" altLang="zh-CN" sz="2000" dirty="0" err="1" smtClean="0">
                <a:ea typeface="宋体" charset="-122"/>
              </a:rPr>
              <a:t>GetSalary</a:t>
            </a:r>
            <a:r>
              <a:rPr lang="zh-CN" altLang="en-US" sz="2000" dirty="0" smtClean="0">
                <a:ea typeface="宋体" charset="-122"/>
              </a:rPr>
              <a:t>方法，然后在</a:t>
            </a:r>
            <a:r>
              <a:rPr lang="en-US" altLang="zh-CN" sz="2000" dirty="0" err="1" smtClean="0">
                <a:ea typeface="宋体" charset="-122"/>
              </a:rPr>
              <a:t>EmployeeFactory.GetEmployee</a:t>
            </a:r>
            <a:r>
              <a:rPr lang="zh-CN" altLang="en-US" sz="2000" dirty="0" smtClean="0">
                <a:ea typeface="宋体" charset="-122"/>
              </a:rPr>
              <a:t>方法中根据相关条件，产生新的员工类型就可以了。其他地方（显示工资程序、</a:t>
            </a:r>
            <a:r>
              <a:rPr lang="en-US" altLang="zh-CN" sz="2000" dirty="0" smtClean="0">
                <a:ea typeface="宋体" charset="-122"/>
              </a:rPr>
              <a:t>Engineer</a:t>
            </a:r>
            <a:r>
              <a:rPr lang="zh-CN" altLang="en-US" sz="2000" dirty="0" smtClean="0">
                <a:ea typeface="宋体" charset="-122"/>
              </a:rPr>
              <a:t>类、</a:t>
            </a:r>
            <a:r>
              <a:rPr lang="en-US" altLang="zh-CN" sz="2000" dirty="0" smtClean="0">
                <a:ea typeface="宋体" charset="-122"/>
              </a:rPr>
              <a:t>Sales</a:t>
            </a:r>
            <a:r>
              <a:rPr lang="zh-CN" altLang="en-US" sz="2000" dirty="0" smtClean="0">
                <a:ea typeface="宋体" charset="-122"/>
              </a:rPr>
              <a:t>类等）都不需要修改。</a:t>
            </a:r>
          </a:p>
        </p:txBody>
      </p:sp>
      <p:sp>
        <p:nvSpPr>
          <p:cNvPr id="23556" name="灯片编号占位符 3"/>
          <p:cNvSpPr>
            <a:spLocks noGrp="1"/>
          </p:cNvSpPr>
          <p:nvPr>
            <p:ph type="sldNum" sz="quarter" idx="12"/>
          </p:nvPr>
        </p:nvSpPr>
        <p:spPr>
          <a:noFill/>
        </p:spPr>
        <p:txBody>
          <a:bodyPr/>
          <a:lstStyle/>
          <a:p>
            <a:fld id="{3F837C6E-A189-42BF-BDB6-A3CBFBCD86EF}" type="slidenum">
              <a:rPr lang="en-US" altLang="zh-CN" smtClean="0"/>
              <a:pPr/>
              <a:t>23</a:t>
            </a:fld>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en-US" altLang="zh-CN" sz="3600" smtClean="0">
                <a:ea typeface="宋体" charset="-122"/>
              </a:rPr>
              <a:t>*</a:t>
            </a:r>
            <a:r>
              <a:rPr lang="zh-CN" altLang="en-US" sz="3600" smtClean="0">
                <a:ea typeface="宋体" charset="-122"/>
              </a:rPr>
              <a:t>五、重新认识面向对象</a:t>
            </a:r>
          </a:p>
        </p:txBody>
      </p:sp>
      <p:sp>
        <p:nvSpPr>
          <p:cNvPr id="3" name="内容占位符 2"/>
          <p:cNvSpPr>
            <a:spLocks noGrp="1"/>
          </p:cNvSpPr>
          <p:nvPr>
            <p:ph idx="1"/>
          </p:nvPr>
        </p:nvSpPr>
        <p:spPr/>
        <p:txBody>
          <a:bodyPr/>
          <a:lstStyle/>
          <a:p>
            <a:r>
              <a:rPr lang="zh-CN" altLang="en-US" sz="2400" dirty="0" smtClean="0">
                <a:ea typeface="宋体" charset="-122"/>
              </a:rPr>
              <a:t>对于前面的例子，从宏观层面看，面向对象的构建方式更能适应软件的变化，能将变化带来的影响减为最小。</a:t>
            </a:r>
          </a:p>
          <a:p>
            <a:r>
              <a:rPr lang="zh-CN" altLang="en-US" sz="2400" dirty="0" smtClean="0">
                <a:ea typeface="宋体" charset="-122"/>
              </a:rPr>
              <a:t>从微观层面来看，面向对象的方式更强调各个类的“责任”。新增员工类型不会影响原来员工类型的实现代码</a:t>
            </a:r>
            <a:r>
              <a:rPr lang="en-US" altLang="zh-CN" sz="2400" dirty="0" smtClean="0">
                <a:ea typeface="宋体" charset="-122"/>
              </a:rPr>
              <a:t>——</a:t>
            </a:r>
            <a:r>
              <a:rPr lang="zh-CN" altLang="en-US" sz="2400" dirty="0" smtClean="0">
                <a:ea typeface="宋体" charset="-122"/>
              </a:rPr>
              <a:t>这更符合真实的世界，也更能控制变化所影响的范围，毕竟</a:t>
            </a:r>
            <a:r>
              <a:rPr lang="en-US" altLang="zh-CN" sz="2400" dirty="0" smtClean="0">
                <a:ea typeface="宋体" charset="-122"/>
              </a:rPr>
              <a:t>Engineer</a:t>
            </a:r>
            <a:r>
              <a:rPr lang="zh-CN" altLang="en-US" sz="2400" dirty="0" smtClean="0">
                <a:ea typeface="宋体" charset="-122"/>
              </a:rPr>
              <a:t>类不应该为新增的“钟点工”来买单</a:t>
            </a:r>
            <a:r>
              <a:rPr lang="en-US" altLang="zh-CN" sz="2400" dirty="0" smtClean="0">
                <a:ea typeface="宋体" charset="-122"/>
              </a:rPr>
              <a:t>......</a:t>
            </a:r>
          </a:p>
          <a:p>
            <a:r>
              <a:rPr lang="zh-CN" altLang="en-US" sz="2400" b="1" dirty="0" smtClean="0">
                <a:solidFill>
                  <a:srgbClr val="C00000"/>
                </a:solidFill>
                <a:ea typeface="宋体" charset="-122"/>
              </a:rPr>
              <a:t>对象是什么？</a:t>
            </a:r>
            <a:endParaRPr lang="en-US" altLang="zh-CN" sz="2400" b="1" dirty="0" smtClean="0">
              <a:solidFill>
                <a:srgbClr val="C00000"/>
              </a:solidFill>
              <a:ea typeface="宋体" charset="-122"/>
            </a:endParaRPr>
          </a:p>
          <a:p>
            <a:pPr lvl="1"/>
            <a:r>
              <a:rPr lang="zh-CN" altLang="en-US" sz="2000" dirty="0" smtClean="0">
                <a:ea typeface="宋体" charset="-122"/>
              </a:rPr>
              <a:t>从概念层面讲，对象是某种拥有责任的抽象；</a:t>
            </a:r>
          </a:p>
          <a:p>
            <a:pPr lvl="1"/>
            <a:r>
              <a:rPr lang="zh-CN" altLang="en-US" sz="2000" dirty="0" smtClean="0">
                <a:ea typeface="宋体" charset="-122"/>
              </a:rPr>
              <a:t>从规格层面讲，对象是一系列可被其他对象使用的公共接口；</a:t>
            </a:r>
          </a:p>
          <a:p>
            <a:pPr lvl="1"/>
            <a:r>
              <a:rPr lang="zh-CN" altLang="en-US" sz="2000" dirty="0" smtClean="0">
                <a:ea typeface="宋体" charset="-122"/>
              </a:rPr>
              <a:t>从语言实现层面来看，对象封装了代码和数据。</a:t>
            </a:r>
          </a:p>
        </p:txBody>
      </p:sp>
      <p:sp>
        <p:nvSpPr>
          <p:cNvPr id="24580" name="灯片编号占位符 3"/>
          <p:cNvSpPr>
            <a:spLocks noGrp="1"/>
          </p:cNvSpPr>
          <p:nvPr>
            <p:ph type="sldNum" sz="quarter" idx="12"/>
          </p:nvPr>
        </p:nvSpPr>
        <p:spPr>
          <a:noFill/>
        </p:spPr>
        <p:txBody>
          <a:bodyPr/>
          <a:lstStyle/>
          <a:p>
            <a:fld id="{8514C110-7B6B-4508-B94C-5C0A496C4207}" type="slidenum">
              <a:rPr lang="en-US" altLang="zh-CN" smtClean="0"/>
              <a:pPr/>
              <a:t>24</a:t>
            </a:fld>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Horizontal)">
                                      <p:cBhvr>
                                        <p:cTn id="7" dur="500"/>
                                        <p:tgtEl>
                                          <p:spTgt spid="3">
                                            <p:txEl>
                                              <p:pRg st="2" end="2"/>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Horizontal)">
                                      <p:cBhvr>
                                        <p:cTn id="10" dur="500"/>
                                        <p:tgtEl>
                                          <p:spTgt spid="3">
                                            <p:txEl>
                                              <p:pRg st="3" end="3"/>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Horizontal)">
                                      <p:cBhvr>
                                        <p:cTn id="13" dur="500"/>
                                        <p:tgtEl>
                                          <p:spTgt spid="3">
                                            <p:txEl>
                                              <p:pRg st="4" end="4"/>
                                            </p:txEl>
                                          </p:spTgt>
                                        </p:tgtEl>
                                      </p:cBhvr>
                                    </p:animEffect>
                                  </p:childTnLst>
                                </p:cTn>
                              </p:par>
                              <p:par>
                                <p:cTn id="14" presetID="16" presetClass="entr" presetSubtype="26"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arn(inHorizontal)">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i="1" dirty="0" smtClean="0"/>
              <a:t>第</a:t>
            </a:r>
            <a:r>
              <a:rPr lang="en-US" altLang="zh-CN" i="1" dirty="0" smtClean="0"/>
              <a:t>6</a:t>
            </a:r>
            <a:r>
              <a:rPr lang="zh-CN" altLang="en-US" i="1" dirty="0" smtClean="0"/>
              <a:t>章    面向对象方法学导论</a:t>
            </a:r>
          </a:p>
        </p:txBody>
      </p:sp>
      <p:sp>
        <p:nvSpPr>
          <p:cNvPr id="4" name="灯片编号占位符 5"/>
          <p:cNvSpPr>
            <a:spLocks noGrp="1"/>
          </p:cNvSpPr>
          <p:nvPr>
            <p:ph type="sldNum" sz="quarter" idx="12"/>
          </p:nvPr>
        </p:nvSpPr>
        <p:spPr/>
        <p:txBody>
          <a:bodyPr/>
          <a:lstStyle/>
          <a:p>
            <a:pPr>
              <a:defRPr/>
            </a:pPr>
            <a:fld id="{84A45AC1-7E6A-484E-BF10-64FCAAA36536}" type="slidenum">
              <a:rPr lang="en-US" altLang="zh-CN"/>
              <a:pPr>
                <a:defRPr/>
              </a:pPr>
              <a:t>25</a:t>
            </a:fld>
            <a:endParaRPr lang="en-US" altLang="zh-CN"/>
          </a:p>
        </p:txBody>
      </p:sp>
      <p:sp>
        <p:nvSpPr>
          <p:cNvPr id="9220" name="Rectangle 3"/>
          <p:cNvSpPr>
            <a:spLocks noGrp="1" noChangeArrowheads="1"/>
          </p:cNvSpPr>
          <p:nvPr>
            <p:ph sz="quarter" idx="1"/>
          </p:nvPr>
        </p:nvSpPr>
        <p:spPr/>
        <p:txBody>
          <a:bodyPr/>
          <a:lstStyle/>
          <a:p>
            <a:pPr algn="just">
              <a:spcAft>
                <a:spcPct val="40000"/>
              </a:spcAft>
            </a:pPr>
            <a:r>
              <a:rPr lang="en-US" altLang="zh-CN" sz="2800" b="1" smtClean="0">
                <a:latin typeface="黑体" pitchFamily="2" charset="-122"/>
              </a:rPr>
              <a:t>6.1</a:t>
            </a:r>
            <a:r>
              <a:rPr lang="zh-CN" altLang="en-US" sz="2800" b="1" smtClean="0">
                <a:latin typeface="黑体" pitchFamily="2" charset="-122"/>
              </a:rPr>
              <a:t>一个简单的实例 </a:t>
            </a:r>
          </a:p>
          <a:p>
            <a:pPr lvl="1" algn="just">
              <a:spcAft>
                <a:spcPct val="40000"/>
              </a:spcAft>
            </a:pPr>
            <a:r>
              <a:rPr lang="zh-CN" altLang="en-US" smtClean="0"/>
              <a:t>在显示器上画两个位置和半径不同的圆和一条弧。给了圆心坐标和半径，弧的圆心坐标、起始角度、结束角度和半径。</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14400" y="274638"/>
            <a:ext cx="7772400" cy="868362"/>
          </a:xfrm>
        </p:spPr>
        <p:txBody>
          <a:bodyPr/>
          <a:lstStyle/>
          <a:p>
            <a:r>
              <a:rPr lang="en-US" altLang="zh-CN" i="1" smtClean="0"/>
              <a:t>6.1</a:t>
            </a:r>
            <a:r>
              <a:rPr lang="zh-CN" altLang="en-US" i="1" smtClean="0"/>
              <a:t>   </a:t>
            </a:r>
            <a:r>
              <a:rPr lang="zh-CN" altLang="en-US" b="1" smtClean="0">
                <a:latin typeface="黑体" pitchFamily="2" charset="-122"/>
              </a:rPr>
              <a:t>一个简单的实例 </a:t>
            </a:r>
            <a:endParaRPr lang="zh-CN" altLang="en-US" i="1" smtClean="0"/>
          </a:p>
        </p:txBody>
      </p:sp>
      <p:sp>
        <p:nvSpPr>
          <p:cNvPr id="4" name="灯片编号占位符 5"/>
          <p:cNvSpPr>
            <a:spLocks noGrp="1"/>
          </p:cNvSpPr>
          <p:nvPr>
            <p:ph type="sldNum" sz="quarter" idx="12"/>
          </p:nvPr>
        </p:nvSpPr>
        <p:spPr/>
        <p:txBody>
          <a:bodyPr/>
          <a:lstStyle/>
          <a:p>
            <a:pPr>
              <a:defRPr/>
            </a:pPr>
            <a:fld id="{7E64AB3A-134C-446E-836D-EFCA69712C22}" type="slidenum">
              <a:rPr lang="en-US" altLang="zh-CN"/>
              <a:pPr>
                <a:defRPr/>
              </a:pPr>
              <a:t>26</a:t>
            </a:fld>
            <a:endParaRPr lang="en-US" altLang="zh-CN"/>
          </a:p>
        </p:txBody>
      </p:sp>
      <p:sp>
        <p:nvSpPr>
          <p:cNvPr id="10244" name="Rectangle 3"/>
          <p:cNvSpPr>
            <a:spLocks noGrp="1" noChangeArrowheads="1"/>
          </p:cNvSpPr>
          <p:nvPr>
            <p:ph sz="quarter" idx="1"/>
          </p:nvPr>
        </p:nvSpPr>
        <p:spPr>
          <a:xfrm>
            <a:off x="928688" y="1357313"/>
            <a:ext cx="7772400" cy="4857750"/>
          </a:xfrm>
        </p:spPr>
        <p:txBody>
          <a:bodyPr/>
          <a:lstStyle/>
          <a:p>
            <a:pPr algn="just">
              <a:spcAft>
                <a:spcPct val="40000"/>
              </a:spcAft>
            </a:pPr>
            <a:r>
              <a:rPr lang="zh-CN" altLang="en-US" sz="2800" dirty="0" smtClean="0"/>
              <a:t>一、用对象分解取代功能分解</a:t>
            </a:r>
            <a:endParaRPr lang="en-US" altLang="zh-CN" sz="2800" dirty="0" smtClean="0"/>
          </a:p>
          <a:p>
            <a:pPr lvl="1" algn="just">
              <a:spcAft>
                <a:spcPct val="40000"/>
              </a:spcAft>
            </a:pPr>
            <a:r>
              <a:rPr lang="zh-CN" altLang="en-US" dirty="0" smtClean="0"/>
              <a:t>用结构化方法设计时，通常首先定义两个函数，分别完成画圆和画弧的功能。然后用主函数调用。</a:t>
            </a:r>
            <a:endParaRPr lang="en-US" altLang="zh-CN" dirty="0" smtClean="0"/>
          </a:p>
          <a:p>
            <a:pPr lvl="1" algn="just">
              <a:spcAft>
                <a:spcPct val="40000"/>
              </a:spcAft>
            </a:pPr>
            <a:r>
              <a:rPr lang="zh-CN" altLang="en-US" dirty="0" smtClean="0"/>
              <a:t>这种方法是自顶向下的功能分解。以算法为核心，数据和处理是相互独立的。数据代表问题域中的实体，而程序代码完成处理工作。</a:t>
            </a:r>
            <a:endParaRPr lang="en-US" altLang="zh-CN" dirty="0" smtClean="0"/>
          </a:p>
          <a:p>
            <a:pPr lvl="1" algn="just">
              <a:spcAft>
                <a:spcPct val="40000"/>
              </a:spcAft>
            </a:pPr>
            <a:r>
              <a:rPr lang="zh-CN" altLang="en-US" dirty="0" smtClean="0"/>
              <a:t>将数据和代码分离反映了计算机的观点。但是保持数据和操作的一致性，是很困难的。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244">
                                            <p:txEl>
                                              <p:pRg st="2" end="2"/>
                                            </p:txEl>
                                          </p:spTgt>
                                        </p:tgtEl>
                                        <p:attrNameLst>
                                          <p:attrName>style.visibility</p:attrName>
                                        </p:attrNameLst>
                                      </p:cBhvr>
                                      <p:to>
                                        <p:strVal val="visible"/>
                                      </p:to>
                                    </p:set>
                                    <p:animEffect transition="in" filter="wipe(down)">
                                      <p:cBhvr>
                                        <p:cTn id="7" dur="500"/>
                                        <p:tgtEl>
                                          <p:spTgt spid="1024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44">
                                            <p:txEl>
                                              <p:pRg st="3" end="3"/>
                                            </p:txEl>
                                          </p:spTgt>
                                        </p:tgtEl>
                                        <p:attrNameLst>
                                          <p:attrName>style.visibility</p:attrName>
                                        </p:attrNameLst>
                                      </p:cBhvr>
                                      <p:to>
                                        <p:strVal val="visible"/>
                                      </p:to>
                                    </p:set>
                                    <p:animEffect transition="in" filter="wipe(down)">
                                      <p:cBhvr>
                                        <p:cTn id="12" dur="500"/>
                                        <p:tgtEl>
                                          <p:spTgt spid="102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14400" y="274638"/>
            <a:ext cx="7772400" cy="868362"/>
          </a:xfrm>
        </p:spPr>
        <p:txBody>
          <a:bodyPr/>
          <a:lstStyle/>
          <a:p>
            <a:r>
              <a:rPr lang="en-US" altLang="zh-CN" i="1" smtClean="0"/>
              <a:t>6.1</a:t>
            </a:r>
            <a:r>
              <a:rPr lang="zh-CN" altLang="en-US" i="1" smtClean="0"/>
              <a:t>   </a:t>
            </a:r>
            <a:r>
              <a:rPr lang="zh-CN" altLang="en-US" b="1" smtClean="0">
                <a:latin typeface="黑体" pitchFamily="2" charset="-122"/>
              </a:rPr>
              <a:t>一个简单的实例 </a:t>
            </a:r>
            <a:endParaRPr lang="zh-CN" altLang="en-US" i="1" smtClean="0"/>
          </a:p>
        </p:txBody>
      </p:sp>
      <p:sp>
        <p:nvSpPr>
          <p:cNvPr id="4" name="灯片编号占位符 5"/>
          <p:cNvSpPr>
            <a:spLocks noGrp="1"/>
          </p:cNvSpPr>
          <p:nvPr>
            <p:ph type="sldNum" sz="quarter" idx="12"/>
          </p:nvPr>
        </p:nvSpPr>
        <p:spPr/>
        <p:txBody>
          <a:bodyPr/>
          <a:lstStyle/>
          <a:p>
            <a:pPr>
              <a:defRPr/>
            </a:pPr>
            <a:fld id="{20D7D995-DFC9-4580-847C-A8C28930EC18}" type="slidenum">
              <a:rPr lang="en-US" altLang="zh-CN"/>
              <a:pPr>
                <a:defRPr/>
              </a:pPr>
              <a:t>27</a:t>
            </a:fld>
            <a:endParaRPr lang="en-US" altLang="zh-CN"/>
          </a:p>
        </p:txBody>
      </p:sp>
      <p:sp>
        <p:nvSpPr>
          <p:cNvPr id="11268" name="Rectangle 3"/>
          <p:cNvSpPr>
            <a:spLocks noGrp="1" noChangeArrowheads="1"/>
          </p:cNvSpPr>
          <p:nvPr>
            <p:ph sz="quarter" idx="1"/>
          </p:nvPr>
        </p:nvSpPr>
        <p:spPr>
          <a:xfrm>
            <a:off x="928688" y="1357313"/>
            <a:ext cx="7772400" cy="4857750"/>
          </a:xfrm>
        </p:spPr>
        <p:txBody>
          <a:bodyPr/>
          <a:lstStyle/>
          <a:p>
            <a:pPr algn="just">
              <a:spcAft>
                <a:spcPct val="40000"/>
              </a:spcAft>
            </a:pPr>
            <a:r>
              <a:rPr lang="zh-CN" altLang="en-US" sz="2800" dirty="0" smtClean="0"/>
              <a:t>一、用对象分解取代功能分解</a:t>
            </a:r>
            <a:endParaRPr lang="en-US" altLang="zh-CN" sz="2800" dirty="0" smtClean="0"/>
          </a:p>
          <a:p>
            <a:pPr lvl="1" algn="just">
              <a:spcAft>
                <a:spcPct val="40000"/>
              </a:spcAft>
            </a:pPr>
            <a:r>
              <a:rPr lang="zh-CN" altLang="en-US" dirty="0" smtClean="0"/>
              <a:t>实际上，现实世界中的问题无非由一些相互间存在一定联系的事物组成。每个</a:t>
            </a:r>
            <a:r>
              <a:rPr lang="zh-CN" altLang="en-US" dirty="0" smtClean="0">
                <a:solidFill>
                  <a:srgbClr val="FF0000"/>
                </a:solidFill>
              </a:rPr>
              <a:t>具体的事物都具有行为和属性两个方面的特征</a:t>
            </a:r>
            <a:r>
              <a:rPr lang="zh-CN" altLang="en-US" dirty="0" smtClean="0"/>
              <a:t>。因此，把描述事物静态属性的数据结构和表示事物动态行为的操作放在一起构成一个整体，才能完整、自然、准确的描述客观世界。</a:t>
            </a:r>
            <a:endParaRPr lang="en-US" altLang="zh-CN" dirty="0" smtClean="0"/>
          </a:p>
          <a:p>
            <a:pPr lvl="1" algn="just">
              <a:spcAft>
                <a:spcPct val="40000"/>
              </a:spcAft>
            </a:pPr>
            <a:r>
              <a:rPr lang="zh-CN" altLang="en-US" dirty="0" smtClean="0"/>
              <a:t>面向对象程序设计模仿人类习惯的解题方式。</a:t>
            </a:r>
            <a:endParaRPr lang="en-US" altLang="zh-CN" dirty="0" smtClean="0"/>
          </a:p>
          <a:p>
            <a:pPr lvl="1" algn="just">
              <a:spcAft>
                <a:spcPct val="40000"/>
              </a:spcAft>
            </a:pPr>
            <a:r>
              <a:rPr lang="zh-CN" altLang="en-US" dirty="0" smtClean="0"/>
              <a:t>面向对象的程序设计</a:t>
            </a:r>
            <a:r>
              <a:rPr lang="zh-CN" altLang="en-US" dirty="0" smtClean="0">
                <a:solidFill>
                  <a:srgbClr val="FF0000"/>
                </a:solidFill>
              </a:rPr>
              <a:t>以对象为核心</a:t>
            </a:r>
            <a:r>
              <a:rPr lang="zh-CN" altLang="en-US" dirty="0" smtClean="0"/>
              <a:t>，以此技术开发出的程序由一系列的对象组成。</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14400" y="274638"/>
            <a:ext cx="7772400" cy="868362"/>
          </a:xfrm>
        </p:spPr>
        <p:txBody>
          <a:bodyPr/>
          <a:lstStyle/>
          <a:p>
            <a:r>
              <a:rPr lang="en-US" altLang="zh-CN" i="1" smtClean="0"/>
              <a:t>6.1</a:t>
            </a:r>
            <a:r>
              <a:rPr lang="zh-CN" altLang="en-US" i="1" smtClean="0"/>
              <a:t>   </a:t>
            </a:r>
            <a:r>
              <a:rPr lang="zh-CN" altLang="en-US" b="1" smtClean="0">
                <a:latin typeface="黑体" pitchFamily="2" charset="-122"/>
              </a:rPr>
              <a:t>一个简单的实例 </a:t>
            </a:r>
            <a:endParaRPr lang="zh-CN" altLang="en-US" i="1" smtClean="0"/>
          </a:p>
        </p:txBody>
      </p:sp>
      <p:sp>
        <p:nvSpPr>
          <p:cNvPr id="4" name="灯片编号占位符 5"/>
          <p:cNvSpPr>
            <a:spLocks noGrp="1"/>
          </p:cNvSpPr>
          <p:nvPr>
            <p:ph type="sldNum" sz="quarter" idx="12"/>
          </p:nvPr>
        </p:nvSpPr>
        <p:spPr/>
        <p:txBody>
          <a:bodyPr/>
          <a:lstStyle/>
          <a:p>
            <a:pPr>
              <a:defRPr/>
            </a:pPr>
            <a:fld id="{AF2D1EE5-A8E4-4217-97AC-529C84ACBAE7}" type="slidenum">
              <a:rPr lang="en-US" altLang="zh-CN"/>
              <a:pPr>
                <a:defRPr/>
              </a:pPr>
              <a:t>28</a:t>
            </a:fld>
            <a:endParaRPr lang="en-US" altLang="zh-CN"/>
          </a:p>
        </p:txBody>
      </p:sp>
      <p:sp>
        <p:nvSpPr>
          <p:cNvPr id="12292" name="Rectangle 3"/>
          <p:cNvSpPr>
            <a:spLocks noGrp="1" noChangeArrowheads="1"/>
          </p:cNvSpPr>
          <p:nvPr>
            <p:ph sz="quarter" idx="1"/>
          </p:nvPr>
        </p:nvSpPr>
        <p:spPr>
          <a:xfrm>
            <a:off x="928688" y="1357313"/>
            <a:ext cx="7772400" cy="4857750"/>
          </a:xfrm>
        </p:spPr>
        <p:txBody>
          <a:bodyPr/>
          <a:lstStyle/>
          <a:p>
            <a:pPr algn="just">
              <a:spcAft>
                <a:spcPct val="40000"/>
              </a:spcAft>
            </a:pPr>
            <a:r>
              <a:rPr lang="zh-CN" altLang="en-US" sz="2800" dirty="0" smtClean="0"/>
              <a:t>一、用对象分解取代功能分解</a:t>
            </a:r>
            <a:endParaRPr lang="en-US" altLang="zh-CN" sz="2800" dirty="0" smtClean="0"/>
          </a:p>
          <a:p>
            <a:pPr lvl="1" algn="just">
              <a:spcAft>
                <a:spcPct val="40000"/>
              </a:spcAft>
            </a:pPr>
            <a:r>
              <a:rPr lang="zh-CN" altLang="en-US" dirty="0" smtClean="0"/>
              <a:t>传统的程序设计方法集中精力于解题算法，因此成为面向过程的程序设计方法。这是在用计算机的观点进行程序设计工作。按照计算机的要求，围绕算法进行程序设计。</a:t>
            </a:r>
            <a:endParaRPr lang="en-US" altLang="zh-CN" dirty="0" smtClean="0"/>
          </a:p>
          <a:p>
            <a:pPr lvl="1" algn="just">
              <a:spcAft>
                <a:spcPct val="40000"/>
              </a:spcAft>
            </a:pPr>
            <a:r>
              <a:rPr lang="zh-CN" altLang="en-US" dirty="0" smtClean="0"/>
              <a:t>但是，计算机的观点和人类的观点有很大区别。面向过程方法开发软件的方法与过程，不同于人类认识世界解决问题时习惯采用的方法与过程。</a:t>
            </a:r>
            <a:endParaRPr lang="en-US" altLang="zh-CN" dirty="0" smtClean="0"/>
          </a:p>
          <a:p>
            <a:pPr lvl="1" algn="just">
              <a:spcAft>
                <a:spcPct val="40000"/>
              </a:spcAft>
            </a:pPr>
            <a:r>
              <a:rPr lang="zh-CN" altLang="en-US" dirty="0" smtClean="0"/>
              <a:t>人类解决问题时习惯的方法是使用</a:t>
            </a:r>
            <a:r>
              <a:rPr lang="zh-CN" altLang="en-US" dirty="0" smtClean="0">
                <a:solidFill>
                  <a:srgbClr val="FF0000"/>
                </a:solidFill>
              </a:rPr>
              <a:t>“顾客</a:t>
            </a:r>
            <a:r>
              <a:rPr lang="en-US" altLang="zh-CN" dirty="0" smtClean="0">
                <a:solidFill>
                  <a:srgbClr val="FF0000"/>
                </a:solidFill>
              </a:rPr>
              <a:t>—</a:t>
            </a:r>
            <a:r>
              <a:rPr lang="zh-CN" altLang="en-US" dirty="0" smtClean="0">
                <a:solidFill>
                  <a:srgbClr val="FF0000"/>
                </a:solidFill>
              </a:rPr>
              <a:t>服务员”</a:t>
            </a:r>
            <a:r>
              <a:rPr lang="zh-CN" altLang="en-US" dirty="0" smtClean="0"/>
              <a:t>的工作模式。</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14400" y="274638"/>
            <a:ext cx="7772400" cy="868362"/>
          </a:xfrm>
        </p:spPr>
        <p:txBody>
          <a:bodyPr/>
          <a:lstStyle/>
          <a:p>
            <a:r>
              <a:rPr lang="en-US" altLang="zh-CN" i="1" smtClean="0"/>
              <a:t>6.1</a:t>
            </a:r>
            <a:r>
              <a:rPr lang="zh-CN" altLang="en-US" i="1" smtClean="0"/>
              <a:t>   </a:t>
            </a:r>
            <a:r>
              <a:rPr lang="zh-CN" altLang="en-US" b="1" smtClean="0">
                <a:latin typeface="黑体" pitchFamily="2" charset="-122"/>
              </a:rPr>
              <a:t>一个简单的实例 </a:t>
            </a:r>
            <a:endParaRPr lang="zh-CN" altLang="en-US" i="1" smtClean="0"/>
          </a:p>
        </p:txBody>
      </p:sp>
      <p:sp>
        <p:nvSpPr>
          <p:cNvPr id="4" name="灯片编号占位符 5"/>
          <p:cNvSpPr>
            <a:spLocks noGrp="1"/>
          </p:cNvSpPr>
          <p:nvPr>
            <p:ph type="sldNum" sz="quarter" idx="12"/>
          </p:nvPr>
        </p:nvSpPr>
        <p:spPr/>
        <p:txBody>
          <a:bodyPr/>
          <a:lstStyle/>
          <a:p>
            <a:pPr>
              <a:defRPr/>
            </a:pPr>
            <a:fld id="{0635807E-78F5-4E34-9ABB-031D0C7898E2}" type="slidenum">
              <a:rPr lang="en-US" altLang="zh-CN"/>
              <a:pPr>
                <a:defRPr/>
              </a:pPr>
              <a:t>29</a:t>
            </a:fld>
            <a:endParaRPr lang="en-US" altLang="zh-CN" dirty="0"/>
          </a:p>
        </p:txBody>
      </p:sp>
      <p:sp>
        <p:nvSpPr>
          <p:cNvPr id="13316" name="Rectangle 3"/>
          <p:cNvSpPr>
            <a:spLocks noGrp="1" noChangeArrowheads="1"/>
          </p:cNvSpPr>
          <p:nvPr>
            <p:ph sz="quarter" idx="1"/>
          </p:nvPr>
        </p:nvSpPr>
        <p:spPr>
          <a:xfrm>
            <a:off x="928688" y="1357313"/>
            <a:ext cx="7772400" cy="4857750"/>
          </a:xfrm>
        </p:spPr>
        <p:txBody>
          <a:bodyPr/>
          <a:lstStyle/>
          <a:p>
            <a:pPr algn="just">
              <a:spcAft>
                <a:spcPct val="40000"/>
              </a:spcAft>
            </a:pPr>
            <a:r>
              <a:rPr lang="zh-CN" altLang="en-US" sz="2800" dirty="0" smtClean="0"/>
              <a:t>一、用对象分解取代功能分解</a:t>
            </a:r>
            <a:endParaRPr lang="en-US" altLang="zh-CN" sz="2800" dirty="0" smtClean="0"/>
          </a:p>
          <a:p>
            <a:pPr lvl="1" algn="just">
              <a:spcAft>
                <a:spcPct val="40000"/>
              </a:spcAft>
            </a:pPr>
            <a:r>
              <a:rPr lang="zh-CN" altLang="en-US" dirty="0" smtClean="0"/>
              <a:t>面向对象程序设计方法用对象分解取代功能分解。把程序分成一系列的对象，每个对象都既有自己的数据（属性），又有处理这些数据的函数（方法）。不同对象之间通过发送消息向对方提出服务要求，</a:t>
            </a:r>
            <a:r>
              <a:rPr lang="zh-CN" altLang="en-US" b="1" dirty="0" smtClean="0">
                <a:solidFill>
                  <a:srgbClr val="FF0000"/>
                </a:solidFill>
              </a:rPr>
              <a:t>接受消息的对象主动完成指定功能</a:t>
            </a:r>
            <a:r>
              <a:rPr lang="zh-CN" altLang="en-US" dirty="0" smtClean="0"/>
              <a:t>。程序中所有对象分工协作，共同完成整个程序的功能。</a:t>
            </a:r>
            <a:endParaRPr lang="en-US" altLang="zh-CN" dirty="0" smtClean="0"/>
          </a:p>
          <a:p>
            <a:pPr lvl="1" algn="just">
              <a:spcAft>
                <a:spcPct val="40000"/>
              </a:spcAft>
            </a:pPr>
            <a:r>
              <a:rPr lang="zh-CN" altLang="en-US" dirty="0" smtClean="0"/>
              <a:t>具体到本例，在问题域中有圆类的两个实例和弧类的一个实例。另外，需要从需求陈述中以及领域知识分析出对象的属性和方法。</a:t>
            </a:r>
            <a:endParaRPr lang="en-US" altLang="zh-CN"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14400" y="274638"/>
            <a:ext cx="7772400" cy="868362"/>
          </a:xfrm>
        </p:spPr>
        <p:txBody>
          <a:bodyPr/>
          <a:lstStyle/>
          <a:p>
            <a:r>
              <a:rPr lang="en-US" altLang="zh-CN" i="1" smtClean="0"/>
              <a:t>6.1</a:t>
            </a:r>
            <a:r>
              <a:rPr lang="zh-CN" altLang="en-US" i="1" smtClean="0"/>
              <a:t>   </a:t>
            </a:r>
            <a:r>
              <a:rPr lang="zh-CN" altLang="en-US" b="1" smtClean="0">
                <a:latin typeface="黑体" pitchFamily="2" charset="-122"/>
              </a:rPr>
              <a:t>一个简单的实例 </a:t>
            </a:r>
            <a:endParaRPr lang="zh-CN" altLang="en-US" i="1" smtClean="0"/>
          </a:p>
        </p:txBody>
      </p:sp>
      <p:sp>
        <p:nvSpPr>
          <p:cNvPr id="4" name="灯片编号占位符 5"/>
          <p:cNvSpPr>
            <a:spLocks noGrp="1"/>
          </p:cNvSpPr>
          <p:nvPr>
            <p:ph type="sldNum" sz="quarter" idx="12"/>
          </p:nvPr>
        </p:nvSpPr>
        <p:spPr/>
        <p:txBody>
          <a:bodyPr/>
          <a:lstStyle/>
          <a:p>
            <a:pPr>
              <a:defRPr/>
            </a:pPr>
            <a:fld id="{F19C62EA-180F-4CFB-BABD-71BC5922E272}" type="slidenum">
              <a:rPr lang="en-US" altLang="zh-CN"/>
              <a:pPr>
                <a:defRPr/>
              </a:pPr>
              <a:t>30</a:t>
            </a:fld>
            <a:endParaRPr lang="en-US" altLang="zh-CN"/>
          </a:p>
        </p:txBody>
      </p:sp>
      <p:sp>
        <p:nvSpPr>
          <p:cNvPr id="14340" name="Rectangle 3"/>
          <p:cNvSpPr>
            <a:spLocks noGrp="1" noChangeArrowheads="1"/>
          </p:cNvSpPr>
          <p:nvPr>
            <p:ph sz="quarter" idx="1"/>
          </p:nvPr>
        </p:nvSpPr>
        <p:spPr>
          <a:xfrm>
            <a:off x="928688" y="1357313"/>
            <a:ext cx="7772400" cy="4857750"/>
          </a:xfrm>
        </p:spPr>
        <p:txBody>
          <a:bodyPr/>
          <a:lstStyle/>
          <a:p>
            <a:pPr algn="just">
              <a:spcAft>
                <a:spcPct val="40000"/>
              </a:spcAft>
            </a:pPr>
            <a:r>
              <a:rPr lang="zh-CN" altLang="en-US" sz="2800" dirty="0" smtClean="0"/>
              <a:t>二、设计类等级</a:t>
            </a:r>
            <a:endParaRPr lang="en-US" altLang="zh-CN" sz="2800" dirty="0" smtClean="0"/>
          </a:p>
          <a:p>
            <a:pPr lvl="1" algn="just">
              <a:spcAft>
                <a:spcPct val="40000"/>
              </a:spcAft>
            </a:pPr>
            <a:r>
              <a:rPr lang="zh-CN" altLang="en-US" sz="2200" dirty="0" smtClean="0"/>
              <a:t>在面向对象设计时，应该把程序中使用的对象都划分成类（</a:t>
            </a:r>
            <a:r>
              <a:rPr lang="en-US" altLang="zh-CN" sz="2200" dirty="0" smtClean="0"/>
              <a:t>class</a:t>
            </a:r>
            <a:r>
              <a:rPr lang="zh-CN" altLang="en-US" sz="2200" dirty="0" smtClean="0"/>
              <a:t>）。每个类定义了一组属性和方法。在使用时通过实例化类来建立一个类的实例，有各自专用的数据。类中的方法是为所有对象共享的。</a:t>
            </a:r>
            <a:endParaRPr lang="en-US" altLang="zh-CN" sz="2200" dirty="0" smtClean="0"/>
          </a:p>
          <a:p>
            <a:pPr lvl="1" algn="just">
              <a:spcAft>
                <a:spcPct val="40000"/>
              </a:spcAft>
            </a:pPr>
            <a:r>
              <a:rPr lang="zh-CN" altLang="en-US" sz="2200" b="1" dirty="0" smtClean="0"/>
              <a:t>按照子类与父类的关系，建立多个类的层次结构</a:t>
            </a:r>
            <a:r>
              <a:rPr lang="zh-CN" altLang="en-US" sz="2200" dirty="0" smtClean="0"/>
              <a:t>。</a:t>
            </a:r>
            <a:endParaRPr lang="en-US" altLang="zh-CN" sz="2200" dirty="0" smtClean="0"/>
          </a:p>
          <a:p>
            <a:pPr lvl="1" algn="just">
              <a:spcAft>
                <a:spcPct val="40000"/>
              </a:spcAft>
            </a:pPr>
            <a:r>
              <a:rPr lang="zh-CN" altLang="en-US" sz="2200" dirty="0" smtClean="0"/>
              <a:t>为了利用继承机制减少冗余信息，建立适当的类等级。只要不违背领域知识，就可以抽取出相似类的公共属性和公共服务，以建立这些相似类的父类，并在类等级的适当层次中正确的定义各个属性和服务。</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14400" y="274638"/>
            <a:ext cx="7772400" cy="868362"/>
          </a:xfrm>
        </p:spPr>
        <p:txBody>
          <a:bodyPr/>
          <a:lstStyle/>
          <a:p>
            <a:r>
              <a:rPr lang="en-US" altLang="zh-CN" i="1" smtClean="0"/>
              <a:t>6.1</a:t>
            </a:r>
            <a:r>
              <a:rPr lang="zh-CN" altLang="en-US" i="1" smtClean="0"/>
              <a:t>   </a:t>
            </a:r>
            <a:r>
              <a:rPr lang="zh-CN" altLang="en-US" b="1" smtClean="0">
                <a:latin typeface="黑体" pitchFamily="2" charset="-122"/>
              </a:rPr>
              <a:t>一个简单的实例 </a:t>
            </a:r>
            <a:endParaRPr lang="zh-CN" altLang="en-US" i="1" smtClean="0"/>
          </a:p>
        </p:txBody>
      </p:sp>
      <p:sp>
        <p:nvSpPr>
          <p:cNvPr id="4" name="灯片编号占位符 5"/>
          <p:cNvSpPr>
            <a:spLocks noGrp="1"/>
          </p:cNvSpPr>
          <p:nvPr>
            <p:ph type="sldNum" sz="quarter" idx="12"/>
          </p:nvPr>
        </p:nvSpPr>
        <p:spPr/>
        <p:txBody>
          <a:bodyPr/>
          <a:lstStyle/>
          <a:p>
            <a:pPr>
              <a:defRPr/>
            </a:pPr>
            <a:fld id="{BAF071D8-6CEF-4962-A5B7-A290591E3D4C}" type="slidenum">
              <a:rPr lang="en-US" altLang="zh-CN"/>
              <a:pPr>
                <a:defRPr/>
              </a:pPr>
              <a:t>31</a:t>
            </a:fld>
            <a:endParaRPr lang="en-US" altLang="zh-CN"/>
          </a:p>
        </p:txBody>
      </p:sp>
      <p:sp>
        <p:nvSpPr>
          <p:cNvPr id="15364" name="Rectangle 3"/>
          <p:cNvSpPr>
            <a:spLocks noGrp="1" noChangeArrowheads="1"/>
          </p:cNvSpPr>
          <p:nvPr>
            <p:ph sz="quarter" idx="1"/>
          </p:nvPr>
        </p:nvSpPr>
        <p:spPr>
          <a:xfrm>
            <a:off x="928688" y="1357313"/>
            <a:ext cx="7772400" cy="4857750"/>
          </a:xfrm>
        </p:spPr>
        <p:txBody>
          <a:bodyPr/>
          <a:lstStyle/>
          <a:p>
            <a:pPr algn="just">
              <a:spcAft>
                <a:spcPct val="40000"/>
              </a:spcAft>
            </a:pPr>
            <a:r>
              <a:rPr lang="zh-CN" altLang="en-US" sz="2800" dirty="0" smtClean="0"/>
              <a:t>三、定义属性和服务</a:t>
            </a:r>
            <a:endParaRPr lang="en-US" altLang="zh-CN" sz="2800" dirty="0" smtClean="0"/>
          </a:p>
          <a:p>
            <a:pPr lvl="1" algn="just">
              <a:spcAft>
                <a:spcPct val="40000"/>
              </a:spcAft>
            </a:pPr>
            <a:r>
              <a:rPr lang="en-US" altLang="zh-CN" sz="2400" dirty="0" smtClean="0"/>
              <a:t>1</a:t>
            </a:r>
            <a:r>
              <a:rPr lang="zh-CN" altLang="en-US" sz="2400" dirty="0" smtClean="0"/>
              <a:t>、定义属性：就是确定每个属性的数据类型和数据结构，同时还要确定每个属性的访问权限。</a:t>
            </a:r>
            <a:endParaRPr lang="en-US" altLang="zh-CN" sz="2400" dirty="0" smtClean="0"/>
          </a:p>
          <a:p>
            <a:pPr lvl="1" algn="just">
              <a:spcAft>
                <a:spcPct val="40000"/>
              </a:spcAft>
            </a:pPr>
            <a:r>
              <a:rPr lang="en-US" altLang="zh-CN" sz="2400" dirty="0" smtClean="0"/>
              <a:t>2</a:t>
            </a:r>
            <a:r>
              <a:rPr lang="zh-CN" altLang="en-US" sz="2400" dirty="0" smtClean="0"/>
              <a:t>、定义服务：每个对象应该知道怎样完成自己负责提供的服务功能，使用者只需向对象发送消息即可。定义服务的主要任务就是设计完成每项服务功能的算法。在设计算法时可使用前面讲过的结构程序设计技术。</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1A1848A1-CFEF-4F4F-9354-92973DA2BABD}" type="slidenum">
              <a:rPr lang="en-US" altLang="zh-CN"/>
              <a:pPr>
                <a:defRPr/>
              </a:pPr>
              <a:t>32</a:t>
            </a:fld>
            <a:endParaRPr lang="en-US" altLang="zh-CN"/>
          </a:p>
        </p:txBody>
      </p:sp>
      <p:sp>
        <p:nvSpPr>
          <p:cNvPr id="16387" name="Rectangle 3"/>
          <p:cNvSpPr>
            <a:spLocks noGrp="1" noChangeArrowheads="1"/>
          </p:cNvSpPr>
          <p:nvPr>
            <p:ph sz="quarter" idx="1"/>
          </p:nvPr>
        </p:nvSpPr>
        <p:spPr/>
        <p:txBody>
          <a:bodyPr/>
          <a:lstStyle/>
          <a:p>
            <a:pPr algn="just">
              <a:spcAft>
                <a:spcPct val="40000"/>
              </a:spcAft>
            </a:pPr>
            <a:r>
              <a:rPr lang="zh-CN" altLang="en-US" dirty="0" smtClean="0"/>
              <a:t>面向对象（</a:t>
            </a:r>
            <a:r>
              <a:rPr lang="en-US" altLang="zh-CN" dirty="0" smtClean="0">
                <a:latin typeface="黑体" pitchFamily="2" charset="-122"/>
              </a:rPr>
              <a:t>Object-Oriented</a:t>
            </a:r>
            <a:r>
              <a:rPr lang="en-US" altLang="zh-CN" dirty="0" smtClean="0"/>
              <a:t>，</a:t>
            </a:r>
            <a:r>
              <a:rPr lang="zh-CN" altLang="en-US" dirty="0" smtClean="0"/>
              <a:t>缩写为</a:t>
            </a:r>
            <a:r>
              <a:rPr lang="en-US" altLang="zh-CN" dirty="0" smtClean="0">
                <a:latin typeface="黑体" pitchFamily="2" charset="-122"/>
              </a:rPr>
              <a:t>OO</a:t>
            </a:r>
            <a:r>
              <a:rPr lang="en-US" altLang="zh-CN" dirty="0" smtClean="0"/>
              <a:t>）</a:t>
            </a:r>
            <a:r>
              <a:rPr lang="zh-CN" altLang="en-US" dirty="0" smtClean="0"/>
              <a:t>方法的出发点和基本原则，是尽可能模拟人类习惯的思维方式，使开发软件的方法与过程尽可能接近人类认识世界解决问题的方法与过程。也就是使描述问题的问题空间</a:t>
            </a:r>
            <a:r>
              <a:rPr lang="zh-CN" altLang="en-US" dirty="0" smtClean="0">
                <a:latin typeface="黑体" pitchFamily="2" charset="-122"/>
              </a:rPr>
              <a:t>(</a:t>
            </a:r>
            <a:r>
              <a:rPr lang="zh-CN" altLang="en-US" dirty="0" smtClean="0"/>
              <a:t>也称为</a:t>
            </a:r>
            <a:r>
              <a:rPr lang="zh-CN" altLang="en-US" dirty="0" smtClean="0">
                <a:solidFill>
                  <a:srgbClr val="FF0000"/>
                </a:solidFill>
              </a:rPr>
              <a:t>问题域</a:t>
            </a:r>
            <a:r>
              <a:rPr lang="zh-CN" altLang="en-US" dirty="0" smtClean="0">
                <a:latin typeface="黑体" pitchFamily="2" charset="-122"/>
              </a:rPr>
              <a:t>)</a:t>
            </a:r>
            <a:r>
              <a:rPr lang="zh-CN" altLang="en-US" dirty="0" smtClean="0"/>
              <a:t>与实现解法的解空间</a:t>
            </a:r>
            <a:r>
              <a:rPr lang="zh-CN" altLang="en-US" dirty="0" smtClean="0">
                <a:latin typeface="黑体" pitchFamily="2" charset="-122"/>
              </a:rPr>
              <a:t>(</a:t>
            </a:r>
            <a:r>
              <a:rPr lang="zh-CN" altLang="en-US" dirty="0" smtClean="0"/>
              <a:t>也称为</a:t>
            </a:r>
            <a:r>
              <a:rPr lang="zh-CN" altLang="en-US" dirty="0" smtClean="0">
                <a:solidFill>
                  <a:srgbClr val="FF0000"/>
                </a:solidFill>
              </a:rPr>
              <a:t>求解域</a:t>
            </a:r>
            <a:r>
              <a:rPr lang="zh-CN" altLang="en-US" dirty="0" smtClean="0">
                <a:latin typeface="黑体" pitchFamily="2" charset="-122"/>
              </a:rPr>
              <a:t>)</a:t>
            </a:r>
            <a:r>
              <a:rPr lang="zh-CN" altLang="en-US" dirty="0" smtClean="0"/>
              <a:t>在结构上尽可能一致。</a:t>
            </a:r>
          </a:p>
        </p:txBody>
      </p:sp>
      <p:sp>
        <p:nvSpPr>
          <p:cNvPr id="16388" name="Rectangle 2"/>
          <p:cNvSpPr>
            <a:spLocks noGrp="1" noChangeArrowheads="1"/>
          </p:cNvSpPr>
          <p:nvPr>
            <p:ph type="title"/>
          </p:nvPr>
        </p:nvSpPr>
        <p:spPr>
          <a:xfrm>
            <a:off x="914400" y="274638"/>
            <a:ext cx="7772400" cy="868362"/>
          </a:xfrm>
        </p:spPr>
        <p:txBody>
          <a:bodyPr/>
          <a:lstStyle/>
          <a:p>
            <a:r>
              <a:rPr lang="en-US" altLang="zh-CN" i="1" smtClean="0"/>
              <a:t>6.2</a:t>
            </a:r>
            <a:r>
              <a:rPr lang="zh-CN" altLang="en-US" i="1" smtClean="0"/>
              <a:t>   面向对象方法学</a:t>
            </a:r>
            <a:r>
              <a:rPr lang="zh-CN" altLang="en-US" b="1" smtClean="0">
                <a:latin typeface="黑体" pitchFamily="2" charset="-122"/>
              </a:rPr>
              <a:t> </a:t>
            </a:r>
            <a:endParaRPr lang="zh-CN" altLang="en-US" i="1"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932178F4-053F-4607-A36E-12E083E4BAD3}" type="slidenum">
              <a:rPr lang="en-US" altLang="zh-CN"/>
              <a:pPr>
                <a:defRPr/>
              </a:pPr>
              <a:t>33</a:t>
            </a:fld>
            <a:endParaRPr lang="en-US" altLang="zh-CN"/>
          </a:p>
        </p:txBody>
      </p:sp>
      <p:sp>
        <p:nvSpPr>
          <p:cNvPr id="17411" name="Rectangle 3"/>
          <p:cNvSpPr>
            <a:spLocks noGrp="1" noChangeArrowheads="1"/>
          </p:cNvSpPr>
          <p:nvPr>
            <p:ph sz="quarter" idx="1"/>
          </p:nvPr>
        </p:nvSpPr>
        <p:spPr/>
        <p:txBody>
          <a:bodyPr/>
          <a:lstStyle/>
          <a:p>
            <a:pPr algn="just">
              <a:spcAft>
                <a:spcPct val="40000"/>
              </a:spcAft>
            </a:pPr>
            <a:r>
              <a:rPr lang="zh-CN" altLang="en-US" dirty="0" smtClean="0"/>
              <a:t>客观世界的问题都是由客观世界中的实体及实体间的关系构成的。把客观世界中的实体抽象为</a:t>
            </a:r>
            <a:r>
              <a:rPr lang="zh-CN" altLang="en-US" dirty="0" smtClean="0">
                <a:solidFill>
                  <a:srgbClr val="FF0000"/>
                </a:solidFill>
              </a:rPr>
              <a:t>问题域中的对象</a:t>
            </a:r>
            <a:r>
              <a:rPr lang="zh-CN" altLang="en-US" dirty="0" smtClean="0"/>
              <a:t>。</a:t>
            </a:r>
            <a:endParaRPr lang="en-US" altLang="zh-CN" dirty="0" smtClean="0"/>
          </a:p>
          <a:p>
            <a:pPr algn="just">
              <a:spcAft>
                <a:spcPct val="40000"/>
              </a:spcAft>
            </a:pPr>
            <a:r>
              <a:rPr lang="zh-CN" altLang="en-US" dirty="0" smtClean="0"/>
              <a:t>计算机解决客观世界的问题，是借助于某种程序设计语言的规定，对计算机中的实体施加某种处理，并用处理结果去映射解。把计算机中的实体称为</a:t>
            </a:r>
            <a:r>
              <a:rPr lang="zh-CN" altLang="en-US" dirty="0" smtClean="0">
                <a:solidFill>
                  <a:srgbClr val="FF0000"/>
                </a:solidFill>
              </a:rPr>
              <a:t>解空间对象</a:t>
            </a:r>
            <a:r>
              <a:rPr lang="zh-CN" altLang="en-US" dirty="0" smtClean="0"/>
              <a:t>。</a:t>
            </a:r>
            <a:endParaRPr lang="en-US" altLang="zh-CN" dirty="0" smtClean="0"/>
          </a:p>
          <a:p>
            <a:pPr algn="just">
              <a:spcAft>
                <a:spcPct val="40000"/>
              </a:spcAft>
            </a:pPr>
            <a:r>
              <a:rPr lang="zh-CN" altLang="en-US" dirty="0" smtClean="0"/>
              <a:t>传统设计方法</a:t>
            </a:r>
            <a:r>
              <a:rPr lang="en-US" altLang="zh-CN" dirty="0" smtClean="0">
                <a:sym typeface="Wingdings" pitchFamily="2" charset="2"/>
              </a:rPr>
              <a:t></a:t>
            </a:r>
            <a:r>
              <a:rPr lang="zh-CN" altLang="en-US" dirty="0" smtClean="0">
                <a:sym typeface="Wingdings" pitchFamily="2" charset="2"/>
              </a:rPr>
              <a:t>“语义断层”</a:t>
            </a:r>
            <a:endParaRPr lang="en-US" altLang="zh-CN" dirty="0" smtClean="0">
              <a:sym typeface="Wingdings" pitchFamily="2" charset="2"/>
            </a:endParaRPr>
          </a:p>
          <a:p>
            <a:pPr algn="just">
              <a:spcAft>
                <a:spcPct val="40000"/>
              </a:spcAft>
            </a:pPr>
            <a:endParaRPr lang="zh-CN" altLang="en-US" dirty="0" smtClean="0"/>
          </a:p>
        </p:txBody>
      </p:sp>
      <p:sp>
        <p:nvSpPr>
          <p:cNvPr id="8" name="Rectangle 2"/>
          <p:cNvSpPr txBox="1">
            <a:spLocks noChangeArrowheads="1"/>
          </p:cNvSpPr>
          <p:nvPr/>
        </p:nvSpPr>
        <p:spPr>
          <a:xfrm>
            <a:off x="914400" y="274638"/>
            <a:ext cx="7772400" cy="868362"/>
          </a:xfrm>
          <a:prstGeom prst="rect">
            <a:avLst/>
          </a:prstGeom>
        </p:spPr>
        <p:txBody>
          <a:bodyPr bIns="91440" anchor="b">
            <a:normAutofit/>
          </a:bodyPr>
          <a:lstStyle/>
          <a:p>
            <a:pPr fontAlgn="auto">
              <a:spcAft>
                <a:spcPts val="0"/>
              </a:spcAft>
              <a:defRPr/>
            </a:pPr>
            <a:r>
              <a:rPr lang="en-US" altLang="zh-CN" sz="4000" i="1">
                <a:solidFill>
                  <a:schemeClr val="tx2"/>
                </a:solidFill>
                <a:latin typeface="+mj-lt"/>
                <a:ea typeface="+mj-ea"/>
                <a:cs typeface="+mj-cs"/>
              </a:rPr>
              <a:t>6.2</a:t>
            </a:r>
            <a:r>
              <a:rPr lang="zh-CN" altLang="en-US" sz="4000" i="1">
                <a:solidFill>
                  <a:schemeClr val="tx2"/>
                </a:solidFill>
                <a:latin typeface="+mj-lt"/>
                <a:ea typeface="+mj-ea"/>
                <a:cs typeface="+mj-cs"/>
              </a:rPr>
              <a:t>   面向对象方法学</a:t>
            </a:r>
            <a:r>
              <a:rPr lang="zh-CN" altLang="en-US" sz="4000" b="1">
                <a:solidFill>
                  <a:schemeClr val="tx2"/>
                </a:solidFill>
                <a:latin typeface="黑体" pitchFamily="2" charset="-122"/>
                <a:ea typeface="+mj-ea"/>
                <a:cs typeface="+mj-cs"/>
              </a:rPr>
              <a:t> </a:t>
            </a:r>
            <a:endParaRPr lang="zh-CN" altLang="en-US" sz="4000" i="1"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953810FA-9732-4A7B-B793-A3A4B5CAC3C9}" type="slidenum">
              <a:rPr lang="en-US" altLang="zh-CN"/>
              <a:pPr>
                <a:defRPr/>
              </a:pPr>
              <a:t>34</a:t>
            </a:fld>
            <a:endParaRPr lang="en-US" altLang="zh-CN"/>
          </a:p>
        </p:txBody>
      </p:sp>
      <p:sp>
        <p:nvSpPr>
          <p:cNvPr id="218115" name="Rectangle 3"/>
          <p:cNvSpPr>
            <a:spLocks noGrp="1" noChangeArrowheads="1"/>
          </p:cNvSpPr>
          <p:nvPr>
            <p:ph sz="quarter" idx="1"/>
          </p:nvPr>
        </p:nvSpPr>
        <p:spPr>
          <a:xfrm>
            <a:off x="928662" y="1357298"/>
            <a:ext cx="7215238" cy="4572032"/>
          </a:xfrm>
        </p:spPr>
        <p:txBody>
          <a:bodyPr>
            <a:normAutofit/>
          </a:bodyPr>
          <a:lstStyle/>
          <a:p>
            <a:pPr marL="274320" indent="-274320" algn="just" fontAlgn="auto">
              <a:spcBef>
                <a:spcPts val="580"/>
              </a:spcBef>
              <a:spcAft>
                <a:spcPct val="40000"/>
              </a:spcAft>
              <a:buFont typeface="Wingdings 2"/>
              <a:buChar char=""/>
              <a:defRPr/>
            </a:pPr>
            <a:r>
              <a:rPr lang="zh-CN" altLang="en-US" sz="2400" dirty="0" smtClean="0">
                <a:solidFill>
                  <a:srgbClr val="FF0000"/>
                </a:solidFill>
                <a:sym typeface="Wingdings" pitchFamily="2" charset="2"/>
              </a:rPr>
              <a:t>对象与传统数据</a:t>
            </a:r>
            <a:r>
              <a:rPr lang="zh-CN" altLang="en-US" sz="2400" dirty="0" smtClean="0">
                <a:sym typeface="Wingdings" pitchFamily="2" charset="2"/>
              </a:rPr>
              <a:t>有本质区别，不是被动地等待外界对他施加操作，而是进行处理的主体。</a:t>
            </a:r>
            <a:endParaRPr lang="en-US" altLang="zh-CN" sz="2400" dirty="0" smtClean="0">
              <a:sym typeface="Wingdings" pitchFamily="2" charset="2"/>
            </a:endParaRPr>
          </a:p>
          <a:p>
            <a:pPr marL="274320" indent="-274320" algn="just" fontAlgn="auto">
              <a:spcBef>
                <a:spcPts val="580"/>
              </a:spcBef>
              <a:spcAft>
                <a:spcPct val="40000"/>
              </a:spcAft>
              <a:buFont typeface="Wingdings 2"/>
              <a:buChar char=""/>
              <a:defRPr/>
            </a:pPr>
            <a:r>
              <a:rPr lang="zh-CN" altLang="en-US" sz="2400" dirty="0" smtClean="0">
                <a:sym typeface="Wingdings" pitchFamily="2" charset="2"/>
              </a:rPr>
              <a:t>面向对象方法学让软件开发者自己定义或选取解空间对象，然后把软件系统作为一系列离散的解空间对象的集合。</a:t>
            </a:r>
            <a:endParaRPr lang="en-US" altLang="zh-CN" sz="2400" dirty="0" smtClean="0">
              <a:sym typeface="Wingdings" pitchFamily="2" charset="2"/>
            </a:endParaRPr>
          </a:p>
          <a:p>
            <a:pPr marL="274320" indent="-274320" algn="just" fontAlgn="auto">
              <a:spcBef>
                <a:spcPts val="580"/>
              </a:spcBef>
              <a:spcAft>
                <a:spcPct val="40000"/>
              </a:spcAft>
              <a:buFont typeface="Wingdings 2"/>
              <a:buChar char=""/>
              <a:defRPr/>
            </a:pPr>
            <a:r>
              <a:rPr lang="zh-CN" altLang="en-US" sz="2400" dirty="0" smtClean="0">
                <a:sym typeface="Wingdings" pitchFamily="2" charset="2"/>
              </a:rPr>
              <a:t>是一种新的思维方法。不是把程序看作工作在数据上的一系列过程或函数的集合，而是看作相互协作又彼此独立的对象的集合。</a:t>
            </a:r>
            <a:endParaRPr lang="en-US" altLang="zh-CN" sz="2400" dirty="0" smtClean="0">
              <a:sym typeface="Wingdings" pitchFamily="2" charset="2"/>
            </a:endParaRPr>
          </a:p>
          <a:p>
            <a:pPr marL="274320" indent="-274320" algn="just" fontAlgn="auto">
              <a:spcBef>
                <a:spcPts val="580"/>
              </a:spcBef>
              <a:spcAft>
                <a:spcPct val="40000"/>
              </a:spcAft>
              <a:buFont typeface="Wingdings 2"/>
              <a:buChar char=""/>
              <a:defRPr/>
            </a:pPr>
            <a:r>
              <a:rPr lang="zh-CN" altLang="en-US" sz="2400" dirty="0" smtClean="0">
                <a:sym typeface="Wingdings" pitchFamily="2" charset="2"/>
              </a:rPr>
              <a:t>许多系统中解空间对象都可以直接模拟问题空间的对象。</a:t>
            </a:r>
            <a:endParaRPr lang="en-US" altLang="zh-CN" sz="2400" dirty="0" smtClean="0">
              <a:sym typeface="Wingdings" pitchFamily="2" charset="2"/>
            </a:endParaRPr>
          </a:p>
          <a:p>
            <a:pPr marL="274320" indent="-274320" algn="just" fontAlgn="auto">
              <a:spcBef>
                <a:spcPts val="580"/>
              </a:spcBef>
              <a:spcAft>
                <a:spcPct val="40000"/>
              </a:spcAft>
              <a:buFont typeface="Wingdings 2"/>
              <a:buChar char=""/>
              <a:defRPr/>
            </a:pPr>
            <a:endParaRPr lang="zh-CN" altLang="en-US" dirty="0"/>
          </a:p>
        </p:txBody>
      </p:sp>
      <p:sp>
        <p:nvSpPr>
          <p:cNvPr id="8" name="Rectangle 2"/>
          <p:cNvSpPr txBox="1">
            <a:spLocks noChangeArrowheads="1"/>
          </p:cNvSpPr>
          <p:nvPr/>
        </p:nvSpPr>
        <p:spPr>
          <a:xfrm>
            <a:off x="914400" y="274638"/>
            <a:ext cx="7772400" cy="868362"/>
          </a:xfrm>
          <a:prstGeom prst="rect">
            <a:avLst/>
          </a:prstGeom>
        </p:spPr>
        <p:txBody>
          <a:bodyPr bIns="91440" anchor="b">
            <a:normAutofit/>
          </a:bodyPr>
          <a:lstStyle/>
          <a:p>
            <a:pPr fontAlgn="auto">
              <a:spcAft>
                <a:spcPts val="0"/>
              </a:spcAft>
              <a:defRPr/>
            </a:pPr>
            <a:r>
              <a:rPr lang="en-US" altLang="zh-CN" sz="4000" i="1" dirty="0">
                <a:solidFill>
                  <a:schemeClr val="tx2"/>
                </a:solidFill>
                <a:latin typeface="+mj-lt"/>
                <a:ea typeface="+mj-ea"/>
                <a:cs typeface="+mj-cs"/>
              </a:rPr>
              <a:t>6.2</a:t>
            </a:r>
            <a:r>
              <a:rPr lang="zh-CN" altLang="en-US" sz="4000" i="1" dirty="0">
                <a:solidFill>
                  <a:schemeClr val="tx2"/>
                </a:solidFill>
                <a:latin typeface="+mj-lt"/>
                <a:ea typeface="+mj-ea"/>
                <a:cs typeface="+mj-cs"/>
              </a:rPr>
              <a:t>   面向对象方法学</a:t>
            </a:r>
            <a:r>
              <a:rPr lang="zh-CN" altLang="en-US" sz="4000" b="1" dirty="0">
                <a:solidFill>
                  <a:schemeClr val="tx2"/>
                </a:solidFill>
                <a:latin typeface="黑体" pitchFamily="2" charset="-122"/>
                <a:ea typeface="+mj-ea"/>
                <a:cs typeface="+mj-cs"/>
              </a:rPr>
              <a:t> </a:t>
            </a:r>
            <a:endParaRPr lang="zh-CN" altLang="en-US" sz="4000" i="1"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灯片编号占位符 5"/>
          <p:cNvSpPr>
            <a:spLocks noGrp="1"/>
          </p:cNvSpPr>
          <p:nvPr>
            <p:ph type="sldNum" sz="quarter" idx="12"/>
          </p:nvPr>
        </p:nvSpPr>
        <p:spPr/>
        <p:txBody>
          <a:bodyPr/>
          <a:lstStyle/>
          <a:p>
            <a:pPr>
              <a:defRPr/>
            </a:pPr>
            <a:fld id="{FC2D78CE-2C2B-4071-BD93-A73330B438CE}" type="slidenum">
              <a:rPr lang="en-US" altLang="zh-CN"/>
              <a:pPr>
                <a:defRPr/>
              </a:pPr>
              <a:t>35</a:t>
            </a:fld>
            <a:endParaRPr lang="en-US" altLang="zh-CN"/>
          </a:p>
        </p:txBody>
      </p:sp>
      <p:grpSp>
        <p:nvGrpSpPr>
          <p:cNvPr id="2" name="Group 89"/>
          <p:cNvGrpSpPr>
            <a:grpSpLocks/>
          </p:cNvGrpSpPr>
          <p:nvPr/>
        </p:nvGrpSpPr>
        <p:grpSpPr bwMode="auto">
          <a:xfrm>
            <a:off x="749300" y="1363663"/>
            <a:ext cx="8251825" cy="5208587"/>
            <a:chOff x="185" y="111"/>
            <a:chExt cx="5575" cy="4204"/>
          </a:xfrm>
        </p:grpSpPr>
        <p:grpSp>
          <p:nvGrpSpPr>
            <p:cNvPr id="3" name="Group 2"/>
            <p:cNvGrpSpPr>
              <a:grpSpLocks/>
            </p:cNvGrpSpPr>
            <p:nvPr/>
          </p:nvGrpSpPr>
          <p:grpSpPr bwMode="auto">
            <a:xfrm>
              <a:off x="4704" y="2880"/>
              <a:ext cx="528" cy="816"/>
              <a:chOff x="4704" y="2112"/>
              <a:chExt cx="528" cy="816"/>
            </a:xfrm>
          </p:grpSpPr>
          <p:sp>
            <p:nvSpPr>
              <p:cNvPr id="219139" name="Rectangle 3"/>
              <p:cNvSpPr>
                <a:spLocks noChangeArrowheads="1"/>
              </p:cNvSpPr>
              <p:nvPr/>
            </p:nvSpPr>
            <p:spPr bwMode="auto">
              <a:xfrm>
                <a:off x="4704" y="2112"/>
                <a:ext cx="529" cy="816"/>
              </a:xfrm>
              <a:prstGeom prst="rect">
                <a:avLst/>
              </a:prstGeom>
              <a:noFill/>
              <a:ln w="12700">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40" name="Line 4"/>
              <p:cNvSpPr>
                <a:spLocks noChangeShapeType="1"/>
              </p:cNvSpPr>
              <p:nvPr/>
            </p:nvSpPr>
            <p:spPr bwMode="auto">
              <a:xfrm>
                <a:off x="4763" y="2175"/>
                <a:ext cx="176" cy="0"/>
              </a:xfrm>
              <a:prstGeom prst="line">
                <a:avLst/>
              </a:prstGeom>
              <a:noFill/>
              <a:ln w="12700">
                <a:solidFill>
                  <a:schemeClr val="tx1"/>
                </a:solidFill>
                <a:prstDash val="dashDot"/>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4" name="Group 5"/>
            <p:cNvGrpSpPr>
              <a:grpSpLocks/>
            </p:cNvGrpSpPr>
            <p:nvPr/>
          </p:nvGrpSpPr>
          <p:grpSpPr bwMode="auto">
            <a:xfrm>
              <a:off x="4752" y="2928"/>
              <a:ext cx="528" cy="816"/>
              <a:chOff x="4704" y="2112"/>
              <a:chExt cx="528" cy="816"/>
            </a:xfrm>
          </p:grpSpPr>
          <p:sp>
            <p:nvSpPr>
              <p:cNvPr id="219142" name="Rectangle 6"/>
              <p:cNvSpPr>
                <a:spLocks noChangeArrowheads="1"/>
              </p:cNvSpPr>
              <p:nvPr/>
            </p:nvSpPr>
            <p:spPr bwMode="auto">
              <a:xfrm>
                <a:off x="4704" y="2113"/>
                <a:ext cx="528" cy="815"/>
              </a:xfrm>
              <a:prstGeom prst="rect">
                <a:avLst/>
              </a:prstGeom>
              <a:noFill/>
              <a:ln w="12700">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43" name="Line 7"/>
              <p:cNvSpPr>
                <a:spLocks noChangeShapeType="1"/>
              </p:cNvSpPr>
              <p:nvPr/>
            </p:nvSpPr>
            <p:spPr bwMode="auto">
              <a:xfrm>
                <a:off x="4763" y="2175"/>
                <a:ext cx="176" cy="0"/>
              </a:xfrm>
              <a:prstGeom prst="line">
                <a:avLst/>
              </a:prstGeom>
              <a:noFill/>
              <a:ln w="12700">
                <a:solidFill>
                  <a:schemeClr val="tx1"/>
                </a:solidFill>
                <a:prstDash val="dashDot"/>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sp>
          <p:nvSpPr>
            <p:cNvPr id="219144" name="Freeform 8" descr="水滴"/>
            <p:cNvSpPr>
              <a:spLocks/>
            </p:cNvSpPr>
            <p:nvPr/>
          </p:nvSpPr>
          <p:spPr bwMode="auto">
            <a:xfrm>
              <a:off x="288" y="240"/>
              <a:ext cx="988" cy="1103"/>
            </a:xfrm>
            <a:custGeom>
              <a:avLst/>
              <a:gdLst/>
              <a:ahLst/>
              <a:cxnLst>
                <a:cxn ang="0">
                  <a:pos x="322" y="156"/>
                </a:cxn>
                <a:cxn ang="0">
                  <a:pos x="545" y="100"/>
                </a:cxn>
                <a:cxn ang="0">
                  <a:pos x="656" y="23"/>
                </a:cxn>
                <a:cxn ang="0">
                  <a:pos x="722" y="0"/>
                </a:cxn>
                <a:cxn ang="0">
                  <a:pos x="822" y="11"/>
                </a:cxn>
                <a:cxn ang="0">
                  <a:pos x="889" y="34"/>
                </a:cxn>
                <a:cxn ang="0">
                  <a:pos x="922" y="45"/>
                </a:cxn>
                <a:cxn ang="0">
                  <a:pos x="911" y="178"/>
                </a:cxn>
                <a:cxn ang="0">
                  <a:pos x="900" y="211"/>
                </a:cxn>
                <a:cxn ang="0">
                  <a:pos x="878" y="234"/>
                </a:cxn>
                <a:cxn ang="0">
                  <a:pos x="856" y="300"/>
                </a:cxn>
                <a:cxn ang="0">
                  <a:pos x="845" y="334"/>
                </a:cxn>
                <a:cxn ang="0">
                  <a:pos x="834" y="367"/>
                </a:cxn>
                <a:cxn ang="0">
                  <a:pos x="767" y="700"/>
                </a:cxn>
                <a:cxn ang="0">
                  <a:pos x="645" y="778"/>
                </a:cxn>
                <a:cxn ang="0">
                  <a:pos x="578" y="800"/>
                </a:cxn>
                <a:cxn ang="0">
                  <a:pos x="300" y="700"/>
                </a:cxn>
                <a:cxn ang="0">
                  <a:pos x="233" y="634"/>
                </a:cxn>
                <a:cxn ang="0">
                  <a:pos x="211" y="611"/>
                </a:cxn>
                <a:cxn ang="0">
                  <a:pos x="122" y="456"/>
                </a:cxn>
                <a:cxn ang="0">
                  <a:pos x="111" y="423"/>
                </a:cxn>
                <a:cxn ang="0">
                  <a:pos x="56" y="367"/>
                </a:cxn>
                <a:cxn ang="0">
                  <a:pos x="22" y="300"/>
                </a:cxn>
                <a:cxn ang="0">
                  <a:pos x="0" y="211"/>
                </a:cxn>
                <a:cxn ang="0">
                  <a:pos x="56" y="78"/>
                </a:cxn>
                <a:cxn ang="0">
                  <a:pos x="200" y="100"/>
                </a:cxn>
                <a:cxn ang="0">
                  <a:pos x="256" y="134"/>
                </a:cxn>
                <a:cxn ang="0">
                  <a:pos x="289" y="156"/>
                </a:cxn>
                <a:cxn ang="0">
                  <a:pos x="322" y="156"/>
                </a:cxn>
              </a:cxnLst>
              <a:rect l="0" t="0" r="r" b="b"/>
              <a:pathLst>
                <a:path w="971" h="800">
                  <a:moveTo>
                    <a:pt x="322" y="156"/>
                  </a:moveTo>
                  <a:cubicBezTo>
                    <a:pt x="396" y="138"/>
                    <a:pt x="471" y="118"/>
                    <a:pt x="545" y="100"/>
                  </a:cubicBezTo>
                  <a:cubicBezTo>
                    <a:pt x="585" y="73"/>
                    <a:pt x="610" y="41"/>
                    <a:pt x="656" y="23"/>
                  </a:cubicBezTo>
                  <a:cubicBezTo>
                    <a:pt x="678" y="14"/>
                    <a:pt x="722" y="0"/>
                    <a:pt x="722" y="0"/>
                  </a:cubicBezTo>
                  <a:cubicBezTo>
                    <a:pt x="755" y="4"/>
                    <a:pt x="789" y="4"/>
                    <a:pt x="822" y="11"/>
                  </a:cubicBezTo>
                  <a:cubicBezTo>
                    <a:pt x="845" y="16"/>
                    <a:pt x="867" y="26"/>
                    <a:pt x="889" y="34"/>
                  </a:cubicBezTo>
                  <a:cubicBezTo>
                    <a:pt x="900" y="38"/>
                    <a:pt x="922" y="45"/>
                    <a:pt x="922" y="45"/>
                  </a:cubicBezTo>
                  <a:cubicBezTo>
                    <a:pt x="971" y="92"/>
                    <a:pt x="943" y="131"/>
                    <a:pt x="911" y="178"/>
                  </a:cubicBezTo>
                  <a:cubicBezTo>
                    <a:pt x="907" y="189"/>
                    <a:pt x="906" y="201"/>
                    <a:pt x="900" y="211"/>
                  </a:cubicBezTo>
                  <a:cubicBezTo>
                    <a:pt x="895" y="220"/>
                    <a:pt x="883" y="224"/>
                    <a:pt x="878" y="234"/>
                  </a:cubicBezTo>
                  <a:cubicBezTo>
                    <a:pt x="868" y="255"/>
                    <a:pt x="863" y="278"/>
                    <a:pt x="856" y="300"/>
                  </a:cubicBezTo>
                  <a:cubicBezTo>
                    <a:pt x="852" y="311"/>
                    <a:pt x="849" y="323"/>
                    <a:pt x="845" y="334"/>
                  </a:cubicBezTo>
                  <a:cubicBezTo>
                    <a:pt x="841" y="345"/>
                    <a:pt x="834" y="367"/>
                    <a:pt x="834" y="367"/>
                  </a:cubicBezTo>
                  <a:cubicBezTo>
                    <a:pt x="827" y="463"/>
                    <a:pt x="837" y="616"/>
                    <a:pt x="767" y="700"/>
                  </a:cubicBezTo>
                  <a:cubicBezTo>
                    <a:pt x="733" y="741"/>
                    <a:pt x="701" y="760"/>
                    <a:pt x="645" y="778"/>
                  </a:cubicBezTo>
                  <a:cubicBezTo>
                    <a:pt x="623" y="785"/>
                    <a:pt x="578" y="800"/>
                    <a:pt x="578" y="800"/>
                  </a:cubicBezTo>
                  <a:cubicBezTo>
                    <a:pt x="461" y="790"/>
                    <a:pt x="387" y="786"/>
                    <a:pt x="300" y="700"/>
                  </a:cubicBezTo>
                  <a:cubicBezTo>
                    <a:pt x="278" y="678"/>
                    <a:pt x="255" y="656"/>
                    <a:pt x="233" y="634"/>
                  </a:cubicBezTo>
                  <a:cubicBezTo>
                    <a:pt x="225" y="626"/>
                    <a:pt x="211" y="611"/>
                    <a:pt x="211" y="611"/>
                  </a:cubicBezTo>
                  <a:cubicBezTo>
                    <a:pt x="200" y="577"/>
                    <a:pt x="151" y="484"/>
                    <a:pt x="122" y="456"/>
                  </a:cubicBezTo>
                  <a:cubicBezTo>
                    <a:pt x="118" y="445"/>
                    <a:pt x="118" y="432"/>
                    <a:pt x="111" y="423"/>
                  </a:cubicBezTo>
                  <a:cubicBezTo>
                    <a:pt x="95" y="402"/>
                    <a:pt x="56" y="367"/>
                    <a:pt x="56" y="367"/>
                  </a:cubicBezTo>
                  <a:cubicBezTo>
                    <a:pt x="29" y="285"/>
                    <a:pt x="66" y="386"/>
                    <a:pt x="22" y="300"/>
                  </a:cubicBezTo>
                  <a:cubicBezTo>
                    <a:pt x="11" y="278"/>
                    <a:pt x="4" y="231"/>
                    <a:pt x="0" y="211"/>
                  </a:cubicBezTo>
                  <a:cubicBezTo>
                    <a:pt x="10" y="142"/>
                    <a:pt x="9" y="123"/>
                    <a:pt x="56" y="78"/>
                  </a:cubicBezTo>
                  <a:cubicBezTo>
                    <a:pt x="58" y="78"/>
                    <a:pt x="169" y="81"/>
                    <a:pt x="200" y="100"/>
                  </a:cubicBezTo>
                  <a:cubicBezTo>
                    <a:pt x="274" y="146"/>
                    <a:pt x="163" y="104"/>
                    <a:pt x="256" y="134"/>
                  </a:cubicBezTo>
                  <a:cubicBezTo>
                    <a:pt x="267" y="141"/>
                    <a:pt x="276" y="154"/>
                    <a:pt x="289" y="156"/>
                  </a:cubicBezTo>
                  <a:cubicBezTo>
                    <a:pt x="319" y="160"/>
                    <a:pt x="377" y="129"/>
                    <a:pt x="322" y="156"/>
                  </a:cubicBezTo>
                  <a:close/>
                </a:path>
              </a:pathLst>
            </a:custGeom>
            <a:blipFill dpi="0" rotWithShape="0">
              <a:blip r:embed="rId3"/>
              <a:srcRect/>
              <a:tile tx="0" ty="0" sx="100000" sy="100000" flip="none" algn="tl"/>
            </a:blipFill>
            <a:ln w="12700" cap="flat" cmpd="sng">
              <a:solidFill>
                <a:schemeClr val="tx1"/>
              </a:solidFill>
              <a:prstDash val="solid"/>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19464" name="Text Box 9" descr="Sand"/>
            <p:cNvSpPr txBox="1">
              <a:spLocks noChangeArrowheads="1"/>
            </p:cNvSpPr>
            <p:nvPr/>
          </p:nvSpPr>
          <p:spPr bwMode="auto">
            <a:xfrm>
              <a:off x="336" y="485"/>
              <a:ext cx="864" cy="566"/>
            </a:xfrm>
            <a:prstGeom prst="rect">
              <a:avLst/>
            </a:prstGeom>
            <a:noFill/>
            <a:ln w="12700">
              <a:noFill/>
              <a:miter lim="800000"/>
              <a:headEnd/>
              <a:tailEnd/>
            </a:ln>
          </p:spPr>
          <p:txBody>
            <a:bodyPr anchor="ctr">
              <a:spAutoFit/>
            </a:bodyPr>
            <a:lstStyle/>
            <a:p>
              <a:pPr algn="ctr" eaLnBrk="0" hangingPunct="0"/>
              <a:r>
                <a:rPr kumimoji="1" lang="en-US" altLang="zh-CN" sz="2000" b="1">
                  <a:solidFill>
                    <a:schemeClr val="hlink"/>
                  </a:solidFill>
                  <a:latin typeface="Times New Roman" pitchFamily="18" charset="0"/>
                </a:rPr>
                <a:t>Real world</a:t>
              </a:r>
            </a:p>
          </p:txBody>
        </p:sp>
        <p:sp>
          <p:nvSpPr>
            <p:cNvPr id="219146" name="Freeform 10" descr="水滴"/>
            <p:cNvSpPr>
              <a:spLocks/>
            </p:cNvSpPr>
            <p:nvPr/>
          </p:nvSpPr>
          <p:spPr bwMode="auto">
            <a:xfrm>
              <a:off x="1536" y="1151"/>
              <a:ext cx="988" cy="1104"/>
            </a:xfrm>
            <a:custGeom>
              <a:avLst/>
              <a:gdLst/>
              <a:ahLst/>
              <a:cxnLst>
                <a:cxn ang="0">
                  <a:pos x="328" y="215"/>
                </a:cxn>
                <a:cxn ang="0">
                  <a:pos x="555" y="138"/>
                </a:cxn>
                <a:cxn ang="0">
                  <a:pos x="667" y="32"/>
                </a:cxn>
                <a:cxn ang="0">
                  <a:pos x="735" y="0"/>
                </a:cxn>
                <a:cxn ang="0">
                  <a:pos x="836" y="15"/>
                </a:cxn>
                <a:cxn ang="0">
                  <a:pos x="905" y="47"/>
                </a:cxn>
                <a:cxn ang="0">
                  <a:pos x="938" y="62"/>
                </a:cxn>
                <a:cxn ang="0">
                  <a:pos x="927" y="246"/>
                </a:cxn>
                <a:cxn ang="0">
                  <a:pos x="916" y="291"/>
                </a:cxn>
                <a:cxn ang="0">
                  <a:pos x="893" y="323"/>
                </a:cxn>
                <a:cxn ang="0">
                  <a:pos x="871" y="414"/>
                </a:cxn>
                <a:cxn ang="0">
                  <a:pos x="860" y="461"/>
                </a:cxn>
                <a:cxn ang="0">
                  <a:pos x="849" y="506"/>
                </a:cxn>
                <a:cxn ang="0">
                  <a:pos x="780" y="966"/>
                </a:cxn>
                <a:cxn ang="0">
                  <a:pos x="656" y="1074"/>
                </a:cxn>
                <a:cxn ang="0">
                  <a:pos x="588" y="1104"/>
                </a:cxn>
                <a:cxn ang="0">
                  <a:pos x="305" y="966"/>
                </a:cxn>
                <a:cxn ang="0">
                  <a:pos x="237" y="875"/>
                </a:cxn>
                <a:cxn ang="0">
                  <a:pos x="215" y="843"/>
                </a:cxn>
                <a:cxn ang="0">
                  <a:pos x="124" y="629"/>
                </a:cxn>
                <a:cxn ang="0">
                  <a:pos x="113" y="584"/>
                </a:cxn>
                <a:cxn ang="0">
                  <a:pos x="57" y="506"/>
                </a:cxn>
                <a:cxn ang="0">
                  <a:pos x="22" y="414"/>
                </a:cxn>
                <a:cxn ang="0">
                  <a:pos x="0" y="291"/>
                </a:cxn>
                <a:cxn ang="0">
                  <a:pos x="57" y="108"/>
                </a:cxn>
                <a:cxn ang="0">
                  <a:pos x="204" y="138"/>
                </a:cxn>
                <a:cxn ang="0">
                  <a:pos x="260" y="185"/>
                </a:cxn>
                <a:cxn ang="0">
                  <a:pos x="294" y="215"/>
                </a:cxn>
                <a:cxn ang="0">
                  <a:pos x="385" y="272"/>
                </a:cxn>
                <a:cxn ang="0">
                  <a:pos x="328" y="215"/>
                </a:cxn>
              </a:cxnLst>
              <a:rect l="0" t="0" r="r" b="b"/>
              <a:pathLst>
                <a:path w="988" h="1104">
                  <a:moveTo>
                    <a:pt x="328" y="215"/>
                  </a:moveTo>
                  <a:cubicBezTo>
                    <a:pt x="403" y="190"/>
                    <a:pt x="479" y="163"/>
                    <a:pt x="555" y="138"/>
                  </a:cubicBezTo>
                  <a:cubicBezTo>
                    <a:pt x="595" y="101"/>
                    <a:pt x="621" y="57"/>
                    <a:pt x="667" y="32"/>
                  </a:cubicBezTo>
                  <a:cubicBezTo>
                    <a:pt x="690" y="19"/>
                    <a:pt x="735" y="0"/>
                    <a:pt x="735" y="0"/>
                  </a:cubicBezTo>
                  <a:cubicBezTo>
                    <a:pt x="768" y="6"/>
                    <a:pt x="803" y="6"/>
                    <a:pt x="836" y="15"/>
                  </a:cubicBezTo>
                  <a:cubicBezTo>
                    <a:pt x="860" y="22"/>
                    <a:pt x="882" y="36"/>
                    <a:pt x="905" y="47"/>
                  </a:cubicBezTo>
                  <a:cubicBezTo>
                    <a:pt x="916" y="52"/>
                    <a:pt x="938" y="62"/>
                    <a:pt x="938" y="62"/>
                  </a:cubicBezTo>
                  <a:cubicBezTo>
                    <a:pt x="988" y="127"/>
                    <a:pt x="960" y="181"/>
                    <a:pt x="927" y="246"/>
                  </a:cubicBezTo>
                  <a:cubicBezTo>
                    <a:pt x="923" y="261"/>
                    <a:pt x="922" y="277"/>
                    <a:pt x="916" y="291"/>
                  </a:cubicBezTo>
                  <a:cubicBezTo>
                    <a:pt x="911" y="304"/>
                    <a:pt x="898" y="309"/>
                    <a:pt x="893" y="323"/>
                  </a:cubicBezTo>
                  <a:cubicBezTo>
                    <a:pt x="883" y="352"/>
                    <a:pt x="878" y="384"/>
                    <a:pt x="871" y="414"/>
                  </a:cubicBezTo>
                  <a:cubicBezTo>
                    <a:pt x="867" y="429"/>
                    <a:pt x="864" y="446"/>
                    <a:pt x="860" y="461"/>
                  </a:cubicBezTo>
                  <a:cubicBezTo>
                    <a:pt x="856" y="476"/>
                    <a:pt x="849" y="506"/>
                    <a:pt x="849" y="506"/>
                  </a:cubicBezTo>
                  <a:cubicBezTo>
                    <a:pt x="841" y="639"/>
                    <a:pt x="852" y="850"/>
                    <a:pt x="780" y="966"/>
                  </a:cubicBezTo>
                  <a:cubicBezTo>
                    <a:pt x="746" y="1023"/>
                    <a:pt x="713" y="1049"/>
                    <a:pt x="656" y="1074"/>
                  </a:cubicBezTo>
                  <a:cubicBezTo>
                    <a:pt x="634" y="1083"/>
                    <a:pt x="588" y="1104"/>
                    <a:pt x="588" y="1104"/>
                  </a:cubicBezTo>
                  <a:cubicBezTo>
                    <a:pt x="469" y="1090"/>
                    <a:pt x="394" y="1085"/>
                    <a:pt x="305" y="966"/>
                  </a:cubicBezTo>
                  <a:cubicBezTo>
                    <a:pt x="283" y="936"/>
                    <a:pt x="259" y="905"/>
                    <a:pt x="237" y="875"/>
                  </a:cubicBezTo>
                  <a:cubicBezTo>
                    <a:pt x="229" y="864"/>
                    <a:pt x="215" y="843"/>
                    <a:pt x="215" y="843"/>
                  </a:cubicBezTo>
                  <a:cubicBezTo>
                    <a:pt x="204" y="796"/>
                    <a:pt x="154" y="668"/>
                    <a:pt x="124" y="629"/>
                  </a:cubicBezTo>
                  <a:cubicBezTo>
                    <a:pt x="120" y="614"/>
                    <a:pt x="120" y="596"/>
                    <a:pt x="113" y="584"/>
                  </a:cubicBezTo>
                  <a:cubicBezTo>
                    <a:pt x="97" y="555"/>
                    <a:pt x="57" y="506"/>
                    <a:pt x="57" y="506"/>
                  </a:cubicBezTo>
                  <a:cubicBezTo>
                    <a:pt x="30" y="393"/>
                    <a:pt x="67" y="533"/>
                    <a:pt x="22" y="414"/>
                  </a:cubicBezTo>
                  <a:cubicBezTo>
                    <a:pt x="11" y="384"/>
                    <a:pt x="4" y="319"/>
                    <a:pt x="0" y="291"/>
                  </a:cubicBezTo>
                  <a:cubicBezTo>
                    <a:pt x="10" y="196"/>
                    <a:pt x="9" y="170"/>
                    <a:pt x="57" y="108"/>
                  </a:cubicBezTo>
                  <a:cubicBezTo>
                    <a:pt x="59" y="108"/>
                    <a:pt x="172" y="112"/>
                    <a:pt x="204" y="138"/>
                  </a:cubicBezTo>
                  <a:cubicBezTo>
                    <a:pt x="279" y="201"/>
                    <a:pt x="166" y="144"/>
                    <a:pt x="260" y="185"/>
                  </a:cubicBezTo>
                  <a:cubicBezTo>
                    <a:pt x="272" y="195"/>
                    <a:pt x="281" y="213"/>
                    <a:pt x="294" y="215"/>
                  </a:cubicBezTo>
                  <a:cubicBezTo>
                    <a:pt x="325" y="221"/>
                    <a:pt x="384" y="178"/>
                    <a:pt x="385" y="272"/>
                  </a:cubicBezTo>
                  <a:cubicBezTo>
                    <a:pt x="385" y="272"/>
                    <a:pt x="328" y="215"/>
                    <a:pt x="328" y="215"/>
                  </a:cubicBezTo>
                  <a:close/>
                </a:path>
              </a:pathLst>
            </a:custGeom>
            <a:noFill/>
            <a:ln w="12700" cap="flat" cmpd="sng">
              <a:solidFill>
                <a:schemeClr val="tx1"/>
              </a:solidFill>
              <a:prstDash val="dash"/>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47" name="Oval 11" descr="水滴"/>
            <p:cNvSpPr>
              <a:spLocks noChangeArrowheads="1"/>
            </p:cNvSpPr>
            <p:nvPr/>
          </p:nvSpPr>
          <p:spPr bwMode="auto">
            <a:xfrm>
              <a:off x="2208" y="1200"/>
              <a:ext cx="240" cy="240"/>
            </a:xfrm>
            <a:prstGeom prst="ellipse">
              <a:avLst/>
            </a:prstGeom>
            <a:blipFill dpi="0" rotWithShape="0">
              <a:blip r:embed="rId3"/>
              <a:srcRect/>
              <a:tile tx="0" ty="0" sx="100000" sy="100000" flip="none" algn="tl"/>
            </a:blip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48" name="Oval 12" descr="水滴"/>
            <p:cNvSpPr>
              <a:spLocks noChangeArrowheads="1"/>
            </p:cNvSpPr>
            <p:nvPr/>
          </p:nvSpPr>
          <p:spPr bwMode="auto">
            <a:xfrm>
              <a:off x="1584" y="1344"/>
              <a:ext cx="240" cy="288"/>
            </a:xfrm>
            <a:prstGeom prst="ellipse">
              <a:avLst/>
            </a:prstGeom>
            <a:blipFill dpi="0" rotWithShape="0">
              <a:blip r:embed="rId3"/>
              <a:srcRect/>
              <a:tile tx="0" ty="0" sx="100000" sy="100000" flip="none" algn="tl"/>
            </a:blip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49" name="Oval 13" descr="水滴"/>
            <p:cNvSpPr>
              <a:spLocks noChangeArrowheads="1"/>
            </p:cNvSpPr>
            <p:nvPr/>
          </p:nvSpPr>
          <p:spPr bwMode="auto">
            <a:xfrm>
              <a:off x="1920" y="1775"/>
              <a:ext cx="431" cy="433"/>
            </a:xfrm>
            <a:prstGeom prst="ellipse">
              <a:avLst/>
            </a:prstGeom>
            <a:blipFill dpi="0" rotWithShape="0">
              <a:blip r:embed="rId3"/>
              <a:srcRect/>
              <a:tile tx="0" ty="0" sx="100000" sy="100000" flip="none" algn="tl"/>
            </a:blip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0" name="Oval 14" descr="水滴"/>
            <p:cNvSpPr>
              <a:spLocks noChangeArrowheads="1"/>
            </p:cNvSpPr>
            <p:nvPr/>
          </p:nvSpPr>
          <p:spPr bwMode="auto">
            <a:xfrm>
              <a:off x="1680" y="1632"/>
              <a:ext cx="287" cy="288"/>
            </a:xfrm>
            <a:prstGeom prst="ellipse">
              <a:avLst/>
            </a:prstGeom>
            <a:blipFill dpi="0" rotWithShape="0">
              <a:blip r:embed="rId3"/>
              <a:srcRect/>
              <a:tile tx="0" ty="0" sx="100000" sy="100000" flip="none" algn="tl"/>
            </a:blip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1" name="Line 15"/>
            <p:cNvSpPr>
              <a:spLocks noChangeShapeType="1"/>
            </p:cNvSpPr>
            <p:nvPr/>
          </p:nvSpPr>
          <p:spPr bwMode="auto">
            <a:xfrm flipV="1">
              <a:off x="2112" y="1296"/>
              <a:ext cx="239" cy="671"/>
            </a:xfrm>
            <a:prstGeom prst="line">
              <a:avLst/>
            </a:prstGeom>
            <a:noFill/>
            <a:ln w="28575">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2" name="Line 16"/>
            <p:cNvSpPr>
              <a:spLocks noChangeShapeType="1"/>
            </p:cNvSpPr>
            <p:nvPr/>
          </p:nvSpPr>
          <p:spPr bwMode="auto">
            <a:xfrm>
              <a:off x="1680" y="1488"/>
              <a:ext cx="144" cy="336"/>
            </a:xfrm>
            <a:prstGeom prst="line">
              <a:avLst/>
            </a:prstGeom>
            <a:noFill/>
            <a:ln w="28575">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3" name="Line 17"/>
            <p:cNvSpPr>
              <a:spLocks noChangeShapeType="1"/>
            </p:cNvSpPr>
            <p:nvPr/>
          </p:nvSpPr>
          <p:spPr bwMode="auto">
            <a:xfrm flipV="1">
              <a:off x="1680" y="1296"/>
              <a:ext cx="671" cy="192"/>
            </a:xfrm>
            <a:prstGeom prst="line">
              <a:avLst/>
            </a:prstGeom>
            <a:noFill/>
            <a:ln w="28575">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4" name="Line 18"/>
            <p:cNvSpPr>
              <a:spLocks noChangeShapeType="1"/>
            </p:cNvSpPr>
            <p:nvPr/>
          </p:nvSpPr>
          <p:spPr bwMode="auto">
            <a:xfrm flipV="1">
              <a:off x="1824" y="1296"/>
              <a:ext cx="528" cy="528"/>
            </a:xfrm>
            <a:prstGeom prst="line">
              <a:avLst/>
            </a:prstGeom>
            <a:noFill/>
            <a:ln w="28575">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5" name="Line 19"/>
            <p:cNvSpPr>
              <a:spLocks noChangeShapeType="1"/>
            </p:cNvSpPr>
            <p:nvPr/>
          </p:nvSpPr>
          <p:spPr bwMode="auto">
            <a:xfrm>
              <a:off x="1824" y="1824"/>
              <a:ext cx="336" cy="144"/>
            </a:xfrm>
            <a:prstGeom prst="line">
              <a:avLst/>
            </a:prstGeom>
            <a:noFill/>
            <a:ln w="28575">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6" name="Line 20"/>
            <p:cNvSpPr>
              <a:spLocks noChangeShapeType="1"/>
            </p:cNvSpPr>
            <p:nvPr/>
          </p:nvSpPr>
          <p:spPr bwMode="auto">
            <a:xfrm>
              <a:off x="816" y="1392"/>
              <a:ext cx="0" cy="432"/>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7" name="Line 21"/>
            <p:cNvSpPr>
              <a:spLocks noChangeShapeType="1"/>
            </p:cNvSpPr>
            <p:nvPr/>
          </p:nvSpPr>
          <p:spPr bwMode="auto">
            <a:xfrm>
              <a:off x="816" y="1824"/>
              <a:ext cx="721" cy="0"/>
            </a:xfrm>
            <a:prstGeom prst="line">
              <a:avLst/>
            </a:prstGeom>
            <a:noFill/>
            <a:ln w="12700">
              <a:solidFill>
                <a:schemeClr val="tx1"/>
              </a:solidFill>
              <a:round/>
              <a:headEnd/>
              <a:tailEnd type="triangle" w="med" len="me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8" name="Line 22"/>
            <p:cNvSpPr>
              <a:spLocks noChangeShapeType="1"/>
            </p:cNvSpPr>
            <p:nvPr/>
          </p:nvSpPr>
          <p:spPr bwMode="auto">
            <a:xfrm>
              <a:off x="1968" y="768"/>
              <a:ext cx="0" cy="432"/>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59" name="Line 23"/>
            <p:cNvSpPr>
              <a:spLocks noChangeShapeType="1"/>
            </p:cNvSpPr>
            <p:nvPr/>
          </p:nvSpPr>
          <p:spPr bwMode="auto">
            <a:xfrm flipH="1">
              <a:off x="1200" y="768"/>
              <a:ext cx="768" cy="0"/>
            </a:xfrm>
            <a:prstGeom prst="line">
              <a:avLst/>
            </a:prstGeom>
            <a:noFill/>
            <a:ln w="12700">
              <a:solidFill>
                <a:schemeClr val="tx1"/>
              </a:solidFill>
              <a:round/>
              <a:headEnd/>
              <a:tailEnd type="triangle" w="med" len="me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19479" name="Text Box 24"/>
            <p:cNvSpPr txBox="1">
              <a:spLocks noChangeArrowheads="1"/>
            </p:cNvSpPr>
            <p:nvPr/>
          </p:nvSpPr>
          <p:spPr bwMode="auto">
            <a:xfrm>
              <a:off x="413" y="1833"/>
              <a:ext cx="543" cy="373"/>
            </a:xfrm>
            <a:prstGeom prst="rect">
              <a:avLst/>
            </a:prstGeom>
            <a:noFill/>
            <a:ln w="12700">
              <a:noFill/>
              <a:miter lim="800000"/>
              <a:headEnd/>
              <a:tailEnd/>
            </a:ln>
          </p:spPr>
          <p:txBody>
            <a:bodyPr wrap="none" anchor="ctr">
              <a:spAutoFit/>
            </a:bodyPr>
            <a:lstStyle/>
            <a:p>
              <a:pPr algn="ctr" eaLnBrk="0" hangingPunct="0"/>
              <a:r>
                <a:rPr kumimoji="1" lang="zh-CN" altLang="en-US" sz="2400" b="1" u="sng" dirty="0">
                  <a:solidFill>
                    <a:srgbClr val="FF0000"/>
                  </a:solidFill>
                  <a:latin typeface="Times New Roman" pitchFamily="18" charset="0"/>
                </a:rPr>
                <a:t>分析</a:t>
              </a:r>
              <a:endParaRPr kumimoji="1" lang="zh-CN" altLang="en-US" sz="2400" dirty="0">
                <a:solidFill>
                  <a:srgbClr val="FF0000"/>
                </a:solidFill>
                <a:latin typeface="Times New Roman" pitchFamily="18" charset="0"/>
              </a:endParaRPr>
            </a:p>
          </p:txBody>
        </p:sp>
        <p:sp>
          <p:nvSpPr>
            <p:cNvPr id="219161" name="Rectangle 25"/>
            <p:cNvSpPr>
              <a:spLocks noChangeArrowheads="1"/>
            </p:cNvSpPr>
            <p:nvPr/>
          </p:nvSpPr>
          <p:spPr bwMode="auto">
            <a:xfrm>
              <a:off x="2929" y="1920"/>
              <a:ext cx="1055" cy="1248"/>
            </a:xfrm>
            <a:prstGeom prst="rect">
              <a:avLst/>
            </a:prstGeom>
            <a:noFill/>
            <a:ln w="12700">
              <a:solidFill>
                <a:schemeClr val="tx1"/>
              </a:solidFill>
              <a:prstDash val="dash"/>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nvGrpSpPr>
            <p:cNvPr id="5" name="Group 26"/>
            <p:cNvGrpSpPr>
              <a:grpSpLocks/>
            </p:cNvGrpSpPr>
            <p:nvPr/>
          </p:nvGrpSpPr>
          <p:grpSpPr bwMode="auto">
            <a:xfrm>
              <a:off x="4800" y="3024"/>
              <a:ext cx="528" cy="816"/>
              <a:chOff x="4704" y="2112"/>
              <a:chExt cx="528" cy="816"/>
            </a:xfrm>
          </p:grpSpPr>
          <p:sp>
            <p:nvSpPr>
              <p:cNvPr id="219163" name="Rectangle 27"/>
              <p:cNvSpPr>
                <a:spLocks noChangeArrowheads="1"/>
              </p:cNvSpPr>
              <p:nvPr/>
            </p:nvSpPr>
            <p:spPr bwMode="auto">
              <a:xfrm>
                <a:off x="4704" y="2111"/>
                <a:ext cx="528" cy="816"/>
              </a:xfrm>
              <a:prstGeom prst="rect">
                <a:avLst/>
              </a:prstGeom>
              <a:noFill/>
              <a:ln w="12700">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64" name="Line 28"/>
              <p:cNvSpPr>
                <a:spLocks noChangeShapeType="1"/>
              </p:cNvSpPr>
              <p:nvPr/>
            </p:nvSpPr>
            <p:spPr bwMode="auto">
              <a:xfrm>
                <a:off x="4763" y="2174"/>
                <a:ext cx="176" cy="0"/>
              </a:xfrm>
              <a:prstGeom prst="line">
                <a:avLst/>
              </a:prstGeom>
              <a:noFill/>
              <a:ln w="12700">
                <a:solidFill>
                  <a:schemeClr val="tx1"/>
                </a:solidFill>
                <a:prstDash val="dashDot"/>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6" name="Group 29"/>
            <p:cNvGrpSpPr>
              <a:grpSpLocks/>
            </p:cNvGrpSpPr>
            <p:nvPr/>
          </p:nvGrpSpPr>
          <p:grpSpPr bwMode="auto">
            <a:xfrm>
              <a:off x="4848" y="3120"/>
              <a:ext cx="528" cy="768"/>
              <a:chOff x="4800" y="1872"/>
              <a:chExt cx="432" cy="624"/>
            </a:xfrm>
          </p:grpSpPr>
          <p:sp>
            <p:nvSpPr>
              <p:cNvPr id="219166" name="Rectangle 30"/>
              <p:cNvSpPr>
                <a:spLocks noChangeArrowheads="1"/>
              </p:cNvSpPr>
              <p:nvPr/>
            </p:nvSpPr>
            <p:spPr bwMode="auto">
              <a:xfrm>
                <a:off x="4800" y="1872"/>
                <a:ext cx="432" cy="625"/>
              </a:xfrm>
              <a:prstGeom prst="rect">
                <a:avLst/>
              </a:prstGeom>
              <a:solidFill>
                <a:srgbClr val="FFFFFF"/>
              </a:solidFill>
              <a:ln w="12700">
                <a:solidFill>
                  <a:schemeClr val="tx1"/>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67" name="Line 31"/>
              <p:cNvSpPr>
                <a:spLocks noChangeShapeType="1"/>
              </p:cNvSpPr>
              <p:nvPr/>
            </p:nvSpPr>
            <p:spPr bwMode="auto">
              <a:xfrm>
                <a:off x="4849" y="1920"/>
                <a:ext cx="144" cy="0"/>
              </a:xfrm>
              <a:prstGeom prst="line">
                <a:avLst/>
              </a:prstGeom>
              <a:noFill/>
              <a:ln w="12700">
                <a:solidFill>
                  <a:schemeClr val="tx1"/>
                </a:solidFill>
                <a:prstDash val="dashDot"/>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68" name="Line 32"/>
              <p:cNvSpPr>
                <a:spLocks noChangeShapeType="1"/>
              </p:cNvSpPr>
              <p:nvPr/>
            </p:nvSpPr>
            <p:spPr bwMode="auto">
              <a:xfrm>
                <a:off x="4896" y="2015"/>
                <a:ext cx="144" cy="0"/>
              </a:xfrm>
              <a:prstGeom prst="line">
                <a:avLst/>
              </a:prstGeom>
              <a:noFill/>
              <a:ln w="12700">
                <a:solidFill>
                  <a:schemeClr val="tx1"/>
                </a:solidFill>
                <a:prstDash val="lgDashDot"/>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69" name="Line 33"/>
              <p:cNvSpPr>
                <a:spLocks noChangeShapeType="1"/>
              </p:cNvSpPr>
              <p:nvPr/>
            </p:nvSpPr>
            <p:spPr bwMode="auto">
              <a:xfrm>
                <a:off x="4849" y="2112"/>
                <a:ext cx="144" cy="0"/>
              </a:xfrm>
              <a:prstGeom prst="line">
                <a:avLst/>
              </a:prstGeom>
              <a:noFill/>
              <a:ln w="12700">
                <a:solidFill>
                  <a:schemeClr val="tx1"/>
                </a:solidFill>
                <a:prstDash val="sysDot"/>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70" name="Line 34"/>
              <p:cNvSpPr>
                <a:spLocks noChangeShapeType="1"/>
              </p:cNvSpPr>
              <p:nvPr/>
            </p:nvSpPr>
            <p:spPr bwMode="auto">
              <a:xfrm>
                <a:off x="4944" y="2208"/>
                <a:ext cx="144" cy="0"/>
              </a:xfrm>
              <a:prstGeom prst="line">
                <a:avLst/>
              </a:prstGeom>
              <a:noFill/>
              <a:ln w="12700">
                <a:solidFill>
                  <a:schemeClr val="tx1"/>
                </a:solidFill>
                <a:prstDash val="lgDashDot"/>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71" name="Line 35"/>
              <p:cNvSpPr>
                <a:spLocks noChangeShapeType="1"/>
              </p:cNvSpPr>
              <p:nvPr/>
            </p:nvSpPr>
            <p:spPr bwMode="auto">
              <a:xfrm>
                <a:off x="4944" y="2304"/>
                <a:ext cx="144" cy="0"/>
              </a:xfrm>
              <a:prstGeom prst="line">
                <a:avLst/>
              </a:prstGeom>
              <a:noFill/>
              <a:ln w="12700">
                <a:solidFill>
                  <a:schemeClr val="tx1"/>
                </a:solidFill>
                <a:prstDash val="dash"/>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72" name="Line 36"/>
              <p:cNvSpPr>
                <a:spLocks noChangeShapeType="1"/>
              </p:cNvSpPr>
              <p:nvPr/>
            </p:nvSpPr>
            <p:spPr bwMode="auto">
              <a:xfrm>
                <a:off x="4896" y="2400"/>
                <a:ext cx="144" cy="0"/>
              </a:xfrm>
              <a:prstGeom prst="line">
                <a:avLst/>
              </a:prstGeom>
              <a:noFill/>
              <a:ln w="12700">
                <a:solidFill>
                  <a:schemeClr val="tx1"/>
                </a:solidFill>
                <a:prstDash val="lgDashDot"/>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7" name="Group 37"/>
            <p:cNvGrpSpPr>
              <a:grpSpLocks/>
            </p:cNvGrpSpPr>
            <p:nvPr/>
          </p:nvGrpSpPr>
          <p:grpSpPr bwMode="auto">
            <a:xfrm>
              <a:off x="2976" y="2016"/>
              <a:ext cx="144" cy="192"/>
              <a:chOff x="3264" y="1344"/>
              <a:chExt cx="144" cy="192"/>
            </a:xfrm>
          </p:grpSpPr>
          <p:sp>
            <p:nvSpPr>
              <p:cNvPr id="219174" name="Rectangle 38"/>
              <p:cNvSpPr>
                <a:spLocks noChangeArrowheads="1"/>
              </p:cNvSpPr>
              <p:nvPr/>
            </p:nvSpPr>
            <p:spPr bwMode="auto">
              <a:xfrm>
                <a:off x="3264" y="1344"/>
                <a:ext cx="145"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75" name="Line 39"/>
              <p:cNvSpPr>
                <a:spLocks noChangeShapeType="1"/>
              </p:cNvSpPr>
              <p:nvPr/>
            </p:nvSpPr>
            <p:spPr bwMode="auto">
              <a:xfrm>
                <a:off x="3264" y="1393"/>
                <a:ext cx="145"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8" name="Group 40"/>
            <p:cNvGrpSpPr>
              <a:grpSpLocks/>
            </p:cNvGrpSpPr>
            <p:nvPr/>
          </p:nvGrpSpPr>
          <p:grpSpPr bwMode="auto">
            <a:xfrm>
              <a:off x="3216" y="2016"/>
              <a:ext cx="288" cy="192"/>
              <a:chOff x="3264" y="1344"/>
              <a:chExt cx="144" cy="192"/>
            </a:xfrm>
          </p:grpSpPr>
          <p:sp>
            <p:nvSpPr>
              <p:cNvPr id="219177" name="Rectangle 41"/>
              <p:cNvSpPr>
                <a:spLocks noChangeArrowheads="1"/>
              </p:cNvSpPr>
              <p:nvPr/>
            </p:nvSpPr>
            <p:spPr bwMode="auto">
              <a:xfrm>
                <a:off x="3264" y="1344"/>
                <a:ext cx="144"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78" name="Line 42"/>
              <p:cNvSpPr>
                <a:spLocks noChangeShapeType="1"/>
              </p:cNvSpPr>
              <p:nvPr/>
            </p:nvSpPr>
            <p:spPr bwMode="auto">
              <a:xfrm>
                <a:off x="3264" y="1393"/>
                <a:ext cx="144"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9" name="Group 43"/>
            <p:cNvGrpSpPr>
              <a:grpSpLocks/>
            </p:cNvGrpSpPr>
            <p:nvPr/>
          </p:nvGrpSpPr>
          <p:grpSpPr bwMode="auto">
            <a:xfrm>
              <a:off x="3552" y="2016"/>
              <a:ext cx="192" cy="192"/>
              <a:chOff x="3264" y="1344"/>
              <a:chExt cx="144" cy="192"/>
            </a:xfrm>
          </p:grpSpPr>
          <p:sp>
            <p:nvSpPr>
              <p:cNvPr id="219180" name="Rectangle 44"/>
              <p:cNvSpPr>
                <a:spLocks noChangeArrowheads="1"/>
              </p:cNvSpPr>
              <p:nvPr/>
            </p:nvSpPr>
            <p:spPr bwMode="auto">
              <a:xfrm>
                <a:off x="3264" y="1344"/>
                <a:ext cx="144"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81" name="Line 45"/>
              <p:cNvSpPr>
                <a:spLocks noChangeShapeType="1"/>
              </p:cNvSpPr>
              <p:nvPr/>
            </p:nvSpPr>
            <p:spPr bwMode="auto">
              <a:xfrm>
                <a:off x="3264" y="1393"/>
                <a:ext cx="144"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10" name="Group 46"/>
            <p:cNvGrpSpPr>
              <a:grpSpLocks/>
            </p:cNvGrpSpPr>
            <p:nvPr/>
          </p:nvGrpSpPr>
          <p:grpSpPr bwMode="auto">
            <a:xfrm>
              <a:off x="3792" y="2016"/>
              <a:ext cx="144" cy="192"/>
              <a:chOff x="3264" y="1344"/>
              <a:chExt cx="144" cy="192"/>
            </a:xfrm>
          </p:grpSpPr>
          <p:sp>
            <p:nvSpPr>
              <p:cNvPr id="219183" name="Rectangle 47"/>
              <p:cNvSpPr>
                <a:spLocks noChangeArrowheads="1"/>
              </p:cNvSpPr>
              <p:nvPr/>
            </p:nvSpPr>
            <p:spPr bwMode="auto">
              <a:xfrm>
                <a:off x="3264" y="1344"/>
                <a:ext cx="144"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84" name="Line 48"/>
              <p:cNvSpPr>
                <a:spLocks noChangeShapeType="1"/>
              </p:cNvSpPr>
              <p:nvPr/>
            </p:nvSpPr>
            <p:spPr bwMode="auto">
              <a:xfrm>
                <a:off x="3264" y="1393"/>
                <a:ext cx="144"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11" name="Group 49"/>
            <p:cNvGrpSpPr>
              <a:grpSpLocks/>
            </p:cNvGrpSpPr>
            <p:nvPr/>
          </p:nvGrpSpPr>
          <p:grpSpPr bwMode="auto">
            <a:xfrm>
              <a:off x="2976" y="2352"/>
              <a:ext cx="336" cy="288"/>
              <a:chOff x="3264" y="1344"/>
              <a:chExt cx="144" cy="192"/>
            </a:xfrm>
          </p:grpSpPr>
          <p:sp>
            <p:nvSpPr>
              <p:cNvPr id="219186" name="Rectangle 50"/>
              <p:cNvSpPr>
                <a:spLocks noChangeArrowheads="1"/>
              </p:cNvSpPr>
              <p:nvPr/>
            </p:nvSpPr>
            <p:spPr bwMode="auto">
              <a:xfrm>
                <a:off x="3264" y="1344"/>
                <a:ext cx="144"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87" name="Line 51"/>
              <p:cNvSpPr>
                <a:spLocks noChangeShapeType="1"/>
              </p:cNvSpPr>
              <p:nvPr/>
            </p:nvSpPr>
            <p:spPr bwMode="auto">
              <a:xfrm>
                <a:off x="3264" y="1392"/>
                <a:ext cx="144"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12" name="Group 52"/>
            <p:cNvGrpSpPr>
              <a:grpSpLocks/>
            </p:cNvGrpSpPr>
            <p:nvPr/>
          </p:nvGrpSpPr>
          <p:grpSpPr bwMode="auto">
            <a:xfrm>
              <a:off x="2976" y="2784"/>
              <a:ext cx="480" cy="288"/>
              <a:chOff x="3264" y="1344"/>
              <a:chExt cx="144" cy="192"/>
            </a:xfrm>
          </p:grpSpPr>
          <p:sp>
            <p:nvSpPr>
              <p:cNvPr id="219189" name="Rectangle 53"/>
              <p:cNvSpPr>
                <a:spLocks noChangeArrowheads="1"/>
              </p:cNvSpPr>
              <p:nvPr/>
            </p:nvSpPr>
            <p:spPr bwMode="auto">
              <a:xfrm>
                <a:off x="3264" y="1344"/>
                <a:ext cx="144"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90" name="Line 54"/>
              <p:cNvSpPr>
                <a:spLocks noChangeShapeType="1"/>
              </p:cNvSpPr>
              <p:nvPr/>
            </p:nvSpPr>
            <p:spPr bwMode="auto">
              <a:xfrm>
                <a:off x="3264" y="1392"/>
                <a:ext cx="144"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13" name="Group 55"/>
            <p:cNvGrpSpPr>
              <a:grpSpLocks/>
            </p:cNvGrpSpPr>
            <p:nvPr/>
          </p:nvGrpSpPr>
          <p:grpSpPr bwMode="auto">
            <a:xfrm>
              <a:off x="3648" y="2784"/>
              <a:ext cx="240" cy="288"/>
              <a:chOff x="3264" y="1344"/>
              <a:chExt cx="144" cy="192"/>
            </a:xfrm>
          </p:grpSpPr>
          <p:sp>
            <p:nvSpPr>
              <p:cNvPr id="219192" name="Rectangle 56"/>
              <p:cNvSpPr>
                <a:spLocks noChangeArrowheads="1"/>
              </p:cNvSpPr>
              <p:nvPr/>
            </p:nvSpPr>
            <p:spPr bwMode="auto">
              <a:xfrm>
                <a:off x="3264" y="1344"/>
                <a:ext cx="144"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93" name="Line 57"/>
              <p:cNvSpPr>
                <a:spLocks noChangeShapeType="1"/>
              </p:cNvSpPr>
              <p:nvPr/>
            </p:nvSpPr>
            <p:spPr bwMode="auto">
              <a:xfrm>
                <a:off x="3264" y="1392"/>
                <a:ext cx="144"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14" name="Group 58"/>
            <p:cNvGrpSpPr>
              <a:grpSpLocks/>
            </p:cNvGrpSpPr>
            <p:nvPr/>
          </p:nvGrpSpPr>
          <p:grpSpPr bwMode="auto">
            <a:xfrm>
              <a:off x="3360" y="2352"/>
              <a:ext cx="336" cy="288"/>
              <a:chOff x="3264" y="1344"/>
              <a:chExt cx="144" cy="192"/>
            </a:xfrm>
          </p:grpSpPr>
          <p:sp>
            <p:nvSpPr>
              <p:cNvPr id="219195" name="Rectangle 59"/>
              <p:cNvSpPr>
                <a:spLocks noChangeArrowheads="1"/>
              </p:cNvSpPr>
              <p:nvPr/>
            </p:nvSpPr>
            <p:spPr bwMode="auto">
              <a:xfrm>
                <a:off x="3264" y="1344"/>
                <a:ext cx="144"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96" name="Line 60"/>
              <p:cNvSpPr>
                <a:spLocks noChangeShapeType="1"/>
              </p:cNvSpPr>
              <p:nvPr/>
            </p:nvSpPr>
            <p:spPr bwMode="auto">
              <a:xfrm>
                <a:off x="3264" y="1392"/>
                <a:ext cx="144"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grpSp>
          <p:nvGrpSpPr>
            <p:cNvPr id="15" name="Group 61"/>
            <p:cNvGrpSpPr>
              <a:grpSpLocks/>
            </p:cNvGrpSpPr>
            <p:nvPr/>
          </p:nvGrpSpPr>
          <p:grpSpPr bwMode="auto">
            <a:xfrm>
              <a:off x="3744" y="2352"/>
              <a:ext cx="192" cy="288"/>
              <a:chOff x="3264" y="1344"/>
              <a:chExt cx="144" cy="192"/>
            </a:xfrm>
          </p:grpSpPr>
          <p:sp>
            <p:nvSpPr>
              <p:cNvPr id="219198" name="Rectangle 62"/>
              <p:cNvSpPr>
                <a:spLocks noChangeArrowheads="1"/>
              </p:cNvSpPr>
              <p:nvPr/>
            </p:nvSpPr>
            <p:spPr bwMode="auto">
              <a:xfrm>
                <a:off x="3264" y="1344"/>
                <a:ext cx="144" cy="192"/>
              </a:xfrm>
              <a:prstGeom prst="rect">
                <a:avLst/>
              </a:prstGeom>
              <a:noFill/>
              <a:ln w="12700">
                <a:solidFill>
                  <a:schemeClr val="accent2"/>
                </a:solidFill>
                <a:miter lim="800000"/>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199" name="Line 63"/>
              <p:cNvSpPr>
                <a:spLocks noChangeShapeType="1"/>
              </p:cNvSpPr>
              <p:nvPr/>
            </p:nvSpPr>
            <p:spPr bwMode="auto">
              <a:xfrm>
                <a:off x="3264" y="1392"/>
                <a:ext cx="144" cy="0"/>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grpSp>
        <p:sp>
          <p:nvSpPr>
            <p:cNvPr id="219200" name="Line 64"/>
            <p:cNvSpPr>
              <a:spLocks noChangeShapeType="1"/>
            </p:cNvSpPr>
            <p:nvPr/>
          </p:nvSpPr>
          <p:spPr bwMode="auto">
            <a:xfrm>
              <a:off x="3024" y="2160"/>
              <a:ext cx="97" cy="336"/>
            </a:xfrm>
            <a:prstGeom prst="line">
              <a:avLst/>
            </a:prstGeom>
            <a:noFill/>
            <a:ln w="12700">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1" name="Line 65"/>
            <p:cNvSpPr>
              <a:spLocks noChangeShapeType="1"/>
            </p:cNvSpPr>
            <p:nvPr/>
          </p:nvSpPr>
          <p:spPr bwMode="auto">
            <a:xfrm flipH="1">
              <a:off x="3216" y="2160"/>
              <a:ext cx="144" cy="336"/>
            </a:xfrm>
            <a:prstGeom prst="line">
              <a:avLst/>
            </a:prstGeom>
            <a:noFill/>
            <a:ln w="12700">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2" name="Line 66"/>
            <p:cNvSpPr>
              <a:spLocks noChangeShapeType="1"/>
            </p:cNvSpPr>
            <p:nvPr/>
          </p:nvSpPr>
          <p:spPr bwMode="auto">
            <a:xfrm flipH="1">
              <a:off x="3504" y="2160"/>
              <a:ext cx="144" cy="336"/>
            </a:xfrm>
            <a:prstGeom prst="line">
              <a:avLst/>
            </a:prstGeom>
            <a:noFill/>
            <a:ln w="12700">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3" name="Line 67"/>
            <p:cNvSpPr>
              <a:spLocks noChangeShapeType="1"/>
            </p:cNvSpPr>
            <p:nvPr/>
          </p:nvSpPr>
          <p:spPr bwMode="auto">
            <a:xfrm flipH="1">
              <a:off x="3840" y="2160"/>
              <a:ext cx="0" cy="336"/>
            </a:xfrm>
            <a:prstGeom prst="line">
              <a:avLst/>
            </a:prstGeom>
            <a:noFill/>
            <a:ln w="12700">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4" name="Line 68"/>
            <p:cNvSpPr>
              <a:spLocks noChangeShapeType="1"/>
            </p:cNvSpPr>
            <p:nvPr/>
          </p:nvSpPr>
          <p:spPr bwMode="auto">
            <a:xfrm>
              <a:off x="3121" y="2592"/>
              <a:ext cx="95" cy="337"/>
            </a:xfrm>
            <a:prstGeom prst="line">
              <a:avLst/>
            </a:prstGeom>
            <a:noFill/>
            <a:ln w="12700">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5" name="Line 69"/>
            <p:cNvSpPr>
              <a:spLocks noChangeShapeType="1"/>
            </p:cNvSpPr>
            <p:nvPr/>
          </p:nvSpPr>
          <p:spPr bwMode="auto">
            <a:xfrm flipH="1">
              <a:off x="3312" y="2592"/>
              <a:ext cx="192" cy="337"/>
            </a:xfrm>
            <a:prstGeom prst="line">
              <a:avLst/>
            </a:prstGeom>
            <a:noFill/>
            <a:ln w="12700">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6" name="Line 70"/>
            <p:cNvSpPr>
              <a:spLocks noChangeShapeType="1"/>
            </p:cNvSpPr>
            <p:nvPr/>
          </p:nvSpPr>
          <p:spPr bwMode="auto">
            <a:xfrm flipH="1">
              <a:off x="3312" y="2592"/>
              <a:ext cx="479" cy="384"/>
            </a:xfrm>
            <a:prstGeom prst="line">
              <a:avLst/>
            </a:prstGeom>
            <a:noFill/>
            <a:ln w="12700">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7" name="Line 71"/>
            <p:cNvSpPr>
              <a:spLocks noChangeShapeType="1"/>
            </p:cNvSpPr>
            <p:nvPr/>
          </p:nvSpPr>
          <p:spPr bwMode="auto">
            <a:xfrm flipH="1">
              <a:off x="3360" y="2976"/>
              <a:ext cx="384" cy="0"/>
            </a:xfrm>
            <a:prstGeom prst="line">
              <a:avLst/>
            </a:prstGeom>
            <a:noFill/>
            <a:ln w="12700">
              <a:solidFill>
                <a:schemeClr val="hlink"/>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8" name="Line 72"/>
            <p:cNvSpPr>
              <a:spLocks noChangeShapeType="1"/>
            </p:cNvSpPr>
            <p:nvPr/>
          </p:nvSpPr>
          <p:spPr bwMode="auto">
            <a:xfrm>
              <a:off x="2016" y="2305"/>
              <a:ext cx="0" cy="432"/>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09" name="Line 73"/>
            <p:cNvSpPr>
              <a:spLocks noChangeShapeType="1"/>
            </p:cNvSpPr>
            <p:nvPr/>
          </p:nvSpPr>
          <p:spPr bwMode="auto">
            <a:xfrm>
              <a:off x="2016" y="2736"/>
              <a:ext cx="720" cy="0"/>
            </a:xfrm>
            <a:prstGeom prst="line">
              <a:avLst/>
            </a:prstGeom>
            <a:noFill/>
            <a:ln w="12700">
              <a:solidFill>
                <a:schemeClr val="tx1"/>
              </a:solidFill>
              <a:round/>
              <a:headEnd/>
              <a:tailEnd type="triangle" w="med" len="me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10" name="Line 74"/>
            <p:cNvSpPr>
              <a:spLocks noChangeShapeType="1"/>
            </p:cNvSpPr>
            <p:nvPr/>
          </p:nvSpPr>
          <p:spPr bwMode="auto">
            <a:xfrm>
              <a:off x="3312" y="1344"/>
              <a:ext cx="0" cy="432"/>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11" name="Line 75"/>
            <p:cNvSpPr>
              <a:spLocks noChangeShapeType="1"/>
            </p:cNvSpPr>
            <p:nvPr/>
          </p:nvSpPr>
          <p:spPr bwMode="auto">
            <a:xfrm flipH="1">
              <a:off x="2543" y="1344"/>
              <a:ext cx="769" cy="0"/>
            </a:xfrm>
            <a:prstGeom prst="line">
              <a:avLst/>
            </a:prstGeom>
            <a:noFill/>
            <a:ln w="12700">
              <a:solidFill>
                <a:schemeClr val="tx1"/>
              </a:solidFill>
              <a:round/>
              <a:headEnd/>
              <a:tailEnd type="triangle" w="med" len="me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12" name="Line 76"/>
            <p:cNvSpPr>
              <a:spLocks noChangeShapeType="1"/>
            </p:cNvSpPr>
            <p:nvPr/>
          </p:nvSpPr>
          <p:spPr bwMode="auto">
            <a:xfrm>
              <a:off x="4896" y="2256"/>
              <a:ext cx="0" cy="432"/>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13" name="Line 77"/>
            <p:cNvSpPr>
              <a:spLocks noChangeShapeType="1"/>
            </p:cNvSpPr>
            <p:nvPr/>
          </p:nvSpPr>
          <p:spPr bwMode="auto">
            <a:xfrm flipH="1">
              <a:off x="4128" y="2256"/>
              <a:ext cx="768" cy="0"/>
            </a:xfrm>
            <a:prstGeom prst="line">
              <a:avLst/>
            </a:prstGeom>
            <a:noFill/>
            <a:ln w="12700">
              <a:solidFill>
                <a:schemeClr val="tx1"/>
              </a:solidFill>
              <a:round/>
              <a:headEnd/>
              <a:tailEnd type="triangle" w="med" len="me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14" name="Line 78"/>
            <p:cNvSpPr>
              <a:spLocks noChangeShapeType="1"/>
            </p:cNvSpPr>
            <p:nvPr/>
          </p:nvSpPr>
          <p:spPr bwMode="auto">
            <a:xfrm>
              <a:off x="3744" y="3216"/>
              <a:ext cx="0" cy="432"/>
            </a:xfrm>
            <a:prstGeom prst="line">
              <a:avLst/>
            </a:prstGeom>
            <a:noFill/>
            <a:ln w="12700">
              <a:solidFill>
                <a:schemeClr val="tx1"/>
              </a:solidFill>
              <a:round/>
              <a:headEnd/>
              <a:tailEn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219215" name="Line 79"/>
            <p:cNvSpPr>
              <a:spLocks noChangeShapeType="1"/>
            </p:cNvSpPr>
            <p:nvPr/>
          </p:nvSpPr>
          <p:spPr bwMode="auto">
            <a:xfrm>
              <a:off x="3744" y="3647"/>
              <a:ext cx="721" cy="0"/>
            </a:xfrm>
            <a:prstGeom prst="line">
              <a:avLst/>
            </a:prstGeom>
            <a:noFill/>
            <a:ln w="12700">
              <a:solidFill>
                <a:schemeClr val="tx1"/>
              </a:solidFill>
              <a:round/>
              <a:headEnd/>
              <a:tailEnd type="triangle" w="med" len="med"/>
            </a:ln>
            <a:effectLst>
              <a:outerShdw dist="107763" dir="2700000" algn="ctr" rotWithShape="0">
                <a:schemeClr val="bg2">
                  <a:alpha val="50000"/>
                </a:schemeClr>
              </a:outerShdw>
            </a:effectLst>
          </p:spPr>
          <p:txBody>
            <a:bodyPr wrap="none" anchor="ctr"/>
            <a:lstStyle/>
            <a:p>
              <a:pPr>
                <a:defRPr/>
              </a:pPr>
              <a:endParaRPr lang="zh-CN" altLang="en-US">
                <a:ea typeface="宋体" pitchFamily="2" charset="-122"/>
              </a:endParaRPr>
            </a:p>
          </p:txBody>
        </p:sp>
        <p:sp>
          <p:nvSpPr>
            <p:cNvPr id="19508" name="Text Box 80"/>
            <p:cNvSpPr txBox="1">
              <a:spLocks noChangeArrowheads="1"/>
            </p:cNvSpPr>
            <p:nvPr/>
          </p:nvSpPr>
          <p:spPr bwMode="auto">
            <a:xfrm>
              <a:off x="2121" y="800"/>
              <a:ext cx="1928" cy="321"/>
            </a:xfrm>
            <a:prstGeom prst="rect">
              <a:avLst/>
            </a:prstGeom>
            <a:noFill/>
            <a:ln w="12700">
              <a:noFill/>
              <a:miter lim="800000"/>
              <a:headEnd/>
              <a:tailEnd/>
            </a:ln>
          </p:spPr>
          <p:txBody>
            <a:bodyPr wrap="none" anchor="ctr">
              <a:spAutoFit/>
            </a:bodyPr>
            <a:lstStyle/>
            <a:p>
              <a:pPr algn="ctr" eaLnBrk="0" hangingPunct="0"/>
              <a:r>
                <a:rPr kumimoji="1" lang="zh-CN" altLang="zh-CN" sz="2000">
                  <a:solidFill>
                    <a:schemeClr val="hlink"/>
                  </a:solidFill>
                  <a:latin typeface="Times New Roman" pitchFamily="18" charset="0"/>
                </a:rPr>
                <a:t>问题域(</a:t>
              </a:r>
              <a:r>
                <a:rPr kumimoji="1" lang="en-US" altLang="zh-CN" sz="2000">
                  <a:solidFill>
                    <a:schemeClr val="hlink"/>
                  </a:solidFill>
                  <a:latin typeface="Times New Roman" pitchFamily="18" charset="0"/>
                </a:rPr>
                <a:t>Problem Domain)</a:t>
              </a:r>
              <a:endParaRPr kumimoji="1" lang="en-US" altLang="zh-CN" sz="2000">
                <a:solidFill>
                  <a:schemeClr val="bg2"/>
                </a:solidFill>
                <a:latin typeface="Times New Roman" pitchFamily="18" charset="0"/>
              </a:endParaRPr>
            </a:p>
          </p:txBody>
        </p:sp>
        <p:sp>
          <p:nvSpPr>
            <p:cNvPr id="19509" name="Text Box 81"/>
            <p:cNvSpPr txBox="1">
              <a:spLocks noChangeArrowheads="1"/>
            </p:cNvSpPr>
            <p:nvPr/>
          </p:nvSpPr>
          <p:spPr bwMode="auto">
            <a:xfrm>
              <a:off x="1470" y="2840"/>
              <a:ext cx="543" cy="373"/>
            </a:xfrm>
            <a:prstGeom prst="rect">
              <a:avLst/>
            </a:prstGeom>
            <a:noFill/>
            <a:ln w="12700">
              <a:noFill/>
              <a:miter lim="800000"/>
              <a:headEnd/>
              <a:tailEnd/>
            </a:ln>
          </p:spPr>
          <p:txBody>
            <a:bodyPr wrap="none" anchor="ctr">
              <a:spAutoFit/>
            </a:bodyPr>
            <a:lstStyle/>
            <a:p>
              <a:pPr algn="ctr" eaLnBrk="0" hangingPunct="0"/>
              <a:r>
                <a:rPr kumimoji="1" lang="zh-CN" altLang="en-US" sz="2400" b="1" u="sng" dirty="0">
                  <a:solidFill>
                    <a:srgbClr val="FF0000"/>
                  </a:solidFill>
                  <a:latin typeface="Times New Roman" pitchFamily="18" charset="0"/>
                </a:rPr>
                <a:t>设计</a:t>
              </a:r>
              <a:endParaRPr kumimoji="1" lang="zh-CN" altLang="en-US" sz="2400" dirty="0">
                <a:solidFill>
                  <a:srgbClr val="FF0000"/>
                </a:solidFill>
                <a:latin typeface="Times New Roman" pitchFamily="18" charset="0"/>
              </a:endParaRPr>
            </a:p>
          </p:txBody>
        </p:sp>
        <p:sp>
          <p:nvSpPr>
            <p:cNvPr id="19510" name="Text Box 82"/>
            <p:cNvSpPr txBox="1">
              <a:spLocks noChangeArrowheads="1"/>
            </p:cNvSpPr>
            <p:nvPr/>
          </p:nvSpPr>
          <p:spPr bwMode="auto">
            <a:xfrm>
              <a:off x="3198" y="3464"/>
              <a:ext cx="543" cy="373"/>
            </a:xfrm>
            <a:prstGeom prst="rect">
              <a:avLst/>
            </a:prstGeom>
            <a:noFill/>
            <a:ln w="12700">
              <a:noFill/>
              <a:miter lim="800000"/>
              <a:headEnd/>
              <a:tailEnd/>
            </a:ln>
          </p:spPr>
          <p:txBody>
            <a:bodyPr wrap="none" anchor="ctr">
              <a:spAutoFit/>
            </a:bodyPr>
            <a:lstStyle/>
            <a:p>
              <a:pPr algn="ctr" eaLnBrk="0" hangingPunct="0"/>
              <a:r>
                <a:rPr kumimoji="1" lang="zh-CN" altLang="en-US" sz="2400" b="1" u="sng" dirty="0">
                  <a:solidFill>
                    <a:srgbClr val="FF0000"/>
                  </a:solidFill>
                  <a:latin typeface="Times New Roman" pitchFamily="18" charset="0"/>
                </a:rPr>
                <a:t>实现</a:t>
              </a:r>
              <a:endParaRPr kumimoji="1" lang="zh-CN" altLang="en-US" sz="2400" dirty="0">
                <a:solidFill>
                  <a:srgbClr val="FF0000"/>
                </a:solidFill>
                <a:latin typeface="Times New Roman" pitchFamily="18" charset="0"/>
              </a:endParaRPr>
            </a:p>
          </p:txBody>
        </p:sp>
        <p:sp>
          <p:nvSpPr>
            <p:cNvPr id="19511" name="Text Box 83"/>
            <p:cNvSpPr txBox="1">
              <a:spLocks noChangeArrowheads="1"/>
            </p:cNvSpPr>
            <p:nvPr/>
          </p:nvSpPr>
          <p:spPr bwMode="auto">
            <a:xfrm>
              <a:off x="185" y="2069"/>
              <a:ext cx="845" cy="664"/>
            </a:xfrm>
            <a:prstGeom prst="rect">
              <a:avLst/>
            </a:prstGeom>
            <a:noFill/>
            <a:ln w="12700">
              <a:noFill/>
              <a:miter lim="800000"/>
              <a:headEnd/>
              <a:tailEnd/>
            </a:ln>
          </p:spPr>
          <p:txBody>
            <a:bodyPr wrap="none" anchor="ctr">
              <a:spAutoFit/>
            </a:bodyPr>
            <a:lstStyle/>
            <a:p>
              <a:pPr algn="ctr" eaLnBrk="0" hangingPunct="0"/>
              <a:r>
                <a:rPr kumimoji="1" lang="en-US" altLang="zh-CN" sz="2400">
                  <a:solidFill>
                    <a:schemeClr val="tx2"/>
                  </a:solidFill>
                  <a:latin typeface="Times New Roman" pitchFamily="18" charset="0"/>
                </a:rPr>
                <a:t>Analysis</a:t>
              </a:r>
            </a:p>
            <a:p>
              <a:pPr algn="ctr" eaLnBrk="0" hangingPunct="0"/>
              <a:r>
                <a:rPr kumimoji="1" lang="en-US" altLang="zh-CN" sz="2400">
                  <a:solidFill>
                    <a:schemeClr val="tx2"/>
                  </a:solidFill>
                  <a:latin typeface="Times New Roman" pitchFamily="18" charset="0"/>
                </a:rPr>
                <a:t>(Scope)</a:t>
              </a:r>
              <a:endParaRPr kumimoji="1" lang="en-US" altLang="zh-CN" sz="2400">
                <a:solidFill>
                  <a:schemeClr val="bg2"/>
                </a:solidFill>
                <a:latin typeface="Times New Roman" pitchFamily="18" charset="0"/>
              </a:endParaRPr>
            </a:p>
          </p:txBody>
        </p:sp>
        <p:sp>
          <p:nvSpPr>
            <p:cNvPr id="19512" name="Text Box 84"/>
            <p:cNvSpPr txBox="1">
              <a:spLocks noChangeArrowheads="1"/>
            </p:cNvSpPr>
            <p:nvPr/>
          </p:nvSpPr>
          <p:spPr bwMode="auto">
            <a:xfrm>
              <a:off x="1059" y="3076"/>
              <a:ext cx="1312" cy="664"/>
            </a:xfrm>
            <a:prstGeom prst="rect">
              <a:avLst/>
            </a:prstGeom>
            <a:noFill/>
            <a:ln w="12700">
              <a:noFill/>
              <a:miter lim="800000"/>
              <a:headEnd/>
              <a:tailEnd/>
            </a:ln>
          </p:spPr>
          <p:txBody>
            <a:bodyPr wrap="none" anchor="ctr">
              <a:spAutoFit/>
            </a:bodyPr>
            <a:lstStyle/>
            <a:p>
              <a:pPr algn="ctr" eaLnBrk="0" hangingPunct="0"/>
              <a:r>
                <a:rPr kumimoji="1" lang="en-US" altLang="zh-CN" sz="2400">
                  <a:solidFill>
                    <a:schemeClr val="tx2"/>
                  </a:solidFill>
                  <a:latin typeface="Times New Roman" pitchFamily="18" charset="0"/>
                </a:rPr>
                <a:t>Design</a:t>
              </a:r>
            </a:p>
            <a:p>
              <a:pPr algn="ctr" eaLnBrk="0" hangingPunct="0"/>
              <a:r>
                <a:rPr kumimoji="1" lang="en-US" altLang="zh-CN" sz="2400">
                  <a:solidFill>
                    <a:schemeClr val="tx2"/>
                  </a:solidFill>
                  <a:latin typeface="Times New Roman" pitchFamily="18" charset="0"/>
                </a:rPr>
                <a:t>(specification)</a:t>
              </a:r>
              <a:endParaRPr kumimoji="1" lang="en-US" altLang="zh-CN" sz="2400">
                <a:solidFill>
                  <a:schemeClr val="bg2"/>
                </a:solidFill>
                <a:latin typeface="Times New Roman" pitchFamily="18" charset="0"/>
              </a:endParaRPr>
            </a:p>
          </p:txBody>
        </p:sp>
        <p:sp>
          <p:nvSpPr>
            <p:cNvPr id="19513" name="Text Box 85"/>
            <p:cNvSpPr txBox="1">
              <a:spLocks noChangeArrowheads="1"/>
            </p:cNvSpPr>
            <p:nvPr/>
          </p:nvSpPr>
          <p:spPr bwMode="auto">
            <a:xfrm>
              <a:off x="2832" y="3652"/>
              <a:ext cx="1425" cy="663"/>
            </a:xfrm>
            <a:prstGeom prst="rect">
              <a:avLst/>
            </a:prstGeom>
            <a:noFill/>
            <a:ln w="12700">
              <a:noFill/>
              <a:miter lim="800000"/>
              <a:headEnd/>
              <a:tailEnd/>
            </a:ln>
          </p:spPr>
          <p:txBody>
            <a:bodyPr wrap="none" anchor="ctr">
              <a:spAutoFit/>
            </a:bodyPr>
            <a:lstStyle/>
            <a:p>
              <a:pPr algn="ctr" eaLnBrk="0" hangingPunct="0"/>
              <a:r>
                <a:rPr kumimoji="1" lang="en-US" altLang="zh-CN" sz="2400" dirty="0">
                  <a:solidFill>
                    <a:schemeClr val="tx2"/>
                  </a:solidFill>
                  <a:latin typeface="Times New Roman" pitchFamily="18" charset="0"/>
                </a:rPr>
                <a:t>Implementation</a:t>
              </a:r>
            </a:p>
            <a:p>
              <a:pPr algn="ctr" eaLnBrk="0" hangingPunct="0"/>
              <a:r>
                <a:rPr kumimoji="1" lang="en-US" altLang="zh-CN" sz="2400" dirty="0">
                  <a:solidFill>
                    <a:schemeClr val="tx2"/>
                  </a:solidFill>
                  <a:latin typeface="Times New Roman" pitchFamily="18" charset="0"/>
                </a:rPr>
                <a:t>(program)</a:t>
              </a:r>
              <a:endParaRPr kumimoji="1" lang="en-US" altLang="zh-CN" sz="2400" dirty="0">
                <a:solidFill>
                  <a:schemeClr val="bg2"/>
                </a:solidFill>
                <a:latin typeface="Times New Roman" pitchFamily="18" charset="0"/>
              </a:endParaRPr>
            </a:p>
          </p:txBody>
        </p:sp>
        <p:sp>
          <p:nvSpPr>
            <p:cNvPr id="19514" name="Text Box 86"/>
            <p:cNvSpPr txBox="1">
              <a:spLocks noChangeArrowheads="1"/>
            </p:cNvSpPr>
            <p:nvPr/>
          </p:nvSpPr>
          <p:spPr bwMode="auto">
            <a:xfrm>
              <a:off x="3576" y="1472"/>
              <a:ext cx="1901" cy="320"/>
            </a:xfrm>
            <a:prstGeom prst="rect">
              <a:avLst/>
            </a:prstGeom>
            <a:noFill/>
            <a:ln w="12700">
              <a:noFill/>
              <a:miter lim="800000"/>
              <a:headEnd/>
              <a:tailEnd/>
            </a:ln>
          </p:spPr>
          <p:txBody>
            <a:bodyPr wrap="none" anchor="ctr">
              <a:spAutoFit/>
            </a:bodyPr>
            <a:lstStyle/>
            <a:p>
              <a:pPr algn="ctr" eaLnBrk="0" hangingPunct="0"/>
              <a:r>
                <a:rPr kumimoji="1" lang="zh-CN" altLang="zh-CN" sz="2000">
                  <a:solidFill>
                    <a:schemeClr val="hlink"/>
                  </a:solidFill>
                  <a:latin typeface="Times New Roman" pitchFamily="18" charset="0"/>
                </a:rPr>
                <a:t>软件模型(</a:t>
              </a:r>
              <a:r>
                <a:rPr kumimoji="1" lang="en-US" altLang="zh-CN" sz="2000">
                  <a:solidFill>
                    <a:schemeClr val="hlink"/>
                  </a:solidFill>
                  <a:latin typeface="Times New Roman" pitchFamily="18" charset="0"/>
                </a:rPr>
                <a:t>Design Model)</a:t>
              </a:r>
              <a:endParaRPr kumimoji="1" lang="en-US" altLang="zh-CN" sz="2000">
                <a:solidFill>
                  <a:schemeClr val="bg2"/>
                </a:solidFill>
                <a:latin typeface="Times New Roman" pitchFamily="18" charset="0"/>
              </a:endParaRPr>
            </a:p>
          </p:txBody>
        </p:sp>
        <p:sp>
          <p:nvSpPr>
            <p:cNvPr id="19515" name="Text Box 87"/>
            <p:cNvSpPr txBox="1">
              <a:spLocks noChangeArrowheads="1"/>
            </p:cNvSpPr>
            <p:nvPr/>
          </p:nvSpPr>
          <p:spPr bwMode="auto">
            <a:xfrm>
              <a:off x="4080" y="2310"/>
              <a:ext cx="1680" cy="566"/>
            </a:xfrm>
            <a:prstGeom prst="rect">
              <a:avLst/>
            </a:prstGeom>
            <a:noFill/>
            <a:ln w="12700">
              <a:noFill/>
              <a:miter lim="800000"/>
              <a:headEnd/>
              <a:tailEnd/>
            </a:ln>
          </p:spPr>
          <p:txBody>
            <a:bodyPr anchor="ctr">
              <a:spAutoFit/>
            </a:bodyPr>
            <a:lstStyle/>
            <a:p>
              <a:pPr algn="ctr" eaLnBrk="0" hangingPunct="0"/>
              <a:r>
                <a:rPr kumimoji="1" lang="zh-CN" altLang="zh-CN" sz="2000">
                  <a:solidFill>
                    <a:schemeClr val="hlink"/>
                  </a:solidFill>
                  <a:latin typeface="Times New Roman" pitchFamily="18" charset="0"/>
                </a:rPr>
                <a:t>代码(</a:t>
              </a:r>
              <a:r>
                <a:rPr kumimoji="1" lang="en-US" altLang="zh-CN" sz="2000">
                  <a:solidFill>
                    <a:schemeClr val="hlink"/>
                  </a:solidFill>
                  <a:latin typeface="Times New Roman" pitchFamily="18" charset="0"/>
                </a:rPr>
                <a:t>Source code files)</a:t>
              </a:r>
              <a:endParaRPr kumimoji="1" lang="en-US" altLang="zh-CN" sz="2000">
                <a:solidFill>
                  <a:schemeClr val="bg2"/>
                </a:solidFill>
                <a:latin typeface="Times New Roman" pitchFamily="18" charset="0"/>
              </a:endParaRPr>
            </a:p>
          </p:txBody>
        </p:sp>
        <p:sp>
          <p:nvSpPr>
            <p:cNvPr id="19516" name="Text Box 88"/>
            <p:cNvSpPr txBox="1">
              <a:spLocks noChangeArrowheads="1"/>
            </p:cNvSpPr>
            <p:nvPr/>
          </p:nvSpPr>
          <p:spPr bwMode="auto">
            <a:xfrm>
              <a:off x="1222" y="111"/>
              <a:ext cx="811" cy="320"/>
            </a:xfrm>
            <a:prstGeom prst="rect">
              <a:avLst/>
            </a:prstGeom>
            <a:noFill/>
            <a:ln w="12700">
              <a:noFill/>
              <a:miter lim="800000"/>
              <a:headEnd/>
              <a:tailEnd/>
            </a:ln>
          </p:spPr>
          <p:txBody>
            <a:bodyPr wrap="none" anchor="ctr">
              <a:spAutoFit/>
            </a:bodyPr>
            <a:lstStyle/>
            <a:p>
              <a:pPr algn="ctr" eaLnBrk="0" hangingPunct="0"/>
              <a:r>
                <a:rPr kumimoji="1" lang="zh-CN" altLang="zh-CN" sz="2000">
                  <a:solidFill>
                    <a:schemeClr val="hlink"/>
                  </a:solidFill>
                  <a:latin typeface="Times New Roman" pitchFamily="18" charset="0"/>
                </a:rPr>
                <a:t>现实世界</a:t>
              </a:r>
              <a:endParaRPr kumimoji="1" lang="zh-CN" altLang="en-US" sz="2000">
                <a:solidFill>
                  <a:schemeClr val="bg2"/>
                </a:solidFill>
                <a:latin typeface="Times New Roman" pitchFamily="18" charset="0"/>
              </a:endParaRPr>
            </a:p>
          </p:txBody>
        </p:sp>
      </p:grpSp>
      <p:sp>
        <p:nvSpPr>
          <p:cNvPr id="93" name="Rectangle 2"/>
          <p:cNvSpPr txBox="1">
            <a:spLocks noChangeArrowheads="1"/>
          </p:cNvSpPr>
          <p:nvPr/>
        </p:nvSpPr>
        <p:spPr>
          <a:xfrm>
            <a:off x="914400" y="274638"/>
            <a:ext cx="7772400" cy="868362"/>
          </a:xfrm>
          <a:prstGeom prst="rect">
            <a:avLst/>
          </a:prstGeom>
        </p:spPr>
        <p:txBody>
          <a:bodyPr bIns="91440" anchor="b">
            <a:normAutofit/>
          </a:bodyPr>
          <a:lstStyle/>
          <a:p>
            <a:pPr fontAlgn="auto">
              <a:spcAft>
                <a:spcPts val="0"/>
              </a:spcAft>
              <a:defRPr/>
            </a:pPr>
            <a:r>
              <a:rPr lang="en-US" altLang="zh-CN" sz="4000" i="1" dirty="0">
                <a:solidFill>
                  <a:schemeClr val="tx2"/>
                </a:solidFill>
                <a:latin typeface="+mj-lt"/>
                <a:ea typeface="+mj-ea"/>
                <a:cs typeface="+mj-cs"/>
              </a:rPr>
              <a:t>6.2</a:t>
            </a:r>
            <a:r>
              <a:rPr lang="zh-CN" altLang="en-US" sz="4000" i="1" dirty="0">
                <a:solidFill>
                  <a:schemeClr val="tx2"/>
                </a:solidFill>
                <a:latin typeface="+mj-lt"/>
                <a:ea typeface="+mj-ea"/>
                <a:cs typeface="+mj-cs"/>
              </a:rPr>
              <a:t>   面向对象方法学</a:t>
            </a:r>
            <a:r>
              <a:rPr lang="zh-CN" altLang="en-US" sz="4000" b="1" dirty="0">
                <a:solidFill>
                  <a:schemeClr val="tx2"/>
                </a:solidFill>
                <a:latin typeface="黑体" pitchFamily="2" charset="-122"/>
                <a:ea typeface="+mj-ea"/>
                <a:cs typeface="+mj-cs"/>
              </a:rPr>
              <a:t> </a:t>
            </a:r>
            <a:endParaRPr lang="zh-CN" altLang="en-US" sz="4000" i="1"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1D7B05D4-2A80-4C8A-882B-2C4AF3591A3E}" type="slidenum">
              <a:rPr lang="en-US" altLang="zh-CN"/>
              <a:pPr>
                <a:defRPr/>
              </a:pPr>
              <a:t>36</a:t>
            </a:fld>
            <a:endParaRPr lang="en-US" altLang="zh-CN"/>
          </a:p>
        </p:txBody>
      </p:sp>
      <p:sp>
        <p:nvSpPr>
          <p:cNvPr id="20483" name="Rectangle 3"/>
          <p:cNvSpPr>
            <a:spLocks noGrp="1" noChangeArrowheads="1"/>
          </p:cNvSpPr>
          <p:nvPr>
            <p:ph sz="quarter" idx="1"/>
          </p:nvPr>
        </p:nvSpPr>
        <p:spPr>
          <a:xfrm>
            <a:off x="928662" y="1357298"/>
            <a:ext cx="7215238" cy="4643470"/>
          </a:xfrm>
        </p:spPr>
        <p:txBody>
          <a:bodyPr/>
          <a:lstStyle/>
          <a:p>
            <a:r>
              <a:rPr lang="zh-CN" altLang="en-US" sz="2800" dirty="0" smtClean="0"/>
              <a:t>面向对象方法的基本要素</a:t>
            </a:r>
          </a:p>
          <a:p>
            <a:pPr lvl="1"/>
            <a:r>
              <a:rPr lang="zh-CN" altLang="en-US" sz="2400" dirty="0" smtClean="0"/>
              <a:t>认为客观世界是由各种对象组成</a:t>
            </a:r>
          </a:p>
          <a:p>
            <a:pPr lvl="1"/>
            <a:r>
              <a:rPr lang="zh-CN" altLang="en-US" sz="2400" dirty="0" smtClean="0"/>
              <a:t>把所有对象都划分成各种类，每个类定义了一组数据和一组方法</a:t>
            </a:r>
          </a:p>
          <a:p>
            <a:pPr lvl="1"/>
            <a:r>
              <a:rPr lang="zh-CN" altLang="en-US" sz="2400" dirty="0" smtClean="0"/>
              <a:t>按照派生类与基类的关系，把若干个对象组成一个层次结构的系统</a:t>
            </a:r>
          </a:p>
          <a:p>
            <a:pPr lvl="1"/>
            <a:r>
              <a:rPr lang="zh-CN" altLang="en-US" sz="2400" dirty="0" smtClean="0"/>
              <a:t>对象彼此之间仅能通过传递消息互相联系</a:t>
            </a:r>
            <a:endParaRPr lang="en-US" altLang="zh-CN" sz="2400" dirty="0" smtClean="0"/>
          </a:p>
          <a:p>
            <a:pPr lvl="1"/>
            <a:r>
              <a:rPr lang="en-US" altLang="zh-CN" sz="2400" dirty="0" smtClean="0">
                <a:solidFill>
                  <a:srgbClr val="FF0000"/>
                </a:solidFill>
              </a:rPr>
              <a:t>OO</a:t>
            </a:r>
            <a:r>
              <a:rPr lang="zh-CN" altLang="en-US" sz="2400" dirty="0" smtClean="0">
                <a:solidFill>
                  <a:srgbClr val="FF0000"/>
                </a:solidFill>
              </a:rPr>
              <a:t>＝</a:t>
            </a:r>
            <a:r>
              <a:rPr lang="en-US" altLang="zh-CN" sz="2400" dirty="0" smtClean="0">
                <a:solidFill>
                  <a:srgbClr val="FF0000"/>
                </a:solidFill>
              </a:rPr>
              <a:t>Object</a:t>
            </a:r>
            <a:r>
              <a:rPr lang="zh-CN" altLang="en-US" sz="2400" dirty="0" smtClean="0">
                <a:solidFill>
                  <a:srgbClr val="FF0000"/>
                </a:solidFill>
              </a:rPr>
              <a:t>＋</a:t>
            </a:r>
            <a:r>
              <a:rPr lang="en-US" altLang="zh-CN" sz="2400" dirty="0" smtClean="0">
                <a:solidFill>
                  <a:srgbClr val="FF0000"/>
                </a:solidFill>
              </a:rPr>
              <a:t>Classes</a:t>
            </a:r>
            <a:r>
              <a:rPr lang="zh-CN" altLang="en-US" sz="2400" dirty="0" smtClean="0">
                <a:solidFill>
                  <a:srgbClr val="FF0000"/>
                </a:solidFill>
              </a:rPr>
              <a:t>＋</a:t>
            </a:r>
            <a:r>
              <a:rPr lang="en-US" altLang="zh-CN" sz="2400" dirty="0" smtClean="0">
                <a:solidFill>
                  <a:srgbClr val="FF0000"/>
                </a:solidFill>
              </a:rPr>
              <a:t>Inheritance</a:t>
            </a:r>
            <a:r>
              <a:rPr lang="zh-CN" altLang="en-US" sz="2400" dirty="0" smtClean="0">
                <a:solidFill>
                  <a:srgbClr val="FF0000"/>
                </a:solidFill>
              </a:rPr>
              <a:t>＋</a:t>
            </a:r>
            <a:r>
              <a:rPr lang="en-US" altLang="zh-CN" sz="2400" dirty="0" smtClean="0">
                <a:solidFill>
                  <a:srgbClr val="FF0000"/>
                </a:solidFill>
              </a:rPr>
              <a:t>Communication with Messages</a:t>
            </a:r>
          </a:p>
        </p:txBody>
      </p:sp>
      <p:sp>
        <p:nvSpPr>
          <p:cNvPr id="6" name="Rectangle 2"/>
          <p:cNvSpPr txBox="1">
            <a:spLocks noChangeArrowheads="1"/>
          </p:cNvSpPr>
          <p:nvPr/>
        </p:nvSpPr>
        <p:spPr>
          <a:xfrm>
            <a:off x="914400" y="274638"/>
            <a:ext cx="7772400" cy="868362"/>
          </a:xfrm>
          <a:prstGeom prst="rect">
            <a:avLst/>
          </a:prstGeom>
        </p:spPr>
        <p:txBody>
          <a:bodyPr bIns="91440" anchor="b">
            <a:normAutofit/>
          </a:bodyPr>
          <a:lstStyle/>
          <a:p>
            <a:pPr fontAlgn="auto">
              <a:spcAft>
                <a:spcPts val="0"/>
              </a:spcAft>
              <a:defRPr/>
            </a:pPr>
            <a:r>
              <a:rPr lang="en-US" altLang="zh-CN" sz="4000" i="1" dirty="0">
                <a:solidFill>
                  <a:schemeClr val="tx2"/>
                </a:solidFill>
                <a:latin typeface="+mj-lt"/>
                <a:ea typeface="+mj-ea"/>
                <a:cs typeface="+mj-cs"/>
              </a:rPr>
              <a:t>6.2</a:t>
            </a:r>
            <a:r>
              <a:rPr lang="zh-CN" altLang="en-US" sz="4000" i="1" dirty="0">
                <a:solidFill>
                  <a:schemeClr val="tx2"/>
                </a:solidFill>
                <a:latin typeface="+mj-lt"/>
                <a:ea typeface="+mj-ea"/>
                <a:cs typeface="+mj-cs"/>
              </a:rPr>
              <a:t>   面向对象方法学</a:t>
            </a:r>
            <a:r>
              <a:rPr lang="zh-CN" altLang="en-US" sz="4000" b="1" dirty="0">
                <a:solidFill>
                  <a:schemeClr val="tx2"/>
                </a:solidFill>
                <a:latin typeface="黑体" pitchFamily="2" charset="-122"/>
                <a:ea typeface="+mj-ea"/>
                <a:cs typeface="+mj-cs"/>
              </a:rPr>
              <a:t> </a:t>
            </a:r>
            <a:endParaRPr lang="zh-CN" altLang="en-US" sz="4000" i="1" dirty="0">
              <a:solidFill>
                <a:schemeClr val="tx2"/>
              </a:solidFill>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5" end="5"/>
                                            </p:txEl>
                                          </p:spTgt>
                                        </p:tgtEl>
                                        <p:attrNameLst>
                                          <p:attrName>style.visibility</p:attrName>
                                        </p:attrNameLst>
                                      </p:cBhvr>
                                      <p:to>
                                        <p:strVal val="visible"/>
                                      </p:to>
                                    </p:set>
                                    <p:anim calcmode="lin" valueType="num">
                                      <p:cBhvr additive="base">
                                        <p:cTn id="7"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D7A8F8F0-BF2E-4152-8C85-02D763B63E37}" type="slidenum">
              <a:rPr lang="en-US" altLang="zh-CN"/>
              <a:pPr>
                <a:defRPr/>
              </a:pPr>
              <a:t>37</a:t>
            </a:fld>
            <a:endParaRPr lang="en-US" altLang="zh-CN"/>
          </a:p>
        </p:txBody>
      </p:sp>
      <p:sp>
        <p:nvSpPr>
          <p:cNvPr id="21507" name="Rectangle 3"/>
          <p:cNvSpPr>
            <a:spLocks noGrp="1" noChangeArrowheads="1"/>
          </p:cNvSpPr>
          <p:nvPr>
            <p:ph sz="quarter" idx="1"/>
          </p:nvPr>
        </p:nvSpPr>
        <p:spPr>
          <a:xfrm>
            <a:off x="928662" y="1357298"/>
            <a:ext cx="7215238" cy="4808006"/>
          </a:xfrm>
        </p:spPr>
        <p:txBody>
          <a:bodyPr/>
          <a:lstStyle/>
          <a:p>
            <a:pPr lvl="1"/>
            <a:r>
              <a:rPr lang="zh-CN" altLang="en-US" b="1" dirty="0" smtClean="0"/>
              <a:t>面向对象的软件过程</a:t>
            </a:r>
            <a:endParaRPr lang="en-US" altLang="zh-CN" b="1" dirty="0" smtClean="0"/>
          </a:p>
          <a:p>
            <a:pPr lvl="2"/>
            <a:r>
              <a:rPr lang="zh-CN" altLang="en-US" dirty="0" smtClean="0"/>
              <a:t>任何开发软件的方法学，都必须完成的工作要素是：确定“做什么”、确定“怎样做”、“实现”和“完善”。</a:t>
            </a:r>
            <a:endParaRPr lang="en-US" altLang="zh-CN" dirty="0" smtClean="0"/>
          </a:p>
          <a:p>
            <a:pPr lvl="2"/>
            <a:r>
              <a:rPr lang="zh-CN" altLang="en-US" b="1" dirty="0" smtClean="0">
                <a:solidFill>
                  <a:srgbClr val="FF0000"/>
                </a:solidFill>
              </a:rPr>
              <a:t>面向对象方法学重点放在生命周期中的分析阶段</a:t>
            </a:r>
            <a:r>
              <a:rPr lang="zh-CN" altLang="en-US" dirty="0" smtClean="0"/>
              <a:t>。在开发的早期阶段定义了一系列面向问题的对象，并且在整个开发过程中不断充实和扩充这些对象。所有其他概念（功能、关系、事件）都是围绕对象组成的，保证分析工作中得到的信息不会丢失或改变。</a:t>
            </a:r>
            <a:endParaRPr lang="en-US" altLang="zh-CN" dirty="0" smtClean="0"/>
          </a:p>
          <a:p>
            <a:pPr lvl="2"/>
            <a:r>
              <a:rPr lang="zh-CN" altLang="en-US" dirty="0" smtClean="0">
                <a:solidFill>
                  <a:srgbClr val="FF0000"/>
                </a:solidFill>
              </a:rPr>
              <a:t>区分生命周期阶段不重要、不明显</a:t>
            </a:r>
            <a:r>
              <a:rPr lang="zh-CN" altLang="en-US" dirty="0" smtClean="0"/>
              <a:t>，分析阶段得到的对象模型也适用于设计阶段和实现阶段。使用统一的概念和表示符号。因此整个开发过程都是吻合一致的，或者说是“无缝”。</a:t>
            </a:r>
            <a:endParaRPr lang="en-US" altLang="zh-CN" dirty="0" smtClean="0"/>
          </a:p>
          <a:p>
            <a:pPr lvl="2"/>
            <a:r>
              <a:rPr lang="zh-CN" altLang="en-US" dirty="0" smtClean="0"/>
              <a:t>容易实现各个开发步骤的</a:t>
            </a:r>
            <a:r>
              <a:rPr lang="zh-CN" altLang="en-US" dirty="0" smtClean="0">
                <a:solidFill>
                  <a:srgbClr val="FF0000"/>
                </a:solidFill>
              </a:rPr>
              <a:t>多次反复迭代</a:t>
            </a:r>
            <a:r>
              <a:rPr lang="zh-CN" altLang="en-US" dirty="0" smtClean="0"/>
              <a:t>，深化认识。</a:t>
            </a:r>
          </a:p>
        </p:txBody>
      </p:sp>
      <p:sp>
        <p:nvSpPr>
          <p:cNvPr id="6" name="Rectangle 2"/>
          <p:cNvSpPr txBox="1">
            <a:spLocks noChangeArrowheads="1"/>
          </p:cNvSpPr>
          <p:nvPr/>
        </p:nvSpPr>
        <p:spPr>
          <a:xfrm>
            <a:off x="914400" y="274638"/>
            <a:ext cx="7772400" cy="868362"/>
          </a:xfrm>
          <a:prstGeom prst="rect">
            <a:avLst/>
          </a:prstGeom>
        </p:spPr>
        <p:txBody>
          <a:bodyPr bIns="91440" anchor="b">
            <a:normAutofit/>
          </a:bodyPr>
          <a:lstStyle/>
          <a:p>
            <a:pPr fontAlgn="auto">
              <a:spcAft>
                <a:spcPts val="0"/>
              </a:spcAft>
              <a:defRPr/>
            </a:pPr>
            <a:r>
              <a:rPr lang="en-US" altLang="zh-CN" sz="4000" i="1" dirty="0">
                <a:solidFill>
                  <a:schemeClr val="tx2"/>
                </a:solidFill>
                <a:latin typeface="+mj-lt"/>
                <a:ea typeface="+mj-ea"/>
                <a:cs typeface="+mj-cs"/>
              </a:rPr>
              <a:t>6.2</a:t>
            </a:r>
            <a:r>
              <a:rPr lang="zh-CN" altLang="en-US" sz="4000" i="1" dirty="0">
                <a:solidFill>
                  <a:schemeClr val="tx2"/>
                </a:solidFill>
                <a:latin typeface="+mj-lt"/>
                <a:ea typeface="+mj-ea"/>
                <a:cs typeface="+mj-cs"/>
              </a:rPr>
              <a:t>   面向对象方法学</a:t>
            </a:r>
            <a:r>
              <a:rPr lang="zh-CN" altLang="en-US" sz="4000" b="1" dirty="0">
                <a:solidFill>
                  <a:schemeClr val="tx2"/>
                </a:solidFill>
                <a:latin typeface="黑体" pitchFamily="2" charset="-122"/>
                <a:ea typeface="+mj-ea"/>
                <a:cs typeface="+mj-cs"/>
              </a:rPr>
              <a:t> </a:t>
            </a:r>
            <a:endParaRPr lang="zh-CN" altLang="en-US" sz="4000" i="1"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242DDA14-8D72-40FE-BC85-CE3E37CE9E47}" type="slidenum">
              <a:rPr lang="en-US" altLang="zh-CN"/>
              <a:pPr>
                <a:defRPr/>
              </a:pPr>
              <a:t>38</a:t>
            </a:fld>
            <a:endParaRPr lang="en-US" altLang="zh-CN"/>
          </a:p>
        </p:txBody>
      </p:sp>
      <p:sp>
        <p:nvSpPr>
          <p:cNvPr id="22531" name="Rectangle 3"/>
          <p:cNvSpPr>
            <a:spLocks noGrp="1" noChangeArrowheads="1"/>
          </p:cNvSpPr>
          <p:nvPr>
            <p:ph sz="quarter" idx="1"/>
          </p:nvPr>
        </p:nvSpPr>
        <p:spPr>
          <a:xfrm>
            <a:off x="428625" y="1214438"/>
            <a:ext cx="8429625" cy="4953000"/>
          </a:xfrm>
        </p:spPr>
        <p:txBody>
          <a:bodyPr/>
          <a:lstStyle/>
          <a:p>
            <a:r>
              <a:rPr lang="zh-CN" altLang="en-US" sz="2800" dirty="0" smtClean="0">
                <a:solidFill>
                  <a:srgbClr val="FF0000"/>
                </a:solidFill>
              </a:rPr>
              <a:t>（</a:t>
            </a:r>
            <a:r>
              <a:rPr lang="en-US" altLang="zh-CN" sz="2800" dirty="0" smtClean="0">
                <a:solidFill>
                  <a:srgbClr val="FF0000"/>
                </a:solidFill>
              </a:rPr>
              <a:t>1</a:t>
            </a:r>
            <a:r>
              <a:rPr lang="zh-CN" altLang="en-US" sz="2800" dirty="0" smtClean="0">
                <a:solidFill>
                  <a:srgbClr val="FF0000"/>
                </a:solidFill>
              </a:rPr>
              <a:t>）与人类习惯的思维方式一致</a:t>
            </a:r>
            <a:endParaRPr lang="zh-CN" altLang="en-US" sz="2000" dirty="0" smtClean="0">
              <a:solidFill>
                <a:srgbClr val="FF0000"/>
              </a:solidFill>
            </a:endParaRPr>
          </a:p>
          <a:p>
            <a:pPr lvl="1"/>
            <a:r>
              <a:rPr lang="en-US" altLang="zh-CN" dirty="0" smtClean="0"/>
              <a:t>a. </a:t>
            </a:r>
            <a:r>
              <a:rPr lang="zh-CN" altLang="en-US" dirty="0" smtClean="0"/>
              <a:t>把数据与处理分离是计算机的思维；</a:t>
            </a:r>
            <a:endParaRPr lang="zh-CN" altLang="en-US" sz="1800" dirty="0" smtClean="0"/>
          </a:p>
          <a:p>
            <a:pPr lvl="1"/>
            <a:r>
              <a:rPr lang="en-US" altLang="zh-CN" dirty="0" smtClean="0"/>
              <a:t>b. </a:t>
            </a:r>
            <a:r>
              <a:rPr lang="zh-CN" altLang="en-US" dirty="0" smtClean="0"/>
              <a:t>鼓励开发者在工作中使用应用领域的概念去思考，计算机的观点是不重要的，现实世界的模型才是重要的；</a:t>
            </a:r>
            <a:endParaRPr lang="zh-CN" altLang="en-US" sz="1800" dirty="0" smtClean="0"/>
          </a:p>
          <a:p>
            <a:pPr lvl="1"/>
            <a:r>
              <a:rPr lang="en-US" altLang="zh-CN" dirty="0" smtClean="0"/>
              <a:t>c.</a:t>
            </a:r>
            <a:r>
              <a:rPr lang="zh-CN" altLang="en-US" dirty="0" smtClean="0"/>
              <a:t>用户、需求分析人员、设计人员、编程人员、维护人员用的是同一种语言：对象。 </a:t>
            </a:r>
            <a:endParaRPr lang="zh-CN" altLang="en-US" sz="1800" dirty="0" smtClean="0"/>
          </a:p>
          <a:p>
            <a:pPr lvl="1"/>
            <a:r>
              <a:rPr lang="en-US" altLang="zh-CN" dirty="0" smtClean="0"/>
              <a:t>d. </a:t>
            </a:r>
            <a:r>
              <a:rPr lang="zh-CN" altLang="en-US" dirty="0" smtClean="0"/>
              <a:t>符合人类认识问题的规律：逐步深化。</a:t>
            </a:r>
            <a:endParaRPr lang="zh-CN" altLang="en-US" sz="1800" dirty="0" smtClean="0"/>
          </a:p>
          <a:p>
            <a:r>
              <a:rPr lang="zh-CN" altLang="en-US" sz="2800" dirty="0" smtClean="0">
                <a:solidFill>
                  <a:srgbClr val="FF0000"/>
                </a:solidFill>
              </a:rPr>
              <a:t>（</a:t>
            </a:r>
            <a:r>
              <a:rPr lang="en-US" altLang="zh-CN" sz="2800" dirty="0" smtClean="0">
                <a:solidFill>
                  <a:srgbClr val="FF0000"/>
                </a:solidFill>
              </a:rPr>
              <a:t>2</a:t>
            </a:r>
            <a:r>
              <a:rPr lang="zh-CN" altLang="en-US" sz="2800" dirty="0" smtClean="0">
                <a:solidFill>
                  <a:srgbClr val="FF0000"/>
                </a:solidFill>
              </a:rPr>
              <a:t>）软件的稳定性好</a:t>
            </a:r>
            <a:endParaRPr lang="zh-CN" altLang="en-US" sz="2000" dirty="0" smtClean="0">
              <a:solidFill>
                <a:srgbClr val="FF0000"/>
              </a:solidFill>
            </a:endParaRPr>
          </a:p>
          <a:p>
            <a:pPr lvl="1"/>
            <a:r>
              <a:rPr lang="en-US" altLang="zh-CN" dirty="0" smtClean="0"/>
              <a:t>a. </a:t>
            </a:r>
            <a:r>
              <a:rPr lang="zh-CN" altLang="en-US" dirty="0" smtClean="0"/>
              <a:t>传统方法是基于功能分解，而功能的变化最频繁；</a:t>
            </a:r>
            <a:endParaRPr lang="zh-CN" altLang="en-US" sz="1800" dirty="0" smtClean="0"/>
          </a:p>
          <a:p>
            <a:pPr lvl="1"/>
            <a:r>
              <a:rPr lang="en-US" altLang="zh-CN" dirty="0" smtClean="0"/>
              <a:t>b. </a:t>
            </a:r>
            <a:r>
              <a:rPr lang="zh-CN" altLang="en-US" dirty="0" smtClean="0"/>
              <a:t>面向对象方法基于对象分解，功能变化只引起局部性修改，如从已有的类中派生新的子类以实现新的功能。</a:t>
            </a:r>
            <a:endParaRPr lang="zh-CN" altLang="en-US" sz="1800" dirty="0" smtClean="0"/>
          </a:p>
          <a:p>
            <a:pPr algn="just">
              <a:spcAft>
                <a:spcPct val="40000"/>
              </a:spcAft>
              <a:buFont typeface="Wingdings" pitchFamily="2" charset="2"/>
              <a:buNone/>
            </a:pPr>
            <a:endParaRPr lang="zh-CN" altLang="en-US" sz="2400" dirty="0" smtClean="0"/>
          </a:p>
        </p:txBody>
      </p:sp>
      <p:sp>
        <p:nvSpPr>
          <p:cNvPr id="7" name="Rectangle 2"/>
          <p:cNvSpPr txBox="1">
            <a:spLocks noChangeArrowheads="1"/>
          </p:cNvSpPr>
          <p:nvPr/>
        </p:nvSpPr>
        <p:spPr>
          <a:xfrm>
            <a:off x="914400" y="274638"/>
            <a:ext cx="7772400" cy="868362"/>
          </a:xfrm>
          <a:prstGeom prst="rect">
            <a:avLst/>
          </a:prstGeom>
        </p:spPr>
        <p:txBody>
          <a:bodyPr bIns="91440" anchor="b">
            <a:normAutofit/>
          </a:bodyPr>
          <a:lstStyle/>
          <a:p>
            <a:pPr fontAlgn="auto">
              <a:spcAft>
                <a:spcPts val="0"/>
              </a:spcAft>
              <a:defRPr/>
            </a:pPr>
            <a:r>
              <a:rPr lang="en-US" altLang="zh-CN" sz="4000" i="1" dirty="0" smtClean="0">
                <a:solidFill>
                  <a:schemeClr val="tx2"/>
                </a:solidFill>
                <a:latin typeface="+mj-lt"/>
                <a:ea typeface="+mj-ea"/>
                <a:cs typeface="+mj-cs"/>
              </a:rPr>
              <a:t>6.3</a:t>
            </a:r>
            <a:r>
              <a:rPr lang="zh-CN" altLang="en-US" sz="4000" i="1" dirty="0">
                <a:solidFill>
                  <a:schemeClr val="tx2"/>
                </a:solidFill>
                <a:latin typeface="+mj-lt"/>
                <a:ea typeface="+mj-ea"/>
                <a:cs typeface="+mj-cs"/>
              </a:rPr>
              <a:t>   面向对象方法的主要优点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5" end="5"/>
                                            </p:txEl>
                                          </p:spTgt>
                                        </p:tgtEl>
                                        <p:attrNameLst>
                                          <p:attrName>style.visibility</p:attrName>
                                        </p:attrNameLst>
                                      </p:cBhvr>
                                      <p:to>
                                        <p:strVal val="visible"/>
                                      </p:to>
                                    </p:set>
                                    <p:anim calcmode="lin" valueType="num">
                                      <p:cBhvr additive="base">
                                        <p:cTn id="7" dur="500" fill="hold"/>
                                        <p:tgtEl>
                                          <p:spTgt spid="22531">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531">
                                            <p:txEl>
                                              <p:pRg st="6" end="6"/>
                                            </p:txEl>
                                          </p:spTgt>
                                        </p:tgtEl>
                                        <p:attrNameLst>
                                          <p:attrName>style.visibility</p:attrName>
                                        </p:attrNameLst>
                                      </p:cBhvr>
                                      <p:to>
                                        <p:strVal val="visible"/>
                                      </p:to>
                                    </p:set>
                                    <p:anim calcmode="lin" valueType="num">
                                      <p:cBhvr additive="base">
                                        <p:cTn id="11" dur="500" fill="hold"/>
                                        <p:tgtEl>
                                          <p:spTgt spid="22531">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2531">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531">
                                            <p:txEl>
                                              <p:pRg st="7" end="7"/>
                                            </p:txEl>
                                          </p:spTgt>
                                        </p:tgtEl>
                                        <p:attrNameLst>
                                          <p:attrName>style.visibility</p:attrName>
                                        </p:attrNameLst>
                                      </p:cBhvr>
                                      <p:to>
                                        <p:strVal val="visible"/>
                                      </p:to>
                                    </p:set>
                                    <p:anim calcmode="lin" valueType="num">
                                      <p:cBhvr additive="base">
                                        <p:cTn id="15" dur="500" fill="hold"/>
                                        <p:tgtEl>
                                          <p:spTgt spid="22531">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253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17F03027-B3DC-49A1-8667-CC1D729FE87D}" type="slidenum">
              <a:rPr lang="en-US" altLang="zh-CN"/>
              <a:pPr>
                <a:defRPr/>
              </a:pPr>
              <a:t>39</a:t>
            </a:fld>
            <a:endParaRPr lang="en-US" altLang="zh-CN" dirty="0"/>
          </a:p>
        </p:txBody>
      </p:sp>
      <p:sp>
        <p:nvSpPr>
          <p:cNvPr id="23555" name="Rectangle 3"/>
          <p:cNvSpPr>
            <a:spLocks noGrp="1" noChangeArrowheads="1"/>
          </p:cNvSpPr>
          <p:nvPr>
            <p:ph sz="quarter" idx="1"/>
          </p:nvPr>
        </p:nvSpPr>
        <p:spPr>
          <a:xfrm>
            <a:off x="428625" y="1214438"/>
            <a:ext cx="8429625" cy="4953000"/>
          </a:xfrm>
        </p:spPr>
        <p:txBody>
          <a:bodyPr/>
          <a:lstStyle/>
          <a:p>
            <a:r>
              <a:rPr lang="zh-CN" altLang="en-US" sz="2800" dirty="0" smtClean="0">
                <a:solidFill>
                  <a:srgbClr val="FF0000"/>
                </a:solidFill>
              </a:rPr>
              <a:t>（</a:t>
            </a:r>
            <a:r>
              <a:rPr lang="en-US" altLang="zh-CN" sz="2800" dirty="0" smtClean="0">
                <a:solidFill>
                  <a:srgbClr val="FF0000"/>
                </a:solidFill>
              </a:rPr>
              <a:t>3</a:t>
            </a:r>
            <a:r>
              <a:rPr lang="zh-CN" altLang="en-US" sz="2800" dirty="0" smtClean="0">
                <a:solidFill>
                  <a:srgbClr val="FF0000"/>
                </a:solidFill>
              </a:rPr>
              <a:t>）可重用性好</a:t>
            </a:r>
            <a:endParaRPr lang="zh-CN" altLang="en-US" sz="2000" dirty="0" smtClean="0">
              <a:solidFill>
                <a:srgbClr val="FF0000"/>
              </a:solidFill>
            </a:endParaRPr>
          </a:p>
          <a:p>
            <a:pPr lvl="1"/>
            <a:r>
              <a:rPr lang="zh-CN" altLang="en-US" dirty="0" smtClean="0"/>
              <a:t>传统方法重用的方法主要是函数库，即试图用标准函数库中的函数作为预制件。但函数缺乏“柔性”，不能适应多变的需求，作为可重用的预制件不理想。</a:t>
            </a:r>
            <a:endParaRPr lang="zh-CN" altLang="en-US" sz="1800" dirty="0" smtClean="0"/>
          </a:p>
          <a:p>
            <a:r>
              <a:rPr lang="zh-CN" altLang="en-US" sz="2800" dirty="0" smtClean="0">
                <a:solidFill>
                  <a:srgbClr val="FF0000"/>
                </a:solidFill>
              </a:rPr>
              <a:t>（</a:t>
            </a:r>
            <a:r>
              <a:rPr lang="en-US" altLang="zh-CN" sz="2800" dirty="0" smtClean="0">
                <a:solidFill>
                  <a:srgbClr val="FF0000"/>
                </a:solidFill>
              </a:rPr>
              <a:t>4</a:t>
            </a:r>
            <a:r>
              <a:rPr lang="zh-CN" altLang="en-US" sz="2800" dirty="0" smtClean="0">
                <a:solidFill>
                  <a:srgbClr val="FF0000"/>
                </a:solidFill>
              </a:rPr>
              <a:t>）较易开发大型软件</a:t>
            </a:r>
            <a:endParaRPr lang="zh-CN" altLang="en-US" sz="2000" dirty="0" smtClean="0">
              <a:solidFill>
                <a:srgbClr val="FF0000"/>
              </a:solidFill>
            </a:endParaRPr>
          </a:p>
          <a:p>
            <a:pPr lvl="1"/>
            <a:r>
              <a:rPr lang="en-US" altLang="zh-CN" dirty="0" smtClean="0"/>
              <a:t>a. </a:t>
            </a:r>
            <a:r>
              <a:rPr lang="zh-CN" altLang="en-US" dirty="0" smtClean="0"/>
              <a:t>用面向对象方法开发小软件显不出很大的优势；</a:t>
            </a:r>
            <a:endParaRPr lang="zh-CN" altLang="en-US" sz="1800" dirty="0" smtClean="0"/>
          </a:p>
          <a:p>
            <a:pPr lvl="1"/>
            <a:r>
              <a:rPr lang="en-US" altLang="zh-CN" dirty="0" smtClean="0"/>
              <a:t>b. </a:t>
            </a:r>
            <a:r>
              <a:rPr lang="zh-CN" altLang="en-US" dirty="0" smtClean="0"/>
              <a:t>可把大型软件看成一系列本质上独立的小产品处理：</a:t>
            </a:r>
            <a:endParaRPr lang="zh-CN" altLang="en-US" sz="1800" dirty="0" smtClean="0"/>
          </a:p>
          <a:p>
            <a:r>
              <a:rPr lang="zh-CN" altLang="en-US" sz="2800" dirty="0" smtClean="0">
                <a:solidFill>
                  <a:srgbClr val="FF0000"/>
                </a:solidFill>
              </a:rPr>
              <a:t>（</a:t>
            </a:r>
            <a:r>
              <a:rPr lang="en-US" altLang="zh-CN" sz="2800" dirty="0" smtClean="0">
                <a:solidFill>
                  <a:srgbClr val="FF0000"/>
                </a:solidFill>
              </a:rPr>
              <a:t>5</a:t>
            </a:r>
            <a:r>
              <a:rPr lang="zh-CN" altLang="en-US" sz="2800" dirty="0" smtClean="0">
                <a:solidFill>
                  <a:srgbClr val="FF0000"/>
                </a:solidFill>
              </a:rPr>
              <a:t>）可维护性好</a:t>
            </a:r>
            <a:endParaRPr lang="zh-CN" altLang="en-US" sz="2000" dirty="0" smtClean="0">
              <a:solidFill>
                <a:srgbClr val="FF0000"/>
              </a:solidFill>
            </a:endParaRPr>
          </a:p>
          <a:p>
            <a:pPr lvl="1"/>
            <a:r>
              <a:rPr lang="en-US" altLang="zh-CN" dirty="0" smtClean="0"/>
              <a:t>a. </a:t>
            </a:r>
            <a:r>
              <a:rPr lang="zh-CN" altLang="en-US" dirty="0" smtClean="0"/>
              <a:t>耦合度低，修改变化得影响范围不会很大；</a:t>
            </a:r>
            <a:endParaRPr lang="zh-CN" altLang="en-US" sz="1800" dirty="0" smtClean="0"/>
          </a:p>
          <a:p>
            <a:pPr lvl="1"/>
            <a:r>
              <a:rPr lang="en-US" altLang="zh-CN" dirty="0" smtClean="0"/>
              <a:t>b. </a:t>
            </a:r>
            <a:r>
              <a:rPr lang="zh-CN" altLang="en-US" dirty="0" smtClean="0"/>
              <a:t>继承机制使修改和扩充较容易；多态性机制使修改和扩充所需要的修改更少。</a:t>
            </a:r>
            <a:endParaRPr lang="zh-CN" altLang="en-US" sz="1800" dirty="0" smtClean="0"/>
          </a:p>
          <a:p>
            <a:pPr algn="just">
              <a:spcAft>
                <a:spcPct val="40000"/>
              </a:spcAft>
              <a:buFont typeface="Wingdings" pitchFamily="2" charset="2"/>
              <a:buNone/>
            </a:pPr>
            <a:endParaRPr lang="zh-CN" altLang="en-US" sz="2400" dirty="0" smtClean="0"/>
          </a:p>
        </p:txBody>
      </p:sp>
      <p:sp>
        <p:nvSpPr>
          <p:cNvPr id="7" name="Rectangle 2"/>
          <p:cNvSpPr txBox="1">
            <a:spLocks noChangeArrowheads="1"/>
          </p:cNvSpPr>
          <p:nvPr/>
        </p:nvSpPr>
        <p:spPr>
          <a:xfrm>
            <a:off x="914400" y="274638"/>
            <a:ext cx="7772400" cy="868362"/>
          </a:xfrm>
          <a:prstGeom prst="rect">
            <a:avLst/>
          </a:prstGeom>
        </p:spPr>
        <p:txBody>
          <a:bodyPr bIns="91440" anchor="b">
            <a:normAutofit/>
          </a:bodyPr>
          <a:lstStyle/>
          <a:p>
            <a:pPr fontAlgn="auto">
              <a:spcAft>
                <a:spcPts val="0"/>
              </a:spcAft>
              <a:defRPr/>
            </a:pPr>
            <a:r>
              <a:rPr lang="en-US" altLang="zh-CN" sz="4000" i="1" dirty="0" smtClean="0">
                <a:solidFill>
                  <a:schemeClr val="tx2"/>
                </a:solidFill>
                <a:latin typeface="+mj-lt"/>
                <a:ea typeface="+mj-ea"/>
                <a:cs typeface="+mj-cs"/>
              </a:rPr>
              <a:t>6.3</a:t>
            </a:r>
            <a:r>
              <a:rPr lang="zh-CN" altLang="en-US" sz="4000" i="1" dirty="0">
                <a:solidFill>
                  <a:schemeClr val="tx2"/>
                </a:solidFill>
                <a:latin typeface="+mj-lt"/>
                <a:ea typeface="+mj-ea"/>
                <a:cs typeface="+mj-cs"/>
              </a:rPr>
              <a:t>   面向对象方法的主要优点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anim calcmode="lin" valueType="num">
                                      <p:cBhvr additive="base">
                                        <p:cTn id="7"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55">
                                            <p:txEl>
                                              <p:pRg st="3" end="3"/>
                                            </p:txEl>
                                          </p:spTgt>
                                        </p:tgtEl>
                                        <p:attrNameLst>
                                          <p:attrName>style.visibility</p:attrName>
                                        </p:attrNameLst>
                                      </p:cBhvr>
                                      <p:to>
                                        <p:strVal val="visible"/>
                                      </p:to>
                                    </p:set>
                                    <p:anim calcmode="lin" valueType="num">
                                      <p:cBhvr additive="base">
                                        <p:cTn id="11"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55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55">
                                            <p:txEl>
                                              <p:pRg st="4" end="4"/>
                                            </p:txEl>
                                          </p:spTgt>
                                        </p:tgtEl>
                                        <p:attrNameLst>
                                          <p:attrName>style.visibility</p:attrName>
                                        </p:attrNameLst>
                                      </p:cBhvr>
                                      <p:to>
                                        <p:strVal val="visible"/>
                                      </p:to>
                                    </p:set>
                                    <p:anim calcmode="lin" valueType="num">
                                      <p:cBhvr additive="base">
                                        <p:cTn id="15" dur="5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5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3555">
                                            <p:txEl>
                                              <p:pRg st="5" end="5"/>
                                            </p:txEl>
                                          </p:spTgt>
                                        </p:tgtEl>
                                        <p:attrNameLst>
                                          <p:attrName>style.visibility</p:attrName>
                                        </p:attrNameLst>
                                      </p:cBhvr>
                                      <p:to>
                                        <p:strVal val="visible"/>
                                      </p:to>
                                    </p:set>
                                    <p:anim calcmode="lin" valueType="num">
                                      <p:cBhvr additive="base">
                                        <p:cTn id="21" dur="5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3555">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3555">
                                            <p:txEl>
                                              <p:pRg st="6" end="6"/>
                                            </p:txEl>
                                          </p:spTgt>
                                        </p:tgtEl>
                                        <p:attrNameLst>
                                          <p:attrName>style.visibility</p:attrName>
                                        </p:attrNameLst>
                                      </p:cBhvr>
                                      <p:to>
                                        <p:strVal val="visible"/>
                                      </p:to>
                                    </p:set>
                                    <p:anim calcmode="lin" valueType="num">
                                      <p:cBhvr additive="base">
                                        <p:cTn id="25" dur="500" fill="hold"/>
                                        <p:tgtEl>
                                          <p:spTgt spid="2355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5">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3555">
                                            <p:txEl>
                                              <p:pRg st="7" end="7"/>
                                            </p:txEl>
                                          </p:spTgt>
                                        </p:tgtEl>
                                        <p:attrNameLst>
                                          <p:attrName>style.visibility</p:attrName>
                                        </p:attrNameLst>
                                      </p:cBhvr>
                                      <p:to>
                                        <p:strVal val="visible"/>
                                      </p:to>
                                    </p:set>
                                    <p:anim calcmode="lin" valueType="num">
                                      <p:cBhvr additive="base">
                                        <p:cTn id="29" dur="500" fill="hold"/>
                                        <p:tgtEl>
                                          <p:spTgt spid="2355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355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52400" y="381000"/>
            <a:ext cx="8839200" cy="762000"/>
          </a:xfrm>
        </p:spPr>
        <p:txBody>
          <a:bodyPr/>
          <a:lstStyle/>
          <a:p>
            <a:pPr fontAlgn="auto">
              <a:spcAft>
                <a:spcPts val="0"/>
              </a:spcAft>
              <a:defRPr/>
            </a:pPr>
            <a:r>
              <a:rPr lang="en-US" altLang="zh-CN" sz="4000" b="0" i="1" kern="1200" dirty="0" smtClean="0">
                <a:solidFill>
                  <a:srgbClr val="000000"/>
                </a:solidFill>
                <a:cs typeface="+mn-cs"/>
              </a:rPr>
              <a:t>6.4</a:t>
            </a:r>
            <a:r>
              <a:rPr lang="zh-CN" altLang="en-US" sz="4000" b="0" i="1" kern="1200" dirty="0" smtClean="0">
                <a:solidFill>
                  <a:srgbClr val="000000"/>
                </a:solidFill>
                <a:cs typeface="+mn-cs"/>
              </a:rPr>
              <a:t>  面向对象的概念</a:t>
            </a:r>
            <a:endParaRPr lang="zh-CN" altLang="en-US" sz="4000" b="0" i="1" kern="1200" dirty="0">
              <a:solidFill>
                <a:srgbClr val="000000"/>
              </a:solidFill>
              <a:cs typeface="+mn-cs"/>
            </a:endParaRPr>
          </a:p>
        </p:txBody>
      </p:sp>
      <p:sp>
        <p:nvSpPr>
          <p:cNvPr id="4" name="灯片编号占位符 5"/>
          <p:cNvSpPr>
            <a:spLocks noGrp="1"/>
          </p:cNvSpPr>
          <p:nvPr>
            <p:ph type="sldNum" sz="quarter" idx="12"/>
          </p:nvPr>
        </p:nvSpPr>
        <p:spPr/>
        <p:txBody>
          <a:bodyPr/>
          <a:lstStyle/>
          <a:p>
            <a:pPr>
              <a:defRPr/>
            </a:pPr>
            <a:fld id="{EF270450-2ACE-4298-9F67-67B925D712A9}" type="slidenum">
              <a:rPr lang="en-US" altLang="zh-CN"/>
              <a:pPr>
                <a:defRPr/>
              </a:pPr>
              <a:t>40</a:t>
            </a:fld>
            <a:endParaRPr lang="en-US" altLang="zh-CN"/>
          </a:p>
        </p:txBody>
      </p:sp>
      <p:sp>
        <p:nvSpPr>
          <p:cNvPr id="164867" name="Rectangle 3"/>
          <p:cNvSpPr>
            <a:spLocks noGrp="1" noChangeArrowheads="1"/>
          </p:cNvSpPr>
          <p:nvPr>
            <p:ph sz="quarter" idx="1"/>
          </p:nvPr>
        </p:nvSpPr>
        <p:spPr>
          <a:xfrm>
            <a:off x="428596" y="1428736"/>
            <a:ext cx="8534400" cy="4953000"/>
          </a:xfrm>
        </p:spPr>
        <p:txBody>
          <a:bodyPr/>
          <a:lstStyle/>
          <a:p>
            <a:pPr lvl="1" algn="just">
              <a:spcAft>
                <a:spcPct val="40000"/>
              </a:spcAft>
            </a:pPr>
            <a:r>
              <a:rPr lang="zh-CN" altLang="en-US" dirty="0" smtClean="0">
                <a:latin typeface="宋体" charset="-122"/>
              </a:rPr>
              <a:t>什么是面向对象 </a:t>
            </a:r>
          </a:p>
          <a:p>
            <a:pPr lvl="1" algn="just">
              <a:spcAft>
                <a:spcPct val="40000"/>
              </a:spcAft>
            </a:pPr>
            <a:r>
              <a:rPr lang="zh-CN" altLang="en-US" dirty="0" smtClean="0">
                <a:latin typeface="宋体" charset="-122"/>
              </a:rPr>
              <a:t>对象(</a:t>
            </a:r>
            <a:r>
              <a:rPr lang="en-US" altLang="zh-CN" dirty="0" smtClean="0">
                <a:latin typeface="宋体" charset="-122"/>
              </a:rPr>
              <a:t>Object) </a:t>
            </a:r>
          </a:p>
          <a:p>
            <a:pPr lvl="1" algn="just">
              <a:spcAft>
                <a:spcPct val="40000"/>
              </a:spcAft>
            </a:pPr>
            <a:r>
              <a:rPr lang="zh-CN" altLang="en-US" dirty="0" smtClean="0">
                <a:latin typeface="宋体" charset="-122"/>
              </a:rPr>
              <a:t>消息和方法（</a:t>
            </a:r>
            <a:r>
              <a:rPr lang="en-US" altLang="zh-CN" dirty="0" smtClean="0">
                <a:latin typeface="宋体" charset="-122"/>
              </a:rPr>
              <a:t>Message and Method）</a:t>
            </a:r>
          </a:p>
          <a:p>
            <a:pPr lvl="1" algn="just">
              <a:spcAft>
                <a:spcPct val="40000"/>
              </a:spcAft>
            </a:pPr>
            <a:r>
              <a:rPr lang="zh-CN" altLang="en-US" dirty="0" smtClean="0">
                <a:latin typeface="宋体" charset="-122"/>
              </a:rPr>
              <a:t>类和实例（</a:t>
            </a:r>
            <a:r>
              <a:rPr lang="en-US" altLang="zh-CN" dirty="0" smtClean="0">
                <a:latin typeface="宋体" charset="-122"/>
              </a:rPr>
              <a:t>Class and Instance） </a:t>
            </a:r>
          </a:p>
          <a:p>
            <a:pPr lvl="1" algn="just">
              <a:spcAft>
                <a:spcPct val="40000"/>
              </a:spcAft>
            </a:pPr>
            <a:r>
              <a:rPr lang="zh-CN" altLang="en-US" dirty="0" smtClean="0">
                <a:latin typeface="宋体" charset="-122"/>
              </a:rPr>
              <a:t>继承性（</a:t>
            </a:r>
            <a:r>
              <a:rPr lang="en-US" altLang="zh-CN" dirty="0" smtClean="0">
                <a:latin typeface="宋体" charset="-122"/>
              </a:rPr>
              <a:t>Inheritance） </a:t>
            </a:r>
          </a:p>
          <a:p>
            <a:pPr lvl="1" algn="just">
              <a:spcAft>
                <a:spcPct val="40000"/>
              </a:spcAft>
            </a:pPr>
            <a:r>
              <a:rPr lang="zh-CN" altLang="en-US" dirty="0" smtClean="0">
                <a:latin typeface="宋体" charset="-122"/>
              </a:rPr>
              <a:t>封装性（</a:t>
            </a:r>
            <a:r>
              <a:rPr lang="en-US" altLang="zh-CN" dirty="0" smtClean="0">
                <a:latin typeface="宋体" charset="-122"/>
              </a:rPr>
              <a:t>Encapsulation） </a:t>
            </a:r>
          </a:p>
          <a:p>
            <a:pPr lvl="1" algn="just">
              <a:spcAft>
                <a:spcPct val="40000"/>
              </a:spcAft>
            </a:pPr>
            <a:r>
              <a:rPr lang="zh-CN" altLang="en-US" dirty="0" smtClean="0">
                <a:latin typeface="宋体" charset="-122"/>
              </a:rPr>
              <a:t>多态性（</a:t>
            </a:r>
            <a:r>
              <a:rPr lang="en-US" altLang="zh-CN" dirty="0" smtClean="0">
                <a:latin typeface="宋体" charset="-122"/>
              </a:rPr>
              <a:t>Polymorphism）</a:t>
            </a:r>
            <a:r>
              <a:rPr lang="en-US" altLang="zh-CN" b="1" dirty="0" smtClean="0">
                <a:latin typeface="宋体" charset="-122"/>
              </a:rPr>
              <a:t>  </a:t>
            </a:r>
            <a:endParaRPr lang="zh-CN" altLang="en-US" b="1" dirty="0" smtClean="0">
              <a:latin typeface="宋体"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52400" y="381000"/>
            <a:ext cx="8839200" cy="762000"/>
          </a:xfrm>
        </p:spPr>
        <p:txBody>
          <a:bodyPr/>
          <a:lstStyle/>
          <a:p>
            <a:r>
              <a:rPr lang="en-US" altLang="zh-CN" b="0" i="1" kern="1200" dirty="0" smtClean="0">
                <a:solidFill>
                  <a:srgbClr val="000000"/>
                </a:solidFill>
              </a:rPr>
              <a:t>6.5</a:t>
            </a:r>
            <a:r>
              <a:rPr lang="zh-CN" altLang="en-US" b="0" i="1" kern="1200" dirty="0" smtClean="0">
                <a:solidFill>
                  <a:srgbClr val="000000"/>
                </a:solidFill>
              </a:rPr>
              <a:t>  面向对象的建模</a:t>
            </a:r>
            <a:endParaRPr lang="zh-CN" altLang="en-US" i="1" dirty="0" smtClean="0"/>
          </a:p>
        </p:txBody>
      </p:sp>
      <p:sp>
        <p:nvSpPr>
          <p:cNvPr id="4" name="灯片编号占位符 5"/>
          <p:cNvSpPr>
            <a:spLocks noGrp="1"/>
          </p:cNvSpPr>
          <p:nvPr>
            <p:ph type="sldNum" sz="quarter" idx="12"/>
          </p:nvPr>
        </p:nvSpPr>
        <p:spPr/>
        <p:txBody>
          <a:bodyPr/>
          <a:lstStyle/>
          <a:p>
            <a:pPr>
              <a:defRPr/>
            </a:pPr>
            <a:fld id="{67BC353F-54E8-4F6E-818B-E22C857D3382}" type="slidenum">
              <a:rPr lang="en-US" altLang="zh-CN"/>
              <a:pPr>
                <a:defRPr/>
              </a:pPr>
              <a:t>41</a:t>
            </a:fld>
            <a:endParaRPr lang="en-US" altLang="zh-CN"/>
          </a:p>
        </p:txBody>
      </p:sp>
      <p:sp>
        <p:nvSpPr>
          <p:cNvPr id="165891" name="Rectangle 3"/>
          <p:cNvSpPr>
            <a:spLocks noGrp="1" noChangeArrowheads="1"/>
          </p:cNvSpPr>
          <p:nvPr>
            <p:ph sz="quarter" idx="1"/>
          </p:nvPr>
        </p:nvSpPr>
        <p:spPr>
          <a:xfrm>
            <a:off x="609632" y="1571612"/>
            <a:ext cx="8066824" cy="4829196"/>
          </a:xfrm>
        </p:spPr>
        <p:txBody>
          <a:bodyPr/>
          <a:lstStyle/>
          <a:p>
            <a:pPr algn="just">
              <a:lnSpc>
                <a:spcPct val="90000"/>
              </a:lnSpc>
              <a:spcAft>
                <a:spcPct val="40000"/>
              </a:spcAft>
            </a:pPr>
            <a:r>
              <a:rPr lang="zh-CN" altLang="en-US" dirty="0" smtClean="0">
                <a:latin typeface="宋体" charset="-122"/>
              </a:rPr>
              <a:t>人的头脑每次只能处理一定数量的信息，模型通过把系统的重要部分分解成人的头脑一次能处理的若干个子部分，从而减少系统的复杂程度</a:t>
            </a:r>
          </a:p>
          <a:p>
            <a:pPr algn="just">
              <a:lnSpc>
                <a:spcPct val="90000"/>
              </a:lnSpc>
              <a:spcAft>
                <a:spcPct val="40000"/>
              </a:spcAft>
            </a:pPr>
            <a:r>
              <a:rPr lang="zh-CN" altLang="en-US" dirty="0" smtClean="0">
                <a:latin typeface="宋体" charset="-122"/>
              </a:rPr>
              <a:t>面向对象方法开发软件中通常需要建立三种的模型：</a:t>
            </a:r>
          </a:p>
          <a:p>
            <a:pPr lvl="1" algn="just">
              <a:lnSpc>
                <a:spcPct val="90000"/>
              </a:lnSpc>
              <a:spcAft>
                <a:spcPct val="40000"/>
              </a:spcAft>
            </a:pPr>
            <a:r>
              <a:rPr lang="zh-CN" altLang="en-US" sz="2200" dirty="0" smtClean="0">
                <a:latin typeface="宋体" charset="-122"/>
              </a:rPr>
              <a:t>描述系统数据结构的</a:t>
            </a:r>
            <a:r>
              <a:rPr lang="zh-CN" altLang="en-US" sz="2200" dirty="0" smtClean="0">
                <a:solidFill>
                  <a:srgbClr val="FF0000"/>
                </a:solidFill>
                <a:latin typeface="宋体" charset="-122"/>
              </a:rPr>
              <a:t>对象模型</a:t>
            </a:r>
            <a:endParaRPr lang="en-US" altLang="zh-CN" sz="2200" dirty="0" smtClean="0">
              <a:solidFill>
                <a:srgbClr val="FF0000"/>
              </a:solidFill>
              <a:latin typeface="宋体" charset="-122"/>
            </a:endParaRPr>
          </a:p>
          <a:p>
            <a:pPr lvl="1" algn="just">
              <a:lnSpc>
                <a:spcPct val="90000"/>
              </a:lnSpc>
              <a:spcAft>
                <a:spcPct val="40000"/>
              </a:spcAft>
            </a:pPr>
            <a:r>
              <a:rPr lang="zh-CN" altLang="en-US" sz="2200" dirty="0" smtClean="0">
                <a:latin typeface="宋体" charset="-122"/>
              </a:rPr>
              <a:t>描述系统控制结构的</a:t>
            </a:r>
            <a:r>
              <a:rPr lang="zh-CN" altLang="en-US" sz="2200" dirty="0" smtClean="0">
                <a:solidFill>
                  <a:srgbClr val="FF0000"/>
                </a:solidFill>
                <a:latin typeface="宋体" charset="-122"/>
              </a:rPr>
              <a:t>动态模型</a:t>
            </a:r>
          </a:p>
          <a:p>
            <a:pPr lvl="1" algn="just">
              <a:lnSpc>
                <a:spcPct val="90000"/>
              </a:lnSpc>
              <a:spcAft>
                <a:spcPct val="40000"/>
              </a:spcAft>
            </a:pPr>
            <a:r>
              <a:rPr lang="zh-CN" altLang="en-US" sz="2200" dirty="0" smtClean="0">
                <a:latin typeface="宋体" charset="-122"/>
              </a:rPr>
              <a:t>描述系统功能的</a:t>
            </a:r>
            <a:r>
              <a:rPr lang="zh-CN" altLang="en-US" sz="2200" dirty="0" smtClean="0">
                <a:solidFill>
                  <a:srgbClr val="FF0000"/>
                </a:solidFill>
                <a:latin typeface="宋体" charset="-122"/>
              </a:rPr>
              <a:t>功能模型</a:t>
            </a:r>
          </a:p>
          <a:p>
            <a:pPr algn="just">
              <a:lnSpc>
                <a:spcPct val="90000"/>
              </a:lnSpc>
              <a:spcAft>
                <a:spcPct val="40000"/>
              </a:spcAft>
            </a:pPr>
            <a:r>
              <a:rPr lang="zh-CN" altLang="en-US" dirty="0" smtClean="0">
                <a:latin typeface="宋体" charset="-122"/>
              </a:rPr>
              <a:t>这三种模型都涉及到数据、控制、操作，但侧重点不同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5891">
                                            <p:txEl>
                                              <p:pRg st="1" end="1"/>
                                            </p:txEl>
                                          </p:spTgt>
                                        </p:tgtEl>
                                        <p:attrNameLst>
                                          <p:attrName>style.visibility</p:attrName>
                                        </p:attrNameLst>
                                      </p:cBhvr>
                                      <p:to>
                                        <p:strVal val="visible"/>
                                      </p:to>
                                    </p:set>
                                    <p:anim calcmode="lin" valueType="num">
                                      <p:cBhvr additive="base">
                                        <p:cTn id="7" dur="500" fill="hold"/>
                                        <p:tgtEl>
                                          <p:spTgt spid="165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589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5891">
                                            <p:txEl>
                                              <p:pRg st="2" end="2"/>
                                            </p:txEl>
                                          </p:spTgt>
                                        </p:tgtEl>
                                        <p:attrNameLst>
                                          <p:attrName>style.visibility</p:attrName>
                                        </p:attrNameLst>
                                      </p:cBhvr>
                                      <p:to>
                                        <p:strVal val="visible"/>
                                      </p:to>
                                    </p:set>
                                    <p:anim calcmode="lin" valueType="num">
                                      <p:cBhvr additive="base">
                                        <p:cTn id="11" dur="500" fill="hold"/>
                                        <p:tgtEl>
                                          <p:spTgt spid="16589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5891">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5891">
                                            <p:txEl>
                                              <p:pRg st="3" end="3"/>
                                            </p:txEl>
                                          </p:spTgt>
                                        </p:tgtEl>
                                        <p:attrNameLst>
                                          <p:attrName>style.visibility</p:attrName>
                                        </p:attrNameLst>
                                      </p:cBhvr>
                                      <p:to>
                                        <p:strVal val="visible"/>
                                      </p:to>
                                    </p:set>
                                    <p:anim calcmode="lin" valueType="num">
                                      <p:cBhvr additive="base">
                                        <p:cTn id="15" dur="500" fill="hold"/>
                                        <p:tgtEl>
                                          <p:spTgt spid="16589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5891">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5891">
                                            <p:txEl>
                                              <p:pRg st="4" end="4"/>
                                            </p:txEl>
                                          </p:spTgt>
                                        </p:tgtEl>
                                        <p:attrNameLst>
                                          <p:attrName>style.visibility</p:attrName>
                                        </p:attrNameLst>
                                      </p:cBhvr>
                                      <p:to>
                                        <p:strVal val="visible"/>
                                      </p:to>
                                    </p:set>
                                    <p:anim calcmode="lin" valueType="num">
                                      <p:cBhvr additive="base">
                                        <p:cTn id="19" dur="500" fill="hold"/>
                                        <p:tgtEl>
                                          <p:spTgt spid="16589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5891">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5891">
                                            <p:txEl>
                                              <p:pRg st="5" end="5"/>
                                            </p:txEl>
                                          </p:spTgt>
                                        </p:tgtEl>
                                        <p:attrNameLst>
                                          <p:attrName>style.visibility</p:attrName>
                                        </p:attrNameLst>
                                      </p:cBhvr>
                                      <p:to>
                                        <p:strVal val="visible"/>
                                      </p:to>
                                    </p:set>
                                    <p:anim calcmode="lin" valueType="num">
                                      <p:cBhvr additive="base">
                                        <p:cTn id="23" dur="500" fill="hold"/>
                                        <p:tgtEl>
                                          <p:spTgt spid="165891">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58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smtClean="0">
                <a:ea typeface="宋体" charset="-122"/>
              </a:rPr>
              <a:t>*</a:t>
            </a:r>
          </a:p>
        </p:txBody>
      </p:sp>
      <p:sp>
        <p:nvSpPr>
          <p:cNvPr id="15363" name="内容占位符 2"/>
          <p:cNvSpPr>
            <a:spLocks noGrp="1"/>
          </p:cNvSpPr>
          <p:nvPr>
            <p:ph idx="1"/>
          </p:nvPr>
        </p:nvSpPr>
        <p:spPr>
          <a:xfrm>
            <a:off x="685800" y="1447800"/>
            <a:ext cx="8001000" cy="4552950"/>
          </a:xfrm>
        </p:spPr>
        <p:txBody>
          <a:bodyPr/>
          <a:lstStyle/>
          <a:p>
            <a:r>
              <a:rPr lang="zh-CN" altLang="en-US" sz="2400" dirty="0" smtClean="0">
                <a:ea typeface="宋体" charset="-122"/>
              </a:rPr>
              <a:t>八十年代末以来，随着面向对象技术成为研究的热点出现了几十种支持软件开发的面向对象方法。其中，</a:t>
            </a:r>
            <a:r>
              <a:rPr lang="en-US" altLang="zh-CN" sz="2400" dirty="0" err="1" smtClean="0">
                <a:solidFill>
                  <a:srgbClr val="FF0000"/>
                </a:solidFill>
                <a:ea typeface="宋体" charset="-122"/>
              </a:rPr>
              <a:t>Booch</a:t>
            </a:r>
            <a:r>
              <a:rPr lang="zh-CN" altLang="en-US" sz="2400" dirty="0" smtClean="0">
                <a:solidFill>
                  <a:srgbClr val="FF0000"/>
                </a:solidFill>
                <a:ea typeface="宋体" charset="-122"/>
              </a:rPr>
              <a:t>、</a:t>
            </a:r>
            <a:r>
              <a:rPr lang="en-US" altLang="zh-CN" sz="2400" dirty="0" err="1" smtClean="0">
                <a:solidFill>
                  <a:srgbClr val="FF0000"/>
                </a:solidFill>
                <a:ea typeface="宋体" charset="-122"/>
              </a:rPr>
              <a:t>Coad</a:t>
            </a:r>
            <a:r>
              <a:rPr lang="en-US" altLang="zh-CN" sz="2400" dirty="0" smtClean="0">
                <a:solidFill>
                  <a:srgbClr val="FF0000"/>
                </a:solidFill>
                <a:ea typeface="宋体" charset="-122"/>
              </a:rPr>
              <a:t>/Yourdon</a:t>
            </a:r>
            <a:r>
              <a:rPr lang="zh-CN" altLang="en-US" sz="2400" dirty="0" smtClean="0">
                <a:solidFill>
                  <a:srgbClr val="FF0000"/>
                </a:solidFill>
                <a:ea typeface="宋体" charset="-122"/>
              </a:rPr>
              <a:t>、</a:t>
            </a:r>
            <a:r>
              <a:rPr lang="en-US" altLang="zh-CN" sz="2400" dirty="0" smtClean="0">
                <a:solidFill>
                  <a:srgbClr val="FF0000"/>
                </a:solidFill>
                <a:ea typeface="宋体" charset="-122"/>
              </a:rPr>
              <a:t>OMT</a:t>
            </a:r>
            <a:r>
              <a:rPr lang="zh-CN" altLang="en-US" sz="2400" dirty="0" smtClean="0">
                <a:solidFill>
                  <a:srgbClr val="FF0000"/>
                </a:solidFill>
                <a:ea typeface="宋体" charset="-122"/>
              </a:rPr>
              <a:t>和</a:t>
            </a:r>
            <a:r>
              <a:rPr lang="en-US" altLang="zh-CN" sz="2400" dirty="0" smtClean="0">
                <a:solidFill>
                  <a:srgbClr val="FF0000"/>
                </a:solidFill>
                <a:ea typeface="宋体" charset="-122"/>
              </a:rPr>
              <a:t>Jacobson</a:t>
            </a:r>
            <a:r>
              <a:rPr lang="zh-CN" altLang="en-US" sz="2400" dirty="0" smtClean="0">
                <a:ea typeface="宋体" charset="-122"/>
              </a:rPr>
              <a:t>的方法在面向对象软件开发界得到了广泛的认可。</a:t>
            </a:r>
            <a:endParaRPr lang="en-US" altLang="zh-CN" sz="2400" dirty="0" smtClean="0">
              <a:ea typeface="宋体" charset="-122"/>
            </a:endParaRPr>
          </a:p>
          <a:p>
            <a:r>
              <a:rPr lang="zh-CN" altLang="en-US" sz="2400" dirty="0" smtClean="0">
                <a:ea typeface="宋体" charset="-122"/>
              </a:rPr>
              <a:t>特别的，统一的建模语言</a:t>
            </a:r>
            <a:r>
              <a:rPr lang="en-US" altLang="zh-CN" sz="2400" dirty="0" smtClean="0">
                <a:solidFill>
                  <a:srgbClr val="FF0000"/>
                </a:solidFill>
                <a:ea typeface="宋体" charset="-122"/>
              </a:rPr>
              <a:t>UML</a:t>
            </a:r>
            <a:r>
              <a:rPr lang="zh-CN" altLang="en-US" sz="2400" dirty="0" smtClean="0">
                <a:ea typeface="宋体" charset="-122"/>
              </a:rPr>
              <a:t>（</a:t>
            </a:r>
            <a:r>
              <a:rPr lang="en-US" altLang="zh-CN" sz="2400" dirty="0" smtClean="0">
                <a:ea typeface="宋体" charset="-122"/>
              </a:rPr>
              <a:t>Unified Modeling Language</a:t>
            </a:r>
            <a:r>
              <a:rPr lang="zh-CN" altLang="en-US" sz="2400" dirty="0" smtClean="0">
                <a:ea typeface="宋体" charset="-122"/>
              </a:rPr>
              <a:t>），该方法结合了</a:t>
            </a:r>
            <a:r>
              <a:rPr lang="en-US" altLang="zh-CN" sz="2400" dirty="0" err="1" smtClean="0">
                <a:ea typeface="宋体" charset="-122"/>
              </a:rPr>
              <a:t>Booch</a:t>
            </a:r>
            <a:r>
              <a:rPr lang="zh-CN" altLang="en-US" sz="2400" dirty="0" smtClean="0">
                <a:ea typeface="宋体" charset="-122"/>
              </a:rPr>
              <a:t>、</a:t>
            </a:r>
            <a:r>
              <a:rPr lang="en-US" altLang="zh-CN" sz="2400" dirty="0" smtClean="0">
                <a:ea typeface="宋体" charset="-122"/>
              </a:rPr>
              <a:t>OMT</a:t>
            </a:r>
            <a:r>
              <a:rPr lang="zh-CN" altLang="en-US" sz="2400" dirty="0" smtClean="0">
                <a:ea typeface="宋体" charset="-122"/>
              </a:rPr>
              <a:t>和</a:t>
            </a:r>
            <a:r>
              <a:rPr lang="en-US" altLang="zh-CN" sz="2400" dirty="0" smtClean="0">
                <a:ea typeface="宋体" charset="-122"/>
              </a:rPr>
              <a:t>Jacobson</a:t>
            </a:r>
            <a:r>
              <a:rPr lang="zh-CN" altLang="en-US" sz="2400" dirty="0" smtClean="0">
                <a:ea typeface="宋体" charset="-122"/>
              </a:rPr>
              <a:t>方法的优点，统一了符号体系，并从其它的方法和工程实践中吸收了许多经过实际检验的概念和技术。</a:t>
            </a:r>
            <a:endParaRPr lang="en-US" altLang="zh-CN" sz="2400" dirty="0" smtClean="0">
              <a:ea typeface="宋体" charset="-122"/>
            </a:endParaRPr>
          </a:p>
          <a:p>
            <a:r>
              <a:rPr lang="zh-CN" altLang="en-US" sz="2400" dirty="0" smtClean="0">
                <a:ea typeface="宋体" charset="-122"/>
              </a:rPr>
              <a:t>面向对象方法都支持三种</a:t>
            </a:r>
            <a:r>
              <a:rPr lang="zh-CN" altLang="en-US" sz="2400" dirty="0" smtClean="0">
                <a:solidFill>
                  <a:srgbClr val="FF0000"/>
                </a:solidFill>
                <a:ea typeface="宋体" charset="-122"/>
              </a:rPr>
              <a:t>基本的活动</a:t>
            </a:r>
            <a:r>
              <a:rPr lang="zh-CN" altLang="en-US" sz="2400" dirty="0" smtClean="0">
                <a:ea typeface="宋体" charset="-122"/>
              </a:rPr>
              <a:t>：</a:t>
            </a:r>
            <a:endParaRPr lang="en-US" altLang="zh-CN" sz="2400" dirty="0" smtClean="0">
              <a:ea typeface="宋体" charset="-122"/>
            </a:endParaRPr>
          </a:p>
          <a:p>
            <a:pPr lvl="1"/>
            <a:r>
              <a:rPr lang="zh-CN" altLang="en-US" sz="2000" dirty="0" smtClean="0">
                <a:ea typeface="宋体" charset="-122"/>
              </a:rPr>
              <a:t>识别对象和类；</a:t>
            </a:r>
            <a:endParaRPr lang="en-US" altLang="zh-CN" sz="2000" dirty="0" smtClean="0">
              <a:ea typeface="宋体" charset="-122"/>
            </a:endParaRPr>
          </a:p>
          <a:p>
            <a:pPr lvl="1"/>
            <a:r>
              <a:rPr lang="zh-CN" altLang="en-US" sz="2000" dirty="0" smtClean="0">
                <a:ea typeface="宋体" charset="-122"/>
              </a:rPr>
              <a:t>描述对象和类之间的关系；</a:t>
            </a:r>
            <a:endParaRPr lang="en-US" altLang="zh-CN" sz="2000" dirty="0" smtClean="0">
              <a:ea typeface="宋体" charset="-122"/>
            </a:endParaRPr>
          </a:p>
          <a:p>
            <a:pPr lvl="1"/>
            <a:r>
              <a:rPr lang="zh-CN" altLang="en-US" sz="2000" dirty="0" smtClean="0">
                <a:ea typeface="宋体" charset="-122"/>
              </a:rPr>
              <a:t>通过描述每个类的功能定义对象的行为。</a:t>
            </a:r>
            <a:endParaRPr lang="zh-CN" altLang="en-US" dirty="0" smtClean="0">
              <a:ea typeface="宋体" charset="-122"/>
            </a:endParaRPr>
          </a:p>
        </p:txBody>
      </p:sp>
      <p:sp>
        <p:nvSpPr>
          <p:cNvPr id="15364" name="灯片编号占位符 3"/>
          <p:cNvSpPr>
            <a:spLocks noGrp="1"/>
          </p:cNvSpPr>
          <p:nvPr>
            <p:ph type="sldNum" sz="quarter" idx="12"/>
          </p:nvPr>
        </p:nvSpPr>
        <p:spPr>
          <a:noFill/>
        </p:spPr>
        <p:txBody>
          <a:bodyPr/>
          <a:lstStyle/>
          <a:p>
            <a:fld id="{1427724E-08A5-4F28-8CB7-1D4F41416447}" type="slidenum">
              <a:rPr lang="en-US" altLang="zh-CN" smtClean="0"/>
              <a:pPr/>
              <a:t>42</a:t>
            </a:fld>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5363">
                                            <p:txEl>
                                              <p:pRg st="2" end="2"/>
                                            </p:txEl>
                                          </p:spTgt>
                                        </p:tgtEl>
                                        <p:attrNameLst>
                                          <p:attrName>style.visibility</p:attrName>
                                        </p:attrNameLst>
                                      </p:cBhvr>
                                      <p:to>
                                        <p:strVal val="visible"/>
                                      </p:to>
                                    </p:set>
                                    <p:animEffect transition="in" filter="fade">
                                      <p:cBhvr>
                                        <p:cTn id="7" dur="1000"/>
                                        <p:tgtEl>
                                          <p:spTgt spid="15363">
                                            <p:txEl>
                                              <p:pRg st="2" end="2"/>
                                            </p:txEl>
                                          </p:spTgt>
                                        </p:tgtEl>
                                      </p:cBhvr>
                                    </p:animEffect>
                                    <p:anim calcmode="lin" valueType="num">
                                      <p:cBhvr>
                                        <p:cTn id="8" dur="10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5363">
                                            <p:txEl>
                                              <p:pRg st="2" end="2"/>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5363">
                                            <p:txEl>
                                              <p:pRg st="3" end="3"/>
                                            </p:txEl>
                                          </p:spTgt>
                                        </p:tgtEl>
                                        <p:attrNameLst>
                                          <p:attrName>style.visibility</p:attrName>
                                        </p:attrNameLst>
                                      </p:cBhvr>
                                      <p:to>
                                        <p:strVal val="visible"/>
                                      </p:to>
                                    </p:set>
                                    <p:animEffect transition="in" filter="fade">
                                      <p:cBhvr>
                                        <p:cTn id="12" dur="1000"/>
                                        <p:tgtEl>
                                          <p:spTgt spid="15363">
                                            <p:txEl>
                                              <p:pRg st="3" end="3"/>
                                            </p:txEl>
                                          </p:spTgt>
                                        </p:tgtEl>
                                      </p:cBhvr>
                                    </p:animEffect>
                                    <p:anim calcmode="lin" valueType="num">
                                      <p:cBhvr>
                                        <p:cTn id="13" dur="10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5363">
                                            <p:txEl>
                                              <p:pRg st="3" end="3"/>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animEffect transition="in" filter="fade">
                                      <p:cBhvr>
                                        <p:cTn id="17" dur="1000"/>
                                        <p:tgtEl>
                                          <p:spTgt spid="15363">
                                            <p:txEl>
                                              <p:pRg st="4" end="4"/>
                                            </p:txEl>
                                          </p:spTgt>
                                        </p:tgtEl>
                                      </p:cBhvr>
                                    </p:animEffect>
                                    <p:anim calcmode="lin" valueType="num">
                                      <p:cBhvr>
                                        <p:cTn id="18" dur="10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5363">
                                            <p:txEl>
                                              <p:pRg st="4" end="4"/>
                                            </p:txEl>
                                          </p:spTgt>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15363">
                                            <p:txEl>
                                              <p:pRg st="5" end="5"/>
                                            </p:txEl>
                                          </p:spTgt>
                                        </p:tgtEl>
                                        <p:attrNameLst>
                                          <p:attrName>style.visibility</p:attrName>
                                        </p:attrNameLst>
                                      </p:cBhvr>
                                      <p:to>
                                        <p:strVal val="visible"/>
                                      </p:to>
                                    </p:set>
                                    <p:animEffect transition="in" filter="fade">
                                      <p:cBhvr>
                                        <p:cTn id="22" dur="1000"/>
                                        <p:tgtEl>
                                          <p:spTgt spid="15363">
                                            <p:txEl>
                                              <p:pRg st="5" end="5"/>
                                            </p:txEl>
                                          </p:spTgt>
                                        </p:tgtEl>
                                      </p:cBhvr>
                                    </p:animEffect>
                                    <p:anim calcmode="lin" valueType="num">
                                      <p:cBhvr>
                                        <p:cTn id="23" dur="10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536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smtClean="0">
                <a:ea typeface="宋体" charset="-122"/>
              </a:rPr>
              <a:t>OMT</a:t>
            </a:r>
            <a:r>
              <a:rPr lang="zh-CN" altLang="en-US" smtClean="0">
                <a:ea typeface="宋体" charset="-122"/>
              </a:rPr>
              <a:t>方法</a:t>
            </a:r>
          </a:p>
        </p:txBody>
      </p:sp>
      <p:sp>
        <p:nvSpPr>
          <p:cNvPr id="17411" name="内容占位符 2"/>
          <p:cNvSpPr>
            <a:spLocks noGrp="1"/>
          </p:cNvSpPr>
          <p:nvPr>
            <p:ph idx="1"/>
          </p:nvPr>
        </p:nvSpPr>
        <p:spPr>
          <a:xfrm>
            <a:off x="685800" y="1447800"/>
            <a:ext cx="8001000" cy="4195763"/>
          </a:xfrm>
        </p:spPr>
        <p:txBody>
          <a:bodyPr/>
          <a:lstStyle/>
          <a:p>
            <a:r>
              <a:rPr lang="en-US" altLang="zh-CN" sz="2400" dirty="0" smtClean="0">
                <a:ea typeface="宋体" charset="-122"/>
              </a:rPr>
              <a:t>OMT</a:t>
            </a:r>
            <a:r>
              <a:rPr lang="zh-CN" altLang="en-US" sz="2400" dirty="0" smtClean="0">
                <a:ea typeface="宋体" charset="-122"/>
              </a:rPr>
              <a:t>方法从三个视角描述系统，相应地提供了三种模型，</a:t>
            </a:r>
            <a:r>
              <a:rPr lang="zh-CN" altLang="en-US" sz="2400" dirty="0" smtClean="0">
                <a:solidFill>
                  <a:srgbClr val="FF0000"/>
                </a:solidFill>
                <a:ea typeface="宋体" charset="-122"/>
              </a:rPr>
              <a:t>对象模型，动态模型和功能模型</a:t>
            </a:r>
            <a:r>
              <a:rPr lang="zh-CN" altLang="en-US" sz="2400" dirty="0" smtClean="0">
                <a:ea typeface="宋体" charset="-122"/>
              </a:rPr>
              <a:t>。</a:t>
            </a:r>
            <a:endParaRPr lang="en-US" altLang="zh-CN" sz="2400" dirty="0" smtClean="0">
              <a:ea typeface="宋体" charset="-122"/>
            </a:endParaRPr>
          </a:p>
          <a:p>
            <a:pPr lvl="1"/>
            <a:r>
              <a:rPr lang="zh-CN" altLang="en-US" sz="2200" dirty="0" smtClean="0">
                <a:ea typeface="宋体" charset="-122"/>
              </a:rPr>
              <a:t>对象模型描述对象的静态结构和它们之间的关系。主要的概念包括：类、属性、操作、继承、关联、聚集。</a:t>
            </a:r>
            <a:endParaRPr lang="en-US" altLang="zh-CN" sz="2200" dirty="0" smtClean="0">
              <a:ea typeface="宋体" charset="-122"/>
            </a:endParaRPr>
          </a:p>
          <a:p>
            <a:pPr lvl="1"/>
            <a:r>
              <a:rPr lang="zh-CN" altLang="en-US" sz="2200" dirty="0" smtClean="0">
                <a:ea typeface="宋体" charset="-122"/>
              </a:rPr>
              <a:t>动态模型描述系统那些随时间变化的方面，其主要概念有：状态、事件、行为、活动。</a:t>
            </a:r>
            <a:endParaRPr lang="en-US" altLang="zh-CN" sz="2200" dirty="0" smtClean="0">
              <a:ea typeface="宋体" charset="-122"/>
            </a:endParaRPr>
          </a:p>
          <a:p>
            <a:pPr lvl="1"/>
            <a:r>
              <a:rPr lang="zh-CN" altLang="en-US" sz="2200" dirty="0" smtClean="0">
                <a:ea typeface="宋体" charset="-122"/>
              </a:rPr>
              <a:t>功能模型描述系统内部数据值的转换，其主要概念有：加工、数据存储、数据流、数据源或终点。</a:t>
            </a:r>
          </a:p>
        </p:txBody>
      </p:sp>
      <p:sp>
        <p:nvSpPr>
          <p:cNvPr id="17412" name="灯片编号占位符 3"/>
          <p:cNvSpPr>
            <a:spLocks noGrp="1"/>
          </p:cNvSpPr>
          <p:nvPr>
            <p:ph type="sldNum" sz="quarter" idx="12"/>
          </p:nvPr>
        </p:nvSpPr>
        <p:spPr>
          <a:noFill/>
        </p:spPr>
        <p:txBody>
          <a:bodyPr/>
          <a:lstStyle/>
          <a:p>
            <a:fld id="{09329F84-D4D9-4D77-B5CA-8FB0D87721F6}" type="slidenum">
              <a:rPr lang="en-US" altLang="zh-CN" smtClean="0"/>
              <a:pPr/>
              <a:t>43</a:t>
            </a:fld>
            <a:endParaRPr lang="en-US" altLang="zh-CN" smtClean="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endParaRPr lang="zh-CN" altLang="en-US" smtClean="0">
              <a:ea typeface="宋体" charset="-122"/>
            </a:endParaRPr>
          </a:p>
        </p:txBody>
      </p:sp>
      <p:sp>
        <p:nvSpPr>
          <p:cNvPr id="18435" name="内容占位符 2"/>
          <p:cNvSpPr>
            <a:spLocks noGrp="1"/>
          </p:cNvSpPr>
          <p:nvPr>
            <p:ph idx="1"/>
          </p:nvPr>
        </p:nvSpPr>
        <p:spPr>
          <a:xfrm>
            <a:off x="685800" y="1447800"/>
            <a:ext cx="8001000" cy="4767263"/>
          </a:xfrm>
        </p:spPr>
        <p:txBody>
          <a:bodyPr/>
          <a:lstStyle/>
          <a:p>
            <a:r>
              <a:rPr lang="en-US" altLang="zh-CN" sz="2400" dirty="0" smtClean="0">
                <a:ea typeface="宋体" charset="-122"/>
              </a:rPr>
              <a:t>OMT</a:t>
            </a:r>
            <a:r>
              <a:rPr lang="zh-CN" altLang="en-US" sz="2400" dirty="0" smtClean="0">
                <a:ea typeface="宋体" charset="-122"/>
              </a:rPr>
              <a:t>方法将开发过程分为四个阶段：</a:t>
            </a:r>
            <a:endParaRPr lang="en-US" altLang="zh-CN" sz="2400" dirty="0" smtClean="0">
              <a:ea typeface="宋体" charset="-122"/>
            </a:endParaRPr>
          </a:p>
          <a:p>
            <a:r>
              <a:rPr lang="en-US" altLang="zh-CN" sz="2400" b="1" dirty="0" smtClean="0">
                <a:solidFill>
                  <a:srgbClr val="FF0000"/>
                </a:solidFill>
                <a:ea typeface="宋体" charset="-122"/>
              </a:rPr>
              <a:t>1</a:t>
            </a:r>
            <a:r>
              <a:rPr lang="zh-CN" altLang="en-US" sz="2400" b="1" dirty="0" smtClean="0">
                <a:solidFill>
                  <a:srgbClr val="FF0000"/>
                </a:solidFill>
                <a:ea typeface="宋体" charset="-122"/>
              </a:rPr>
              <a:t>、分析</a:t>
            </a:r>
          </a:p>
          <a:p>
            <a:r>
              <a:rPr lang="zh-CN" altLang="en-US" sz="2400" dirty="0" smtClean="0">
                <a:ea typeface="宋体" charset="-122"/>
              </a:rPr>
              <a:t>    </a:t>
            </a:r>
            <a:r>
              <a:rPr lang="zh-CN" altLang="en-US" sz="2200" dirty="0" smtClean="0">
                <a:ea typeface="宋体" charset="-122"/>
              </a:rPr>
              <a:t>基于问题和用户需求的描述，建立现实世界的模型。分析阶段的产物有：</a:t>
            </a:r>
            <a:endParaRPr lang="en-US" altLang="zh-CN" sz="2200" dirty="0" smtClean="0">
              <a:ea typeface="宋体" charset="-122"/>
            </a:endParaRPr>
          </a:p>
          <a:p>
            <a:pPr lvl="1"/>
            <a:r>
              <a:rPr lang="zh-CN" altLang="en-US" sz="2200" dirty="0" smtClean="0">
                <a:ea typeface="宋体" charset="-122"/>
              </a:rPr>
              <a:t>问题描述</a:t>
            </a:r>
            <a:endParaRPr lang="en-US" altLang="zh-CN" sz="2200" dirty="0" smtClean="0">
              <a:ea typeface="宋体" charset="-122"/>
            </a:endParaRPr>
          </a:p>
          <a:p>
            <a:pPr lvl="1"/>
            <a:r>
              <a:rPr lang="zh-CN" altLang="en-US" sz="2200" dirty="0" smtClean="0">
                <a:ea typeface="宋体" charset="-122"/>
              </a:rPr>
              <a:t>对象模型＝对象图＋数据字典</a:t>
            </a:r>
            <a:endParaRPr lang="en-US" altLang="zh-CN" sz="2200" dirty="0" smtClean="0">
              <a:ea typeface="宋体" charset="-122"/>
            </a:endParaRPr>
          </a:p>
          <a:p>
            <a:pPr lvl="1"/>
            <a:r>
              <a:rPr lang="zh-CN" altLang="en-US" sz="2200" dirty="0" smtClean="0">
                <a:ea typeface="宋体" charset="-122"/>
              </a:rPr>
              <a:t>动态模型＝状态图＋事件跟踪图</a:t>
            </a:r>
            <a:endParaRPr lang="en-US" altLang="zh-CN" sz="2200" dirty="0" smtClean="0">
              <a:ea typeface="宋体" charset="-122"/>
            </a:endParaRPr>
          </a:p>
          <a:p>
            <a:pPr lvl="1"/>
            <a:r>
              <a:rPr lang="zh-CN" altLang="en-US" sz="2200" dirty="0" smtClean="0">
                <a:ea typeface="宋体" charset="-122"/>
              </a:rPr>
              <a:t>功能模型＝数据流图＋约束 </a:t>
            </a:r>
            <a:endParaRPr lang="en-US" altLang="zh-CN" sz="2200" dirty="0" smtClean="0">
              <a:ea typeface="宋体" charset="-122"/>
            </a:endParaRPr>
          </a:p>
          <a:p>
            <a:r>
              <a:rPr lang="en-US" altLang="zh-CN" sz="2400" b="1" dirty="0" smtClean="0">
                <a:solidFill>
                  <a:srgbClr val="FF0000"/>
                </a:solidFill>
                <a:ea typeface="宋体" charset="-122"/>
              </a:rPr>
              <a:t>2 </a:t>
            </a:r>
            <a:r>
              <a:rPr lang="zh-CN" altLang="en-US" sz="2400" b="1" dirty="0" smtClean="0">
                <a:solidFill>
                  <a:srgbClr val="FF0000"/>
                </a:solidFill>
                <a:ea typeface="宋体" charset="-122"/>
              </a:rPr>
              <a:t>、系统设计</a:t>
            </a:r>
          </a:p>
          <a:p>
            <a:r>
              <a:rPr lang="zh-CN" altLang="en-US" sz="2200" dirty="0" smtClean="0">
                <a:ea typeface="宋体" charset="-122"/>
              </a:rPr>
              <a:t>　　结合问题域的知识和目标系统的体系结构（求解域），将目标系统分解为子系统。</a:t>
            </a:r>
          </a:p>
        </p:txBody>
      </p:sp>
      <p:sp>
        <p:nvSpPr>
          <p:cNvPr id="18436" name="灯片编号占位符 3"/>
          <p:cNvSpPr>
            <a:spLocks noGrp="1"/>
          </p:cNvSpPr>
          <p:nvPr>
            <p:ph type="sldNum" sz="quarter" idx="12"/>
          </p:nvPr>
        </p:nvSpPr>
        <p:spPr>
          <a:noFill/>
        </p:spPr>
        <p:txBody>
          <a:bodyPr/>
          <a:lstStyle/>
          <a:p>
            <a:fld id="{5CACC57F-084D-4BE1-99D1-3741B91B0D9A}" type="slidenum">
              <a:rPr lang="en-US" altLang="zh-CN" smtClean="0"/>
              <a:pPr/>
              <a:t>44</a:t>
            </a:fld>
            <a:endParaRPr lang="en-US" altLang="zh-CN" smtClean="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endParaRPr lang="zh-CN" altLang="en-US" smtClean="0">
              <a:ea typeface="宋体" charset="-122"/>
            </a:endParaRPr>
          </a:p>
        </p:txBody>
      </p:sp>
      <p:sp>
        <p:nvSpPr>
          <p:cNvPr id="19459" name="内容占位符 2"/>
          <p:cNvSpPr>
            <a:spLocks noGrp="1"/>
          </p:cNvSpPr>
          <p:nvPr>
            <p:ph idx="1"/>
          </p:nvPr>
        </p:nvSpPr>
        <p:spPr>
          <a:xfrm>
            <a:off x="685800" y="1447800"/>
            <a:ext cx="8001000" cy="4624388"/>
          </a:xfrm>
        </p:spPr>
        <p:txBody>
          <a:bodyPr/>
          <a:lstStyle/>
          <a:p>
            <a:r>
              <a:rPr lang="en-US" altLang="zh-CN" sz="2400" b="1" dirty="0" smtClean="0">
                <a:solidFill>
                  <a:srgbClr val="FF0000"/>
                </a:solidFill>
                <a:ea typeface="宋体" charset="-122"/>
              </a:rPr>
              <a:t>3</a:t>
            </a:r>
            <a:r>
              <a:rPr lang="zh-CN" altLang="en-US" sz="2400" b="1" dirty="0" smtClean="0">
                <a:solidFill>
                  <a:srgbClr val="FF0000"/>
                </a:solidFill>
                <a:ea typeface="宋体" charset="-122"/>
              </a:rPr>
              <a:t>、</a:t>
            </a:r>
            <a:r>
              <a:rPr lang="en-US" altLang="zh-CN" sz="2400" b="1" dirty="0" smtClean="0">
                <a:solidFill>
                  <a:srgbClr val="FF0000"/>
                </a:solidFill>
                <a:ea typeface="宋体" charset="-122"/>
              </a:rPr>
              <a:t> </a:t>
            </a:r>
            <a:r>
              <a:rPr lang="zh-CN" altLang="en-US" sz="2400" b="1" dirty="0" smtClean="0">
                <a:solidFill>
                  <a:srgbClr val="FF0000"/>
                </a:solidFill>
                <a:ea typeface="宋体" charset="-122"/>
              </a:rPr>
              <a:t>对象设计</a:t>
            </a:r>
          </a:p>
          <a:p>
            <a:r>
              <a:rPr lang="zh-CN" altLang="en-US" dirty="0">
                <a:ea typeface="宋体" charset="-122"/>
              </a:rPr>
              <a:t> </a:t>
            </a:r>
            <a:r>
              <a:rPr lang="zh-CN" altLang="en-US" dirty="0" smtClean="0">
                <a:ea typeface="宋体" charset="-122"/>
              </a:rPr>
              <a:t>   </a:t>
            </a:r>
            <a:r>
              <a:rPr lang="zh-CN" altLang="en-US" sz="2200" dirty="0" smtClean="0">
                <a:ea typeface="宋体" charset="-122"/>
              </a:rPr>
              <a:t>基于分析模型和求解域中的体系结构等添加的实现细节，完成系统设计。主要产物包括：</a:t>
            </a:r>
          </a:p>
          <a:p>
            <a:pPr lvl="1"/>
            <a:r>
              <a:rPr lang="zh-CN" altLang="en-US" sz="2200" dirty="0" smtClean="0">
                <a:ea typeface="宋体" charset="-122"/>
              </a:rPr>
              <a:t>细化的对象模型</a:t>
            </a:r>
            <a:endParaRPr lang="en-US" altLang="zh-CN" sz="2200" dirty="0" smtClean="0">
              <a:ea typeface="宋体" charset="-122"/>
            </a:endParaRPr>
          </a:p>
          <a:p>
            <a:pPr lvl="1"/>
            <a:r>
              <a:rPr lang="zh-CN" altLang="en-US" sz="2200" dirty="0" smtClean="0">
                <a:ea typeface="宋体" charset="-122"/>
              </a:rPr>
              <a:t>细化的动态模型</a:t>
            </a:r>
            <a:endParaRPr lang="en-US" altLang="zh-CN" sz="2200" dirty="0" smtClean="0">
              <a:ea typeface="宋体" charset="-122"/>
            </a:endParaRPr>
          </a:p>
          <a:p>
            <a:pPr lvl="1"/>
            <a:r>
              <a:rPr lang="zh-CN" altLang="en-US" sz="2200" dirty="0" smtClean="0">
                <a:ea typeface="宋体" charset="-122"/>
              </a:rPr>
              <a:t>细化的功能模型</a:t>
            </a:r>
          </a:p>
          <a:p>
            <a:r>
              <a:rPr lang="en-US" altLang="zh-CN" sz="2400" b="1" dirty="0" smtClean="0">
                <a:solidFill>
                  <a:srgbClr val="FF0000"/>
                </a:solidFill>
                <a:ea typeface="宋体" charset="-122"/>
              </a:rPr>
              <a:t>4 </a:t>
            </a:r>
            <a:r>
              <a:rPr lang="zh-CN" altLang="en-US" sz="2400" b="1" dirty="0" smtClean="0">
                <a:solidFill>
                  <a:srgbClr val="FF0000"/>
                </a:solidFill>
                <a:ea typeface="宋体" charset="-122"/>
              </a:rPr>
              <a:t>、实现</a:t>
            </a:r>
          </a:p>
          <a:p>
            <a:r>
              <a:rPr lang="zh-CN" altLang="en-US" sz="2200" dirty="0" smtClean="0">
                <a:ea typeface="宋体" charset="-122"/>
              </a:rPr>
              <a:t>　  将设计转换为特定的编程语言或硬件，同时保持可追踪性、灵活性和可扩展性。</a:t>
            </a:r>
          </a:p>
        </p:txBody>
      </p:sp>
      <p:sp>
        <p:nvSpPr>
          <p:cNvPr id="19460" name="灯片编号占位符 3"/>
          <p:cNvSpPr>
            <a:spLocks noGrp="1"/>
          </p:cNvSpPr>
          <p:nvPr>
            <p:ph type="sldNum" sz="quarter" idx="12"/>
          </p:nvPr>
        </p:nvSpPr>
        <p:spPr>
          <a:noFill/>
        </p:spPr>
        <p:txBody>
          <a:bodyPr/>
          <a:lstStyle/>
          <a:p>
            <a:fld id="{0958672E-39C6-4ECD-AA12-D65A54A3F4A2}" type="slidenum">
              <a:rPr lang="en-US" altLang="zh-CN" smtClean="0"/>
              <a:pPr/>
              <a:t>45</a:t>
            </a:fld>
            <a:endParaRPr lang="en-US" altLang="zh-CN" smtClean="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en-US" altLang="zh-CN" smtClean="0">
                <a:ea typeface="宋体" charset="-122"/>
              </a:rPr>
              <a:t>*</a:t>
            </a:r>
            <a:r>
              <a:rPr lang="zh-CN" altLang="en-US" smtClean="0">
                <a:ea typeface="宋体" charset="-122"/>
              </a:rPr>
              <a:t>什么是模型</a:t>
            </a:r>
            <a:endParaRPr lang="zh-CN" altLang="en-US" sz="2400" smtClean="0">
              <a:ea typeface="宋体" charset="-122"/>
            </a:endParaRPr>
          </a:p>
        </p:txBody>
      </p:sp>
      <p:sp>
        <p:nvSpPr>
          <p:cNvPr id="20483" name="内容占位符 2"/>
          <p:cNvSpPr>
            <a:spLocks noGrp="1"/>
          </p:cNvSpPr>
          <p:nvPr>
            <p:ph idx="1"/>
          </p:nvPr>
        </p:nvSpPr>
        <p:spPr/>
        <p:txBody>
          <a:bodyPr/>
          <a:lstStyle/>
          <a:p>
            <a:r>
              <a:rPr lang="zh-CN" altLang="en-US" sz="2400" b="1" dirty="0" smtClean="0">
                <a:solidFill>
                  <a:srgbClr val="FF0000"/>
                </a:solidFill>
                <a:ea typeface="宋体" charset="-122"/>
              </a:rPr>
              <a:t>模型：为理解事物而对事物做出的一种抽象，是对事物的一种无歧义的书面描述。</a:t>
            </a:r>
            <a:endParaRPr lang="en-US" altLang="zh-CN" sz="2400" b="1" dirty="0" smtClean="0">
              <a:solidFill>
                <a:srgbClr val="FF0000"/>
              </a:solidFill>
              <a:ea typeface="宋体" charset="-122"/>
            </a:endParaRPr>
          </a:p>
          <a:p>
            <a:r>
              <a:rPr lang="zh-CN" altLang="en-US" sz="2400" dirty="0" smtClean="0">
                <a:ea typeface="宋体" charset="-122"/>
              </a:rPr>
              <a:t>模型从某一个建模观点出发，抓住事物最重要的方面而简化或忽略其他方面。工程、建筑和其他许多需要具有创造性的领域中都使用模型。</a:t>
            </a:r>
            <a:endParaRPr lang="en-US" altLang="zh-CN" sz="2400" dirty="0" smtClean="0">
              <a:ea typeface="宋体" charset="-122"/>
            </a:endParaRPr>
          </a:p>
          <a:p>
            <a:r>
              <a:rPr lang="zh-CN" altLang="en-US" sz="2400" dirty="0" smtClean="0">
                <a:ea typeface="宋体" charset="-122"/>
              </a:rPr>
              <a:t>软件系统的模型用建模语言来表达，如</a:t>
            </a:r>
            <a:r>
              <a:rPr lang="en-US" altLang="zh-CN" sz="2400" dirty="0" smtClean="0">
                <a:ea typeface="宋体" charset="-122"/>
              </a:rPr>
              <a:t>UML</a:t>
            </a:r>
            <a:r>
              <a:rPr lang="zh-CN" altLang="en-US" sz="2400" dirty="0" smtClean="0">
                <a:ea typeface="宋体" charset="-122"/>
              </a:rPr>
              <a:t>。</a:t>
            </a:r>
            <a:endParaRPr lang="en-US" altLang="zh-CN" sz="2400" dirty="0" smtClean="0">
              <a:ea typeface="宋体" charset="-122"/>
            </a:endParaRPr>
          </a:p>
          <a:p>
            <a:r>
              <a:rPr lang="zh-CN" altLang="en-US" sz="2400" dirty="0" smtClean="0">
                <a:ea typeface="宋体" charset="-122"/>
              </a:rPr>
              <a:t>模型包含语义信息和表示法，可以采用图形和文字等多种不同形式。</a:t>
            </a:r>
          </a:p>
        </p:txBody>
      </p:sp>
      <p:sp>
        <p:nvSpPr>
          <p:cNvPr id="20484" name="灯片编号占位符 3"/>
          <p:cNvSpPr>
            <a:spLocks noGrp="1"/>
          </p:cNvSpPr>
          <p:nvPr>
            <p:ph type="sldNum" sz="quarter" idx="12"/>
          </p:nvPr>
        </p:nvSpPr>
        <p:spPr>
          <a:noFill/>
        </p:spPr>
        <p:txBody>
          <a:bodyPr/>
          <a:lstStyle/>
          <a:p>
            <a:fld id="{23409740-6DFE-4102-BF22-F49A602D4496}" type="slidenum">
              <a:rPr lang="en-US" altLang="zh-CN" smtClean="0"/>
              <a:pPr/>
              <a:t>46</a:t>
            </a:fld>
            <a:endParaRPr lang="en-US" altLang="zh-CN" smtClean="0"/>
          </a:p>
        </p:txBody>
      </p:sp>
      <p:sp>
        <p:nvSpPr>
          <p:cNvPr id="20485" name="TextBox 4"/>
          <p:cNvSpPr txBox="1">
            <a:spLocks noChangeArrowheads="1"/>
          </p:cNvSpPr>
          <p:nvPr/>
        </p:nvSpPr>
        <p:spPr bwMode="auto">
          <a:xfrm>
            <a:off x="6394450" y="5786438"/>
            <a:ext cx="2749550" cy="369887"/>
          </a:xfrm>
          <a:prstGeom prst="rect">
            <a:avLst/>
          </a:prstGeom>
          <a:noFill/>
          <a:ln w="9525">
            <a:noFill/>
            <a:miter lim="800000"/>
            <a:headEnd/>
            <a:tailEnd/>
          </a:ln>
        </p:spPr>
        <p:txBody>
          <a:bodyPr wrap="none">
            <a:spAutoFit/>
          </a:bodyPr>
          <a:lstStyle/>
          <a:p>
            <a:r>
              <a:rPr lang="zh-CN" altLang="en-US">
                <a:solidFill>
                  <a:srgbClr val="FFC000"/>
                </a:solidFill>
              </a:rPr>
              <a:t>（选自：</a:t>
            </a:r>
            <a:r>
              <a:rPr lang="en-US" altLang="zh-CN">
                <a:solidFill>
                  <a:srgbClr val="FFC000"/>
                </a:solidFill>
              </a:rPr>
              <a:t>UML</a:t>
            </a:r>
            <a:r>
              <a:rPr lang="zh-CN" altLang="en-US">
                <a:solidFill>
                  <a:srgbClr val="FFC000"/>
                </a:solidFill>
              </a:rPr>
              <a:t>参考手册）</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en-US" altLang="zh-CN" smtClean="0">
                <a:ea typeface="宋体" charset="-122"/>
              </a:rPr>
              <a:t>*</a:t>
            </a:r>
            <a:r>
              <a:rPr lang="zh-CN" altLang="en-US" smtClean="0">
                <a:ea typeface="宋体" charset="-122"/>
              </a:rPr>
              <a:t>模型的用途</a:t>
            </a:r>
          </a:p>
        </p:txBody>
      </p:sp>
      <p:sp>
        <p:nvSpPr>
          <p:cNvPr id="3" name="内容占位符 2"/>
          <p:cNvSpPr>
            <a:spLocks noGrp="1"/>
          </p:cNvSpPr>
          <p:nvPr>
            <p:ph idx="1"/>
          </p:nvPr>
        </p:nvSpPr>
        <p:spPr>
          <a:xfrm>
            <a:off x="685800" y="1447800"/>
            <a:ext cx="8001000" cy="4624388"/>
          </a:xfrm>
        </p:spPr>
        <p:txBody>
          <a:bodyPr/>
          <a:lstStyle/>
          <a:p>
            <a:r>
              <a:rPr lang="en-US" altLang="zh-CN" sz="2600" smtClean="0">
                <a:ea typeface="宋体" charset="-122"/>
              </a:rPr>
              <a:t>1</a:t>
            </a:r>
            <a:r>
              <a:rPr lang="zh-CN" altLang="en-US" sz="2600" smtClean="0">
                <a:ea typeface="宋体" charset="-122"/>
              </a:rPr>
              <a:t>、捕获和表达项目的需求和应用领域中的知识，以使各方面的利益相关者能够理解并达成一致</a:t>
            </a:r>
          </a:p>
          <a:p>
            <a:r>
              <a:rPr lang="en-US" altLang="zh-CN" sz="2600" smtClean="0">
                <a:ea typeface="宋体" charset="-122"/>
              </a:rPr>
              <a:t>2</a:t>
            </a:r>
            <a:r>
              <a:rPr lang="zh-CN" altLang="en-US" sz="2600" smtClean="0">
                <a:ea typeface="宋体" charset="-122"/>
              </a:rPr>
              <a:t>、进行系统设计</a:t>
            </a:r>
          </a:p>
          <a:p>
            <a:r>
              <a:rPr lang="en-US" altLang="zh-CN" sz="2600" smtClean="0">
                <a:ea typeface="宋体" charset="-122"/>
              </a:rPr>
              <a:t>3</a:t>
            </a:r>
            <a:r>
              <a:rPr lang="zh-CN" altLang="en-US" sz="2600" smtClean="0">
                <a:ea typeface="宋体" charset="-122"/>
              </a:rPr>
              <a:t>、生成有用的实际产品</a:t>
            </a:r>
          </a:p>
          <a:p>
            <a:r>
              <a:rPr lang="en-US" altLang="zh-CN" sz="2600" smtClean="0">
                <a:ea typeface="宋体" charset="-122"/>
              </a:rPr>
              <a:t>4</a:t>
            </a:r>
            <a:r>
              <a:rPr lang="zh-CN" altLang="en-US" sz="2600" smtClean="0">
                <a:ea typeface="宋体" charset="-122"/>
              </a:rPr>
              <a:t>、组织、查找、过滤、重获、检查以及编辑大型系统的有关信息</a:t>
            </a:r>
          </a:p>
          <a:p>
            <a:r>
              <a:rPr lang="en-US" altLang="zh-CN" sz="2600" smtClean="0">
                <a:ea typeface="宋体" charset="-122"/>
              </a:rPr>
              <a:t>5</a:t>
            </a:r>
            <a:r>
              <a:rPr lang="zh-CN" altLang="en-US" sz="2600" smtClean="0">
                <a:ea typeface="宋体" charset="-122"/>
              </a:rPr>
              <a:t>、经济地研究多种设计过程中的解决方案</a:t>
            </a:r>
          </a:p>
          <a:p>
            <a:r>
              <a:rPr lang="en-US" altLang="zh-CN" sz="2600" smtClean="0">
                <a:ea typeface="宋体" charset="-122"/>
              </a:rPr>
              <a:t>6</a:t>
            </a:r>
            <a:r>
              <a:rPr lang="zh-CN" altLang="en-US" sz="2600" smtClean="0">
                <a:ea typeface="宋体" charset="-122"/>
              </a:rPr>
              <a:t>、利用模型可以全面把握复杂的系统</a:t>
            </a:r>
          </a:p>
        </p:txBody>
      </p:sp>
      <p:sp>
        <p:nvSpPr>
          <p:cNvPr id="21508" name="灯片编号占位符 3"/>
          <p:cNvSpPr>
            <a:spLocks noGrp="1"/>
          </p:cNvSpPr>
          <p:nvPr>
            <p:ph type="sldNum" sz="quarter" idx="12"/>
          </p:nvPr>
        </p:nvSpPr>
        <p:spPr>
          <a:noFill/>
        </p:spPr>
        <p:txBody>
          <a:bodyPr/>
          <a:lstStyle/>
          <a:p>
            <a:fld id="{3EA88F16-F3E5-4363-B468-1D1CE4D3C89A}" type="slidenum">
              <a:rPr lang="en-US" altLang="zh-CN" smtClean="0"/>
              <a:pPr/>
              <a:t>47</a:t>
            </a:fld>
            <a:endParaRPr lang="en-US" altLang="zh-CN" smtClean="0"/>
          </a:p>
        </p:txBody>
      </p:sp>
      <p:sp>
        <p:nvSpPr>
          <p:cNvPr id="21509" name="TextBox 4"/>
          <p:cNvSpPr txBox="1">
            <a:spLocks noChangeArrowheads="1"/>
          </p:cNvSpPr>
          <p:nvPr/>
        </p:nvSpPr>
        <p:spPr bwMode="auto">
          <a:xfrm>
            <a:off x="6394450" y="5786438"/>
            <a:ext cx="2749550" cy="369887"/>
          </a:xfrm>
          <a:prstGeom prst="rect">
            <a:avLst/>
          </a:prstGeom>
          <a:noFill/>
          <a:ln w="9525">
            <a:noFill/>
            <a:miter lim="800000"/>
            <a:headEnd/>
            <a:tailEnd/>
          </a:ln>
        </p:spPr>
        <p:txBody>
          <a:bodyPr wrap="none">
            <a:spAutoFit/>
          </a:bodyPr>
          <a:lstStyle/>
          <a:p>
            <a:r>
              <a:rPr lang="zh-CN" altLang="en-US">
                <a:solidFill>
                  <a:srgbClr val="FFC000"/>
                </a:solidFill>
              </a:rPr>
              <a:t>（选自：</a:t>
            </a:r>
            <a:r>
              <a:rPr lang="en-US" altLang="zh-CN">
                <a:solidFill>
                  <a:srgbClr val="FFC000"/>
                </a:solidFill>
              </a:rPr>
              <a:t>UML</a:t>
            </a:r>
            <a:r>
              <a:rPr lang="zh-CN" altLang="en-US">
                <a:solidFill>
                  <a:srgbClr val="FFC000"/>
                </a:solidFill>
              </a:rPr>
              <a:t>参考手册）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en-US" altLang="zh-CN" smtClean="0">
                <a:ea typeface="宋体" charset="-122"/>
              </a:rPr>
              <a:t>*</a:t>
            </a:r>
            <a:r>
              <a:rPr lang="zh-CN" altLang="en-US" smtClean="0">
                <a:ea typeface="宋体" charset="-122"/>
              </a:rPr>
              <a:t>模型的形式</a:t>
            </a:r>
          </a:p>
        </p:txBody>
      </p:sp>
      <p:sp>
        <p:nvSpPr>
          <p:cNvPr id="22531" name="内容占位符 2"/>
          <p:cNvSpPr>
            <a:spLocks noGrp="1"/>
          </p:cNvSpPr>
          <p:nvPr>
            <p:ph idx="1"/>
          </p:nvPr>
        </p:nvSpPr>
        <p:spPr/>
        <p:txBody>
          <a:bodyPr/>
          <a:lstStyle/>
          <a:p>
            <a:r>
              <a:rPr lang="zh-CN" altLang="en-US" sz="2400" dirty="0" smtClean="0">
                <a:ea typeface="宋体" charset="-122"/>
              </a:rPr>
              <a:t>针对不同目的，模型可以采取各种形式及不同的抽象层次。模型中所包含的信息量对应于以下几种目的：</a:t>
            </a:r>
            <a:endParaRPr lang="en-US" altLang="zh-CN" sz="2400" dirty="0" smtClean="0">
              <a:ea typeface="宋体" charset="-122"/>
            </a:endParaRPr>
          </a:p>
          <a:p>
            <a:pPr lvl="1"/>
            <a:r>
              <a:rPr lang="zh-CN" altLang="en-US" sz="2400" dirty="0" smtClean="0">
                <a:ea typeface="宋体" charset="-122"/>
              </a:rPr>
              <a:t>指导设计思路；</a:t>
            </a:r>
            <a:endParaRPr lang="en-US" altLang="zh-CN" sz="2400" dirty="0" smtClean="0">
              <a:ea typeface="宋体" charset="-122"/>
            </a:endParaRPr>
          </a:p>
          <a:p>
            <a:pPr lvl="1"/>
            <a:r>
              <a:rPr lang="zh-CN" altLang="en-US" sz="2400" dirty="0" smtClean="0">
                <a:ea typeface="宋体" charset="-122"/>
              </a:rPr>
              <a:t>系统基本结构的抽象说明；</a:t>
            </a:r>
            <a:endParaRPr lang="en-US" altLang="zh-CN" sz="2400" dirty="0" smtClean="0">
              <a:ea typeface="宋体" charset="-122"/>
            </a:endParaRPr>
          </a:p>
          <a:p>
            <a:pPr lvl="1"/>
            <a:r>
              <a:rPr lang="zh-CN" altLang="en-US" sz="2400" dirty="0" smtClean="0">
                <a:ea typeface="宋体" charset="-122"/>
              </a:rPr>
              <a:t>最终系统的详细规格说明；</a:t>
            </a:r>
            <a:endParaRPr lang="en-US" altLang="zh-CN" sz="2400" dirty="0" smtClean="0">
              <a:ea typeface="宋体" charset="-122"/>
            </a:endParaRPr>
          </a:p>
          <a:p>
            <a:pPr lvl="1"/>
            <a:r>
              <a:rPr lang="zh-CN" altLang="en-US" sz="2400" dirty="0" smtClean="0">
                <a:ea typeface="宋体" charset="-122"/>
              </a:rPr>
              <a:t>典型或可能的系统范例；</a:t>
            </a:r>
            <a:endParaRPr lang="en-US" altLang="zh-CN" sz="2400" dirty="0" smtClean="0">
              <a:ea typeface="宋体" charset="-122"/>
            </a:endParaRPr>
          </a:p>
          <a:p>
            <a:pPr lvl="1"/>
            <a:r>
              <a:rPr lang="zh-CN" altLang="en-US" sz="2400" dirty="0" smtClean="0">
                <a:ea typeface="宋体" charset="-122"/>
              </a:rPr>
              <a:t>对系统全面的或部分的描述。</a:t>
            </a:r>
          </a:p>
        </p:txBody>
      </p:sp>
      <p:sp>
        <p:nvSpPr>
          <p:cNvPr id="22532" name="灯片编号占位符 3"/>
          <p:cNvSpPr>
            <a:spLocks noGrp="1"/>
          </p:cNvSpPr>
          <p:nvPr>
            <p:ph type="sldNum" sz="quarter" idx="12"/>
          </p:nvPr>
        </p:nvSpPr>
        <p:spPr>
          <a:noFill/>
        </p:spPr>
        <p:txBody>
          <a:bodyPr/>
          <a:lstStyle/>
          <a:p>
            <a:fld id="{15E87612-EF7C-4ADD-9101-EB7602148E27}" type="slidenum">
              <a:rPr lang="en-US" altLang="zh-CN" smtClean="0"/>
              <a:pPr/>
              <a:t>48</a:t>
            </a:fld>
            <a:endParaRPr lang="en-US" altLang="zh-CN" smtClean="0"/>
          </a:p>
        </p:txBody>
      </p:sp>
      <p:sp>
        <p:nvSpPr>
          <p:cNvPr id="22533" name="TextBox 4"/>
          <p:cNvSpPr txBox="1">
            <a:spLocks noChangeArrowheads="1"/>
          </p:cNvSpPr>
          <p:nvPr/>
        </p:nvSpPr>
        <p:spPr bwMode="auto">
          <a:xfrm>
            <a:off x="6394450" y="5786438"/>
            <a:ext cx="2749550" cy="369887"/>
          </a:xfrm>
          <a:prstGeom prst="rect">
            <a:avLst/>
          </a:prstGeom>
          <a:noFill/>
          <a:ln w="9525">
            <a:noFill/>
            <a:miter lim="800000"/>
            <a:headEnd/>
            <a:tailEnd/>
          </a:ln>
        </p:spPr>
        <p:txBody>
          <a:bodyPr wrap="none">
            <a:spAutoFit/>
          </a:bodyPr>
          <a:lstStyle/>
          <a:p>
            <a:r>
              <a:rPr lang="zh-CN" altLang="en-US" dirty="0">
                <a:solidFill>
                  <a:srgbClr val="FFC000"/>
                </a:solidFill>
              </a:rPr>
              <a:t>（选自：</a:t>
            </a:r>
            <a:r>
              <a:rPr lang="en-US" altLang="zh-CN" dirty="0">
                <a:solidFill>
                  <a:srgbClr val="FFC000"/>
                </a:solidFill>
              </a:rPr>
              <a:t>UML</a:t>
            </a:r>
            <a:r>
              <a:rPr lang="zh-CN" altLang="en-US" dirty="0">
                <a:solidFill>
                  <a:srgbClr val="FFC000"/>
                </a:solidFill>
              </a:rPr>
              <a:t>参考手册）</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en-US" altLang="zh-CN" dirty="0" smtClean="0">
                <a:ea typeface="宋体" charset="-122"/>
              </a:rPr>
              <a:t>6.6 </a:t>
            </a:r>
            <a:r>
              <a:rPr lang="zh-CN" altLang="en-US" dirty="0" smtClean="0">
                <a:ea typeface="宋体" charset="-122"/>
              </a:rPr>
              <a:t>对象模型</a:t>
            </a:r>
          </a:p>
        </p:txBody>
      </p:sp>
      <p:sp>
        <p:nvSpPr>
          <p:cNvPr id="3" name="内容占位符 2"/>
          <p:cNvSpPr>
            <a:spLocks noGrp="1"/>
          </p:cNvSpPr>
          <p:nvPr>
            <p:ph idx="1"/>
          </p:nvPr>
        </p:nvSpPr>
        <p:spPr>
          <a:xfrm>
            <a:off x="685800" y="1447800"/>
            <a:ext cx="8001000" cy="4624388"/>
          </a:xfrm>
        </p:spPr>
        <p:txBody>
          <a:bodyPr/>
          <a:lstStyle/>
          <a:p>
            <a:r>
              <a:rPr lang="zh-CN" altLang="en-US" dirty="0" smtClean="0">
                <a:solidFill>
                  <a:srgbClr val="7030A0"/>
                </a:solidFill>
                <a:ea typeface="宋体" charset="-122"/>
              </a:rPr>
              <a:t>对象模型</a:t>
            </a:r>
            <a:r>
              <a:rPr lang="zh-CN" altLang="en-US" dirty="0" smtClean="0">
                <a:ea typeface="宋体" charset="-122"/>
              </a:rPr>
              <a:t>：</a:t>
            </a:r>
            <a:r>
              <a:rPr lang="zh-CN" altLang="en-US" sz="2600" dirty="0" smtClean="0">
                <a:ea typeface="宋体" charset="-122"/>
              </a:rPr>
              <a:t>表示静态的、结构化的系统的“数据”性质。它是客观世界实体的对象以及对象彼此间的关系的映射的模拟，描述了系统的静态结构。</a:t>
            </a:r>
            <a:endParaRPr lang="en-US" altLang="zh-CN" sz="2600" dirty="0" smtClean="0">
              <a:ea typeface="宋体" charset="-122"/>
            </a:endParaRPr>
          </a:p>
          <a:p>
            <a:r>
              <a:rPr lang="zh-CN" altLang="en-US" sz="2600" dirty="0" smtClean="0">
                <a:ea typeface="宋体" charset="-122"/>
              </a:rPr>
              <a:t>对象模型为建立动态模型和功能模型提供了实质性的框架。</a:t>
            </a:r>
          </a:p>
          <a:p>
            <a:r>
              <a:rPr lang="zh-CN" altLang="en-US" sz="2600" dirty="0" smtClean="0">
                <a:ea typeface="宋体" charset="-122"/>
              </a:rPr>
              <a:t>为了建立对象模型，需要定义一组图形符号，并且规定一组组织这些符号以表示特定语义的规则</a:t>
            </a:r>
          </a:p>
          <a:p>
            <a:pPr lvl="1"/>
            <a:r>
              <a:rPr lang="zh-CN" altLang="en-US" sz="2600" dirty="0" smtClean="0">
                <a:ea typeface="宋体" charset="-122"/>
              </a:rPr>
              <a:t>表示类、对象、继承关系、其他关系等。</a:t>
            </a:r>
            <a:endParaRPr lang="en-US" altLang="zh-CN" sz="2600" dirty="0" smtClean="0">
              <a:ea typeface="宋体" charset="-122"/>
            </a:endParaRPr>
          </a:p>
          <a:p>
            <a:r>
              <a:rPr lang="zh-CN" altLang="en-US" sz="2600" dirty="0" smtClean="0">
                <a:ea typeface="宋体" charset="-122"/>
              </a:rPr>
              <a:t>面向对象软件开发的各个不同阶段，使用相同的表示方法。</a:t>
            </a:r>
          </a:p>
        </p:txBody>
      </p:sp>
      <p:sp>
        <p:nvSpPr>
          <p:cNvPr id="23556" name="灯片编号占位符 3"/>
          <p:cNvSpPr>
            <a:spLocks noGrp="1"/>
          </p:cNvSpPr>
          <p:nvPr>
            <p:ph type="sldNum" sz="quarter" idx="12"/>
          </p:nvPr>
        </p:nvSpPr>
        <p:spPr>
          <a:noFill/>
        </p:spPr>
        <p:txBody>
          <a:bodyPr/>
          <a:lstStyle/>
          <a:p>
            <a:fld id="{3C66AC0A-E992-4A96-AF20-A447590BBB0F}" type="slidenum">
              <a:rPr lang="en-US" altLang="zh-CN" smtClean="0"/>
              <a:pPr/>
              <a:t>49</a:t>
            </a:fld>
            <a:endParaRPr lang="en-US" altLang="zh-CN"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ox(i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ox(in)">
                                      <p:cBhvr>
                                        <p:cTn id="12" dur="500"/>
                                        <p:tgtEl>
                                          <p:spTgt spid="3">
                                            <p:txEl>
                                              <p:pRg st="2" end="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ox(in)">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ox(in)">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8"/>
          <p:cNvPicPr>
            <a:picLocks noChangeAspect="1" noChangeArrowheads="1"/>
          </p:cNvPicPr>
          <p:nvPr/>
        </p:nvPicPr>
        <p:blipFill>
          <a:blip r:embed="rId2"/>
          <a:srcRect/>
          <a:stretch>
            <a:fillRect/>
          </a:stretch>
        </p:blipFill>
        <p:spPr bwMode="auto">
          <a:xfrm>
            <a:off x="5929313" y="1000125"/>
            <a:ext cx="2878137" cy="2143125"/>
          </a:xfrm>
          <a:prstGeom prst="rect">
            <a:avLst/>
          </a:prstGeom>
          <a:noFill/>
          <a:ln w="9525">
            <a:noFill/>
            <a:miter lim="800000"/>
            <a:headEnd/>
            <a:tailEnd/>
          </a:ln>
        </p:spPr>
      </p:pic>
      <p:sp>
        <p:nvSpPr>
          <p:cNvPr id="24579" name="标题 1"/>
          <p:cNvSpPr>
            <a:spLocks noGrp="1"/>
          </p:cNvSpPr>
          <p:nvPr>
            <p:ph type="title"/>
          </p:nvPr>
        </p:nvSpPr>
        <p:spPr/>
        <p:txBody>
          <a:bodyPr/>
          <a:lstStyle/>
          <a:p>
            <a:r>
              <a:rPr lang="zh-CN" altLang="en-US" dirty="0" smtClean="0">
                <a:ea typeface="宋体" charset="-122"/>
              </a:rPr>
              <a:t>表示方法</a:t>
            </a:r>
          </a:p>
        </p:txBody>
      </p:sp>
      <p:sp>
        <p:nvSpPr>
          <p:cNvPr id="24580" name="灯片编号占位符 3"/>
          <p:cNvSpPr>
            <a:spLocks noGrp="1"/>
          </p:cNvSpPr>
          <p:nvPr>
            <p:ph type="sldNum" sz="quarter" idx="12"/>
          </p:nvPr>
        </p:nvSpPr>
        <p:spPr>
          <a:noFill/>
        </p:spPr>
        <p:txBody>
          <a:bodyPr/>
          <a:lstStyle/>
          <a:p>
            <a:fld id="{B496892E-87E2-4BA6-9F27-BEAA746E2806}" type="slidenum">
              <a:rPr lang="en-US" altLang="zh-CN" smtClean="0"/>
              <a:pPr/>
              <a:t>50</a:t>
            </a:fld>
            <a:endParaRPr lang="en-US" altLang="zh-CN" smtClean="0"/>
          </a:p>
        </p:txBody>
      </p:sp>
      <p:sp>
        <p:nvSpPr>
          <p:cNvPr id="24581" name="内容占位符 8"/>
          <p:cNvSpPr>
            <a:spLocks noGrp="1"/>
          </p:cNvSpPr>
          <p:nvPr>
            <p:ph idx="1"/>
          </p:nvPr>
        </p:nvSpPr>
        <p:spPr>
          <a:xfrm>
            <a:off x="642938" y="1500188"/>
            <a:ext cx="4714875" cy="4714875"/>
          </a:xfrm>
        </p:spPr>
        <p:txBody>
          <a:bodyPr/>
          <a:lstStyle/>
          <a:p>
            <a:r>
              <a:rPr lang="zh-CN" altLang="en-US" b="1" dirty="0" smtClean="0">
                <a:solidFill>
                  <a:srgbClr val="FF0000"/>
                </a:solidFill>
                <a:ea typeface="宋体" charset="-122"/>
              </a:rPr>
              <a:t>类</a:t>
            </a:r>
            <a:r>
              <a:rPr lang="zh-CN" altLang="en-US" sz="2400" dirty="0" smtClean="0">
                <a:ea typeface="宋体" charset="-122"/>
              </a:rPr>
              <a:t>代表了被建模的应用领域中的离散概念</a:t>
            </a:r>
            <a:r>
              <a:rPr lang="en-US" altLang="zh-CN" sz="2400" dirty="0" smtClean="0">
                <a:ea typeface="宋体" charset="-122"/>
              </a:rPr>
              <a:t>—</a:t>
            </a:r>
            <a:r>
              <a:rPr lang="zh-CN" altLang="en-US" sz="2400" dirty="0" smtClean="0">
                <a:solidFill>
                  <a:srgbClr val="7030A0"/>
                </a:solidFill>
                <a:ea typeface="宋体" charset="-122"/>
              </a:rPr>
              <a:t>物理实体</a:t>
            </a:r>
            <a:r>
              <a:rPr lang="zh-CN" altLang="en-US" sz="2400" dirty="0" smtClean="0">
                <a:ea typeface="宋体" charset="-122"/>
              </a:rPr>
              <a:t>（如飞机）、</a:t>
            </a:r>
            <a:r>
              <a:rPr lang="zh-CN" altLang="en-US" sz="2400" dirty="0" smtClean="0">
                <a:solidFill>
                  <a:srgbClr val="7030A0"/>
                </a:solidFill>
                <a:ea typeface="宋体" charset="-122"/>
              </a:rPr>
              <a:t>商业事物</a:t>
            </a:r>
            <a:r>
              <a:rPr lang="zh-CN" altLang="en-US" sz="2400" dirty="0" smtClean="0">
                <a:ea typeface="宋体" charset="-122"/>
              </a:rPr>
              <a:t>（如一份订单）、</a:t>
            </a:r>
            <a:r>
              <a:rPr lang="zh-CN" altLang="en-US" sz="2400" dirty="0" smtClean="0">
                <a:solidFill>
                  <a:srgbClr val="7030A0"/>
                </a:solidFill>
                <a:ea typeface="宋体" charset="-122"/>
              </a:rPr>
              <a:t>逻辑事物</a:t>
            </a:r>
            <a:r>
              <a:rPr lang="zh-CN" altLang="en-US" sz="2400" dirty="0" smtClean="0">
                <a:ea typeface="宋体" charset="-122"/>
              </a:rPr>
              <a:t>（如广播计划）、</a:t>
            </a:r>
            <a:r>
              <a:rPr lang="zh-CN" altLang="en-US" sz="2400" dirty="0" smtClean="0">
                <a:solidFill>
                  <a:srgbClr val="7030A0"/>
                </a:solidFill>
                <a:ea typeface="宋体" charset="-122"/>
              </a:rPr>
              <a:t>应用事物</a:t>
            </a:r>
            <a:r>
              <a:rPr lang="zh-CN" altLang="en-US" sz="2400" dirty="0" smtClean="0">
                <a:ea typeface="宋体" charset="-122"/>
              </a:rPr>
              <a:t>（如取消键）、</a:t>
            </a:r>
            <a:r>
              <a:rPr lang="zh-CN" altLang="en-US" sz="2400" dirty="0" smtClean="0">
                <a:solidFill>
                  <a:srgbClr val="7030A0"/>
                </a:solidFill>
                <a:ea typeface="宋体" charset="-122"/>
              </a:rPr>
              <a:t>计算机领域的事物</a:t>
            </a:r>
            <a:r>
              <a:rPr lang="zh-CN" altLang="en-US" sz="2400" dirty="0" smtClean="0">
                <a:ea typeface="宋体" charset="-122"/>
              </a:rPr>
              <a:t>（如哈希表）或</a:t>
            </a:r>
            <a:r>
              <a:rPr lang="zh-CN" altLang="en-US" sz="2400" dirty="0" smtClean="0">
                <a:solidFill>
                  <a:srgbClr val="7030A0"/>
                </a:solidFill>
                <a:ea typeface="宋体" charset="-122"/>
              </a:rPr>
              <a:t>行为事物</a:t>
            </a:r>
            <a:r>
              <a:rPr lang="zh-CN" altLang="en-US" sz="2400" dirty="0" smtClean="0">
                <a:ea typeface="宋体" charset="-122"/>
              </a:rPr>
              <a:t>（如一项任务）。</a:t>
            </a:r>
            <a:endParaRPr lang="en-US" altLang="zh-CN" sz="2400" dirty="0" smtClean="0">
              <a:ea typeface="宋体" charset="-122"/>
            </a:endParaRPr>
          </a:p>
          <a:p>
            <a:r>
              <a:rPr lang="zh-CN" altLang="en-US" b="1" dirty="0" smtClean="0">
                <a:solidFill>
                  <a:srgbClr val="FF0000"/>
                </a:solidFill>
                <a:ea typeface="宋体" charset="-122"/>
              </a:rPr>
              <a:t>类</a:t>
            </a:r>
            <a:r>
              <a:rPr lang="zh-CN" altLang="en-US" sz="2400" dirty="0" smtClean="0">
                <a:ea typeface="宋体" charset="-122"/>
              </a:rPr>
              <a:t>是有相同结构、行为和关系的一组对象的描述符号。所用的属性与操作都被附在类上。</a:t>
            </a:r>
            <a:endParaRPr lang="en-US" altLang="zh-CN" sz="2400" dirty="0" smtClean="0">
              <a:ea typeface="宋体" charset="-122"/>
            </a:endParaRPr>
          </a:p>
          <a:p>
            <a:r>
              <a:rPr lang="zh-CN" altLang="en-US" b="1" dirty="0" smtClean="0">
                <a:solidFill>
                  <a:srgbClr val="FF0000"/>
                </a:solidFill>
                <a:ea typeface="宋体" charset="-122"/>
              </a:rPr>
              <a:t>类</a:t>
            </a:r>
            <a:r>
              <a:rPr lang="zh-CN" altLang="en-US" sz="2400" dirty="0" smtClean="0">
                <a:ea typeface="宋体" charset="-122"/>
              </a:rPr>
              <a:t>是面向对象系统组织结构的核心。</a:t>
            </a:r>
          </a:p>
        </p:txBody>
      </p:sp>
      <p:pic>
        <p:nvPicPr>
          <p:cNvPr id="39943" name="Picture 7"/>
          <p:cNvPicPr>
            <a:picLocks noChangeAspect="1" noChangeArrowheads="1"/>
          </p:cNvPicPr>
          <p:nvPr/>
        </p:nvPicPr>
        <p:blipFill>
          <a:blip r:embed="rId3"/>
          <a:srcRect/>
          <a:stretch>
            <a:fillRect/>
          </a:stretch>
        </p:blipFill>
        <p:spPr bwMode="auto">
          <a:xfrm>
            <a:off x="5643563" y="3733800"/>
            <a:ext cx="3257550" cy="1266825"/>
          </a:xfrm>
          <a:prstGeom prst="rect">
            <a:avLst/>
          </a:prstGeom>
          <a:ln>
            <a:noFill/>
          </a:ln>
          <a:effectLst>
            <a:outerShdw blurRad="292100" dist="139700" dir="2700000" algn="tl" rotWithShape="0">
              <a:srgbClr val="333333">
                <a:alpha val="65000"/>
              </a:srgbClr>
            </a:outerShdw>
          </a:effectLst>
        </p:spPr>
      </p:pic>
      <p:sp>
        <p:nvSpPr>
          <p:cNvPr id="12" name="TextBox 11"/>
          <p:cNvSpPr txBox="1"/>
          <p:nvPr/>
        </p:nvSpPr>
        <p:spPr>
          <a:xfrm>
            <a:off x="5286375" y="785813"/>
            <a:ext cx="646113" cy="36988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dirty="0"/>
              <a:t>类名</a:t>
            </a:r>
          </a:p>
        </p:txBody>
      </p:sp>
      <p:sp>
        <p:nvSpPr>
          <p:cNvPr id="13" name="TextBox 12"/>
          <p:cNvSpPr txBox="1"/>
          <p:nvPr/>
        </p:nvSpPr>
        <p:spPr>
          <a:xfrm>
            <a:off x="5286375" y="1558925"/>
            <a:ext cx="646113" cy="369888"/>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dirty="0"/>
              <a:t>属性</a:t>
            </a:r>
          </a:p>
        </p:txBody>
      </p:sp>
      <p:sp>
        <p:nvSpPr>
          <p:cNvPr id="14" name="TextBox 13"/>
          <p:cNvSpPr txBox="1"/>
          <p:nvPr/>
        </p:nvSpPr>
        <p:spPr>
          <a:xfrm>
            <a:off x="5286375" y="2357438"/>
            <a:ext cx="646113" cy="36988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dirty="0"/>
              <a:t>服务</a:t>
            </a:r>
          </a:p>
        </p:txBody>
      </p:sp>
      <p:sp>
        <p:nvSpPr>
          <p:cNvPr id="15" name="TextBox 14"/>
          <p:cNvSpPr txBox="1"/>
          <p:nvPr/>
        </p:nvSpPr>
        <p:spPr>
          <a:xfrm>
            <a:off x="8585200" y="785813"/>
            <a:ext cx="415925" cy="369887"/>
          </a:xfrm>
          <a:prstGeom prst="rect">
            <a:avLst/>
          </a:prstGeom>
          <a:solidFill>
            <a:srgbClr val="00B050"/>
          </a:solidFill>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dirty="0"/>
              <a:t>类</a:t>
            </a:r>
          </a:p>
        </p:txBody>
      </p:sp>
      <p:sp>
        <p:nvSpPr>
          <p:cNvPr id="16" name="TextBox 15"/>
          <p:cNvSpPr txBox="1"/>
          <p:nvPr/>
        </p:nvSpPr>
        <p:spPr>
          <a:xfrm>
            <a:off x="8358188" y="3376613"/>
            <a:ext cx="646112" cy="369887"/>
          </a:xfrm>
          <a:prstGeom prst="rect">
            <a:avLst/>
          </a:prstGeom>
          <a:solidFill>
            <a:srgbClr val="00B050"/>
          </a:solidFill>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dirty="0"/>
              <a:t>对象</a:t>
            </a:r>
          </a:p>
        </p:txBody>
      </p:sp>
      <p:sp>
        <p:nvSpPr>
          <p:cNvPr id="17" name="矩形 16"/>
          <p:cNvSpPr/>
          <p:nvPr/>
        </p:nvSpPr>
        <p:spPr>
          <a:xfrm>
            <a:off x="6153150" y="2328863"/>
            <a:ext cx="2428875" cy="642937"/>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矩形 17"/>
          <p:cNvSpPr/>
          <p:nvPr/>
        </p:nvSpPr>
        <p:spPr>
          <a:xfrm>
            <a:off x="6153150" y="1447800"/>
            <a:ext cx="2428875" cy="85725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矩形 18"/>
          <p:cNvSpPr/>
          <p:nvPr/>
        </p:nvSpPr>
        <p:spPr>
          <a:xfrm>
            <a:off x="5715000" y="4081463"/>
            <a:ext cx="3071813" cy="85725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dirty="0" smtClean="0">
                <a:ea typeface="宋体" charset="-122"/>
              </a:rPr>
              <a:t>表示方法</a:t>
            </a:r>
          </a:p>
        </p:txBody>
      </p:sp>
      <p:sp>
        <p:nvSpPr>
          <p:cNvPr id="25603" name="内容占位符 2"/>
          <p:cNvSpPr>
            <a:spLocks noGrp="1"/>
          </p:cNvSpPr>
          <p:nvPr>
            <p:ph idx="1"/>
          </p:nvPr>
        </p:nvSpPr>
        <p:spPr>
          <a:xfrm>
            <a:off x="928662" y="1357298"/>
            <a:ext cx="7603778" cy="3352800"/>
          </a:xfrm>
        </p:spPr>
        <p:txBody>
          <a:bodyPr/>
          <a:lstStyle/>
          <a:p>
            <a:r>
              <a:rPr lang="en-US" altLang="zh-CN" sz="2400" dirty="0" smtClean="0">
                <a:ea typeface="宋体" charset="-122"/>
              </a:rPr>
              <a:t>2</a:t>
            </a:r>
            <a:r>
              <a:rPr lang="zh-CN" altLang="en-US" sz="2400" dirty="0" smtClean="0">
                <a:ea typeface="宋体" charset="-122"/>
              </a:rPr>
              <a:t>、命名</a:t>
            </a:r>
            <a:endParaRPr lang="en-US" altLang="zh-CN" sz="2400" dirty="0" smtClean="0">
              <a:ea typeface="宋体" charset="-122"/>
            </a:endParaRPr>
          </a:p>
          <a:p>
            <a:pPr lvl="1"/>
            <a:r>
              <a:rPr lang="zh-CN" altLang="en-US" sz="2400" dirty="0" smtClean="0">
                <a:ea typeface="宋体" charset="-122"/>
              </a:rPr>
              <a:t>类名应该是富于</a:t>
            </a:r>
            <a:r>
              <a:rPr lang="zh-CN" altLang="en-US" sz="2400" dirty="0" smtClean="0">
                <a:solidFill>
                  <a:srgbClr val="FF0000"/>
                </a:solidFill>
                <a:ea typeface="宋体" charset="-122"/>
              </a:rPr>
              <a:t>描述性的、简洁的、无二义性的</a:t>
            </a:r>
            <a:endParaRPr lang="en-US" altLang="zh-CN" sz="2400" dirty="0" smtClean="0">
              <a:solidFill>
                <a:srgbClr val="FF0000"/>
              </a:solidFill>
              <a:ea typeface="宋体" charset="-122"/>
            </a:endParaRPr>
          </a:p>
          <a:p>
            <a:pPr lvl="1"/>
            <a:r>
              <a:rPr lang="zh-CN" altLang="en-US" sz="2400" dirty="0" smtClean="0">
                <a:ea typeface="宋体" charset="-122"/>
              </a:rPr>
              <a:t>（</a:t>
            </a:r>
            <a:r>
              <a:rPr lang="en-US" altLang="zh-CN" sz="2400" dirty="0" smtClean="0">
                <a:ea typeface="宋体" charset="-122"/>
              </a:rPr>
              <a:t>1</a:t>
            </a:r>
            <a:r>
              <a:rPr lang="zh-CN" altLang="en-US" sz="2400" dirty="0" smtClean="0">
                <a:ea typeface="宋体" charset="-122"/>
              </a:rPr>
              <a:t>）使用标准术语</a:t>
            </a:r>
          </a:p>
          <a:p>
            <a:pPr lvl="1"/>
            <a:r>
              <a:rPr lang="zh-CN" altLang="en-US" sz="2400" dirty="0" smtClean="0">
                <a:ea typeface="宋体" charset="-122"/>
              </a:rPr>
              <a:t>（</a:t>
            </a:r>
            <a:r>
              <a:rPr lang="en-US" altLang="zh-CN" sz="2400" dirty="0" smtClean="0">
                <a:ea typeface="宋体" charset="-122"/>
              </a:rPr>
              <a:t>2</a:t>
            </a:r>
            <a:r>
              <a:rPr lang="zh-CN" altLang="en-US" sz="2400" dirty="0" smtClean="0">
                <a:ea typeface="宋体" charset="-122"/>
              </a:rPr>
              <a:t>）使用具有确切含义的名词</a:t>
            </a:r>
          </a:p>
          <a:p>
            <a:pPr lvl="1"/>
            <a:r>
              <a:rPr lang="zh-CN" altLang="en-US" sz="2400" dirty="0" smtClean="0">
                <a:ea typeface="宋体" charset="-122"/>
              </a:rPr>
              <a:t>（</a:t>
            </a:r>
            <a:r>
              <a:rPr lang="en-US" altLang="zh-CN" sz="2400" dirty="0" smtClean="0">
                <a:ea typeface="宋体" charset="-122"/>
              </a:rPr>
              <a:t>3</a:t>
            </a:r>
            <a:r>
              <a:rPr lang="zh-CN" altLang="en-US" sz="2400" dirty="0" smtClean="0">
                <a:ea typeface="宋体" charset="-122"/>
              </a:rPr>
              <a:t>）必要时用名词短语做名字</a:t>
            </a:r>
          </a:p>
          <a:p>
            <a:pPr lvl="1"/>
            <a:endParaRPr lang="zh-CN" altLang="en-US" sz="2400" dirty="0" smtClean="0">
              <a:ea typeface="宋体" charset="-122"/>
            </a:endParaRPr>
          </a:p>
        </p:txBody>
      </p:sp>
      <p:sp>
        <p:nvSpPr>
          <p:cNvPr id="25604" name="灯片编号占位符 3"/>
          <p:cNvSpPr>
            <a:spLocks noGrp="1"/>
          </p:cNvSpPr>
          <p:nvPr>
            <p:ph type="sldNum" sz="quarter" idx="12"/>
          </p:nvPr>
        </p:nvSpPr>
        <p:spPr>
          <a:noFill/>
        </p:spPr>
        <p:txBody>
          <a:bodyPr/>
          <a:lstStyle/>
          <a:p>
            <a:fld id="{7443E08C-2F23-4BEA-877A-BFB9B6E8A3EB}" type="slidenum">
              <a:rPr lang="en-US" altLang="zh-CN" smtClean="0"/>
              <a:pPr/>
              <a:t>51</a:t>
            </a:fld>
            <a:endParaRPr lang="en-US" altLang="zh-CN" smtClean="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dirty="0" smtClean="0">
                <a:ea typeface="宋体" charset="-122"/>
              </a:rPr>
              <a:t>表示结构</a:t>
            </a:r>
          </a:p>
        </p:txBody>
      </p:sp>
      <p:sp>
        <p:nvSpPr>
          <p:cNvPr id="3" name="内容占位符 2"/>
          <p:cNvSpPr>
            <a:spLocks noGrp="1"/>
          </p:cNvSpPr>
          <p:nvPr>
            <p:ph idx="1"/>
          </p:nvPr>
        </p:nvSpPr>
        <p:spPr>
          <a:xfrm>
            <a:off x="928662" y="1357298"/>
            <a:ext cx="7243738" cy="4231942"/>
          </a:xfrm>
        </p:spPr>
        <p:txBody>
          <a:bodyPr/>
          <a:lstStyle/>
          <a:p>
            <a:r>
              <a:rPr lang="zh-CN" altLang="en-US" sz="2400" dirty="0" smtClean="0">
                <a:ea typeface="宋体" charset="-122"/>
              </a:rPr>
              <a:t>在面向对象分析和设计中，结构表示了问题域中的复杂关系，是对客观世界实体相互关系的抽象。</a:t>
            </a:r>
          </a:p>
          <a:p>
            <a:r>
              <a:rPr lang="zh-CN" altLang="en-US" sz="2400" dirty="0" smtClean="0">
                <a:ea typeface="宋体" charset="-122"/>
              </a:rPr>
              <a:t>结构与目标系统的任务直接相关，</a:t>
            </a:r>
            <a:r>
              <a:rPr lang="zh-CN" altLang="en-US" sz="2400" dirty="0" smtClean="0">
                <a:solidFill>
                  <a:srgbClr val="FF0000"/>
                </a:solidFill>
                <a:ea typeface="宋体" charset="-122"/>
              </a:rPr>
              <a:t>目标系统的任务（或者说责任）决定了系统的结构</a:t>
            </a:r>
            <a:r>
              <a:rPr lang="zh-CN" altLang="en-US" sz="2400" dirty="0" smtClean="0">
                <a:ea typeface="宋体" charset="-122"/>
              </a:rPr>
              <a:t>。</a:t>
            </a:r>
            <a:endParaRPr lang="en-US" altLang="zh-CN" sz="2400" dirty="0" smtClean="0">
              <a:ea typeface="宋体" charset="-122"/>
            </a:endParaRPr>
          </a:p>
          <a:p>
            <a:r>
              <a:rPr lang="zh-CN" altLang="en-US" sz="2400" dirty="0" smtClean="0">
                <a:ea typeface="宋体" charset="-122"/>
              </a:rPr>
              <a:t>一般来说，类</a:t>
            </a:r>
            <a:r>
              <a:rPr lang="en-US" altLang="zh-CN" sz="2400" dirty="0" smtClean="0">
                <a:ea typeface="宋体" charset="-122"/>
              </a:rPr>
              <a:t>-&amp;-</a:t>
            </a:r>
            <a:r>
              <a:rPr lang="zh-CN" altLang="en-US" sz="2400" dirty="0" smtClean="0">
                <a:ea typeface="宋体" charset="-122"/>
              </a:rPr>
              <a:t>对象间的关系主要包括：</a:t>
            </a:r>
            <a:endParaRPr lang="en-US" altLang="zh-CN" sz="2400" dirty="0" smtClean="0">
              <a:ea typeface="宋体" charset="-122"/>
            </a:endParaRPr>
          </a:p>
          <a:p>
            <a:pPr lvl="1"/>
            <a:r>
              <a:rPr lang="zh-CN" altLang="en-US" sz="2200" dirty="0" smtClean="0">
                <a:ea typeface="宋体" charset="-122"/>
              </a:rPr>
              <a:t>泛化关系（一般</a:t>
            </a:r>
            <a:r>
              <a:rPr lang="en-US" altLang="zh-CN" sz="2200" dirty="0" smtClean="0">
                <a:ea typeface="宋体" charset="-122"/>
              </a:rPr>
              <a:t>-</a:t>
            </a:r>
            <a:r>
              <a:rPr lang="zh-CN" altLang="en-US" sz="2200" dirty="0" smtClean="0">
                <a:ea typeface="宋体" charset="-122"/>
              </a:rPr>
              <a:t>特殊关系、归纳关系）</a:t>
            </a:r>
            <a:endParaRPr lang="en-US" altLang="zh-CN" sz="2200" dirty="0" smtClean="0">
              <a:ea typeface="宋体" charset="-122"/>
            </a:endParaRPr>
          </a:p>
          <a:p>
            <a:pPr lvl="1"/>
            <a:r>
              <a:rPr lang="zh-CN" altLang="en-US" sz="2200" dirty="0" smtClean="0">
                <a:ea typeface="宋体" charset="-122"/>
              </a:rPr>
              <a:t>聚合和组合关系</a:t>
            </a:r>
            <a:endParaRPr lang="en-US" altLang="zh-CN" sz="2200" dirty="0" smtClean="0">
              <a:ea typeface="宋体" charset="-122"/>
            </a:endParaRPr>
          </a:p>
          <a:p>
            <a:pPr lvl="1"/>
            <a:r>
              <a:rPr lang="zh-CN" altLang="en-US" sz="2200" dirty="0" smtClean="0">
                <a:ea typeface="宋体" charset="-122"/>
              </a:rPr>
              <a:t>关联关系</a:t>
            </a:r>
            <a:endParaRPr lang="en-US" altLang="zh-CN" sz="2200" dirty="0" smtClean="0">
              <a:ea typeface="宋体" charset="-122"/>
            </a:endParaRPr>
          </a:p>
          <a:p>
            <a:pPr lvl="1"/>
            <a:r>
              <a:rPr lang="zh-CN" altLang="en-US" sz="2200" dirty="0" smtClean="0">
                <a:ea typeface="宋体" charset="-122"/>
              </a:rPr>
              <a:t>依赖关系</a:t>
            </a:r>
          </a:p>
          <a:p>
            <a:endParaRPr lang="zh-CN" altLang="en-US" dirty="0" smtClean="0">
              <a:ea typeface="宋体" charset="-122"/>
            </a:endParaRPr>
          </a:p>
        </p:txBody>
      </p:sp>
      <p:sp>
        <p:nvSpPr>
          <p:cNvPr id="26628" name="灯片编号占位符 3"/>
          <p:cNvSpPr>
            <a:spLocks noGrp="1"/>
          </p:cNvSpPr>
          <p:nvPr>
            <p:ph type="sldNum" sz="quarter" idx="12"/>
          </p:nvPr>
        </p:nvSpPr>
        <p:spPr>
          <a:noFill/>
        </p:spPr>
        <p:txBody>
          <a:bodyPr/>
          <a:lstStyle/>
          <a:p>
            <a:fld id="{107DCCE3-9681-4CE5-A81D-CDC050164464}" type="slidenum">
              <a:rPr lang="en-US" altLang="zh-CN" smtClean="0"/>
              <a:pPr/>
              <a:t>52</a:t>
            </a:fld>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sz="3200" smtClean="0">
                <a:ea typeface="宋体" charset="-122"/>
              </a:rPr>
              <a:t>1</a:t>
            </a:r>
            <a:r>
              <a:rPr lang="zh-CN" altLang="en-US" sz="3200" smtClean="0">
                <a:ea typeface="宋体" charset="-122"/>
              </a:rPr>
              <a:t>、泛化关系（</a:t>
            </a:r>
            <a:r>
              <a:rPr lang="zh-CN" altLang="en-US" sz="3200" b="1" smtClean="0">
                <a:ea typeface="宋体" charset="-122"/>
              </a:rPr>
              <a:t> </a:t>
            </a:r>
            <a:r>
              <a:rPr lang="en-US" altLang="zh-CN" sz="3200" b="1" smtClean="0">
                <a:ea typeface="宋体" charset="-122"/>
              </a:rPr>
              <a:t>Generalization </a:t>
            </a:r>
            <a:r>
              <a:rPr lang="zh-CN" altLang="en-US" sz="3200" smtClean="0">
                <a:ea typeface="宋体" charset="-122"/>
              </a:rPr>
              <a:t>）</a:t>
            </a:r>
          </a:p>
        </p:txBody>
      </p:sp>
      <p:sp>
        <p:nvSpPr>
          <p:cNvPr id="3" name="内容占位符 2"/>
          <p:cNvSpPr>
            <a:spLocks noGrp="1"/>
          </p:cNvSpPr>
          <p:nvPr>
            <p:ph idx="1"/>
          </p:nvPr>
        </p:nvSpPr>
        <p:spPr>
          <a:xfrm>
            <a:off x="685800" y="1447800"/>
            <a:ext cx="8001000" cy="4195763"/>
          </a:xfrm>
        </p:spPr>
        <p:txBody>
          <a:bodyPr/>
          <a:lstStyle/>
          <a:p>
            <a:pPr>
              <a:defRPr/>
            </a:pPr>
            <a:r>
              <a:rPr lang="zh-CN" altLang="en-US" sz="2400" dirty="0" smtClean="0">
                <a:ea typeface="宋体" charset="-122"/>
              </a:rPr>
              <a:t>泛化关系（也称继承关系）是类元的一般描述和具体描述之间的关系，具体描述建立在一般描述的基础之上，并对其进行了扩展（摘自</a:t>
            </a:r>
            <a:r>
              <a:rPr lang="en-US" altLang="zh-CN" sz="2400" dirty="0" smtClean="0">
                <a:ea typeface="宋体" charset="-122"/>
              </a:rPr>
              <a:t>UML</a:t>
            </a:r>
            <a:r>
              <a:rPr lang="zh-CN" altLang="en-US" sz="2400" dirty="0" smtClean="0">
                <a:ea typeface="宋体" charset="-122"/>
              </a:rPr>
              <a:t>参考手册）。</a:t>
            </a:r>
            <a:endParaRPr lang="en-US" altLang="zh-CN" sz="2400" dirty="0" smtClean="0">
              <a:ea typeface="宋体" charset="-122"/>
            </a:endParaRPr>
          </a:p>
          <a:p>
            <a:pPr>
              <a:defRPr/>
            </a:pPr>
            <a:r>
              <a:rPr lang="zh-CN" altLang="en-US" sz="2400" dirty="0" smtClean="0">
                <a:ea typeface="宋体" charset="-122"/>
              </a:rPr>
              <a:t>基类说明一般性的属性和服务，派生类说明特殊属性和服务。</a:t>
            </a:r>
            <a:endParaRPr lang="en-US" altLang="zh-CN" sz="2400" dirty="0" smtClean="0">
              <a:ea typeface="宋体" charset="-122"/>
            </a:endParaRPr>
          </a:p>
          <a:p>
            <a:pPr>
              <a:defRPr/>
            </a:pPr>
            <a:r>
              <a:rPr lang="zh-CN" altLang="en-US" sz="2400" b="1" dirty="0" smtClean="0">
                <a:solidFill>
                  <a:srgbClr val="FF0000"/>
                </a:solidFill>
                <a:effectLst>
                  <a:outerShdw blurRad="38100" dist="38100" dir="2700000" algn="tl">
                    <a:srgbClr val="C0C0C0"/>
                  </a:outerShdw>
                </a:effectLst>
                <a:ea typeface="宋体" charset="-122"/>
              </a:rPr>
              <a:t>如</a:t>
            </a:r>
            <a:r>
              <a:rPr lang="zh-CN" altLang="en-US" sz="2400" dirty="0" smtClean="0">
                <a:ea typeface="宋体" charset="-122"/>
              </a:rPr>
              <a:t>：抵押是借贷中具体的一种，抵押保持了借贷的基本特性并且加入了附加的特性。</a:t>
            </a:r>
            <a:endParaRPr lang="en-US" altLang="zh-CN" sz="2400" dirty="0" smtClean="0">
              <a:ea typeface="宋体" charset="-122"/>
            </a:endParaRPr>
          </a:p>
          <a:p>
            <a:pPr>
              <a:defRPr/>
            </a:pPr>
            <a:r>
              <a:rPr lang="zh-CN" altLang="en-US" sz="2400" dirty="0" smtClean="0">
                <a:ea typeface="宋体" charset="-122"/>
              </a:rPr>
              <a:t>说法：父类</a:t>
            </a:r>
            <a:r>
              <a:rPr lang="en-US" altLang="zh-CN" sz="2400" dirty="0" smtClean="0">
                <a:ea typeface="宋体" charset="-122"/>
              </a:rPr>
              <a:t>-</a:t>
            </a:r>
            <a:r>
              <a:rPr lang="zh-CN" altLang="en-US" sz="2400" dirty="0" smtClean="0">
                <a:ea typeface="宋体" charset="-122"/>
              </a:rPr>
              <a:t>子类；超类</a:t>
            </a:r>
            <a:r>
              <a:rPr lang="en-US" altLang="zh-CN" sz="2400" dirty="0" smtClean="0">
                <a:ea typeface="宋体" charset="-122"/>
              </a:rPr>
              <a:t>-</a:t>
            </a:r>
            <a:r>
              <a:rPr lang="zh-CN" altLang="en-US" sz="2400" dirty="0" smtClean="0">
                <a:ea typeface="宋体" charset="-122"/>
              </a:rPr>
              <a:t>子类；基类</a:t>
            </a:r>
            <a:r>
              <a:rPr lang="en-US" altLang="zh-CN" sz="2400" dirty="0" smtClean="0">
                <a:ea typeface="宋体" charset="-122"/>
              </a:rPr>
              <a:t>-</a:t>
            </a:r>
            <a:r>
              <a:rPr lang="zh-CN" altLang="en-US" sz="2400" dirty="0" smtClean="0">
                <a:ea typeface="宋体" charset="-122"/>
              </a:rPr>
              <a:t>派生类；一般化类</a:t>
            </a:r>
            <a:r>
              <a:rPr lang="en-US" altLang="zh-CN" sz="2400" dirty="0" smtClean="0">
                <a:ea typeface="宋体" charset="-122"/>
              </a:rPr>
              <a:t>-</a:t>
            </a:r>
            <a:r>
              <a:rPr lang="zh-CN" altLang="en-US" sz="2400" dirty="0" smtClean="0">
                <a:ea typeface="宋体" charset="-122"/>
              </a:rPr>
              <a:t>具体类。</a:t>
            </a:r>
            <a:endParaRPr lang="en-US" altLang="zh-CN" sz="2400" dirty="0" smtClean="0">
              <a:ea typeface="宋体" charset="-122"/>
            </a:endParaRPr>
          </a:p>
          <a:p>
            <a:pPr>
              <a:defRPr/>
            </a:pPr>
            <a:endParaRPr lang="zh-CN" altLang="en-US" sz="2400" dirty="0" smtClean="0">
              <a:ea typeface="宋体" charset="-122"/>
            </a:endParaRPr>
          </a:p>
          <a:p>
            <a:pPr>
              <a:defRPr/>
            </a:pPr>
            <a:endParaRPr lang="zh-CN" altLang="en-US" dirty="0" smtClean="0">
              <a:ea typeface="宋体" charset="-122"/>
            </a:endParaRPr>
          </a:p>
        </p:txBody>
      </p:sp>
      <p:sp>
        <p:nvSpPr>
          <p:cNvPr id="27652" name="灯片编号占位符 3"/>
          <p:cNvSpPr>
            <a:spLocks noGrp="1"/>
          </p:cNvSpPr>
          <p:nvPr>
            <p:ph type="sldNum" sz="quarter" idx="12"/>
          </p:nvPr>
        </p:nvSpPr>
        <p:spPr>
          <a:noFill/>
        </p:spPr>
        <p:txBody>
          <a:bodyPr/>
          <a:lstStyle/>
          <a:p>
            <a:fld id="{03FE316E-AB2F-4D19-828E-ABFC830D41E9}" type="slidenum">
              <a:rPr lang="en-US" altLang="zh-CN" smtClean="0"/>
              <a:pPr/>
              <a:t>53</a:t>
            </a:fld>
            <a:endParaRPr lang="en-US" altLang="zh-CN" smtClean="0"/>
          </a:p>
        </p:txBody>
      </p:sp>
      <p:pic>
        <p:nvPicPr>
          <p:cNvPr id="5" name="Picture 2"/>
          <p:cNvPicPr>
            <a:picLocks noChangeAspect="1" noChangeArrowheads="1"/>
          </p:cNvPicPr>
          <p:nvPr/>
        </p:nvPicPr>
        <p:blipFill>
          <a:blip r:embed="rId2"/>
          <a:srcRect/>
          <a:stretch>
            <a:fillRect/>
          </a:stretch>
        </p:blipFill>
        <p:spPr bwMode="auto">
          <a:xfrm>
            <a:off x="2571750" y="3429000"/>
            <a:ext cx="3689350" cy="3028950"/>
          </a:xfrm>
          <a:prstGeom prst="rect">
            <a:avLst/>
          </a:prstGeom>
          <a:ln>
            <a:noFill/>
          </a:ln>
          <a:effectLst>
            <a:outerShdw blurRad="292100" dist="139700" dir="2700000" algn="tl" rotWithShape="0">
              <a:srgbClr val="333333">
                <a:alpha val="65000"/>
              </a:srgbClr>
            </a:outerShdw>
          </a:effectLst>
        </p:spPr>
      </p:pic>
      <p:pic>
        <p:nvPicPr>
          <p:cNvPr id="46082" name="Picture 2" descr="http://www.uml.org.cn/oobject/images/10bfdb9d-ed2d-4226-bab2-f814d2e10a82.jpg"/>
          <p:cNvPicPr>
            <a:picLocks noChangeAspect="1" noChangeArrowheads="1"/>
          </p:cNvPicPr>
          <p:nvPr/>
        </p:nvPicPr>
        <p:blipFill>
          <a:blip r:embed="rId3"/>
          <a:srcRect/>
          <a:stretch>
            <a:fillRect/>
          </a:stretch>
        </p:blipFill>
        <p:spPr bwMode="auto">
          <a:xfrm>
            <a:off x="6429375" y="4143375"/>
            <a:ext cx="2181225" cy="13716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6082"/>
                                        </p:tgtEl>
                                        <p:attrNameLst>
                                          <p:attrName>style.visibility</p:attrName>
                                        </p:attrNameLst>
                                      </p:cBhvr>
                                      <p:to>
                                        <p:strVal val="visible"/>
                                      </p:to>
                                    </p:set>
                                    <p:anim calcmode="lin" valueType="num">
                                      <p:cBhvr additive="base">
                                        <p:cTn id="11" dur="500" fill="hold"/>
                                        <p:tgtEl>
                                          <p:spTgt spid="46082"/>
                                        </p:tgtEl>
                                        <p:attrNameLst>
                                          <p:attrName>ppt_x</p:attrName>
                                        </p:attrNameLst>
                                      </p:cBhvr>
                                      <p:tavLst>
                                        <p:tav tm="0">
                                          <p:val>
                                            <p:strVal val="#ppt_x"/>
                                          </p:val>
                                        </p:tav>
                                        <p:tav tm="100000">
                                          <p:val>
                                            <p:strVal val="#ppt_x"/>
                                          </p:val>
                                        </p:tav>
                                      </p:tavLst>
                                    </p:anim>
                                    <p:anim calcmode="lin" valueType="num">
                                      <p:cBhvr additive="base">
                                        <p:cTn id="12" dur="500" fill="hold"/>
                                        <p:tgtEl>
                                          <p:spTgt spid="460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sz="3200" dirty="0" smtClean="0">
                <a:ea typeface="宋体" charset="-122"/>
              </a:rPr>
              <a:t>2</a:t>
            </a:r>
            <a:r>
              <a:rPr lang="zh-CN" altLang="en-US" sz="3200" dirty="0" smtClean="0">
                <a:ea typeface="宋体" charset="-122"/>
              </a:rPr>
              <a:t>、</a:t>
            </a:r>
            <a:r>
              <a:rPr lang="zh-CN" altLang="en-US" sz="3200" b="1" dirty="0" smtClean="0">
                <a:solidFill>
                  <a:srgbClr val="FF0000"/>
                </a:solidFill>
                <a:effectLst>
                  <a:outerShdw blurRad="38100" dist="38100" dir="2700000" algn="tl">
                    <a:srgbClr val="C0C0C0"/>
                  </a:outerShdw>
                </a:effectLst>
                <a:ea typeface="宋体" charset="-122"/>
              </a:rPr>
              <a:t>聚合关系（</a:t>
            </a:r>
            <a:r>
              <a:rPr lang="en-US" altLang="zh-CN" sz="3200" b="1" dirty="0" smtClean="0">
                <a:solidFill>
                  <a:srgbClr val="FF0000"/>
                </a:solidFill>
                <a:effectLst>
                  <a:outerShdw blurRad="38100" dist="38100" dir="2700000" algn="tl">
                    <a:srgbClr val="C0C0C0"/>
                  </a:outerShdw>
                </a:effectLst>
                <a:ea typeface="宋体" charset="-122"/>
              </a:rPr>
              <a:t>Aggregation</a:t>
            </a:r>
            <a:r>
              <a:rPr lang="zh-CN" altLang="en-US" sz="3200" b="1" dirty="0" smtClean="0">
                <a:solidFill>
                  <a:srgbClr val="FF0000"/>
                </a:solidFill>
                <a:effectLst>
                  <a:outerShdw blurRad="38100" dist="38100" dir="2700000" algn="tl">
                    <a:srgbClr val="C0C0C0"/>
                  </a:outerShdw>
                </a:effectLst>
                <a:ea typeface="宋体" charset="-122"/>
              </a:rPr>
              <a:t>）</a:t>
            </a:r>
          </a:p>
        </p:txBody>
      </p:sp>
      <p:sp>
        <p:nvSpPr>
          <p:cNvPr id="3" name="内容占位符 2"/>
          <p:cNvSpPr>
            <a:spLocks noGrp="1"/>
          </p:cNvSpPr>
          <p:nvPr>
            <p:ph idx="1"/>
          </p:nvPr>
        </p:nvSpPr>
        <p:spPr>
          <a:xfrm>
            <a:off x="685800" y="1447800"/>
            <a:ext cx="8001000" cy="4695825"/>
          </a:xfrm>
        </p:spPr>
        <p:txBody>
          <a:bodyPr/>
          <a:lstStyle/>
          <a:p>
            <a:pPr>
              <a:defRPr/>
            </a:pPr>
            <a:r>
              <a:rPr lang="zh-CN" altLang="en-US" sz="2400" dirty="0" smtClean="0">
                <a:ea typeface="宋体" charset="-122"/>
              </a:rPr>
              <a:t>就是“整体</a:t>
            </a:r>
            <a:r>
              <a:rPr lang="en-US" altLang="zh-CN" sz="2400" dirty="0" smtClean="0">
                <a:ea typeface="宋体" charset="-122"/>
              </a:rPr>
              <a:t>-</a:t>
            </a:r>
            <a:r>
              <a:rPr lang="zh-CN" altLang="en-US" sz="2400" dirty="0" smtClean="0">
                <a:ea typeface="宋体" charset="-122"/>
              </a:rPr>
              <a:t>部分”关系，反映了对象之间的构成关系。聚合是关联关系的一种，是较强的关联关系，强调的是整体与部分之间的关系。</a:t>
            </a:r>
            <a:endParaRPr lang="en-US" altLang="zh-CN" sz="2400" dirty="0" smtClean="0">
              <a:ea typeface="宋体" charset="-122"/>
            </a:endParaRPr>
          </a:p>
          <a:p>
            <a:pPr>
              <a:defRPr/>
            </a:pPr>
            <a:r>
              <a:rPr lang="zh-CN" altLang="en-US" sz="2400" dirty="0" smtClean="0">
                <a:ea typeface="宋体" charset="-122"/>
              </a:rPr>
              <a:t>另外，更加紧密的聚合关系称为</a:t>
            </a:r>
            <a:r>
              <a:rPr lang="zh-CN" altLang="en-US" sz="2400" b="1" dirty="0" smtClean="0">
                <a:solidFill>
                  <a:srgbClr val="FF0000"/>
                </a:solidFill>
                <a:effectLst>
                  <a:outerShdw blurRad="38100" dist="38100" dir="2700000" algn="tl">
                    <a:srgbClr val="C0C0C0"/>
                  </a:outerShdw>
                </a:effectLst>
                <a:ea typeface="宋体" charset="-122"/>
              </a:rPr>
              <a:t>组合（</a:t>
            </a:r>
            <a:r>
              <a:rPr lang="en-US" altLang="zh-CN" sz="2400" b="1" dirty="0" smtClean="0">
                <a:solidFill>
                  <a:srgbClr val="FF0000"/>
                </a:solidFill>
                <a:effectLst>
                  <a:outerShdw blurRad="38100" dist="38100" dir="2700000" algn="tl">
                    <a:srgbClr val="C0C0C0"/>
                  </a:outerShdw>
                </a:effectLst>
                <a:ea typeface="宋体" charset="-122"/>
              </a:rPr>
              <a:t>Composition</a:t>
            </a:r>
            <a:r>
              <a:rPr lang="zh-CN" altLang="en-US" sz="2400" b="1" dirty="0" smtClean="0">
                <a:solidFill>
                  <a:srgbClr val="FFFF00"/>
                </a:solidFill>
                <a:effectLst>
                  <a:outerShdw blurRad="38100" dist="38100" dir="2700000" algn="tl">
                    <a:srgbClr val="C0C0C0"/>
                  </a:outerShdw>
                </a:effectLst>
                <a:ea typeface="宋体" charset="-122"/>
              </a:rPr>
              <a:t>）</a:t>
            </a:r>
            <a:r>
              <a:rPr lang="zh-CN" altLang="en-US" sz="2400" dirty="0" smtClean="0">
                <a:ea typeface="宋体" charset="-122"/>
              </a:rPr>
              <a:t>关系。对于组合关系，整体对象会制约它的组成对象的生命周期。部分类的对象不能单独存在，它的生命周期依赖于整体类的对象的生命周期，当整体消失，部分也就随之消失。</a:t>
            </a:r>
            <a:endParaRPr lang="en-US" altLang="zh-CN" sz="2400" dirty="0" smtClean="0">
              <a:ea typeface="宋体" charset="-122"/>
            </a:endParaRPr>
          </a:p>
          <a:p>
            <a:pPr>
              <a:defRPr/>
            </a:pPr>
            <a:endParaRPr lang="en-US" altLang="zh-CN" sz="2400" b="1" dirty="0" smtClean="0">
              <a:solidFill>
                <a:srgbClr val="FFC000"/>
              </a:solidFill>
              <a:effectLst>
                <a:outerShdw blurRad="38100" dist="38100" dir="2700000" algn="tl">
                  <a:srgbClr val="C0C0C0"/>
                </a:outerShdw>
              </a:effectLst>
              <a:ea typeface="宋体" charset="-122"/>
            </a:endParaRPr>
          </a:p>
          <a:p>
            <a:pPr>
              <a:defRPr/>
            </a:pPr>
            <a:r>
              <a:rPr lang="zh-CN" altLang="en-US" sz="2400" b="1" dirty="0" smtClean="0">
                <a:solidFill>
                  <a:srgbClr val="FF0000"/>
                </a:solidFill>
                <a:effectLst>
                  <a:outerShdw blurRad="38100" dist="38100" dir="2700000" algn="tl">
                    <a:srgbClr val="C0C0C0"/>
                  </a:outerShdw>
                </a:effectLst>
                <a:ea typeface="宋体" charset="-122"/>
              </a:rPr>
              <a:t>注意：</a:t>
            </a:r>
            <a:r>
              <a:rPr lang="zh-CN" altLang="en-US" sz="2400" dirty="0" smtClean="0">
                <a:solidFill>
                  <a:srgbClr val="FF0000"/>
                </a:solidFill>
                <a:ea typeface="宋体" charset="-122"/>
              </a:rPr>
              <a:t>在</a:t>
            </a:r>
            <a:r>
              <a:rPr lang="en-US" altLang="zh-CN" sz="2400" dirty="0" smtClean="0">
                <a:solidFill>
                  <a:srgbClr val="FF0000"/>
                </a:solidFill>
                <a:ea typeface="宋体" charset="-122"/>
              </a:rPr>
              <a:t>UML</a:t>
            </a:r>
            <a:r>
              <a:rPr lang="zh-CN" altLang="en-US" sz="2400" dirty="0" smtClean="0">
                <a:solidFill>
                  <a:srgbClr val="FF0000"/>
                </a:solidFill>
                <a:ea typeface="宋体" charset="-122"/>
              </a:rPr>
              <a:t>参考手册中的论述：聚合表示部分与整体关</a:t>
            </a:r>
            <a:r>
              <a:rPr lang="zh-CN" altLang="en-US" sz="2400" dirty="0" smtClean="0">
                <a:ea typeface="宋体" charset="-122"/>
              </a:rPr>
              <a:t>系的关联；组合（或组成）是更强形式的关联，整体有管理部分的特有的职责。</a:t>
            </a:r>
          </a:p>
        </p:txBody>
      </p:sp>
      <p:sp>
        <p:nvSpPr>
          <p:cNvPr id="28676" name="灯片编号占位符 3"/>
          <p:cNvSpPr>
            <a:spLocks noGrp="1"/>
          </p:cNvSpPr>
          <p:nvPr>
            <p:ph type="sldNum" sz="quarter" idx="12"/>
          </p:nvPr>
        </p:nvSpPr>
        <p:spPr>
          <a:noFill/>
        </p:spPr>
        <p:txBody>
          <a:bodyPr/>
          <a:lstStyle/>
          <a:p>
            <a:fld id="{927DA2BA-0DFC-415A-8575-55D475001CB8}" type="slidenum">
              <a:rPr lang="en-US" altLang="zh-CN" smtClean="0"/>
              <a:pPr/>
              <a:t>54</a:t>
            </a:fld>
            <a:endParaRPr lang="en-US" altLang="zh-CN" smtClean="0"/>
          </a:p>
        </p:txBody>
      </p:sp>
      <p:pic>
        <p:nvPicPr>
          <p:cNvPr id="5" name="Picture 2"/>
          <p:cNvPicPr>
            <a:picLocks noChangeAspect="1" noChangeArrowheads="1"/>
          </p:cNvPicPr>
          <p:nvPr/>
        </p:nvPicPr>
        <p:blipFill>
          <a:blip r:embed="rId2"/>
          <a:srcRect/>
          <a:stretch>
            <a:fillRect/>
          </a:stretch>
        </p:blipFill>
        <p:spPr bwMode="auto">
          <a:xfrm>
            <a:off x="1285875" y="1143000"/>
            <a:ext cx="3867150" cy="742950"/>
          </a:xfrm>
          <a:prstGeom prst="rect">
            <a:avLst/>
          </a:prstGeom>
          <a:ln>
            <a:noFill/>
          </a:ln>
          <a:effectLst>
            <a:outerShdw blurRad="292100" dist="139700" dir="2700000" algn="tl" rotWithShape="0">
              <a:srgbClr val="333333">
                <a:alpha val="65000"/>
              </a:srgbClr>
            </a:outerShdw>
          </a:effectLst>
        </p:spPr>
      </p:pic>
      <p:pic>
        <p:nvPicPr>
          <p:cNvPr id="6" name="Picture 4"/>
          <p:cNvPicPr>
            <a:picLocks noChangeAspect="1" noChangeArrowheads="1"/>
          </p:cNvPicPr>
          <p:nvPr/>
        </p:nvPicPr>
        <p:blipFill>
          <a:blip r:embed="rId3"/>
          <a:srcRect/>
          <a:stretch>
            <a:fillRect/>
          </a:stretch>
        </p:blipFill>
        <p:spPr bwMode="auto">
          <a:xfrm>
            <a:off x="4714875" y="3071813"/>
            <a:ext cx="3819525" cy="257175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en-US" altLang="zh-CN" sz="3200" smtClean="0">
                <a:ea typeface="宋体" charset="-122"/>
              </a:rPr>
              <a:t>2</a:t>
            </a:r>
            <a:r>
              <a:rPr lang="zh-CN" altLang="en-US" sz="3200" smtClean="0">
                <a:ea typeface="宋体" charset="-122"/>
              </a:rPr>
              <a:t>、聚合关系</a:t>
            </a:r>
            <a:r>
              <a:rPr lang="en-US" altLang="zh-CN" sz="3200" smtClean="0">
                <a:ea typeface="宋体" charset="-122"/>
              </a:rPr>
              <a:t>——</a:t>
            </a:r>
            <a:r>
              <a:rPr lang="zh-CN" altLang="en-US" sz="3200" smtClean="0">
                <a:ea typeface="宋体" charset="-122"/>
              </a:rPr>
              <a:t>举例</a:t>
            </a:r>
          </a:p>
        </p:txBody>
      </p:sp>
      <p:sp>
        <p:nvSpPr>
          <p:cNvPr id="29699" name="灯片编号占位符 3"/>
          <p:cNvSpPr>
            <a:spLocks noGrp="1"/>
          </p:cNvSpPr>
          <p:nvPr>
            <p:ph type="sldNum" sz="quarter" idx="12"/>
          </p:nvPr>
        </p:nvSpPr>
        <p:spPr>
          <a:noFill/>
        </p:spPr>
        <p:txBody>
          <a:bodyPr/>
          <a:lstStyle/>
          <a:p>
            <a:fld id="{0B9CE25B-293D-4085-B6E5-6A4FE27FFC59}" type="slidenum">
              <a:rPr lang="en-US" altLang="zh-CN" smtClean="0"/>
              <a:pPr/>
              <a:t>55</a:t>
            </a:fld>
            <a:endParaRPr lang="en-US" altLang="zh-CN" smtClean="0"/>
          </a:p>
        </p:txBody>
      </p:sp>
      <p:pic>
        <p:nvPicPr>
          <p:cNvPr id="29700" name="Picture 2" descr="http://www.uml.org.cn/oobject/images/7032798b-36ca-4b89-a462-97ba056cbe48.jpg"/>
          <p:cNvPicPr>
            <a:picLocks noChangeAspect="1" noChangeArrowheads="1"/>
          </p:cNvPicPr>
          <p:nvPr/>
        </p:nvPicPr>
        <p:blipFill>
          <a:blip r:embed="rId2"/>
          <a:srcRect/>
          <a:stretch>
            <a:fillRect/>
          </a:stretch>
        </p:blipFill>
        <p:spPr bwMode="auto">
          <a:xfrm>
            <a:off x="282590" y="1556792"/>
            <a:ext cx="3341673" cy="1996033"/>
          </a:xfrm>
          <a:prstGeom prst="rect">
            <a:avLst/>
          </a:prstGeom>
          <a:noFill/>
          <a:ln w="9525">
            <a:noFill/>
            <a:miter lim="800000"/>
            <a:headEnd/>
            <a:tailEnd/>
          </a:ln>
        </p:spPr>
      </p:pic>
      <p:sp>
        <p:nvSpPr>
          <p:cNvPr id="6" name="TextBox 5"/>
          <p:cNvSpPr txBox="1"/>
          <p:nvPr/>
        </p:nvSpPr>
        <p:spPr>
          <a:xfrm>
            <a:off x="4067944" y="2071688"/>
            <a:ext cx="4623619" cy="36925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en-US" altLang="zh-CN" dirty="0"/>
              <a:t>    public class Computer{    </a:t>
            </a:r>
          </a:p>
          <a:p>
            <a:pPr>
              <a:defRPr/>
            </a:pPr>
            <a:r>
              <a:rPr lang="en-US" altLang="zh-CN" dirty="0"/>
              <a:t>          private CPU </a:t>
            </a:r>
            <a:r>
              <a:rPr lang="en-US" altLang="zh-CN" dirty="0" err="1"/>
              <a:t>cpu</a:t>
            </a:r>
            <a:r>
              <a:rPr lang="en-US" altLang="zh-CN" dirty="0"/>
              <a:t>;    </a:t>
            </a:r>
          </a:p>
          <a:p>
            <a:pPr>
              <a:defRPr/>
            </a:pPr>
            <a:r>
              <a:rPr lang="en-US" altLang="zh-CN" dirty="0"/>
              <a:t>          public CPU </a:t>
            </a:r>
            <a:r>
              <a:rPr lang="en-US" altLang="zh-CN" dirty="0" err="1"/>
              <a:t>getCPU</a:t>
            </a:r>
            <a:r>
              <a:rPr lang="en-US" altLang="zh-CN" dirty="0"/>
              <a:t>(){    </a:t>
            </a:r>
          </a:p>
          <a:p>
            <a:pPr>
              <a:defRPr/>
            </a:pPr>
            <a:r>
              <a:rPr lang="en-US" altLang="zh-CN" dirty="0"/>
              <a:t>                return </a:t>
            </a:r>
            <a:r>
              <a:rPr lang="en-US" altLang="zh-CN" dirty="0" err="1"/>
              <a:t>cpu</a:t>
            </a:r>
            <a:r>
              <a:rPr lang="en-US" altLang="zh-CN" dirty="0"/>
              <a:t>;    </a:t>
            </a:r>
          </a:p>
          <a:p>
            <a:pPr>
              <a:defRPr/>
            </a:pPr>
            <a:r>
              <a:rPr lang="en-US" altLang="zh-CN" dirty="0"/>
              <a:t>          }    </a:t>
            </a:r>
          </a:p>
          <a:p>
            <a:pPr>
              <a:defRPr/>
            </a:pPr>
            <a:r>
              <a:rPr lang="en-US" altLang="zh-CN" dirty="0"/>
              <a:t>          public void </a:t>
            </a:r>
            <a:r>
              <a:rPr lang="en-US" altLang="zh-CN" dirty="0" err="1"/>
              <a:t>setCPU</a:t>
            </a:r>
            <a:r>
              <a:rPr lang="en-US" altLang="zh-CN" dirty="0"/>
              <a:t>(CPU </a:t>
            </a:r>
            <a:r>
              <a:rPr lang="en-US" altLang="zh-CN" dirty="0" err="1"/>
              <a:t>cpu</a:t>
            </a:r>
            <a:r>
              <a:rPr lang="en-US" altLang="zh-CN" dirty="0"/>
              <a:t>){    </a:t>
            </a:r>
          </a:p>
          <a:p>
            <a:pPr>
              <a:defRPr/>
            </a:pPr>
            <a:r>
              <a:rPr lang="en-US" altLang="zh-CN" dirty="0"/>
              <a:t>                this.cpu=</a:t>
            </a:r>
            <a:r>
              <a:rPr lang="en-US" altLang="zh-CN" dirty="0" err="1"/>
              <a:t>cpu</a:t>
            </a:r>
            <a:r>
              <a:rPr lang="en-US" altLang="zh-CN" dirty="0"/>
              <a:t>;    </a:t>
            </a:r>
          </a:p>
          <a:p>
            <a:pPr>
              <a:defRPr/>
            </a:pPr>
            <a:r>
              <a:rPr lang="en-US" altLang="zh-CN" dirty="0"/>
              <a:t>           }    </a:t>
            </a:r>
          </a:p>
          <a:p>
            <a:pPr>
              <a:defRPr/>
            </a:pPr>
            <a:r>
              <a:rPr lang="en-US" altLang="zh-CN" dirty="0"/>
              <a:t>          //</a:t>
            </a:r>
            <a:r>
              <a:rPr lang="zh-CN" altLang="en-US" dirty="0"/>
              <a:t>开启电脑    </a:t>
            </a:r>
          </a:p>
          <a:p>
            <a:pPr>
              <a:defRPr/>
            </a:pPr>
            <a:r>
              <a:rPr lang="zh-CN" altLang="en-US" dirty="0"/>
              <a:t>          </a:t>
            </a:r>
            <a:r>
              <a:rPr lang="en-US" altLang="zh-CN" dirty="0"/>
              <a:t>public void start(){    </a:t>
            </a:r>
          </a:p>
          <a:p>
            <a:pPr>
              <a:defRPr/>
            </a:pPr>
            <a:r>
              <a:rPr lang="en-US" altLang="zh-CN" dirty="0"/>
              <a:t>	</a:t>
            </a:r>
            <a:r>
              <a:rPr lang="en-US" altLang="zh-CN" dirty="0" err="1"/>
              <a:t>cpu.run</a:t>
            </a:r>
            <a:r>
              <a:rPr lang="en-US" altLang="zh-CN" dirty="0"/>
              <a:t>(); //</a:t>
            </a:r>
            <a:r>
              <a:rPr lang="en-US" altLang="zh-CN" dirty="0" err="1"/>
              <a:t>cpu</a:t>
            </a:r>
            <a:r>
              <a:rPr lang="zh-CN" altLang="en-US" dirty="0"/>
              <a:t>运作</a:t>
            </a:r>
            <a:endParaRPr lang="en-US" altLang="zh-CN" dirty="0"/>
          </a:p>
          <a:p>
            <a:pPr>
              <a:defRPr/>
            </a:pPr>
            <a:r>
              <a:rPr lang="en-US" altLang="zh-CN" dirty="0"/>
              <a:t>          }</a:t>
            </a:r>
          </a:p>
          <a:p>
            <a:pPr>
              <a:defRPr/>
            </a:pPr>
            <a:r>
              <a:rPr lang="en-US" altLang="zh-CN" dirty="0"/>
              <a:t>    }    </a:t>
            </a:r>
          </a:p>
        </p:txBody>
      </p:sp>
      <p:sp>
        <p:nvSpPr>
          <p:cNvPr id="7" name="TextBox 6"/>
          <p:cNvSpPr txBox="1"/>
          <p:nvPr/>
        </p:nvSpPr>
        <p:spPr>
          <a:xfrm>
            <a:off x="611560" y="4293096"/>
            <a:ext cx="4185761" cy="461665"/>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sz="2400" dirty="0"/>
              <a:t>聚合关系通过实例变量来实现</a:t>
            </a: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en-US" altLang="zh-CN" sz="3200" smtClean="0">
                <a:ea typeface="宋体" charset="-122"/>
              </a:rPr>
              <a:t>3</a:t>
            </a:r>
            <a:r>
              <a:rPr lang="zh-CN" altLang="en-US" sz="3200" smtClean="0">
                <a:ea typeface="宋体" charset="-122"/>
              </a:rPr>
              <a:t>、关联关系（</a:t>
            </a:r>
            <a:r>
              <a:rPr lang="en-US" altLang="zh-CN" sz="3200" smtClean="0">
                <a:ea typeface="宋体" charset="-122"/>
              </a:rPr>
              <a:t>Association</a:t>
            </a:r>
            <a:r>
              <a:rPr lang="zh-CN" altLang="en-US" sz="3200" smtClean="0">
                <a:ea typeface="宋体" charset="-122"/>
              </a:rPr>
              <a:t>）</a:t>
            </a:r>
          </a:p>
        </p:txBody>
      </p:sp>
      <p:sp>
        <p:nvSpPr>
          <p:cNvPr id="3" name="内容占位符 2"/>
          <p:cNvSpPr>
            <a:spLocks noGrp="1"/>
          </p:cNvSpPr>
          <p:nvPr>
            <p:ph idx="1"/>
          </p:nvPr>
        </p:nvSpPr>
        <p:spPr/>
        <p:txBody>
          <a:bodyPr/>
          <a:lstStyle/>
          <a:p>
            <a:r>
              <a:rPr lang="zh-CN" altLang="en-US" sz="2400" smtClean="0">
                <a:ea typeface="宋体" charset="-122"/>
              </a:rPr>
              <a:t>关联反映了对象之间相互依赖、相互作用的关系。当一个对象的实例与另一个对象的一些特定实例存在固定的对应关系时，这两个对象之间为关联关系。</a:t>
            </a:r>
            <a:endParaRPr lang="en-US" altLang="zh-CN" sz="2400" smtClean="0">
              <a:ea typeface="宋体" charset="-122"/>
            </a:endParaRPr>
          </a:p>
          <a:p>
            <a:r>
              <a:rPr lang="zh-CN" altLang="en-US" sz="2400" smtClean="0">
                <a:ea typeface="宋体" charset="-122"/>
              </a:rPr>
              <a:t>关联通常分为一对一、一对多和多对多三种基本类型。参与关联的对象的个数称为阶，也称为重数或基数。</a:t>
            </a:r>
            <a:endParaRPr lang="en-US" altLang="zh-CN" sz="2400" smtClean="0">
              <a:ea typeface="宋体" charset="-122"/>
            </a:endParaRPr>
          </a:p>
          <a:p>
            <a:r>
              <a:rPr lang="zh-CN" altLang="en-US" sz="2400" smtClean="0">
                <a:ea typeface="宋体" charset="-122"/>
              </a:rPr>
              <a:t>举例：</a:t>
            </a:r>
          </a:p>
        </p:txBody>
      </p:sp>
      <p:sp>
        <p:nvSpPr>
          <p:cNvPr id="30724" name="灯片编号占位符 3"/>
          <p:cNvSpPr>
            <a:spLocks noGrp="1"/>
          </p:cNvSpPr>
          <p:nvPr>
            <p:ph type="sldNum" sz="quarter" idx="12"/>
          </p:nvPr>
        </p:nvSpPr>
        <p:spPr>
          <a:noFill/>
        </p:spPr>
        <p:txBody>
          <a:bodyPr/>
          <a:lstStyle/>
          <a:p>
            <a:fld id="{AFA218C3-55EB-444A-AC63-357EB42B44ED}" type="slidenum">
              <a:rPr lang="en-US" altLang="zh-CN" smtClean="0"/>
              <a:pPr/>
              <a:t>56</a:t>
            </a:fld>
            <a:endParaRPr lang="en-US" altLang="zh-CN" smtClean="0"/>
          </a:p>
        </p:txBody>
      </p:sp>
      <p:pic>
        <p:nvPicPr>
          <p:cNvPr id="30725" name="Picture 2" descr="http://www.uml.org.cn/oobject/images/d4b10677-364d-4c34-beb7-416f8e835d8c.jpg"/>
          <p:cNvPicPr>
            <a:picLocks noChangeAspect="1" noChangeArrowheads="1"/>
          </p:cNvPicPr>
          <p:nvPr/>
        </p:nvPicPr>
        <p:blipFill>
          <a:blip r:embed="rId2"/>
          <a:srcRect/>
          <a:stretch>
            <a:fillRect/>
          </a:stretch>
        </p:blipFill>
        <p:spPr bwMode="auto">
          <a:xfrm>
            <a:off x="353780" y="4541032"/>
            <a:ext cx="3330817" cy="652428"/>
          </a:xfrm>
          <a:prstGeom prst="rect">
            <a:avLst/>
          </a:prstGeom>
          <a:noFill/>
          <a:ln w="9525">
            <a:noFill/>
            <a:miter lim="800000"/>
            <a:headEnd/>
            <a:tailEnd/>
          </a:ln>
        </p:spPr>
      </p:pic>
      <p:sp>
        <p:nvSpPr>
          <p:cNvPr id="6" name="TextBox 5"/>
          <p:cNvSpPr txBox="1"/>
          <p:nvPr/>
        </p:nvSpPr>
        <p:spPr>
          <a:xfrm>
            <a:off x="717219" y="5387168"/>
            <a:ext cx="2954655" cy="83099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zh-CN" altLang="en-US" sz="2400" dirty="0"/>
              <a:t>关联关系一般也通过</a:t>
            </a:r>
            <a:endParaRPr lang="en-US" altLang="zh-CN" sz="2400" dirty="0"/>
          </a:p>
          <a:p>
            <a:pPr>
              <a:defRPr/>
            </a:pPr>
            <a:r>
              <a:rPr lang="zh-CN" altLang="en-US" sz="2400" dirty="0"/>
              <a:t>实例变量来实现</a:t>
            </a:r>
          </a:p>
        </p:txBody>
      </p:sp>
      <p:sp>
        <p:nvSpPr>
          <p:cNvPr id="7" name="TextBox 6"/>
          <p:cNvSpPr txBox="1"/>
          <p:nvPr/>
        </p:nvSpPr>
        <p:spPr>
          <a:xfrm>
            <a:off x="3786188" y="2714625"/>
            <a:ext cx="5097462" cy="3692525"/>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altLang="zh-CN" dirty="0"/>
              <a:t>public class Company{    </a:t>
            </a:r>
          </a:p>
          <a:p>
            <a:pPr>
              <a:defRPr/>
            </a:pPr>
            <a:r>
              <a:rPr lang="en-US" altLang="zh-CN" dirty="0"/>
              <a:t>    private Employee </a:t>
            </a:r>
            <a:r>
              <a:rPr lang="en-US" altLang="zh-CN" dirty="0" err="1"/>
              <a:t>employee</a:t>
            </a:r>
            <a:r>
              <a:rPr lang="en-US" altLang="zh-CN" dirty="0"/>
              <a:t>;    </a:t>
            </a:r>
          </a:p>
          <a:p>
            <a:pPr>
              <a:defRPr/>
            </a:pPr>
            <a:r>
              <a:rPr lang="en-US" altLang="zh-CN" dirty="0"/>
              <a:t>    public Employee </a:t>
            </a:r>
            <a:r>
              <a:rPr lang="en-US" altLang="zh-CN" dirty="0" err="1"/>
              <a:t>getEmployee</a:t>
            </a:r>
            <a:r>
              <a:rPr lang="en-US" altLang="zh-CN" dirty="0"/>
              <a:t>(){    </a:t>
            </a:r>
          </a:p>
          <a:p>
            <a:pPr>
              <a:defRPr/>
            </a:pPr>
            <a:r>
              <a:rPr lang="en-US" altLang="zh-CN" dirty="0"/>
              <a:t>        return employee;    </a:t>
            </a:r>
          </a:p>
          <a:p>
            <a:pPr>
              <a:defRPr/>
            </a:pPr>
            <a:r>
              <a:rPr lang="en-US" altLang="zh-CN" dirty="0"/>
              <a:t>     }    </a:t>
            </a:r>
          </a:p>
          <a:p>
            <a:pPr>
              <a:defRPr/>
            </a:pPr>
            <a:r>
              <a:rPr lang="en-US" altLang="zh-CN" dirty="0"/>
              <a:t>    public void </a:t>
            </a:r>
            <a:r>
              <a:rPr lang="en-US" altLang="zh-CN" dirty="0" err="1"/>
              <a:t>setEmployee</a:t>
            </a:r>
            <a:r>
              <a:rPr lang="en-US" altLang="zh-CN" dirty="0"/>
              <a:t>(Employee </a:t>
            </a:r>
            <a:r>
              <a:rPr lang="en-US" altLang="zh-CN" dirty="0" err="1"/>
              <a:t>employee</a:t>
            </a:r>
            <a:r>
              <a:rPr lang="en-US" altLang="zh-CN" dirty="0"/>
              <a:t>){    </a:t>
            </a:r>
          </a:p>
          <a:p>
            <a:pPr>
              <a:defRPr/>
            </a:pPr>
            <a:r>
              <a:rPr lang="en-US" altLang="zh-CN" dirty="0"/>
              <a:t>        </a:t>
            </a:r>
            <a:r>
              <a:rPr lang="en-US" altLang="zh-CN" dirty="0" err="1"/>
              <a:t>this.employee</a:t>
            </a:r>
            <a:r>
              <a:rPr lang="en-US" altLang="zh-CN" dirty="0"/>
              <a:t>=employee;    </a:t>
            </a:r>
          </a:p>
          <a:p>
            <a:pPr>
              <a:defRPr/>
            </a:pPr>
            <a:r>
              <a:rPr lang="en-US" altLang="zh-CN" dirty="0"/>
              <a:t>     }    </a:t>
            </a:r>
          </a:p>
          <a:p>
            <a:pPr>
              <a:defRPr/>
            </a:pPr>
            <a:r>
              <a:rPr lang="en-US" altLang="zh-CN" dirty="0"/>
              <a:t>    //</a:t>
            </a:r>
            <a:r>
              <a:rPr lang="zh-CN" altLang="en-US" dirty="0"/>
              <a:t>公司运作    </a:t>
            </a:r>
          </a:p>
          <a:p>
            <a:pPr>
              <a:defRPr/>
            </a:pPr>
            <a:r>
              <a:rPr lang="zh-CN" altLang="en-US" dirty="0"/>
              <a:t>    </a:t>
            </a:r>
            <a:r>
              <a:rPr lang="en-US" altLang="zh-CN" dirty="0"/>
              <a:t>public void run(){    </a:t>
            </a:r>
          </a:p>
          <a:p>
            <a:pPr>
              <a:defRPr/>
            </a:pPr>
            <a:r>
              <a:rPr lang="en-US" altLang="zh-CN" dirty="0"/>
              <a:t>         </a:t>
            </a:r>
            <a:r>
              <a:rPr lang="en-US" altLang="zh-CN" dirty="0" err="1"/>
              <a:t>employee.startWorking</a:t>
            </a:r>
            <a:r>
              <a:rPr lang="en-US" altLang="zh-CN" dirty="0"/>
              <a:t>();    </a:t>
            </a:r>
          </a:p>
          <a:p>
            <a:pPr>
              <a:defRPr/>
            </a:pPr>
            <a:r>
              <a:rPr lang="en-US" altLang="zh-CN" dirty="0"/>
              <a:t>     }    </a:t>
            </a:r>
          </a:p>
          <a:p>
            <a:pPr>
              <a:defRPr/>
            </a:pPr>
            <a:r>
              <a:rPr lang="en-US" altLang="zh-CN" dirty="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en-US" altLang="zh-CN" sz="3200" smtClean="0">
                <a:ea typeface="宋体" charset="-122"/>
              </a:rPr>
              <a:t>3</a:t>
            </a:r>
            <a:r>
              <a:rPr lang="zh-CN" altLang="en-US" sz="3200" smtClean="0">
                <a:ea typeface="宋体" charset="-122"/>
              </a:rPr>
              <a:t>、关联关系</a:t>
            </a:r>
          </a:p>
        </p:txBody>
      </p:sp>
      <p:sp>
        <p:nvSpPr>
          <p:cNvPr id="31747" name="内容占位符 2"/>
          <p:cNvSpPr>
            <a:spLocks noGrp="1"/>
          </p:cNvSpPr>
          <p:nvPr>
            <p:ph idx="1"/>
          </p:nvPr>
        </p:nvSpPr>
        <p:spPr>
          <a:xfrm>
            <a:off x="685800" y="1447800"/>
            <a:ext cx="7702624" cy="4410075"/>
          </a:xfrm>
        </p:spPr>
        <p:txBody>
          <a:bodyPr/>
          <a:lstStyle/>
          <a:p>
            <a:r>
              <a:rPr lang="zh-CN" altLang="en-US" sz="2800" b="1" dirty="0" smtClean="0">
                <a:ea typeface="宋体" charset="-122"/>
              </a:rPr>
              <a:t>关联与聚合的区别</a:t>
            </a:r>
            <a:r>
              <a:rPr lang="zh-CN" altLang="en-US" dirty="0" smtClean="0">
                <a:ea typeface="宋体" charset="-122"/>
              </a:rPr>
              <a:t>：</a:t>
            </a:r>
            <a:endParaRPr lang="en-US" altLang="zh-CN" dirty="0" smtClean="0">
              <a:ea typeface="宋体" charset="-122"/>
            </a:endParaRPr>
          </a:p>
          <a:p>
            <a:pPr lvl="1"/>
            <a:r>
              <a:rPr lang="zh-CN" altLang="en-US" sz="2400" dirty="0" smtClean="0">
                <a:ea typeface="宋体" charset="-122"/>
              </a:rPr>
              <a:t>关联关系和聚合关系在</a:t>
            </a:r>
            <a:r>
              <a:rPr lang="zh-CN" altLang="en-US" sz="2400" dirty="0" smtClean="0">
                <a:solidFill>
                  <a:srgbClr val="FF0000"/>
                </a:solidFill>
                <a:ea typeface="宋体" charset="-122"/>
              </a:rPr>
              <a:t>语法上是很难区分</a:t>
            </a:r>
            <a:r>
              <a:rPr lang="zh-CN" altLang="en-US" sz="2400" dirty="0" smtClean="0">
                <a:ea typeface="宋体" charset="-122"/>
              </a:rPr>
              <a:t>的，从语义上才能更好地区分两者的区别。</a:t>
            </a:r>
          </a:p>
          <a:p>
            <a:pPr lvl="1"/>
            <a:r>
              <a:rPr lang="zh-CN" altLang="en-US" sz="2400" dirty="0" smtClean="0">
                <a:ea typeface="宋体" charset="-122"/>
              </a:rPr>
              <a:t>（</a:t>
            </a:r>
            <a:r>
              <a:rPr lang="en-US" altLang="zh-CN" sz="2400" dirty="0" smtClean="0">
                <a:ea typeface="宋体" charset="-122"/>
              </a:rPr>
              <a:t>1</a:t>
            </a:r>
            <a:r>
              <a:rPr lang="zh-CN" altLang="en-US" sz="2400" dirty="0" smtClean="0">
                <a:ea typeface="宋体" charset="-122"/>
              </a:rPr>
              <a:t>）关联关系所涉及的两个对象是处在</a:t>
            </a:r>
            <a:r>
              <a:rPr lang="zh-CN" altLang="en-US" sz="2400" dirty="0" smtClean="0">
                <a:solidFill>
                  <a:srgbClr val="FF0000"/>
                </a:solidFill>
                <a:ea typeface="宋体" charset="-122"/>
              </a:rPr>
              <a:t>同一个层次</a:t>
            </a:r>
            <a:r>
              <a:rPr lang="zh-CN" altLang="en-US" sz="2400" dirty="0" smtClean="0">
                <a:ea typeface="宋体" charset="-122"/>
              </a:rPr>
              <a:t>上的。比如人和自行车就是一种关联关系，而不是聚合关系，因为人不是由自行车组成的。</a:t>
            </a:r>
          </a:p>
          <a:p>
            <a:pPr lvl="1"/>
            <a:r>
              <a:rPr lang="zh-CN" altLang="en-US" sz="2400" dirty="0" smtClean="0">
                <a:ea typeface="宋体" charset="-122"/>
              </a:rPr>
              <a:t>（</a:t>
            </a:r>
            <a:r>
              <a:rPr lang="en-US" altLang="zh-CN" sz="2400" dirty="0" smtClean="0">
                <a:ea typeface="宋体" charset="-122"/>
              </a:rPr>
              <a:t>2</a:t>
            </a:r>
            <a:r>
              <a:rPr lang="zh-CN" altLang="en-US" sz="2400" dirty="0" smtClean="0">
                <a:ea typeface="宋体" charset="-122"/>
              </a:rPr>
              <a:t>）聚合关系涉及的两个对象处于</a:t>
            </a:r>
            <a:r>
              <a:rPr lang="zh-CN" altLang="en-US" sz="2400" dirty="0" smtClean="0">
                <a:solidFill>
                  <a:srgbClr val="FF0000"/>
                </a:solidFill>
                <a:ea typeface="宋体" charset="-122"/>
              </a:rPr>
              <a:t>不平等的层次</a:t>
            </a:r>
            <a:r>
              <a:rPr lang="zh-CN" altLang="en-US" sz="2400" dirty="0" smtClean="0">
                <a:ea typeface="宋体" charset="-122"/>
              </a:rPr>
              <a:t>上，一个代表整体，一个代表部分。比如电脑和它的显示器、键盘、主板以及内存就是聚合关系，因为主板是电脑的组成部分。</a:t>
            </a:r>
          </a:p>
          <a:p>
            <a:pPr lvl="1"/>
            <a:endParaRPr lang="zh-CN" altLang="en-US" dirty="0" smtClean="0">
              <a:ea typeface="宋体" charset="-122"/>
            </a:endParaRPr>
          </a:p>
        </p:txBody>
      </p:sp>
      <p:sp>
        <p:nvSpPr>
          <p:cNvPr id="31748" name="灯片编号占位符 3"/>
          <p:cNvSpPr>
            <a:spLocks noGrp="1"/>
          </p:cNvSpPr>
          <p:nvPr>
            <p:ph type="sldNum" sz="quarter" idx="12"/>
          </p:nvPr>
        </p:nvSpPr>
        <p:spPr>
          <a:noFill/>
        </p:spPr>
        <p:txBody>
          <a:bodyPr/>
          <a:lstStyle/>
          <a:p>
            <a:fld id="{9D3D1FD3-9231-4FE3-B192-960745EA905D}" type="slidenum">
              <a:rPr lang="en-US" altLang="zh-CN" smtClean="0"/>
              <a:pPr/>
              <a:t>57</a:t>
            </a:fld>
            <a:endParaRPr lang="en-US" altLang="zh-CN" smtClean="0"/>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sz="3200" smtClean="0">
                <a:ea typeface="宋体" charset="-122"/>
              </a:rPr>
              <a:t>4</a:t>
            </a:r>
            <a:r>
              <a:rPr lang="zh-CN" altLang="en-US" sz="3200" smtClean="0">
                <a:ea typeface="宋体" charset="-122"/>
              </a:rPr>
              <a:t>、依赖关系（</a:t>
            </a:r>
            <a:r>
              <a:rPr lang="en-US" altLang="zh-CN" sz="3200" smtClean="0">
                <a:ea typeface="宋体" charset="-122"/>
              </a:rPr>
              <a:t>Dependency</a:t>
            </a:r>
            <a:r>
              <a:rPr lang="zh-CN" altLang="en-US" sz="3200" smtClean="0">
                <a:ea typeface="宋体" charset="-122"/>
              </a:rPr>
              <a:t>）</a:t>
            </a:r>
          </a:p>
        </p:txBody>
      </p:sp>
      <p:sp>
        <p:nvSpPr>
          <p:cNvPr id="3" name="内容占位符 2"/>
          <p:cNvSpPr>
            <a:spLocks noGrp="1"/>
          </p:cNvSpPr>
          <p:nvPr>
            <p:ph idx="1"/>
          </p:nvPr>
        </p:nvSpPr>
        <p:spPr/>
        <p:txBody>
          <a:bodyPr/>
          <a:lstStyle/>
          <a:p>
            <a:r>
              <a:rPr lang="zh-CN" altLang="en-US" sz="2400" smtClean="0">
                <a:ea typeface="宋体" charset="-122"/>
              </a:rPr>
              <a:t>当一个对象负责构造另一个对象的实例，或者依赖另一个对象的服务时，这两个对象间主要体现为依赖关系。</a:t>
            </a:r>
            <a:endParaRPr lang="en-US" altLang="zh-CN" sz="2400" smtClean="0">
              <a:ea typeface="宋体" charset="-122"/>
            </a:endParaRPr>
          </a:p>
          <a:p>
            <a:r>
              <a:rPr lang="zh-CN" altLang="en-US" sz="2400" smtClean="0">
                <a:ea typeface="宋体" charset="-122"/>
              </a:rPr>
              <a:t>依赖一般情况下是以下几种情况之一：</a:t>
            </a:r>
            <a:r>
              <a:rPr lang="en-US" altLang="zh-CN" sz="2400" smtClean="0">
                <a:ea typeface="宋体" charset="-122"/>
              </a:rPr>
              <a:t>a</a:t>
            </a:r>
            <a:r>
              <a:rPr lang="zh-CN" altLang="en-US" sz="2400" smtClean="0">
                <a:ea typeface="宋体" charset="-122"/>
              </a:rPr>
              <a:t>、</a:t>
            </a:r>
            <a:r>
              <a:rPr lang="en-US" altLang="zh-CN" sz="2400" smtClean="0">
                <a:ea typeface="宋体" charset="-122"/>
              </a:rPr>
              <a:t>ClassA</a:t>
            </a:r>
            <a:r>
              <a:rPr lang="zh-CN" altLang="en-US" sz="2400" smtClean="0">
                <a:ea typeface="宋体" charset="-122"/>
              </a:rPr>
              <a:t>中某个方法的参数类型是</a:t>
            </a:r>
            <a:r>
              <a:rPr lang="en-US" altLang="zh-CN" sz="2400" smtClean="0">
                <a:ea typeface="宋体" charset="-122"/>
              </a:rPr>
              <a:t>ClassB</a:t>
            </a:r>
            <a:r>
              <a:rPr lang="zh-CN" altLang="en-US" sz="2400" smtClean="0">
                <a:ea typeface="宋体" charset="-122"/>
              </a:rPr>
              <a:t>；</a:t>
            </a:r>
            <a:r>
              <a:rPr lang="en-US" altLang="zh-CN" sz="2400" smtClean="0">
                <a:ea typeface="宋体" charset="-122"/>
              </a:rPr>
              <a:t>b</a:t>
            </a:r>
            <a:r>
              <a:rPr lang="zh-CN" altLang="en-US" sz="2400" smtClean="0">
                <a:ea typeface="宋体" charset="-122"/>
              </a:rPr>
              <a:t>、</a:t>
            </a:r>
            <a:r>
              <a:rPr lang="en-US" altLang="zh-CN" sz="2400" smtClean="0">
                <a:ea typeface="宋体" charset="-122"/>
              </a:rPr>
              <a:t>ClassA</a:t>
            </a:r>
            <a:r>
              <a:rPr lang="zh-CN" altLang="en-US" sz="2400" smtClean="0">
                <a:ea typeface="宋体" charset="-122"/>
              </a:rPr>
              <a:t>中某个方法的实现实例化</a:t>
            </a:r>
            <a:r>
              <a:rPr lang="en-US" altLang="zh-CN" sz="2400" smtClean="0">
                <a:ea typeface="宋体" charset="-122"/>
              </a:rPr>
              <a:t>ClassB</a:t>
            </a:r>
            <a:r>
              <a:rPr lang="zh-CN" altLang="en-US" sz="2400" smtClean="0">
                <a:ea typeface="宋体" charset="-122"/>
              </a:rPr>
              <a:t>；</a:t>
            </a:r>
            <a:r>
              <a:rPr lang="en-US" altLang="zh-CN" sz="2400" smtClean="0">
                <a:ea typeface="宋体" charset="-122"/>
              </a:rPr>
              <a:t>c</a:t>
            </a:r>
            <a:r>
              <a:rPr lang="zh-CN" altLang="en-US" sz="2400" smtClean="0">
                <a:ea typeface="宋体" charset="-122"/>
              </a:rPr>
              <a:t>、</a:t>
            </a:r>
            <a:r>
              <a:rPr lang="en-US" altLang="zh-CN" sz="2400" smtClean="0">
                <a:ea typeface="宋体" charset="-122"/>
              </a:rPr>
              <a:t>ClassA</a:t>
            </a:r>
            <a:r>
              <a:rPr lang="zh-CN" altLang="en-US" sz="2400" smtClean="0">
                <a:ea typeface="宋体" charset="-122"/>
              </a:rPr>
              <a:t>中某个方法的返回值的类型是</a:t>
            </a:r>
            <a:r>
              <a:rPr lang="en-US" altLang="zh-CN" sz="2400" smtClean="0">
                <a:ea typeface="宋体" charset="-122"/>
              </a:rPr>
              <a:t>ClassB</a:t>
            </a:r>
            <a:r>
              <a:rPr lang="zh-CN" altLang="en-US" sz="2400" smtClean="0">
                <a:ea typeface="宋体" charset="-122"/>
              </a:rPr>
              <a:t>。</a:t>
            </a:r>
            <a:endParaRPr lang="en-US" altLang="zh-CN" sz="2400" smtClean="0">
              <a:ea typeface="宋体" charset="-122"/>
            </a:endParaRPr>
          </a:p>
          <a:p>
            <a:r>
              <a:rPr lang="zh-CN" altLang="en-US" sz="2400" smtClean="0">
                <a:ea typeface="宋体" charset="-122"/>
              </a:rPr>
              <a:t>举例：</a:t>
            </a:r>
          </a:p>
        </p:txBody>
      </p:sp>
      <p:sp>
        <p:nvSpPr>
          <p:cNvPr id="32772" name="灯片编号占位符 3"/>
          <p:cNvSpPr>
            <a:spLocks noGrp="1"/>
          </p:cNvSpPr>
          <p:nvPr>
            <p:ph type="sldNum" sz="quarter" idx="12"/>
          </p:nvPr>
        </p:nvSpPr>
        <p:spPr>
          <a:noFill/>
        </p:spPr>
        <p:txBody>
          <a:bodyPr/>
          <a:lstStyle/>
          <a:p>
            <a:fld id="{F1EFB3AB-1DDA-4BC1-86B1-71A6C43D2B5E}" type="slidenum">
              <a:rPr lang="en-US" altLang="zh-CN" smtClean="0"/>
              <a:pPr/>
              <a:t>58</a:t>
            </a:fld>
            <a:endParaRPr lang="en-US" altLang="zh-CN" smtClean="0"/>
          </a:p>
        </p:txBody>
      </p:sp>
      <p:sp>
        <p:nvSpPr>
          <p:cNvPr id="5" name="TextBox 4"/>
          <p:cNvSpPr txBox="1"/>
          <p:nvPr/>
        </p:nvSpPr>
        <p:spPr>
          <a:xfrm>
            <a:off x="1071562" y="2643188"/>
            <a:ext cx="3000372" cy="120032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defRPr/>
            </a:pPr>
            <a:r>
              <a:rPr lang="zh-CN" altLang="en-US" dirty="0"/>
              <a:t>比如：你要去拧螺丝，需要借助</a:t>
            </a:r>
            <a:r>
              <a:rPr lang="en-US" altLang="zh-CN" dirty="0"/>
              <a:t>(</a:t>
            </a:r>
            <a:r>
              <a:rPr lang="zh-CN" altLang="en-US" dirty="0"/>
              <a:t>也就是依赖</a:t>
            </a:r>
            <a:r>
              <a:rPr lang="en-US" altLang="zh-CN" dirty="0"/>
              <a:t>)</a:t>
            </a:r>
            <a:r>
              <a:rPr lang="zh-CN" altLang="en-US" dirty="0"/>
              <a:t>螺丝刀</a:t>
            </a:r>
            <a:r>
              <a:rPr lang="en-US" altLang="zh-CN" dirty="0"/>
              <a:t>(Screwdriver)</a:t>
            </a:r>
            <a:r>
              <a:rPr lang="zh-CN" altLang="en-US" dirty="0"/>
              <a:t>来帮助你完成拧螺丝</a:t>
            </a:r>
            <a:r>
              <a:rPr lang="en-US" altLang="zh-CN" dirty="0"/>
              <a:t>(screw)</a:t>
            </a:r>
            <a:r>
              <a:rPr lang="zh-CN" altLang="en-US" dirty="0"/>
              <a:t>的工作</a:t>
            </a:r>
          </a:p>
        </p:txBody>
      </p:sp>
      <p:pic>
        <p:nvPicPr>
          <p:cNvPr id="45058" name="Picture 2" descr="http://www.uml.org.cn/oobject/images/ec7bca6c-c01a-4772-a91b-3a695773ddfb.jpg"/>
          <p:cNvPicPr>
            <a:picLocks noChangeAspect="1" noChangeArrowheads="1"/>
          </p:cNvPicPr>
          <p:nvPr/>
        </p:nvPicPr>
        <p:blipFill>
          <a:blip r:embed="rId2"/>
          <a:srcRect/>
          <a:stretch>
            <a:fillRect/>
          </a:stretch>
        </p:blipFill>
        <p:spPr bwMode="auto">
          <a:xfrm>
            <a:off x="584225" y="4212944"/>
            <a:ext cx="3194819" cy="963144"/>
          </a:xfrm>
          <a:prstGeom prst="rect">
            <a:avLst/>
          </a:prstGeom>
          <a:noFill/>
          <a:ln w="9525">
            <a:noFill/>
            <a:miter lim="800000"/>
            <a:headEnd/>
            <a:tailEnd/>
          </a:ln>
        </p:spPr>
      </p:pic>
      <p:sp>
        <p:nvSpPr>
          <p:cNvPr id="8" name="TextBox 7"/>
          <p:cNvSpPr txBox="1"/>
          <p:nvPr/>
        </p:nvSpPr>
        <p:spPr>
          <a:xfrm>
            <a:off x="564356" y="5329815"/>
            <a:ext cx="3214688" cy="1107996"/>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defRPr/>
            </a:pPr>
            <a:r>
              <a:rPr lang="zh-CN" altLang="en-US" sz="2200" dirty="0"/>
              <a:t>依赖关系表现在局部变量、方法的参数以及对方法的调用</a:t>
            </a:r>
          </a:p>
        </p:txBody>
      </p:sp>
      <p:sp>
        <p:nvSpPr>
          <p:cNvPr id="9" name="TextBox 8"/>
          <p:cNvSpPr txBox="1"/>
          <p:nvPr/>
        </p:nvSpPr>
        <p:spPr>
          <a:xfrm>
            <a:off x="3929063" y="4214813"/>
            <a:ext cx="4829175" cy="1754187"/>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a:defRPr/>
            </a:pPr>
            <a:r>
              <a:rPr lang="en-US" dirty="0"/>
              <a:t>public class Person{    </a:t>
            </a:r>
          </a:p>
          <a:p>
            <a:pPr>
              <a:defRPr/>
            </a:pPr>
            <a:r>
              <a:rPr lang="en-US" dirty="0"/>
              <a:t>    /** </a:t>
            </a:r>
            <a:r>
              <a:rPr lang="zh-CN" altLang="en-US" dirty="0"/>
              <a:t>拧螺丝 *</a:t>
            </a:r>
            <a:r>
              <a:rPr lang="en-US" altLang="zh-CN" dirty="0"/>
              <a:t>/   </a:t>
            </a:r>
          </a:p>
          <a:p>
            <a:pPr>
              <a:defRPr/>
            </a:pPr>
            <a:r>
              <a:rPr lang="en-US" altLang="zh-CN" dirty="0"/>
              <a:t>    </a:t>
            </a:r>
            <a:r>
              <a:rPr lang="en-US" dirty="0"/>
              <a:t>public void screw(Screwdriver </a:t>
            </a:r>
            <a:r>
              <a:rPr lang="en-US" dirty="0" err="1"/>
              <a:t>screwdriver</a:t>
            </a:r>
            <a:r>
              <a:rPr lang="en-US" dirty="0"/>
              <a:t>){    </a:t>
            </a:r>
          </a:p>
          <a:p>
            <a:pPr>
              <a:defRPr/>
            </a:pPr>
            <a:r>
              <a:rPr lang="en-US" dirty="0"/>
              <a:t>         </a:t>
            </a:r>
            <a:r>
              <a:rPr lang="en-US" dirty="0" err="1"/>
              <a:t>screwdriver.screw</a:t>
            </a:r>
            <a:r>
              <a:rPr lang="en-US" dirty="0"/>
              <a:t>();    </a:t>
            </a:r>
          </a:p>
          <a:p>
            <a:pPr>
              <a:defRPr/>
            </a:pPr>
            <a:r>
              <a:rPr lang="en-US" dirty="0"/>
              <a:t>     }    </a:t>
            </a:r>
          </a:p>
          <a:p>
            <a:pPr>
              <a:defRPr/>
            </a:pPr>
            <a:r>
              <a:rPr lang="en-US" dirty="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45058"/>
                                        </p:tgtEl>
                                        <p:attrNameLst>
                                          <p:attrName>style.visibility</p:attrName>
                                        </p:attrNameLst>
                                      </p:cBhvr>
                                      <p:to>
                                        <p:strVal val="visible"/>
                                      </p:to>
                                    </p:set>
                                    <p:anim calcmode="lin" valueType="num">
                                      <p:cBhvr additive="base">
                                        <p:cTn id="14" dur="500" fill="hold"/>
                                        <p:tgtEl>
                                          <p:spTgt spid="45058"/>
                                        </p:tgtEl>
                                        <p:attrNameLst>
                                          <p:attrName>ppt_x</p:attrName>
                                        </p:attrNameLst>
                                      </p:cBhvr>
                                      <p:tavLst>
                                        <p:tav tm="0">
                                          <p:val>
                                            <p:strVal val="#ppt_x"/>
                                          </p:val>
                                        </p:tav>
                                        <p:tav tm="100000">
                                          <p:val>
                                            <p:strVal val="#ppt_x"/>
                                          </p:val>
                                        </p:tav>
                                      </p:tavLst>
                                    </p:anim>
                                    <p:anim calcmode="lin" valueType="num">
                                      <p:cBhvr additive="base">
                                        <p:cTn id="15" dur="500" fill="hold"/>
                                        <p:tgtEl>
                                          <p:spTgt spid="45058"/>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sz="3200" smtClean="0">
                <a:solidFill>
                  <a:srgbClr val="FFFFFF"/>
                </a:solidFill>
                <a:ea typeface="宋体" charset="-122"/>
              </a:rPr>
              <a:t>4</a:t>
            </a:r>
            <a:r>
              <a:rPr lang="zh-CN" altLang="en-US" sz="3200" smtClean="0">
                <a:solidFill>
                  <a:srgbClr val="FFFFFF"/>
                </a:solidFill>
                <a:ea typeface="宋体" charset="-122"/>
              </a:rPr>
              <a:t>、依赖关系</a:t>
            </a:r>
            <a:endParaRPr lang="zh-CN" altLang="en-US" smtClean="0">
              <a:ea typeface="宋体" charset="-122"/>
            </a:endParaRPr>
          </a:p>
        </p:txBody>
      </p:sp>
      <p:sp>
        <p:nvSpPr>
          <p:cNvPr id="33795" name="内容占位符 2"/>
          <p:cNvSpPr>
            <a:spLocks noGrp="1"/>
          </p:cNvSpPr>
          <p:nvPr>
            <p:ph idx="1"/>
          </p:nvPr>
        </p:nvSpPr>
        <p:spPr>
          <a:xfrm>
            <a:off x="571500" y="692696"/>
            <a:ext cx="8001000" cy="4838700"/>
          </a:xfrm>
        </p:spPr>
        <p:txBody>
          <a:bodyPr/>
          <a:lstStyle/>
          <a:p>
            <a:r>
              <a:rPr lang="zh-CN" altLang="en-US" sz="2600" b="1" dirty="0" smtClean="0">
                <a:ea typeface="宋体" charset="-122"/>
              </a:rPr>
              <a:t>依赖关系与关联关系的区别：</a:t>
            </a:r>
            <a:endParaRPr lang="en-US" altLang="zh-CN" sz="2600" b="1" dirty="0" smtClean="0">
              <a:ea typeface="宋体" charset="-122"/>
            </a:endParaRPr>
          </a:p>
          <a:p>
            <a:pPr lvl="1"/>
            <a:r>
              <a:rPr lang="zh-CN" altLang="en-US" sz="2000" b="1" dirty="0" smtClean="0">
                <a:solidFill>
                  <a:srgbClr val="FF0000"/>
                </a:solidFill>
                <a:ea typeface="宋体" charset="-122"/>
              </a:rPr>
              <a:t>从类之间关系的强弱程度来分：</a:t>
            </a:r>
            <a:r>
              <a:rPr lang="zh-CN" altLang="en-US" sz="2000" dirty="0" smtClean="0">
                <a:ea typeface="宋体" charset="-122"/>
              </a:rPr>
              <a:t>关联表示类之间的很强的关系；依赖表示类之间的较弱的关系；</a:t>
            </a:r>
          </a:p>
          <a:p>
            <a:pPr lvl="1"/>
            <a:r>
              <a:rPr lang="zh-CN" altLang="en-US" sz="2000" b="1" dirty="0" smtClean="0">
                <a:solidFill>
                  <a:srgbClr val="FF0000"/>
                </a:solidFill>
                <a:ea typeface="宋体" charset="-122"/>
              </a:rPr>
              <a:t>从类之间关系的时间角度来分：</a:t>
            </a:r>
            <a:r>
              <a:rPr lang="zh-CN" altLang="en-US" sz="2000" dirty="0" smtClean="0">
                <a:ea typeface="宋体" charset="-122"/>
              </a:rPr>
              <a:t>关联表示类之间的“持久”关系，这种关系一般表示一种重要的业务之间的关系，需要保存的，或者说需要“持久化”的。比如学生管理系统中的</a:t>
            </a:r>
            <a:r>
              <a:rPr lang="en-US" altLang="zh-CN" sz="2000" dirty="0" smtClean="0">
                <a:ea typeface="宋体" charset="-122"/>
              </a:rPr>
              <a:t>Student</a:t>
            </a:r>
            <a:r>
              <a:rPr lang="zh-CN" altLang="en-US" sz="2000" dirty="0" smtClean="0">
                <a:ea typeface="宋体" charset="-122"/>
              </a:rPr>
              <a:t>类和</a:t>
            </a:r>
            <a:r>
              <a:rPr lang="en-US" altLang="zh-CN" sz="2000" dirty="0" smtClean="0">
                <a:ea typeface="宋体" charset="-122"/>
              </a:rPr>
              <a:t>Class</a:t>
            </a:r>
            <a:r>
              <a:rPr lang="zh-CN" altLang="en-US" sz="2000" dirty="0" smtClean="0">
                <a:ea typeface="宋体" charset="-122"/>
              </a:rPr>
              <a:t>类，如果一个</a:t>
            </a:r>
            <a:r>
              <a:rPr lang="en-US" altLang="zh-CN" sz="2000" dirty="0" smtClean="0">
                <a:ea typeface="宋体" charset="-122"/>
              </a:rPr>
              <a:t>Student</a:t>
            </a:r>
            <a:r>
              <a:rPr lang="zh-CN" altLang="en-US" sz="2000" dirty="0" smtClean="0">
                <a:ea typeface="宋体" charset="-122"/>
              </a:rPr>
              <a:t>对象属于哪个</a:t>
            </a:r>
            <a:r>
              <a:rPr lang="en-US" altLang="zh-CN" sz="2000" dirty="0" smtClean="0">
                <a:ea typeface="宋体" charset="-122"/>
              </a:rPr>
              <a:t>Class</a:t>
            </a:r>
            <a:r>
              <a:rPr lang="zh-CN" altLang="en-US" sz="2000" dirty="0" smtClean="0">
                <a:ea typeface="宋体" charset="-122"/>
              </a:rPr>
              <a:t>这种关系不保存，系统就无法管理。依赖表示类之间的是一种“临时、短暂”关系，这种关系是不需要保存的，比如</a:t>
            </a:r>
            <a:r>
              <a:rPr lang="en-US" altLang="zh-CN" sz="2000" dirty="0" err="1" smtClean="0">
                <a:ea typeface="宋体" charset="-122"/>
              </a:rPr>
              <a:t>StuEditScreen</a:t>
            </a:r>
            <a:r>
              <a:rPr lang="zh-CN" altLang="en-US" sz="2000" dirty="0" smtClean="0">
                <a:ea typeface="宋体" charset="-122"/>
              </a:rPr>
              <a:t>（编辑界面）类依赖</a:t>
            </a:r>
            <a:r>
              <a:rPr lang="en-US" altLang="zh-CN" sz="2000" dirty="0" smtClean="0">
                <a:ea typeface="宋体" charset="-122"/>
              </a:rPr>
              <a:t>Student</a:t>
            </a:r>
            <a:r>
              <a:rPr lang="zh-CN" altLang="en-US" sz="2000" dirty="0" smtClean="0">
                <a:ea typeface="宋体" charset="-122"/>
              </a:rPr>
              <a:t>类，依赖</a:t>
            </a:r>
            <a:r>
              <a:rPr lang="en-US" altLang="zh-CN" sz="2000" dirty="0" smtClean="0">
                <a:ea typeface="宋体" charset="-122"/>
              </a:rPr>
              <a:t>Student</a:t>
            </a:r>
            <a:r>
              <a:rPr lang="zh-CN" altLang="en-US" sz="2000" dirty="0" smtClean="0">
                <a:ea typeface="宋体" charset="-122"/>
              </a:rPr>
              <a:t>对象的信息来显示编辑学生信息。</a:t>
            </a:r>
            <a:endParaRPr lang="en-US" altLang="zh-CN" sz="2000" dirty="0" smtClean="0">
              <a:ea typeface="宋体" charset="-122"/>
            </a:endParaRPr>
          </a:p>
          <a:p>
            <a:pPr lvl="1"/>
            <a:r>
              <a:rPr lang="zh-CN" altLang="en-US" sz="2000" b="1" dirty="0" smtClean="0">
                <a:solidFill>
                  <a:srgbClr val="FF0000"/>
                </a:solidFill>
                <a:ea typeface="宋体" charset="-122"/>
              </a:rPr>
              <a:t>依赖一般而言是单向的</a:t>
            </a:r>
            <a:r>
              <a:rPr lang="zh-CN" altLang="en-US" sz="2000" dirty="0" smtClean="0">
                <a:solidFill>
                  <a:srgbClr val="FF0000"/>
                </a:solidFill>
                <a:ea typeface="宋体" charset="-122"/>
              </a:rPr>
              <a:t>。</a:t>
            </a:r>
            <a:r>
              <a:rPr lang="zh-CN" altLang="en-US" sz="2000" dirty="0" smtClean="0">
                <a:ea typeface="宋体" charset="-122"/>
              </a:rPr>
              <a:t>它代表一个类依赖于另一个类的定义</a:t>
            </a:r>
            <a:endParaRPr lang="en-US" altLang="zh-CN" sz="2000" dirty="0" smtClean="0">
              <a:ea typeface="宋体" charset="-122"/>
            </a:endParaRPr>
          </a:p>
          <a:p>
            <a:pPr lvl="1"/>
            <a:r>
              <a:rPr lang="zh-CN" altLang="en-US" sz="2000" b="1" dirty="0" smtClean="0">
                <a:solidFill>
                  <a:srgbClr val="FF0000"/>
                </a:solidFill>
                <a:ea typeface="宋体" charset="-122"/>
              </a:rPr>
              <a:t>关联是一种结构关系。</a:t>
            </a:r>
            <a:r>
              <a:rPr lang="zh-CN" altLang="en-US" sz="2000" dirty="0" smtClean="0">
                <a:ea typeface="宋体" charset="-122"/>
              </a:rPr>
              <a:t>说明一个事物的对象与另一个事物的对象相联系。可以从一个类的对象导航到另一个类的对象。可以是单向的和双向的。</a:t>
            </a:r>
            <a:br>
              <a:rPr lang="zh-CN" altLang="en-US" sz="2000" dirty="0" smtClean="0">
                <a:ea typeface="宋体" charset="-122"/>
              </a:rPr>
            </a:br>
            <a:endParaRPr lang="en-US" altLang="zh-CN" sz="2000" dirty="0" smtClean="0">
              <a:ea typeface="宋体" charset="-122"/>
            </a:endParaRPr>
          </a:p>
          <a:p>
            <a:pPr lvl="1"/>
            <a:endParaRPr lang="zh-CN" altLang="en-US" sz="2000" dirty="0" smtClean="0">
              <a:ea typeface="宋体" charset="-122"/>
            </a:endParaRPr>
          </a:p>
          <a:p>
            <a:pPr lvl="1"/>
            <a:endParaRPr lang="zh-CN" altLang="en-US" dirty="0" smtClean="0">
              <a:ea typeface="宋体" charset="-122"/>
            </a:endParaRPr>
          </a:p>
        </p:txBody>
      </p:sp>
      <p:sp>
        <p:nvSpPr>
          <p:cNvPr id="33796" name="灯片编号占位符 3"/>
          <p:cNvSpPr>
            <a:spLocks noGrp="1"/>
          </p:cNvSpPr>
          <p:nvPr>
            <p:ph type="sldNum" sz="quarter" idx="12"/>
          </p:nvPr>
        </p:nvSpPr>
        <p:spPr>
          <a:noFill/>
        </p:spPr>
        <p:txBody>
          <a:bodyPr/>
          <a:lstStyle/>
          <a:p>
            <a:fld id="{F2A49926-0C18-4616-A012-5C54EF399467}" type="slidenum">
              <a:rPr lang="en-US" altLang="zh-CN" smtClean="0"/>
              <a:pPr/>
              <a:t>59</a:t>
            </a:fld>
            <a:endParaRPr lang="en-US" altLang="zh-CN"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Effect transition="in" filter="fade">
                                      <p:cBhvr>
                                        <p:cTn id="7" dur="500"/>
                                        <p:tgtEl>
                                          <p:spTgt spid="3379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795">
                                            <p:txEl>
                                              <p:pRg st="3" end="3"/>
                                            </p:txEl>
                                          </p:spTgt>
                                        </p:tgtEl>
                                        <p:attrNameLst>
                                          <p:attrName>style.visibility</p:attrName>
                                        </p:attrNameLst>
                                      </p:cBhvr>
                                      <p:to>
                                        <p:strVal val="visible"/>
                                      </p:to>
                                    </p:set>
                                    <p:animEffect transition="in" filter="fade">
                                      <p:cBhvr>
                                        <p:cTn id="12" dur="500"/>
                                        <p:tgtEl>
                                          <p:spTgt spid="3379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795">
                                            <p:txEl>
                                              <p:pRg st="4" end="4"/>
                                            </p:txEl>
                                          </p:spTgt>
                                        </p:tgtEl>
                                        <p:attrNameLst>
                                          <p:attrName>style.visibility</p:attrName>
                                        </p:attrNameLst>
                                      </p:cBhvr>
                                      <p:to>
                                        <p:strVal val="visible"/>
                                      </p:to>
                                    </p:set>
                                    <p:animEffect transition="in" filter="fade">
                                      <p:cBhvr>
                                        <p:cTn id="17" dur="500"/>
                                        <p:tgtEl>
                                          <p:spTgt spid="337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dirty="0" smtClean="0">
                <a:ea typeface="宋体" charset="-122"/>
              </a:rPr>
              <a:t>对象模型举例</a:t>
            </a:r>
          </a:p>
        </p:txBody>
      </p:sp>
      <p:sp>
        <p:nvSpPr>
          <p:cNvPr id="34819" name="灯片编号占位符 3"/>
          <p:cNvSpPr>
            <a:spLocks noGrp="1"/>
          </p:cNvSpPr>
          <p:nvPr>
            <p:ph type="sldNum" sz="quarter" idx="12"/>
          </p:nvPr>
        </p:nvSpPr>
        <p:spPr>
          <a:noFill/>
        </p:spPr>
        <p:txBody>
          <a:bodyPr/>
          <a:lstStyle/>
          <a:p>
            <a:fld id="{D16B2D1F-96A5-4E6C-BDE1-5B2C790F5ABE}" type="slidenum">
              <a:rPr lang="en-US" altLang="zh-CN" smtClean="0"/>
              <a:pPr/>
              <a:t>60</a:t>
            </a:fld>
            <a:endParaRPr lang="en-US" altLang="zh-CN" smtClean="0"/>
          </a:p>
        </p:txBody>
      </p:sp>
      <p:pic>
        <p:nvPicPr>
          <p:cNvPr id="5" name="Picture 4"/>
          <p:cNvPicPr>
            <a:picLocks noChangeAspect="1" noChangeArrowheads="1"/>
          </p:cNvPicPr>
          <p:nvPr/>
        </p:nvPicPr>
        <p:blipFill>
          <a:blip r:embed="rId2"/>
          <a:srcRect/>
          <a:stretch>
            <a:fillRect/>
          </a:stretch>
        </p:blipFill>
        <p:spPr bwMode="auto">
          <a:xfrm>
            <a:off x="1835696" y="1143000"/>
            <a:ext cx="5350917" cy="5294538"/>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dirty="0" smtClean="0">
                <a:ea typeface="宋体" charset="-122"/>
              </a:rPr>
              <a:t>6.7 </a:t>
            </a:r>
            <a:r>
              <a:rPr lang="zh-CN" altLang="en-US" dirty="0" smtClean="0">
                <a:ea typeface="宋体" charset="-122"/>
              </a:rPr>
              <a:t>动态模型</a:t>
            </a:r>
          </a:p>
        </p:txBody>
      </p:sp>
      <p:sp>
        <p:nvSpPr>
          <p:cNvPr id="35843" name="内容占位符 2"/>
          <p:cNvSpPr>
            <a:spLocks noGrp="1"/>
          </p:cNvSpPr>
          <p:nvPr>
            <p:ph idx="1"/>
          </p:nvPr>
        </p:nvSpPr>
        <p:spPr>
          <a:xfrm>
            <a:off x="685800" y="1447800"/>
            <a:ext cx="8001000" cy="4338638"/>
          </a:xfrm>
        </p:spPr>
        <p:txBody>
          <a:bodyPr/>
          <a:lstStyle/>
          <a:p>
            <a:r>
              <a:rPr lang="zh-CN" altLang="en-US" sz="2400" dirty="0" smtClean="0">
                <a:ea typeface="宋体" charset="-122"/>
              </a:rPr>
              <a:t>对于数据库管理应用来说，</a:t>
            </a:r>
            <a:r>
              <a:rPr lang="en-US" altLang="zh-CN" sz="2400" dirty="0" smtClean="0">
                <a:ea typeface="宋体" charset="-122"/>
              </a:rPr>
              <a:t>OMT</a:t>
            </a:r>
            <a:r>
              <a:rPr lang="zh-CN" altLang="en-US" sz="2400" dirty="0" smtClean="0">
                <a:ea typeface="宋体" charset="-122"/>
              </a:rPr>
              <a:t>对象建模技术主要使用对象模型和功能模型。但对于其他类型的应用，如用户接口应用、控制和交互式系统，动态模型非常有意义。</a:t>
            </a:r>
            <a:endParaRPr lang="en-US" altLang="zh-CN" sz="2400" dirty="0" smtClean="0">
              <a:ea typeface="宋体" charset="-122"/>
            </a:endParaRPr>
          </a:p>
          <a:p>
            <a:r>
              <a:rPr lang="en-US" altLang="zh-CN" sz="2400" dirty="0" smtClean="0">
                <a:ea typeface="宋体" charset="-122"/>
              </a:rPr>
              <a:t>OMT</a:t>
            </a:r>
            <a:r>
              <a:rPr lang="zh-CN" altLang="en-US" sz="2400" dirty="0" smtClean="0">
                <a:ea typeface="宋体" charset="-122"/>
              </a:rPr>
              <a:t>的动态模型主要有状态图来表示。</a:t>
            </a:r>
            <a:endParaRPr lang="en-US" altLang="zh-CN" sz="2400" dirty="0" smtClean="0">
              <a:ea typeface="宋体" charset="-122"/>
            </a:endParaRPr>
          </a:p>
          <a:p>
            <a:pPr lvl="1" algn="just">
              <a:spcAft>
                <a:spcPct val="40000"/>
              </a:spcAft>
            </a:pPr>
            <a:r>
              <a:rPr lang="zh-CN" altLang="en-US" sz="2200" b="1" dirty="0" smtClean="0">
                <a:solidFill>
                  <a:srgbClr val="FF0000"/>
                </a:solidFill>
                <a:ea typeface="宋体" charset="-122"/>
              </a:rPr>
              <a:t>动态模型表示瞬时的、行为化的系统的</a:t>
            </a:r>
            <a:r>
              <a:rPr lang="zh-CN" altLang="en-US" sz="2200" b="1" dirty="0" smtClean="0">
                <a:solidFill>
                  <a:srgbClr val="FF0000"/>
                </a:solidFill>
                <a:latin typeface="Arial" charset="0"/>
                <a:ea typeface="宋体" charset="-122"/>
              </a:rPr>
              <a:t>“</a:t>
            </a:r>
            <a:r>
              <a:rPr lang="zh-CN" altLang="en-US" sz="2200" b="1" dirty="0" smtClean="0">
                <a:solidFill>
                  <a:srgbClr val="FF0000"/>
                </a:solidFill>
                <a:ea typeface="宋体" charset="-122"/>
              </a:rPr>
              <a:t>控制</a:t>
            </a:r>
            <a:r>
              <a:rPr lang="zh-CN" altLang="en-US" sz="2200" b="1" dirty="0" smtClean="0">
                <a:solidFill>
                  <a:srgbClr val="FF0000"/>
                </a:solidFill>
                <a:latin typeface="Arial" charset="0"/>
                <a:ea typeface="宋体" charset="-122"/>
              </a:rPr>
              <a:t>”</a:t>
            </a:r>
            <a:r>
              <a:rPr lang="zh-CN" altLang="en-US" sz="2200" b="1" dirty="0" smtClean="0">
                <a:solidFill>
                  <a:srgbClr val="FF0000"/>
                </a:solidFill>
                <a:ea typeface="宋体" charset="-122"/>
              </a:rPr>
              <a:t>性质，它规定了对象模型中的对象的合法变化序列。</a:t>
            </a:r>
            <a:endParaRPr lang="zh-CN" altLang="en-US" sz="2200" dirty="0" smtClean="0">
              <a:solidFill>
                <a:srgbClr val="FF0000"/>
              </a:solidFill>
              <a:ea typeface="宋体" charset="-122"/>
            </a:endParaRPr>
          </a:p>
          <a:p>
            <a:pPr lvl="1" algn="just">
              <a:spcAft>
                <a:spcPct val="40000"/>
              </a:spcAft>
            </a:pPr>
            <a:r>
              <a:rPr lang="zh-CN" altLang="en-US" sz="2200" dirty="0" smtClean="0">
                <a:ea typeface="宋体" charset="-122"/>
              </a:rPr>
              <a:t>通常用状态图来描绘对象的状态、触发状态转换的事件，以及对象的行为（对事件的响应）。</a:t>
            </a:r>
          </a:p>
          <a:p>
            <a:pPr lvl="1" algn="just">
              <a:spcAft>
                <a:spcPct val="40000"/>
              </a:spcAft>
            </a:pPr>
            <a:r>
              <a:rPr lang="zh-CN" altLang="en-US" sz="2200" dirty="0" smtClean="0">
                <a:ea typeface="宋体" charset="-122"/>
              </a:rPr>
              <a:t>每个类的动态行为用一张状态图来描绘，各个类的状态图通过共享事件合并起来，从而构成系统的动态模型。</a:t>
            </a:r>
            <a:endParaRPr lang="zh-CN" altLang="en-US" dirty="0" smtClean="0">
              <a:ea typeface="宋体" charset="-122"/>
            </a:endParaRPr>
          </a:p>
        </p:txBody>
      </p:sp>
      <p:sp>
        <p:nvSpPr>
          <p:cNvPr id="35844" name="灯片编号占位符 3"/>
          <p:cNvSpPr>
            <a:spLocks noGrp="1"/>
          </p:cNvSpPr>
          <p:nvPr>
            <p:ph type="sldNum" sz="quarter" idx="12"/>
          </p:nvPr>
        </p:nvSpPr>
        <p:spPr>
          <a:noFill/>
        </p:spPr>
        <p:txBody>
          <a:bodyPr/>
          <a:lstStyle/>
          <a:p>
            <a:fld id="{A527C13E-3B29-4B98-B6E2-42F4BC6B71B3}" type="slidenum">
              <a:rPr lang="en-US" altLang="zh-CN" smtClean="0"/>
              <a:pPr/>
              <a:t>61</a:t>
            </a:fld>
            <a:endParaRPr lang="en-US" altLang="zh-CN" smtClean="0"/>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en-US" altLang="zh-CN" smtClean="0">
                <a:ea typeface="宋体" charset="-122"/>
              </a:rPr>
              <a:t>1</a:t>
            </a:r>
            <a:r>
              <a:rPr lang="zh-CN" altLang="en-US" smtClean="0">
                <a:ea typeface="宋体" charset="-122"/>
              </a:rPr>
              <a:t>、主要概念</a:t>
            </a:r>
          </a:p>
        </p:txBody>
      </p:sp>
      <p:sp>
        <p:nvSpPr>
          <p:cNvPr id="36867" name="内容占位符 2"/>
          <p:cNvSpPr>
            <a:spLocks noGrp="1"/>
          </p:cNvSpPr>
          <p:nvPr>
            <p:ph idx="1"/>
          </p:nvPr>
        </p:nvSpPr>
        <p:spPr/>
        <p:txBody>
          <a:bodyPr/>
          <a:lstStyle/>
          <a:p>
            <a:r>
              <a:rPr lang="zh-CN" altLang="en-US" sz="2400" b="1" dirty="0" smtClean="0">
                <a:solidFill>
                  <a:srgbClr val="FF0000"/>
                </a:solidFill>
                <a:ea typeface="宋体" charset="-122"/>
              </a:rPr>
              <a:t>事件</a:t>
            </a:r>
            <a:r>
              <a:rPr lang="zh-CN" altLang="en-US" sz="2400" dirty="0" smtClean="0">
                <a:ea typeface="宋体" charset="-122"/>
              </a:rPr>
              <a:t>：引起对象状态转换的控制信息。也可以理解为发上在某一个时间点上的一件事，如用户按下鼠标左键。</a:t>
            </a:r>
          </a:p>
          <a:p>
            <a:r>
              <a:rPr lang="zh-CN" altLang="en-US" sz="2400" b="1" dirty="0" smtClean="0">
                <a:solidFill>
                  <a:srgbClr val="FF0000"/>
                </a:solidFill>
                <a:ea typeface="宋体" charset="-122"/>
              </a:rPr>
              <a:t>状态</a:t>
            </a:r>
            <a:r>
              <a:rPr lang="zh-CN" altLang="en-US" sz="2400" dirty="0" smtClean="0">
                <a:ea typeface="宋体" charset="-122"/>
              </a:rPr>
              <a:t>：对象在其生命周期中的某个特定阶段所具有的行为模式，它是对影响对象行为的属性值的一种抽象。</a:t>
            </a:r>
          </a:p>
          <a:p>
            <a:r>
              <a:rPr lang="zh-CN" altLang="en-US" sz="2400" b="1" dirty="0" smtClean="0">
                <a:solidFill>
                  <a:srgbClr val="FF0000"/>
                </a:solidFill>
                <a:ea typeface="宋体" charset="-122"/>
              </a:rPr>
              <a:t>行为</a:t>
            </a:r>
            <a:r>
              <a:rPr lang="zh-CN" altLang="en-US" sz="2400" dirty="0" smtClean="0">
                <a:ea typeface="宋体" charset="-122"/>
              </a:rPr>
              <a:t>：对象达到某种状态时所做的一系列处理操作。可以是属性的改变或发出另一个事件等。</a:t>
            </a:r>
          </a:p>
          <a:p>
            <a:endParaRPr lang="zh-CN" altLang="en-US" dirty="0" smtClean="0">
              <a:ea typeface="宋体" charset="-122"/>
            </a:endParaRPr>
          </a:p>
        </p:txBody>
      </p:sp>
      <p:sp>
        <p:nvSpPr>
          <p:cNvPr id="36868" name="灯片编号占位符 3"/>
          <p:cNvSpPr>
            <a:spLocks noGrp="1"/>
          </p:cNvSpPr>
          <p:nvPr>
            <p:ph type="sldNum" sz="quarter" idx="12"/>
          </p:nvPr>
        </p:nvSpPr>
        <p:spPr>
          <a:noFill/>
        </p:spPr>
        <p:txBody>
          <a:bodyPr/>
          <a:lstStyle/>
          <a:p>
            <a:fld id="{A719C1AA-3EBD-451B-A4BE-4763D1EF285A}" type="slidenum">
              <a:rPr lang="en-US" altLang="zh-CN" smtClean="0"/>
              <a:pPr/>
              <a:t>62</a:t>
            </a:fld>
            <a:endParaRPr lang="en-US" altLang="zh-CN" smtClean="0"/>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smtClean="0">
                <a:ea typeface="宋体" charset="-122"/>
              </a:rPr>
              <a:t>2</a:t>
            </a:r>
            <a:r>
              <a:rPr lang="zh-CN" altLang="en-US" smtClean="0">
                <a:ea typeface="宋体" charset="-122"/>
              </a:rPr>
              <a:t>、表示符号</a:t>
            </a:r>
          </a:p>
        </p:txBody>
      </p:sp>
      <p:sp>
        <p:nvSpPr>
          <p:cNvPr id="37891" name="灯片编号占位符 3"/>
          <p:cNvSpPr>
            <a:spLocks noGrp="1"/>
          </p:cNvSpPr>
          <p:nvPr>
            <p:ph type="sldNum" sz="quarter" idx="12"/>
          </p:nvPr>
        </p:nvSpPr>
        <p:spPr>
          <a:noFill/>
        </p:spPr>
        <p:txBody>
          <a:bodyPr/>
          <a:lstStyle/>
          <a:p>
            <a:fld id="{00485F5F-81B8-49D9-969E-EBEDF5A5A0BA}" type="slidenum">
              <a:rPr lang="en-US" altLang="zh-CN" smtClean="0"/>
              <a:pPr/>
              <a:t>63</a:t>
            </a:fld>
            <a:endParaRPr lang="en-US" altLang="zh-CN" smtClean="0"/>
          </a:p>
        </p:txBody>
      </p:sp>
      <p:grpSp>
        <p:nvGrpSpPr>
          <p:cNvPr id="2" name="组合 20"/>
          <p:cNvGrpSpPr>
            <a:grpSpLocks/>
          </p:cNvGrpSpPr>
          <p:nvPr/>
        </p:nvGrpSpPr>
        <p:grpSpPr bwMode="auto">
          <a:xfrm>
            <a:off x="857250" y="1785938"/>
            <a:ext cx="7429500" cy="857250"/>
            <a:chOff x="928662" y="2786058"/>
            <a:chExt cx="7429552" cy="857256"/>
          </a:xfrm>
        </p:grpSpPr>
        <p:sp>
          <p:nvSpPr>
            <p:cNvPr id="20" name="矩形 19"/>
            <p:cNvSpPr/>
            <p:nvPr/>
          </p:nvSpPr>
          <p:spPr>
            <a:xfrm>
              <a:off x="928662" y="2786058"/>
              <a:ext cx="7429552" cy="85725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a:p>
          </p:txBody>
        </p:sp>
        <p:grpSp>
          <p:nvGrpSpPr>
            <p:cNvPr id="3" name="Group 4"/>
            <p:cNvGrpSpPr>
              <a:grpSpLocks/>
            </p:cNvGrpSpPr>
            <p:nvPr/>
          </p:nvGrpSpPr>
          <p:grpSpPr bwMode="auto">
            <a:xfrm>
              <a:off x="1000100" y="2857496"/>
              <a:ext cx="7273925" cy="663575"/>
              <a:chOff x="657" y="2921"/>
              <a:chExt cx="4582" cy="418"/>
            </a:xfrm>
          </p:grpSpPr>
          <p:sp>
            <p:nvSpPr>
              <p:cNvPr id="37898" name="Oval 5"/>
              <p:cNvSpPr>
                <a:spLocks noChangeArrowheads="1"/>
              </p:cNvSpPr>
              <p:nvPr/>
            </p:nvSpPr>
            <p:spPr bwMode="auto">
              <a:xfrm>
                <a:off x="1338" y="2931"/>
                <a:ext cx="1179" cy="408"/>
              </a:xfrm>
              <a:prstGeom prst="ellipse">
                <a:avLst/>
              </a:prstGeom>
              <a:solidFill>
                <a:schemeClr val="accent1"/>
              </a:solidFill>
              <a:ln w="9525" algn="ctr">
                <a:solidFill>
                  <a:schemeClr val="tx1"/>
                </a:solidFill>
                <a:round/>
                <a:headEnd/>
                <a:tailEnd/>
              </a:ln>
            </p:spPr>
            <p:txBody>
              <a:bodyPr wrap="none" anchor="ctr"/>
              <a:lstStyle/>
              <a:p>
                <a:endParaRPr lang="zh-CN" altLang="en-US"/>
              </a:p>
            </p:txBody>
          </p:sp>
          <p:sp>
            <p:nvSpPr>
              <p:cNvPr id="37899" name="Oval 6"/>
              <p:cNvSpPr>
                <a:spLocks noChangeArrowheads="1"/>
              </p:cNvSpPr>
              <p:nvPr/>
            </p:nvSpPr>
            <p:spPr bwMode="auto">
              <a:xfrm>
                <a:off x="3289" y="2931"/>
                <a:ext cx="1179" cy="408"/>
              </a:xfrm>
              <a:prstGeom prst="ellipse">
                <a:avLst/>
              </a:prstGeom>
              <a:solidFill>
                <a:schemeClr val="accent1"/>
              </a:solidFill>
              <a:ln w="9525" algn="ctr">
                <a:solidFill>
                  <a:schemeClr val="tx1"/>
                </a:solidFill>
                <a:round/>
                <a:headEnd/>
                <a:tailEnd/>
              </a:ln>
            </p:spPr>
            <p:txBody>
              <a:bodyPr wrap="none" anchor="ctr"/>
              <a:lstStyle/>
              <a:p>
                <a:endParaRPr lang="zh-CN" altLang="en-US"/>
              </a:p>
            </p:txBody>
          </p:sp>
          <p:sp>
            <p:nvSpPr>
              <p:cNvPr id="37900" name="Line 7"/>
              <p:cNvSpPr>
                <a:spLocks noChangeShapeType="1"/>
              </p:cNvSpPr>
              <p:nvPr/>
            </p:nvSpPr>
            <p:spPr bwMode="auto">
              <a:xfrm>
                <a:off x="748" y="3158"/>
                <a:ext cx="590" cy="0"/>
              </a:xfrm>
              <a:prstGeom prst="line">
                <a:avLst/>
              </a:prstGeom>
              <a:noFill/>
              <a:ln w="12700">
                <a:solidFill>
                  <a:schemeClr val="tx1"/>
                </a:solidFill>
                <a:round/>
                <a:headEnd/>
                <a:tailEnd type="triangle" w="med" len="med"/>
              </a:ln>
            </p:spPr>
            <p:txBody>
              <a:bodyPr wrap="none"/>
              <a:lstStyle/>
              <a:p>
                <a:endParaRPr lang="zh-CN" altLang="en-US"/>
              </a:p>
            </p:txBody>
          </p:sp>
          <p:sp>
            <p:nvSpPr>
              <p:cNvPr id="37901" name="AutoShape 8"/>
              <p:cNvSpPr>
                <a:spLocks noChangeArrowheads="1"/>
              </p:cNvSpPr>
              <p:nvPr/>
            </p:nvSpPr>
            <p:spPr bwMode="auto">
              <a:xfrm>
                <a:off x="657" y="3113"/>
                <a:ext cx="91" cy="90"/>
              </a:xfrm>
              <a:prstGeom prst="flowChartConnector">
                <a:avLst/>
              </a:prstGeom>
              <a:solidFill>
                <a:schemeClr val="tx1"/>
              </a:solidFill>
              <a:ln w="9525" algn="ctr">
                <a:solidFill>
                  <a:schemeClr val="tx1"/>
                </a:solidFill>
                <a:prstDash val="dash"/>
                <a:round/>
                <a:headEnd/>
                <a:tailEnd/>
              </a:ln>
            </p:spPr>
            <p:txBody>
              <a:bodyPr wrap="none" anchor="ctr"/>
              <a:lstStyle/>
              <a:p>
                <a:endParaRPr lang="zh-CN" altLang="en-US"/>
              </a:p>
            </p:txBody>
          </p:sp>
          <p:grpSp>
            <p:nvGrpSpPr>
              <p:cNvPr id="4" name="Group 9"/>
              <p:cNvGrpSpPr>
                <a:grpSpLocks/>
              </p:cNvGrpSpPr>
              <p:nvPr/>
            </p:nvGrpSpPr>
            <p:grpSpPr bwMode="auto">
              <a:xfrm>
                <a:off x="5058" y="3067"/>
                <a:ext cx="181" cy="181"/>
                <a:chOff x="4967" y="3067"/>
                <a:chExt cx="181" cy="181"/>
              </a:xfrm>
            </p:grpSpPr>
            <p:sp>
              <p:nvSpPr>
                <p:cNvPr id="37910" name="AutoShape 10"/>
                <p:cNvSpPr>
                  <a:spLocks noChangeArrowheads="1"/>
                </p:cNvSpPr>
                <p:nvPr/>
              </p:nvSpPr>
              <p:spPr bwMode="auto">
                <a:xfrm>
                  <a:off x="4967" y="3067"/>
                  <a:ext cx="181" cy="181"/>
                </a:xfrm>
                <a:prstGeom prst="flowChartConnector">
                  <a:avLst/>
                </a:prstGeom>
                <a:noFill/>
                <a:ln w="9525" algn="ctr">
                  <a:solidFill>
                    <a:schemeClr val="tx1"/>
                  </a:solidFill>
                  <a:round/>
                  <a:headEnd/>
                  <a:tailEnd/>
                </a:ln>
              </p:spPr>
              <p:txBody>
                <a:bodyPr wrap="none" anchor="ctr"/>
                <a:lstStyle/>
                <a:p>
                  <a:endParaRPr lang="zh-CN" altLang="en-US"/>
                </a:p>
              </p:txBody>
            </p:sp>
            <p:sp>
              <p:nvSpPr>
                <p:cNvPr id="37911" name="AutoShape 11"/>
                <p:cNvSpPr>
                  <a:spLocks noChangeArrowheads="1"/>
                </p:cNvSpPr>
                <p:nvPr/>
              </p:nvSpPr>
              <p:spPr bwMode="auto">
                <a:xfrm>
                  <a:off x="5012" y="3113"/>
                  <a:ext cx="91" cy="90"/>
                </a:xfrm>
                <a:prstGeom prst="flowChartConnector">
                  <a:avLst/>
                </a:prstGeom>
                <a:solidFill>
                  <a:schemeClr val="tx1"/>
                </a:solidFill>
                <a:ln w="9525" algn="ctr">
                  <a:solidFill>
                    <a:schemeClr val="tx1"/>
                  </a:solidFill>
                  <a:round/>
                  <a:headEnd/>
                  <a:tailEnd/>
                </a:ln>
              </p:spPr>
              <p:txBody>
                <a:bodyPr wrap="none" anchor="ctr"/>
                <a:lstStyle/>
                <a:p>
                  <a:endParaRPr lang="zh-CN" altLang="en-US"/>
                </a:p>
              </p:txBody>
            </p:sp>
          </p:grpSp>
          <p:sp>
            <p:nvSpPr>
              <p:cNvPr id="37903" name="Line 12"/>
              <p:cNvSpPr>
                <a:spLocks noChangeShapeType="1"/>
              </p:cNvSpPr>
              <p:nvPr/>
            </p:nvSpPr>
            <p:spPr bwMode="auto">
              <a:xfrm>
                <a:off x="2517" y="3158"/>
                <a:ext cx="772" cy="0"/>
              </a:xfrm>
              <a:prstGeom prst="line">
                <a:avLst/>
              </a:prstGeom>
              <a:noFill/>
              <a:ln w="12700">
                <a:solidFill>
                  <a:schemeClr val="tx1"/>
                </a:solidFill>
                <a:round/>
                <a:headEnd/>
                <a:tailEnd type="triangle" w="med" len="med"/>
              </a:ln>
            </p:spPr>
            <p:txBody>
              <a:bodyPr wrap="none"/>
              <a:lstStyle/>
              <a:p>
                <a:endParaRPr lang="zh-CN" altLang="en-US"/>
              </a:p>
            </p:txBody>
          </p:sp>
          <p:sp>
            <p:nvSpPr>
              <p:cNvPr id="37904" name="Line 13"/>
              <p:cNvSpPr>
                <a:spLocks noChangeShapeType="1"/>
              </p:cNvSpPr>
              <p:nvPr/>
            </p:nvSpPr>
            <p:spPr bwMode="auto">
              <a:xfrm>
                <a:off x="4468" y="3158"/>
                <a:ext cx="590" cy="0"/>
              </a:xfrm>
              <a:prstGeom prst="line">
                <a:avLst/>
              </a:prstGeom>
              <a:noFill/>
              <a:ln w="12700">
                <a:solidFill>
                  <a:schemeClr val="tx1"/>
                </a:solidFill>
                <a:round/>
                <a:headEnd/>
                <a:tailEnd type="triangle" w="med" len="med"/>
              </a:ln>
            </p:spPr>
            <p:txBody>
              <a:bodyPr wrap="none"/>
              <a:lstStyle/>
              <a:p>
                <a:endParaRPr lang="zh-CN" altLang="en-US"/>
              </a:p>
            </p:txBody>
          </p:sp>
          <p:sp>
            <p:nvSpPr>
              <p:cNvPr id="37905" name="Text Box 14"/>
              <p:cNvSpPr txBox="1">
                <a:spLocks noChangeArrowheads="1"/>
              </p:cNvSpPr>
              <p:nvPr/>
            </p:nvSpPr>
            <p:spPr bwMode="auto">
              <a:xfrm>
                <a:off x="748" y="2931"/>
                <a:ext cx="589" cy="192"/>
              </a:xfrm>
              <a:prstGeom prst="rect">
                <a:avLst/>
              </a:prstGeom>
              <a:noFill/>
              <a:ln w="9525" algn="ctr">
                <a:noFill/>
                <a:prstDash val="dash"/>
                <a:miter lim="800000"/>
                <a:headEnd/>
                <a:tailEnd/>
              </a:ln>
            </p:spPr>
            <p:txBody>
              <a:bodyPr>
                <a:spAutoFit/>
              </a:bodyPr>
              <a:lstStyle/>
              <a:p>
                <a:pPr algn="ctr">
                  <a:spcBef>
                    <a:spcPct val="50000"/>
                  </a:spcBef>
                </a:pPr>
                <a:r>
                  <a:rPr lang="zh-CN" altLang="en-US" sz="1400">
                    <a:latin typeface="Garamond" pitchFamily="18" charset="0"/>
                  </a:rPr>
                  <a:t>初始事件</a:t>
                </a:r>
              </a:p>
            </p:txBody>
          </p:sp>
          <p:sp>
            <p:nvSpPr>
              <p:cNvPr id="37906" name="Text Box 15"/>
              <p:cNvSpPr txBox="1">
                <a:spLocks noChangeArrowheads="1"/>
              </p:cNvSpPr>
              <p:nvPr/>
            </p:nvSpPr>
            <p:spPr bwMode="auto">
              <a:xfrm>
                <a:off x="2517" y="2931"/>
                <a:ext cx="726" cy="192"/>
              </a:xfrm>
              <a:prstGeom prst="rect">
                <a:avLst/>
              </a:prstGeom>
              <a:noFill/>
              <a:ln w="9525" algn="ctr">
                <a:noFill/>
                <a:prstDash val="dash"/>
                <a:miter lim="800000"/>
                <a:headEnd/>
                <a:tailEnd/>
              </a:ln>
            </p:spPr>
            <p:txBody>
              <a:bodyPr>
                <a:spAutoFit/>
              </a:bodyPr>
              <a:lstStyle/>
              <a:p>
                <a:pPr algn="ctr">
                  <a:spcBef>
                    <a:spcPct val="50000"/>
                  </a:spcBef>
                </a:pPr>
                <a:r>
                  <a:rPr lang="zh-CN" altLang="en-US" sz="1400">
                    <a:latin typeface="Garamond" pitchFamily="18" charset="0"/>
                  </a:rPr>
                  <a:t>事件</a:t>
                </a:r>
                <a:r>
                  <a:rPr lang="en-US" altLang="zh-CN" sz="1400">
                    <a:latin typeface="Garamond" pitchFamily="18" charset="0"/>
                  </a:rPr>
                  <a:t>[</a:t>
                </a:r>
                <a:r>
                  <a:rPr lang="zh-CN" altLang="en-US" sz="1400">
                    <a:latin typeface="Garamond" pitchFamily="18" charset="0"/>
                  </a:rPr>
                  <a:t>条件</a:t>
                </a:r>
                <a:r>
                  <a:rPr lang="en-US" altLang="zh-CN" sz="1400">
                    <a:latin typeface="Garamond" pitchFamily="18" charset="0"/>
                  </a:rPr>
                  <a:t>1]</a:t>
                </a:r>
              </a:p>
            </p:txBody>
          </p:sp>
          <p:sp>
            <p:nvSpPr>
              <p:cNvPr id="37907" name="Text Box 16"/>
              <p:cNvSpPr txBox="1">
                <a:spLocks noChangeArrowheads="1"/>
              </p:cNvSpPr>
              <p:nvPr/>
            </p:nvSpPr>
            <p:spPr bwMode="auto">
              <a:xfrm>
                <a:off x="4468" y="2921"/>
                <a:ext cx="589" cy="192"/>
              </a:xfrm>
              <a:prstGeom prst="rect">
                <a:avLst/>
              </a:prstGeom>
              <a:noFill/>
              <a:ln w="9525" algn="ctr">
                <a:noFill/>
                <a:prstDash val="dash"/>
                <a:miter lim="800000"/>
                <a:headEnd/>
                <a:tailEnd/>
              </a:ln>
            </p:spPr>
            <p:txBody>
              <a:bodyPr>
                <a:spAutoFit/>
              </a:bodyPr>
              <a:lstStyle/>
              <a:p>
                <a:pPr algn="ctr">
                  <a:spcBef>
                    <a:spcPct val="50000"/>
                  </a:spcBef>
                </a:pPr>
                <a:r>
                  <a:rPr lang="zh-CN" altLang="en-US" sz="1400">
                    <a:latin typeface="Garamond" pitchFamily="18" charset="0"/>
                  </a:rPr>
                  <a:t>结束事件</a:t>
                </a:r>
              </a:p>
            </p:txBody>
          </p:sp>
          <p:sp>
            <p:nvSpPr>
              <p:cNvPr id="37908" name="Text Box 17"/>
              <p:cNvSpPr txBox="1">
                <a:spLocks noChangeArrowheads="1"/>
              </p:cNvSpPr>
              <p:nvPr/>
            </p:nvSpPr>
            <p:spPr bwMode="auto">
              <a:xfrm>
                <a:off x="1565" y="2931"/>
                <a:ext cx="589" cy="393"/>
              </a:xfrm>
              <a:prstGeom prst="rect">
                <a:avLst/>
              </a:prstGeom>
              <a:noFill/>
              <a:ln w="9525" algn="ctr">
                <a:noFill/>
                <a:prstDash val="dash"/>
                <a:miter lim="800000"/>
                <a:headEnd/>
                <a:tailEnd/>
              </a:ln>
            </p:spPr>
            <p:txBody>
              <a:bodyPr>
                <a:spAutoFit/>
              </a:bodyPr>
              <a:lstStyle/>
              <a:p>
                <a:pPr algn="ctr">
                  <a:spcBef>
                    <a:spcPct val="50000"/>
                  </a:spcBef>
                </a:pPr>
                <a:r>
                  <a:rPr lang="zh-CN" altLang="en-US" sz="1400">
                    <a:latin typeface="Garamond" pitchFamily="18" charset="0"/>
                  </a:rPr>
                  <a:t>状态</a:t>
                </a:r>
                <a:r>
                  <a:rPr lang="en-US" altLang="zh-CN" sz="1400">
                    <a:latin typeface="Garamond" pitchFamily="18" charset="0"/>
                  </a:rPr>
                  <a:t>1</a:t>
                </a:r>
              </a:p>
              <a:p>
                <a:pPr algn="ctr">
                  <a:spcBef>
                    <a:spcPct val="50000"/>
                  </a:spcBef>
                </a:pPr>
                <a:r>
                  <a:rPr lang="en-US" altLang="zh-CN" sz="1400">
                    <a:latin typeface="Garamond" pitchFamily="18" charset="0"/>
                  </a:rPr>
                  <a:t>do:</a:t>
                </a:r>
                <a:r>
                  <a:rPr lang="zh-CN" altLang="en-US" sz="1400">
                    <a:latin typeface="Garamond" pitchFamily="18" charset="0"/>
                  </a:rPr>
                  <a:t>行为</a:t>
                </a:r>
                <a:r>
                  <a:rPr lang="en-US" altLang="zh-CN" sz="1400">
                    <a:latin typeface="Garamond" pitchFamily="18" charset="0"/>
                  </a:rPr>
                  <a:t>1</a:t>
                </a:r>
              </a:p>
            </p:txBody>
          </p:sp>
          <p:sp>
            <p:nvSpPr>
              <p:cNvPr id="37909" name="Text Box 18"/>
              <p:cNvSpPr txBox="1">
                <a:spLocks noChangeArrowheads="1"/>
              </p:cNvSpPr>
              <p:nvPr/>
            </p:nvSpPr>
            <p:spPr bwMode="auto">
              <a:xfrm>
                <a:off x="3560" y="2931"/>
                <a:ext cx="589" cy="393"/>
              </a:xfrm>
              <a:prstGeom prst="rect">
                <a:avLst/>
              </a:prstGeom>
              <a:noFill/>
              <a:ln w="9525" algn="ctr">
                <a:noFill/>
                <a:prstDash val="dash"/>
                <a:miter lim="800000"/>
                <a:headEnd/>
                <a:tailEnd/>
              </a:ln>
            </p:spPr>
            <p:txBody>
              <a:bodyPr>
                <a:spAutoFit/>
              </a:bodyPr>
              <a:lstStyle/>
              <a:p>
                <a:pPr algn="ctr">
                  <a:spcBef>
                    <a:spcPct val="50000"/>
                  </a:spcBef>
                </a:pPr>
                <a:r>
                  <a:rPr lang="zh-CN" altLang="en-US" sz="1400">
                    <a:latin typeface="Garamond" pitchFamily="18" charset="0"/>
                  </a:rPr>
                  <a:t>状态</a:t>
                </a:r>
                <a:r>
                  <a:rPr lang="en-US" altLang="zh-CN" sz="1400">
                    <a:latin typeface="Garamond" pitchFamily="18" charset="0"/>
                  </a:rPr>
                  <a:t>2</a:t>
                </a:r>
              </a:p>
              <a:p>
                <a:pPr algn="ctr">
                  <a:spcBef>
                    <a:spcPct val="50000"/>
                  </a:spcBef>
                </a:pPr>
                <a:r>
                  <a:rPr lang="en-US" altLang="zh-CN" sz="1400">
                    <a:latin typeface="Garamond" pitchFamily="18" charset="0"/>
                  </a:rPr>
                  <a:t>do:</a:t>
                </a:r>
                <a:r>
                  <a:rPr lang="zh-CN" altLang="en-US" sz="1400">
                    <a:latin typeface="Garamond" pitchFamily="18" charset="0"/>
                  </a:rPr>
                  <a:t>行为</a:t>
                </a:r>
                <a:r>
                  <a:rPr lang="en-US" altLang="zh-CN" sz="1400">
                    <a:latin typeface="Garamond" pitchFamily="18" charset="0"/>
                  </a:rPr>
                  <a:t>2</a:t>
                </a:r>
              </a:p>
            </p:txBody>
          </p:sp>
        </p:grpSp>
      </p:grpSp>
      <p:sp>
        <p:nvSpPr>
          <p:cNvPr id="37893" name="内容占位符 2"/>
          <p:cNvSpPr>
            <a:spLocks noGrp="1"/>
          </p:cNvSpPr>
          <p:nvPr>
            <p:ph idx="1"/>
          </p:nvPr>
        </p:nvSpPr>
        <p:spPr>
          <a:xfrm>
            <a:off x="685800" y="2857500"/>
            <a:ext cx="8001000" cy="2400300"/>
          </a:xfrm>
        </p:spPr>
        <p:txBody>
          <a:bodyPr/>
          <a:lstStyle/>
          <a:p>
            <a:r>
              <a:rPr lang="zh-CN" altLang="en-US" sz="2400" smtClean="0">
                <a:ea typeface="宋体" charset="-122"/>
              </a:rPr>
              <a:t>状态图与事件和状态密切相关。当一个事件接收时，下一个状态依赖于当前的状态以及这个事件；由事件所引起的状态改变称为变迁。</a:t>
            </a:r>
            <a:endParaRPr lang="en-US" altLang="zh-CN" sz="2400" smtClean="0">
              <a:ea typeface="宋体" charset="-122"/>
            </a:endParaRPr>
          </a:p>
          <a:p>
            <a:r>
              <a:rPr lang="zh-CN" altLang="en-US" sz="2400" smtClean="0">
                <a:ea typeface="宋体" charset="-122"/>
              </a:rPr>
              <a:t>状态图详细说明了由事件序列引起的状态序列。</a:t>
            </a:r>
          </a:p>
        </p:txBody>
      </p:sp>
      <p:sp>
        <p:nvSpPr>
          <p:cNvPr id="24" name="线形标注 2 23"/>
          <p:cNvSpPr/>
          <p:nvPr/>
        </p:nvSpPr>
        <p:spPr>
          <a:xfrm>
            <a:off x="7072313" y="928688"/>
            <a:ext cx="1357312" cy="785812"/>
          </a:xfrm>
          <a:prstGeom prst="borderCallout2">
            <a:avLst>
              <a:gd name="adj1" fmla="val 18750"/>
              <a:gd name="adj2" fmla="val -8333"/>
              <a:gd name="adj3" fmla="val 18750"/>
              <a:gd name="adj4" fmla="val -16667"/>
              <a:gd name="adj5" fmla="val 144347"/>
              <a:gd name="adj6" fmla="val -46667"/>
            </a:avLst>
          </a:prstGeom>
        </p:spPr>
        <p:style>
          <a:lnRef idx="1">
            <a:schemeClr val="accent2"/>
          </a:lnRef>
          <a:fillRef idx="3">
            <a:schemeClr val="accent2"/>
          </a:fillRef>
          <a:effectRef idx="2">
            <a:schemeClr val="accent2"/>
          </a:effectRef>
          <a:fontRef idx="minor">
            <a:schemeClr val="lt1"/>
          </a:fontRef>
        </p:style>
        <p:txBody>
          <a:bodyPr anchor="ctr"/>
          <a:lstStyle/>
          <a:p>
            <a:pPr>
              <a:defRPr/>
            </a:pPr>
            <a:r>
              <a:rPr lang="zh-CN" altLang="en-US" dirty="0"/>
              <a:t>可以是矩形圆角框</a:t>
            </a:r>
          </a:p>
        </p:txBody>
      </p:sp>
      <p:sp>
        <p:nvSpPr>
          <p:cNvPr id="25" name="TextBox 24"/>
          <p:cNvSpPr txBox="1"/>
          <p:nvPr/>
        </p:nvSpPr>
        <p:spPr>
          <a:xfrm>
            <a:off x="4071938" y="5357813"/>
            <a:ext cx="4572000" cy="738187"/>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defRPr/>
            </a:pPr>
            <a:r>
              <a:rPr lang="zh-CN" altLang="en-US" sz="2400" b="1" i="1" dirty="0">
                <a:solidFill>
                  <a:srgbClr val="FF0000"/>
                </a:solidFill>
                <a:effectLst>
                  <a:outerShdw blurRad="38100" dist="38100" dir="2700000" algn="tl">
                    <a:srgbClr val="000000">
                      <a:alpha val="43137"/>
                    </a:srgbClr>
                  </a:outerShdw>
                </a:effectLst>
              </a:rPr>
              <a:t>说明：</a:t>
            </a:r>
            <a:r>
              <a:rPr lang="zh-CN" altLang="en-US" dirty="0"/>
              <a:t>关于状态图的建立，将在</a:t>
            </a:r>
            <a:r>
              <a:rPr lang="zh-CN" altLang="en-US" dirty="0" smtClean="0"/>
              <a:t>第七章</a:t>
            </a:r>
            <a:r>
              <a:rPr lang="zh-CN" altLang="en-US" dirty="0"/>
              <a:t>面向对象分析中简述。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en-US" altLang="zh-CN" dirty="0" smtClean="0">
                <a:ea typeface="宋体" charset="-122"/>
              </a:rPr>
              <a:t>6.8 </a:t>
            </a:r>
            <a:r>
              <a:rPr lang="zh-CN" altLang="en-US" dirty="0" smtClean="0">
                <a:ea typeface="宋体" charset="-122"/>
              </a:rPr>
              <a:t>功能模型</a:t>
            </a:r>
          </a:p>
        </p:txBody>
      </p:sp>
      <p:sp>
        <p:nvSpPr>
          <p:cNvPr id="38915" name="内容占位符 2"/>
          <p:cNvSpPr>
            <a:spLocks noGrp="1"/>
          </p:cNvSpPr>
          <p:nvPr>
            <p:ph idx="1"/>
          </p:nvPr>
        </p:nvSpPr>
        <p:spPr/>
        <p:txBody>
          <a:bodyPr/>
          <a:lstStyle/>
          <a:p>
            <a:r>
              <a:rPr lang="zh-CN" altLang="en-US" smtClean="0">
                <a:ea typeface="宋体" charset="-122"/>
              </a:rPr>
              <a:t>功能模型表示变化的系统的“功能”性质</a:t>
            </a:r>
            <a:r>
              <a:rPr lang="en-US" altLang="zh-CN" smtClean="0">
                <a:ea typeface="宋体" charset="-122"/>
              </a:rPr>
              <a:t>,</a:t>
            </a:r>
            <a:r>
              <a:rPr lang="zh-CN" altLang="en-US" smtClean="0">
                <a:ea typeface="宋体" charset="-122"/>
              </a:rPr>
              <a:t>它指明了系统应该“做什么”。</a:t>
            </a:r>
            <a:endParaRPr lang="en-US" altLang="zh-CN" smtClean="0">
              <a:ea typeface="宋体" charset="-122"/>
            </a:endParaRPr>
          </a:p>
          <a:p>
            <a:r>
              <a:rPr lang="zh-CN" altLang="en-US" smtClean="0">
                <a:ea typeface="宋体" charset="-122"/>
              </a:rPr>
              <a:t>在</a:t>
            </a:r>
            <a:r>
              <a:rPr lang="en-US" altLang="zh-CN" smtClean="0">
                <a:ea typeface="宋体" charset="-122"/>
              </a:rPr>
              <a:t>OMT</a:t>
            </a:r>
            <a:r>
              <a:rPr lang="zh-CN" altLang="en-US" smtClean="0">
                <a:ea typeface="宋体" charset="-122"/>
              </a:rPr>
              <a:t>中，功能模型用数据流图来表达。</a:t>
            </a:r>
            <a:endParaRPr lang="en-US" altLang="zh-CN" smtClean="0">
              <a:ea typeface="宋体" charset="-122"/>
            </a:endParaRPr>
          </a:p>
          <a:p>
            <a:r>
              <a:rPr lang="en-US" altLang="zh-CN" smtClean="0">
                <a:ea typeface="宋体" charset="-122"/>
              </a:rPr>
              <a:t>Jacobson</a:t>
            </a:r>
            <a:r>
              <a:rPr lang="zh-CN" altLang="en-US" smtClean="0">
                <a:ea typeface="宋体" charset="-122"/>
              </a:rPr>
              <a:t>方法是基于用例（</a:t>
            </a:r>
            <a:r>
              <a:rPr lang="en-US" altLang="zh-CN" smtClean="0">
                <a:ea typeface="宋体" charset="-122"/>
              </a:rPr>
              <a:t>Use Case</a:t>
            </a:r>
            <a:r>
              <a:rPr lang="zh-CN" altLang="en-US" smtClean="0">
                <a:ea typeface="宋体" charset="-122"/>
              </a:rPr>
              <a:t>）模型驱动的，并且目前广为流行的</a:t>
            </a:r>
            <a:r>
              <a:rPr lang="en-US" altLang="zh-CN" smtClean="0">
                <a:ea typeface="宋体" charset="-122"/>
              </a:rPr>
              <a:t>RUP</a:t>
            </a:r>
            <a:r>
              <a:rPr lang="zh-CN" altLang="en-US" smtClean="0">
                <a:ea typeface="宋体" charset="-122"/>
              </a:rPr>
              <a:t>（统一开发过程）也是基于用例模型的。另外考虑到数据流图已在结构化分析中讲述过，所以将补充讲解用例模型。</a:t>
            </a:r>
          </a:p>
        </p:txBody>
      </p:sp>
      <p:sp>
        <p:nvSpPr>
          <p:cNvPr id="38916" name="灯片编号占位符 3"/>
          <p:cNvSpPr>
            <a:spLocks noGrp="1"/>
          </p:cNvSpPr>
          <p:nvPr>
            <p:ph type="sldNum" sz="quarter" idx="12"/>
          </p:nvPr>
        </p:nvSpPr>
        <p:spPr>
          <a:noFill/>
        </p:spPr>
        <p:txBody>
          <a:bodyPr/>
          <a:lstStyle/>
          <a:p>
            <a:fld id="{11A32021-25C5-409B-AB26-6F4F54149BAE}" type="slidenum">
              <a:rPr lang="en-US" altLang="zh-CN" smtClean="0"/>
              <a:pPr/>
              <a:t>64</a:t>
            </a:fld>
            <a:endParaRPr lang="en-US" altLang="zh-CN" smtClean="0"/>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52400" y="381000"/>
            <a:ext cx="8839200" cy="762000"/>
          </a:xfrm>
        </p:spPr>
        <p:txBody>
          <a:bodyPr/>
          <a:lstStyle/>
          <a:p>
            <a:r>
              <a:rPr lang="en-US" altLang="zh-CN" i="1" dirty="0" smtClean="0"/>
              <a:t>6.9 </a:t>
            </a:r>
            <a:r>
              <a:rPr lang="zh-CN" altLang="en-US" i="1" dirty="0" smtClean="0"/>
              <a:t>三种模型之间的关系</a:t>
            </a:r>
          </a:p>
        </p:txBody>
      </p:sp>
      <p:sp>
        <p:nvSpPr>
          <p:cNvPr id="4" name="灯片编号占位符 5"/>
          <p:cNvSpPr>
            <a:spLocks noGrp="1"/>
          </p:cNvSpPr>
          <p:nvPr>
            <p:ph type="sldNum" sz="quarter" idx="12"/>
          </p:nvPr>
        </p:nvSpPr>
        <p:spPr/>
        <p:txBody>
          <a:bodyPr/>
          <a:lstStyle/>
          <a:p>
            <a:pPr>
              <a:defRPr/>
            </a:pPr>
            <a:fld id="{E04E556A-1FCA-4DA5-836F-C1D598CDBCDE}" type="slidenum">
              <a:rPr lang="en-US" altLang="zh-CN"/>
              <a:pPr>
                <a:defRPr/>
              </a:pPr>
              <a:t>65</a:t>
            </a:fld>
            <a:endParaRPr lang="en-US" altLang="zh-CN"/>
          </a:p>
        </p:txBody>
      </p:sp>
      <p:sp>
        <p:nvSpPr>
          <p:cNvPr id="183299" name="Rectangle 3"/>
          <p:cNvSpPr>
            <a:spLocks noGrp="1" noChangeArrowheads="1"/>
          </p:cNvSpPr>
          <p:nvPr>
            <p:ph sz="quarter" idx="1"/>
          </p:nvPr>
        </p:nvSpPr>
        <p:spPr>
          <a:xfrm>
            <a:off x="457200" y="1600200"/>
            <a:ext cx="7499176" cy="4953000"/>
          </a:xfrm>
        </p:spPr>
        <p:txBody>
          <a:bodyPr/>
          <a:lstStyle/>
          <a:p>
            <a:pPr algn="just">
              <a:spcAft>
                <a:spcPct val="40000"/>
              </a:spcAft>
            </a:pPr>
            <a:r>
              <a:rPr lang="zh-CN" altLang="en-US" dirty="0" smtClean="0">
                <a:latin typeface="宋体" charset="-122"/>
              </a:rPr>
              <a:t>面向对象建模技术所建立的三种模型，分别从三个不同侧面描述了所要开发的系统。这三个模型相互补充、相互配合，使得我们对系统的认识更加全面：</a:t>
            </a:r>
          </a:p>
          <a:p>
            <a:pPr lvl="2" algn="just">
              <a:spcAft>
                <a:spcPct val="40000"/>
              </a:spcAft>
            </a:pPr>
            <a:r>
              <a:rPr lang="zh-CN" altLang="en-US" sz="2400" dirty="0" smtClean="0">
                <a:latin typeface="宋体" charset="-122"/>
              </a:rPr>
              <a:t>功能模型指明了系统应该“做什么”；</a:t>
            </a:r>
          </a:p>
          <a:p>
            <a:pPr lvl="2" algn="just">
              <a:spcAft>
                <a:spcPct val="40000"/>
              </a:spcAft>
            </a:pPr>
            <a:r>
              <a:rPr lang="zh-CN" altLang="en-US" sz="2400" dirty="0" smtClean="0">
                <a:latin typeface="宋体" charset="-122"/>
              </a:rPr>
              <a:t>动态模型明确规定了什么时候做？</a:t>
            </a:r>
          </a:p>
          <a:p>
            <a:pPr lvl="2" algn="just">
              <a:spcAft>
                <a:spcPct val="40000"/>
              </a:spcAft>
            </a:pPr>
            <a:r>
              <a:rPr lang="zh-CN" altLang="en-US" sz="2400" dirty="0" smtClean="0">
                <a:latin typeface="宋体" charset="-122"/>
              </a:rPr>
              <a:t>对象模型则定义了做事情的实体。</a:t>
            </a:r>
          </a:p>
          <a:p>
            <a:pPr lvl="2" algn="just">
              <a:spcAft>
                <a:spcPct val="40000"/>
              </a:spcAft>
            </a:pPr>
            <a:r>
              <a:rPr lang="zh-CN" altLang="en-US" sz="2400" b="1" dirty="0" smtClean="0">
                <a:solidFill>
                  <a:srgbClr val="ED3807"/>
                </a:solidFill>
              </a:rPr>
              <a:t>对象模型是最基本最重要的，为其它两种模型奠定了基础，我们依靠对象模型完成三种模型的集成</a:t>
            </a:r>
            <a:endParaRPr lang="en-US" altLang="zh-CN" sz="2400" b="1" dirty="0" smtClean="0">
              <a:solidFill>
                <a:srgbClr val="ED380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83299">
                                            <p:txEl>
                                              <p:pRg st="4" end="4"/>
                                            </p:txEl>
                                          </p:spTgt>
                                        </p:tgtEl>
                                        <p:attrNameLst>
                                          <p:attrName>style.visibility</p:attrName>
                                        </p:attrNameLst>
                                      </p:cBhvr>
                                      <p:to>
                                        <p:strVal val="visible"/>
                                      </p:to>
                                    </p:set>
                                    <p:animEffect transition="in" filter="wipe(down)">
                                      <p:cBhvr>
                                        <p:cTn id="7" dur="500"/>
                                        <p:tgtEl>
                                          <p:spTgt spid="1832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381000"/>
            <a:ext cx="8839200" cy="762000"/>
          </a:xfrm>
        </p:spPr>
        <p:txBody>
          <a:bodyPr/>
          <a:lstStyle/>
          <a:p>
            <a:r>
              <a:rPr lang="en-US" altLang="zh-CN" i="1" dirty="0" smtClean="0"/>
              <a:t>6.9 </a:t>
            </a:r>
            <a:r>
              <a:rPr lang="zh-CN" altLang="en-US" i="1" dirty="0" smtClean="0"/>
              <a:t>三种模型之间的关系</a:t>
            </a:r>
          </a:p>
        </p:txBody>
      </p:sp>
      <p:sp>
        <p:nvSpPr>
          <p:cNvPr id="4" name="灯片编号占位符 5"/>
          <p:cNvSpPr>
            <a:spLocks noGrp="1"/>
          </p:cNvSpPr>
          <p:nvPr>
            <p:ph type="sldNum" sz="quarter" idx="12"/>
          </p:nvPr>
        </p:nvSpPr>
        <p:spPr/>
        <p:txBody>
          <a:bodyPr/>
          <a:lstStyle/>
          <a:p>
            <a:pPr>
              <a:defRPr/>
            </a:pPr>
            <a:fld id="{D12EA37D-C652-4E03-AB29-8DE6C2A41FA3}" type="slidenum">
              <a:rPr lang="en-US" altLang="zh-CN"/>
              <a:pPr>
                <a:defRPr/>
              </a:pPr>
              <a:t>66</a:t>
            </a:fld>
            <a:endParaRPr lang="en-US" altLang="zh-CN"/>
          </a:p>
        </p:txBody>
      </p:sp>
      <p:sp>
        <p:nvSpPr>
          <p:cNvPr id="184323" name="Rectangle 3"/>
          <p:cNvSpPr>
            <a:spLocks noGrp="1" noChangeArrowheads="1"/>
          </p:cNvSpPr>
          <p:nvPr>
            <p:ph sz="quarter" idx="1"/>
          </p:nvPr>
        </p:nvSpPr>
        <p:spPr>
          <a:xfrm>
            <a:off x="457200" y="1600200"/>
            <a:ext cx="8003232" cy="4953000"/>
          </a:xfrm>
        </p:spPr>
        <p:txBody>
          <a:bodyPr/>
          <a:lstStyle/>
          <a:p>
            <a:pPr algn="just">
              <a:spcAft>
                <a:spcPct val="40000"/>
              </a:spcAft>
            </a:pPr>
            <a:r>
              <a:rPr lang="zh-CN" altLang="en-US" sz="2400" dirty="0" smtClean="0">
                <a:latin typeface="宋体" charset="-122"/>
              </a:rPr>
              <a:t>动态模型描述了类实例的生命周期或运行周期</a:t>
            </a:r>
          </a:p>
          <a:p>
            <a:pPr algn="just">
              <a:spcAft>
                <a:spcPct val="40000"/>
              </a:spcAft>
            </a:pPr>
            <a:r>
              <a:rPr lang="zh-CN" altLang="en-US" sz="2400" dirty="0" smtClean="0"/>
              <a:t>状态转换驱使行为发生，这些行为在数据流图中被映射为处理，他们同时与对象模型中的服务相对应</a:t>
            </a:r>
          </a:p>
          <a:p>
            <a:pPr algn="just">
              <a:spcAft>
                <a:spcPct val="40000"/>
              </a:spcAft>
            </a:pPr>
            <a:r>
              <a:rPr lang="zh-CN" altLang="en-US" sz="2400" dirty="0" smtClean="0"/>
              <a:t>功能模型中的处理，对应于对象模型中类－</a:t>
            </a:r>
            <a:r>
              <a:rPr lang="en-US" altLang="zh-CN" sz="2400" dirty="0" smtClean="0"/>
              <a:t>&amp;</a:t>
            </a:r>
            <a:r>
              <a:rPr lang="zh-CN" altLang="en-US" sz="2400" dirty="0" smtClean="0"/>
              <a:t>－对象所提供的服务。</a:t>
            </a:r>
          </a:p>
          <a:p>
            <a:pPr algn="just">
              <a:spcAft>
                <a:spcPct val="40000"/>
              </a:spcAft>
            </a:pPr>
            <a:r>
              <a:rPr lang="zh-CN" altLang="en-US" sz="2400" dirty="0" smtClean="0"/>
              <a:t>功能模型中的数据存储，以及数据的源点</a:t>
            </a:r>
            <a:r>
              <a:rPr lang="en-US" altLang="zh-CN" sz="2400" dirty="0" smtClean="0"/>
              <a:t>/</a:t>
            </a:r>
            <a:r>
              <a:rPr lang="zh-CN" altLang="en-US" sz="2400" dirty="0" smtClean="0"/>
              <a:t>终点通常是对象模型中的对象 </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 y="381000"/>
            <a:ext cx="8839200" cy="762000"/>
          </a:xfrm>
        </p:spPr>
        <p:txBody>
          <a:bodyPr/>
          <a:lstStyle/>
          <a:p>
            <a:r>
              <a:rPr lang="en-US" altLang="zh-CN" i="1" dirty="0" smtClean="0"/>
              <a:t>6.9 </a:t>
            </a:r>
            <a:r>
              <a:rPr lang="zh-CN" altLang="en-US" i="1" dirty="0" smtClean="0"/>
              <a:t>三种模型之间的关系</a:t>
            </a:r>
          </a:p>
        </p:txBody>
      </p:sp>
      <p:sp>
        <p:nvSpPr>
          <p:cNvPr id="4" name="灯片编号占位符 5"/>
          <p:cNvSpPr>
            <a:spLocks noGrp="1"/>
          </p:cNvSpPr>
          <p:nvPr>
            <p:ph type="sldNum" sz="quarter" idx="12"/>
          </p:nvPr>
        </p:nvSpPr>
        <p:spPr/>
        <p:txBody>
          <a:bodyPr/>
          <a:lstStyle/>
          <a:p>
            <a:pPr>
              <a:defRPr/>
            </a:pPr>
            <a:fld id="{E36ACE45-6C50-45CC-BCAB-432C00DDBBCB}" type="slidenum">
              <a:rPr lang="en-US" altLang="zh-CN"/>
              <a:pPr>
                <a:defRPr/>
              </a:pPr>
              <a:t>67</a:t>
            </a:fld>
            <a:endParaRPr lang="en-US" altLang="zh-CN"/>
          </a:p>
        </p:txBody>
      </p:sp>
      <p:sp>
        <p:nvSpPr>
          <p:cNvPr id="231427" name="Rectangle 3"/>
          <p:cNvSpPr>
            <a:spLocks noGrp="1" noChangeArrowheads="1"/>
          </p:cNvSpPr>
          <p:nvPr>
            <p:ph sz="quarter" idx="1"/>
          </p:nvPr>
        </p:nvSpPr>
        <p:spPr>
          <a:xfrm>
            <a:off x="457200" y="1600200"/>
            <a:ext cx="7715200" cy="4953000"/>
          </a:xfrm>
        </p:spPr>
        <p:txBody>
          <a:bodyPr/>
          <a:lstStyle/>
          <a:p>
            <a:r>
              <a:rPr lang="zh-CN" altLang="en-US" sz="2400" dirty="0" smtClean="0"/>
              <a:t>功能模型中的数据流，往往是对象模型中的属性值，也可能是整个对象</a:t>
            </a:r>
          </a:p>
          <a:p>
            <a:r>
              <a:rPr lang="zh-CN" altLang="en-US" sz="2400" dirty="0" smtClean="0"/>
              <a:t>功能模型中的处理可能产生动态模型中的事件</a:t>
            </a:r>
          </a:p>
          <a:p>
            <a:r>
              <a:rPr lang="zh-CN" altLang="en-US" sz="2400" dirty="0" smtClean="0"/>
              <a:t>对象模型描述了功能模型中的数据存储以及数据流的结构</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小结</a:t>
            </a:r>
            <a:endParaRPr lang="zh-CN" altLang="en-US" dirty="0"/>
          </a:p>
        </p:txBody>
      </p:sp>
      <p:sp>
        <p:nvSpPr>
          <p:cNvPr id="3" name="内容占位符 2"/>
          <p:cNvSpPr>
            <a:spLocks noGrp="1"/>
          </p:cNvSpPr>
          <p:nvPr>
            <p:ph idx="1"/>
          </p:nvPr>
        </p:nvSpPr>
        <p:spPr/>
        <p:txBody>
          <a:bodyPr/>
          <a:lstStyle/>
          <a:p>
            <a:r>
              <a:rPr lang="zh-CN" altLang="en-US" sz="2600" dirty="0" smtClean="0"/>
              <a:t>理解面向对象，以及它和结构化方法的区别</a:t>
            </a:r>
            <a:endParaRPr lang="en-US" altLang="zh-CN" sz="2600" dirty="0" smtClean="0"/>
          </a:p>
          <a:p>
            <a:endParaRPr lang="en-US" altLang="zh-CN" sz="2600" dirty="0" smtClean="0"/>
          </a:p>
          <a:p>
            <a:r>
              <a:rPr lang="zh-CN" altLang="en-US" sz="2600" dirty="0" smtClean="0"/>
              <a:t>面向对象方法学中的主要概念和优点</a:t>
            </a:r>
            <a:endParaRPr lang="en-US" altLang="zh-CN" sz="2600" dirty="0" smtClean="0"/>
          </a:p>
          <a:p>
            <a:endParaRPr lang="en-US" altLang="zh-CN" sz="2600" dirty="0" smtClean="0"/>
          </a:p>
          <a:p>
            <a:r>
              <a:rPr lang="zh-CN" altLang="en-US" sz="2600" dirty="0" smtClean="0"/>
              <a:t>面向对象方法的软件开发过程</a:t>
            </a:r>
            <a:endParaRPr lang="en-US" altLang="zh-CN" sz="2600" dirty="0" smtClean="0"/>
          </a:p>
          <a:p>
            <a:endParaRPr lang="en-US" altLang="zh-CN" sz="2600" dirty="0" smtClean="0"/>
          </a:p>
          <a:p>
            <a:r>
              <a:rPr lang="en-US" altLang="zh-CN" sz="2600" dirty="0" smtClean="0"/>
              <a:t>OMT</a:t>
            </a:r>
            <a:r>
              <a:rPr lang="zh-CN" altLang="en-US" sz="2600" dirty="0" smtClean="0"/>
              <a:t>方法的面向对象方法建模</a:t>
            </a:r>
            <a:endParaRPr lang="en-US" altLang="zh-CN" sz="2600" dirty="0" smtClean="0"/>
          </a:p>
          <a:p>
            <a:endParaRPr lang="zh-CN" altLang="en-US" sz="2600" dirty="0"/>
          </a:p>
        </p:txBody>
      </p:sp>
      <p:sp>
        <p:nvSpPr>
          <p:cNvPr id="4" name="灯片编号占位符 3"/>
          <p:cNvSpPr>
            <a:spLocks noGrp="1"/>
          </p:cNvSpPr>
          <p:nvPr>
            <p:ph type="sldNum" sz="quarter" idx="12"/>
          </p:nvPr>
        </p:nvSpPr>
        <p:spPr/>
        <p:txBody>
          <a:bodyPr/>
          <a:lstStyle/>
          <a:p>
            <a:pPr>
              <a:defRPr/>
            </a:pPr>
            <a:fld id="{29032E66-95B1-4F91-A220-FEFB0075B15A}" type="slidenum">
              <a:rPr lang="zh-CN" altLang="en-US" smtClean="0"/>
              <a:pPr>
                <a:defRPr/>
              </a:pPr>
              <a:t>68</a:t>
            </a:fld>
            <a:endParaRPr lang="en-US" altLang="zh-CN"/>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科学博览会项目演示文稿">
  <a:themeElements>
    <a:clrScheme name="MS_EdSciFair_TP01018373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MS_EdSciFair_TP01018373">
      <a:majorFont>
        <a:latin typeface="宋体"/>
        <a:ea typeface="宋体"/>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Times New Roman" pitchFamily="18" charset="0"/>
          </a:defRPr>
        </a:defPPr>
      </a:lstStyle>
    </a:lnDef>
  </a:objectDefaults>
  <a:extraClrSchemeLst>
    <a:extraClrScheme>
      <a:clrScheme name="MS_EdSciFair_TP01018373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MS_EdSciFair_TP01018373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MS_EdSciFair_TP01018373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MS_EdSciFair_TP01018373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MS_EdSciFair_TP01018373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MS_EdSciFair_TP01018373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MS_EdSciFair_TP01018373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MS_EdSciFair_TP01018373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MS_EdSciFair_TP01018373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MS_EdSciFair_TP01018373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科学博览会项目演示文稿</Template>
  <TotalTime>20021</TotalTime>
  <Words>6656</Words>
  <Application>Microsoft Office PowerPoint</Application>
  <PresentationFormat>全屏显示(4:3)</PresentationFormat>
  <Paragraphs>547</Paragraphs>
  <Slides>68</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68</vt:i4>
      </vt:variant>
    </vt:vector>
  </HeadingPairs>
  <TitlesOfParts>
    <vt:vector size="77" baseType="lpstr">
      <vt:lpstr>黑体</vt:lpstr>
      <vt:lpstr>华文新魏</vt:lpstr>
      <vt:lpstr>宋体</vt:lpstr>
      <vt:lpstr>Arial</vt:lpstr>
      <vt:lpstr>Garamond</vt:lpstr>
      <vt:lpstr>Times New Roman</vt:lpstr>
      <vt:lpstr>Wingdings</vt:lpstr>
      <vt:lpstr>Wingdings 2</vt:lpstr>
      <vt:lpstr>科学博览会项目演示文稿</vt:lpstr>
      <vt:lpstr> 面向对象方法学导论</vt:lpstr>
      <vt:lpstr>面向对象方法学导论</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1、 *结构化设计 VS 面向对象设计</vt:lpstr>
      <vt:lpstr>*理解面向对象：一、由编程语言直观了解</vt:lpstr>
      <vt:lpstr>*二、但OOPL并非面向对象的全部</vt:lpstr>
      <vt:lpstr>*三、一个具体示例</vt:lpstr>
      <vt:lpstr>*三、一个具体示例</vt:lpstr>
      <vt:lpstr>*四、现在需求改变了</vt:lpstr>
      <vt:lpstr>*五、重新认识面向对象</vt:lpstr>
      <vt:lpstr>第6章    面向对象方法学导论</vt:lpstr>
      <vt:lpstr>6.1   一个简单的实例 </vt:lpstr>
      <vt:lpstr>6.1   一个简单的实例 </vt:lpstr>
      <vt:lpstr>6.1   一个简单的实例 </vt:lpstr>
      <vt:lpstr>6.1   一个简单的实例 </vt:lpstr>
      <vt:lpstr>6.1   一个简单的实例 </vt:lpstr>
      <vt:lpstr>6.1   一个简单的实例 </vt:lpstr>
      <vt:lpstr>6.2   面向对象方法学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6.4  面向对象的概念</vt:lpstr>
      <vt:lpstr>6.5  面向对象的建模</vt:lpstr>
      <vt:lpstr>*</vt:lpstr>
      <vt:lpstr>OMT方法</vt:lpstr>
      <vt:lpstr>PowerPoint 演示文稿</vt:lpstr>
      <vt:lpstr>PowerPoint 演示文稿</vt:lpstr>
      <vt:lpstr>*什么是模型</vt:lpstr>
      <vt:lpstr>*模型的用途</vt:lpstr>
      <vt:lpstr>*模型的形式</vt:lpstr>
      <vt:lpstr>6.6 对象模型</vt:lpstr>
      <vt:lpstr>表示方法</vt:lpstr>
      <vt:lpstr>表示方法</vt:lpstr>
      <vt:lpstr>表示结构</vt:lpstr>
      <vt:lpstr>1、泛化关系（ Generalization ）</vt:lpstr>
      <vt:lpstr>2、聚合关系（Aggregation）</vt:lpstr>
      <vt:lpstr>2、聚合关系——举例</vt:lpstr>
      <vt:lpstr>3、关联关系（Association）</vt:lpstr>
      <vt:lpstr>3、关联关系</vt:lpstr>
      <vt:lpstr>4、依赖关系（Dependency）</vt:lpstr>
      <vt:lpstr>4、依赖关系</vt:lpstr>
      <vt:lpstr>对象模型举例</vt:lpstr>
      <vt:lpstr>6.7 动态模型</vt:lpstr>
      <vt:lpstr>1、主要概念</vt:lpstr>
      <vt:lpstr>2、表示符号</vt:lpstr>
      <vt:lpstr>6.8 功能模型</vt:lpstr>
      <vt:lpstr>6.9 三种模型之间的关系</vt:lpstr>
      <vt:lpstr>6.9 三种模型之间的关系</vt:lpstr>
      <vt:lpstr>6.9 三种模型之间的关系</vt:lpstr>
      <vt:lpstr>小结</vt:lpstr>
    </vt:vector>
  </TitlesOfParts>
  <Manager/>
  <Company>miti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软件工程</dc:title>
  <dc:subject/>
  <dc:creator>温宇俊</dc:creator>
  <cp:keywords/>
  <dc:description/>
  <cp:lastModifiedBy>张弛</cp:lastModifiedBy>
  <cp:revision>378</cp:revision>
  <dcterms:created xsi:type="dcterms:W3CDTF">2008-02-27T02:45:04Z</dcterms:created>
  <dcterms:modified xsi:type="dcterms:W3CDTF">2021-04-08T06:57:20Z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TC010183732052</vt:lpwstr>
  </property>
</Properties>
</file>
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7" r:id="rId2"/>
    <p:sldId id="259" r:id="rId3"/>
    <p:sldId id="260" r:id="rId4"/>
    <p:sldId id="279" r:id="rId5"/>
    <p:sldId id="270" r:id="rId6"/>
    <p:sldId id="283" r:id="rId7"/>
    <p:sldId id="284" r:id="rId8"/>
    <p:sldId id="285" r:id="rId9"/>
    <p:sldId id="286" r:id="rId10"/>
    <p:sldId id="287" r:id="rId11"/>
    <p:sldId id="302" r:id="rId12"/>
    <p:sldId id="310" r:id="rId13"/>
    <p:sldId id="321" r:id="rId14"/>
    <p:sldId id="322" r:id="rId15"/>
    <p:sldId id="323" r:id="rId16"/>
    <p:sldId id="324" r:id="rId17"/>
    <p:sldId id="288" r:id="rId18"/>
    <p:sldId id="289" r:id="rId19"/>
    <p:sldId id="290" r:id="rId20"/>
    <p:sldId id="303" r:id="rId21"/>
    <p:sldId id="304" r:id="rId22"/>
    <p:sldId id="305" r:id="rId23"/>
    <p:sldId id="306" r:id="rId24"/>
    <p:sldId id="313" r:id="rId25"/>
    <p:sldId id="314" r:id="rId26"/>
    <p:sldId id="325" r:id="rId27"/>
    <p:sldId id="315" r:id="rId28"/>
    <p:sldId id="316" r:id="rId29"/>
    <p:sldId id="317" r:id="rId30"/>
    <p:sldId id="318" r:id="rId31"/>
    <p:sldId id="319" r:id="rId32"/>
    <p:sldId id="320" r:id="rId33"/>
    <p:sldId id="311" r:id="rId34"/>
    <p:sldId id="326" r:id="rId35"/>
    <p:sldId id="307" r:id="rId36"/>
    <p:sldId id="291" r:id="rId37"/>
    <p:sldId id="308" r:id="rId38"/>
    <p:sldId id="327" r:id="rId39"/>
    <p:sldId id="328" r:id="rId40"/>
    <p:sldId id="309"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32"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A6A0F5-9DEE-4BBD-A0C8-B8873E9259EB}" type="datetimeFigureOut">
              <a:rPr lang="zh-CN" altLang="en-US" smtClean="0"/>
              <a:pPr/>
              <a:t>2019/6/3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B6E237-0FAD-45AA-BF39-8FF64DE10B72}" type="slidenum">
              <a:rPr lang="zh-CN" altLang="en-US" smtClean="0"/>
              <a:pPr/>
              <a:t>‹#›</a:t>
            </a:fld>
            <a:endParaRPr lang="zh-CN" altLang="en-US"/>
          </a:p>
        </p:txBody>
      </p:sp>
    </p:spTree>
    <p:extLst>
      <p:ext uri="{BB962C8B-B14F-4D97-AF65-F5344CB8AC3E}">
        <p14:creationId xmlns:p14="http://schemas.microsoft.com/office/powerpoint/2010/main" val="518714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对角圆角矩形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64234" y="381001"/>
            <a:ext cx="8229600" cy="2209800"/>
          </a:xfrm>
        </p:spPr>
        <p:txBody>
          <a:bodyPr lIns="45720" rIns="228600" anchor="b">
            <a:normAutofit/>
          </a:bodyPr>
          <a:lstStyle>
            <a:lvl1pPr marL="0" algn="r">
              <a:defRPr sz="4800"/>
            </a:lvl1pPr>
            <a:extLst/>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单击此处编辑母版副标题样式</a:t>
            </a:r>
            <a:endParaRPr kumimoji="0" lang="en-US"/>
          </a:p>
        </p:txBody>
      </p:sp>
      <p:sp>
        <p:nvSpPr>
          <p:cNvPr id="10" name="日期占位符 9"/>
          <p:cNvSpPr>
            <a:spLocks noGrp="1"/>
          </p:cNvSpPr>
          <p:nvPr>
            <p:ph type="dt" sz="half" idx="10"/>
          </p:nvPr>
        </p:nvSpPr>
        <p:spPr>
          <a:xfrm>
            <a:off x="5562600" y="6509004"/>
            <a:ext cx="3002280" cy="274320"/>
          </a:xfrm>
        </p:spPr>
        <p:txBody>
          <a:bodyPr vert="horz" rtlCol="0"/>
          <a:lstStyle/>
          <a:p>
            <a:fld id="{530820CF-B880-4189-942D-D702A7CBA730}" type="datetimeFigureOut">
              <a:rPr lang="zh-CN" altLang="en-US" smtClean="0"/>
              <a:pPr/>
              <a:t>2019/6/3</a:t>
            </a:fld>
            <a:endParaRPr lang="zh-CN" altLang="en-US"/>
          </a:p>
        </p:txBody>
      </p:sp>
      <p:sp>
        <p:nvSpPr>
          <p:cNvPr id="11" name="灯片编号占位符 10"/>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0C913308-F349-4B6D-A68A-DD1791B4A57B}" type="slidenum">
              <a:rPr lang="zh-CN" altLang="en-US" smtClean="0"/>
              <a:pPr/>
              <a:t>‹#›</a:t>
            </a:fld>
            <a:endParaRPr lang="zh-CN" altLang="en-US"/>
          </a:p>
        </p:txBody>
      </p:sp>
      <p:sp>
        <p:nvSpPr>
          <p:cNvPr id="12" name="页脚占位符 11"/>
          <p:cNvSpPr>
            <a:spLocks noGrp="1"/>
          </p:cNvSpPr>
          <p:nvPr>
            <p:ph type="ftr" sz="quarter" idx="12"/>
          </p:nvPr>
        </p:nvSpPr>
        <p:spPr>
          <a:xfrm>
            <a:off x="1600200" y="6509004"/>
            <a:ext cx="3907464" cy="274320"/>
          </a:xfrm>
        </p:spPr>
        <p:txBody>
          <a:bodyPr vert="horz" rtlCol="0"/>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7" name="矩形 6"/>
          <p:cNvSpPr/>
          <p:nvPr/>
        </p:nvSpPr>
        <p:spPr>
          <a:xfrm>
            <a:off x="1000128" y="3267456"/>
            <a:ext cx="74066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3287713"/>
            <a:ext cx="77724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smtClean="0"/>
              <a:t>单击此处编辑母版文本样式</a:t>
            </a:r>
          </a:p>
        </p:txBody>
      </p:sp>
      <p:sp>
        <p:nvSpPr>
          <p:cNvPr id="8" name="日期占位符 7"/>
          <p:cNvSpPr>
            <a:spLocks noGrp="1"/>
          </p:cNvSpPr>
          <p:nvPr>
            <p:ph type="dt" sz="half" idx="10"/>
          </p:nvPr>
        </p:nvSpPr>
        <p:spPr>
          <a:xfrm>
            <a:off x="5562600" y="6513670"/>
            <a:ext cx="3002280" cy="274320"/>
          </a:xfrm>
        </p:spPr>
        <p:txBody>
          <a:bodyPr vert="horz" rtlCol="0"/>
          <a:lstStyle/>
          <a:p>
            <a:fld id="{530820CF-B880-4189-942D-D702A7CBA730}" type="datetimeFigureOut">
              <a:rPr lang="zh-CN" altLang="en-US" smtClean="0"/>
              <a:pPr/>
              <a:t>2019/6/3</a:t>
            </a:fld>
            <a:endParaRPr lang="zh-CN" altLang="en-US"/>
          </a:p>
        </p:txBody>
      </p:sp>
      <p:sp>
        <p:nvSpPr>
          <p:cNvPr id="9" name="灯片编号占位符 8"/>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0C913308-F349-4B6D-A68A-DD1791B4A57B}" type="slidenum">
              <a:rPr lang="zh-CN" altLang="en-US" smtClean="0"/>
              <a:pPr/>
              <a:t>‹#›</a:t>
            </a:fld>
            <a:endParaRPr lang="zh-CN" altLang="en-US"/>
          </a:p>
        </p:txBody>
      </p:sp>
      <p:sp>
        <p:nvSpPr>
          <p:cNvPr id="10" name="页脚占位符 9"/>
          <p:cNvSpPr>
            <a:spLocks noGrp="1"/>
          </p:cNvSpPr>
          <p:nvPr>
            <p:ph type="ftr" sz="quarter" idx="12"/>
          </p:nvPr>
        </p:nvSpPr>
        <p:spPr>
          <a:xfrm>
            <a:off x="1600200" y="6513670"/>
            <a:ext cx="3907464" cy="274320"/>
          </a:xfrm>
        </p:spPr>
        <p:txBody>
          <a:bodyPr vert="horz" rtlCol="0"/>
          <a:lstStyle/>
          <a:p>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641080" y="6514568"/>
            <a:ext cx="464288" cy="274320"/>
          </a:xfrm>
        </p:spPr>
        <p:txBody>
          <a:bodyPr/>
          <a:lstStyle/>
          <a:p>
            <a:fld id="{0C913308-F349-4B6D-A68A-DD1791B4A57B}" type="slidenum">
              <a:rPr lang="zh-CN" altLang="en-US" smtClean="0"/>
              <a:pPr/>
              <a:t>‹#›</a:t>
            </a:fld>
            <a:endParaRPr lang="zh-CN" altLang="en-US"/>
          </a:p>
        </p:txBody>
      </p:sp>
      <p:sp>
        <p:nvSpPr>
          <p:cNvPr id="10" name="矩形 9"/>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616744"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11" name="矩形 10"/>
          <p:cNvSpPr/>
          <p:nvPr/>
        </p:nvSpPr>
        <p:spPr>
          <a:xfrm>
            <a:off x="4800600"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2" name="标题 1"/>
          <p:cNvSpPr>
            <a:spLocks noGrp="1"/>
          </p:cNvSpPr>
          <p:nvPr>
            <p:ph type="title"/>
          </p:nvPr>
        </p:nvSpPr>
        <p:spPr>
          <a:xfrm>
            <a:off x="457200" y="251948"/>
            <a:ext cx="8229600" cy="1143000"/>
          </a:xfrm>
        </p:spPr>
        <p:txBody>
          <a:bodyPr anchor="b"/>
          <a:lstStyle>
            <a:lvl1pPr>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362200"/>
            <a:ext cx="4040188"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8641080" y="6514568"/>
            <a:ext cx="464288" cy="274320"/>
          </a:xfrm>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218"/>
            <a:ext cx="8229600" cy="1143000"/>
          </a:xfrm>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1">
        <a:schemeClr val="bg2"/>
      </p:bgRef>
    </p:bg>
    <p:spTree>
      <p:nvGrpSpPr>
        <p:cNvPr id="1" name=""/>
        <p:cNvGrpSpPr/>
        <p:nvPr/>
      </p:nvGrpSpPr>
      <p:grpSpPr>
        <a:xfrm>
          <a:off x="0" y="0"/>
          <a:ext cx="0" cy="0"/>
          <a:chOff x="0" y="0"/>
          <a:chExt cx="0" cy="0"/>
        </a:xfrm>
      </p:grpSpPr>
      <p:sp>
        <p:nvSpPr>
          <p:cNvPr id="8" name="矩形 7"/>
          <p:cNvSpPr/>
          <p:nvPr/>
        </p:nvSpPr>
        <p:spPr>
          <a:xfrm>
            <a:off x="5057552" y="105765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4963136" y="304800"/>
            <a:ext cx="3931920" cy="762000"/>
          </a:xfrm>
        </p:spPr>
        <p:txBody>
          <a:bodyPr anchor="b"/>
          <a:lstStyle>
            <a:lvl1pPr marL="0" algn="r">
              <a:buNone/>
              <a:defRPr sz="2000" b="1"/>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9" name="日期占位符 8"/>
          <p:cNvSpPr>
            <a:spLocks noGrp="1"/>
          </p:cNvSpPr>
          <p:nvPr>
            <p:ph type="dt" sz="half" idx="10"/>
          </p:nvPr>
        </p:nvSpPr>
        <p:spPr>
          <a:xfrm>
            <a:off x="5562600" y="6513670"/>
            <a:ext cx="3002280" cy="274320"/>
          </a:xfrm>
        </p:spPr>
        <p:txBody>
          <a:bodyPr vert="horz" rtlCol="0"/>
          <a:lstStyle/>
          <a:p>
            <a:fld id="{530820CF-B880-4189-942D-D702A7CBA730}" type="datetimeFigureOut">
              <a:rPr lang="zh-CN" altLang="en-US" smtClean="0"/>
              <a:pPr/>
              <a:t>2019/6/3</a:t>
            </a:fld>
            <a:endParaRPr lang="zh-CN" altLang="en-US"/>
          </a:p>
        </p:txBody>
      </p:sp>
      <p:sp>
        <p:nvSpPr>
          <p:cNvPr id="10" name="灯片编号占位符 9"/>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0C913308-F349-4B6D-A68A-DD1791B4A57B}" type="slidenum">
              <a:rPr lang="zh-CN" altLang="en-US" smtClean="0"/>
              <a:pPr/>
              <a:t>‹#›</a:t>
            </a:fld>
            <a:endParaRPr lang="zh-CN" altLang="en-US"/>
          </a:p>
        </p:txBody>
      </p:sp>
      <p:sp>
        <p:nvSpPr>
          <p:cNvPr id="11" name="页脚占位符 10"/>
          <p:cNvSpPr>
            <a:spLocks noGrp="1"/>
          </p:cNvSpPr>
          <p:nvPr>
            <p:ph type="ftr" sz="quarter" idx="12"/>
          </p:nvPr>
        </p:nvSpPr>
        <p:spPr>
          <a:xfrm>
            <a:off x="1600200" y="6513670"/>
            <a:ext cx="3907464" cy="274320"/>
          </a:xfrm>
        </p:spPr>
        <p:txBody>
          <a:bodyPr vert="horz" rtlCol="0"/>
          <a:lstStyle/>
          <a:p>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40443" y="4724400"/>
            <a:ext cx="5486400" cy="664536"/>
          </a:xfrm>
        </p:spPr>
        <p:txBody>
          <a:bodyPr anchor="b"/>
          <a:lstStyle>
            <a:lvl1pPr marL="0" algn="r">
              <a:buNone/>
              <a:defRPr sz="2000" b="1"/>
            </a:lvl1pPr>
            <a:extLst/>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zh-CN" altLang="en-US" smtClean="0"/>
              <a:t>单击此处编辑母版文本样式</a:t>
            </a:r>
          </a:p>
        </p:txBody>
      </p:sp>
      <p:sp>
        <p:nvSpPr>
          <p:cNvPr id="13" name="图片占位符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extLst/>
          </a:lstStyle>
          <a:p>
            <a:pPr marL="0" algn="l" rtl="0" eaLnBrk="1" latinLnBrk="0" hangingPunct="1"/>
            <a:r>
              <a:rPr kumimoji="0" lang="zh-CN" altLang="en-US" smtClean="0">
                <a:solidFill>
                  <a:schemeClr val="lt1"/>
                </a:solidFill>
                <a:latin typeface="+mn-lt"/>
                <a:ea typeface="+mn-ea"/>
                <a:cs typeface="+mn-cs"/>
              </a:rPr>
              <a:t>单击图标添加图片</a:t>
            </a:r>
            <a:endParaRPr kumimoji="0" lang="en-US" dirty="0">
              <a:solidFill>
                <a:schemeClr val="lt1"/>
              </a:solidFill>
              <a:latin typeface="+mn-lt"/>
              <a:ea typeface="+mn-ea"/>
              <a:cs typeface="+mn-cs"/>
            </a:endParaRPr>
          </a:p>
        </p:txBody>
      </p:sp>
      <p:sp>
        <p:nvSpPr>
          <p:cNvPr id="8" name="日期占位符 7"/>
          <p:cNvSpPr>
            <a:spLocks noGrp="1"/>
          </p:cNvSpPr>
          <p:nvPr>
            <p:ph type="dt" sz="half" idx="10"/>
          </p:nvPr>
        </p:nvSpPr>
        <p:spPr>
          <a:xfrm>
            <a:off x="5562600" y="6509004"/>
            <a:ext cx="3002280" cy="274320"/>
          </a:xfrm>
        </p:spPr>
        <p:txBody>
          <a:bodyPr vert="horz" rtlCol="0"/>
          <a:lstStyle/>
          <a:p>
            <a:fld id="{530820CF-B880-4189-942D-D702A7CBA730}" type="datetimeFigureOut">
              <a:rPr lang="zh-CN" altLang="en-US" smtClean="0"/>
              <a:pPr/>
              <a:t>2019/6/3</a:t>
            </a:fld>
            <a:endParaRPr lang="zh-CN" altLang="en-US"/>
          </a:p>
        </p:txBody>
      </p:sp>
      <p:sp>
        <p:nvSpPr>
          <p:cNvPr id="9" name="灯片编号占位符 8"/>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0C913308-F349-4B6D-A68A-DD1791B4A57B}" type="slidenum">
              <a:rPr lang="zh-CN" altLang="en-US" smtClean="0"/>
              <a:pPr/>
              <a:t>‹#›</a:t>
            </a:fld>
            <a:endParaRPr lang="zh-CN" altLang="en-US"/>
          </a:p>
        </p:txBody>
      </p:sp>
      <p:sp>
        <p:nvSpPr>
          <p:cNvPr id="10" name="页脚占位符 9"/>
          <p:cNvSpPr>
            <a:spLocks noGrp="1"/>
          </p:cNvSpPr>
          <p:nvPr>
            <p:ph type="ftr" sz="quarter" idx="12"/>
          </p:nvPr>
        </p:nvSpPr>
        <p:spPr>
          <a:xfrm>
            <a:off x="1600200" y="6509004"/>
            <a:ext cx="3907464" cy="274320"/>
          </a:xfrm>
        </p:spPr>
        <p:txBody>
          <a:bodyPr vert="horz" rtlCol="0"/>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lvl1pPr algn="l">
              <a:defRPr/>
            </a:lvl1pPr>
            <a:extLs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2019/6/3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对角圆角矩形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页脚占位符 2"/>
          <p:cNvSpPr>
            <a:spLocks noGrp="1"/>
          </p:cNvSpPr>
          <p:nvPr>
            <p:ph type="ftr" sz="quarter" idx="3"/>
          </p:nvPr>
        </p:nvSpPr>
        <p:spPr>
          <a:xfrm>
            <a:off x="1295400" y="6400800"/>
            <a:ext cx="4212264"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endParaRPr lang="zh-CN" altLang="en-US"/>
          </a:p>
        </p:txBody>
      </p:sp>
      <p:sp>
        <p:nvSpPr>
          <p:cNvPr id="14" name="日期占位符 13"/>
          <p:cNvSpPr>
            <a:spLocks noGrp="1"/>
          </p:cNvSpPr>
          <p:nvPr>
            <p:ph type="dt" sz="half" idx="2"/>
          </p:nvPr>
        </p:nvSpPr>
        <p:spPr>
          <a:xfrm>
            <a:off x="5562600" y="6400800"/>
            <a:ext cx="300228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fld id="{530820CF-B880-4189-942D-D702A7CBA730}" type="datetimeFigureOut">
              <a:rPr lang="zh-CN" altLang="en-US" smtClean="0"/>
              <a:pPr/>
              <a:t>2019/6/3</a:t>
            </a:fld>
            <a:endParaRPr lang="zh-CN" altLang="en-US"/>
          </a:p>
        </p:txBody>
      </p:sp>
      <p:sp>
        <p:nvSpPr>
          <p:cNvPr id="23" name="灯片编号占位符 22"/>
          <p:cNvSpPr>
            <a:spLocks noGrp="1"/>
          </p:cNvSpPr>
          <p:nvPr>
            <p:ph type="sldNum" sz="quarter" idx="4"/>
          </p:nvPr>
        </p:nvSpPr>
        <p:spPr>
          <a:xfrm>
            <a:off x="8638952" y="6514568"/>
            <a:ext cx="464288"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fld id="{0C913308-F349-4B6D-A68A-DD1791B4A57B}" type="slidenum">
              <a:rPr lang="zh-CN" altLang="en-US" smtClean="0"/>
              <a:pPr/>
              <a:t>‹#›</a:t>
            </a:fld>
            <a:endParaRPr lang="zh-CN" altLang="en-US"/>
          </a:p>
        </p:txBody>
      </p:sp>
      <p:sp>
        <p:nvSpPr>
          <p:cNvPr id="22" name="标题占位符 21"/>
          <p:cNvSpPr>
            <a:spLocks noGrp="1"/>
          </p:cNvSpPr>
          <p:nvPr>
            <p:ph type="title"/>
          </p:nvPr>
        </p:nvSpPr>
        <p:spPr>
          <a:xfrm>
            <a:off x="457200" y="253536"/>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646237"/>
            <a:ext cx="8229600" cy="4526280"/>
          </a:xfrm>
          <a:prstGeom prst="rect">
            <a:avLst/>
          </a:prstGeom>
        </p:spPr>
        <p:txBody>
          <a:bodyPr>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14546" y="714356"/>
            <a:ext cx="6248400" cy="1143000"/>
          </a:xfrm>
        </p:spPr>
        <p:txBody>
          <a:bodyPr/>
          <a:lstStyle/>
          <a:p>
            <a:pPr fontAlgn="auto">
              <a:spcAft>
                <a:spcPts val="0"/>
              </a:spcAft>
              <a:defRPr/>
            </a:pPr>
            <a:r>
              <a:rPr lang="zh-CN" altLang="en-US" smtClean="0"/>
              <a:t>软件项目管理</a:t>
            </a:r>
          </a:p>
        </p:txBody>
      </p:sp>
      <p:sp>
        <p:nvSpPr>
          <p:cNvPr id="3075" name="Rectangle 3"/>
          <p:cNvSpPr>
            <a:spLocks noGrp="1" noChangeArrowheads="1"/>
          </p:cNvSpPr>
          <p:nvPr>
            <p:ph type="subTitle" idx="1"/>
          </p:nvPr>
        </p:nvSpPr>
        <p:spPr>
          <a:xfrm>
            <a:off x="3714744" y="3714752"/>
            <a:ext cx="4572000" cy="2357438"/>
          </a:xfrm>
        </p:spPr>
        <p:txBody>
          <a:bodyPr>
            <a:normAutofit/>
          </a:bodyPr>
          <a:lstStyle/>
          <a:p>
            <a:pPr fontAlgn="auto">
              <a:lnSpc>
                <a:spcPct val="90000"/>
              </a:lnSpc>
              <a:spcAft>
                <a:spcPts val="0"/>
              </a:spcAft>
              <a:buFont typeface="Wingdings 2"/>
              <a:buNone/>
              <a:defRPr/>
            </a:pPr>
            <a:endParaRPr lang="zh-CN" altLang="en-US" dirty="0" smtClean="0"/>
          </a:p>
          <a:p>
            <a:pPr fontAlgn="auto">
              <a:lnSpc>
                <a:spcPct val="90000"/>
              </a:lnSpc>
              <a:spcAft>
                <a:spcPts val="0"/>
              </a:spcAft>
              <a:buFont typeface="Wingdings 2"/>
              <a:buNone/>
              <a:defRPr/>
            </a:pPr>
            <a:r>
              <a:rPr lang="zh-CN" altLang="en-US" dirty="0" smtClean="0"/>
              <a:t>计算机学院</a:t>
            </a:r>
          </a:p>
          <a:p>
            <a:pPr fontAlgn="auto">
              <a:lnSpc>
                <a:spcPct val="90000"/>
              </a:lnSpc>
              <a:spcAft>
                <a:spcPts val="0"/>
              </a:spcAft>
              <a:buFont typeface="Wingdings 2"/>
              <a:buNone/>
              <a:defRPr/>
            </a:pPr>
            <a:r>
              <a:rPr lang="zh-CN" altLang="en-US" dirty="0" smtClean="0"/>
              <a:t>张弛</a:t>
            </a:r>
            <a:endParaRPr lang="en-US" altLang="zh-CN"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071538" y="214290"/>
            <a:ext cx="7872412" cy="1143000"/>
          </a:xfrm>
        </p:spPr>
        <p:txBody>
          <a:bodyPr/>
          <a:lstStyle/>
          <a:p>
            <a:pPr fontAlgn="auto">
              <a:spcAft>
                <a:spcPts val="0"/>
              </a:spcAft>
              <a:defRPr/>
            </a:pPr>
            <a:r>
              <a:rPr lang="zh-CN" altLang="en-US" dirty="0" smtClean="0"/>
              <a:t>软件项目管理的作用</a:t>
            </a:r>
          </a:p>
        </p:txBody>
      </p:sp>
      <p:sp>
        <p:nvSpPr>
          <p:cNvPr id="9218" name="Rectangle 3"/>
          <p:cNvSpPr>
            <a:spLocks noGrp="1" noChangeArrowheads="1"/>
          </p:cNvSpPr>
          <p:nvPr>
            <p:ph idx="1"/>
          </p:nvPr>
        </p:nvSpPr>
        <p:spPr>
          <a:xfrm>
            <a:off x="684213" y="1981200"/>
            <a:ext cx="8231187" cy="4114800"/>
          </a:xfrm>
        </p:spPr>
        <p:txBody>
          <a:bodyPr>
            <a:normAutofit/>
          </a:bodyPr>
          <a:lstStyle/>
          <a:p>
            <a:pPr marL="0" indent="0">
              <a:buNone/>
            </a:pPr>
            <a:r>
              <a:rPr lang="zh-CN" altLang="en-US" sz="2800" dirty="0" smtClean="0"/>
              <a:t>做任何一件事都可称之为一个项目</a:t>
            </a:r>
            <a:r>
              <a:rPr lang="en-US" altLang="zh-CN" sz="2800" dirty="0" smtClean="0"/>
              <a:t>Project</a:t>
            </a:r>
            <a:endParaRPr lang="zh-CN" altLang="en-US" sz="2800" dirty="0" smtClean="0"/>
          </a:p>
          <a:p>
            <a:r>
              <a:rPr lang="zh-CN" altLang="en-US" sz="2800" dirty="0" smtClean="0"/>
              <a:t>围绕这个目标如何协调各种资源，完成目标</a:t>
            </a:r>
            <a:r>
              <a:rPr lang="en-US" altLang="zh-CN" sz="2800" dirty="0" smtClean="0"/>
              <a:t>;</a:t>
            </a:r>
            <a:endParaRPr lang="zh-CN" altLang="en-US" sz="2800" dirty="0" smtClean="0"/>
          </a:p>
          <a:p>
            <a:r>
              <a:rPr lang="zh-CN" altLang="en-US" sz="2800" dirty="0" smtClean="0"/>
              <a:t>遇到突发事件如何应对，以便完成目标。</a:t>
            </a:r>
          </a:p>
          <a:p>
            <a:endParaRPr lang="zh-CN" altLang="en-US" sz="2800" dirty="0" smtClean="0"/>
          </a:p>
          <a:p>
            <a:r>
              <a:rPr lang="zh-CN" altLang="en-US" sz="2800" dirty="0" smtClean="0"/>
              <a:t>举例</a:t>
            </a:r>
            <a:r>
              <a:rPr lang="en-US" altLang="zh-CN" sz="2800" dirty="0" smtClean="0"/>
              <a:t>1</a:t>
            </a:r>
            <a:r>
              <a:rPr lang="zh-CN" altLang="en-US" sz="2800" dirty="0" smtClean="0"/>
              <a:t>：国庆天安门庆典</a:t>
            </a:r>
          </a:p>
          <a:p>
            <a:r>
              <a:rPr lang="zh-CN" altLang="en-US" sz="2800" dirty="0" smtClean="0"/>
              <a:t>举例</a:t>
            </a:r>
            <a:r>
              <a:rPr lang="en-US" altLang="zh-CN" sz="2800" dirty="0" smtClean="0"/>
              <a:t>2</a:t>
            </a:r>
            <a:r>
              <a:rPr lang="zh-CN" altLang="en-US" sz="2800" dirty="0" smtClean="0"/>
              <a:t>：召开主题班会</a:t>
            </a:r>
            <a:endParaRPr lang="en-US" altLang="zh-CN" sz="2800" dirty="0" smtClean="0"/>
          </a:p>
          <a:p>
            <a:r>
              <a:rPr lang="zh-CN" altLang="en-US" sz="2800" dirty="0" smtClean="0"/>
              <a:t>举例</a:t>
            </a:r>
            <a:r>
              <a:rPr lang="en-US" altLang="zh-CN" sz="2800" dirty="0" smtClean="0"/>
              <a:t>3</a:t>
            </a:r>
            <a:r>
              <a:rPr lang="zh-CN" altLang="en-US" sz="2800" dirty="0" smtClean="0"/>
              <a:t>：本人亲历项目</a:t>
            </a:r>
            <a:r>
              <a:rPr lang="en-US" altLang="zh-CN" sz="2800" dirty="0" smtClean="0"/>
              <a:t>—</a:t>
            </a:r>
            <a:r>
              <a:rPr lang="zh-CN" altLang="en-US" sz="2800" dirty="0" smtClean="0"/>
              <a:t>会议身份识别及考勤系统</a:t>
            </a:r>
            <a:r>
              <a:rPr lang="en-US" altLang="zh-CN" sz="2800" dirty="0" smtClean="0"/>
              <a:t>;</a:t>
            </a:r>
            <a:r>
              <a:rPr lang="zh-CN" altLang="en-US" sz="2800" dirty="0" smtClean="0"/>
              <a:t>富标签管理与服务平台</a:t>
            </a:r>
          </a:p>
        </p:txBody>
      </p:sp>
      <p:sp>
        <p:nvSpPr>
          <p:cNvPr id="9219" name="灯片编号占位符 5"/>
          <p:cNvSpPr>
            <a:spLocks noGrp="1"/>
          </p:cNvSpPr>
          <p:nvPr>
            <p:ph type="sldNum" sz="quarter" idx="12"/>
          </p:nvPr>
        </p:nvSpPr>
        <p:spPr bwMode="auto">
          <a:noFill/>
          <a:ln>
            <a:miter lim="800000"/>
            <a:headEnd/>
            <a:tailEnd/>
          </a:ln>
        </p:spPr>
        <p:txBody>
          <a:bodyPr wrap="square" numCol="1" compatLnSpc="1">
            <a:prstTxWarp prst="textNoShape">
              <a:avLst/>
            </a:prstTxWarp>
          </a:bodyPr>
          <a:lstStyle/>
          <a:p>
            <a:fld id="{BE14DA1D-1682-49D6-81BB-581C87EF1B50}" type="slidenum">
              <a:rPr lang="zh-CN" altLang="en-US"/>
              <a:pPr/>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218">
                                            <p:txEl>
                                              <p:pRg st="4" end="4"/>
                                            </p:txEl>
                                          </p:spTgt>
                                        </p:tgtEl>
                                        <p:attrNameLst>
                                          <p:attrName>style.visibility</p:attrName>
                                        </p:attrNameLst>
                                      </p:cBhvr>
                                      <p:to>
                                        <p:strVal val="visible"/>
                                      </p:to>
                                    </p:set>
                                    <p:animEffect transition="in" filter="box(in)">
                                      <p:cBhvr>
                                        <p:cTn id="7" dur="500"/>
                                        <p:tgtEl>
                                          <p:spTgt spid="921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218">
                                            <p:txEl>
                                              <p:pRg st="5" end="5"/>
                                            </p:txEl>
                                          </p:spTgt>
                                        </p:tgtEl>
                                        <p:attrNameLst>
                                          <p:attrName>style.visibility</p:attrName>
                                        </p:attrNameLst>
                                      </p:cBhvr>
                                      <p:to>
                                        <p:strVal val="visible"/>
                                      </p:to>
                                    </p:set>
                                    <p:animEffect transition="in" filter="box(in)">
                                      <p:cBhvr>
                                        <p:cTn id="12" dur="500"/>
                                        <p:tgtEl>
                                          <p:spTgt spid="9218">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218">
                                            <p:txEl>
                                              <p:pRg st="6" end="6"/>
                                            </p:txEl>
                                          </p:spTgt>
                                        </p:tgtEl>
                                        <p:attrNameLst>
                                          <p:attrName>style.visibility</p:attrName>
                                        </p:attrNameLst>
                                      </p:cBhvr>
                                      <p:to>
                                        <p:strVal val="visible"/>
                                      </p:to>
                                    </p:set>
                                    <p:animEffect transition="in" filter="box(in)">
                                      <p:cBhvr>
                                        <p:cTn id="17" dur="500"/>
                                        <p:tgtEl>
                                          <p:spTgt spid="92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spcAft>
                <a:spcPts val="0"/>
              </a:spcAft>
              <a:defRPr/>
            </a:pPr>
            <a:r>
              <a:rPr lang="zh-CN" altLang="en-US" dirty="0" smtClean="0"/>
              <a:t>项目趣谈</a:t>
            </a:r>
            <a:r>
              <a:rPr altLang="zh-CN" dirty="0" smtClean="0"/>
              <a:t>——</a:t>
            </a:r>
            <a:r>
              <a:rPr lang="zh-CN" altLang="en-US" dirty="0" smtClean="0"/>
              <a:t>草船借箭</a:t>
            </a:r>
            <a:endParaRPr lang="zh-CN" altLang="en-US" dirty="0"/>
          </a:p>
        </p:txBody>
      </p:sp>
      <p:sp>
        <p:nvSpPr>
          <p:cNvPr id="2" name="内容占位符 1"/>
          <p:cNvSpPr>
            <a:spLocks noGrp="1"/>
          </p:cNvSpPr>
          <p:nvPr>
            <p:ph idx="1"/>
          </p:nvPr>
        </p:nvSpPr>
        <p:spPr/>
        <p:txBody>
          <a:bodyPr>
            <a:normAutofit/>
          </a:bodyPr>
          <a:lstStyle/>
          <a:p>
            <a:pPr marL="640080" lvl="1" indent="-274320" fontAlgn="auto">
              <a:spcAft>
                <a:spcPts val="0"/>
              </a:spcAft>
              <a:buClr>
                <a:schemeClr val="accent2">
                  <a:shade val="75000"/>
                </a:schemeClr>
              </a:buClr>
              <a:buFont typeface="Wingdings 2"/>
              <a:buChar char=""/>
              <a:defRPr/>
            </a:pPr>
            <a:r>
              <a:rPr lang="zh-CN" altLang="en-US" sz="2800" dirty="0" smtClean="0"/>
              <a:t>项目名称：</a:t>
            </a:r>
            <a:r>
              <a:rPr lang="zh-CN" altLang="en-US" sz="2800" dirty="0" smtClean="0">
                <a:solidFill>
                  <a:srgbClr val="FFC000"/>
                </a:solidFill>
                <a:effectLst>
                  <a:outerShdw blurRad="38100" dist="38100" dir="2700000" algn="tl">
                    <a:srgbClr val="000000">
                      <a:alpha val="43137"/>
                    </a:srgbClr>
                  </a:outerShdw>
                </a:effectLst>
              </a:rPr>
              <a:t>造箭</a:t>
            </a:r>
            <a:r>
              <a:rPr lang="zh-CN" altLang="en-US" sz="2800" dirty="0" smtClean="0"/>
              <a:t> </a:t>
            </a:r>
          </a:p>
          <a:p>
            <a:pPr marL="274320" indent="-274320" fontAlgn="auto">
              <a:spcAft>
                <a:spcPts val="0"/>
              </a:spcAft>
              <a:buFont typeface="Wingdings 2"/>
              <a:buNone/>
              <a:defRPr/>
            </a:pPr>
            <a:r>
              <a:rPr lang="en-US" altLang="zh-CN" dirty="0" smtClean="0"/>
              <a:t>		</a:t>
            </a:r>
            <a:r>
              <a:rPr lang="zh-CN" altLang="en-US" sz="2400" dirty="0" smtClean="0"/>
              <a:t>总经理：</a:t>
            </a:r>
            <a:r>
              <a:rPr lang="zh-CN" altLang="en-US" sz="2400" dirty="0" smtClean="0">
                <a:solidFill>
                  <a:srgbClr val="FFC000"/>
                </a:solidFill>
                <a:effectLst>
                  <a:outerShdw blurRad="38100" dist="38100" dir="2700000" algn="tl">
                    <a:srgbClr val="000000">
                      <a:alpha val="43137"/>
                    </a:srgbClr>
                  </a:outerShdw>
                </a:effectLst>
              </a:rPr>
              <a:t>周瑜</a:t>
            </a:r>
            <a:endParaRPr lang="en-US" altLang="zh-CN" sz="2400" dirty="0" smtClean="0">
              <a:solidFill>
                <a:srgbClr val="FFC000"/>
              </a:solidFill>
              <a:effectLst>
                <a:outerShdw blurRad="38100" dist="38100" dir="2700000" algn="tl">
                  <a:srgbClr val="000000">
                    <a:alpha val="43137"/>
                  </a:srgbClr>
                </a:outerShdw>
              </a:effectLst>
            </a:endParaRPr>
          </a:p>
          <a:p>
            <a:pPr marL="274320" indent="-274320" fontAlgn="auto">
              <a:spcAft>
                <a:spcPts val="0"/>
              </a:spcAft>
              <a:buFont typeface="Wingdings 2"/>
              <a:buNone/>
              <a:defRPr/>
            </a:pPr>
            <a:r>
              <a:rPr lang="en-US" altLang="zh-CN" sz="2400" dirty="0" smtClean="0"/>
              <a:t>		</a:t>
            </a:r>
            <a:r>
              <a:rPr lang="zh-CN" altLang="en-US" sz="2400" dirty="0" smtClean="0"/>
              <a:t>项目</a:t>
            </a:r>
            <a:r>
              <a:rPr lang="en-US" altLang="zh-CN" sz="2400" dirty="0" smtClean="0"/>
              <a:t>PM</a:t>
            </a:r>
            <a:r>
              <a:rPr lang="zh-CN" altLang="en-US" sz="2400" dirty="0" smtClean="0"/>
              <a:t>：</a:t>
            </a:r>
            <a:r>
              <a:rPr lang="zh-CN" altLang="en-US" sz="2400" dirty="0" smtClean="0">
                <a:solidFill>
                  <a:srgbClr val="FFC000"/>
                </a:solidFill>
                <a:effectLst>
                  <a:outerShdw blurRad="38100" dist="38100" dir="2700000" algn="tl">
                    <a:srgbClr val="000000">
                      <a:alpha val="43137"/>
                    </a:srgbClr>
                  </a:outerShdw>
                </a:effectLst>
              </a:rPr>
              <a:t>孔明 </a:t>
            </a:r>
          </a:p>
          <a:p>
            <a:pPr marL="274320" indent="-274320" fontAlgn="auto">
              <a:spcAft>
                <a:spcPts val="0"/>
              </a:spcAft>
              <a:buFont typeface="Wingdings 2"/>
              <a:buNone/>
              <a:defRPr/>
            </a:pPr>
            <a:r>
              <a:rPr lang="en-US" altLang="zh-CN" sz="2400" dirty="0" smtClean="0"/>
              <a:t>		</a:t>
            </a:r>
            <a:r>
              <a:rPr lang="zh-CN" altLang="en-US" sz="2400" dirty="0" smtClean="0"/>
              <a:t>项目团队队长：</a:t>
            </a:r>
            <a:r>
              <a:rPr lang="zh-CN" altLang="en-US" sz="2400" dirty="0" smtClean="0">
                <a:solidFill>
                  <a:srgbClr val="FFC000"/>
                </a:solidFill>
                <a:effectLst>
                  <a:outerShdw blurRad="38100" dist="38100" dir="2700000" algn="tl">
                    <a:srgbClr val="000000">
                      <a:alpha val="43137"/>
                    </a:srgbClr>
                  </a:outerShdw>
                </a:effectLst>
              </a:rPr>
              <a:t>鲁子敬 </a:t>
            </a:r>
          </a:p>
          <a:p>
            <a:pPr marL="274320" indent="-274320" fontAlgn="auto">
              <a:spcAft>
                <a:spcPts val="0"/>
              </a:spcAft>
              <a:buFont typeface="Wingdings 2"/>
              <a:buNone/>
              <a:defRPr/>
            </a:pPr>
            <a:r>
              <a:rPr lang="en-US" altLang="zh-CN" sz="2400" dirty="0" smtClean="0"/>
              <a:t>		</a:t>
            </a:r>
            <a:r>
              <a:rPr lang="zh-CN" altLang="en-US" sz="2400" dirty="0" smtClean="0"/>
              <a:t>项目成员：</a:t>
            </a:r>
            <a:r>
              <a:rPr lang="en-US" altLang="zh-CN" sz="2400" dirty="0" smtClean="0">
                <a:solidFill>
                  <a:srgbClr val="FFC000"/>
                </a:solidFill>
                <a:effectLst>
                  <a:outerShdw blurRad="38100" dist="38100" dir="2700000" algn="tl">
                    <a:srgbClr val="000000">
                      <a:alpha val="43137"/>
                    </a:srgbClr>
                  </a:outerShdw>
                </a:effectLst>
              </a:rPr>
              <a:t>20</a:t>
            </a:r>
            <a:r>
              <a:rPr lang="zh-CN" altLang="en-US" sz="2400" dirty="0" smtClean="0">
                <a:solidFill>
                  <a:srgbClr val="FFC000"/>
                </a:solidFill>
                <a:effectLst>
                  <a:outerShdw blurRad="38100" dist="38100" dir="2700000" algn="tl">
                    <a:srgbClr val="000000">
                      <a:alpha val="43137"/>
                    </a:srgbClr>
                  </a:outerShdw>
                </a:effectLst>
              </a:rPr>
              <a:t>条船*</a:t>
            </a:r>
            <a:r>
              <a:rPr lang="en-US" altLang="zh-CN" sz="2400" dirty="0" smtClean="0">
                <a:solidFill>
                  <a:srgbClr val="FFC000"/>
                </a:solidFill>
                <a:effectLst>
                  <a:outerShdw blurRad="38100" dist="38100" dir="2700000" algn="tl">
                    <a:srgbClr val="000000">
                      <a:alpha val="43137"/>
                    </a:srgbClr>
                  </a:outerShdw>
                </a:effectLst>
              </a:rPr>
              <a:t>30</a:t>
            </a:r>
            <a:r>
              <a:rPr lang="zh-CN" altLang="en-US" sz="2400" dirty="0" smtClean="0">
                <a:solidFill>
                  <a:srgbClr val="FFC000"/>
                </a:solidFill>
                <a:effectLst>
                  <a:outerShdw blurRad="38100" dist="38100" dir="2700000" algn="tl">
                    <a:srgbClr val="000000">
                      <a:alpha val="43137"/>
                    </a:srgbClr>
                  </a:outerShdw>
                </a:effectLst>
              </a:rPr>
              <a:t>名兵</a:t>
            </a:r>
            <a:r>
              <a:rPr lang="en-US" altLang="zh-CN" sz="2400" dirty="0" smtClean="0">
                <a:solidFill>
                  <a:srgbClr val="FFC000"/>
                </a:solidFill>
                <a:effectLst>
                  <a:outerShdw blurRad="38100" dist="38100" dir="2700000" algn="tl">
                    <a:srgbClr val="000000">
                      <a:alpha val="43137"/>
                    </a:srgbClr>
                  </a:outerShdw>
                </a:effectLst>
              </a:rPr>
              <a:t>=600</a:t>
            </a:r>
            <a:r>
              <a:rPr lang="zh-CN" altLang="en-US" sz="2400" dirty="0" smtClean="0">
                <a:solidFill>
                  <a:srgbClr val="FFC000"/>
                </a:solidFill>
                <a:effectLst>
                  <a:outerShdw blurRad="38100" dist="38100" dir="2700000" algn="tl">
                    <a:srgbClr val="000000">
                      <a:alpha val="43137"/>
                    </a:srgbClr>
                  </a:outerShdw>
                </a:effectLst>
              </a:rPr>
              <a:t>人 </a:t>
            </a:r>
          </a:p>
          <a:p>
            <a:pPr marL="274320" indent="-274320" fontAlgn="auto">
              <a:spcAft>
                <a:spcPts val="0"/>
              </a:spcAft>
              <a:buFont typeface="Wingdings 2"/>
              <a:buNone/>
              <a:defRPr/>
            </a:pPr>
            <a:r>
              <a:rPr lang="en-US" altLang="zh-CN" sz="2400" dirty="0" smtClean="0"/>
              <a:t>		</a:t>
            </a:r>
            <a:r>
              <a:rPr lang="zh-CN" altLang="en-US" sz="2400" dirty="0" smtClean="0"/>
              <a:t>项目时限：</a:t>
            </a:r>
            <a:r>
              <a:rPr lang="zh-CN" altLang="en-US" sz="2400" dirty="0" smtClean="0">
                <a:solidFill>
                  <a:srgbClr val="FFC000"/>
                </a:solidFill>
                <a:effectLst>
                  <a:outerShdw blurRad="38100" dist="38100" dir="2700000" algn="tl">
                    <a:srgbClr val="000000">
                      <a:alpha val="43137"/>
                    </a:srgbClr>
                  </a:outerShdw>
                </a:effectLst>
              </a:rPr>
              <a:t>三日内完成 </a:t>
            </a:r>
            <a:endParaRPr lang="en-US" altLang="zh-CN" sz="2400" dirty="0" smtClean="0">
              <a:solidFill>
                <a:srgbClr val="FFC000"/>
              </a:solidFill>
              <a:effectLst>
                <a:outerShdw blurRad="38100" dist="38100" dir="2700000" algn="tl">
                  <a:srgbClr val="000000">
                    <a:alpha val="43137"/>
                  </a:srgbClr>
                </a:outerShdw>
              </a:effectLst>
            </a:endParaRPr>
          </a:p>
          <a:p>
            <a:pPr marL="274320" indent="-274320" fontAlgn="auto">
              <a:spcAft>
                <a:spcPts val="0"/>
              </a:spcAft>
              <a:buFont typeface="Wingdings 2"/>
              <a:buNone/>
              <a:defRPr/>
            </a:pPr>
            <a:r>
              <a:rPr lang="en-US" altLang="zh-CN" sz="2400" dirty="0" smtClean="0"/>
              <a:t>		</a:t>
            </a:r>
            <a:r>
              <a:rPr lang="zh-CN" altLang="en-US" sz="2400" dirty="0" smtClean="0"/>
              <a:t>项目风险：</a:t>
            </a:r>
            <a:r>
              <a:rPr lang="zh-CN" altLang="en-US" sz="2400" dirty="0" smtClean="0">
                <a:solidFill>
                  <a:srgbClr val="FFC000"/>
                </a:solidFill>
                <a:effectLst>
                  <a:outerShdw blurRad="38100" dist="38100" dir="2700000" algn="tl">
                    <a:srgbClr val="000000">
                      <a:alpha val="43137"/>
                    </a:srgbClr>
                  </a:outerShdw>
                </a:effectLst>
              </a:rPr>
              <a:t>时间太短；资源不足 </a:t>
            </a:r>
          </a:p>
          <a:p>
            <a:pPr marL="274320" indent="-274320" fontAlgn="auto">
              <a:spcAft>
                <a:spcPts val="0"/>
              </a:spcAft>
              <a:buFont typeface="Wingdings 2"/>
              <a:buNone/>
              <a:defRPr/>
            </a:pPr>
            <a:r>
              <a:rPr lang="en-US" altLang="zh-CN" sz="2400" dirty="0" smtClean="0"/>
              <a:t>		</a:t>
            </a:r>
            <a:r>
              <a:rPr lang="zh-CN" altLang="en-US" sz="2400" dirty="0" smtClean="0"/>
              <a:t>项目成果物：</a:t>
            </a:r>
            <a:r>
              <a:rPr lang="zh-CN" altLang="en-US" sz="2400" dirty="0" smtClean="0">
                <a:solidFill>
                  <a:srgbClr val="FFC000"/>
                </a:solidFill>
                <a:effectLst>
                  <a:outerShdw blurRad="38100" dist="38100" dir="2700000" algn="tl">
                    <a:srgbClr val="000000">
                      <a:alpha val="43137"/>
                    </a:srgbClr>
                  </a:outerShdw>
                </a:effectLst>
              </a:rPr>
              <a:t>十万枝箭</a:t>
            </a:r>
          </a:p>
        </p:txBody>
      </p:sp>
      <p:sp>
        <p:nvSpPr>
          <p:cNvPr id="10243" name="灯片编号占位符 2"/>
          <p:cNvSpPr>
            <a:spLocks noGrp="1"/>
          </p:cNvSpPr>
          <p:nvPr>
            <p:ph type="sldNum" sz="quarter" idx="12"/>
          </p:nvPr>
        </p:nvSpPr>
        <p:spPr bwMode="auto">
          <a:noFill/>
          <a:ln>
            <a:miter lim="800000"/>
            <a:headEnd/>
            <a:tailEnd/>
          </a:ln>
        </p:spPr>
        <p:txBody>
          <a:bodyPr wrap="square" numCol="1" compatLnSpc="1">
            <a:prstTxWarp prst="textNoShape">
              <a:avLst/>
            </a:prstTxWarp>
          </a:bodyPr>
          <a:lstStyle/>
          <a:p>
            <a:fld id="{D23D8C12-2BBD-4093-BBEF-A540230E9F5A}" type="slidenum">
              <a:rPr lang="zh-CN" altLang="en-US"/>
              <a:pPr/>
              <a:t>3</a:t>
            </a:fld>
            <a:endParaRPr lang="en-US" altLang="zh-CN"/>
          </a:p>
        </p:txBody>
      </p:sp>
      <p:pic>
        <p:nvPicPr>
          <p:cNvPr id="3" name="图片 2"/>
          <p:cNvPicPr>
            <a:picLocks noChangeAspect="1"/>
          </p:cNvPicPr>
          <p:nvPr/>
        </p:nvPicPr>
        <p:blipFill>
          <a:blip r:embed="rId2"/>
          <a:stretch>
            <a:fillRect/>
          </a:stretch>
        </p:blipFill>
        <p:spPr>
          <a:xfrm>
            <a:off x="4860032" y="4509120"/>
            <a:ext cx="4283968" cy="23437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 calcmode="lin" valueType="num">
                                      <p:cBhvr additive="base">
                                        <p:cTn id="1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nodeType="after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 calcmode="lin" valueType="num">
                                      <p:cBhvr additive="base">
                                        <p:cTn id="17"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2500"/>
                            </p:stCondLst>
                            <p:childTnLst>
                              <p:par>
                                <p:cTn id="20" presetID="2" presetClass="entr" presetSubtype="4" fill="hold" nodeType="after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 calcmode="lin" valueType="num">
                                      <p:cBhvr additive="base">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par>
                          <p:cTn id="24" fill="hold">
                            <p:stCondLst>
                              <p:cond delay="3500"/>
                            </p:stCondLst>
                            <p:childTnLst>
                              <p:par>
                                <p:cTn id="25" presetID="2" presetClass="entr" presetSubtype="4" fill="hold"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par>
                          <p:cTn id="29" fill="hold">
                            <p:stCondLst>
                              <p:cond delay="4500"/>
                            </p:stCondLst>
                            <p:childTnLst>
                              <p:par>
                                <p:cTn id="30" presetID="2" presetClass="entr" presetSubtype="4" fill="hold" nodeType="after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 calcmode="lin" valueType="num">
                                      <p:cBhvr additive="base">
                                        <p:cTn id="3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3" dur="10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par>
                          <p:cTn id="34" fill="hold">
                            <p:stCondLst>
                              <p:cond delay="5500"/>
                            </p:stCondLst>
                            <p:childTnLst>
                              <p:par>
                                <p:cTn id="35" presetID="2" presetClass="entr" presetSubtype="4" fill="hold" nodeType="after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spcAft>
                <a:spcPts val="0"/>
              </a:spcAft>
              <a:defRPr/>
            </a:pPr>
            <a:r>
              <a:rPr lang="zh-CN" altLang="en-US" dirty="0" smtClean="0"/>
              <a:t>项目趣谈</a:t>
            </a:r>
            <a:r>
              <a:rPr altLang="zh-CN" dirty="0" smtClean="0"/>
              <a:t>——</a:t>
            </a:r>
            <a:r>
              <a:rPr lang="zh-CN" altLang="en-US" dirty="0" smtClean="0"/>
              <a:t>草船借箭</a:t>
            </a:r>
            <a:endParaRPr lang="zh-CN" altLang="en-US" dirty="0"/>
          </a:p>
        </p:txBody>
      </p:sp>
      <p:sp>
        <p:nvSpPr>
          <p:cNvPr id="2" name="内容占位符 1"/>
          <p:cNvSpPr>
            <a:spLocks noGrp="1"/>
          </p:cNvSpPr>
          <p:nvPr>
            <p:ph idx="1"/>
          </p:nvPr>
        </p:nvSpPr>
        <p:spPr/>
        <p:txBody>
          <a:bodyPr>
            <a:normAutofit/>
          </a:bodyPr>
          <a:lstStyle/>
          <a:p>
            <a:pPr marL="640080" lvl="1" indent="-274320" fontAlgn="auto">
              <a:spcAft>
                <a:spcPts val="0"/>
              </a:spcAft>
              <a:buClr>
                <a:schemeClr val="accent2">
                  <a:shade val="75000"/>
                </a:schemeClr>
              </a:buClr>
              <a:buFont typeface="Wingdings 2"/>
              <a:buChar char=""/>
              <a:defRPr/>
            </a:pPr>
            <a:r>
              <a:rPr lang="zh-CN" altLang="en-US" sz="2800" dirty="0" smtClean="0"/>
              <a:t>简析：</a:t>
            </a:r>
            <a:endParaRPr lang="en-US" altLang="zh-CN" sz="2800" dirty="0" smtClean="0"/>
          </a:p>
          <a:p>
            <a:pPr lvl="2" indent="-274320">
              <a:buClr>
                <a:schemeClr val="accent2">
                  <a:shade val="75000"/>
                </a:schemeClr>
              </a:buClr>
              <a:buFont typeface="Wingdings 2"/>
              <a:buChar char=""/>
              <a:defRPr/>
            </a:pPr>
            <a:r>
              <a:rPr lang="zh-CN" altLang="en-US" sz="2500" dirty="0" smtClean="0"/>
              <a:t>上层支持不足，原材料和时间受限，但经费未限。</a:t>
            </a:r>
            <a:endParaRPr lang="en-US" altLang="zh-CN" sz="2500" dirty="0" smtClean="0"/>
          </a:p>
          <a:p>
            <a:pPr lvl="3" indent="-274320">
              <a:buClr>
                <a:schemeClr val="accent2">
                  <a:shade val="75000"/>
                </a:schemeClr>
              </a:buClr>
              <a:buNone/>
              <a:defRPr/>
            </a:pPr>
            <a:r>
              <a:rPr lang="en-US" altLang="zh-CN" sz="2200" dirty="0" smtClean="0">
                <a:solidFill>
                  <a:srgbClr val="FFC000"/>
                </a:solidFill>
              </a:rPr>
              <a:t>——</a:t>
            </a:r>
            <a:r>
              <a:rPr lang="zh-CN" altLang="en-US" sz="2200" dirty="0" smtClean="0">
                <a:solidFill>
                  <a:srgbClr val="FFC000"/>
                </a:solidFill>
              </a:rPr>
              <a:t>考虑外包。那么包给谁呢？</a:t>
            </a:r>
            <a:endParaRPr lang="en-US" altLang="zh-CN" sz="2200" dirty="0" smtClean="0">
              <a:solidFill>
                <a:srgbClr val="FFC000"/>
              </a:solidFill>
            </a:endParaRPr>
          </a:p>
          <a:p>
            <a:pPr lvl="3" indent="-274320">
              <a:buClr>
                <a:schemeClr val="accent2">
                  <a:shade val="75000"/>
                </a:schemeClr>
              </a:buClr>
              <a:buNone/>
              <a:defRPr/>
            </a:pPr>
            <a:r>
              <a:rPr lang="en-US" altLang="zh-CN" sz="2200" dirty="0" smtClean="0">
                <a:solidFill>
                  <a:srgbClr val="FFC000"/>
                </a:solidFill>
              </a:rPr>
              <a:t>——</a:t>
            </a:r>
            <a:r>
              <a:rPr lang="zh-CN" altLang="en-US" sz="2200" dirty="0" smtClean="0">
                <a:solidFill>
                  <a:srgbClr val="FFC000"/>
                </a:solidFill>
              </a:rPr>
              <a:t>曹操所在的魏国公司。为什么呢？</a:t>
            </a:r>
            <a:endParaRPr lang="en-US" altLang="zh-CN" sz="2200" dirty="0" smtClean="0">
              <a:solidFill>
                <a:srgbClr val="FFC000"/>
              </a:solidFill>
            </a:endParaRPr>
          </a:p>
          <a:p>
            <a:pPr lvl="3" indent="-274320">
              <a:buClr>
                <a:schemeClr val="accent2">
                  <a:shade val="75000"/>
                </a:schemeClr>
              </a:buClr>
              <a:buNone/>
              <a:defRPr/>
            </a:pPr>
            <a:r>
              <a:rPr lang="en-US" altLang="zh-CN" sz="2200" dirty="0" smtClean="0">
                <a:solidFill>
                  <a:srgbClr val="FFC000"/>
                </a:solidFill>
              </a:rPr>
              <a:t>——</a:t>
            </a:r>
            <a:r>
              <a:rPr lang="zh-CN" altLang="en-US" sz="2200" dirty="0" smtClean="0">
                <a:solidFill>
                  <a:srgbClr val="FFC000"/>
                </a:solidFill>
              </a:rPr>
              <a:t>原因之一：魏国公司规模大、库存足；</a:t>
            </a:r>
            <a:endParaRPr lang="en-US" altLang="zh-CN" sz="2200" dirty="0" smtClean="0">
              <a:solidFill>
                <a:srgbClr val="FFC000"/>
              </a:solidFill>
            </a:endParaRPr>
          </a:p>
          <a:p>
            <a:pPr lvl="3" indent="-274320">
              <a:buClr>
                <a:schemeClr val="accent2">
                  <a:shade val="75000"/>
                </a:schemeClr>
              </a:buClr>
              <a:buNone/>
              <a:defRPr/>
            </a:pPr>
            <a:r>
              <a:rPr lang="en-US" altLang="zh-CN" sz="2200" dirty="0" smtClean="0">
                <a:solidFill>
                  <a:srgbClr val="FFC000"/>
                </a:solidFill>
              </a:rPr>
              <a:t>	  </a:t>
            </a:r>
            <a:r>
              <a:rPr lang="zh-CN" altLang="en-US" sz="2200" dirty="0" smtClean="0">
                <a:solidFill>
                  <a:srgbClr val="FFC000"/>
                </a:solidFill>
              </a:rPr>
              <a:t>原因之二：当时处于非常时期，可以采取有效的方法（兵不厌诈）来解决这个困难非常大的项目难题。</a:t>
            </a:r>
            <a:endParaRPr lang="en-US" altLang="zh-CN" sz="2200" dirty="0" smtClean="0">
              <a:solidFill>
                <a:srgbClr val="FFC000"/>
              </a:solidFill>
            </a:endParaRPr>
          </a:p>
          <a:p>
            <a:pPr lvl="2" indent="-274320">
              <a:buClr>
                <a:schemeClr val="accent2">
                  <a:shade val="75000"/>
                </a:schemeClr>
              </a:buClr>
              <a:buFont typeface="Wingdings 2"/>
              <a:buChar char=""/>
              <a:defRPr/>
            </a:pPr>
            <a:r>
              <a:rPr lang="zh-CN" altLang="en-US" sz="2500" dirty="0" smtClean="0"/>
              <a:t>项目实施过程中需要注意的问题：</a:t>
            </a:r>
          </a:p>
          <a:p>
            <a:pPr marL="274320" indent="-274320">
              <a:buNone/>
              <a:defRPr/>
            </a:pPr>
            <a:r>
              <a:rPr lang="en-US" altLang="zh-CN" dirty="0" smtClean="0"/>
              <a:t>	</a:t>
            </a:r>
            <a:r>
              <a:rPr lang="en-US" altLang="zh-CN" sz="2400" dirty="0" smtClean="0">
                <a:solidFill>
                  <a:srgbClr val="FFC000"/>
                </a:solidFill>
                <a:effectLst>
                  <a:outerShdw blurRad="38100" dist="38100" dir="2700000" algn="tl">
                    <a:srgbClr val="000000">
                      <a:alpha val="43137"/>
                    </a:srgbClr>
                  </a:outerShdw>
                </a:effectLst>
              </a:rPr>
              <a:t>	</a:t>
            </a:r>
            <a:r>
              <a:rPr lang="zh-CN" altLang="en-US" sz="2200" dirty="0" smtClean="0">
                <a:solidFill>
                  <a:srgbClr val="FFC000"/>
                </a:solidFill>
              </a:rPr>
              <a:t>（</a:t>
            </a:r>
            <a:r>
              <a:rPr lang="en-US" altLang="zh-CN" sz="2200" dirty="0" smtClean="0">
                <a:solidFill>
                  <a:srgbClr val="FFC000"/>
                </a:solidFill>
              </a:rPr>
              <a:t>1</a:t>
            </a:r>
            <a:r>
              <a:rPr lang="zh-CN" altLang="en-US" sz="2200" dirty="0" smtClean="0">
                <a:solidFill>
                  <a:srgbClr val="FFC000"/>
                </a:solidFill>
              </a:rPr>
              <a:t>）封锁信息（周瑜是不利因素）</a:t>
            </a:r>
            <a:r>
              <a:rPr lang="en-US" altLang="zh-CN" sz="2200" dirty="0" smtClean="0">
                <a:solidFill>
                  <a:srgbClr val="FFC000"/>
                </a:solidFill>
              </a:rPr>
              <a:t>——</a:t>
            </a:r>
            <a:r>
              <a:rPr lang="zh-CN" altLang="en-US" sz="2200" dirty="0" smtClean="0">
                <a:solidFill>
                  <a:srgbClr val="FFC000"/>
                </a:solidFill>
              </a:rPr>
              <a:t>商业机密；</a:t>
            </a:r>
            <a:endParaRPr lang="en-US" altLang="zh-CN" sz="2200" dirty="0" smtClean="0">
              <a:solidFill>
                <a:srgbClr val="FFC000"/>
              </a:solidFill>
            </a:endParaRPr>
          </a:p>
          <a:p>
            <a:pPr marL="274320" indent="-274320">
              <a:buNone/>
              <a:defRPr/>
            </a:pPr>
            <a:r>
              <a:rPr lang="en-US" altLang="zh-CN" sz="2200" dirty="0" smtClean="0">
                <a:solidFill>
                  <a:srgbClr val="FFC000"/>
                </a:solidFill>
              </a:rPr>
              <a:t>		</a:t>
            </a:r>
            <a:r>
              <a:rPr lang="zh-CN" altLang="en-US" sz="2200" dirty="0" smtClean="0">
                <a:solidFill>
                  <a:srgbClr val="FFC000"/>
                </a:solidFill>
              </a:rPr>
              <a:t>（</a:t>
            </a:r>
            <a:r>
              <a:rPr lang="en-US" altLang="zh-CN" sz="2200" dirty="0" smtClean="0">
                <a:solidFill>
                  <a:srgbClr val="FFC000"/>
                </a:solidFill>
              </a:rPr>
              <a:t>2</a:t>
            </a:r>
            <a:r>
              <a:rPr lang="zh-CN" altLang="en-US" sz="2200" dirty="0" smtClean="0">
                <a:solidFill>
                  <a:srgbClr val="FFC000"/>
                </a:solidFill>
              </a:rPr>
              <a:t>）利用天时、地利（大雾弥江）</a:t>
            </a:r>
            <a:r>
              <a:rPr lang="en-US" altLang="zh-CN" sz="2200" dirty="0" smtClean="0">
                <a:solidFill>
                  <a:srgbClr val="FFC000"/>
                </a:solidFill>
              </a:rPr>
              <a:t>——</a:t>
            </a:r>
            <a:r>
              <a:rPr lang="zh-CN" altLang="en-US" sz="2200" dirty="0" smtClean="0">
                <a:solidFill>
                  <a:srgbClr val="FFC000"/>
                </a:solidFill>
              </a:rPr>
              <a:t>外部环境的作用；</a:t>
            </a:r>
            <a:endParaRPr lang="en-US" altLang="zh-CN" sz="2200" dirty="0" smtClean="0">
              <a:solidFill>
                <a:srgbClr val="FFC000"/>
              </a:solidFill>
            </a:endParaRPr>
          </a:p>
          <a:p>
            <a:pPr marL="274320" indent="-274320">
              <a:buNone/>
              <a:defRPr/>
            </a:pPr>
            <a:r>
              <a:rPr lang="en-US" altLang="zh-CN" sz="2200" dirty="0" smtClean="0">
                <a:solidFill>
                  <a:srgbClr val="FFC000"/>
                </a:solidFill>
              </a:rPr>
              <a:t>		</a:t>
            </a:r>
            <a:r>
              <a:rPr lang="zh-CN" altLang="en-US" sz="2200" dirty="0" smtClean="0">
                <a:solidFill>
                  <a:srgbClr val="FFC000"/>
                </a:solidFill>
              </a:rPr>
              <a:t>（</a:t>
            </a:r>
            <a:r>
              <a:rPr lang="en-US" altLang="zh-CN" sz="2200" dirty="0" smtClean="0">
                <a:solidFill>
                  <a:srgbClr val="FFC000"/>
                </a:solidFill>
              </a:rPr>
              <a:t>3</a:t>
            </a:r>
            <a:r>
              <a:rPr lang="zh-CN" altLang="en-US" sz="2200" dirty="0" smtClean="0">
                <a:solidFill>
                  <a:srgbClr val="FFC000"/>
                </a:solidFill>
              </a:rPr>
              <a:t>）分析心里（曹操不敢迎敌）</a:t>
            </a:r>
            <a:r>
              <a:rPr lang="en-US" altLang="zh-CN" sz="2200" dirty="0" smtClean="0">
                <a:solidFill>
                  <a:srgbClr val="FFC000"/>
                </a:solidFill>
              </a:rPr>
              <a:t>——</a:t>
            </a:r>
            <a:r>
              <a:rPr lang="zh-CN" altLang="en-US" sz="2200" dirty="0" smtClean="0">
                <a:solidFill>
                  <a:srgbClr val="FFC000"/>
                </a:solidFill>
              </a:rPr>
              <a:t>人的因素至关重要。</a:t>
            </a:r>
          </a:p>
        </p:txBody>
      </p:sp>
      <p:sp>
        <p:nvSpPr>
          <p:cNvPr id="10243" name="灯片编号占位符 2"/>
          <p:cNvSpPr>
            <a:spLocks noGrp="1"/>
          </p:cNvSpPr>
          <p:nvPr>
            <p:ph type="sldNum" sz="quarter" idx="12"/>
          </p:nvPr>
        </p:nvSpPr>
        <p:spPr bwMode="auto">
          <a:noFill/>
          <a:ln>
            <a:miter lim="800000"/>
            <a:headEnd/>
            <a:tailEnd/>
          </a:ln>
        </p:spPr>
        <p:txBody>
          <a:bodyPr wrap="square" numCol="1" compatLnSpc="1">
            <a:prstTxWarp prst="textNoShape">
              <a:avLst/>
            </a:prstTxWarp>
          </a:bodyPr>
          <a:lstStyle/>
          <a:p>
            <a:fld id="{D23D8C12-2BBD-4093-BBEF-A540230E9F5A}" type="slidenum">
              <a:rPr lang="zh-CN" altLang="en-US"/>
              <a:pPr/>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p:cTn id="7" dur="1000" fill="hold"/>
                                        <p:tgtEl>
                                          <p:spTgt spid="2">
                                            <p:txEl>
                                              <p:pRg st="2" end="2"/>
                                            </p:txEl>
                                          </p:spTgt>
                                        </p:tgtEl>
                                        <p:attrNameLst>
                                          <p:attrName>ppt_x</p:attrName>
                                        </p:attrNameLst>
                                      </p:cBhvr>
                                      <p:tavLst>
                                        <p:tav tm="0">
                                          <p:val>
                                            <p:strVal val="#ppt_x-.2"/>
                                          </p:val>
                                        </p:tav>
                                        <p:tav tm="100000">
                                          <p:val>
                                            <p:strVal val="#ppt_x"/>
                                          </p:val>
                                        </p:tav>
                                      </p:tavLst>
                                    </p:anim>
                                    <p:anim calcmode="lin" valueType="num">
                                      <p:cBhvr>
                                        <p:cTn id="8" dur="1000" fill="hold"/>
                                        <p:tgtEl>
                                          <p:spTgt spid="2">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 calcmode="lin" valueType="num">
                                      <p:cBhvr>
                                        <p:cTn id="14" dur="1000" fill="hold"/>
                                        <p:tgtEl>
                                          <p:spTgt spid="2">
                                            <p:txEl>
                                              <p:pRg st="3" end="3"/>
                                            </p:txEl>
                                          </p:spTgt>
                                        </p:tgtEl>
                                        <p:attrNameLst>
                                          <p:attrName>ppt_x</p:attrName>
                                        </p:attrNameLst>
                                      </p:cBhvr>
                                      <p:tavLst>
                                        <p:tav tm="0">
                                          <p:val>
                                            <p:strVal val="#ppt_x-.2"/>
                                          </p:val>
                                        </p:tav>
                                        <p:tav tm="100000">
                                          <p:val>
                                            <p:strVal val="#ppt_x"/>
                                          </p:val>
                                        </p:tav>
                                      </p:tavLst>
                                    </p:anim>
                                    <p:anim calcmode="lin" valueType="num">
                                      <p:cBhvr>
                                        <p:cTn id="15" dur="1000" fill="hold"/>
                                        <p:tgtEl>
                                          <p:spTgt spid="2">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p:cTn id="21" dur="1000" fill="hold"/>
                                        <p:tgtEl>
                                          <p:spTgt spid="2">
                                            <p:txEl>
                                              <p:pRg st="4" end="4"/>
                                            </p:txEl>
                                          </p:spTgt>
                                        </p:tgtEl>
                                        <p:attrNameLst>
                                          <p:attrName>ppt_x</p:attrName>
                                        </p:attrNameLst>
                                      </p:cBhvr>
                                      <p:tavLst>
                                        <p:tav tm="0">
                                          <p:val>
                                            <p:strVal val="#ppt_x-.2"/>
                                          </p:val>
                                        </p:tav>
                                        <p:tav tm="100000">
                                          <p:val>
                                            <p:strVal val="#ppt_x"/>
                                          </p:val>
                                        </p:tav>
                                      </p:tavLst>
                                    </p:anim>
                                    <p:anim calcmode="lin" valueType="num">
                                      <p:cBhvr>
                                        <p:cTn id="22" dur="1000" fill="hold"/>
                                        <p:tgtEl>
                                          <p:spTgt spid="2">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 calcmode="lin" valueType="num">
                                      <p:cBhvr>
                                        <p:cTn id="28" dur="1000" fill="hold"/>
                                        <p:tgtEl>
                                          <p:spTgt spid="2">
                                            <p:txEl>
                                              <p:pRg st="5" end="5"/>
                                            </p:txEl>
                                          </p:spTgt>
                                        </p:tgtEl>
                                        <p:attrNameLst>
                                          <p:attrName>ppt_x</p:attrName>
                                        </p:attrNameLst>
                                      </p:cBhvr>
                                      <p:tavLst>
                                        <p:tav tm="0">
                                          <p:val>
                                            <p:strVal val="#ppt_x-.2"/>
                                          </p:val>
                                        </p:tav>
                                        <p:tav tm="100000">
                                          <p:val>
                                            <p:strVal val="#ppt_x"/>
                                          </p:val>
                                        </p:tav>
                                      </p:tavLst>
                                    </p:anim>
                                    <p:anim calcmode="lin" valueType="num">
                                      <p:cBhvr>
                                        <p:cTn id="29" dur="1000" fill="hold"/>
                                        <p:tgtEl>
                                          <p:spTgt spid="2">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 calcmode="lin" valueType="num">
                                      <p:cBhvr additive="base">
                                        <p:cTn id="3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 presetClass="entr" presetSubtype="4" fill="hold" nodeType="after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 calcmode="lin" valueType="num">
                                      <p:cBhvr additive="base">
                                        <p:cTn id="40"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par>
                          <p:cTn id="42" fill="hold">
                            <p:stCondLst>
                              <p:cond delay="1000"/>
                            </p:stCondLst>
                            <p:childTnLst>
                              <p:par>
                                <p:cTn id="43" presetID="2" presetClass="entr" presetSubtype="4" fill="hold" nodeType="afterEffect">
                                  <p:stCondLst>
                                    <p:cond delay="0"/>
                                  </p:stCondLst>
                                  <p:childTnLst>
                                    <p:set>
                                      <p:cBhvr>
                                        <p:cTn id="44" dur="1" fill="hold">
                                          <p:stCondLst>
                                            <p:cond delay="0"/>
                                          </p:stCondLst>
                                        </p:cTn>
                                        <p:tgtEl>
                                          <p:spTgt spid="2">
                                            <p:txEl>
                                              <p:pRg st="8" end="8"/>
                                            </p:txEl>
                                          </p:spTgt>
                                        </p:tgtEl>
                                        <p:attrNameLst>
                                          <p:attrName>style.visibility</p:attrName>
                                        </p:attrNameLst>
                                      </p:cBhvr>
                                      <p:to>
                                        <p:strVal val="visible"/>
                                      </p:to>
                                    </p:set>
                                    <p:anim calcmode="lin" valueType="num">
                                      <p:cBhvr additive="base">
                                        <p:cTn id="4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par>
                          <p:cTn id="47" fill="hold">
                            <p:stCondLst>
                              <p:cond delay="1500"/>
                            </p:stCondLst>
                            <p:childTnLst>
                              <p:par>
                                <p:cTn id="48" presetID="2" presetClass="entr" presetSubtype="4" fill="hold" nodeType="afterEffect">
                                  <p:stCondLst>
                                    <p:cond delay="0"/>
                                  </p:stCondLst>
                                  <p:childTnLst>
                                    <p:set>
                                      <p:cBhvr>
                                        <p:cTn id="49" dur="1" fill="hold">
                                          <p:stCondLst>
                                            <p:cond delay="0"/>
                                          </p:stCondLst>
                                        </p:cTn>
                                        <p:tgtEl>
                                          <p:spTgt spid="2">
                                            <p:txEl>
                                              <p:pRg st="9" end="9"/>
                                            </p:txEl>
                                          </p:spTgt>
                                        </p:tgtEl>
                                        <p:attrNameLst>
                                          <p:attrName>style.visibility</p:attrName>
                                        </p:attrNameLst>
                                      </p:cBhvr>
                                      <p:to>
                                        <p:strVal val="visible"/>
                                      </p:to>
                                    </p:set>
                                    <p:anim calcmode="lin" valueType="num">
                                      <p:cBhvr additive="base">
                                        <p:cTn id="50"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type="title"/>
          </p:nvPr>
        </p:nvSpPr>
        <p:spPr>
          <a:xfrm>
            <a:off x="714375" y="609600"/>
            <a:ext cx="8201025" cy="936625"/>
          </a:xfrm>
        </p:spPr>
        <p:txBody>
          <a:bodyPr>
            <a:normAutofit fontScale="90000"/>
          </a:bodyPr>
          <a:lstStyle/>
          <a:p>
            <a:pPr fontAlgn="auto">
              <a:spcAft>
                <a:spcPts val="0"/>
              </a:spcAft>
              <a:defRPr/>
            </a:pPr>
            <a:r>
              <a:rPr lang="zh-CN" altLang="en-US" dirty="0" smtClean="0"/>
              <a:t>项目管理知识体系（</a:t>
            </a:r>
            <a:r>
              <a:rPr altLang="zh-CN" dirty="0" smtClean="0"/>
              <a:t>PMBOK</a:t>
            </a:r>
            <a:r>
              <a:rPr lang="zh-CN" altLang="en-US" dirty="0" smtClean="0"/>
              <a:t>）</a:t>
            </a:r>
            <a:r>
              <a:rPr altLang="zh-CN" dirty="0" smtClean="0"/>
              <a:t/>
            </a:r>
            <a:br>
              <a:rPr altLang="zh-CN" dirty="0" smtClean="0"/>
            </a:br>
            <a:r>
              <a:rPr altLang="zh-CN" sz="2400" dirty="0" smtClean="0"/>
              <a:t>Project Management Body of Knowledge</a:t>
            </a:r>
            <a:endParaRPr lang="zh-CN" altLang="en-US" dirty="0" smtClean="0"/>
          </a:p>
        </p:txBody>
      </p:sp>
      <p:sp>
        <p:nvSpPr>
          <p:cNvPr id="20482" name="灯片编号占位符 5"/>
          <p:cNvSpPr>
            <a:spLocks noGrp="1"/>
          </p:cNvSpPr>
          <p:nvPr>
            <p:ph type="sldNum" sz="quarter" idx="12"/>
          </p:nvPr>
        </p:nvSpPr>
        <p:spPr bwMode="auto">
          <a:noFill/>
          <a:ln>
            <a:miter lim="800000"/>
            <a:headEnd/>
            <a:tailEnd/>
          </a:ln>
        </p:spPr>
        <p:txBody>
          <a:bodyPr wrap="square" numCol="1" compatLnSpc="1">
            <a:prstTxWarp prst="textNoShape">
              <a:avLst/>
            </a:prstTxWarp>
          </a:bodyPr>
          <a:lstStyle/>
          <a:p>
            <a:fld id="{69E421AB-00EC-4C34-86DB-24767CFCD729}" type="slidenum">
              <a:rPr lang="zh-CN" altLang="en-US"/>
              <a:pPr/>
              <a:t>5</a:t>
            </a:fld>
            <a:endParaRPr lang="en-US" altLang="zh-CN"/>
          </a:p>
        </p:txBody>
      </p:sp>
      <p:sp>
        <p:nvSpPr>
          <p:cNvPr id="823298" name="Oval 2"/>
          <p:cNvSpPr>
            <a:spLocks noChangeArrowheads="1"/>
          </p:cNvSpPr>
          <p:nvPr/>
        </p:nvSpPr>
        <p:spPr bwMode="auto">
          <a:xfrm>
            <a:off x="3779838" y="1773238"/>
            <a:ext cx="4318000" cy="4176712"/>
          </a:xfrm>
          <a:prstGeom prst="ellipse">
            <a:avLst/>
          </a:prstGeom>
          <a:solidFill>
            <a:srgbClr val="FFFF00">
              <a:alpha val="39999"/>
            </a:srgbClr>
          </a:solidFill>
          <a:ln w="152400" algn="ctr">
            <a:solidFill>
              <a:srgbClr val="FF5050"/>
            </a:solidFill>
            <a:round/>
            <a:headEnd/>
            <a:tailEnd/>
          </a:ln>
        </p:spPr>
        <p:txBody>
          <a:bodyPr wrap="none" anchor="ctr"/>
          <a:lstStyle/>
          <a:p>
            <a:endParaRPr lang="zh-CN" altLang="en-US"/>
          </a:p>
        </p:txBody>
      </p:sp>
      <p:sp>
        <p:nvSpPr>
          <p:cNvPr id="823300" name="Oval 4"/>
          <p:cNvSpPr>
            <a:spLocks noChangeArrowheads="1"/>
          </p:cNvSpPr>
          <p:nvPr/>
        </p:nvSpPr>
        <p:spPr bwMode="auto">
          <a:xfrm>
            <a:off x="5364163" y="4437063"/>
            <a:ext cx="1223962" cy="1223962"/>
          </a:xfrm>
          <a:prstGeom prst="ellipse">
            <a:avLst/>
          </a:prstGeom>
          <a:solidFill>
            <a:srgbClr val="FF6600">
              <a:alpha val="34901"/>
            </a:srgbClr>
          </a:solidFill>
          <a:ln w="38100" algn="ctr">
            <a:solidFill>
              <a:schemeClr val="tx1"/>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质量管理</a:t>
            </a:r>
          </a:p>
        </p:txBody>
      </p:sp>
      <p:sp>
        <p:nvSpPr>
          <p:cNvPr id="823301" name="Oval 5"/>
          <p:cNvSpPr>
            <a:spLocks noChangeArrowheads="1"/>
          </p:cNvSpPr>
          <p:nvPr/>
        </p:nvSpPr>
        <p:spPr bwMode="auto">
          <a:xfrm>
            <a:off x="5292725" y="1989138"/>
            <a:ext cx="1223963" cy="1223962"/>
          </a:xfrm>
          <a:prstGeom prst="ellipse">
            <a:avLst/>
          </a:prstGeom>
          <a:solidFill>
            <a:srgbClr val="000066">
              <a:alpha val="34901"/>
            </a:srgbClr>
          </a:solidFill>
          <a:ln w="38100" algn="ctr">
            <a:solidFill>
              <a:srgbClr val="000066"/>
            </a:solidFill>
            <a:round/>
            <a:headEnd/>
            <a:tailEnd/>
          </a:ln>
        </p:spPr>
        <p:txBody>
          <a:bodyPr wrap="none" anchorCtr="1"/>
          <a:lstStyle/>
          <a:p>
            <a:pPr algn="ctr" eaLnBrk="1" hangingPunct="1">
              <a:spcBef>
                <a:spcPct val="20000"/>
              </a:spcBef>
            </a:pPr>
            <a:r>
              <a:rPr lang="zh-CN" altLang="en-US" sz="1800" dirty="0">
                <a:latin typeface="经典行楷简" pitchFamily="49" charset="-122"/>
                <a:ea typeface="经典行楷简" pitchFamily="49" charset="-122"/>
              </a:rPr>
              <a:t>范围管理</a:t>
            </a:r>
          </a:p>
        </p:txBody>
      </p:sp>
      <p:sp>
        <p:nvSpPr>
          <p:cNvPr id="823302" name="Oval 6"/>
          <p:cNvSpPr>
            <a:spLocks noChangeArrowheads="1"/>
          </p:cNvSpPr>
          <p:nvPr/>
        </p:nvSpPr>
        <p:spPr bwMode="auto">
          <a:xfrm>
            <a:off x="4068763" y="3249613"/>
            <a:ext cx="1223962" cy="1223962"/>
          </a:xfrm>
          <a:prstGeom prst="ellipse">
            <a:avLst/>
          </a:prstGeom>
          <a:solidFill>
            <a:srgbClr val="CC0000">
              <a:alpha val="34901"/>
            </a:srgbClr>
          </a:solidFill>
          <a:ln w="38100" algn="ctr">
            <a:solidFill>
              <a:schemeClr val="tx1"/>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费用管理</a:t>
            </a:r>
          </a:p>
        </p:txBody>
      </p:sp>
      <p:sp>
        <p:nvSpPr>
          <p:cNvPr id="823303" name="Oval 7"/>
          <p:cNvSpPr>
            <a:spLocks noChangeArrowheads="1"/>
          </p:cNvSpPr>
          <p:nvPr/>
        </p:nvSpPr>
        <p:spPr bwMode="auto">
          <a:xfrm>
            <a:off x="6589713" y="3249613"/>
            <a:ext cx="1223962" cy="1223962"/>
          </a:xfrm>
          <a:prstGeom prst="ellipse">
            <a:avLst/>
          </a:prstGeom>
          <a:solidFill>
            <a:srgbClr val="CC0099">
              <a:alpha val="34901"/>
            </a:srgbClr>
          </a:solidFill>
          <a:ln w="38100" algn="ctr">
            <a:solidFill>
              <a:schemeClr val="tx1"/>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采购管理</a:t>
            </a:r>
          </a:p>
        </p:txBody>
      </p:sp>
      <p:sp>
        <p:nvSpPr>
          <p:cNvPr id="823304" name="Oval 8"/>
          <p:cNvSpPr>
            <a:spLocks noChangeArrowheads="1"/>
          </p:cNvSpPr>
          <p:nvPr/>
        </p:nvSpPr>
        <p:spPr bwMode="auto">
          <a:xfrm>
            <a:off x="5942013" y="2636838"/>
            <a:ext cx="1223962" cy="1223962"/>
          </a:xfrm>
          <a:prstGeom prst="ellipse">
            <a:avLst/>
          </a:prstGeom>
          <a:solidFill>
            <a:srgbClr val="006600">
              <a:alpha val="34901"/>
            </a:srgbClr>
          </a:solidFill>
          <a:ln w="38100" algn="ctr">
            <a:solidFill>
              <a:srgbClr val="006600"/>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时间管理</a:t>
            </a:r>
          </a:p>
        </p:txBody>
      </p:sp>
      <p:sp>
        <p:nvSpPr>
          <p:cNvPr id="823305" name="Oval 9"/>
          <p:cNvSpPr>
            <a:spLocks noChangeArrowheads="1"/>
          </p:cNvSpPr>
          <p:nvPr/>
        </p:nvSpPr>
        <p:spPr bwMode="auto">
          <a:xfrm>
            <a:off x="4718050" y="2636838"/>
            <a:ext cx="1223963" cy="1223962"/>
          </a:xfrm>
          <a:prstGeom prst="ellipse">
            <a:avLst/>
          </a:prstGeom>
          <a:solidFill>
            <a:srgbClr val="996633">
              <a:alpha val="34901"/>
            </a:srgbClr>
          </a:solidFill>
          <a:ln w="38100" algn="ctr">
            <a:solidFill>
              <a:srgbClr val="996633"/>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资源管理</a:t>
            </a:r>
          </a:p>
        </p:txBody>
      </p:sp>
      <p:sp>
        <p:nvSpPr>
          <p:cNvPr id="823306" name="Oval 10"/>
          <p:cNvSpPr>
            <a:spLocks noChangeArrowheads="1"/>
          </p:cNvSpPr>
          <p:nvPr/>
        </p:nvSpPr>
        <p:spPr bwMode="auto">
          <a:xfrm>
            <a:off x="5940425" y="3860800"/>
            <a:ext cx="1223963" cy="1223963"/>
          </a:xfrm>
          <a:prstGeom prst="ellipse">
            <a:avLst/>
          </a:prstGeom>
          <a:solidFill>
            <a:srgbClr val="3333CC">
              <a:alpha val="34901"/>
            </a:srgbClr>
          </a:solidFill>
          <a:ln w="38100" algn="ctr">
            <a:solidFill>
              <a:schemeClr val="tx1"/>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风险管理</a:t>
            </a:r>
          </a:p>
        </p:txBody>
      </p:sp>
      <p:sp>
        <p:nvSpPr>
          <p:cNvPr id="823307" name="Oval 11"/>
          <p:cNvSpPr>
            <a:spLocks noChangeArrowheads="1"/>
          </p:cNvSpPr>
          <p:nvPr/>
        </p:nvSpPr>
        <p:spPr bwMode="auto">
          <a:xfrm>
            <a:off x="4716463" y="3860800"/>
            <a:ext cx="1223962" cy="1223963"/>
          </a:xfrm>
          <a:prstGeom prst="ellipse">
            <a:avLst/>
          </a:prstGeom>
          <a:solidFill>
            <a:srgbClr val="CC00CC">
              <a:alpha val="34901"/>
            </a:srgbClr>
          </a:solidFill>
          <a:ln w="38100" algn="ctr">
            <a:solidFill>
              <a:schemeClr val="tx1"/>
            </a:solidFill>
            <a:round/>
            <a:headEnd/>
            <a:tailEnd/>
          </a:ln>
        </p:spPr>
        <p:txBody>
          <a:bodyPr wrap="none" anchor="ctr"/>
          <a:lstStyle/>
          <a:p>
            <a:pPr algn="ctr" eaLnBrk="1" hangingPunct="1">
              <a:spcBef>
                <a:spcPct val="20000"/>
              </a:spcBef>
            </a:pPr>
            <a:r>
              <a:rPr lang="zh-CN" altLang="en-US" sz="1800">
                <a:latin typeface="经典行楷简" pitchFamily="49" charset="-122"/>
                <a:ea typeface="经典行楷简" pitchFamily="49" charset="-122"/>
              </a:rPr>
              <a:t>沟通管理</a:t>
            </a:r>
          </a:p>
        </p:txBody>
      </p:sp>
      <p:sp>
        <p:nvSpPr>
          <p:cNvPr id="823308" name="Oval 12"/>
          <p:cNvSpPr>
            <a:spLocks noChangeArrowheads="1"/>
          </p:cNvSpPr>
          <p:nvPr/>
        </p:nvSpPr>
        <p:spPr bwMode="auto">
          <a:xfrm>
            <a:off x="4932363" y="2852738"/>
            <a:ext cx="2016125" cy="1944687"/>
          </a:xfrm>
          <a:prstGeom prst="ellipse">
            <a:avLst/>
          </a:prstGeom>
          <a:solidFill>
            <a:srgbClr val="FFFF00">
              <a:alpha val="34901"/>
            </a:srgbClr>
          </a:solidFill>
          <a:ln w="38100" algn="ctr">
            <a:solidFill>
              <a:srgbClr val="CC3300"/>
            </a:solidFill>
            <a:round/>
            <a:headEnd/>
            <a:tailEnd/>
          </a:ln>
        </p:spPr>
        <p:txBody>
          <a:bodyPr wrap="none" anchor="ctr"/>
          <a:lstStyle/>
          <a:p>
            <a:pPr algn="ctr" eaLnBrk="1" hangingPunct="1">
              <a:spcBef>
                <a:spcPct val="20000"/>
              </a:spcBef>
            </a:pPr>
            <a:r>
              <a:rPr lang="zh-CN" altLang="en-US" sz="2800" dirty="0">
                <a:latin typeface="经典行楷简" pitchFamily="49" charset="-122"/>
                <a:ea typeface="经典行楷简" pitchFamily="49" charset="-122"/>
              </a:rPr>
              <a:t>综合管理</a:t>
            </a:r>
          </a:p>
        </p:txBody>
      </p:sp>
      <p:sp>
        <p:nvSpPr>
          <p:cNvPr id="823309" name="Text Box 13"/>
          <p:cNvSpPr txBox="1">
            <a:spLocks noChangeArrowheads="1"/>
          </p:cNvSpPr>
          <p:nvPr/>
        </p:nvSpPr>
        <p:spPr bwMode="auto">
          <a:xfrm>
            <a:off x="1187450" y="2060575"/>
            <a:ext cx="3025775" cy="4006850"/>
          </a:xfrm>
          <a:prstGeom prst="rect">
            <a:avLst/>
          </a:prstGeom>
          <a:noFill/>
          <a:ln w="9525" algn="ctr">
            <a:noFill/>
            <a:miter lim="800000"/>
            <a:headEnd/>
            <a:tailEnd/>
          </a:ln>
        </p:spPr>
        <p:txBody>
          <a:bodyPr wrap="none">
            <a:spAutoFit/>
          </a:bodyPr>
          <a:lstStyle/>
          <a:p>
            <a:pPr marL="361950" indent="-361950" eaLnBrk="1" hangingPunct="1">
              <a:spcBef>
                <a:spcPct val="20000"/>
              </a:spcBef>
              <a:buFontTx/>
              <a:buChar char="•"/>
            </a:pPr>
            <a:r>
              <a:rPr lang="zh-CN" altLang="en-US" sz="2400" dirty="0">
                <a:latin typeface="经典行楷简" pitchFamily="49" charset="-122"/>
                <a:ea typeface="经典行楷简" pitchFamily="49" charset="-122"/>
              </a:rPr>
              <a:t>综合（</a:t>
            </a:r>
            <a:r>
              <a:rPr lang="zh-CN" altLang="en-US" sz="2400" dirty="0">
                <a:solidFill>
                  <a:srgbClr val="FFFF00"/>
                </a:solidFill>
                <a:latin typeface="经典行楷简" pitchFamily="49" charset="-122"/>
                <a:ea typeface="经典行楷简" pitchFamily="49" charset="-122"/>
              </a:rPr>
              <a:t>集成</a:t>
            </a:r>
            <a:r>
              <a:rPr lang="zh-CN" altLang="en-US" sz="2400" dirty="0">
                <a:latin typeface="经典行楷简" pitchFamily="49" charset="-122"/>
                <a:ea typeface="经典行楷简" pitchFamily="49" charset="-122"/>
              </a:rPr>
              <a:t>）管理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范围管理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时间管理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资源管理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费用管理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采购管理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沟通管理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风险管理</a:t>
            </a:r>
          </a:p>
          <a:p>
            <a:pPr marL="361950" indent="-361950" eaLnBrk="1" hangingPunct="1">
              <a:spcBef>
                <a:spcPct val="20000"/>
              </a:spcBef>
              <a:buFontTx/>
              <a:buChar char="•"/>
            </a:pPr>
            <a:r>
              <a:rPr lang="zh-CN" altLang="en-US" sz="2400" dirty="0">
                <a:latin typeface="经典行楷简" pitchFamily="49" charset="-122"/>
                <a:ea typeface="经典行楷简" pitchFamily="49" charset="-122"/>
              </a:rPr>
              <a:t>质量管理</a:t>
            </a:r>
          </a:p>
        </p:txBody>
      </p:sp>
      <p:sp>
        <p:nvSpPr>
          <p:cNvPr id="823310" name="Text Box 14"/>
          <p:cNvSpPr txBox="1">
            <a:spLocks noChangeArrowheads="1"/>
          </p:cNvSpPr>
          <p:nvPr/>
        </p:nvSpPr>
        <p:spPr bwMode="auto">
          <a:xfrm>
            <a:off x="515938" y="2133600"/>
            <a:ext cx="733425" cy="3838575"/>
          </a:xfrm>
          <a:prstGeom prst="rect">
            <a:avLst/>
          </a:prstGeom>
          <a:noFill/>
          <a:ln w="9525" algn="ctr">
            <a:noFill/>
            <a:miter lim="800000"/>
            <a:headEnd/>
            <a:tailEnd/>
          </a:ln>
          <a:effectLst/>
        </p:spPr>
        <p:txBody>
          <a:bodyPr vert="eaVert" wrap="none">
            <a:spAutoFit/>
          </a:bodyPr>
          <a:lstStyle/>
          <a:p>
            <a:pPr eaLnBrk="1" hangingPunct="1">
              <a:spcBef>
                <a:spcPct val="20000"/>
              </a:spcBef>
              <a:defRPr/>
            </a:pPr>
            <a:r>
              <a:rPr lang="zh-CN" altLang="en-US" sz="3600" dirty="0">
                <a:solidFill>
                  <a:srgbClr val="FF0000"/>
                </a:solidFill>
                <a:effectLst>
                  <a:outerShdw blurRad="38100" dist="38100" dir="2700000" algn="tl">
                    <a:srgbClr val="000000"/>
                  </a:outerShdw>
                </a:effectLst>
                <a:latin typeface="金桥简魏碑" pitchFamily="2" charset="-122"/>
                <a:ea typeface="金桥简魏碑" pitchFamily="2" charset="-122"/>
              </a:rPr>
              <a:t>项目管理知识体系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23309">
                                            <p:txEl>
                                              <p:pRg st="0" end="0"/>
                                            </p:txEl>
                                          </p:spTgt>
                                        </p:tgtEl>
                                        <p:attrNameLst>
                                          <p:attrName>style.visibility</p:attrName>
                                        </p:attrNameLst>
                                      </p:cBhvr>
                                      <p:to>
                                        <p:strVal val="visible"/>
                                      </p:to>
                                    </p:set>
                                    <p:anim calcmode="lin" valueType="num">
                                      <p:cBhvr>
                                        <p:cTn id="7" dur="500" fill="hold"/>
                                        <p:tgtEl>
                                          <p:spTgt spid="82330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23309">
                                            <p:txEl>
                                              <p:pRg st="0" end="0"/>
                                            </p:txEl>
                                          </p:spTgt>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823308"/>
                                        </p:tgtEl>
                                        <p:attrNameLst>
                                          <p:attrName>style.visibility</p:attrName>
                                        </p:attrNameLst>
                                      </p:cBhvr>
                                      <p:to>
                                        <p:strVal val="visible"/>
                                      </p:to>
                                    </p:set>
                                    <p:anim calcmode="lin" valueType="num">
                                      <p:cBhvr>
                                        <p:cTn id="12" dur="500" fill="hold"/>
                                        <p:tgtEl>
                                          <p:spTgt spid="823308"/>
                                        </p:tgtEl>
                                        <p:attrNameLst>
                                          <p:attrName>ppt_w</p:attrName>
                                        </p:attrNameLst>
                                      </p:cBhvr>
                                      <p:tavLst>
                                        <p:tav tm="0">
                                          <p:val>
                                            <p:fltVal val="0"/>
                                          </p:val>
                                        </p:tav>
                                        <p:tav tm="100000">
                                          <p:val>
                                            <p:strVal val="#ppt_w"/>
                                          </p:val>
                                        </p:tav>
                                      </p:tavLst>
                                    </p:anim>
                                    <p:anim calcmode="lin" valueType="num">
                                      <p:cBhvr>
                                        <p:cTn id="13" dur="500" fill="hold"/>
                                        <p:tgtEl>
                                          <p:spTgt spid="823308"/>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823309">
                                            <p:txEl>
                                              <p:pRg st="1" end="1"/>
                                            </p:txEl>
                                          </p:spTgt>
                                        </p:tgtEl>
                                        <p:attrNameLst>
                                          <p:attrName>style.visibility</p:attrName>
                                        </p:attrNameLst>
                                      </p:cBhvr>
                                      <p:to>
                                        <p:strVal val="visible"/>
                                      </p:to>
                                    </p:set>
                                    <p:anim calcmode="lin" valueType="num">
                                      <p:cBhvr>
                                        <p:cTn id="18" dur="500" fill="hold"/>
                                        <p:tgtEl>
                                          <p:spTgt spid="823309">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823309">
                                            <p:txEl>
                                              <p:pRg st="1" end="1"/>
                                            </p:txEl>
                                          </p:spTgt>
                                        </p:tgtEl>
                                        <p:attrNameLst>
                                          <p:attrName>ppt_h</p:attrName>
                                        </p:attrNameLst>
                                      </p:cBhvr>
                                      <p:tavLst>
                                        <p:tav tm="0">
                                          <p:val>
                                            <p:fltVal val="0"/>
                                          </p:val>
                                        </p:tav>
                                        <p:tav tm="100000">
                                          <p:val>
                                            <p:strVal val="#ppt_h"/>
                                          </p:val>
                                        </p:tav>
                                      </p:tavLst>
                                    </p:anim>
                                  </p:childTnLst>
                                </p:cTn>
                              </p:par>
                            </p:childTnLst>
                          </p:cTn>
                        </p:par>
                        <p:par>
                          <p:cTn id="20" fill="hold">
                            <p:stCondLst>
                              <p:cond delay="500"/>
                            </p:stCondLst>
                            <p:childTnLst>
                              <p:par>
                                <p:cTn id="21" presetID="23" presetClass="entr" presetSubtype="32" fill="hold" grpId="0" nodeType="afterEffect">
                                  <p:stCondLst>
                                    <p:cond delay="0"/>
                                  </p:stCondLst>
                                  <p:childTnLst>
                                    <p:set>
                                      <p:cBhvr>
                                        <p:cTn id="22" dur="1" fill="hold">
                                          <p:stCondLst>
                                            <p:cond delay="0"/>
                                          </p:stCondLst>
                                        </p:cTn>
                                        <p:tgtEl>
                                          <p:spTgt spid="823301"/>
                                        </p:tgtEl>
                                        <p:attrNameLst>
                                          <p:attrName>style.visibility</p:attrName>
                                        </p:attrNameLst>
                                      </p:cBhvr>
                                      <p:to>
                                        <p:strVal val="visible"/>
                                      </p:to>
                                    </p:set>
                                    <p:anim calcmode="lin" valueType="num">
                                      <p:cBhvr>
                                        <p:cTn id="23" dur="1000" fill="hold"/>
                                        <p:tgtEl>
                                          <p:spTgt spid="823301"/>
                                        </p:tgtEl>
                                        <p:attrNameLst>
                                          <p:attrName>ppt_w</p:attrName>
                                        </p:attrNameLst>
                                      </p:cBhvr>
                                      <p:tavLst>
                                        <p:tav tm="0">
                                          <p:val>
                                            <p:strVal val="4*#ppt_w"/>
                                          </p:val>
                                        </p:tav>
                                        <p:tav tm="100000">
                                          <p:val>
                                            <p:strVal val="#ppt_w"/>
                                          </p:val>
                                        </p:tav>
                                      </p:tavLst>
                                    </p:anim>
                                    <p:anim calcmode="lin" valueType="num">
                                      <p:cBhvr>
                                        <p:cTn id="24" dur="1000" fill="hold"/>
                                        <p:tgtEl>
                                          <p:spTgt spid="823301"/>
                                        </p:tgtEl>
                                        <p:attrNameLst>
                                          <p:attrName>ppt_h</p:attrName>
                                        </p:attrNameLst>
                                      </p:cBhvr>
                                      <p:tavLst>
                                        <p:tav tm="0">
                                          <p:val>
                                            <p:strVal val="4*#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823309">
                                            <p:txEl>
                                              <p:pRg st="2" end="2"/>
                                            </p:txEl>
                                          </p:spTgt>
                                        </p:tgtEl>
                                        <p:attrNameLst>
                                          <p:attrName>style.visibility</p:attrName>
                                        </p:attrNameLst>
                                      </p:cBhvr>
                                      <p:to>
                                        <p:strVal val="visible"/>
                                      </p:to>
                                    </p:set>
                                    <p:anim calcmode="lin" valueType="num">
                                      <p:cBhvr>
                                        <p:cTn id="29" dur="500" fill="hold"/>
                                        <p:tgtEl>
                                          <p:spTgt spid="823309">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823309">
                                            <p:txEl>
                                              <p:pRg st="2" end="2"/>
                                            </p:txEl>
                                          </p:spTgt>
                                        </p:tgtEl>
                                        <p:attrNameLst>
                                          <p:attrName>ppt_h</p:attrName>
                                        </p:attrNameLst>
                                      </p:cBhvr>
                                      <p:tavLst>
                                        <p:tav tm="0">
                                          <p:val>
                                            <p:fltVal val="0"/>
                                          </p:val>
                                        </p:tav>
                                        <p:tav tm="100000">
                                          <p:val>
                                            <p:strVal val="#ppt_h"/>
                                          </p:val>
                                        </p:tav>
                                      </p:tavLst>
                                    </p:anim>
                                  </p:childTnLst>
                                </p:cTn>
                              </p:par>
                            </p:childTnLst>
                          </p:cTn>
                        </p:par>
                        <p:par>
                          <p:cTn id="31" fill="hold">
                            <p:stCondLst>
                              <p:cond delay="500"/>
                            </p:stCondLst>
                            <p:childTnLst>
                              <p:par>
                                <p:cTn id="32" presetID="23" presetClass="entr" presetSubtype="32" fill="hold" grpId="0" nodeType="afterEffect">
                                  <p:stCondLst>
                                    <p:cond delay="0"/>
                                  </p:stCondLst>
                                  <p:childTnLst>
                                    <p:set>
                                      <p:cBhvr>
                                        <p:cTn id="33" dur="1" fill="hold">
                                          <p:stCondLst>
                                            <p:cond delay="0"/>
                                          </p:stCondLst>
                                        </p:cTn>
                                        <p:tgtEl>
                                          <p:spTgt spid="823304"/>
                                        </p:tgtEl>
                                        <p:attrNameLst>
                                          <p:attrName>style.visibility</p:attrName>
                                        </p:attrNameLst>
                                      </p:cBhvr>
                                      <p:to>
                                        <p:strVal val="visible"/>
                                      </p:to>
                                    </p:set>
                                    <p:anim calcmode="lin" valueType="num">
                                      <p:cBhvr>
                                        <p:cTn id="34" dur="1000" fill="hold"/>
                                        <p:tgtEl>
                                          <p:spTgt spid="823304"/>
                                        </p:tgtEl>
                                        <p:attrNameLst>
                                          <p:attrName>ppt_w</p:attrName>
                                        </p:attrNameLst>
                                      </p:cBhvr>
                                      <p:tavLst>
                                        <p:tav tm="0">
                                          <p:val>
                                            <p:strVal val="4*#ppt_w"/>
                                          </p:val>
                                        </p:tav>
                                        <p:tav tm="100000">
                                          <p:val>
                                            <p:strVal val="#ppt_w"/>
                                          </p:val>
                                        </p:tav>
                                      </p:tavLst>
                                    </p:anim>
                                    <p:anim calcmode="lin" valueType="num">
                                      <p:cBhvr>
                                        <p:cTn id="35" dur="1000" fill="hold"/>
                                        <p:tgtEl>
                                          <p:spTgt spid="823304"/>
                                        </p:tgtEl>
                                        <p:attrNameLst>
                                          <p:attrName>ppt_h</p:attrName>
                                        </p:attrNameLst>
                                      </p:cBhvr>
                                      <p:tavLst>
                                        <p:tav tm="0">
                                          <p:val>
                                            <p:strVal val="4*#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nodeType="clickEffect">
                                  <p:stCondLst>
                                    <p:cond delay="0"/>
                                  </p:stCondLst>
                                  <p:childTnLst>
                                    <p:set>
                                      <p:cBhvr>
                                        <p:cTn id="39" dur="1" fill="hold">
                                          <p:stCondLst>
                                            <p:cond delay="0"/>
                                          </p:stCondLst>
                                        </p:cTn>
                                        <p:tgtEl>
                                          <p:spTgt spid="823309">
                                            <p:txEl>
                                              <p:pRg st="3" end="3"/>
                                            </p:txEl>
                                          </p:spTgt>
                                        </p:tgtEl>
                                        <p:attrNameLst>
                                          <p:attrName>style.visibility</p:attrName>
                                        </p:attrNameLst>
                                      </p:cBhvr>
                                      <p:to>
                                        <p:strVal val="visible"/>
                                      </p:to>
                                    </p:set>
                                    <p:anim calcmode="lin" valueType="num">
                                      <p:cBhvr>
                                        <p:cTn id="40" dur="500" fill="hold"/>
                                        <p:tgtEl>
                                          <p:spTgt spid="823309">
                                            <p:txEl>
                                              <p:pRg st="3" end="3"/>
                                            </p:txEl>
                                          </p:spTgt>
                                        </p:tgtEl>
                                        <p:attrNameLst>
                                          <p:attrName>ppt_w</p:attrName>
                                        </p:attrNameLst>
                                      </p:cBhvr>
                                      <p:tavLst>
                                        <p:tav tm="0">
                                          <p:val>
                                            <p:fltVal val="0"/>
                                          </p:val>
                                        </p:tav>
                                        <p:tav tm="100000">
                                          <p:val>
                                            <p:strVal val="#ppt_w"/>
                                          </p:val>
                                        </p:tav>
                                      </p:tavLst>
                                    </p:anim>
                                    <p:anim calcmode="lin" valueType="num">
                                      <p:cBhvr>
                                        <p:cTn id="41" dur="500" fill="hold"/>
                                        <p:tgtEl>
                                          <p:spTgt spid="823309">
                                            <p:txEl>
                                              <p:pRg st="3" end="3"/>
                                            </p:txEl>
                                          </p:spTgt>
                                        </p:tgtEl>
                                        <p:attrNameLst>
                                          <p:attrName>ppt_h</p:attrName>
                                        </p:attrNameLst>
                                      </p:cBhvr>
                                      <p:tavLst>
                                        <p:tav tm="0">
                                          <p:val>
                                            <p:fltVal val="0"/>
                                          </p:val>
                                        </p:tav>
                                        <p:tav tm="100000">
                                          <p:val>
                                            <p:strVal val="#ppt_h"/>
                                          </p:val>
                                        </p:tav>
                                      </p:tavLst>
                                    </p:anim>
                                  </p:childTnLst>
                                </p:cTn>
                              </p:par>
                            </p:childTnLst>
                          </p:cTn>
                        </p:par>
                        <p:par>
                          <p:cTn id="42" fill="hold">
                            <p:stCondLst>
                              <p:cond delay="500"/>
                            </p:stCondLst>
                            <p:childTnLst>
                              <p:par>
                                <p:cTn id="43" presetID="23" presetClass="entr" presetSubtype="32" fill="hold" grpId="0" nodeType="afterEffect">
                                  <p:stCondLst>
                                    <p:cond delay="0"/>
                                  </p:stCondLst>
                                  <p:childTnLst>
                                    <p:set>
                                      <p:cBhvr>
                                        <p:cTn id="44" dur="1" fill="hold">
                                          <p:stCondLst>
                                            <p:cond delay="0"/>
                                          </p:stCondLst>
                                        </p:cTn>
                                        <p:tgtEl>
                                          <p:spTgt spid="823305"/>
                                        </p:tgtEl>
                                        <p:attrNameLst>
                                          <p:attrName>style.visibility</p:attrName>
                                        </p:attrNameLst>
                                      </p:cBhvr>
                                      <p:to>
                                        <p:strVal val="visible"/>
                                      </p:to>
                                    </p:set>
                                    <p:anim calcmode="lin" valueType="num">
                                      <p:cBhvr>
                                        <p:cTn id="45" dur="1000" fill="hold"/>
                                        <p:tgtEl>
                                          <p:spTgt spid="823305"/>
                                        </p:tgtEl>
                                        <p:attrNameLst>
                                          <p:attrName>ppt_w</p:attrName>
                                        </p:attrNameLst>
                                      </p:cBhvr>
                                      <p:tavLst>
                                        <p:tav tm="0">
                                          <p:val>
                                            <p:strVal val="4*#ppt_w"/>
                                          </p:val>
                                        </p:tav>
                                        <p:tav tm="100000">
                                          <p:val>
                                            <p:strVal val="#ppt_w"/>
                                          </p:val>
                                        </p:tav>
                                      </p:tavLst>
                                    </p:anim>
                                    <p:anim calcmode="lin" valueType="num">
                                      <p:cBhvr>
                                        <p:cTn id="46" dur="1000" fill="hold"/>
                                        <p:tgtEl>
                                          <p:spTgt spid="823305"/>
                                        </p:tgtEl>
                                        <p:attrNameLst>
                                          <p:attrName>ppt_h</p:attrName>
                                        </p:attrNameLst>
                                      </p:cBhvr>
                                      <p:tavLst>
                                        <p:tav tm="0">
                                          <p:val>
                                            <p:strVal val="4*#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823309">
                                            <p:txEl>
                                              <p:pRg st="4" end="4"/>
                                            </p:txEl>
                                          </p:spTgt>
                                        </p:tgtEl>
                                        <p:attrNameLst>
                                          <p:attrName>style.visibility</p:attrName>
                                        </p:attrNameLst>
                                      </p:cBhvr>
                                      <p:to>
                                        <p:strVal val="visible"/>
                                      </p:to>
                                    </p:set>
                                    <p:anim calcmode="lin" valueType="num">
                                      <p:cBhvr>
                                        <p:cTn id="51" dur="500" fill="hold"/>
                                        <p:tgtEl>
                                          <p:spTgt spid="823309">
                                            <p:txEl>
                                              <p:pRg st="4" end="4"/>
                                            </p:txEl>
                                          </p:spTgt>
                                        </p:tgtEl>
                                        <p:attrNameLst>
                                          <p:attrName>ppt_w</p:attrName>
                                        </p:attrNameLst>
                                      </p:cBhvr>
                                      <p:tavLst>
                                        <p:tav tm="0">
                                          <p:val>
                                            <p:fltVal val="0"/>
                                          </p:val>
                                        </p:tav>
                                        <p:tav tm="100000">
                                          <p:val>
                                            <p:strVal val="#ppt_w"/>
                                          </p:val>
                                        </p:tav>
                                      </p:tavLst>
                                    </p:anim>
                                    <p:anim calcmode="lin" valueType="num">
                                      <p:cBhvr>
                                        <p:cTn id="52" dur="500" fill="hold"/>
                                        <p:tgtEl>
                                          <p:spTgt spid="823309">
                                            <p:txEl>
                                              <p:pRg st="4" end="4"/>
                                            </p:txEl>
                                          </p:spTgt>
                                        </p:tgtEl>
                                        <p:attrNameLst>
                                          <p:attrName>ppt_h</p:attrName>
                                        </p:attrNameLst>
                                      </p:cBhvr>
                                      <p:tavLst>
                                        <p:tav tm="0">
                                          <p:val>
                                            <p:fltVal val="0"/>
                                          </p:val>
                                        </p:tav>
                                        <p:tav tm="100000">
                                          <p:val>
                                            <p:strVal val="#ppt_h"/>
                                          </p:val>
                                        </p:tav>
                                      </p:tavLst>
                                    </p:anim>
                                  </p:childTnLst>
                                </p:cTn>
                              </p:par>
                            </p:childTnLst>
                          </p:cTn>
                        </p:par>
                        <p:par>
                          <p:cTn id="53" fill="hold">
                            <p:stCondLst>
                              <p:cond delay="500"/>
                            </p:stCondLst>
                            <p:childTnLst>
                              <p:par>
                                <p:cTn id="54" presetID="23" presetClass="entr" presetSubtype="32" fill="hold" grpId="0" nodeType="afterEffect">
                                  <p:stCondLst>
                                    <p:cond delay="0"/>
                                  </p:stCondLst>
                                  <p:childTnLst>
                                    <p:set>
                                      <p:cBhvr>
                                        <p:cTn id="55" dur="1" fill="hold">
                                          <p:stCondLst>
                                            <p:cond delay="0"/>
                                          </p:stCondLst>
                                        </p:cTn>
                                        <p:tgtEl>
                                          <p:spTgt spid="823302"/>
                                        </p:tgtEl>
                                        <p:attrNameLst>
                                          <p:attrName>style.visibility</p:attrName>
                                        </p:attrNameLst>
                                      </p:cBhvr>
                                      <p:to>
                                        <p:strVal val="visible"/>
                                      </p:to>
                                    </p:set>
                                    <p:anim calcmode="lin" valueType="num">
                                      <p:cBhvr>
                                        <p:cTn id="56" dur="1000" fill="hold"/>
                                        <p:tgtEl>
                                          <p:spTgt spid="823302"/>
                                        </p:tgtEl>
                                        <p:attrNameLst>
                                          <p:attrName>ppt_w</p:attrName>
                                        </p:attrNameLst>
                                      </p:cBhvr>
                                      <p:tavLst>
                                        <p:tav tm="0">
                                          <p:val>
                                            <p:strVal val="4*#ppt_w"/>
                                          </p:val>
                                        </p:tav>
                                        <p:tav tm="100000">
                                          <p:val>
                                            <p:strVal val="#ppt_w"/>
                                          </p:val>
                                        </p:tav>
                                      </p:tavLst>
                                    </p:anim>
                                    <p:anim calcmode="lin" valueType="num">
                                      <p:cBhvr>
                                        <p:cTn id="57" dur="1000" fill="hold"/>
                                        <p:tgtEl>
                                          <p:spTgt spid="823302"/>
                                        </p:tgtEl>
                                        <p:attrNameLst>
                                          <p:attrName>ppt_h</p:attrName>
                                        </p:attrNameLst>
                                      </p:cBhvr>
                                      <p:tavLst>
                                        <p:tav tm="0">
                                          <p:val>
                                            <p:strVal val="4*#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823309">
                                            <p:txEl>
                                              <p:pRg st="5" end="5"/>
                                            </p:txEl>
                                          </p:spTgt>
                                        </p:tgtEl>
                                        <p:attrNameLst>
                                          <p:attrName>style.visibility</p:attrName>
                                        </p:attrNameLst>
                                      </p:cBhvr>
                                      <p:to>
                                        <p:strVal val="visible"/>
                                      </p:to>
                                    </p:set>
                                    <p:anim calcmode="lin" valueType="num">
                                      <p:cBhvr>
                                        <p:cTn id="62" dur="500" fill="hold"/>
                                        <p:tgtEl>
                                          <p:spTgt spid="823309">
                                            <p:txEl>
                                              <p:pRg st="5" end="5"/>
                                            </p:txEl>
                                          </p:spTgt>
                                        </p:tgtEl>
                                        <p:attrNameLst>
                                          <p:attrName>ppt_w</p:attrName>
                                        </p:attrNameLst>
                                      </p:cBhvr>
                                      <p:tavLst>
                                        <p:tav tm="0">
                                          <p:val>
                                            <p:fltVal val="0"/>
                                          </p:val>
                                        </p:tav>
                                        <p:tav tm="100000">
                                          <p:val>
                                            <p:strVal val="#ppt_w"/>
                                          </p:val>
                                        </p:tav>
                                      </p:tavLst>
                                    </p:anim>
                                    <p:anim calcmode="lin" valueType="num">
                                      <p:cBhvr>
                                        <p:cTn id="63" dur="500" fill="hold"/>
                                        <p:tgtEl>
                                          <p:spTgt spid="823309">
                                            <p:txEl>
                                              <p:pRg st="5" end="5"/>
                                            </p:txEl>
                                          </p:spTgt>
                                        </p:tgtEl>
                                        <p:attrNameLst>
                                          <p:attrName>ppt_h</p:attrName>
                                        </p:attrNameLst>
                                      </p:cBhvr>
                                      <p:tavLst>
                                        <p:tav tm="0">
                                          <p:val>
                                            <p:fltVal val="0"/>
                                          </p:val>
                                        </p:tav>
                                        <p:tav tm="100000">
                                          <p:val>
                                            <p:strVal val="#ppt_h"/>
                                          </p:val>
                                        </p:tav>
                                      </p:tavLst>
                                    </p:anim>
                                  </p:childTnLst>
                                </p:cTn>
                              </p:par>
                            </p:childTnLst>
                          </p:cTn>
                        </p:par>
                        <p:par>
                          <p:cTn id="64" fill="hold">
                            <p:stCondLst>
                              <p:cond delay="500"/>
                            </p:stCondLst>
                            <p:childTnLst>
                              <p:par>
                                <p:cTn id="65" presetID="23" presetClass="entr" presetSubtype="32" fill="hold" grpId="0" nodeType="afterEffect">
                                  <p:stCondLst>
                                    <p:cond delay="0"/>
                                  </p:stCondLst>
                                  <p:childTnLst>
                                    <p:set>
                                      <p:cBhvr>
                                        <p:cTn id="66" dur="1" fill="hold">
                                          <p:stCondLst>
                                            <p:cond delay="0"/>
                                          </p:stCondLst>
                                        </p:cTn>
                                        <p:tgtEl>
                                          <p:spTgt spid="823303"/>
                                        </p:tgtEl>
                                        <p:attrNameLst>
                                          <p:attrName>style.visibility</p:attrName>
                                        </p:attrNameLst>
                                      </p:cBhvr>
                                      <p:to>
                                        <p:strVal val="visible"/>
                                      </p:to>
                                    </p:set>
                                    <p:anim calcmode="lin" valueType="num">
                                      <p:cBhvr>
                                        <p:cTn id="67" dur="1000" fill="hold"/>
                                        <p:tgtEl>
                                          <p:spTgt spid="823303"/>
                                        </p:tgtEl>
                                        <p:attrNameLst>
                                          <p:attrName>ppt_w</p:attrName>
                                        </p:attrNameLst>
                                      </p:cBhvr>
                                      <p:tavLst>
                                        <p:tav tm="0">
                                          <p:val>
                                            <p:strVal val="4*#ppt_w"/>
                                          </p:val>
                                        </p:tav>
                                        <p:tav tm="100000">
                                          <p:val>
                                            <p:strVal val="#ppt_w"/>
                                          </p:val>
                                        </p:tav>
                                      </p:tavLst>
                                    </p:anim>
                                    <p:anim calcmode="lin" valueType="num">
                                      <p:cBhvr>
                                        <p:cTn id="68" dur="1000" fill="hold"/>
                                        <p:tgtEl>
                                          <p:spTgt spid="823303"/>
                                        </p:tgtEl>
                                        <p:attrNameLst>
                                          <p:attrName>ppt_h</p:attrName>
                                        </p:attrNameLst>
                                      </p:cBhvr>
                                      <p:tavLst>
                                        <p:tav tm="0">
                                          <p:val>
                                            <p:strVal val="4*#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nodeType="clickEffect">
                                  <p:stCondLst>
                                    <p:cond delay="0"/>
                                  </p:stCondLst>
                                  <p:childTnLst>
                                    <p:set>
                                      <p:cBhvr>
                                        <p:cTn id="72" dur="1" fill="hold">
                                          <p:stCondLst>
                                            <p:cond delay="0"/>
                                          </p:stCondLst>
                                        </p:cTn>
                                        <p:tgtEl>
                                          <p:spTgt spid="823309">
                                            <p:txEl>
                                              <p:pRg st="6" end="6"/>
                                            </p:txEl>
                                          </p:spTgt>
                                        </p:tgtEl>
                                        <p:attrNameLst>
                                          <p:attrName>style.visibility</p:attrName>
                                        </p:attrNameLst>
                                      </p:cBhvr>
                                      <p:to>
                                        <p:strVal val="visible"/>
                                      </p:to>
                                    </p:set>
                                    <p:anim calcmode="lin" valueType="num">
                                      <p:cBhvr>
                                        <p:cTn id="73" dur="500" fill="hold"/>
                                        <p:tgtEl>
                                          <p:spTgt spid="823309">
                                            <p:txEl>
                                              <p:pRg st="6" end="6"/>
                                            </p:txEl>
                                          </p:spTgt>
                                        </p:tgtEl>
                                        <p:attrNameLst>
                                          <p:attrName>ppt_w</p:attrName>
                                        </p:attrNameLst>
                                      </p:cBhvr>
                                      <p:tavLst>
                                        <p:tav tm="0">
                                          <p:val>
                                            <p:fltVal val="0"/>
                                          </p:val>
                                        </p:tav>
                                        <p:tav tm="100000">
                                          <p:val>
                                            <p:strVal val="#ppt_w"/>
                                          </p:val>
                                        </p:tav>
                                      </p:tavLst>
                                    </p:anim>
                                    <p:anim calcmode="lin" valueType="num">
                                      <p:cBhvr>
                                        <p:cTn id="74" dur="500" fill="hold"/>
                                        <p:tgtEl>
                                          <p:spTgt spid="823309">
                                            <p:txEl>
                                              <p:pRg st="6" end="6"/>
                                            </p:txEl>
                                          </p:spTgt>
                                        </p:tgtEl>
                                        <p:attrNameLst>
                                          <p:attrName>ppt_h</p:attrName>
                                        </p:attrNameLst>
                                      </p:cBhvr>
                                      <p:tavLst>
                                        <p:tav tm="0">
                                          <p:val>
                                            <p:fltVal val="0"/>
                                          </p:val>
                                        </p:tav>
                                        <p:tav tm="100000">
                                          <p:val>
                                            <p:strVal val="#ppt_h"/>
                                          </p:val>
                                        </p:tav>
                                      </p:tavLst>
                                    </p:anim>
                                  </p:childTnLst>
                                </p:cTn>
                              </p:par>
                            </p:childTnLst>
                          </p:cTn>
                        </p:par>
                        <p:par>
                          <p:cTn id="75" fill="hold">
                            <p:stCondLst>
                              <p:cond delay="500"/>
                            </p:stCondLst>
                            <p:childTnLst>
                              <p:par>
                                <p:cTn id="76" presetID="23" presetClass="entr" presetSubtype="32" fill="hold" grpId="0" nodeType="afterEffect">
                                  <p:stCondLst>
                                    <p:cond delay="0"/>
                                  </p:stCondLst>
                                  <p:childTnLst>
                                    <p:set>
                                      <p:cBhvr>
                                        <p:cTn id="77" dur="1" fill="hold">
                                          <p:stCondLst>
                                            <p:cond delay="0"/>
                                          </p:stCondLst>
                                        </p:cTn>
                                        <p:tgtEl>
                                          <p:spTgt spid="823307"/>
                                        </p:tgtEl>
                                        <p:attrNameLst>
                                          <p:attrName>style.visibility</p:attrName>
                                        </p:attrNameLst>
                                      </p:cBhvr>
                                      <p:to>
                                        <p:strVal val="visible"/>
                                      </p:to>
                                    </p:set>
                                    <p:anim calcmode="lin" valueType="num">
                                      <p:cBhvr>
                                        <p:cTn id="78" dur="500" fill="hold"/>
                                        <p:tgtEl>
                                          <p:spTgt spid="823307"/>
                                        </p:tgtEl>
                                        <p:attrNameLst>
                                          <p:attrName>ppt_w</p:attrName>
                                        </p:attrNameLst>
                                      </p:cBhvr>
                                      <p:tavLst>
                                        <p:tav tm="0">
                                          <p:val>
                                            <p:strVal val="4*#ppt_w"/>
                                          </p:val>
                                        </p:tav>
                                        <p:tav tm="100000">
                                          <p:val>
                                            <p:strVal val="#ppt_w"/>
                                          </p:val>
                                        </p:tav>
                                      </p:tavLst>
                                    </p:anim>
                                    <p:anim calcmode="lin" valueType="num">
                                      <p:cBhvr>
                                        <p:cTn id="79" dur="500" fill="hold"/>
                                        <p:tgtEl>
                                          <p:spTgt spid="823307"/>
                                        </p:tgtEl>
                                        <p:attrNameLst>
                                          <p:attrName>ppt_h</p:attrName>
                                        </p:attrNameLst>
                                      </p:cBhvr>
                                      <p:tavLst>
                                        <p:tav tm="0">
                                          <p:val>
                                            <p:strVal val="4*#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3" presetClass="entr" presetSubtype="16" fill="hold" nodeType="clickEffect">
                                  <p:stCondLst>
                                    <p:cond delay="0"/>
                                  </p:stCondLst>
                                  <p:childTnLst>
                                    <p:set>
                                      <p:cBhvr>
                                        <p:cTn id="83" dur="1" fill="hold">
                                          <p:stCondLst>
                                            <p:cond delay="0"/>
                                          </p:stCondLst>
                                        </p:cTn>
                                        <p:tgtEl>
                                          <p:spTgt spid="823309">
                                            <p:txEl>
                                              <p:pRg st="7" end="7"/>
                                            </p:txEl>
                                          </p:spTgt>
                                        </p:tgtEl>
                                        <p:attrNameLst>
                                          <p:attrName>style.visibility</p:attrName>
                                        </p:attrNameLst>
                                      </p:cBhvr>
                                      <p:to>
                                        <p:strVal val="visible"/>
                                      </p:to>
                                    </p:set>
                                    <p:anim calcmode="lin" valueType="num">
                                      <p:cBhvr>
                                        <p:cTn id="84" dur="500" fill="hold"/>
                                        <p:tgtEl>
                                          <p:spTgt spid="823309">
                                            <p:txEl>
                                              <p:pRg st="7" end="7"/>
                                            </p:txEl>
                                          </p:spTgt>
                                        </p:tgtEl>
                                        <p:attrNameLst>
                                          <p:attrName>ppt_w</p:attrName>
                                        </p:attrNameLst>
                                      </p:cBhvr>
                                      <p:tavLst>
                                        <p:tav tm="0">
                                          <p:val>
                                            <p:fltVal val="0"/>
                                          </p:val>
                                        </p:tav>
                                        <p:tav tm="100000">
                                          <p:val>
                                            <p:strVal val="#ppt_w"/>
                                          </p:val>
                                        </p:tav>
                                      </p:tavLst>
                                    </p:anim>
                                    <p:anim calcmode="lin" valueType="num">
                                      <p:cBhvr>
                                        <p:cTn id="85" dur="500" fill="hold"/>
                                        <p:tgtEl>
                                          <p:spTgt spid="823309">
                                            <p:txEl>
                                              <p:pRg st="7" end="7"/>
                                            </p:txEl>
                                          </p:spTgt>
                                        </p:tgtEl>
                                        <p:attrNameLst>
                                          <p:attrName>ppt_h</p:attrName>
                                        </p:attrNameLst>
                                      </p:cBhvr>
                                      <p:tavLst>
                                        <p:tav tm="0">
                                          <p:val>
                                            <p:fltVal val="0"/>
                                          </p:val>
                                        </p:tav>
                                        <p:tav tm="100000">
                                          <p:val>
                                            <p:strVal val="#ppt_h"/>
                                          </p:val>
                                        </p:tav>
                                      </p:tavLst>
                                    </p:anim>
                                  </p:childTnLst>
                                </p:cTn>
                              </p:par>
                            </p:childTnLst>
                          </p:cTn>
                        </p:par>
                        <p:par>
                          <p:cTn id="86" fill="hold">
                            <p:stCondLst>
                              <p:cond delay="500"/>
                            </p:stCondLst>
                            <p:childTnLst>
                              <p:par>
                                <p:cTn id="87" presetID="23" presetClass="entr" presetSubtype="32" fill="hold" grpId="0" nodeType="afterEffect">
                                  <p:stCondLst>
                                    <p:cond delay="0"/>
                                  </p:stCondLst>
                                  <p:childTnLst>
                                    <p:set>
                                      <p:cBhvr>
                                        <p:cTn id="88" dur="1" fill="hold">
                                          <p:stCondLst>
                                            <p:cond delay="0"/>
                                          </p:stCondLst>
                                        </p:cTn>
                                        <p:tgtEl>
                                          <p:spTgt spid="823306"/>
                                        </p:tgtEl>
                                        <p:attrNameLst>
                                          <p:attrName>style.visibility</p:attrName>
                                        </p:attrNameLst>
                                      </p:cBhvr>
                                      <p:to>
                                        <p:strVal val="visible"/>
                                      </p:to>
                                    </p:set>
                                    <p:anim calcmode="lin" valueType="num">
                                      <p:cBhvr>
                                        <p:cTn id="89" dur="1000" fill="hold"/>
                                        <p:tgtEl>
                                          <p:spTgt spid="823306"/>
                                        </p:tgtEl>
                                        <p:attrNameLst>
                                          <p:attrName>ppt_w</p:attrName>
                                        </p:attrNameLst>
                                      </p:cBhvr>
                                      <p:tavLst>
                                        <p:tav tm="0">
                                          <p:val>
                                            <p:strVal val="4*#ppt_w"/>
                                          </p:val>
                                        </p:tav>
                                        <p:tav tm="100000">
                                          <p:val>
                                            <p:strVal val="#ppt_w"/>
                                          </p:val>
                                        </p:tav>
                                      </p:tavLst>
                                    </p:anim>
                                    <p:anim calcmode="lin" valueType="num">
                                      <p:cBhvr>
                                        <p:cTn id="90" dur="1000" fill="hold"/>
                                        <p:tgtEl>
                                          <p:spTgt spid="823306"/>
                                        </p:tgtEl>
                                        <p:attrNameLst>
                                          <p:attrName>ppt_h</p:attrName>
                                        </p:attrNameLst>
                                      </p:cBhvr>
                                      <p:tavLst>
                                        <p:tav tm="0">
                                          <p:val>
                                            <p:strVal val="4*#ppt_h"/>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823309">
                                            <p:txEl>
                                              <p:pRg st="8" end="8"/>
                                            </p:txEl>
                                          </p:spTgt>
                                        </p:tgtEl>
                                        <p:attrNameLst>
                                          <p:attrName>style.visibility</p:attrName>
                                        </p:attrNameLst>
                                      </p:cBhvr>
                                      <p:to>
                                        <p:strVal val="visible"/>
                                      </p:to>
                                    </p:set>
                                    <p:anim calcmode="lin" valueType="num">
                                      <p:cBhvr>
                                        <p:cTn id="95" dur="500" fill="hold"/>
                                        <p:tgtEl>
                                          <p:spTgt spid="823309">
                                            <p:txEl>
                                              <p:pRg st="8" end="8"/>
                                            </p:txEl>
                                          </p:spTgt>
                                        </p:tgtEl>
                                        <p:attrNameLst>
                                          <p:attrName>ppt_w</p:attrName>
                                        </p:attrNameLst>
                                      </p:cBhvr>
                                      <p:tavLst>
                                        <p:tav tm="0">
                                          <p:val>
                                            <p:fltVal val="0"/>
                                          </p:val>
                                        </p:tav>
                                        <p:tav tm="100000">
                                          <p:val>
                                            <p:strVal val="#ppt_w"/>
                                          </p:val>
                                        </p:tav>
                                      </p:tavLst>
                                    </p:anim>
                                    <p:anim calcmode="lin" valueType="num">
                                      <p:cBhvr>
                                        <p:cTn id="96" dur="500" fill="hold"/>
                                        <p:tgtEl>
                                          <p:spTgt spid="823309">
                                            <p:txEl>
                                              <p:pRg st="8" end="8"/>
                                            </p:txEl>
                                          </p:spTgt>
                                        </p:tgtEl>
                                        <p:attrNameLst>
                                          <p:attrName>ppt_h</p:attrName>
                                        </p:attrNameLst>
                                      </p:cBhvr>
                                      <p:tavLst>
                                        <p:tav tm="0">
                                          <p:val>
                                            <p:fltVal val="0"/>
                                          </p:val>
                                        </p:tav>
                                        <p:tav tm="100000">
                                          <p:val>
                                            <p:strVal val="#ppt_h"/>
                                          </p:val>
                                        </p:tav>
                                      </p:tavLst>
                                    </p:anim>
                                  </p:childTnLst>
                                </p:cTn>
                              </p:par>
                            </p:childTnLst>
                          </p:cTn>
                        </p:par>
                        <p:par>
                          <p:cTn id="97" fill="hold">
                            <p:stCondLst>
                              <p:cond delay="500"/>
                            </p:stCondLst>
                            <p:childTnLst>
                              <p:par>
                                <p:cTn id="98" presetID="23" presetClass="entr" presetSubtype="32" fill="hold" grpId="0" nodeType="afterEffect">
                                  <p:stCondLst>
                                    <p:cond delay="0"/>
                                  </p:stCondLst>
                                  <p:childTnLst>
                                    <p:set>
                                      <p:cBhvr>
                                        <p:cTn id="99" dur="1" fill="hold">
                                          <p:stCondLst>
                                            <p:cond delay="0"/>
                                          </p:stCondLst>
                                        </p:cTn>
                                        <p:tgtEl>
                                          <p:spTgt spid="823300"/>
                                        </p:tgtEl>
                                        <p:attrNameLst>
                                          <p:attrName>style.visibility</p:attrName>
                                        </p:attrNameLst>
                                      </p:cBhvr>
                                      <p:to>
                                        <p:strVal val="visible"/>
                                      </p:to>
                                    </p:set>
                                    <p:anim calcmode="lin" valueType="num">
                                      <p:cBhvr>
                                        <p:cTn id="100" dur="1000" fill="hold"/>
                                        <p:tgtEl>
                                          <p:spTgt spid="823300"/>
                                        </p:tgtEl>
                                        <p:attrNameLst>
                                          <p:attrName>ppt_w</p:attrName>
                                        </p:attrNameLst>
                                      </p:cBhvr>
                                      <p:tavLst>
                                        <p:tav tm="0">
                                          <p:val>
                                            <p:strVal val="4*#ppt_w"/>
                                          </p:val>
                                        </p:tav>
                                        <p:tav tm="100000">
                                          <p:val>
                                            <p:strVal val="#ppt_w"/>
                                          </p:val>
                                        </p:tav>
                                      </p:tavLst>
                                    </p:anim>
                                    <p:anim calcmode="lin" valueType="num">
                                      <p:cBhvr>
                                        <p:cTn id="101" dur="1000" fill="hold"/>
                                        <p:tgtEl>
                                          <p:spTgt spid="823300"/>
                                        </p:tgtEl>
                                        <p:attrNameLst>
                                          <p:attrName>ppt_h</p:attrName>
                                        </p:attrNameLst>
                                      </p:cBhvr>
                                      <p:tavLst>
                                        <p:tav tm="0">
                                          <p:val>
                                            <p:strVal val="4*#ppt_h"/>
                                          </p:val>
                                        </p:tav>
                                        <p:tav tm="100000">
                                          <p:val>
                                            <p:strVal val="#ppt_h"/>
                                          </p:val>
                                        </p:tav>
                                      </p:tavLst>
                                    </p:anim>
                                  </p:childTnLst>
                                </p:cTn>
                              </p:par>
                            </p:childTnLst>
                          </p:cTn>
                        </p:par>
                        <p:par>
                          <p:cTn id="102" fill="hold">
                            <p:stCondLst>
                              <p:cond delay="1500"/>
                            </p:stCondLst>
                            <p:childTnLst>
                              <p:par>
                                <p:cTn id="103" presetID="23" presetClass="entr" presetSubtype="16" fill="hold" grpId="0" nodeType="afterEffect">
                                  <p:stCondLst>
                                    <p:cond delay="0"/>
                                  </p:stCondLst>
                                  <p:childTnLst>
                                    <p:set>
                                      <p:cBhvr>
                                        <p:cTn id="104" dur="1" fill="hold">
                                          <p:stCondLst>
                                            <p:cond delay="0"/>
                                          </p:stCondLst>
                                        </p:cTn>
                                        <p:tgtEl>
                                          <p:spTgt spid="823298"/>
                                        </p:tgtEl>
                                        <p:attrNameLst>
                                          <p:attrName>style.visibility</p:attrName>
                                        </p:attrNameLst>
                                      </p:cBhvr>
                                      <p:to>
                                        <p:strVal val="visible"/>
                                      </p:to>
                                    </p:set>
                                    <p:anim calcmode="lin" valueType="num">
                                      <p:cBhvr>
                                        <p:cTn id="105" dur="2000" fill="hold"/>
                                        <p:tgtEl>
                                          <p:spTgt spid="823298"/>
                                        </p:tgtEl>
                                        <p:attrNameLst>
                                          <p:attrName>ppt_w</p:attrName>
                                        </p:attrNameLst>
                                      </p:cBhvr>
                                      <p:tavLst>
                                        <p:tav tm="0">
                                          <p:val>
                                            <p:fltVal val="0"/>
                                          </p:val>
                                        </p:tav>
                                        <p:tav tm="100000">
                                          <p:val>
                                            <p:strVal val="#ppt_w"/>
                                          </p:val>
                                        </p:tav>
                                      </p:tavLst>
                                    </p:anim>
                                    <p:anim calcmode="lin" valueType="num">
                                      <p:cBhvr>
                                        <p:cTn id="106" dur="2000" fill="hold"/>
                                        <p:tgtEl>
                                          <p:spTgt spid="823298"/>
                                        </p:tgtEl>
                                        <p:attrNameLst>
                                          <p:attrName>ppt_h</p:attrName>
                                        </p:attrNameLst>
                                      </p:cBhvr>
                                      <p:tavLst>
                                        <p:tav tm="0">
                                          <p:val>
                                            <p:fltVal val="0"/>
                                          </p:val>
                                        </p:tav>
                                        <p:tav tm="100000">
                                          <p:val>
                                            <p:strVal val="#ppt_h"/>
                                          </p:val>
                                        </p:tav>
                                      </p:tavLst>
                                    </p:anim>
                                  </p:childTnLst>
                                </p:cTn>
                              </p:par>
                              <p:par>
                                <p:cTn id="107" presetID="23" presetClass="entr" presetSubtype="16" fill="hold" grpId="0" nodeType="withEffect">
                                  <p:stCondLst>
                                    <p:cond delay="0"/>
                                  </p:stCondLst>
                                  <p:childTnLst>
                                    <p:set>
                                      <p:cBhvr>
                                        <p:cTn id="108" dur="1" fill="hold">
                                          <p:stCondLst>
                                            <p:cond delay="0"/>
                                          </p:stCondLst>
                                        </p:cTn>
                                        <p:tgtEl>
                                          <p:spTgt spid="823310"/>
                                        </p:tgtEl>
                                        <p:attrNameLst>
                                          <p:attrName>style.visibility</p:attrName>
                                        </p:attrNameLst>
                                      </p:cBhvr>
                                      <p:to>
                                        <p:strVal val="visible"/>
                                      </p:to>
                                    </p:set>
                                    <p:anim calcmode="lin" valueType="num">
                                      <p:cBhvr>
                                        <p:cTn id="109" dur="2000" fill="hold"/>
                                        <p:tgtEl>
                                          <p:spTgt spid="823310"/>
                                        </p:tgtEl>
                                        <p:attrNameLst>
                                          <p:attrName>ppt_w</p:attrName>
                                        </p:attrNameLst>
                                      </p:cBhvr>
                                      <p:tavLst>
                                        <p:tav tm="0">
                                          <p:val>
                                            <p:fltVal val="0"/>
                                          </p:val>
                                        </p:tav>
                                        <p:tav tm="100000">
                                          <p:val>
                                            <p:strVal val="#ppt_w"/>
                                          </p:val>
                                        </p:tav>
                                      </p:tavLst>
                                    </p:anim>
                                    <p:anim calcmode="lin" valueType="num">
                                      <p:cBhvr>
                                        <p:cTn id="110" dur="2000" fill="hold"/>
                                        <p:tgtEl>
                                          <p:spTgt spid="8233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298" grpId="0" animBg="1"/>
      <p:bldP spid="823300" grpId="0" animBg="1"/>
      <p:bldP spid="823301" grpId="0" animBg="1"/>
      <p:bldP spid="823302" grpId="0" animBg="1"/>
      <p:bldP spid="823303" grpId="0" animBg="1"/>
      <p:bldP spid="823304" grpId="0" animBg="1"/>
      <p:bldP spid="823305" grpId="0" animBg="1"/>
      <p:bldP spid="823306" grpId="0" animBg="1"/>
      <p:bldP spid="823307" grpId="0" animBg="1"/>
      <p:bldP spid="823308" grpId="0" animBg="1"/>
      <p:bldP spid="8233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1</a:t>
            </a:r>
            <a:r>
              <a:rPr lang="zh-CN" altLang="en-US" sz="4000" dirty="0" smtClean="0"/>
              <a:t>、软件项目管理概述</a:t>
            </a:r>
            <a:endParaRPr lang="zh-CN" altLang="en-US" sz="4000" dirty="0"/>
          </a:p>
        </p:txBody>
      </p:sp>
      <p:sp>
        <p:nvSpPr>
          <p:cNvPr id="3" name="内容占位符 2"/>
          <p:cNvSpPr>
            <a:spLocks noGrp="1"/>
          </p:cNvSpPr>
          <p:nvPr>
            <p:ph idx="1"/>
          </p:nvPr>
        </p:nvSpPr>
        <p:spPr>
          <a:xfrm>
            <a:off x="457200" y="1646237"/>
            <a:ext cx="8229600" cy="4140217"/>
          </a:xfrm>
        </p:spPr>
        <p:txBody>
          <a:bodyPr>
            <a:normAutofit/>
          </a:bodyPr>
          <a:lstStyle/>
          <a:p>
            <a:r>
              <a:rPr lang="en-US" altLang="zh-CN" sz="2800" dirty="0" smtClean="0"/>
              <a:t>1.1 </a:t>
            </a:r>
            <a:r>
              <a:rPr lang="zh-CN" altLang="en-US" sz="2800" dirty="0" smtClean="0"/>
              <a:t>软件管理的对象</a:t>
            </a:r>
            <a:endParaRPr lang="en-US" altLang="zh-CN" sz="2800" dirty="0" smtClean="0"/>
          </a:p>
          <a:p>
            <a:pPr lvl="1"/>
            <a:r>
              <a:rPr lang="zh-CN" altLang="en-US" sz="2400" dirty="0" smtClean="0"/>
              <a:t>在软件项目管理中，重要的是</a:t>
            </a:r>
            <a:r>
              <a:rPr lang="zh-CN" altLang="en-US" sz="2400" b="1" dirty="0" smtClean="0">
                <a:solidFill>
                  <a:srgbClr val="FFC000"/>
                </a:solidFill>
                <a:effectLst>
                  <a:outerShdw blurRad="38100" dist="38100" dir="2700000" algn="tl">
                    <a:srgbClr val="000000">
                      <a:alpha val="43137"/>
                    </a:srgbClr>
                  </a:outerShdw>
                </a:effectLst>
              </a:rPr>
              <a:t>人</a:t>
            </a:r>
            <a:r>
              <a:rPr lang="zh-CN" altLang="en-US" sz="2400" dirty="0" smtClean="0"/>
              <a:t>、</a:t>
            </a:r>
            <a:r>
              <a:rPr lang="zh-CN" altLang="en-US" sz="2400" b="1" dirty="0">
                <a:solidFill>
                  <a:srgbClr val="FFC000"/>
                </a:solidFill>
                <a:effectLst>
                  <a:outerShdw blurRad="38100" dist="38100" dir="2700000" algn="tl">
                    <a:srgbClr val="000000">
                      <a:alpha val="43137"/>
                    </a:srgbClr>
                  </a:outerShdw>
                </a:effectLst>
              </a:rPr>
              <a:t>问题</a:t>
            </a:r>
            <a:r>
              <a:rPr lang="zh-CN" altLang="en-US" sz="2400" dirty="0" smtClean="0"/>
              <a:t>和</a:t>
            </a:r>
            <a:r>
              <a:rPr lang="zh-CN" altLang="en-US" sz="2400" b="1" dirty="0">
                <a:solidFill>
                  <a:srgbClr val="FFC000"/>
                </a:solidFill>
                <a:effectLst>
                  <a:outerShdw blurRad="38100" dist="38100" dir="2700000" algn="tl">
                    <a:srgbClr val="000000">
                      <a:alpha val="43137"/>
                    </a:srgbClr>
                  </a:outerShdw>
                </a:effectLst>
              </a:rPr>
              <a:t>过程</a:t>
            </a:r>
            <a:r>
              <a:rPr lang="zh-CN" altLang="en-US" sz="2400" dirty="0" smtClean="0"/>
              <a:t>三者。</a:t>
            </a:r>
            <a:endParaRPr lang="en-US" altLang="zh-CN" sz="2400" dirty="0" smtClean="0"/>
          </a:p>
          <a:p>
            <a:pPr lvl="1"/>
            <a:r>
              <a:rPr lang="zh-CN" altLang="en-US" sz="2400" dirty="0" smtClean="0"/>
              <a:t>组成软件开发项目的人员分类：</a:t>
            </a:r>
            <a:endParaRPr lang="en-US" altLang="zh-CN" sz="2400" dirty="0" smtClean="0"/>
          </a:p>
          <a:p>
            <a:pPr lvl="2"/>
            <a:r>
              <a:rPr lang="zh-CN" altLang="en-US" sz="2400" dirty="0" smtClean="0">
                <a:solidFill>
                  <a:srgbClr val="FFC000"/>
                </a:solidFill>
              </a:rPr>
              <a:t>高级管理者</a:t>
            </a:r>
            <a:r>
              <a:rPr lang="zh-CN" altLang="en-US" sz="2400" dirty="0" smtClean="0"/>
              <a:t>：负责确定软件的问题；</a:t>
            </a:r>
            <a:endParaRPr lang="en-US" altLang="zh-CN" sz="2400" dirty="0" smtClean="0"/>
          </a:p>
          <a:p>
            <a:pPr lvl="2"/>
            <a:r>
              <a:rPr lang="zh-CN" altLang="en-US" sz="2400" dirty="0" smtClean="0">
                <a:solidFill>
                  <a:srgbClr val="FFC000"/>
                </a:solidFill>
              </a:rPr>
              <a:t>项目技术管理者</a:t>
            </a:r>
            <a:r>
              <a:rPr lang="zh-CN" altLang="en-US" sz="2400" dirty="0" smtClean="0"/>
              <a:t>：管理软件开发人员；</a:t>
            </a:r>
            <a:endParaRPr lang="en-US" altLang="zh-CN" sz="2400" dirty="0" smtClean="0"/>
          </a:p>
          <a:p>
            <a:pPr lvl="2"/>
            <a:r>
              <a:rPr lang="zh-CN" altLang="en-US" sz="2400" dirty="0" smtClean="0">
                <a:solidFill>
                  <a:srgbClr val="FFC000"/>
                </a:solidFill>
              </a:rPr>
              <a:t>开发人员</a:t>
            </a:r>
            <a:r>
              <a:rPr lang="zh-CN" altLang="en-US" sz="2400" dirty="0" smtClean="0"/>
              <a:t>：软件开发的专门技术人员；</a:t>
            </a:r>
            <a:endParaRPr lang="en-US" altLang="zh-CN" sz="2400" dirty="0" smtClean="0"/>
          </a:p>
          <a:p>
            <a:pPr lvl="2"/>
            <a:r>
              <a:rPr lang="zh-CN" altLang="en-US" sz="2400" dirty="0" smtClean="0">
                <a:solidFill>
                  <a:srgbClr val="FFC000"/>
                </a:solidFill>
              </a:rPr>
              <a:t>客户</a:t>
            </a:r>
            <a:r>
              <a:rPr lang="zh-CN" altLang="en-US" sz="2400" dirty="0" smtClean="0"/>
              <a:t>：负责说明软件需求的人员；</a:t>
            </a:r>
            <a:endParaRPr lang="en-US" altLang="zh-CN" sz="2400" dirty="0" smtClean="0"/>
          </a:p>
          <a:p>
            <a:pPr lvl="2"/>
            <a:r>
              <a:rPr lang="zh-CN" altLang="en-US" sz="2400" dirty="0" smtClean="0">
                <a:solidFill>
                  <a:srgbClr val="FFC000"/>
                </a:solidFill>
              </a:rPr>
              <a:t>最终用户</a:t>
            </a:r>
            <a:r>
              <a:rPr lang="zh-CN" altLang="en-US" sz="2400" dirty="0" smtClean="0"/>
              <a:t>：最终使用软件的人员。</a:t>
            </a:r>
            <a:endParaRPr lang="zh-CN"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1</a:t>
            </a:r>
            <a:r>
              <a:rPr lang="zh-CN" altLang="en-US" sz="4000" dirty="0" smtClean="0"/>
              <a:t>、软件项目管理概述</a:t>
            </a:r>
            <a:endParaRPr lang="zh-CN" altLang="en-US" sz="4000" dirty="0"/>
          </a:p>
        </p:txBody>
      </p:sp>
      <p:sp>
        <p:nvSpPr>
          <p:cNvPr id="3" name="内容占位符 2"/>
          <p:cNvSpPr>
            <a:spLocks noGrp="1"/>
          </p:cNvSpPr>
          <p:nvPr>
            <p:ph idx="1"/>
          </p:nvPr>
        </p:nvSpPr>
        <p:spPr>
          <a:xfrm>
            <a:off x="457200" y="1646237"/>
            <a:ext cx="8229600" cy="4140217"/>
          </a:xfrm>
        </p:spPr>
        <p:txBody>
          <a:bodyPr>
            <a:normAutofit/>
          </a:bodyPr>
          <a:lstStyle/>
          <a:p>
            <a:r>
              <a:rPr lang="en-US" altLang="zh-CN" sz="2800" dirty="0" smtClean="0"/>
              <a:t>1.2 </a:t>
            </a:r>
            <a:r>
              <a:rPr lang="zh-CN" altLang="en-US" sz="2800" dirty="0" smtClean="0"/>
              <a:t>软件开发中的资源</a:t>
            </a:r>
            <a:endParaRPr lang="en-US" altLang="zh-CN" sz="2800" dirty="0" smtClean="0"/>
          </a:p>
          <a:p>
            <a:pPr lvl="1"/>
            <a:endParaRPr lang="en-US" altLang="zh-CN" sz="2400" dirty="0" smtClean="0"/>
          </a:p>
          <a:p>
            <a:pPr lvl="1"/>
            <a:r>
              <a:rPr lang="zh-CN" altLang="en-US" sz="2400" dirty="0" smtClean="0">
                <a:solidFill>
                  <a:srgbClr val="FFC000"/>
                </a:solidFill>
              </a:rPr>
              <a:t>对每一种资源应说明</a:t>
            </a:r>
            <a:r>
              <a:rPr lang="zh-CN" altLang="en-US" sz="2400" dirty="0" smtClean="0"/>
              <a:t>：</a:t>
            </a:r>
            <a:endParaRPr lang="en-US" altLang="zh-CN" sz="2400" dirty="0" smtClean="0"/>
          </a:p>
          <a:p>
            <a:pPr lvl="2"/>
            <a:r>
              <a:rPr lang="zh-CN" altLang="en-US" sz="2100" dirty="0" smtClean="0"/>
              <a:t>资源的描述；</a:t>
            </a:r>
            <a:endParaRPr lang="en-US" altLang="zh-CN" sz="2100" dirty="0" smtClean="0"/>
          </a:p>
          <a:p>
            <a:pPr lvl="2"/>
            <a:r>
              <a:rPr lang="zh-CN" altLang="en-US" sz="2100" dirty="0" smtClean="0"/>
              <a:t>资源的有效性说明；</a:t>
            </a:r>
            <a:endParaRPr lang="en-US" altLang="zh-CN" sz="2100" dirty="0" smtClean="0"/>
          </a:p>
          <a:p>
            <a:pPr lvl="2"/>
            <a:r>
              <a:rPr lang="zh-CN" altLang="en-US" sz="2100" dirty="0" smtClean="0"/>
              <a:t>资源在何时开始需要；</a:t>
            </a:r>
            <a:endParaRPr lang="en-US" altLang="zh-CN" sz="2100" dirty="0" smtClean="0"/>
          </a:p>
          <a:p>
            <a:pPr lvl="2"/>
            <a:r>
              <a:rPr lang="zh-CN" altLang="en-US" sz="2100" dirty="0" smtClean="0"/>
              <a:t>使用资源的持续时间。</a:t>
            </a:r>
            <a:endParaRPr lang="zh-CN" altLang="en-US" sz="2100" dirty="0"/>
          </a:p>
        </p:txBody>
      </p:sp>
      <p:grpSp>
        <p:nvGrpSpPr>
          <p:cNvPr id="20" name="组合 19"/>
          <p:cNvGrpSpPr/>
          <p:nvPr/>
        </p:nvGrpSpPr>
        <p:grpSpPr>
          <a:xfrm>
            <a:off x="6072198" y="1428736"/>
            <a:ext cx="1928826" cy="1857388"/>
            <a:chOff x="6858016" y="1571612"/>
            <a:chExt cx="1928826" cy="1857388"/>
          </a:xfrm>
        </p:grpSpPr>
        <p:sp>
          <p:nvSpPr>
            <p:cNvPr id="4" name="等腰三角形 3"/>
            <p:cNvSpPr/>
            <p:nvPr/>
          </p:nvSpPr>
          <p:spPr>
            <a:xfrm>
              <a:off x="6858016" y="1571612"/>
              <a:ext cx="1928826" cy="1857388"/>
            </a:xfrm>
            <a:prstGeom prst="triangl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cxnSp>
          <p:nvCxnSpPr>
            <p:cNvPr id="6" name="直接连接符 5"/>
            <p:cNvCxnSpPr/>
            <p:nvPr/>
          </p:nvCxnSpPr>
          <p:spPr>
            <a:xfrm>
              <a:off x="7429520" y="2285992"/>
              <a:ext cx="714380" cy="1588"/>
            </a:xfrm>
            <a:prstGeom prst="line">
              <a:avLst/>
            </a:prstGeom>
          </p:spPr>
          <p:style>
            <a:lnRef idx="2">
              <a:schemeClr val="dk1"/>
            </a:lnRef>
            <a:fillRef idx="0">
              <a:schemeClr val="dk1"/>
            </a:fillRef>
            <a:effectRef idx="1">
              <a:schemeClr val="dk1"/>
            </a:effectRef>
            <a:fontRef idx="minor">
              <a:schemeClr val="tx1"/>
            </a:fontRef>
          </p:style>
        </p:cxnSp>
        <p:cxnSp>
          <p:nvCxnSpPr>
            <p:cNvPr id="7" name="直接连接符 6"/>
            <p:cNvCxnSpPr/>
            <p:nvPr/>
          </p:nvCxnSpPr>
          <p:spPr>
            <a:xfrm>
              <a:off x="7072330" y="2928934"/>
              <a:ext cx="1428760" cy="1588"/>
            </a:xfrm>
            <a:prstGeom prst="line">
              <a:avLst/>
            </a:prstGeom>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7572396" y="1857364"/>
              <a:ext cx="428628" cy="369332"/>
            </a:xfrm>
            <a:prstGeom prst="rect">
              <a:avLst/>
            </a:prstGeom>
            <a:noFill/>
          </p:spPr>
          <p:txBody>
            <a:bodyPr wrap="square" rtlCol="0">
              <a:spAutoFit/>
            </a:bodyPr>
            <a:lstStyle/>
            <a:p>
              <a:r>
                <a:rPr lang="zh-CN" altLang="en-US" dirty="0" smtClean="0">
                  <a:solidFill>
                    <a:srgbClr val="002060"/>
                  </a:solidFill>
                </a:rPr>
                <a:t>人</a:t>
              </a:r>
              <a:endParaRPr lang="zh-CN" altLang="en-US" dirty="0">
                <a:solidFill>
                  <a:srgbClr val="002060"/>
                </a:solidFill>
              </a:endParaRPr>
            </a:p>
          </p:txBody>
        </p:sp>
        <p:sp>
          <p:nvSpPr>
            <p:cNvPr id="17" name="TextBox 16"/>
            <p:cNvSpPr txBox="1"/>
            <p:nvPr/>
          </p:nvSpPr>
          <p:spPr>
            <a:xfrm>
              <a:off x="7358082" y="2285992"/>
              <a:ext cx="928694" cy="646331"/>
            </a:xfrm>
            <a:prstGeom prst="rect">
              <a:avLst/>
            </a:prstGeom>
            <a:noFill/>
          </p:spPr>
          <p:txBody>
            <a:bodyPr wrap="square" rtlCol="0">
              <a:spAutoFit/>
            </a:bodyPr>
            <a:lstStyle/>
            <a:p>
              <a:pPr algn="ctr"/>
              <a:r>
                <a:rPr lang="zh-CN" altLang="en-US" dirty="0" smtClean="0">
                  <a:solidFill>
                    <a:srgbClr val="002060"/>
                  </a:solidFill>
                </a:rPr>
                <a:t>可复用构件</a:t>
              </a:r>
              <a:endParaRPr lang="zh-CN" altLang="en-US" dirty="0">
                <a:solidFill>
                  <a:srgbClr val="002060"/>
                </a:solidFill>
              </a:endParaRPr>
            </a:p>
          </p:txBody>
        </p:sp>
        <p:sp>
          <p:nvSpPr>
            <p:cNvPr id="18" name="TextBox 17"/>
            <p:cNvSpPr txBox="1"/>
            <p:nvPr/>
          </p:nvSpPr>
          <p:spPr>
            <a:xfrm>
              <a:off x="7000892" y="3000372"/>
              <a:ext cx="1571636" cy="369332"/>
            </a:xfrm>
            <a:prstGeom prst="rect">
              <a:avLst/>
            </a:prstGeom>
            <a:noFill/>
          </p:spPr>
          <p:txBody>
            <a:bodyPr wrap="square" rtlCol="0">
              <a:spAutoFit/>
            </a:bodyPr>
            <a:lstStyle/>
            <a:p>
              <a:pPr algn="ctr"/>
              <a:r>
                <a:rPr lang="zh-CN" altLang="en-US" dirty="0" smtClean="0">
                  <a:solidFill>
                    <a:srgbClr val="002060"/>
                  </a:solidFill>
                </a:rPr>
                <a:t>软</a:t>
              </a:r>
              <a:r>
                <a:rPr lang="en-US" altLang="zh-CN" dirty="0" smtClean="0">
                  <a:solidFill>
                    <a:srgbClr val="002060"/>
                  </a:solidFill>
                </a:rPr>
                <a:t>/</a:t>
              </a:r>
              <a:r>
                <a:rPr lang="zh-CN" altLang="en-US" dirty="0" smtClean="0">
                  <a:solidFill>
                    <a:srgbClr val="002060"/>
                  </a:solidFill>
                </a:rPr>
                <a:t>硬件工具</a:t>
              </a:r>
              <a:endParaRPr lang="zh-CN" altLang="en-US" dirty="0">
                <a:solidFill>
                  <a:srgbClr val="002060"/>
                </a:solidFill>
              </a:endParaRPr>
            </a:p>
          </p:txBody>
        </p:sp>
      </p:grpSp>
      <p:sp>
        <p:nvSpPr>
          <p:cNvPr id="21" name="右箭头 20"/>
          <p:cNvSpPr/>
          <p:nvPr/>
        </p:nvSpPr>
        <p:spPr>
          <a:xfrm rot="1028213">
            <a:off x="4442678" y="2031448"/>
            <a:ext cx="1700164" cy="223333"/>
          </a:xfrm>
          <a:prstGeom prs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nvGrpSpPr>
          <p:cNvPr id="48" name="组合 47"/>
          <p:cNvGrpSpPr/>
          <p:nvPr/>
        </p:nvGrpSpPr>
        <p:grpSpPr>
          <a:xfrm>
            <a:off x="4211960" y="3356992"/>
            <a:ext cx="4360568" cy="3429594"/>
            <a:chOff x="4569150" y="3285554"/>
            <a:chExt cx="4360568" cy="3429594"/>
          </a:xfrm>
        </p:grpSpPr>
        <p:cxnSp>
          <p:nvCxnSpPr>
            <p:cNvPr id="23" name="直接箭头连接符 22"/>
            <p:cNvCxnSpPr/>
            <p:nvPr/>
          </p:nvCxnSpPr>
          <p:spPr>
            <a:xfrm>
              <a:off x="5143504" y="5500702"/>
              <a:ext cx="3071834" cy="158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25" name="直接箭头连接符 24"/>
            <p:cNvCxnSpPr/>
            <p:nvPr/>
          </p:nvCxnSpPr>
          <p:spPr>
            <a:xfrm rot="5400000" flipH="1" flipV="1">
              <a:off x="4178297" y="4536289"/>
              <a:ext cx="1929620" cy="794"/>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30" name="任意多边形 29"/>
            <p:cNvSpPr/>
            <p:nvPr/>
          </p:nvSpPr>
          <p:spPr>
            <a:xfrm>
              <a:off x="5157005" y="3948502"/>
              <a:ext cx="2567836" cy="1286006"/>
            </a:xfrm>
            <a:custGeom>
              <a:avLst/>
              <a:gdLst>
                <a:gd name="connsiteX0" fmla="*/ 0 w 2567836"/>
                <a:gd name="connsiteY0" fmla="*/ 1273480 h 1286006"/>
                <a:gd name="connsiteX1" fmla="*/ 187891 w 2567836"/>
                <a:gd name="connsiteY1" fmla="*/ 1273480 h 1286006"/>
                <a:gd name="connsiteX2" fmla="*/ 288099 w 2567836"/>
                <a:gd name="connsiteY2" fmla="*/ 1198324 h 1286006"/>
                <a:gd name="connsiteX3" fmla="*/ 300625 w 2567836"/>
                <a:gd name="connsiteY3" fmla="*/ 972855 h 1286006"/>
                <a:gd name="connsiteX4" fmla="*/ 425885 w 2567836"/>
                <a:gd name="connsiteY4" fmla="*/ 747387 h 1286006"/>
                <a:gd name="connsiteX5" fmla="*/ 626301 w 2567836"/>
                <a:gd name="connsiteY5" fmla="*/ 609600 h 1286006"/>
                <a:gd name="connsiteX6" fmla="*/ 814192 w 2567836"/>
                <a:gd name="connsiteY6" fmla="*/ 271398 h 1286006"/>
                <a:gd name="connsiteX7" fmla="*/ 1027134 w 2567836"/>
                <a:gd name="connsiteY7" fmla="*/ 45929 h 1286006"/>
                <a:gd name="connsiteX8" fmla="*/ 1327759 w 2567836"/>
                <a:gd name="connsiteY8" fmla="*/ 58455 h 1286006"/>
                <a:gd name="connsiteX9" fmla="*/ 1691014 w 2567836"/>
                <a:gd name="connsiteY9" fmla="*/ 396658 h 1286006"/>
                <a:gd name="connsiteX10" fmla="*/ 1878904 w 2567836"/>
                <a:gd name="connsiteY10" fmla="*/ 935277 h 1286006"/>
                <a:gd name="connsiteX11" fmla="*/ 2292263 w 2567836"/>
                <a:gd name="connsiteY11" fmla="*/ 1123168 h 1286006"/>
                <a:gd name="connsiteX12" fmla="*/ 2567836 w 2567836"/>
                <a:gd name="connsiteY12" fmla="*/ 1135694 h 1286006"/>
                <a:gd name="connsiteX13" fmla="*/ 2567836 w 2567836"/>
                <a:gd name="connsiteY13" fmla="*/ 1135694 h 1286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67836" h="1286006">
                  <a:moveTo>
                    <a:pt x="0" y="1273480"/>
                  </a:moveTo>
                  <a:cubicBezTo>
                    <a:pt x="69937" y="1279743"/>
                    <a:pt x="139875" y="1286006"/>
                    <a:pt x="187891" y="1273480"/>
                  </a:cubicBezTo>
                  <a:cubicBezTo>
                    <a:pt x="235908" y="1260954"/>
                    <a:pt x="269310" y="1248428"/>
                    <a:pt x="288099" y="1198324"/>
                  </a:cubicBezTo>
                  <a:cubicBezTo>
                    <a:pt x="306888" y="1148220"/>
                    <a:pt x="277661" y="1048011"/>
                    <a:pt x="300625" y="972855"/>
                  </a:cubicBezTo>
                  <a:cubicBezTo>
                    <a:pt x="323589" y="897699"/>
                    <a:pt x="371606" y="807929"/>
                    <a:pt x="425885" y="747387"/>
                  </a:cubicBezTo>
                  <a:cubicBezTo>
                    <a:pt x="480164" y="686845"/>
                    <a:pt x="561583" y="688932"/>
                    <a:pt x="626301" y="609600"/>
                  </a:cubicBezTo>
                  <a:cubicBezTo>
                    <a:pt x="691019" y="530269"/>
                    <a:pt x="747386" y="365343"/>
                    <a:pt x="814192" y="271398"/>
                  </a:cubicBezTo>
                  <a:cubicBezTo>
                    <a:pt x="880998" y="177453"/>
                    <a:pt x="941540" y="81419"/>
                    <a:pt x="1027134" y="45929"/>
                  </a:cubicBezTo>
                  <a:cubicBezTo>
                    <a:pt x="1112728" y="10439"/>
                    <a:pt x="1217112" y="0"/>
                    <a:pt x="1327759" y="58455"/>
                  </a:cubicBezTo>
                  <a:cubicBezTo>
                    <a:pt x="1438406" y="116910"/>
                    <a:pt x="1599157" y="250521"/>
                    <a:pt x="1691014" y="396658"/>
                  </a:cubicBezTo>
                  <a:cubicBezTo>
                    <a:pt x="1782871" y="542795"/>
                    <a:pt x="1778696" y="814192"/>
                    <a:pt x="1878904" y="935277"/>
                  </a:cubicBezTo>
                  <a:cubicBezTo>
                    <a:pt x="1979112" y="1056362"/>
                    <a:pt x="2177441" y="1089765"/>
                    <a:pt x="2292263" y="1123168"/>
                  </a:cubicBezTo>
                  <a:cubicBezTo>
                    <a:pt x="2407085" y="1156571"/>
                    <a:pt x="2567836" y="1135694"/>
                    <a:pt x="2567836" y="1135694"/>
                  </a:cubicBezTo>
                  <a:lnTo>
                    <a:pt x="2567836" y="1135694"/>
                  </a:lnTo>
                </a:path>
              </a:pathLst>
            </a:cu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33" name="任意多边形 32"/>
            <p:cNvSpPr/>
            <p:nvPr/>
          </p:nvSpPr>
          <p:spPr>
            <a:xfrm>
              <a:off x="5332370" y="3768963"/>
              <a:ext cx="2252596" cy="1465545"/>
            </a:xfrm>
            <a:custGeom>
              <a:avLst/>
              <a:gdLst>
                <a:gd name="connsiteX0" fmla="*/ 0 w 2252596"/>
                <a:gd name="connsiteY0" fmla="*/ 0 h 1465545"/>
                <a:gd name="connsiteX1" fmla="*/ 87682 w 2252596"/>
                <a:gd name="connsiteY1" fmla="*/ 87682 h 1465545"/>
                <a:gd name="connsiteX2" fmla="*/ 150312 w 2252596"/>
                <a:gd name="connsiteY2" fmla="*/ 300624 h 1465545"/>
                <a:gd name="connsiteX3" fmla="*/ 438410 w 2252596"/>
                <a:gd name="connsiteY3" fmla="*/ 1077238 h 1465545"/>
                <a:gd name="connsiteX4" fmla="*/ 989556 w 2252596"/>
                <a:gd name="connsiteY4" fmla="*/ 1427967 h 1465545"/>
                <a:gd name="connsiteX5" fmla="*/ 1515649 w 2252596"/>
                <a:gd name="connsiteY5" fmla="*/ 1302707 h 1465545"/>
                <a:gd name="connsiteX6" fmla="*/ 1803747 w 2252596"/>
                <a:gd name="connsiteY6" fmla="*/ 889348 h 1465545"/>
                <a:gd name="connsiteX7" fmla="*/ 2179528 w 2252596"/>
                <a:gd name="connsiteY7" fmla="*/ 801665 h 1465545"/>
                <a:gd name="connsiteX8" fmla="*/ 2242158 w 2252596"/>
                <a:gd name="connsiteY8" fmla="*/ 839244 h 1465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2596" h="1465545">
                  <a:moveTo>
                    <a:pt x="0" y="0"/>
                  </a:moveTo>
                  <a:cubicBezTo>
                    <a:pt x="31315" y="18789"/>
                    <a:pt x="62630" y="37578"/>
                    <a:pt x="87682" y="87682"/>
                  </a:cubicBezTo>
                  <a:cubicBezTo>
                    <a:pt x="112734" y="137786"/>
                    <a:pt x="91857" y="135698"/>
                    <a:pt x="150312" y="300624"/>
                  </a:cubicBezTo>
                  <a:cubicBezTo>
                    <a:pt x="208767" y="465550"/>
                    <a:pt x="298536" y="889348"/>
                    <a:pt x="438410" y="1077238"/>
                  </a:cubicBezTo>
                  <a:cubicBezTo>
                    <a:pt x="578284" y="1265128"/>
                    <a:pt x="810016" y="1390389"/>
                    <a:pt x="989556" y="1427967"/>
                  </a:cubicBezTo>
                  <a:cubicBezTo>
                    <a:pt x="1169096" y="1465545"/>
                    <a:pt x="1379951" y="1392477"/>
                    <a:pt x="1515649" y="1302707"/>
                  </a:cubicBezTo>
                  <a:cubicBezTo>
                    <a:pt x="1651347" y="1212937"/>
                    <a:pt x="1693101" y="972855"/>
                    <a:pt x="1803747" y="889348"/>
                  </a:cubicBezTo>
                  <a:cubicBezTo>
                    <a:pt x="1914393" y="805841"/>
                    <a:pt x="2106460" y="810016"/>
                    <a:pt x="2179528" y="801665"/>
                  </a:cubicBezTo>
                  <a:cubicBezTo>
                    <a:pt x="2252596" y="793314"/>
                    <a:pt x="2247377" y="816279"/>
                    <a:pt x="2242158" y="839244"/>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34" name="任意多边形 33"/>
            <p:cNvSpPr/>
            <p:nvPr/>
          </p:nvSpPr>
          <p:spPr>
            <a:xfrm>
              <a:off x="5286380" y="4107165"/>
              <a:ext cx="2192054" cy="732773"/>
            </a:xfrm>
            <a:custGeom>
              <a:avLst/>
              <a:gdLst>
                <a:gd name="connsiteX0" fmla="*/ 0 w 2192054"/>
                <a:gd name="connsiteY0" fmla="*/ 0 h 732773"/>
                <a:gd name="connsiteX1" fmla="*/ 225468 w 2192054"/>
                <a:gd name="connsiteY1" fmla="*/ 37579 h 732773"/>
                <a:gd name="connsiteX2" fmla="*/ 413358 w 2192054"/>
                <a:gd name="connsiteY2" fmla="*/ 200417 h 732773"/>
                <a:gd name="connsiteX3" fmla="*/ 789139 w 2192054"/>
                <a:gd name="connsiteY3" fmla="*/ 551146 h 732773"/>
                <a:gd name="connsiteX4" fmla="*/ 1265128 w 2192054"/>
                <a:gd name="connsiteY4" fmla="*/ 726510 h 732773"/>
                <a:gd name="connsiteX5" fmla="*/ 1540701 w 2192054"/>
                <a:gd name="connsiteY5" fmla="*/ 588724 h 732773"/>
                <a:gd name="connsiteX6" fmla="*/ 1703539 w 2192054"/>
                <a:gd name="connsiteY6" fmla="*/ 237995 h 732773"/>
                <a:gd name="connsiteX7" fmla="*/ 2091846 w 2192054"/>
                <a:gd name="connsiteY7" fmla="*/ 112735 h 732773"/>
                <a:gd name="connsiteX8" fmla="*/ 2192054 w 2192054"/>
                <a:gd name="connsiteY8" fmla="*/ 112735 h 73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2054" h="732773">
                  <a:moveTo>
                    <a:pt x="0" y="0"/>
                  </a:moveTo>
                  <a:cubicBezTo>
                    <a:pt x="78287" y="2088"/>
                    <a:pt x="156575" y="4176"/>
                    <a:pt x="225468" y="37579"/>
                  </a:cubicBezTo>
                  <a:cubicBezTo>
                    <a:pt x="294361" y="70982"/>
                    <a:pt x="319413" y="114823"/>
                    <a:pt x="413358" y="200417"/>
                  </a:cubicBezTo>
                  <a:cubicBezTo>
                    <a:pt x="507303" y="286011"/>
                    <a:pt x="647177" y="463464"/>
                    <a:pt x="789139" y="551146"/>
                  </a:cubicBezTo>
                  <a:cubicBezTo>
                    <a:pt x="931101" y="638828"/>
                    <a:pt x="1139868" y="720247"/>
                    <a:pt x="1265128" y="726510"/>
                  </a:cubicBezTo>
                  <a:cubicBezTo>
                    <a:pt x="1390388" y="732773"/>
                    <a:pt x="1467633" y="670143"/>
                    <a:pt x="1540701" y="588724"/>
                  </a:cubicBezTo>
                  <a:cubicBezTo>
                    <a:pt x="1613769" y="507305"/>
                    <a:pt x="1611682" y="317326"/>
                    <a:pt x="1703539" y="237995"/>
                  </a:cubicBezTo>
                  <a:cubicBezTo>
                    <a:pt x="1795396" y="158664"/>
                    <a:pt x="2010427" y="133612"/>
                    <a:pt x="2091846" y="112735"/>
                  </a:cubicBezTo>
                  <a:cubicBezTo>
                    <a:pt x="2173265" y="91858"/>
                    <a:pt x="2182659" y="102296"/>
                    <a:pt x="2192054" y="112735"/>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a:p>
          </p:txBody>
        </p:sp>
        <p:sp>
          <p:nvSpPr>
            <p:cNvPr id="36" name="TextBox 35"/>
            <p:cNvSpPr txBox="1"/>
            <p:nvPr/>
          </p:nvSpPr>
          <p:spPr>
            <a:xfrm>
              <a:off x="5643570" y="3571876"/>
              <a:ext cx="1571636"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zh-CN" altLang="en-US" dirty="0" smtClean="0">
                  <a:solidFill>
                    <a:srgbClr val="FFFF00"/>
                  </a:solidFill>
                </a:rPr>
                <a:t>初级技术人员</a:t>
              </a:r>
              <a:endParaRPr lang="zh-CN" altLang="en-US" dirty="0">
                <a:solidFill>
                  <a:srgbClr val="FFFF00"/>
                </a:solidFill>
              </a:endParaRPr>
            </a:p>
          </p:txBody>
        </p:sp>
        <p:sp>
          <p:nvSpPr>
            <p:cNvPr id="37" name="TextBox 36"/>
            <p:cNvSpPr txBox="1"/>
            <p:nvPr/>
          </p:nvSpPr>
          <p:spPr>
            <a:xfrm>
              <a:off x="7358082" y="3929066"/>
              <a:ext cx="1571636" cy="369332"/>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r>
                <a:rPr lang="zh-CN" altLang="en-US" dirty="0" smtClean="0">
                  <a:solidFill>
                    <a:srgbClr val="FFFF00"/>
                  </a:solidFill>
                </a:rPr>
                <a:t>高级技术人员</a:t>
              </a:r>
              <a:endParaRPr lang="zh-CN" altLang="en-US" dirty="0">
                <a:solidFill>
                  <a:srgbClr val="FFFF00"/>
                </a:solidFill>
              </a:endParaRPr>
            </a:p>
          </p:txBody>
        </p:sp>
        <p:sp>
          <p:nvSpPr>
            <p:cNvPr id="38" name="TextBox 37"/>
            <p:cNvSpPr txBox="1"/>
            <p:nvPr/>
          </p:nvSpPr>
          <p:spPr>
            <a:xfrm>
              <a:off x="7500958" y="4500570"/>
              <a:ext cx="1143008"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zh-CN" altLang="en-US" dirty="0" smtClean="0">
                  <a:solidFill>
                    <a:srgbClr val="FFFF00"/>
                  </a:solidFill>
                </a:rPr>
                <a:t>管理人员</a:t>
              </a:r>
              <a:endParaRPr lang="zh-CN" altLang="en-US" dirty="0">
                <a:solidFill>
                  <a:srgbClr val="FFFF00"/>
                </a:solidFill>
              </a:endParaRPr>
            </a:p>
          </p:txBody>
        </p:sp>
        <p:sp>
          <p:nvSpPr>
            <p:cNvPr id="39" name="TextBox 38"/>
            <p:cNvSpPr txBox="1"/>
            <p:nvPr/>
          </p:nvSpPr>
          <p:spPr>
            <a:xfrm>
              <a:off x="4569150" y="3285554"/>
              <a:ext cx="646331" cy="369332"/>
            </a:xfrm>
            <a:prstGeom prst="rect">
              <a:avLst/>
            </a:prstGeom>
            <a:noFill/>
          </p:spPr>
          <p:txBody>
            <a:bodyPr wrap="none" rtlCol="0">
              <a:spAutoFit/>
            </a:bodyPr>
            <a:lstStyle/>
            <a:p>
              <a:r>
                <a:rPr lang="zh-CN" altLang="en-US" dirty="0"/>
                <a:t>投入</a:t>
              </a:r>
            </a:p>
          </p:txBody>
        </p:sp>
        <p:sp>
          <p:nvSpPr>
            <p:cNvPr id="40" name="TextBox 39"/>
            <p:cNvSpPr txBox="1"/>
            <p:nvPr/>
          </p:nvSpPr>
          <p:spPr>
            <a:xfrm>
              <a:off x="5000629" y="5500702"/>
              <a:ext cx="357189" cy="646331"/>
            </a:xfrm>
            <a:prstGeom prst="rect">
              <a:avLst/>
            </a:prstGeom>
            <a:noFill/>
          </p:spPr>
          <p:txBody>
            <a:bodyPr wrap="square" rtlCol="0">
              <a:spAutoFit/>
            </a:bodyPr>
            <a:lstStyle/>
            <a:p>
              <a:r>
                <a:rPr lang="zh-CN" altLang="en-US" dirty="0" smtClean="0"/>
                <a:t>计划</a:t>
              </a:r>
              <a:endParaRPr lang="zh-CN" altLang="en-US" dirty="0"/>
            </a:p>
          </p:txBody>
        </p:sp>
        <p:sp>
          <p:nvSpPr>
            <p:cNvPr id="41" name="TextBox 40"/>
            <p:cNvSpPr txBox="1"/>
            <p:nvPr/>
          </p:nvSpPr>
          <p:spPr>
            <a:xfrm>
              <a:off x="5286380" y="5500702"/>
              <a:ext cx="357189" cy="1200329"/>
            </a:xfrm>
            <a:prstGeom prst="rect">
              <a:avLst/>
            </a:prstGeom>
            <a:noFill/>
          </p:spPr>
          <p:txBody>
            <a:bodyPr wrap="square" rtlCol="0">
              <a:spAutoFit/>
            </a:bodyPr>
            <a:lstStyle/>
            <a:p>
              <a:r>
                <a:rPr lang="zh-CN" altLang="en-US" dirty="0" smtClean="0"/>
                <a:t>需求分析</a:t>
              </a:r>
              <a:endParaRPr lang="zh-CN" altLang="en-US" dirty="0"/>
            </a:p>
          </p:txBody>
        </p:sp>
        <p:sp>
          <p:nvSpPr>
            <p:cNvPr id="42" name="TextBox 41"/>
            <p:cNvSpPr txBox="1"/>
            <p:nvPr/>
          </p:nvSpPr>
          <p:spPr>
            <a:xfrm>
              <a:off x="5643570" y="5500702"/>
              <a:ext cx="357189" cy="1200329"/>
            </a:xfrm>
            <a:prstGeom prst="rect">
              <a:avLst/>
            </a:prstGeom>
            <a:noFill/>
          </p:spPr>
          <p:txBody>
            <a:bodyPr wrap="square" rtlCol="0">
              <a:spAutoFit/>
            </a:bodyPr>
            <a:lstStyle/>
            <a:p>
              <a:r>
                <a:rPr lang="zh-CN" altLang="en-US" dirty="0" smtClean="0"/>
                <a:t>概要设计</a:t>
              </a:r>
              <a:endParaRPr lang="zh-CN" altLang="en-US" dirty="0"/>
            </a:p>
          </p:txBody>
        </p:sp>
        <p:sp>
          <p:nvSpPr>
            <p:cNvPr id="43" name="TextBox 42"/>
            <p:cNvSpPr txBox="1"/>
            <p:nvPr/>
          </p:nvSpPr>
          <p:spPr>
            <a:xfrm>
              <a:off x="6000760" y="5500702"/>
              <a:ext cx="357189" cy="1200329"/>
            </a:xfrm>
            <a:prstGeom prst="rect">
              <a:avLst/>
            </a:prstGeom>
            <a:noFill/>
          </p:spPr>
          <p:txBody>
            <a:bodyPr wrap="square" rtlCol="0">
              <a:spAutoFit/>
            </a:bodyPr>
            <a:lstStyle/>
            <a:p>
              <a:r>
                <a:rPr lang="zh-CN" altLang="en-US" dirty="0" smtClean="0"/>
                <a:t>详细设计</a:t>
              </a:r>
              <a:endParaRPr lang="zh-CN" altLang="en-US" dirty="0"/>
            </a:p>
          </p:txBody>
        </p:sp>
        <p:sp>
          <p:nvSpPr>
            <p:cNvPr id="44" name="TextBox 43"/>
            <p:cNvSpPr txBox="1"/>
            <p:nvPr/>
          </p:nvSpPr>
          <p:spPr>
            <a:xfrm>
              <a:off x="6357951" y="5500702"/>
              <a:ext cx="357189" cy="646331"/>
            </a:xfrm>
            <a:prstGeom prst="rect">
              <a:avLst/>
            </a:prstGeom>
            <a:noFill/>
          </p:spPr>
          <p:txBody>
            <a:bodyPr wrap="square" rtlCol="0">
              <a:spAutoFit/>
            </a:bodyPr>
            <a:lstStyle/>
            <a:p>
              <a:r>
                <a:rPr lang="zh-CN" altLang="en-US" dirty="0" smtClean="0"/>
                <a:t>编码</a:t>
              </a:r>
              <a:endParaRPr lang="zh-CN" altLang="en-US" dirty="0"/>
            </a:p>
          </p:txBody>
        </p:sp>
        <p:sp>
          <p:nvSpPr>
            <p:cNvPr id="45" name="TextBox 44"/>
            <p:cNvSpPr txBox="1"/>
            <p:nvPr/>
          </p:nvSpPr>
          <p:spPr>
            <a:xfrm>
              <a:off x="6715141" y="5500702"/>
              <a:ext cx="357189" cy="1200329"/>
            </a:xfrm>
            <a:prstGeom prst="rect">
              <a:avLst/>
            </a:prstGeom>
            <a:noFill/>
          </p:spPr>
          <p:txBody>
            <a:bodyPr wrap="square" rtlCol="0">
              <a:spAutoFit/>
            </a:bodyPr>
            <a:lstStyle/>
            <a:p>
              <a:r>
                <a:rPr lang="zh-CN" altLang="en-US" dirty="0" smtClean="0"/>
                <a:t>单元测试</a:t>
              </a:r>
              <a:endParaRPr lang="zh-CN" altLang="en-US" dirty="0"/>
            </a:p>
          </p:txBody>
        </p:sp>
        <p:sp>
          <p:nvSpPr>
            <p:cNvPr id="46" name="TextBox 45"/>
            <p:cNvSpPr txBox="1"/>
            <p:nvPr/>
          </p:nvSpPr>
          <p:spPr>
            <a:xfrm>
              <a:off x="7000893" y="5514819"/>
              <a:ext cx="357189" cy="1200329"/>
            </a:xfrm>
            <a:prstGeom prst="rect">
              <a:avLst/>
            </a:prstGeom>
            <a:noFill/>
          </p:spPr>
          <p:txBody>
            <a:bodyPr wrap="square" rtlCol="0">
              <a:spAutoFit/>
            </a:bodyPr>
            <a:lstStyle/>
            <a:p>
              <a:r>
                <a:rPr lang="zh-CN" altLang="en-US" dirty="0" smtClean="0"/>
                <a:t>集成测试</a:t>
              </a:r>
              <a:endParaRPr lang="zh-CN" altLang="en-US" dirty="0"/>
            </a:p>
          </p:txBody>
        </p:sp>
        <p:sp>
          <p:nvSpPr>
            <p:cNvPr id="47" name="TextBox 46"/>
            <p:cNvSpPr txBox="1"/>
            <p:nvPr/>
          </p:nvSpPr>
          <p:spPr>
            <a:xfrm>
              <a:off x="7358083" y="5500702"/>
              <a:ext cx="357189" cy="1200329"/>
            </a:xfrm>
            <a:prstGeom prst="rect">
              <a:avLst/>
            </a:prstGeom>
            <a:noFill/>
          </p:spPr>
          <p:txBody>
            <a:bodyPr wrap="square" rtlCol="0">
              <a:spAutoFit/>
            </a:bodyPr>
            <a:lstStyle/>
            <a:p>
              <a:r>
                <a:rPr lang="zh-CN" altLang="en-US" dirty="0" smtClean="0"/>
                <a:t>确认测试</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ppt_x</p:attrName>
                                        </p:attrNameLst>
                                      </p:cBhvr>
                                      <p:tavLst>
                                        <p:tav tm="0">
                                          <p:val>
                                            <p:strVal val="#ppt_x-.2"/>
                                          </p:val>
                                        </p:tav>
                                        <p:tav tm="100000">
                                          <p:val>
                                            <p:strVal val="#ppt_x"/>
                                          </p:val>
                                        </p:tav>
                                      </p:tavLst>
                                    </p:anim>
                                    <p:anim calcmode="lin" valueType="num">
                                      <p:cBhvr>
                                        <p:cTn id="8" dur="1000" fill="hold"/>
                                        <p:tgtEl>
                                          <p:spTgt spid="21"/>
                                        </p:tgtEl>
                                        <p:attrNameLst>
                                          <p:attrName>ppt_y</p:attrName>
                                        </p:attrNameLst>
                                      </p:cBhvr>
                                      <p:tavLst>
                                        <p:tav tm="0">
                                          <p:val>
                                            <p:strVal val="#ppt_y"/>
                                          </p:val>
                                        </p:tav>
                                        <p:tav tm="100000">
                                          <p:val>
                                            <p:strVal val="#ppt_y"/>
                                          </p:val>
                                        </p:tav>
                                      </p:tavLst>
                                    </p:anim>
                                    <p:animEffect transition="in" filter="wipe(right)" prLst="gradientSize: 0.1">
                                      <p:cBhvr>
                                        <p:cTn id="9" dur="1000"/>
                                        <p:tgtEl>
                                          <p:spTgt spid="21"/>
                                        </p:tgtEl>
                                      </p:cBhvr>
                                    </p:animEffect>
                                  </p:childTnLst>
                                </p:cTn>
                              </p:par>
                              <p:par>
                                <p:cTn id="10" presetID="29"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1000" fill="hold"/>
                                        <p:tgtEl>
                                          <p:spTgt spid="20"/>
                                        </p:tgtEl>
                                        <p:attrNameLst>
                                          <p:attrName>ppt_x</p:attrName>
                                        </p:attrNameLst>
                                      </p:cBhvr>
                                      <p:tavLst>
                                        <p:tav tm="0">
                                          <p:val>
                                            <p:strVal val="#ppt_x-.2"/>
                                          </p:val>
                                        </p:tav>
                                        <p:tav tm="100000">
                                          <p:val>
                                            <p:strVal val="#ppt_x"/>
                                          </p:val>
                                        </p:tav>
                                      </p:tavLst>
                                    </p:anim>
                                    <p:anim calcmode="lin" valueType="num">
                                      <p:cBhvr>
                                        <p:cTn id="13" dur="1000" fill="hold"/>
                                        <p:tgtEl>
                                          <p:spTgt spid="20"/>
                                        </p:tgtEl>
                                        <p:attrNameLst>
                                          <p:attrName>ppt_y</p:attrName>
                                        </p:attrNameLst>
                                      </p:cBhvr>
                                      <p:tavLst>
                                        <p:tav tm="0">
                                          <p:val>
                                            <p:strVal val="#ppt_y"/>
                                          </p:val>
                                        </p:tav>
                                        <p:tav tm="100000">
                                          <p:val>
                                            <p:strVal val="#ppt_y"/>
                                          </p:val>
                                        </p:tav>
                                      </p:tavLst>
                                    </p:anim>
                                    <p:animEffect transition="in" filter="wipe(right)" prLst="gradientSize: 0.1">
                                      <p:cBhvr>
                                        <p:cTn id="14" dur="10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checkerboard(across)">
                                      <p:cBhvr>
                                        <p:cTn id="3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2</a:t>
            </a:r>
            <a:r>
              <a:rPr lang="zh-CN" altLang="en-US" sz="4000" dirty="0" smtClean="0"/>
              <a:t>、项目管理过程</a:t>
            </a:r>
            <a:endParaRPr lang="zh-CN" altLang="en-US" sz="4000" dirty="0"/>
          </a:p>
        </p:txBody>
      </p:sp>
      <p:sp>
        <p:nvSpPr>
          <p:cNvPr id="3" name="内容占位符 2"/>
          <p:cNvSpPr>
            <a:spLocks noGrp="1"/>
          </p:cNvSpPr>
          <p:nvPr>
            <p:ph idx="1"/>
          </p:nvPr>
        </p:nvSpPr>
        <p:spPr>
          <a:xfrm>
            <a:off x="457200" y="1646237"/>
            <a:ext cx="8229600" cy="4854597"/>
          </a:xfrm>
        </p:spPr>
        <p:txBody>
          <a:bodyPr>
            <a:normAutofit/>
          </a:bodyPr>
          <a:lstStyle/>
          <a:p>
            <a:r>
              <a:rPr lang="zh-CN" altLang="en-US" sz="2100" dirty="0" smtClean="0">
                <a:solidFill>
                  <a:srgbClr val="FFC000"/>
                </a:solidFill>
              </a:rPr>
              <a:t>软件项目管理的对象</a:t>
            </a:r>
            <a:r>
              <a:rPr lang="zh-CN" altLang="en-US" sz="2100" dirty="0" smtClean="0"/>
              <a:t>是软件工程项目，它所涉及的范围覆盖了整个软件工程过程。</a:t>
            </a:r>
            <a:endParaRPr lang="en-US" altLang="zh-CN" sz="2100" dirty="0" smtClean="0"/>
          </a:p>
          <a:p>
            <a:r>
              <a:rPr lang="zh-CN" altLang="en-US" sz="2100" dirty="0" smtClean="0">
                <a:solidFill>
                  <a:srgbClr val="FFC000"/>
                </a:solidFill>
              </a:rPr>
              <a:t>软件项目管理的内容</a:t>
            </a:r>
            <a:r>
              <a:rPr lang="zh-CN" altLang="en-US" sz="2100" dirty="0" smtClean="0"/>
              <a:t>包括项目工作范围、风险、资源、任务、里程碑、成本、进度安排等。这些管理始于技术工作开始之前，在软件从概念到实现的过程中持续，终止于软件过程结束。具体包括：</a:t>
            </a:r>
            <a:endParaRPr lang="en-US" altLang="zh-CN" sz="2100" dirty="0" smtClean="0"/>
          </a:p>
          <a:p>
            <a:pPr lvl="1"/>
            <a:r>
              <a:rPr lang="zh-CN" altLang="en-US" sz="2000" dirty="0" smtClean="0">
                <a:solidFill>
                  <a:srgbClr val="00B0F0"/>
                </a:solidFill>
              </a:rPr>
              <a:t>启动一个项目</a:t>
            </a:r>
            <a:r>
              <a:rPr lang="zh-CN" altLang="en-US" sz="2000" dirty="0" smtClean="0"/>
              <a:t>：通常在软件工程的可行性分析阶段确定项目的目标和范围。</a:t>
            </a:r>
            <a:endParaRPr lang="en-US" altLang="zh-CN" sz="2000" dirty="0" smtClean="0"/>
          </a:p>
          <a:p>
            <a:pPr lvl="1"/>
            <a:r>
              <a:rPr lang="zh-CN" altLang="en-US" sz="2000" dirty="0" smtClean="0">
                <a:solidFill>
                  <a:srgbClr val="00B0F0"/>
                </a:solidFill>
              </a:rPr>
              <a:t>成本估算</a:t>
            </a:r>
            <a:r>
              <a:rPr lang="zh-CN" altLang="en-US" sz="2000" dirty="0" smtClean="0"/>
              <a:t>：软件项目管理的一个关键活动是制定项目计划。做计划时，必须对于人力、持续时间、成本作出估算。</a:t>
            </a:r>
            <a:endParaRPr lang="en-US" altLang="zh-CN" sz="2000" dirty="0" smtClean="0"/>
          </a:p>
          <a:p>
            <a:pPr lvl="1"/>
            <a:r>
              <a:rPr lang="zh-CN" altLang="en-US" sz="2000" dirty="0" smtClean="0">
                <a:solidFill>
                  <a:srgbClr val="00B0F0"/>
                </a:solidFill>
              </a:rPr>
              <a:t>风险分析</a:t>
            </a:r>
            <a:r>
              <a:rPr lang="zh-CN" altLang="en-US" sz="2000" dirty="0" smtClean="0"/>
              <a:t>：“如果谁不主动地攻击风险，它们就会主动地攻击谁”。</a:t>
            </a:r>
            <a:endParaRPr lang="en-US" altLang="zh-CN" sz="2000" dirty="0" smtClean="0"/>
          </a:p>
          <a:p>
            <a:pPr lvl="1"/>
            <a:r>
              <a:rPr lang="zh-CN" altLang="en-US" sz="2000" dirty="0" smtClean="0">
                <a:solidFill>
                  <a:srgbClr val="00B0F0"/>
                </a:solidFill>
              </a:rPr>
              <a:t>进度安排</a:t>
            </a:r>
            <a:r>
              <a:rPr lang="zh-CN" altLang="en-US" sz="2000" dirty="0" smtClean="0"/>
              <a:t>：首先识别一组项目任务，再建立任务间的关联，然后估算各个任务的工作量，分配人力和其他资源，制定进度时序。</a:t>
            </a:r>
            <a:endParaRPr lang="en-US" altLang="zh-CN" sz="2000" dirty="0" smtClean="0"/>
          </a:p>
          <a:p>
            <a:pPr lvl="1"/>
            <a:r>
              <a:rPr lang="zh-CN" altLang="en-US" sz="2000" dirty="0" smtClean="0">
                <a:solidFill>
                  <a:srgbClr val="00B0F0"/>
                </a:solidFill>
              </a:rPr>
              <a:t>追踪和控制</a:t>
            </a:r>
            <a:r>
              <a:rPr lang="zh-CN" altLang="en-US" sz="2000" dirty="0" smtClean="0"/>
              <a:t>：根据开发进度安排进行追踪和控制，应对风险。</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p:cTn id="19"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p:cTn id="2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p:cTn id="31"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3</a:t>
            </a:r>
            <a:r>
              <a:rPr lang="zh-CN" altLang="en-US" sz="4000" dirty="0" smtClean="0"/>
              <a:t>、软件开发成本估算</a:t>
            </a:r>
            <a:endParaRPr lang="zh-CN" altLang="en-US" sz="4000" dirty="0"/>
          </a:p>
        </p:txBody>
      </p:sp>
      <p:sp>
        <p:nvSpPr>
          <p:cNvPr id="3" name="内容占位符 2"/>
          <p:cNvSpPr>
            <a:spLocks noGrp="1"/>
          </p:cNvSpPr>
          <p:nvPr>
            <p:ph idx="1"/>
          </p:nvPr>
        </p:nvSpPr>
        <p:spPr/>
        <p:txBody>
          <a:bodyPr>
            <a:normAutofit/>
          </a:bodyPr>
          <a:lstStyle/>
          <a:p>
            <a:r>
              <a:rPr lang="zh-CN" altLang="en-US" sz="2400" dirty="0" smtClean="0">
                <a:solidFill>
                  <a:srgbClr val="FFC000"/>
                </a:solidFill>
              </a:rPr>
              <a:t>软件开发成本</a:t>
            </a:r>
            <a:r>
              <a:rPr lang="zh-CN" altLang="en-US" sz="2400" dirty="0" smtClean="0"/>
              <a:t>主要是指软件开发过程中所花费的工作量及相应的代价，不包括原材料和能源的消耗，</a:t>
            </a:r>
            <a:r>
              <a:rPr lang="zh-CN" altLang="en-US" sz="2400" dirty="0" smtClean="0">
                <a:solidFill>
                  <a:srgbClr val="FFFF00"/>
                </a:solidFill>
              </a:rPr>
              <a:t>主要是人的劳动消耗</a:t>
            </a:r>
            <a:r>
              <a:rPr lang="zh-CN" altLang="en-US" sz="2400" dirty="0" smtClean="0"/>
              <a:t>。是以一次性的开发过程所花费的代价来计算的。因此软件开发成本的估算，应该从软件计划、需求分析、设计、编码、单元测试、集成测试到确认测试的整个软件开发全过程所花费的人工代价作为依据的。</a:t>
            </a:r>
            <a:endParaRPr lang="en-US" altLang="zh-CN" sz="2400" dirty="0" smtClean="0"/>
          </a:p>
          <a:p>
            <a:r>
              <a:rPr lang="zh-CN" altLang="en-US" sz="2400" dirty="0" smtClean="0">
                <a:solidFill>
                  <a:srgbClr val="FFC000"/>
                </a:solidFill>
              </a:rPr>
              <a:t>估算方法：</a:t>
            </a:r>
            <a:endParaRPr lang="en-US" altLang="zh-CN" sz="2400" dirty="0" smtClean="0">
              <a:solidFill>
                <a:srgbClr val="FFC000"/>
              </a:solidFill>
            </a:endParaRPr>
          </a:p>
          <a:p>
            <a:pPr lvl="1"/>
            <a:r>
              <a:rPr lang="zh-CN" altLang="en-US" sz="2400" dirty="0" smtClean="0"/>
              <a:t>不容易估算，往往不到最后时刻是很难得到准确成本的。主要靠</a:t>
            </a:r>
            <a:r>
              <a:rPr lang="zh-CN" altLang="en-US" sz="2400" b="1" dirty="0" smtClean="0">
                <a:solidFill>
                  <a:srgbClr val="00B0F0"/>
                </a:solidFill>
              </a:rPr>
              <a:t>分解和类推</a:t>
            </a:r>
            <a:r>
              <a:rPr lang="zh-CN" altLang="en-US" sz="2400" dirty="0" smtClean="0"/>
              <a:t>的手段进行。</a:t>
            </a:r>
            <a:endParaRPr lang="en-US" altLang="zh-CN" sz="2400" dirty="0" smtClean="0"/>
          </a:p>
          <a:p>
            <a:pPr lvl="1"/>
            <a:r>
              <a:rPr lang="zh-CN" altLang="en-US" sz="2400" dirty="0" smtClean="0"/>
              <a:t>基本估算方法分为三类。</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3</a:t>
            </a:r>
            <a:r>
              <a:rPr lang="zh-CN" altLang="en-US" sz="4000" dirty="0" smtClean="0"/>
              <a:t>、软件开发成本估算</a:t>
            </a:r>
            <a:r>
              <a:rPr lang="en-US" altLang="zh-CN" sz="4000" dirty="0" smtClean="0"/>
              <a:t>—</a:t>
            </a:r>
            <a:r>
              <a:rPr lang="zh-CN" altLang="en-US" sz="3600" dirty="0" smtClean="0">
                <a:solidFill>
                  <a:srgbClr val="FFC000"/>
                </a:solidFill>
              </a:rPr>
              <a:t>估算方法</a:t>
            </a:r>
          </a:p>
        </p:txBody>
      </p:sp>
      <p:sp>
        <p:nvSpPr>
          <p:cNvPr id="3" name="内容占位符 2"/>
          <p:cNvSpPr>
            <a:spLocks noGrp="1"/>
          </p:cNvSpPr>
          <p:nvPr>
            <p:ph idx="1"/>
          </p:nvPr>
        </p:nvSpPr>
        <p:spPr/>
        <p:txBody>
          <a:bodyPr>
            <a:normAutofit/>
          </a:bodyPr>
          <a:lstStyle/>
          <a:p>
            <a:r>
              <a:rPr lang="en-US" altLang="zh-CN" sz="2800" dirty="0" smtClean="0">
                <a:solidFill>
                  <a:srgbClr val="FFFF00"/>
                </a:solidFill>
              </a:rPr>
              <a:t>1</a:t>
            </a:r>
            <a:r>
              <a:rPr lang="zh-CN" altLang="en-US" sz="2800" dirty="0" smtClean="0">
                <a:solidFill>
                  <a:srgbClr val="FFFF00"/>
                </a:solidFill>
              </a:rPr>
              <a:t>）自顶向下</a:t>
            </a:r>
            <a:endParaRPr lang="en-US" altLang="zh-CN" sz="2800" dirty="0" smtClean="0">
              <a:solidFill>
                <a:srgbClr val="FFFF00"/>
              </a:solidFill>
            </a:endParaRPr>
          </a:p>
          <a:p>
            <a:pPr lvl="1"/>
            <a:r>
              <a:rPr lang="zh-CN" altLang="en-US" sz="2200" dirty="0" smtClean="0"/>
              <a:t>从项目整体出发，进行类推。即估算人员根据以前已完成项目所耗费的总成本，推算将要开发的软件总成本（总工作量），然后按比例将它分配到各个开发任务中去，再验证它是否能满足需求。</a:t>
            </a:r>
            <a:endParaRPr lang="en-US" altLang="zh-CN" sz="2200" dirty="0" smtClean="0"/>
          </a:p>
          <a:p>
            <a:pPr lvl="1"/>
            <a:r>
              <a:rPr lang="zh-CN" altLang="en-US" sz="2200" b="1" dirty="0" smtClean="0">
                <a:solidFill>
                  <a:srgbClr val="00B0F0"/>
                </a:solidFill>
              </a:rPr>
              <a:t>优点</a:t>
            </a:r>
            <a:r>
              <a:rPr lang="zh-CN" altLang="en-US" sz="2200" dirty="0" smtClean="0"/>
              <a:t>：速度快。</a:t>
            </a:r>
            <a:r>
              <a:rPr lang="zh-CN" altLang="en-US" sz="2200" b="1" dirty="0" smtClean="0">
                <a:solidFill>
                  <a:srgbClr val="00B0F0"/>
                </a:solidFill>
              </a:rPr>
              <a:t>缺点</a:t>
            </a:r>
            <a:r>
              <a:rPr lang="zh-CN" altLang="en-US" sz="2200" dirty="0" smtClean="0"/>
              <a:t>：对项目中的特殊困难估计不足，估算出来的成本盲目性大。</a:t>
            </a:r>
            <a:endParaRPr lang="en-US" altLang="zh-CN" sz="2200" dirty="0" smtClean="0"/>
          </a:p>
          <a:p>
            <a:r>
              <a:rPr lang="en-US" altLang="zh-CN" sz="2800" dirty="0" smtClean="0">
                <a:solidFill>
                  <a:srgbClr val="FFFF00"/>
                </a:solidFill>
              </a:rPr>
              <a:t>2</a:t>
            </a:r>
            <a:r>
              <a:rPr lang="zh-CN" altLang="en-US" sz="2800" dirty="0" smtClean="0">
                <a:solidFill>
                  <a:srgbClr val="FFFF00"/>
                </a:solidFill>
              </a:rPr>
              <a:t>）自底向上</a:t>
            </a:r>
            <a:endParaRPr lang="en-US" altLang="zh-CN" sz="2800" dirty="0" smtClean="0">
              <a:solidFill>
                <a:srgbClr val="FFFF00"/>
              </a:solidFill>
            </a:endParaRPr>
          </a:p>
          <a:p>
            <a:pPr lvl="1"/>
            <a:r>
              <a:rPr lang="zh-CN" altLang="en-US" sz="2200" dirty="0" smtClean="0"/>
              <a:t>把待开发的软件细分，直到每一个子任务都已经明确所需要的开发工作量，然后相加得到总工作量。</a:t>
            </a:r>
            <a:endParaRPr lang="en-US" altLang="zh-CN" sz="2200" dirty="0" smtClean="0"/>
          </a:p>
          <a:p>
            <a:pPr lvl="1"/>
            <a:r>
              <a:rPr lang="zh-CN" altLang="en-US" sz="2200" b="1" dirty="0" smtClean="0">
                <a:solidFill>
                  <a:srgbClr val="00B0F0"/>
                </a:solidFill>
              </a:rPr>
              <a:t>优点</a:t>
            </a:r>
            <a:r>
              <a:rPr lang="zh-CN" altLang="en-US" sz="2200" dirty="0" smtClean="0"/>
              <a:t>：估算各个部分的准确度高；</a:t>
            </a:r>
            <a:r>
              <a:rPr lang="zh-CN" altLang="en-US" sz="2200" b="1" dirty="0" smtClean="0">
                <a:solidFill>
                  <a:srgbClr val="00B0F0"/>
                </a:solidFill>
              </a:rPr>
              <a:t>缺点</a:t>
            </a:r>
            <a:r>
              <a:rPr lang="zh-CN" altLang="en-US" sz="2200" dirty="0" smtClean="0"/>
              <a:t>：缺少子任务间联系所需的工作量和系统级工作量（配置、项目管理等）。</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3</a:t>
            </a:r>
            <a:r>
              <a:rPr lang="zh-CN" altLang="en-US" sz="4000" dirty="0" smtClean="0"/>
              <a:t>、软件开发成本估算</a:t>
            </a:r>
            <a:r>
              <a:rPr lang="en-US" altLang="zh-CN" sz="4000" dirty="0" smtClean="0"/>
              <a:t>—</a:t>
            </a:r>
            <a:r>
              <a:rPr lang="zh-CN" altLang="en-US" sz="3600" dirty="0" smtClean="0">
                <a:solidFill>
                  <a:srgbClr val="FFC000"/>
                </a:solidFill>
              </a:rPr>
              <a:t>估算方法</a:t>
            </a:r>
          </a:p>
        </p:txBody>
      </p:sp>
      <p:sp>
        <p:nvSpPr>
          <p:cNvPr id="3" name="内容占位符 2"/>
          <p:cNvSpPr>
            <a:spLocks noGrp="1"/>
          </p:cNvSpPr>
          <p:nvPr>
            <p:ph idx="1"/>
          </p:nvPr>
        </p:nvSpPr>
        <p:spPr/>
        <p:txBody>
          <a:bodyPr>
            <a:normAutofit lnSpcReduction="10000"/>
          </a:bodyPr>
          <a:lstStyle/>
          <a:p>
            <a:r>
              <a:rPr lang="en-US" altLang="zh-CN" sz="2800" dirty="0" smtClean="0">
                <a:solidFill>
                  <a:srgbClr val="FFFF00"/>
                </a:solidFill>
              </a:rPr>
              <a:t>3</a:t>
            </a:r>
            <a:r>
              <a:rPr lang="zh-CN" altLang="en-US" sz="2800" dirty="0" smtClean="0">
                <a:solidFill>
                  <a:srgbClr val="FFFF00"/>
                </a:solidFill>
              </a:rPr>
              <a:t>）差别估算法</a:t>
            </a:r>
            <a:endParaRPr lang="en-US" altLang="zh-CN" sz="2800" dirty="0" smtClean="0">
              <a:solidFill>
                <a:srgbClr val="FFFF00"/>
              </a:solidFill>
            </a:endParaRPr>
          </a:p>
          <a:p>
            <a:pPr lvl="1"/>
            <a:r>
              <a:rPr lang="zh-CN" altLang="en-US" sz="2200" dirty="0" smtClean="0"/>
              <a:t>综合</a:t>
            </a:r>
            <a:r>
              <a:rPr lang="en-US" altLang="zh-CN" sz="2200" dirty="0" smtClean="0"/>
              <a:t>1</a:t>
            </a:r>
            <a:r>
              <a:rPr lang="zh-CN" altLang="en-US" sz="2200" dirty="0" smtClean="0"/>
              <a:t>）和</a:t>
            </a:r>
            <a:r>
              <a:rPr lang="en-US" altLang="zh-CN" sz="2200" dirty="0" smtClean="0"/>
              <a:t>2</a:t>
            </a:r>
            <a:r>
              <a:rPr lang="zh-CN" altLang="en-US" sz="2200" dirty="0" smtClean="0"/>
              <a:t>）两种方法的优点。其想法是把待开发的软件项目与过去已完成的软件项目进行类比，从其开发的各个子任务中区分出类似的部分和不同的部分。</a:t>
            </a:r>
            <a:endParaRPr lang="en-US" altLang="zh-CN" sz="2200" dirty="0" smtClean="0"/>
          </a:p>
          <a:p>
            <a:pPr lvl="1"/>
            <a:r>
              <a:rPr lang="zh-CN" altLang="en-US" sz="2200" dirty="0" smtClean="0"/>
              <a:t>类似的部分按实际量进行计算；不同的部分则采用相应的方法进行估算。</a:t>
            </a:r>
            <a:endParaRPr lang="en-US" altLang="zh-CN" sz="2200" dirty="0" smtClean="0"/>
          </a:p>
          <a:p>
            <a:pPr lvl="1"/>
            <a:r>
              <a:rPr lang="zh-CN" altLang="en-US" sz="2200" dirty="0" smtClean="0">
                <a:solidFill>
                  <a:srgbClr val="00B0F0"/>
                </a:solidFill>
              </a:rPr>
              <a:t>优点</a:t>
            </a:r>
            <a:r>
              <a:rPr lang="zh-CN" altLang="en-US" sz="2200" dirty="0" smtClean="0"/>
              <a:t>：提高估算的准确度；</a:t>
            </a:r>
            <a:endParaRPr lang="en-US" altLang="zh-CN" sz="2200" dirty="0" smtClean="0"/>
          </a:p>
          <a:p>
            <a:pPr lvl="1"/>
            <a:r>
              <a:rPr lang="zh-CN" altLang="en-US" sz="2200" dirty="0" smtClean="0">
                <a:solidFill>
                  <a:srgbClr val="00B0F0"/>
                </a:solidFill>
              </a:rPr>
              <a:t>缺点</a:t>
            </a:r>
            <a:r>
              <a:rPr lang="zh-CN" altLang="en-US" sz="2200" dirty="0" smtClean="0"/>
              <a:t>：不容易明确“类似”的界限。</a:t>
            </a:r>
            <a:endParaRPr lang="en-US" altLang="zh-CN" sz="2200" dirty="0" smtClean="0"/>
          </a:p>
          <a:p>
            <a:endParaRPr lang="en-US" altLang="zh-CN" sz="2800" dirty="0" smtClean="0"/>
          </a:p>
          <a:p>
            <a:r>
              <a:rPr lang="zh-CN" altLang="en-US" sz="2400" dirty="0" smtClean="0"/>
              <a:t>另外，开发成本估算模型通常采用经验公式来预测软件项目成本、工作量和进度。这些经验数据都是从有限的项目样本中得到的，需慎重使用。如</a:t>
            </a:r>
            <a:r>
              <a:rPr lang="en-US" altLang="zh-CN" sz="2400" dirty="0" smtClean="0"/>
              <a:t>IBM</a:t>
            </a:r>
            <a:r>
              <a:rPr lang="zh-CN" altLang="en-US" sz="2400" dirty="0" smtClean="0"/>
              <a:t>模型；</a:t>
            </a:r>
            <a:r>
              <a:rPr lang="en-US" altLang="zh-CN" sz="2400" dirty="0" smtClean="0"/>
              <a:t>Putnam</a:t>
            </a:r>
            <a:r>
              <a:rPr lang="zh-CN" altLang="en-US" sz="2400" dirty="0" smtClean="0"/>
              <a:t>模型；</a:t>
            </a:r>
            <a:r>
              <a:rPr lang="en-US" altLang="zh-CN" sz="2400" dirty="0" smtClean="0"/>
              <a:t>COCOMO</a:t>
            </a:r>
            <a:r>
              <a:rPr lang="zh-CN" altLang="en-US" sz="2400" dirty="0" smtClean="0"/>
              <a:t>模型等。</a:t>
            </a:r>
            <a:endParaRPr lang="en-US" altLang="zh-CN" sz="2400" dirty="0" smtClean="0"/>
          </a:p>
          <a:p>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4000" dirty="0" smtClean="0"/>
              <a:t>3</a:t>
            </a:r>
            <a:r>
              <a:rPr lang="zh-CN" altLang="en-US" sz="4000" dirty="0" smtClean="0"/>
              <a:t>、软件开发成本估算</a:t>
            </a:r>
            <a:r>
              <a:rPr lang="en-US" altLang="zh-CN" sz="4000" dirty="0" smtClean="0"/>
              <a:t>—</a:t>
            </a:r>
            <a:r>
              <a:rPr lang="zh-CN" altLang="en-US" sz="4000" dirty="0" smtClean="0">
                <a:solidFill>
                  <a:srgbClr val="FFC000"/>
                </a:solidFill>
              </a:rPr>
              <a:t>度量软件规模</a:t>
            </a:r>
            <a:endParaRPr lang="zh-CN" altLang="en-US" sz="4000" dirty="0"/>
          </a:p>
        </p:txBody>
      </p:sp>
      <p:sp>
        <p:nvSpPr>
          <p:cNvPr id="3" name="内容占位符 2"/>
          <p:cNvSpPr>
            <a:spLocks noGrp="1"/>
          </p:cNvSpPr>
          <p:nvPr>
            <p:ph idx="1"/>
          </p:nvPr>
        </p:nvSpPr>
        <p:spPr/>
        <p:txBody>
          <a:bodyPr>
            <a:normAutofit/>
          </a:bodyPr>
          <a:lstStyle/>
          <a:p>
            <a:r>
              <a:rPr lang="zh-CN" altLang="en-US" dirty="0" smtClean="0"/>
              <a:t>（</a:t>
            </a:r>
            <a:r>
              <a:rPr lang="en-US" altLang="zh-CN" dirty="0" smtClean="0"/>
              <a:t>1</a:t>
            </a:r>
            <a:r>
              <a:rPr lang="zh-CN" altLang="en-US" dirty="0" smtClean="0"/>
              <a:t>）代码行技术</a:t>
            </a:r>
            <a:endParaRPr lang="en-US" altLang="zh-CN" dirty="0" smtClean="0"/>
          </a:p>
          <a:p>
            <a:pPr lvl="1"/>
            <a:r>
              <a:rPr lang="en-US" altLang="zh-CN" dirty="0" smtClean="0"/>
              <a:t>LOC</a:t>
            </a:r>
            <a:r>
              <a:rPr lang="zh-CN" altLang="en-US" dirty="0" smtClean="0"/>
              <a:t>（</a:t>
            </a:r>
            <a:r>
              <a:rPr lang="en-US" altLang="zh-CN" dirty="0" smtClean="0"/>
              <a:t>KLOC</a:t>
            </a:r>
            <a:r>
              <a:rPr lang="zh-CN" altLang="en-US" dirty="0" smtClean="0"/>
              <a:t>）</a:t>
            </a:r>
            <a:r>
              <a:rPr lang="en-US" altLang="zh-CN" dirty="0" smtClean="0"/>
              <a:t>=(a+4m+c)/6</a:t>
            </a:r>
          </a:p>
          <a:p>
            <a:r>
              <a:rPr lang="zh-CN" altLang="en-US" dirty="0" smtClean="0"/>
              <a:t>（</a:t>
            </a:r>
            <a:r>
              <a:rPr lang="en-US" altLang="zh-CN" dirty="0" smtClean="0"/>
              <a:t>2</a:t>
            </a:r>
            <a:r>
              <a:rPr lang="zh-CN" altLang="en-US" dirty="0" smtClean="0"/>
              <a:t>）功能点技术</a:t>
            </a:r>
            <a:endParaRPr lang="en-US" altLang="zh-CN" dirty="0" smtClean="0"/>
          </a:p>
          <a:p>
            <a:pPr lvl="1"/>
            <a:r>
              <a:rPr lang="zh-CN" altLang="en-US" dirty="0" smtClean="0"/>
              <a:t>功能点（</a:t>
            </a:r>
            <a:r>
              <a:rPr lang="en-US" altLang="zh-CN" dirty="0" smtClean="0"/>
              <a:t>FP</a:t>
            </a:r>
            <a:r>
              <a:rPr lang="zh-CN" altLang="en-US" dirty="0" smtClean="0"/>
              <a:t>）</a:t>
            </a:r>
            <a:endParaRPr lang="en-US" altLang="zh-CN" dirty="0" smtClean="0"/>
          </a:p>
          <a:p>
            <a:pPr lvl="1"/>
            <a:r>
              <a:rPr lang="zh-CN" altLang="en-US" dirty="0" smtClean="0"/>
              <a:t>信息域的</a:t>
            </a:r>
            <a:r>
              <a:rPr lang="en-US" altLang="zh-CN" dirty="0" smtClean="0"/>
              <a:t>5</a:t>
            </a:r>
            <a:r>
              <a:rPr lang="zh-CN" altLang="en-US" dirty="0" smtClean="0"/>
              <a:t>个方面特性：</a:t>
            </a:r>
            <a:endParaRPr lang="en-US" altLang="zh-CN" dirty="0" smtClean="0"/>
          </a:p>
          <a:p>
            <a:pPr lvl="2"/>
            <a:r>
              <a:rPr lang="zh-CN" altLang="en-US" sz="2000" dirty="0" smtClean="0"/>
              <a:t>输入项数：用于给软件提供面向应用的数据</a:t>
            </a:r>
            <a:endParaRPr lang="en-US" altLang="zh-CN" sz="2000" dirty="0" smtClean="0"/>
          </a:p>
          <a:p>
            <a:pPr lvl="2"/>
            <a:r>
              <a:rPr lang="zh-CN" altLang="en-US" sz="2000" dirty="0" smtClean="0"/>
              <a:t>输出项数：软件向用户提供面向应用的信息，如报表、出错信息</a:t>
            </a:r>
            <a:endParaRPr lang="en-US" altLang="zh-CN" sz="2000" dirty="0" smtClean="0"/>
          </a:p>
          <a:p>
            <a:pPr lvl="2"/>
            <a:r>
              <a:rPr lang="zh-CN" altLang="en-US" sz="2000" dirty="0" smtClean="0"/>
              <a:t>查询数：查询导致软件产生某种即时响应</a:t>
            </a:r>
            <a:endParaRPr lang="en-US" altLang="zh-CN" sz="2000" dirty="0" smtClean="0"/>
          </a:p>
          <a:p>
            <a:pPr lvl="2"/>
            <a:r>
              <a:rPr lang="zh-CN" altLang="en-US" sz="2000" dirty="0" smtClean="0"/>
              <a:t>主文件数：如软件文档</a:t>
            </a:r>
            <a:endParaRPr lang="en-US" altLang="zh-CN" sz="2000" dirty="0" smtClean="0"/>
          </a:p>
          <a:p>
            <a:pPr lvl="2"/>
            <a:r>
              <a:rPr lang="zh-CN" altLang="en-US" sz="2000" dirty="0" smtClean="0"/>
              <a:t>外部接口数：用这些接口与外部系统发生交互</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checkerboard(across)">
                                      <p:cBhvr>
                                        <p:cTn id="10" dur="500"/>
                                        <p:tgtEl>
                                          <p:spTgt spid="3">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checkerboard(across)">
                                      <p:cBhvr>
                                        <p:cTn id="13" dur="500"/>
                                        <p:tgtEl>
                                          <p:spTgt spid="3">
                                            <p:txEl>
                                              <p:pRg st="4" end="4"/>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checkerboard(across)">
                                      <p:cBhvr>
                                        <p:cTn id="16" dur="500"/>
                                        <p:tgtEl>
                                          <p:spTgt spid="3">
                                            <p:txEl>
                                              <p:pRg st="5" end="5"/>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checkerboard(across)">
                                      <p:cBhvr>
                                        <p:cTn id="19" dur="500"/>
                                        <p:tgtEl>
                                          <p:spTgt spid="3">
                                            <p:txEl>
                                              <p:pRg st="6" end="6"/>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checkerboard(across)">
                                      <p:cBhvr>
                                        <p:cTn id="22" dur="500"/>
                                        <p:tgtEl>
                                          <p:spTgt spid="3">
                                            <p:txEl>
                                              <p:pRg st="7" end="7"/>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checkerboard(across)">
                                      <p:cBhvr>
                                        <p:cTn id="25" dur="500"/>
                                        <p:tgtEl>
                                          <p:spTgt spid="3">
                                            <p:txEl>
                                              <p:pRg st="8" end="8"/>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checkerboard(across)">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p:txBody>
          <a:bodyPr>
            <a:noAutofit/>
          </a:bodyPr>
          <a:lstStyle/>
          <a:p>
            <a:r>
              <a:rPr lang="zh-CN" altLang="en-US" sz="2400" dirty="0"/>
              <a:t>不论是对软件开发企业、还是对软件用户，</a:t>
            </a:r>
            <a:r>
              <a:rPr lang="zh-CN" altLang="en-US" sz="2400" dirty="0">
                <a:solidFill>
                  <a:srgbClr val="FFC000"/>
                </a:solidFill>
              </a:rPr>
              <a:t>软件规模度量</a:t>
            </a:r>
            <a:r>
              <a:rPr lang="zh-CN" altLang="en-US" sz="2400" dirty="0"/>
              <a:t>的重要性都是不容置疑的。因为它极大影响着甲方对发包产品的成本估算、乙方对自身开发成本的预测、乙方对开发过程的量化管理等诸多方面。</a:t>
            </a:r>
          </a:p>
          <a:p>
            <a:r>
              <a:rPr lang="zh-CN" altLang="en-US" sz="2400" dirty="0"/>
              <a:t>    </a:t>
            </a:r>
            <a:endParaRPr lang="en-US" altLang="zh-CN" sz="2400" dirty="0" smtClean="0"/>
          </a:p>
          <a:p>
            <a:r>
              <a:rPr lang="zh-CN" altLang="en-US" sz="2400" dirty="0" smtClean="0"/>
              <a:t>比如</a:t>
            </a:r>
            <a:r>
              <a:rPr lang="zh-CN" altLang="en-US" sz="2400" dirty="0"/>
              <a:t>，</a:t>
            </a:r>
            <a:r>
              <a:rPr lang="en-US" altLang="zh-CN" sz="2400" dirty="0"/>
              <a:t>A</a:t>
            </a:r>
            <a:r>
              <a:rPr lang="zh-CN" altLang="en-US" sz="2400" dirty="0"/>
              <a:t>软件项目的规模是</a:t>
            </a:r>
            <a:r>
              <a:rPr lang="en-US" altLang="zh-CN" sz="2400" dirty="0"/>
              <a:t>100</a:t>
            </a:r>
            <a:r>
              <a:rPr lang="zh-CN" altLang="en-US" sz="2400" dirty="0"/>
              <a:t>功能点，我们根据行业基准（</a:t>
            </a:r>
            <a:r>
              <a:rPr lang="en-US" altLang="zh-CN" sz="2400" dirty="0"/>
              <a:t>Benchmarking</a:t>
            </a:r>
            <a:r>
              <a:rPr lang="zh-CN" altLang="en-US" sz="2400" dirty="0"/>
              <a:t>）知道平均成本</a:t>
            </a:r>
            <a:r>
              <a:rPr lang="zh-CN" altLang="en-US" sz="2400" dirty="0" smtClean="0"/>
              <a:t>是</a:t>
            </a:r>
            <a:r>
              <a:rPr lang="en-US" altLang="zh-CN" sz="2400" dirty="0" smtClean="0"/>
              <a:t>1000</a:t>
            </a:r>
            <a:r>
              <a:rPr lang="zh-CN" altLang="en-US" sz="2400" dirty="0"/>
              <a:t>元</a:t>
            </a:r>
            <a:r>
              <a:rPr lang="en-US" altLang="zh-CN" sz="2400" dirty="0"/>
              <a:t>/</a:t>
            </a:r>
            <a:r>
              <a:rPr lang="zh-CN" altLang="en-US" sz="2400" dirty="0"/>
              <a:t>功能点，那么本项目的成本预测</a:t>
            </a:r>
            <a:r>
              <a:rPr lang="zh-CN" altLang="en-US" sz="2400" dirty="0" smtClean="0"/>
              <a:t>就是</a:t>
            </a:r>
            <a:r>
              <a:rPr lang="en-US" altLang="zh-CN" sz="2400" dirty="0"/>
              <a:t>2</a:t>
            </a:r>
            <a:r>
              <a:rPr lang="en-US" altLang="zh-CN" sz="2400" dirty="0" smtClean="0"/>
              <a:t>0</a:t>
            </a:r>
            <a:r>
              <a:rPr lang="zh-CN" altLang="en-US" sz="2400" dirty="0"/>
              <a:t>万元；我们又根据行业基准知道平均生产率</a:t>
            </a:r>
            <a:r>
              <a:rPr lang="zh-CN" altLang="en-US" sz="2400" dirty="0" smtClean="0"/>
              <a:t>为</a:t>
            </a:r>
            <a:r>
              <a:rPr lang="en-US" altLang="zh-CN" sz="2400" dirty="0" smtClean="0"/>
              <a:t>1</a:t>
            </a:r>
            <a:r>
              <a:rPr lang="zh-CN" altLang="en-US" sz="2400" dirty="0" smtClean="0"/>
              <a:t>功能</a:t>
            </a:r>
            <a:r>
              <a:rPr lang="zh-CN" altLang="en-US" sz="2400" dirty="0"/>
              <a:t>点</a:t>
            </a:r>
            <a:r>
              <a:rPr lang="en-US" altLang="zh-CN" sz="2400" dirty="0"/>
              <a:t>/</a:t>
            </a:r>
            <a:r>
              <a:rPr lang="zh-CN" altLang="en-US" sz="2400" dirty="0"/>
              <a:t>人天，则计算得到项目需要</a:t>
            </a:r>
            <a:r>
              <a:rPr lang="zh-CN" altLang="en-US" sz="2400" dirty="0" smtClean="0"/>
              <a:t>投入</a:t>
            </a:r>
            <a:r>
              <a:rPr lang="en-US" altLang="zh-CN" sz="2400" dirty="0" smtClean="0"/>
              <a:t>100</a:t>
            </a:r>
            <a:r>
              <a:rPr lang="zh-CN" altLang="en-US" sz="2400" dirty="0"/>
              <a:t>个人天的工作量，这些计算的结果将成为签定合同的依据和软件项目管理的基础。</a:t>
            </a:r>
            <a:endParaRPr lang="en-US" sz="2400" dirty="0"/>
          </a:p>
        </p:txBody>
      </p:sp>
    </p:spTree>
    <p:extLst>
      <p:ext uri="{BB962C8B-B14F-4D97-AF65-F5344CB8AC3E}">
        <p14:creationId xmlns:p14="http://schemas.microsoft.com/office/powerpoint/2010/main" val="34855350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p:txBody>
          <a:bodyPr>
            <a:normAutofit lnSpcReduction="10000"/>
          </a:bodyPr>
          <a:lstStyle/>
          <a:p>
            <a:r>
              <a:rPr lang="zh-CN" altLang="en-US" dirty="0"/>
              <a:t>功能点与代码行，作为两种度量方法已经长期并存又</a:t>
            </a:r>
            <a:r>
              <a:rPr lang="zh-CN" altLang="en-US" dirty="0" smtClean="0"/>
              <a:t>竞争。</a:t>
            </a:r>
            <a:endParaRPr lang="en-US" altLang="zh-CN" dirty="0" smtClean="0"/>
          </a:p>
          <a:p>
            <a:pPr lvl="1"/>
            <a:r>
              <a:rPr lang="zh-CN" altLang="en-US" dirty="0">
                <a:solidFill>
                  <a:srgbClr val="FFC000"/>
                </a:solidFill>
              </a:rPr>
              <a:t>代码行的支持者</a:t>
            </a:r>
            <a:r>
              <a:rPr lang="zh-CN" altLang="en-US" dirty="0"/>
              <a:t>认为，</a:t>
            </a:r>
            <a:r>
              <a:rPr lang="en-US" altLang="zh-CN" dirty="0"/>
              <a:t>LOC</a:t>
            </a:r>
            <a:r>
              <a:rPr lang="zh-CN" altLang="en-US" dirty="0"/>
              <a:t>是所有软件开发项目的生成品，</a:t>
            </a:r>
            <a:r>
              <a:rPr lang="zh-CN" altLang="en-US" dirty="0" smtClean="0"/>
              <a:t>并很</a:t>
            </a:r>
            <a:r>
              <a:rPr lang="zh-CN" altLang="en-US" dirty="0"/>
              <a:t>容易进行计算；许多现有的软件估算模型使用</a:t>
            </a:r>
            <a:r>
              <a:rPr lang="en-US" altLang="zh-CN" dirty="0"/>
              <a:t>LOC</a:t>
            </a:r>
            <a:r>
              <a:rPr lang="zh-CN" altLang="en-US" dirty="0"/>
              <a:t>作为输入，并且关于</a:t>
            </a:r>
            <a:r>
              <a:rPr lang="en-US" altLang="zh-CN" dirty="0"/>
              <a:t>LOC</a:t>
            </a:r>
            <a:r>
              <a:rPr lang="zh-CN" altLang="en-US" dirty="0"/>
              <a:t>已经有大量的文献数据</a:t>
            </a:r>
            <a:r>
              <a:rPr lang="zh-CN" altLang="en-US" dirty="0" smtClean="0"/>
              <a:t>。</a:t>
            </a:r>
            <a:endParaRPr lang="en-US" altLang="zh-CN" dirty="0" smtClean="0"/>
          </a:p>
          <a:p>
            <a:pPr lvl="1"/>
            <a:r>
              <a:rPr lang="zh-CN" altLang="en-US" dirty="0">
                <a:solidFill>
                  <a:srgbClr val="FFC000"/>
                </a:solidFill>
              </a:rPr>
              <a:t>代码行的反对者</a:t>
            </a:r>
            <a:r>
              <a:rPr lang="zh-CN" altLang="en-US" dirty="0"/>
              <a:t>认为，</a:t>
            </a:r>
            <a:r>
              <a:rPr lang="en-US" altLang="zh-CN" dirty="0"/>
              <a:t>LOC</a:t>
            </a:r>
            <a:r>
              <a:rPr lang="zh-CN" altLang="en-US" dirty="0"/>
              <a:t>测量依赖于程序设计语言；它们对</a:t>
            </a:r>
            <a:r>
              <a:rPr lang="zh-CN" altLang="en-US" dirty="0" smtClean="0"/>
              <a:t>设计得很好</a:t>
            </a:r>
            <a:r>
              <a:rPr lang="zh-CN" altLang="en-US" dirty="0"/>
              <a:t>但较小的程序会产生不利的评判；它们不适合于非过程语言；它们在估算时需要一些可能难以得到的信息（例如，在分析和设计之前，计划者就必须估算要产生的</a:t>
            </a:r>
            <a:r>
              <a:rPr lang="en-US" altLang="zh-CN" dirty="0"/>
              <a:t>LOC</a:t>
            </a:r>
            <a:r>
              <a:rPr lang="zh-CN" altLang="en-US" dirty="0"/>
              <a:t>）。</a:t>
            </a:r>
            <a:endParaRPr lang="en-US" dirty="0"/>
          </a:p>
        </p:txBody>
      </p:sp>
    </p:spTree>
    <p:extLst>
      <p:ext uri="{BB962C8B-B14F-4D97-AF65-F5344CB8AC3E}">
        <p14:creationId xmlns:p14="http://schemas.microsoft.com/office/powerpoint/2010/main" val="4845051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p>
        </p:txBody>
      </p:sp>
      <p:sp>
        <p:nvSpPr>
          <p:cNvPr id="3" name="内容占位符 2"/>
          <p:cNvSpPr>
            <a:spLocks noGrp="1"/>
          </p:cNvSpPr>
          <p:nvPr>
            <p:ph idx="1"/>
          </p:nvPr>
        </p:nvSpPr>
        <p:spPr/>
        <p:txBody>
          <a:bodyPr>
            <a:normAutofit/>
          </a:bodyPr>
          <a:lstStyle/>
          <a:p>
            <a:r>
              <a:rPr lang="zh-CN" altLang="en-US" sz="2800" dirty="0">
                <a:solidFill>
                  <a:srgbClr val="FFC000"/>
                </a:solidFill>
              </a:rPr>
              <a:t>功能点（及其扩展）的支持者</a:t>
            </a:r>
            <a:r>
              <a:rPr lang="zh-CN" altLang="en-US" sz="2800" dirty="0"/>
              <a:t>认为：</a:t>
            </a:r>
            <a:r>
              <a:rPr lang="en-US" altLang="zh-CN" sz="2800" dirty="0"/>
              <a:t>FP</a:t>
            </a:r>
            <a:r>
              <a:rPr lang="zh-CN" altLang="en-US" sz="2800" dirty="0"/>
              <a:t>和程序设计语言无关，使得它既适合于传统的语言，也可用于非过程语言；它是基于项目开发初期就可能得到的</a:t>
            </a:r>
            <a:r>
              <a:rPr lang="zh-CN" altLang="en-US" sz="2800" dirty="0" smtClean="0"/>
              <a:t>数据。</a:t>
            </a:r>
            <a:endParaRPr lang="en-US" altLang="zh-CN" sz="2800" dirty="0" smtClean="0"/>
          </a:p>
          <a:p>
            <a:r>
              <a:rPr lang="zh-CN" altLang="en-US" sz="2800" dirty="0">
                <a:solidFill>
                  <a:srgbClr val="FFC000"/>
                </a:solidFill>
              </a:rPr>
              <a:t>反对者声称</a:t>
            </a:r>
            <a:r>
              <a:rPr lang="zh-CN" altLang="en-US" sz="2800" dirty="0"/>
              <a:t>：该方法需要某种“人的技巧”，因为计算是基于主观的而非客观的数据</a:t>
            </a:r>
            <a:r>
              <a:rPr lang="zh-CN" altLang="en-US" sz="2800" dirty="0" smtClean="0"/>
              <a:t>；</a:t>
            </a:r>
            <a:r>
              <a:rPr lang="en-US" altLang="zh-CN" sz="2800" dirty="0" smtClean="0"/>
              <a:t>FP</a:t>
            </a:r>
            <a:r>
              <a:rPr lang="zh-CN" altLang="en-US" sz="2800" dirty="0"/>
              <a:t>没有直接的物理含义</a:t>
            </a:r>
            <a:r>
              <a:rPr lang="en-US" altLang="zh-CN" sz="2800" dirty="0"/>
              <a:t>— </a:t>
            </a:r>
            <a:r>
              <a:rPr lang="zh-CN" altLang="en-US" sz="2800" dirty="0"/>
              <a:t>它仅仅是个数据而已。</a:t>
            </a:r>
            <a:endParaRPr lang="en-US" sz="2800" dirty="0"/>
          </a:p>
        </p:txBody>
      </p:sp>
    </p:spTree>
    <p:extLst>
      <p:ext uri="{BB962C8B-B14F-4D97-AF65-F5344CB8AC3E}">
        <p14:creationId xmlns:p14="http://schemas.microsoft.com/office/powerpoint/2010/main" val="390965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5695845"/>
          </a:xfrm>
        </p:spPr>
        <p:txBody>
          <a:bodyPr>
            <a:noAutofit/>
          </a:bodyPr>
          <a:lstStyle/>
          <a:p>
            <a:r>
              <a:rPr lang="zh-CN" altLang="en-US" sz="2800" dirty="0"/>
              <a:t>最近的技术发展包括诸如</a:t>
            </a:r>
            <a:r>
              <a:rPr lang="zh-CN" altLang="en-US" sz="2800" dirty="0">
                <a:solidFill>
                  <a:srgbClr val="FFC000"/>
                </a:solidFill>
              </a:rPr>
              <a:t>可视化编程</a:t>
            </a:r>
            <a:r>
              <a:rPr lang="zh-CN" altLang="en-US" sz="2800" dirty="0"/>
              <a:t>工作的大量采用，</a:t>
            </a:r>
            <a:r>
              <a:rPr lang="zh-CN" altLang="en-US" sz="2800" dirty="0" smtClean="0"/>
              <a:t>以及</a:t>
            </a:r>
            <a:r>
              <a:rPr lang="zh-CN" altLang="en-US" sz="2800" dirty="0" smtClean="0">
                <a:solidFill>
                  <a:srgbClr val="FFC000"/>
                </a:solidFill>
              </a:rPr>
              <a:t>模板库</a:t>
            </a:r>
            <a:r>
              <a:rPr lang="zh-CN" altLang="en-US" sz="2800" dirty="0">
                <a:solidFill>
                  <a:srgbClr val="FFC000"/>
                </a:solidFill>
              </a:rPr>
              <a:t>、类库</a:t>
            </a:r>
            <a:r>
              <a:rPr lang="zh-CN" altLang="en-US" sz="2800" dirty="0"/>
              <a:t>的广泛采用，在程序的结果中有大量的自动生成的代码、复杂的</a:t>
            </a:r>
            <a:r>
              <a:rPr lang="zh-CN" altLang="en-US" sz="2800" dirty="0">
                <a:solidFill>
                  <a:srgbClr val="FFC000"/>
                </a:solidFill>
              </a:rPr>
              <a:t>自动配置脚本或资源文件设置</a:t>
            </a:r>
            <a:r>
              <a:rPr lang="zh-CN" altLang="en-US" sz="2800" dirty="0"/>
              <a:t>，在采用这些工具的项目中，用</a:t>
            </a:r>
            <a:r>
              <a:rPr lang="en-US" altLang="zh-CN" sz="2800" dirty="0"/>
              <a:t>LOC</a:t>
            </a:r>
            <a:r>
              <a:rPr lang="zh-CN" altLang="en-US" sz="2800" dirty="0"/>
              <a:t>分析方法得到的数据的意义已经大大降低</a:t>
            </a:r>
            <a:r>
              <a:rPr lang="zh-CN" altLang="en-US" sz="2800" dirty="0" smtClean="0"/>
              <a:t>了。</a:t>
            </a:r>
            <a:endParaRPr lang="en-US" altLang="zh-CN" sz="2800" dirty="0" smtClean="0"/>
          </a:p>
          <a:p>
            <a:r>
              <a:rPr lang="zh-CN" altLang="en-US" sz="2800" dirty="0"/>
              <a:t>从产业商业模式来看，</a:t>
            </a:r>
            <a:r>
              <a:rPr lang="zh-CN" altLang="en-US" sz="2800" dirty="0">
                <a:solidFill>
                  <a:srgbClr val="FFC000"/>
                </a:solidFill>
              </a:rPr>
              <a:t>软件工程化分工加剧</a:t>
            </a:r>
            <a:r>
              <a:rPr lang="zh-CN" altLang="en-US" sz="2800" dirty="0"/>
              <a:t>，上下游组织之间在业务管理和开发技术方面的的沟通需要更加标准化的度量语言。而实际上，</a:t>
            </a:r>
            <a:r>
              <a:rPr lang="en-US" altLang="zh-CN" sz="2800" dirty="0" smtClean="0"/>
              <a:t>LOC</a:t>
            </a:r>
            <a:r>
              <a:rPr lang="zh-CN" altLang="en-US" sz="2800" dirty="0" smtClean="0"/>
              <a:t>没有</a:t>
            </a:r>
            <a:r>
              <a:rPr lang="zh-CN" altLang="en-US" sz="2800" dirty="0"/>
              <a:t>在满足客户需求方面有什么重大意义，代码行数对客户来说没有什么实际意义，客户关心的是“功能”</a:t>
            </a:r>
            <a:r>
              <a:rPr lang="zh-CN" altLang="en-US" sz="2800" dirty="0" smtClean="0"/>
              <a:t>。</a:t>
            </a:r>
            <a:endParaRPr lang="en-US" altLang="zh-CN" sz="2800" dirty="0" smtClean="0"/>
          </a:p>
          <a:p>
            <a:r>
              <a:rPr lang="en-US" altLang="zh-CN" sz="2800" dirty="0"/>
              <a:t>LOC</a:t>
            </a:r>
            <a:r>
              <a:rPr lang="zh-CN" altLang="en-US" sz="2800" dirty="0"/>
              <a:t>在帮助</a:t>
            </a:r>
            <a:r>
              <a:rPr lang="zh-CN" altLang="en-US" sz="2800" dirty="0">
                <a:solidFill>
                  <a:srgbClr val="FFC000"/>
                </a:solidFill>
              </a:rPr>
              <a:t>管理者开展项目管理</a:t>
            </a:r>
            <a:r>
              <a:rPr lang="zh-CN" altLang="en-US" sz="2800" dirty="0"/>
              <a:t>方面也差强人意，</a:t>
            </a:r>
            <a:r>
              <a:rPr lang="en-US" altLang="zh-CN" sz="2800" dirty="0"/>
              <a:t>LOC</a:t>
            </a:r>
            <a:r>
              <a:rPr lang="zh-CN" altLang="en-US" sz="2800" dirty="0"/>
              <a:t>只是对技术人员有一定</a:t>
            </a:r>
            <a:r>
              <a:rPr lang="zh-CN" altLang="en-US" sz="2800" dirty="0" smtClean="0"/>
              <a:t>意义。</a:t>
            </a:r>
            <a:endParaRPr lang="en-US" sz="2800" dirty="0"/>
          </a:p>
        </p:txBody>
      </p:sp>
    </p:spTree>
    <p:extLst>
      <p:ext uri="{BB962C8B-B14F-4D97-AF65-F5344CB8AC3E}">
        <p14:creationId xmlns:p14="http://schemas.microsoft.com/office/powerpoint/2010/main" val="40688793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4</a:t>
            </a:r>
            <a:r>
              <a:rPr lang="zh-CN" altLang="en-US" sz="4000" dirty="0" smtClean="0"/>
              <a:t>、风险分析</a:t>
            </a:r>
            <a:endParaRPr lang="zh-CN" altLang="en-US" sz="4000" dirty="0"/>
          </a:p>
        </p:txBody>
      </p:sp>
      <p:sp>
        <p:nvSpPr>
          <p:cNvPr id="3" name="内容占位符 2"/>
          <p:cNvSpPr>
            <a:spLocks noGrp="1"/>
          </p:cNvSpPr>
          <p:nvPr>
            <p:ph idx="1"/>
          </p:nvPr>
        </p:nvSpPr>
        <p:spPr>
          <a:xfrm>
            <a:off x="323528" y="1646237"/>
            <a:ext cx="8712968" cy="4526280"/>
          </a:xfrm>
        </p:spPr>
        <p:txBody>
          <a:bodyPr>
            <a:noAutofit/>
          </a:bodyPr>
          <a:lstStyle/>
          <a:p>
            <a:r>
              <a:rPr lang="zh-CN" altLang="en-US" sz="2800" dirty="0" smtClean="0"/>
              <a:t>软件风险特点：</a:t>
            </a:r>
            <a:endParaRPr lang="en-US" altLang="zh-CN" sz="2800" dirty="0" smtClean="0"/>
          </a:p>
          <a:p>
            <a:pPr lvl="1"/>
            <a:r>
              <a:rPr lang="zh-CN" altLang="en-US" sz="2800" dirty="0" smtClean="0"/>
              <a:t>不确定性：标志风险的事件可能发生也可能不发生</a:t>
            </a:r>
            <a:endParaRPr lang="en-US" altLang="zh-CN" sz="2800" dirty="0" smtClean="0"/>
          </a:p>
          <a:p>
            <a:pPr lvl="1"/>
            <a:r>
              <a:rPr lang="zh-CN" altLang="en-US" sz="2800" dirty="0" smtClean="0"/>
              <a:t>损失：如果风险变成了现实，就会造成不好的后果或损失</a:t>
            </a:r>
            <a:endParaRPr lang="en-US" altLang="zh-CN" sz="2800" dirty="0" smtClean="0"/>
          </a:p>
          <a:p>
            <a:r>
              <a:rPr lang="zh-CN" altLang="en-US" sz="2800" dirty="0" smtClean="0"/>
              <a:t>风险分析包含如下四个不同的活动：</a:t>
            </a:r>
            <a:endParaRPr lang="en-US" altLang="zh-CN" sz="2800" dirty="0" smtClean="0"/>
          </a:p>
          <a:p>
            <a:pPr lvl="1"/>
            <a:r>
              <a:rPr lang="zh-CN" altLang="en-US" sz="2800" b="1" dirty="0" smtClean="0">
                <a:solidFill>
                  <a:srgbClr val="00B0F0"/>
                </a:solidFill>
              </a:rPr>
              <a:t>风险识别</a:t>
            </a:r>
            <a:endParaRPr lang="en-US" altLang="zh-CN" sz="2800" b="1" dirty="0" smtClean="0">
              <a:solidFill>
                <a:srgbClr val="00B0F0"/>
              </a:solidFill>
            </a:endParaRPr>
          </a:p>
          <a:p>
            <a:pPr lvl="1"/>
            <a:r>
              <a:rPr lang="zh-CN" altLang="en-US" sz="2800" b="1" dirty="0" smtClean="0">
                <a:solidFill>
                  <a:srgbClr val="00B0F0"/>
                </a:solidFill>
              </a:rPr>
              <a:t>风险估算</a:t>
            </a:r>
            <a:endParaRPr lang="en-US" altLang="zh-CN" sz="2800" b="1" dirty="0" smtClean="0">
              <a:solidFill>
                <a:srgbClr val="00B0F0"/>
              </a:solidFill>
            </a:endParaRPr>
          </a:p>
          <a:p>
            <a:pPr lvl="1"/>
            <a:r>
              <a:rPr lang="zh-CN" altLang="en-US" sz="2800" b="1" dirty="0" smtClean="0">
                <a:solidFill>
                  <a:srgbClr val="00B0F0"/>
                </a:solidFill>
              </a:rPr>
              <a:t>风险评价</a:t>
            </a:r>
            <a:endParaRPr lang="en-US" altLang="zh-CN" sz="2800" b="1" dirty="0" smtClean="0">
              <a:solidFill>
                <a:srgbClr val="00B0F0"/>
              </a:solidFill>
            </a:endParaRPr>
          </a:p>
          <a:p>
            <a:pPr lvl="1"/>
            <a:r>
              <a:rPr lang="zh-CN" altLang="en-US" sz="2800" b="1" dirty="0" smtClean="0">
                <a:solidFill>
                  <a:srgbClr val="00B0F0"/>
                </a:solidFill>
              </a:rPr>
              <a:t>风险驾驭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linds(horizontal)">
                                      <p:cBhvr>
                                        <p:cTn id="1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4</a:t>
            </a:r>
            <a:r>
              <a:rPr lang="zh-CN" altLang="en-US" sz="4000" dirty="0" smtClean="0"/>
              <a:t>、风险分析</a:t>
            </a:r>
            <a:endParaRPr lang="zh-CN" altLang="en-US" sz="3600" dirty="0">
              <a:solidFill>
                <a:srgbClr val="FFC000"/>
              </a:solidFill>
            </a:endParaRPr>
          </a:p>
        </p:txBody>
      </p:sp>
      <p:sp>
        <p:nvSpPr>
          <p:cNvPr id="3" name="内容占位符 2"/>
          <p:cNvSpPr>
            <a:spLocks noGrp="1"/>
          </p:cNvSpPr>
          <p:nvPr>
            <p:ph idx="1"/>
          </p:nvPr>
        </p:nvSpPr>
        <p:spPr/>
        <p:txBody>
          <a:bodyPr>
            <a:normAutofit/>
          </a:bodyPr>
          <a:lstStyle/>
          <a:p>
            <a:r>
              <a:rPr lang="zh-CN" altLang="en-US" sz="2800" dirty="0" smtClean="0"/>
              <a:t>风险分为项目风险、技术风险、商业风险。</a:t>
            </a:r>
            <a:endParaRPr lang="en-US" altLang="zh-CN" sz="2800" dirty="0" smtClean="0"/>
          </a:p>
          <a:p>
            <a:pPr lvl="1"/>
            <a:r>
              <a:rPr lang="zh-CN" altLang="en-US" sz="2200" dirty="0" smtClean="0">
                <a:solidFill>
                  <a:srgbClr val="FFC000"/>
                </a:solidFill>
              </a:rPr>
              <a:t>项目风险</a:t>
            </a:r>
            <a:r>
              <a:rPr lang="zh-CN" altLang="en-US" sz="2200" dirty="0" smtClean="0"/>
              <a:t>：潜在的预算、进度、个人（包括人员和组织）、资源、用户、需求方面的问题；这类风险威胁项目计划。</a:t>
            </a:r>
            <a:endParaRPr lang="en-US" altLang="zh-CN" sz="2200" dirty="0" smtClean="0"/>
          </a:p>
          <a:p>
            <a:pPr lvl="1"/>
            <a:r>
              <a:rPr lang="zh-CN" altLang="en-US" sz="2200" dirty="0" smtClean="0">
                <a:solidFill>
                  <a:srgbClr val="FFC000"/>
                </a:solidFill>
              </a:rPr>
              <a:t>技术风险</a:t>
            </a:r>
            <a:r>
              <a:rPr lang="zh-CN" altLang="en-US" sz="2200" dirty="0" smtClean="0"/>
              <a:t>：潜在的设计、实现、接口、检验和维护方面的问题。之所以存在技术风险是由于软件开发中总会有意想不到的技术问题出现。威胁软件产品的质量和交付时间。</a:t>
            </a:r>
            <a:endParaRPr lang="en-US" altLang="zh-CN" sz="2200" dirty="0" smtClean="0"/>
          </a:p>
          <a:p>
            <a:pPr lvl="1"/>
            <a:r>
              <a:rPr lang="zh-CN" altLang="en-US" sz="2200" dirty="0" smtClean="0">
                <a:solidFill>
                  <a:srgbClr val="FFC000"/>
                </a:solidFill>
              </a:rPr>
              <a:t>商业风险</a:t>
            </a:r>
            <a:r>
              <a:rPr lang="zh-CN" altLang="en-US" sz="2200" dirty="0" smtClean="0"/>
              <a:t>：包括（</a:t>
            </a:r>
            <a:r>
              <a:rPr lang="en-US" altLang="zh-CN" sz="2200" dirty="0" smtClean="0"/>
              <a:t>1</a:t>
            </a:r>
            <a:r>
              <a:rPr lang="zh-CN" altLang="en-US" sz="2200" dirty="0" smtClean="0"/>
              <a:t>）软件虽然优秀但不是真正想要的；（</a:t>
            </a:r>
            <a:r>
              <a:rPr lang="en-US" altLang="zh-CN" sz="2200" dirty="0" smtClean="0"/>
              <a:t>2</a:t>
            </a:r>
            <a:r>
              <a:rPr lang="zh-CN" altLang="en-US" sz="2200" dirty="0" smtClean="0"/>
              <a:t>）软件不适用产品策略；（</a:t>
            </a:r>
            <a:r>
              <a:rPr lang="en-US" altLang="zh-CN" sz="2200" dirty="0" smtClean="0"/>
              <a:t>3</a:t>
            </a:r>
            <a:r>
              <a:rPr lang="zh-CN" altLang="en-US" sz="2200" dirty="0" smtClean="0"/>
              <a:t>）销售不利；（</a:t>
            </a:r>
            <a:r>
              <a:rPr lang="en-US" altLang="zh-CN" sz="2200" dirty="0" smtClean="0"/>
              <a:t>4</a:t>
            </a:r>
            <a:r>
              <a:rPr lang="zh-CN" altLang="en-US" sz="2200" dirty="0" smtClean="0"/>
              <a:t>）失去上级支持；（</a:t>
            </a:r>
            <a:r>
              <a:rPr lang="en-US" altLang="zh-CN" sz="2200" dirty="0" smtClean="0"/>
              <a:t>5</a:t>
            </a:r>
            <a:r>
              <a:rPr lang="zh-CN" altLang="en-US" sz="2200" dirty="0" smtClean="0"/>
              <a:t>）失去预算的承诺；（</a:t>
            </a:r>
            <a:r>
              <a:rPr lang="en-US" altLang="zh-CN" sz="2200" dirty="0" smtClean="0"/>
              <a:t>6</a:t>
            </a:r>
            <a:r>
              <a:rPr lang="zh-CN" altLang="en-US" sz="2200" dirty="0" smtClean="0"/>
              <a:t>）最终用户的水平。</a:t>
            </a:r>
            <a:endParaRPr lang="en-US" altLang="zh-CN" sz="2200" dirty="0" smtClean="0"/>
          </a:p>
          <a:p>
            <a:r>
              <a:rPr lang="zh-CN" altLang="en-US" sz="2800" dirty="0" smtClean="0"/>
              <a:t>可通过“风险项目检查表”列出所有可能的与风险有关的提问，并给出确定的答案。</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5</a:t>
            </a:r>
            <a:r>
              <a:rPr lang="zh-CN" altLang="en-US" sz="4000" dirty="0" smtClean="0"/>
              <a:t>、进度安排</a:t>
            </a:r>
            <a:endParaRPr lang="zh-CN" altLang="en-US" sz="4000" dirty="0"/>
          </a:p>
        </p:txBody>
      </p:sp>
      <p:sp>
        <p:nvSpPr>
          <p:cNvPr id="3" name="内容占位符 2"/>
          <p:cNvSpPr>
            <a:spLocks noGrp="1"/>
          </p:cNvSpPr>
          <p:nvPr>
            <p:ph idx="1"/>
          </p:nvPr>
        </p:nvSpPr>
        <p:spPr/>
        <p:txBody>
          <a:bodyPr>
            <a:normAutofit/>
          </a:bodyPr>
          <a:lstStyle/>
          <a:p>
            <a:r>
              <a:rPr lang="zh-CN" altLang="en-US" sz="2800" dirty="0" smtClean="0"/>
              <a:t>有两种考虑方式：</a:t>
            </a:r>
            <a:endParaRPr lang="en-US" altLang="zh-CN" sz="2800" dirty="0" smtClean="0"/>
          </a:p>
          <a:p>
            <a:pPr lvl="1"/>
            <a:r>
              <a:rPr lang="en-US" altLang="zh-CN" sz="2400" dirty="0" smtClean="0"/>
              <a:t>1</a:t>
            </a:r>
            <a:r>
              <a:rPr lang="zh-CN" altLang="en-US" sz="2400" dirty="0" smtClean="0"/>
              <a:t>、系统最终交付日期已经确定，软件开发部门必须在规定期限内完成；</a:t>
            </a:r>
            <a:endParaRPr lang="en-US" altLang="zh-CN" sz="2400" dirty="0" smtClean="0"/>
          </a:p>
          <a:p>
            <a:pPr lvl="1"/>
            <a:r>
              <a:rPr lang="en-US" altLang="zh-CN" sz="2400" dirty="0" smtClean="0"/>
              <a:t>2</a:t>
            </a:r>
            <a:r>
              <a:rPr lang="zh-CN" altLang="en-US" sz="2400" dirty="0" smtClean="0"/>
              <a:t>、系统最终交付日期只确定了大致的年限，最后交付日期由软件开发部门确定。</a:t>
            </a:r>
            <a:endParaRPr lang="en-US" altLang="zh-CN" sz="2400" dirty="0" smtClean="0"/>
          </a:p>
          <a:p>
            <a:r>
              <a:rPr lang="zh-CN" altLang="en-US" sz="3000" dirty="0" smtClean="0">
                <a:solidFill>
                  <a:srgbClr val="FFC000"/>
                </a:solidFill>
              </a:rPr>
              <a:t>一、软件开发小组人数与软件生产率</a:t>
            </a:r>
            <a:endParaRPr lang="en-US" altLang="zh-CN" sz="3000" dirty="0" smtClean="0">
              <a:solidFill>
                <a:srgbClr val="FFC000"/>
              </a:solidFill>
            </a:endParaRPr>
          </a:p>
          <a:p>
            <a:pPr lvl="1"/>
            <a:r>
              <a:rPr lang="zh-CN" altLang="en-US" sz="2400" dirty="0" smtClean="0"/>
              <a:t>往往是成反比的；</a:t>
            </a:r>
            <a:endParaRPr lang="en-US" altLang="zh-CN" sz="2400" dirty="0" smtClean="0"/>
          </a:p>
          <a:p>
            <a:pPr lvl="1"/>
            <a:r>
              <a:rPr lang="en-US" altLang="zh-CN" sz="2400" dirty="0" smtClean="0"/>
              <a:t>2 ~ 8</a:t>
            </a:r>
            <a:r>
              <a:rPr lang="zh-CN" altLang="en-US" sz="2400" dirty="0" smtClean="0"/>
              <a:t>人为宜。</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5</a:t>
            </a:r>
            <a:r>
              <a:rPr lang="zh-CN" altLang="en-US" sz="4000" dirty="0" smtClean="0"/>
              <a:t>、进度安排</a:t>
            </a:r>
            <a:endParaRPr lang="zh-CN" altLang="en-US" sz="4000" dirty="0"/>
          </a:p>
        </p:txBody>
      </p:sp>
      <p:sp>
        <p:nvSpPr>
          <p:cNvPr id="3" name="内容占位符 2"/>
          <p:cNvSpPr>
            <a:spLocks noGrp="1"/>
          </p:cNvSpPr>
          <p:nvPr>
            <p:ph idx="1"/>
          </p:nvPr>
        </p:nvSpPr>
        <p:spPr/>
        <p:txBody>
          <a:bodyPr>
            <a:normAutofit lnSpcReduction="10000"/>
          </a:bodyPr>
          <a:lstStyle/>
          <a:p>
            <a:r>
              <a:rPr lang="zh-CN" altLang="en-US" sz="3000" dirty="0" smtClean="0">
                <a:solidFill>
                  <a:srgbClr val="FFC000"/>
                </a:solidFill>
              </a:rPr>
              <a:t>二、任务的确定与并行性</a:t>
            </a:r>
            <a:endParaRPr lang="en-US" altLang="zh-CN" sz="3000" dirty="0" smtClean="0">
              <a:solidFill>
                <a:srgbClr val="FFC000"/>
              </a:solidFill>
            </a:endParaRPr>
          </a:p>
          <a:p>
            <a:pPr lvl="1"/>
            <a:r>
              <a:rPr lang="zh-CN" altLang="en-US" sz="2400" dirty="0" smtClean="0"/>
              <a:t>项目负责人的一个重要任务就是要时刻注意关键路径的任务。</a:t>
            </a:r>
            <a:endParaRPr lang="en-US" altLang="zh-CN" sz="2400" dirty="0" smtClean="0"/>
          </a:p>
          <a:p>
            <a:r>
              <a:rPr lang="zh-CN" altLang="en-US" sz="3000" dirty="0" smtClean="0">
                <a:solidFill>
                  <a:srgbClr val="FFC000"/>
                </a:solidFill>
              </a:rPr>
              <a:t>三、制定开发进度计划</a:t>
            </a:r>
            <a:endParaRPr lang="en-US" altLang="zh-CN" sz="3000" dirty="0" smtClean="0">
              <a:solidFill>
                <a:srgbClr val="FFC000"/>
              </a:solidFill>
            </a:endParaRPr>
          </a:p>
          <a:p>
            <a:pPr lvl="1"/>
            <a:r>
              <a:rPr lang="en-US" altLang="zh-CN" sz="2400" dirty="0" smtClean="0"/>
              <a:t>40 – 20 – 40</a:t>
            </a:r>
            <a:r>
              <a:rPr lang="zh-CN" altLang="en-US" sz="2400" dirty="0" smtClean="0"/>
              <a:t>规则：编码前 </a:t>
            </a:r>
            <a:r>
              <a:rPr lang="en-US" altLang="zh-CN" sz="2400" dirty="0" smtClean="0"/>
              <a:t>– </a:t>
            </a:r>
            <a:r>
              <a:rPr lang="zh-CN" altLang="en-US" sz="2400" dirty="0" smtClean="0"/>
              <a:t>编码 </a:t>
            </a:r>
            <a:r>
              <a:rPr lang="en-US" altLang="zh-CN" sz="2400" dirty="0" smtClean="0"/>
              <a:t>– </a:t>
            </a:r>
            <a:r>
              <a:rPr lang="zh-CN" altLang="en-US" sz="2400" dirty="0" smtClean="0"/>
              <a:t>编码后；</a:t>
            </a:r>
            <a:endParaRPr lang="en-US" altLang="zh-CN" sz="2400" dirty="0" smtClean="0"/>
          </a:p>
          <a:p>
            <a:pPr lvl="1"/>
            <a:r>
              <a:rPr lang="zh-CN" altLang="en-US" sz="2400" dirty="0" smtClean="0"/>
              <a:t>另：</a:t>
            </a:r>
            <a:endParaRPr lang="en-US" altLang="zh-CN" sz="2400" dirty="0" smtClean="0"/>
          </a:p>
          <a:p>
            <a:pPr lvl="2"/>
            <a:r>
              <a:rPr lang="zh-CN" altLang="en-US" sz="2400" dirty="0" smtClean="0"/>
              <a:t>计划阶段</a:t>
            </a:r>
            <a:r>
              <a:rPr lang="en-US" altLang="zh-CN" sz="2400" dirty="0" smtClean="0"/>
              <a:t>2 - 3%</a:t>
            </a:r>
            <a:r>
              <a:rPr lang="zh-CN" altLang="en-US" sz="2400" dirty="0" smtClean="0"/>
              <a:t>；</a:t>
            </a:r>
            <a:endParaRPr lang="en-US" altLang="zh-CN" sz="2400" dirty="0" smtClean="0"/>
          </a:p>
          <a:p>
            <a:pPr lvl="2"/>
            <a:r>
              <a:rPr lang="zh-CN" altLang="en-US" sz="2400" dirty="0" smtClean="0"/>
              <a:t>需求分析</a:t>
            </a:r>
            <a:r>
              <a:rPr lang="en-US" altLang="zh-CN" sz="2400" dirty="0" smtClean="0"/>
              <a:t>10–25%</a:t>
            </a:r>
            <a:r>
              <a:rPr lang="zh-CN" altLang="en-US" sz="2400" dirty="0" smtClean="0"/>
              <a:t>；</a:t>
            </a:r>
            <a:endParaRPr lang="en-US" altLang="zh-CN" sz="2400" dirty="0" smtClean="0"/>
          </a:p>
          <a:p>
            <a:pPr lvl="2"/>
            <a:r>
              <a:rPr lang="zh-CN" altLang="en-US" sz="2400" dirty="0" smtClean="0"/>
              <a:t>设计</a:t>
            </a:r>
            <a:r>
              <a:rPr lang="en-US" altLang="zh-CN" sz="2400" dirty="0" smtClean="0"/>
              <a:t>20–25%</a:t>
            </a:r>
            <a:r>
              <a:rPr lang="zh-CN" altLang="en-US" sz="2400" dirty="0" smtClean="0"/>
              <a:t>；</a:t>
            </a:r>
            <a:endParaRPr lang="en-US" altLang="zh-CN" sz="2400" dirty="0" smtClean="0"/>
          </a:p>
          <a:p>
            <a:pPr lvl="2"/>
            <a:r>
              <a:rPr lang="zh-CN" altLang="en-US" sz="2400" dirty="0" smtClean="0"/>
              <a:t>编码</a:t>
            </a:r>
            <a:r>
              <a:rPr lang="en-US" altLang="zh-CN" sz="2400" dirty="0" smtClean="0"/>
              <a:t>15-20%</a:t>
            </a:r>
            <a:r>
              <a:rPr lang="zh-CN" altLang="en-US" sz="2400" dirty="0" smtClean="0"/>
              <a:t>；</a:t>
            </a:r>
            <a:endParaRPr lang="en-US" altLang="zh-CN" sz="2400" dirty="0" smtClean="0"/>
          </a:p>
          <a:p>
            <a:pPr lvl="2"/>
            <a:r>
              <a:rPr lang="zh-CN" altLang="en-US" sz="2400" dirty="0" smtClean="0"/>
              <a:t>测试及调试</a:t>
            </a:r>
            <a:r>
              <a:rPr lang="en-US" altLang="zh-CN" sz="2400" dirty="0" smtClean="0"/>
              <a:t>30-40%</a:t>
            </a:r>
            <a:r>
              <a:rPr lang="zh-CN" altLang="en-US" sz="2400" dirty="0" smtClean="0"/>
              <a:t>。</a:t>
            </a:r>
            <a:endParaRPr lang="en-US" altLang="zh-CN" sz="2400" dirty="0" smtClean="0"/>
          </a:p>
          <a:p>
            <a:pPr lvl="1"/>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5</a:t>
            </a:r>
            <a:r>
              <a:rPr lang="zh-CN" altLang="en-US" sz="4000" dirty="0" smtClean="0"/>
              <a:t>、进度安排</a:t>
            </a:r>
            <a:endParaRPr lang="zh-CN" altLang="en-US" sz="4000" dirty="0"/>
          </a:p>
        </p:txBody>
      </p:sp>
      <p:sp>
        <p:nvSpPr>
          <p:cNvPr id="3" name="内容占位符 2"/>
          <p:cNvSpPr>
            <a:spLocks noGrp="1"/>
          </p:cNvSpPr>
          <p:nvPr>
            <p:ph idx="1"/>
          </p:nvPr>
        </p:nvSpPr>
        <p:spPr/>
        <p:txBody>
          <a:bodyPr>
            <a:normAutofit/>
          </a:bodyPr>
          <a:lstStyle/>
          <a:p>
            <a:r>
              <a:rPr lang="zh-CN" altLang="en-US" sz="3000" dirty="0" smtClean="0"/>
              <a:t>四、进度安排的图形化方法</a:t>
            </a:r>
            <a:endParaRPr lang="en-US" altLang="zh-CN" sz="3000" dirty="0" smtClean="0"/>
          </a:p>
          <a:p>
            <a:pPr lvl="1"/>
            <a:r>
              <a:rPr lang="zh-CN" altLang="en-US" sz="2400" dirty="0" smtClean="0"/>
              <a:t>常用的有表格法和图形法。</a:t>
            </a:r>
            <a:endParaRPr lang="en-US" altLang="zh-CN" sz="2400" dirty="0" smtClean="0"/>
          </a:p>
          <a:p>
            <a:pPr lvl="1"/>
            <a:r>
              <a:rPr lang="zh-CN" altLang="en-US" sz="2400" dirty="0" smtClean="0"/>
              <a:t>甘特图（</a:t>
            </a:r>
            <a:r>
              <a:rPr lang="en-US" altLang="zh-CN" sz="2400" dirty="0" smtClean="0"/>
              <a:t>Gantt Chart</a:t>
            </a:r>
            <a:r>
              <a:rPr lang="zh-CN" altLang="en-US" sz="2400" dirty="0" smtClean="0"/>
              <a:t>）是常用的多任务安排工具。用水平线表示任务的工作阶段，用垂直线表示当前的执行情况；线段的起点和终点分别对应着任务的开工时间和完成时间；线段的长度表示完成任务所需的时间。</a:t>
            </a:r>
            <a:endParaRPr lang="en-US" altLang="zh-CN" sz="2400" dirty="0" smtClean="0"/>
          </a:p>
          <a:p>
            <a:endParaRPr lang="zh-CN" altLang="en-US" sz="2400" dirty="0"/>
          </a:p>
        </p:txBody>
      </p:sp>
      <p:pic>
        <p:nvPicPr>
          <p:cNvPr id="1026" name="Picture 2"/>
          <p:cNvPicPr>
            <a:picLocks noChangeAspect="1" noChangeArrowheads="1"/>
          </p:cNvPicPr>
          <p:nvPr/>
        </p:nvPicPr>
        <p:blipFill>
          <a:blip r:embed="rId2"/>
          <a:srcRect/>
          <a:stretch>
            <a:fillRect/>
          </a:stretch>
        </p:blipFill>
        <p:spPr bwMode="auto">
          <a:xfrm>
            <a:off x="2285984" y="1571612"/>
            <a:ext cx="5143536" cy="500698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5</a:t>
            </a:r>
            <a:r>
              <a:rPr lang="zh-CN" altLang="en-US" sz="4000" dirty="0" smtClean="0"/>
              <a:t>、进度安排</a:t>
            </a:r>
            <a:endParaRPr lang="zh-CN" altLang="en-US" sz="4000" dirty="0"/>
          </a:p>
        </p:txBody>
      </p:sp>
      <p:sp>
        <p:nvSpPr>
          <p:cNvPr id="3" name="内容占位符 2"/>
          <p:cNvSpPr>
            <a:spLocks noGrp="1"/>
          </p:cNvSpPr>
          <p:nvPr>
            <p:ph idx="1"/>
          </p:nvPr>
        </p:nvSpPr>
        <p:spPr/>
        <p:txBody>
          <a:bodyPr>
            <a:normAutofit/>
          </a:bodyPr>
          <a:lstStyle/>
          <a:p>
            <a:r>
              <a:rPr lang="zh-CN" altLang="en-US" sz="3000" dirty="0" smtClean="0"/>
              <a:t>五、项目的追踪和控制</a:t>
            </a:r>
            <a:endParaRPr lang="en-US" altLang="zh-CN" sz="3000" dirty="0" smtClean="0"/>
          </a:p>
          <a:p>
            <a:pPr lvl="1"/>
            <a:r>
              <a:rPr lang="zh-CN" altLang="en-US" sz="2400" dirty="0" smtClean="0"/>
              <a:t>软件项目管理的一项重要工作就是在项目实施过程中进行追踪。可综合运用如下的方式：</a:t>
            </a:r>
            <a:endParaRPr lang="en-US" altLang="zh-CN" sz="2400" dirty="0" smtClean="0"/>
          </a:p>
          <a:p>
            <a:pPr lvl="2"/>
            <a:r>
              <a:rPr lang="zh-CN" altLang="en-US" sz="2400" dirty="0" smtClean="0"/>
              <a:t>（</a:t>
            </a:r>
            <a:r>
              <a:rPr lang="en-US" altLang="zh-CN" sz="2400" dirty="0" smtClean="0"/>
              <a:t>1</a:t>
            </a:r>
            <a:r>
              <a:rPr lang="zh-CN" altLang="en-US" sz="2400" dirty="0" smtClean="0"/>
              <a:t>）项目例会；</a:t>
            </a:r>
            <a:endParaRPr lang="en-US" altLang="zh-CN" sz="2400" dirty="0" smtClean="0"/>
          </a:p>
          <a:p>
            <a:pPr lvl="2"/>
            <a:r>
              <a:rPr lang="zh-CN" altLang="en-US" sz="2400" dirty="0" smtClean="0"/>
              <a:t>（</a:t>
            </a:r>
            <a:r>
              <a:rPr lang="en-US" altLang="zh-CN" sz="2400" dirty="0" smtClean="0"/>
              <a:t>2</a:t>
            </a:r>
            <a:r>
              <a:rPr lang="zh-CN" altLang="en-US" sz="2400" dirty="0" smtClean="0"/>
              <a:t>）评审项目成果物；</a:t>
            </a:r>
            <a:endParaRPr lang="en-US" altLang="zh-CN" sz="2400" dirty="0" smtClean="0"/>
          </a:p>
          <a:p>
            <a:pPr lvl="2"/>
            <a:r>
              <a:rPr lang="zh-CN" altLang="en-US" sz="2400" dirty="0" smtClean="0"/>
              <a:t>（</a:t>
            </a:r>
            <a:r>
              <a:rPr lang="en-US" altLang="zh-CN" sz="2400" dirty="0" smtClean="0"/>
              <a:t>3</a:t>
            </a:r>
            <a:r>
              <a:rPr lang="zh-CN" altLang="en-US" sz="2400" dirty="0" smtClean="0"/>
              <a:t>）确定里程碑；</a:t>
            </a:r>
            <a:endParaRPr lang="en-US" altLang="zh-CN" sz="2400" dirty="0" smtClean="0"/>
          </a:p>
          <a:p>
            <a:pPr lvl="2"/>
            <a:r>
              <a:rPr lang="zh-CN" altLang="en-US" sz="2400" dirty="0" smtClean="0"/>
              <a:t>（</a:t>
            </a:r>
            <a:r>
              <a:rPr lang="en-US" altLang="zh-CN" sz="2400" dirty="0" smtClean="0"/>
              <a:t>4</a:t>
            </a:r>
            <a:r>
              <a:rPr lang="zh-CN" altLang="en-US" sz="2400" dirty="0" smtClean="0"/>
              <a:t>）比较任务的实际开始时间和计划开始时间；</a:t>
            </a:r>
            <a:endParaRPr lang="en-US" altLang="zh-CN" sz="2400" dirty="0" smtClean="0"/>
          </a:p>
          <a:p>
            <a:pPr lvl="2"/>
            <a:r>
              <a:rPr lang="zh-CN" altLang="en-US" sz="2400" dirty="0" smtClean="0"/>
              <a:t>（</a:t>
            </a:r>
            <a:r>
              <a:rPr lang="en-US" altLang="zh-CN" sz="2400" dirty="0" smtClean="0"/>
              <a:t>5</a:t>
            </a:r>
            <a:r>
              <a:rPr lang="zh-CN" altLang="en-US" sz="2400" dirty="0" smtClean="0"/>
              <a:t>）非正式地域开发人员交谈，以得到他们对开发进展和其他问题的客观评价。</a:t>
            </a:r>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6</a:t>
            </a:r>
            <a:r>
              <a:rPr lang="zh-CN" altLang="en-US" sz="4000" dirty="0" smtClean="0"/>
              <a:t>、软件质量保证</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zh-CN" altLang="en-US" sz="2400" dirty="0" smtClean="0"/>
              <a:t>质量是免费的？</a:t>
            </a:r>
          </a:p>
          <a:p>
            <a:r>
              <a:rPr lang="zh-CN" altLang="en-US" sz="2400" dirty="0" smtClean="0"/>
              <a:t>“制造高质量的产品比制造低质量产品实际上不需要额外开销（其实开销更小）”。</a:t>
            </a:r>
          </a:p>
          <a:p>
            <a:pPr lvl="2"/>
            <a:endParaRPr lang="zh-CN" altLang="en-US" sz="2400" dirty="0"/>
          </a:p>
        </p:txBody>
      </p:sp>
      <p:graphicFrame>
        <p:nvGraphicFramePr>
          <p:cNvPr id="84994" name="图表 6"/>
          <p:cNvGraphicFramePr>
            <a:graphicFrameLocks/>
          </p:cNvGraphicFramePr>
          <p:nvPr/>
        </p:nvGraphicFramePr>
        <p:xfrm>
          <a:off x="4143372" y="2928934"/>
          <a:ext cx="4786345" cy="2786082"/>
        </p:xfrm>
        <a:graphic>
          <a:graphicData uri="http://schemas.openxmlformats.org/presentationml/2006/ole">
            <mc:AlternateContent xmlns:mc="http://schemas.openxmlformats.org/markup-compatibility/2006">
              <mc:Choice xmlns:v="urn:schemas-microsoft-com:vml" Requires="v">
                <p:oleObj spid="_x0000_s1049" name="图表" r:id="rId3" imgW="7000765" imgH="3771900" progId="Excel.Chart.8">
                  <p:embed/>
                </p:oleObj>
              </mc:Choice>
              <mc:Fallback>
                <p:oleObj name="图表" r:id="rId3" imgW="7000765" imgH="3771900" progId="Excel.Chart.8">
                  <p:embed/>
                  <p:pic>
                    <p:nvPicPr>
                      <p:cNvPr id="0" name="图表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372" y="2928934"/>
                        <a:ext cx="4786345" cy="27860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4994"/>
                                        </p:tgtEl>
                                        <p:attrNameLst>
                                          <p:attrName>style.visibility</p:attrName>
                                        </p:attrNameLst>
                                      </p:cBhvr>
                                      <p:to>
                                        <p:strVal val="visible"/>
                                      </p:to>
                                    </p:set>
                                    <p:anim calcmode="lin" valueType="num">
                                      <p:cBhvr additive="base">
                                        <p:cTn id="7" dur="500" fill="hold"/>
                                        <p:tgtEl>
                                          <p:spTgt spid="84994"/>
                                        </p:tgtEl>
                                        <p:attrNameLst>
                                          <p:attrName>ppt_x</p:attrName>
                                        </p:attrNameLst>
                                      </p:cBhvr>
                                      <p:tavLst>
                                        <p:tav tm="0">
                                          <p:val>
                                            <p:strVal val="#ppt_x"/>
                                          </p:val>
                                        </p:tav>
                                        <p:tav tm="100000">
                                          <p:val>
                                            <p:strVal val="#ppt_x"/>
                                          </p:val>
                                        </p:tav>
                                      </p:tavLst>
                                    </p:anim>
                                    <p:anim calcmode="lin" valueType="num">
                                      <p:cBhvr additive="base">
                                        <p:cTn id="8" dur="500" fill="hold"/>
                                        <p:tgtEl>
                                          <p:spTgt spid="849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8499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6</a:t>
            </a:r>
            <a:r>
              <a:rPr lang="zh-CN" altLang="en-US" sz="4000" dirty="0" smtClean="0"/>
              <a:t>、软件质量保证</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zh-CN" altLang="en-US" sz="2400" dirty="0" smtClean="0"/>
              <a:t>软件质量就是“软件与明确的和隐含的定义的需求相一致的程度” 。</a:t>
            </a:r>
          </a:p>
          <a:p>
            <a:r>
              <a:rPr lang="zh-CN" altLang="en-US" sz="2400" dirty="0" smtClean="0"/>
              <a:t>与此相关的职能团队的包括：软件测试、软件质量保证（</a:t>
            </a:r>
            <a:r>
              <a:rPr lang="en-US" altLang="zh-CN" sz="2400" dirty="0" smtClean="0"/>
              <a:t>QA</a:t>
            </a:r>
            <a:r>
              <a:rPr lang="zh-CN" altLang="en-US" sz="2400" dirty="0" smtClean="0"/>
              <a:t>）、软件质量控制（</a:t>
            </a:r>
            <a:r>
              <a:rPr lang="en-US" altLang="zh-CN" sz="2400" dirty="0" smtClean="0"/>
              <a:t>QC</a:t>
            </a:r>
            <a:r>
              <a:rPr lang="zh-CN" altLang="en-US" sz="2400" dirty="0" smtClean="0"/>
              <a:t>）等。之间有差别，相互不得随意替代。</a:t>
            </a:r>
          </a:p>
          <a:p>
            <a:r>
              <a:rPr lang="en-US" altLang="zh-CN" sz="2400" dirty="0" smtClean="0">
                <a:solidFill>
                  <a:srgbClr val="FFFF00"/>
                </a:solidFill>
              </a:rPr>
              <a:t>1</a:t>
            </a:r>
            <a:r>
              <a:rPr lang="zh-CN" altLang="en-US" sz="2400" dirty="0" smtClean="0">
                <a:solidFill>
                  <a:srgbClr val="FFFF00"/>
                </a:solidFill>
              </a:rPr>
              <a:t>、软件测试</a:t>
            </a:r>
            <a:r>
              <a:rPr lang="zh-CN" altLang="en-US" sz="2400" dirty="0" smtClean="0"/>
              <a:t>：软件测试员的目标是尽可能早一些找出多的软件缺陷，并确保其得以修复。具体工作：找出软件缺陷、有效描述它们、通知相应的人、跟踪软件缺陷直到解决。</a:t>
            </a:r>
            <a:endParaRPr lang="en-US" altLang="zh-CN" sz="2400" dirty="0" smtClean="0"/>
          </a:p>
          <a:p>
            <a:r>
              <a:rPr lang="zh-CN" altLang="en-US" sz="2400" dirty="0" smtClean="0"/>
              <a:t>开发、测试、管理部门的领导者首先对质量负责，建立质量文化，质量保证团队相比软件测试团队而言，对软件质量负有更大的责任。</a:t>
            </a:r>
          </a:p>
          <a:p>
            <a:pPr lvl="2"/>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heckerboard(across)">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heckerboard(across)">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6</a:t>
            </a:r>
            <a:r>
              <a:rPr lang="zh-CN" altLang="en-US" sz="4000" dirty="0" smtClean="0"/>
              <a:t>、软件质量保证</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2</a:t>
            </a:r>
            <a:r>
              <a:rPr lang="zh-CN" altLang="en-US" sz="2400" dirty="0" smtClean="0">
                <a:solidFill>
                  <a:srgbClr val="FFFF00"/>
                </a:solidFill>
              </a:rPr>
              <a:t>、软件质量保证</a:t>
            </a:r>
            <a:r>
              <a:rPr lang="zh-CN" altLang="en-US" sz="2400" dirty="0" smtClean="0"/>
              <a:t>（</a:t>
            </a:r>
            <a:r>
              <a:rPr lang="en-US" altLang="zh-CN" sz="2400" dirty="0" smtClean="0"/>
              <a:t>SQA</a:t>
            </a:r>
            <a:r>
              <a:rPr lang="zh-CN" altLang="en-US" sz="2400" dirty="0" smtClean="0"/>
              <a:t>）</a:t>
            </a:r>
            <a:endParaRPr lang="en-US" altLang="zh-CN" sz="2400" dirty="0" smtClean="0"/>
          </a:p>
          <a:p>
            <a:pPr lvl="1"/>
            <a:r>
              <a:rPr lang="en-US" altLang="zh-CN" sz="2400" dirty="0" smtClean="0"/>
              <a:t>SQA</a:t>
            </a:r>
            <a:r>
              <a:rPr lang="zh-CN" altLang="en-US" sz="2400" dirty="0" smtClean="0"/>
              <a:t>是建立一套有计划，有系统的方法，来向管理层保证拟定出的标准、步骤、实践和方法能够正确地被所有项目所采用。</a:t>
            </a:r>
            <a:r>
              <a:rPr lang="zh-CN" altLang="en-US" sz="2400" dirty="0" smtClean="0">
                <a:solidFill>
                  <a:srgbClr val="FFFF00"/>
                </a:solidFill>
              </a:rPr>
              <a:t>软件质量保证的目的是使软件过程对于管理人员来说是可见的</a:t>
            </a:r>
            <a:r>
              <a:rPr lang="zh-CN" altLang="en-US" sz="2400" dirty="0" smtClean="0"/>
              <a:t>。它通过对软件产品和活动进行评审和审计来验证软件是合乎标准的。软件质量保证组在项目开始时就一起参与建立计划、标准和过程。这些将使软件项目满足机构方针的要求。</a:t>
            </a:r>
            <a:endParaRPr lang="en-US" altLang="zh-CN" sz="2400" dirty="0" smtClean="0"/>
          </a:p>
          <a:p>
            <a:pPr lvl="2"/>
            <a:endParaRPr lang="zh-CN" altLang="en-US"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6</a:t>
            </a:r>
            <a:r>
              <a:rPr lang="zh-CN" altLang="en-US" sz="4000" dirty="0" smtClean="0"/>
              <a:t>、软件质量保证</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2</a:t>
            </a:r>
            <a:r>
              <a:rPr lang="zh-CN" altLang="en-US" sz="2400" dirty="0" smtClean="0">
                <a:solidFill>
                  <a:srgbClr val="FFFF00"/>
                </a:solidFill>
              </a:rPr>
              <a:t>、软件质量保证</a:t>
            </a:r>
            <a:r>
              <a:rPr lang="zh-CN" altLang="en-US" sz="2400" dirty="0" smtClean="0"/>
              <a:t>（</a:t>
            </a:r>
            <a:r>
              <a:rPr lang="en-US" altLang="zh-CN" sz="2400" dirty="0" smtClean="0"/>
              <a:t>SQA</a:t>
            </a:r>
            <a:r>
              <a:rPr lang="zh-CN" altLang="en-US" sz="2400" dirty="0" smtClean="0"/>
              <a:t>）</a:t>
            </a:r>
            <a:endParaRPr lang="en-US" altLang="zh-CN" sz="2400" dirty="0" smtClean="0"/>
          </a:p>
          <a:p>
            <a:pPr lvl="1"/>
            <a:r>
              <a:rPr lang="en-US" altLang="zh-CN" sz="2400" dirty="0"/>
              <a:t>CMM</a:t>
            </a:r>
            <a:r>
              <a:rPr lang="zh-CN" altLang="en-US" sz="2400" dirty="0"/>
              <a:t>模型就要求建立</a:t>
            </a:r>
            <a:r>
              <a:rPr lang="en-US" altLang="zh-CN" sz="2400" dirty="0"/>
              <a:t>QA</a:t>
            </a:r>
            <a:r>
              <a:rPr lang="zh-CN" altLang="en-US" sz="2400" dirty="0"/>
              <a:t>角色。这里的</a:t>
            </a:r>
            <a:r>
              <a:rPr lang="en-US" altLang="zh-CN" sz="2400" dirty="0"/>
              <a:t>QA</a:t>
            </a:r>
            <a:r>
              <a:rPr lang="zh-CN" altLang="en-US" sz="2400" dirty="0"/>
              <a:t>类似于</a:t>
            </a:r>
            <a:r>
              <a:rPr lang="zh-CN" altLang="en-US" sz="2400" b="1" dirty="0">
                <a:solidFill>
                  <a:srgbClr val="FF0000"/>
                </a:solidFill>
                <a:effectLst>
                  <a:outerShdw blurRad="38100" dist="38100" dir="2700000" algn="tl">
                    <a:srgbClr val="000000">
                      <a:alpha val="43137"/>
                    </a:srgbClr>
                  </a:outerShdw>
                </a:effectLst>
              </a:rPr>
              <a:t>过程警察</a:t>
            </a:r>
            <a:r>
              <a:rPr lang="zh-CN" altLang="en-US" sz="2400" dirty="0"/>
              <a:t>，主要职责是，</a:t>
            </a:r>
            <a:r>
              <a:rPr lang="zh-CN" altLang="en-US" sz="2400" dirty="0">
                <a:solidFill>
                  <a:srgbClr val="FFFF00"/>
                </a:solidFill>
              </a:rPr>
              <a:t>检查开发和管理活动是否与已定的过程策略、标准和流程一致</a:t>
            </a:r>
            <a:r>
              <a:rPr lang="zh-CN" altLang="en-US" sz="2400" dirty="0"/>
              <a:t>，检查工作产品是否遵循模板规定的内容和格式。在这些企业中，一般还要求</a:t>
            </a:r>
            <a:r>
              <a:rPr lang="en-US" altLang="zh-CN" sz="2400" dirty="0"/>
              <a:t>QA</a:t>
            </a:r>
            <a:r>
              <a:rPr lang="zh-CN" altLang="en-US" sz="2400" dirty="0"/>
              <a:t>独立于项目组，以保障评价的客观性。</a:t>
            </a:r>
          </a:p>
          <a:p>
            <a:pPr lvl="1"/>
            <a:endParaRPr lang="en-US" altLang="zh-CN" sz="2400" dirty="0" smtClean="0"/>
          </a:p>
          <a:p>
            <a:pPr lvl="1"/>
            <a:r>
              <a:rPr lang="zh-CN" altLang="en-US" sz="2400" dirty="0" smtClean="0">
                <a:solidFill>
                  <a:srgbClr val="FFFF00"/>
                </a:solidFill>
              </a:rPr>
              <a:t>问题</a:t>
            </a:r>
            <a:r>
              <a:rPr lang="zh-CN" altLang="en-US" sz="2400" dirty="0"/>
              <a:t>：（</a:t>
            </a:r>
            <a:r>
              <a:rPr lang="en-US" altLang="zh-CN" sz="2400" dirty="0"/>
              <a:t>1</a:t>
            </a:r>
            <a:r>
              <a:rPr lang="zh-CN" altLang="en-US" sz="2400" dirty="0"/>
              <a:t>）缺乏信任和支持；（</a:t>
            </a:r>
            <a:r>
              <a:rPr lang="en-US" altLang="zh-CN" sz="2400" dirty="0"/>
              <a:t>2</a:t>
            </a:r>
            <a:r>
              <a:rPr lang="zh-CN" altLang="en-US" sz="2400" dirty="0"/>
              <a:t>） </a:t>
            </a:r>
            <a:r>
              <a:rPr lang="en-US" altLang="zh-CN" sz="2400" dirty="0"/>
              <a:t>QA</a:t>
            </a:r>
            <a:r>
              <a:rPr lang="zh-CN" altLang="en-US" sz="2400" dirty="0"/>
              <a:t>工作本身就很具挑战性。要求</a:t>
            </a:r>
            <a:r>
              <a:rPr lang="en-US" altLang="zh-CN" sz="2400" dirty="0"/>
              <a:t>QA</a:t>
            </a:r>
            <a:r>
              <a:rPr lang="zh-CN" altLang="en-US" sz="2400" dirty="0"/>
              <a:t>具有软件工程的知识、软件开发的知识、行业背景的知识、数理统计的知识、项目管理的知识、质量管理的知识等。（</a:t>
            </a:r>
            <a:r>
              <a:rPr lang="en-US" altLang="zh-CN" sz="2400" dirty="0"/>
              <a:t>3</a:t>
            </a:r>
            <a:r>
              <a:rPr lang="zh-CN" altLang="en-US" sz="2400" dirty="0"/>
              <a:t>）工作艺术很重要。</a:t>
            </a:r>
          </a:p>
          <a:p>
            <a:pPr lvl="2"/>
            <a:endParaRPr lang="zh-CN" altLang="en-US" sz="2400" dirty="0"/>
          </a:p>
        </p:txBody>
      </p:sp>
    </p:spTree>
    <p:extLst>
      <p:ext uri="{BB962C8B-B14F-4D97-AF65-F5344CB8AC3E}">
        <p14:creationId xmlns:p14="http://schemas.microsoft.com/office/powerpoint/2010/main" val="23185690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6</a:t>
            </a:r>
            <a:r>
              <a:rPr lang="zh-CN" altLang="en-US" sz="4000" dirty="0" smtClean="0"/>
              <a:t>、软件质量保证</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2</a:t>
            </a:r>
            <a:r>
              <a:rPr lang="zh-CN" altLang="en-US" sz="2400" dirty="0" smtClean="0">
                <a:solidFill>
                  <a:srgbClr val="FFFF00"/>
                </a:solidFill>
              </a:rPr>
              <a:t>、软件质量保证</a:t>
            </a:r>
            <a:r>
              <a:rPr lang="zh-CN" altLang="en-US" sz="2400" dirty="0" smtClean="0"/>
              <a:t>（</a:t>
            </a:r>
            <a:r>
              <a:rPr lang="en-US" altLang="zh-CN" sz="2400" dirty="0" smtClean="0"/>
              <a:t>SQA</a:t>
            </a:r>
            <a:r>
              <a:rPr lang="zh-CN" altLang="en-US" sz="2400" dirty="0" smtClean="0"/>
              <a:t>）</a:t>
            </a:r>
            <a:endParaRPr lang="en-US" altLang="zh-CN" sz="2400" dirty="0" smtClean="0"/>
          </a:p>
          <a:p>
            <a:pPr lvl="1"/>
            <a:r>
              <a:rPr lang="zh-CN" altLang="en-US" sz="2400" dirty="0" smtClean="0"/>
              <a:t>如果将一个软件生产类比于一个工厂的生产。那么生产线就是过程，产品按照生产线的规定过程进行生产。</a:t>
            </a:r>
            <a:r>
              <a:rPr lang="en-US" altLang="zh-CN" sz="2400" dirty="0" smtClean="0"/>
              <a:t>SQA</a:t>
            </a:r>
            <a:r>
              <a:rPr lang="zh-CN" altLang="en-US" sz="2400" dirty="0" smtClean="0"/>
              <a:t>的职责就是保证过程的执行，也就是保证生产线的正常执行。</a:t>
            </a:r>
          </a:p>
          <a:p>
            <a:pPr lvl="1"/>
            <a:r>
              <a:rPr lang="zh-CN" altLang="en-US" sz="2400" dirty="0" smtClean="0"/>
              <a:t>抽象出管理体系模型至少应当包含 “决策、执行、反馈”三个重要方面。</a:t>
            </a:r>
          </a:p>
          <a:p>
            <a:pPr lvl="1"/>
            <a:r>
              <a:rPr lang="en-US" altLang="zh-CN" sz="2400" dirty="0" smtClean="0"/>
              <a:t>QA</a:t>
            </a:r>
            <a:r>
              <a:rPr lang="zh-CN" altLang="en-US" sz="2400" dirty="0" smtClean="0"/>
              <a:t>的职责就是确保过程的有效执行，监督项目按照过程进行项目活动；它</a:t>
            </a:r>
            <a:r>
              <a:rPr lang="zh-CN" altLang="en-US" sz="2400" dirty="0" smtClean="0">
                <a:solidFill>
                  <a:srgbClr val="FFFF00"/>
                </a:solidFill>
              </a:rPr>
              <a:t>不负责</a:t>
            </a:r>
            <a:r>
              <a:rPr lang="zh-CN" altLang="en-US" sz="2400" dirty="0" smtClean="0"/>
              <a:t>监管产品的质量，</a:t>
            </a:r>
            <a:r>
              <a:rPr lang="zh-CN" altLang="en-US" sz="2400" dirty="0" smtClean="0">
                <a:solidFill>
                  <a:srgbClr val="FFFF00"/>
                </a:solidFill>
              </a:rPr>
              <a:t>不负责</a:t>
            </a:r>
            <a:r>
              <a:rPr lang="zh-CN" altLang="en-US" sz="2400" dirty="0" smtClean="0"/>
              <a:t>代表管理层进行管理，只是代表管理层来保证过程的执行。</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checkerboard(across)">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6</a:t>
            </a:r>
            <a:r>
              <a:rPr lang="zh-CN" altLang="en-US" sz="4000" dirty="0" smtClean="0"/>
              <a:t>、软件质量保证</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3</a:t>
            </a:r>
            <a:r>
              <a:rPr lang="zh-CN" altLang="en-US" sz="2400" dirty="0" smtClean="0">
                <a:solidFill>
                  <a:srgbClr val="FFFF00"/>
                </a:solidFill>
              </a:rPr>
              <a:t>、软件质量控制</a:t>
            </a:r>
            <a:r>
              <a:rPr lang="zh-CN" altLang="en-US" sz="2400" dirty="0" smtClean="0"/>
              <a:t>（</a:t>
            </a:r>
            <a:r>
              <a:rPr lang="en-US" altLang="zh-CN" sz="2400" dirty="0" smtClean="0"/>
              <a:t>SQC</a:t>
            </a:r>
            <a:r>
              <a:rPr lang="zh-CN" altLang="en-US" sz="2400" dirty="0" smtClean="0"/>
              <a:t>）</a:t>
            </a:r>
            <a:endParaRPr lang="en-US" altLang="zh-CN" sz="2400" dirty="0" smtClean="0"/>
          </a:p>
          <a:p>
            <a:pPr lvl="1"/>
            <a:r>
              <a:rPr lang="en-US" altLang="zh-CN" sz="2200" dirty="0" smtClean="0"/>
              <a:t>SQC</a:t>
            </a:r>
            <a:r>
              <a:rPr lang="zh-CN" altLang="en-US" sz="2200" dirty="0" smtClean="0"/>
              <a:t>来源于制造行业，其中</a:t>
            </a:r>
            <a:r>
              <a:rPr lang="en-US" altLang="zh-CN" sz="2200" dirty="0" smtClean="0"/>
              <a:t>QC</a:t>
            </a:r>
            <a:r>
              <a:rPr lang="zh-CN" altLang="en-US" sz="2200" dirty="0" smtClean="0"/>
              <a:t>检验员对生产线上的产品进行采样、检测，如果检测失败，他有权停掉生产线或者整个工厂。软件领域没有这么大的授权。</a:t>
            </a:r>
            <a:endParaRPr lang="zh-CN" altLang="en-US" sz="2400" dirty="0"/>
          </a:p>
        </p:txBody>
      </p:sp>
      <p:graphicFrame>
        <p:nvGraphicFramePr>
          <p:cNvPr id="4" name="表格 3"/>
          <p:cNvGraphicFramePr>
            <a:graphicFrameLocks noGrp="1"/>
          </p:cNvGraphicFramePr>
          <p:nvPr/>
        </p:nvGraphicFramePr>
        <p:xfrm>
          <a:off x="500034" y="2143116"/>
          <a:ext cx="8332825" cy="3474720"/>
        </p:xfrm>
        <a:graphic>
          <a:graphicData uri="http://schemas.openxmlformats.org/drawingml/2006/table">
            <a:tbl>
              <a:tblPr firstRow="1" bandRow="1">
                <a:tableStyleId>{5C22544A-7EE6-4342-B048-85BDC9FD1C3A}</a:tableStyleId>
              </a:tblPr>
              <a:tblGrid>
                <a:gridCol w="1422678">
                  <a:extLst>
                    <a:ext uri="{9D8B030D-6E8A-4147-A177-3AD203B41FA5}">
                      <a16:colId xmlns:a16="http://schemas.microsoft.com/office/drawing/2014/main" val="20000"/>
                    </a:ext>
                  </a:extLst>
                </a:gridCol>
                <a:gridCol w="3387327">
                  <a:extLst>
                    <a:ext uri="{9D8B030D-6E8A-4147-A177-3AD203B41FA5}">
                      <a16:colId xmlns:a16="http://schemas.microsoft.com/office/drawing/2014/main" val="20001"/>
                    </a:ext>
                  </a:extLst>
                </a:gridCol>
                <a:gridCol w="3522820">
                  <a:extLst>
                    <a:ext uri="{9D8B030D-6E8A-4147-A177-3AD203B41FA5}">
                      <a16:colId xmlns:a16="http://schemas.microsoft.com/office/drawing/2014/main" val="20002"/>
                    </a:ext>
                  </a:extLst>
                </a:gridCol>
              </a:tblGrid>
              <a:tr h="307998">
                <a:tc>
                  <a:txBody>
                    <a:bodyPr/>
                    <a:lstStyle/>
                    <a:p>
                      <a:pPr algn="ctr"/>
                      <a:endParaRPr lang="zh-CN" altLang="en-US" sz="1800" dirty="0"/>
                    </a:p>
                  </a:txBody>
                  <a:tcPr/>
                </a:tc>
                <a:tc>
                  <a:txBody>
                    <a:bodyPr/>
                    <a:lstStyle/>
                    <a:p>
                      <a:pPr algn="ctr"/>
                      <a:r>
                        <a:rPr lang="en-US" altLang="zh-CN" sz="1800" dirty="0" smtClean="0"/>
                        <a:t>SQC</a:t>
                      </a:r>
                      <a:endParaRPr lang="zh-CN" altLang="en-US" sz="1800" dirty="0"/>
                    </a:p>
                  </a:txBody>
                  <a:tcPr/>
                </a:tc>
                <a:tc>
                  <a:txBody>
                    <a:bodyPr/>
                    <a:lstStyle/>
                    <a:p>
                      <a:pPr algn="ctr"/>
                      <a:r>
                        <a:rPr lang="en-US" altLang="zh-CN" sz="1800" dirty="0" smtClean="0"/>
                        <a:t>SQA</a:t>
                      </a:r>
                      <a:endParaRPr lang="zh-CN" altLang="en-US" sz="1800" dirty="0"/>
                    </a:p>
                  </a:txBody>
                  <a:tcPr/>
                </a:tc>
                <a:extLst>
                  <a:ext uri="{0D108BD9-81ED-4DB2-BD59-A6C34878D82A}">
                    <a16:rowId xmlns:a16="http://schemas.microsoft.com/office/drawing/2014/main" val="10000"/>
                  </a:ext>
                </a:extLst>
              </a:tr>
              <a:tr h="582244">
                <a:tc>
                  <a:txBody>
                    <a:bodyPr/>
                    <a:lstStyle/>
                    <a:p>
                      <a:r>
                        <a:rPr lang="zh-CN" altLang="en-US" sz="1800" dirty="0" smtClean="0">
                          <a:latin typeface="微软雅黑" pitchFamily="34" charset="-122"/>
                          <a:ea typeface="微软雅黑" pitchFamily="34" charset="-122"/>
                        </a:rPr>
                        <a:t>基本职责</a:t>
                      </a:r>
                      <a:endParaRPr lang="zh-CN" altLang="en-US" sz="1800" dirty="0">
                        <a:latin typeface="微软雅黑" pitchFamily="34" charset="-122"/>
                        <a:ea typeface="微软雅黑"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smtClean="0">
                          <a:solidFill>
                            <a:schemeClr val="dk1"/>
                          </a:solidFill>
                          <a:latin typeface="微软雅黑" pitchFamily="34" charset="-122"/>
                          <a:ea typeface="微软雅黑" pitchFamily="34" charset="-122"/>
                          <a:cs typeface="+mn-cs"/>
                        </a:rPr>
                        <a:t>检验产品的质量，保证产品符合客户的需求；是产品质量检查者</a:t>
                      </a:r>
                      <a:endParaRPr lang="zh-CN" altLang="en-US" sz="1800" dirty="0">
                        <a:latin typeface="微软雅黑" pitchFamily="34" charset="-122"/>
                        <a:ea typeface="微软雅黑" pitchFamily="34" charset="-122"/>
                      </a:endParaRPr>
                    </a:p>
                  </a:txBody>
                  <a:tcPr/>
                </a:tc>
                <a:tc>
                  <a:txBody>
                    <a:bodyPr/>
                    <a:lstStyle/>
                    <a:p>
                      <a:r>
                        <a:rPr lang="zh-CN" altLang="en-US" sz="1800" b="0" i="0" kern="1200" dirty="0" smtClean="0">
                          <a:solidFill>
                            <a:schemeClr val="dk1"/>
                          </a:solidFill>
                          <a:latin typeface="微软雅黑" pitchFamily="34" charset="-122"/>
                          <a:ea typeface="微软雅黑" pitchFamily="34" charset="-122"/>
                          <a:cs typeface="+mn-cs"/>
                        </a:rPr>
                        <a:t>审计过程的质量，保证过程被正确执行；是过程质量审计者</a:t>
                      </a:r>
                      <a:endParaRPr lang="zh-CN" altLang="en-US" sz="1800" dirty="0">
                        <a:latin typeface="微软雅黑" pitchFamily="34" charset="-122"/>
                        <a:ea typeface="微软雅黑" pitchFamily="34" charset="-122"/>
                      </a:endParaRPr>
                    </a:p>
                  </a:txBody>
                  <a:tcPr/>
                </a:tc>
                <a:extLst>
                  <a:ext uri="{0D108BD9-81ED-4DB2-BD59-A6C34878D82A}">
                    <a16:rowId xmlns:a16="http://schemas.microsoft.com/office/drawing/2014/main" val="10001"/>
                  </a:ext>
                </a:extLst>
              </a:tr>
              <a:tr h="835393">
                <a:tc>
                  <a:txBody>
                    <a:bodyPr/>
                    <a:lstStyle/>
                    <a:p>
                      <a:endParaRPr lang="zh-CN" altLang="en-US" sz="1800">
                        <a:latin typeface="微软雅黑" pitchFamily="34" charset="-122"/>
                        <a:ea typeface="微软雅黑" pitchFamily="34" charset="-122"/>
                      </a:endParaRPr>
                    </a:p>
                  </a:txBody>
                  <a:tcPr/>
                </a:tc>
                <a:tc>
                  <a:txBody>
                    <a:bodyPr/>
                    <a:lstStyle/>
                    <a:p>
                      <a:r>
                        <a:rPr lang="zh-CN" altLang="en-US" sz="1800" dirty="0" smtClean="0">
                          <a:latin typeface="微软雅黑" pitchFamily="34" charset="-122"/>
                          <a:ea typeface="微软雅黑" pitchFamily="34" charset="-122"/>
                        </a:rPr>
                        <a:t>检查：</a:t>
                      </a:r>
                      <a:endParaRPr lang="en-US" altLang="zh-CN" sz="1800" dirty="0" smtClean="0">
                        <a:latin typeface="微软雅黑" pitchFamily="34" charset="-122"/>
                        <a:ea typeface="微软雅黑" pitchFamily="34" charset="-122"/>
                      </a:endParaRPr>
                    </a:p>
                    <a:p>
                      <a:r>
                        <a:rPr lang="zh-CN" altLang="en-US" sz="1800" dirty="0" smtClean="0">
                          <a:latin typeface="微软雅黑" pitchFamily="34" charset="-122"/>
                          <a:ea typeface="微软雅黑" pitchFamily="34" charset="-122"/>
                        </a:rPr>
                        <a:t>挑毛病</a:t>
                      </a:r>
                      <a:endParaRPr lang="zh-CN" altLang="en-US" sz="1800" dirty="0">
                        <a:latin typeface="微软雅黑" pitchFamily="34" charset="-122"/>
                        <a:ea typeface="微软雅黑" pitchFamily="34" charset="-122"/>
                      </a:endParaRPr>
                    </a:p>
                  </a:txBody>
                  <a:tcPr/>
                </a:tc>
                <a:tc>
                  <a:txBody>
                    <a:bodyPr/>
                    <a:lstStyle/>
                    <a:p>
                      <a:r>
                        <a:rPr lang="zh-CN" altLang="en-US" sz="1800" dirty="0" smtClean="0">
                          <a:latin typeface="微软雅黑" pitchFamily="34" charset="-122"/>
                          <a:ea typeface="微软雅黑" pitchFamily="34" charset="-122"/>
                        </a:rPr>
                        <a:t>审计：</a:t>
                      </a:r>
                      <a:endParaRPr lang="en-US" altLang="zh-CN" sz="1800" dirty="0" smtClean="0">
                        <a:latin typeface="微软雅黑" pitchFamily="34" charset="-122"/>
                        <a:ea typeface="微软雅黑"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latin typeface="微软雅黑" pitchFamily="34" charset="-122"/>
                          <a:ea typeface="微软雅黑" pitchFamily="34" charset="-122"/>
                        </a:rPr>
                        <a:t>来确认项目按照要求进行的证据；</a:t>
                      </a:r>
                      <a:r>
                        <a:rPr lang="en-US" altLang="zh-CN" sz="1800" dirty="0" smtClean="0">
                          <a:latin typeface="微软雅黑" pitchFamily="34" charset="-122"/>
                          <a:ea typeface="微软雅黑" pitchFamily="34" charset="-122"/>
                        </a:rPr>
                        <a:t>CMM</a:t>
                      </a:r>
                      <a:r>
                        <a:rPr lang="zh-CN" altLang="en-US" sz="1800" dirty="0" smtClean="0">
                          <a:latin typeface="微软雅黑" pitchFamily="34" charset="-122"/>
                          <a:ea typeface="微软雅黑" pitchFamily="34" charset="-122"/>
                        </a:rPr>
                        <a:t>中审计的内容主要是过程</a:t>
                      </a:r>
                      <a:endParaRPr lang="zh-CN" altLang="en-US" sz="1800" dirty="0">
                        <a:latin typeface="微软雅黑" pitchFamily="34" charset="-122"/>
                        <a:ea typeface="微软雅黑" pitchFamily="34" charset="-122"/>
                      </a:endParaRPr>
                    </a:p>
                  </a:txBody>
                  <a:tcPr/>
                </a:tc>
                <a:extLst>
                  <a:ext uri="{0D108BD9-81ED-4DB2-BD59-A6C34878D82A}">
                    <a16:rowId xmlns:a16="http://schemas.microsoft.com/office/drawing/2014/main" val="10002"/>
                  </a:ext>
                </a:extLst>
              </a:tr>
              <a:tr h="835393">
                <a:tc>
                  <a:txBody>
                    <a:bodyPr/>
                    <a:lstStyle/>
                    <a:p>
                      <a:endParaRPr lang="zh-CN" altLang="en-US" sz="1800">
                        <a:latin typeface="微软雅黑" pitchFamily="34" charset="-122"/>
                        <a:ea typeface="微软雅黑"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latin typeface="微软雅黑" pitchFamily="34" charset="-122"/>
                          <a:ea typeface="微软雅黑" pitchFamily="34" charset="-122"/>
                        </a:rPr>
                        <a:t>进行质量控制，向管理层反馈质量信息</a:t>
                      </a:r>
                      <a:endParaRPr lang="zh-CN" altLang="en-US" sz="1800" dirty="0">
                        <a:latin typeface="微软雅黑" pitchFamily="34" charset="-122"/>
                        <a:ea typeface="微软雅黑"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微软雅黑" pitchFamily="34" charset="-122"/>
                          <a:ea typeface="微软雅黑" pitchFamily="34" charset="-122"/>
                        </a:rPr>
                        <a:t>QA</a:t>
                      </a:r>
                      <a:r>
                        <a:rPr lang="zh-CN" altLang="en-US" sz="1800" dirty="0" smtClean="0">
                          <a:latin typeface="微软雅黑" pitchFamily="34" charset="-122"/>
                          <a:ea typeface="微软雅黑" pitchFamily="34" charset="-122"/>
                        </a:rPr>
                        <a:t>则确保</a:t>
                      </a:r>
                      <a:r>
                        <a:rPr lang="en-US" altLang="zh-CN" sz="1800" dirty="0" smtClean="0">
                          <a:latin typeface="微软雅黑" pitchFamily="34" charset="-122"/>
                          <a:ea typeface="微软雅黑" pitchFamily="34" charset="-122"/>
                        </a:rPr>
                        <a:t>QC</a:t>
                      </a:r>
                      <a:r>
                        <a:rPr lang="zh-CN" altLang="en-US" sz="1800" dirty="0" smtClean="0">
                          <a:latin typeface="微软雅黑" pitchFamily="34" charset="-122"/>
                          <a:ea typeface="微软雅黑" pitchFamily="34" charset="-122"/>
                        </a:rPr>
                        <a:t>按照过程进行质量控制活动，按照过程将检查结果向管理层汇报</a:t>
                      </a:r>
                      <a:endParaRPr lang="zh-CN" altLang="en-US" sz="1800" dirty="0">
                        <a:latin typeface="微软雅黑" pitchFamily="34" charset="-122"/>
                        <a:ea typeface="微软雅黑" pitchFamily="34" charset="-122"/>
                      </a:endParaRPr>
                    </a:p>
                  </a:txBody>
                  <a:tcPr/>
                </a:tc>
                <a:extLst>
                  <a:ext uri="{0D108BD9-81ED-4DB2-BD59-A6C34878D82A}">
                    <a16:rowId xmlns:a16="http://schemas.microsoft.com/office/drawing/2014/main" val="10003"/>
                  </a:ext>
                </a:extLst>
              </a:tr>
              <a:tr h="582244">
                <a:tc>
                  <a:txBody>
                    <a:bodyPr/>
                    <a:lstStyle/>
                    <a:p>
                      <a:endParaRPr lang="zh-CN" altLang="en-US" sz="1800">
                        <a:latin typeface="微软雅黑" pitchFamily="34" charset="-122"/>
                        <a:ea typeface="微软雅黑"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latin typeface="微软雅黑" pitchFamily="34" charset="-122"/>
                          <a:ea typeface="微软雅黑" pitchFamily="34" charset="-122"/>
                        </a:rPr>
                        <a:t>检查产品是否符合质量要求</a:t>
                      </a:r>
                      <a:endParaRPr lang="zh-CN" altLang="en-US" sz="1800" dirty="0">
                        <a:latin typeface="微软雅黑" pitchFamily="34" charset="-122"/>
                        <a:ea typeface="微软雅黑"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latin typeface="微软雅黑" pitchFamily="34" charset="-122"/>
                          <a:ea typeface="微软雅黑" pitchFamily="34" charset="-122"/>
                        </a:rPr>
                        <a:t>检查项目按照过程是否进行了某项活动，是否产出了某个产品</a:t>
                      </a:r>
                      <a:endParaRPr lang="zh-CN" altLang="en-US" sz="1800" dirty="0">
                        <a:latin typeface="微软雅黑" pitchFamily="34" charset="-122"/>
                        <a:ea typeface="微软雅黑" pitchFamily="34" charset="-122"/>
                      </a:endParaRPr>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7</a:t>
            </a:r>
            <a:r>
              <a:rPr lang="zh-CN" altLang="en-US" sz="4000" dirty="0" smtClean="0"/>
              <a:t>、软件配置管理</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zh-CN" altLang="en-US" sz="2800" dirty="0" smtClean="0">
                <a:solidFill>
                  <a:srgbClr val="FFFF00"/>
                </a:solidFill>
              </a:rPr>
              <a:t>软件配置管理</a:t>
            </a:r>
            <a:endParaRPr lang="en-US" altLang="zh-CN" sz="2800" dirty="0" smtClean="0"/>
          </a:p>
          <a:p>
            <a:pPr lvl="1"/>
            <a:r>
              <a:rPr lang="zh-CN" altLang="en-US" sz="2400" dirty="0" smtClean="0"/>
              <a:t>是在计算机软件整个生命期内</a:t>
            </a:r>
            <a:r>
              <a:rPr lang="zh-CN" altLang="en-US" sz="2400" dirty="0" smtClean="0">
                <a:solidFill>
                  <a:srgbClr val="FFFF00"/>
                </a:solidFill>
              </a:rPr>
              <a:t>管理变化的一组活动</a:t>
            </a:r>
            <a:r>
              <a:rPr lang="zh-CN" altLang="en-US" sz="2400" dirty="0" smtClean="0"/>
              <a:t>。具体而言，包括标识变化、控制变化、确保适当地实现了变化、向需要知道这方面信息的人报告变化。</a:t>
            </a:r>
            <a:endParaRPr lang="en-US" altLang="zh-CN" sz="2400" dirty="0" smtClean="0"/>
          </a:p>
          <a:p>
            <a:pPr lvl="1"/>
            <a:r>
              <a:rPr lang="zh-CN" altLang="en-US" sz="2400" dirty="0" smtClean="0"/>
              <a:t>目标：使变化更容易被适应，并且在必须变化时减少所需花费的工作量。</a:t>
            </a:r>
            <a:endParaRPr lang="zh-CN" alt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7</a:t>
            </a:r>
            <a:r>
              <a:rPr lang="zh-CN" altLang="en-US" sz="4000" dirty="0" smtClean="0"/>
              <a:t>、软件配置管理</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1</a:t>
            </a:r>
            <a:r>
              <a:rPr lang="zh-CN" altLang="en-US" sz="2400" dirty="0" smtClean="0">
                <a:solidFill>
                  <a:srgbClr val="FFFF00"/>
                </a:solidFill>
              </a:rPr>
              <a:t>、软件配置项</a:t>
            </a:r>
            <a:endParaRPr lang="en-US" altLang="zh-CN" sz="2400" dirty="0" smtClean="0"/>
          </a:p>
          <a:p>
            <a:pPr lvl="1"/>
            <a:r>
              <a:rPr lang="zh-CN" altLang="en-US" sz="2200" dirty="0" smtClean="0"/>
              <a:t>软件过程的输出信息可以分为</a:t>
            </a:r>
            <a:r>
              <a:rPr lang="en-US" altLang="zh-CN" sz="2200" dirty="0" smtClean="0"/>
              <a:t>3</a:t>
            </a:r>
            <a:r>
              <a:rPr lang="zh-CN" altLang="en-US" sz="2200" dirty="0" smtClean="0"/>
              <a:t>类</a:t>
            </a:r>
            <a:r>
              <a:rPr lang="zh-CN" altLang="en-US" sz="2200" dirty="0" smtClean="0">
                <a:sym typeface="Wingdings" pitchFamily="2" charset="2"/>
              </a:rPr>
              <a:t>：（</a:t>
            </a:r>
            <a:r>
              <a:rPr lang="en-US" altLang="zh-CN" sz="2200" dirty="0" smtClean="0">
                <a:sym typeface="Wingdings" pitchFamily="2" charset="2"/>
              </a:rPr>
              <a:t>1</a:t>
            </a:r>
            <a:r>
              <a:rPr lang="zh-CN" altLang="en-US" sz="2200" dirty="0" smtClean="0">
                <a:sym typeface="Wingdings" pitchFamily="2" charset="2"/>
              </a:rPr>
              <a:t>）计算机程序；（</a:t>
            </a:r>
            <a:r>
              <a:rPr lang="en-US" altLang="zh-CN" sz="2200" dirty="0" smtClean="0">
                <a:sym typeface="Wingdings" pitchFamily="2" charset="2"/>
              </a:rPr>
              <a:t>2</a:t>
            </a:r>
            <a:r>
              <a:rPr lang="zh-CN" altLang="en-US" sz="2200" dirty="0" smtClean="0">
                <a:sym typeface="Wingdings" pitchFamily="2" charset="2"/>
              </a:rPr>
              <a:t>）文档，供技术人员和用户使用；（</a:t>
            </a:r>
            <a:r>
              <a:rPr lang="en-US" altLang="zh-CN" sz="2200" dirty="0" smtClean="0">
                <a:sym typeface="Wingdings" pitchFamily="2" charset="2"/>
              </a:rPr>
              <a:t>3</a:t>
            </a:r>
            <a:r>
              <a:rPr lang="zh-CN" altLang="en-US" sz="2200" dirty="0" smtClean="0">
                <a:sym typeface="Wingdings" pitchFamily="2" charset="2"/>
              </a:rPr>
              <a:t>）数据</a:t>
            </a:r>
            <a:r>
              <a:rPr lang="zh-CN" altLang="en-US" sz="2200" dirty="0" smtClean="0"/>
              <a:t>。</a:t>
            </a:r>
            <a:endParaRPr lang="en-US" altLang="zh-CN" sz="2200" dirty="0" smtClean="0"/>
          </a:p>
          <a:p>
            <a:pPr lvl="1"/>
            <a:r>
              <a:rPr lang="zh-CN" altLang="en-US" sz="2200" dirty="0" smtClean="0">
                <a:solidFill>
                  <a:srgbClr val="FFFF00"/>
                </a:solidFill>
              </a:rPr>
              <a:t>上述这些在软件过程中产生的信息被统称为软件配置项</a:t>
            </a:r>
            <a:r>
              <a:rPr lang="zh-CN" altLang="en-US" sz="2200" dirty="0" smtClean="0"/>
              <a:t>。</a:t>
            </a:r>
            <a:endParaRPr lang="en-US" altLang="zh-CN" sz="2200" dirty="0" smtClean="0"/>
          </a:p>
          <a:p>
            <a:pPr lvl="1"/>
            <a:r>
              <a:rPr lang="zh-CN" altLang="en-US" sz="2200" dirty="0" smtClean="0"/>
              <a:t>随着软件开发过程的进展，软件配置项的数量迅速增加，且内容随时都可能发生变化。我们需要努力保证每个软件配置项正确和一致。</a:t>
            </a:r>
            <a:endParaRPr lang="en-US" altLang="zh-CN" sz="2200" dirty="0" smtClean="0"/>
          </a:p>
          <a:p>
            <a:pPr lvl="1"/>
            <a:r>
              <a:rPr lang="zh-CN" altLang="en-US" sz="2200" dirty="0" smtClean="0"/>
              <a:t>可以把软件配置管理看作是应用于整个软件过程的软件质量保证活动，是专门用于管理变化的软件质量保证活动。</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heckerboard(across)">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7</a:t>
            </a:r>
            <a:r>
              <a:rPr lang="zh-CN" altLang="en-US" sz="4000" dirty="0" smtClean="0"/>
              <a:t>、软件配置管理</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2</a:t>
            </a:r>
            <a:r>
              <a:rPr lang="zh-CN" altLang="en-US" sz="2400" dirty="0" smtClean="0">
                <a:solidFill>
                  <a:srgbClr val="FFFF00"/>
                </a:solidFill>
              </a:rPr>
              <a:t>、基线</a:t>
            </a:r>
            <a:endParaRPr lang="en-US" altLang="zh-CN" sz="2400" dirty="0" smtClean="0"/>
          </a:p>
          <a:p>
            <a:pPr lvl="1"/>
            <a:r>
              <a:rPr lang="zh-CN" altLang="en-US" sz="2200" dirty="0" smtClean="0"/>
              <a:t>基线是一个软件配置管理概念。</a:t>
            </a:r>
            <a:endParaRPr lang="en-US" altLang="zh-CN" sz="2200" dirty="0" smtClean="0"/>
          </a:p>
          <a:p>
            <a:pPr lvl="1"/>
            <a:r>
              <a:rPr lang="en-US" altLang="zh-CN" sz="2200" dirty="0" smtClean="0"/>
              <a:t>IEEE</a:t>
            </a:r>
            <a:r>
              <a:rPr lang="zh-CN" altLang="en-US" sz="2200" dirty="0" smtClean="0"/>
              <a:t>定义基线为：</a:t>
            </a:r>
            <a:r>
              <a:rPr lang="zh-CN" altLang="en-US" sz="2200" b="1" dirty="0" smtClean="0">
                <a:solidFill>
                  <a:srgbClr val="FFFF00"/>
                </a:solidFill>
              </a:rPr>
              <a:t>已经通过了正式复审的规格说明或中间产品，它可以作为进一步开发的基础，并且只有通过正式的变化控制过程才能改变它。</a:t>
            </a:r>
            <a:endParaRPr lang="en-US" altLang="zh-CN" sz="2200" b="1" dirty="0" smtClean="0">
              <a:solidFill>
                <a:srgbClr val="FFFF00"/>
              </a:solidFill>
            </a:endParaRPr>
          </a:p>
          <a:p>
            <a:pPr lvl="1"/>
            <a:r>
              <a:rPr lang="zh-CN" altLang="en-US" sz="2200" dirty="0" smtClean="0"/>
              <a:t>简而言之，</a:t>
            </a:r>
            <a:r>
              <a:rPr lang="zh-CN" altLang="en-US" sz="2200" dirty="0" smtClean="0">
                <a:solidFill>
                  <a:srgbClr val="FFFF00"/>
                </a:solidFill>
              </a:rPr>
              <a:t>基线就是通过了正式复审的软件配置项</a:t>
            </a:r>
            <a:r>
              <a:rPr lang="zh-CN" altLang="en-US" sz="2200" dirty="0" smtClean="0"/>
              <a:t>。</a:t>
            </a:r>
            <a:endParaRPr lang="en-US" altLang="zh-CN" sz="2200" dirty="0" smtClean="0"/>
          </a:p>
          <a:p>
            <a:pPr lvl="1"/>
            <a:r>
              <a:rPr lang="zh-CN" altLang="en-US" sz="2200" dirty="0" smtClean="0"/>
              <a:t>基线是软件开发的里程碑，它的标志是交付一个或多个软件配置项，这些软件配置项已经通过正式的技术复审而获得认可。</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heckerboard(across)">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7</a:t>
            </a:r>
            <a:r>
              <a:rPr lang="zh-CN" altLang="en-US" sz="4000" dirty="0" smtClean="0"/>
              <a:t>、软件配置管理</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en-US" altLang="zh-CN" sz="2400" dirty="0" smtClean="0">
                <a:solidFill>
                  <a:srgbClr val="FFFF00"/>
                </a:solidFill>
              </a:rPr>
              <a:t>3</a:t>
            </a:r>
            <a:r>
              <a:rPr lang="zh-CN" altLang="en-US" sz="2400" dirty="0" smtClean="0">
                <a:solidFill>
                  <a:srgbClr val="FFFF00"/>
                </a:solidFill>
              </a:rPr>
              <a:t>、软件配置过程</a:t>
            </a:r>
            <a:endParaRPr lang="en-US" altLang="zh-CN" sz="2400" dirty="0" smtClean="0"/>
          </a:p>
          <a:p>
            <a:pPr lvl="1"/>
            <a:r>
              <a:rPr lang="zh-CN" altLang="en-US" sz="2200" dirty="0" smtClean="0"/>
              <a:t>（</a:t>
            </a:r>
            <a:r>
              <a:rPr lang="en-US" altLang="zh-CN" sz="2200" dirty="0" smtClean="0"/>
              <a:t>1</a:t>
            </a:r>
            <a:r>
              <a:rPr lang="zh-CN" altLang="en-US" sz="2200" dirty="0" smtClean="0"/>
              <a:t>）标识软件配置中的对象</a:t>
            </a:r>
            <a:endParaRPr lang="en-US" altLang="zh-CN" sz="2200" dirty="0" smtClean="0"/>
          </a:p>
          <a:p>
            <a:pPr lvl="1"/>
            <a:r>
              <a:rPr lang="zh-CN" altLang="en-US" sz="2200" dirty="0" smtClean="0"/>
              <a:t>（</a:t>
            </a:r>
            <a:r>
              <a:rPr lang="en-US" altLang="zh-CN" sz="2200" dirty="0" smtClean="0"/>
              <a:t>2</a:t>
            </a:r>
            <a:r>
              <a:rPr lang="zh-CN" altLang="en-US" sz="2200" dirty="0" smtClean="0"/>
              <a:t>）版本控制</a:t>
            </a:r>
            <a:endParaRPr lang="en-US" altLang="zh-CN" sz="2200" dirty="0" smtClean="0"/>
          </a:p>
          <a:p>
            <a:pPr lvl="1"/>
            <a:r>
              <a:rPr lang="zh-CN" altLang="en-US" sz="2200" dirty="0" smtClean="0"/>
              <a:t>（</a:t>
            </a:r>
            <a:r>
              <a:rPr lang="en-US" altLang="zh-CN" sz="2200" dirty="0" smtClean="0"/>
              <a:t>3</a:t>
            </a:r>
            <a:r>
              <a:rPr lang="zh-CN" altLang="en-US" sz="2200" dirty="0" smtClean="0"/>
              <a:t>）变化控制</a:t>
            </a:r>
            <a:endParaRPr lang="en-US" altLang="zh-CN" sz="2200" dirty="0" smtClean="0"/>
          </a:p>
          <a:p>
            <a:pPr lvl="1"/>
            <a:r>
              <a:rPr lang="zh-CN" altLang="en-US" sz="2200" dirty="0" smtClean="0"/>
              <a:t>（</a:t>
            </a:r>
            <a:r>
              <a:rPr lang="en-US" altLang="zh-CN" sz="2200" dirty="0" smtClean="0"/>
              <a:t>4</a:t>
            </a:r>
            <a:r>
              <a:rPr lang="zh-CN" altLang="en-US" sz="2200" dirty="0" smtClean="0"/>
              <a:t>）配置审计</a:t>
            </a:r>
            <a:endParaRPr lang="en-US" altLang="zh-CN" sz="2200" dirty="0" smtClean="0"/>
          </a:p>
          <a:p>
            <a:pPr lvl="1"/>
            <a:r>
              <a:rPr lang="zh-CN" altLang="en-US" sz="2200" dirty="0" smtClean="0"/>
              <a:t>（</a:t>
            </a:r>
            <a:r>
              <a:rPr lang="en-US" altLang="zh-CN" sz="2200" dirty="0" smtClean="0"/>
              <a:t>5</a:t>
            </a:r>
            <a:r>
              <a:rPr lang="zh-CN" altLang="en-US" sz="2200" dirty="0" smtClean="0"/>
              <a:t>）状态报告</a:t>
            </a:r>
            <a:endParaRPr lang="zh-CN" altLang="en-US" sz="2400" dirty="0"/>
          </a:p>
        </p:txBody>
      </p:sp>
      <p:pic>
        <p:nvPicPr>
          <p:cNvPr id="3074" name="Picture 2"/>
          <p:cNvPicPr>
            <a:picLocks noChangeAspect="1" noChangeArrowheads="1"/>
          </p:cNvPicPr>
          <p:nvPr/>
        </p:nvPicPr>
        <p:blipFill>
          <a:blip r:embed="rId2"/>
          <a:srcRect/>
          <a:stretch>
            <a:fillRect/>
          </a:stretch>
        </p:blipFill>
        <p:spPr bwMode="auto">
          <a:xfrm>
            <a:off x="3929058" y="2928934"/>
            <a:ext cx="4514856" cy="3268568"/>
          </a:xfrm>
          <a:prstGeom prst="rect">
            <a:avLst/>
          </a:prstGeom>
          <a:ln>
            <a:noFill/>
          </a:ln>
          <a:effectLst>
            <a:outerShdw blurRad="292100" dist="139700" dir="2700000" algn="tl" rotWithShape="0">
              <a:srgbClr val="333333">
                <a:alpha val="65000"/>
              </a:srgbClr>
            </a:outerShdw>
          </a:effectLst>
        </p:spPr>
      </p:pic>
      <p:cxnSp>
        <p:nvCxnSpPr>
          <p:cNvPr id="6" name="直接箭头连接符 5"/>
          <p:cNvCxnSpPr/>
          <p:nvPr/>
        </p:nvCxnSpPr>
        <p:spPr>
          <a:xfrm>
            <a:off x="3000364" y="3071810"/>
            <a:ext cx="857256" cy="158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7" name="TextBox 6"/>
          <p:cNvSpPr txBox="1"/>
          <p:nvPr/>
        </p:nvSpPr>
        <p:spPr>
          <a:xfrm>
            <a:off x="6215074" y="2500306"/>
            <a:ext cx="2262158" cy="369332"/>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zh-CN" altLang="en-US" dirty="0" smtClean="0"/>
              <a:t>访问控制和同步控制</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8</a:t>
            </a:r>
            <a:r>
              <a:rPr lang="zh-CN" altLang="en-US" sz="4000" dirty="0" smtClean="0"/>
              <a:t>、软件项目的组织</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zh-CN" altLang="en-US" sz="3000" dirty="0" smtClean="0"/>
              <a:t>一、软件项目组织的建立</a:t>
            </a:r>
            <a:endParaRPr lang="en-US" altLang="zh-CN" sz="3000" dirty="0" smtClean="0"/>
          </a:p>
          <a:p>
            <a:pPr lvl="1"/>
            <a:r>
              <a:rPr lang="zh-CN" altLang="en-US" sz="2800" dirty="0" smtClean="0">
                <a:solidFill>
                  <a:srgbClr val="FFC000"/>
                </a:solidFill>
              </a:rPr>
              <a:t>注意以下几点</a:t>
            </a:r>
            <a:r>
              <a:rPr lang="zh-CN" altLang="en-US" sz="2800" dirty="0" smtClean="0"/>
              <a:t>：</a:t>
            </a:r>
            <a:endParaRPr lang="en-US" altLang="zh-CN" sz="2800" dirty="0" smtClean="0"/>
          </a:p>
          <a:p>
            <a:pPr lvl="2"/>
            <a:r>
              <a:rPr lang="zh-CN" altLang="en-US" sz="2800" dirty="0" smtClean="0"/>
              <a:t>（</a:t>
            </a:r>
            <a:r>
              <a:rPr lang="en-US" altLang="zh-CN" sz="2800" dirty="0" smtClean="0"/>
              <a:t>1</a:t>
            </a:r>
            <a:r>
              <a:rPr lang="zh-CN" altLang="en-US" sz="2800" dirty="0" smtClean="0"/>
              <a:t>）尽早落实责任；</a:t>
            </a:r>
            <a:endParaRPr lang="en-US" altLang="zh-CN" sz="2800" dirty="0" smtClean="0"/>
          </a:p>
          <a:p>
            <a:pPr lvl="2"/>
            <a:r>
              <a:rPr lang="zh-CN" altLang="en-US" sz="2800" dirty="0" smtClean="0"/>
              <a:t>（</a:t>
            </a:r>
            <a:r>
              <a:rPr lang="en-US" altLang="zh-CN" sz="2800" dirty="0" smtClean="0"/>
              <a:t>2</a:t>
            </a:r>
            <a:r>
              <a:rPr lang="zh-CN" altLang="en-US" sz="2800" dirty="0" smtClean="0"/>
              <a:t>）减少人与人之间的通信接口；</a:t>
            </a:r>
            <a:endParaRPr lang="en-US" altLang="zh-CN" sz="2800" dirty="0" smtClean="0"/>
          </a:p>
          <a:p>
            <a:pPr lvl="2"/>
            <a:r>
              <a:rPr lang="zh-CN" altLang="en-US" sz="2800" dirty="0" smtClean="0"/>
              <a:t>（</a:t>
            </a:r>
            <a:r>
              <a:rPr lang="en-US" altLang="zh-CN" sz="2800" dirty="0" smtClean="0"/>
              <a:t>3</a:t>
            </a:r>
            <a:r>
              <a:rPr lang="zh-CN" altLang="en-US" sz="2800" dirty="0" smtClean="0"/>
              <a:t>）责权均衡。</a:t>
            </a:r>
            <a:endParaRPr lang="en-US" altLang="zh-CN" sz="2800"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8</a:t>
            </a:r>
            <a:r>
              <a:rPr lang="zh-CN" altLang="en-US" sz="4000" dirty="0" smtClean="0"/>
              <a:t>、软件项目的组织</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zh-CN" altLang="en-US" sz="3000" dirty="0" smtClean="0"/>
              <a:t>一、软件项目组织的建立</a:t>
            </a:r>
            <a:endParaRPr lang="en-US" altLang="zh-CN" sz="3000" dirty="0" smtClean="0"/>
          </a:p>
          <a:p>
            <a:pPr lvl="1"/>
            <a:r>
              <a:rPr lang="zh-CN" altLang="en-US" sz="2400" dirty="0">
                <a:solidFill>
                  <a:srgbClr val="FFC000"/>
                </a:solidFill>
              </a:rPr>
              <a:t>通常有三种组织模式</a:t>
            </a:r>
            <a:r>
              <a:rPr lang="zh-CN" altLang="en-US" sz="2400" dirty="0"/>
              <a:t>：</a:t>
            </a:r>
            <a:endParaRPr lang="en-US" altLang="zh-CN" sz="2400" dirty="0"/>
          </a:p>
          <a:p>
            <a:pPr lvl="2"/>
            <a:r>
              <a:rPr lang="zh-CN" altLang="en-US" sz="2400" b="1" dirty="0">
                <a:solidFill>
                  <a:srgbClr val="00B0F0"/>
                </a:solidFill>
              </a:rPr>
              <a:t>按课题组划分</a:t>
            </a:r>
            <a:r>
              <a:rPr lang="zh-CN" altLang="en-US" sz="2400" dirty="0"/>
              <a:t>（</a:t>
            </a:r>
            <a:r>
              <a:rPr lang="en-US" altLang="zh-CN" sz="2400" dirty="0"/>
              <a:t>Project  Format</a:t>
            </a:r>
            <a:r>
              <a:rPr lang="zh-CN" altLang="en-US" sz="2400" dirty="0"/>
              <a:t>）：小组成员自始至终参与所承担课题的各项任务。</a:t>
            </a:r>
            <a:endParaRPr lang="en-US" altLang="zh-CN" sz="2400" dirty="0"/>
          </a:p>
          <a:p>
            <a:pPr lvl="2"/>
            <a:r>
              <a:rPr lang="zh-CN" altLang="en-US" sz="2400" b="1" dirty="0">
                <a:solidFill>
                  <a:srgbClr val="00B0F0"/>
                </a:solidFill>
              </a:rPr>
              <a:t>按职能划分</a:t>
            </a:r>
            <a:r>
              <a:rPr lang="zh-CN" altLang="en-US" sz="2400" dirty="0"/>
              <a:t>（</a:t>
            </a:r>
            <a:r>
              <a:rPr lang="en-US" altLang="zh-CN" sz="2400" dirty="0"/>
              <a:t>Functional  Format</a:t>
            </a:r>
            <a:r>
              <a:rPr lang="zh-CN" altLang="en-US" sz="2400" dirty="0"/>
              <a:t>）：软件开发周期是按阶段来划分的，每个阶段有各自的特点。该模式是建立若干个专业小组，如需求分析组、设计组、维护组等。缺点是小组间接口较多，但便于成为某方面的专家。</a:t>
            </a:r>
            <a:endParaRPr lang="en-US" altLang="zh-CN" sz="2400" dirty="0"/>
          </a:p>
          <a:p>
            <a:pPr lvl="2"/>
            <a:r>
              <a:rPr lang="zh-CN" altLang="en-US" sz="2400" b="1" dirty="0">
                <a:solidFill>
                  <a:srgbClr val="00B0F0"/>
                </a:solidFill>
              </a:rPr>
              <a:t>矩阵型</a:t>
            </a:r>
            <a:r>
              <a:rPr lang="zh-CN" altLang="en-US" sz="2400" dirty="0"/>
              <a:t>（</a:t>
            </a:r>
            <a:r>
              <a:rPr lang="en-US" altLang="zh-CN" sz="2400" dirty="0"/>
              <a:t>Matrix  Format</a:t>
            </a:r>
            <a:r>
              <a:rPr lang="zh-CN" altLang="en-US" sz="2400" dirty="0"/>
              <a:t>）：每个软件人员属于某个专门组，又参加某一项目的工作，接受双重领导。</a:t>
            </a:r>
          </a:p>
          <a:p>
            <a:pPr marL="630936" lvl="2" indent="0">
              <a:buNone/>
            </a:pPr>
            <a:endParaRPr lang="en-US" altLang="zh-CN" sz="2800" dirty="0" smtClean="0"/>
          </a:p>
        </p:txBody>
      </p:sp>
    </p:spTree>
    <p:extLst>
      <p:ext uri="{BB962C8B-B14F-4D97-AF65-F5344CB8AC3E}">
        <p14:creationId xmlns:p14="http://schemas.microsoft.com/office/powerpoint/2010/main" val="14825606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smtClean="0"/>
              <a:t>8</a:t>
            </a:r>
            <a:r>
              <a:rPr lang="zh-CN" altLang="en-US" sz="4000" dirty="0" smtClean="0"/>
              <a:t>、软件项目的组织</a:t>
            </a:r>
            <a:endParaRPr lang="zh-CN" altLang="en-US" sz="4000" dirty="0"/>
          </a:p>
        </p:txBody>
      </p:sp>
      <p:sp>
        <p:nvSpPr>
          <p:cNvPr id="3" name="内容占位符 2"/>
          <p:cNvSpPr>
            <a:spLocks noGrp="1"/>
          </p:cNvSpPr>
          <p:nvPr>
            <p:ph idx="1"/>
          </p:nvPr>
        </p:nvSpPr>
        <p:spPr>
          <a:xfrm>
            <a:off x="457200" y="1646236"/>
            <a:ext cx="8229600" cy="4926035"/>
          </a:xfrm>
        </p:spPr>
        <p:txBody>
          <a:bodyPr>
            <a:normAutofit/>
          </a:bodyPr>
          <a:lstStyle/>
          <a:p>
            <a:r>
              <a:rPr lang="zh-CN" altLang="en-US" sz="3000" dirty="0" smtClean="0"/>
              <a:t>二、程序设计小组的组织形式</a:t>
            </a:r>
            <a:endParaRPr lang="en-US" altLang="zh-CN" sz="3000" dirty="0" smtClean="0"/>
          </a:p>
          <a:p>
            <a:pPr lvl="1"/>
            <a:endParaRPr lang="zh-CN" altLang="en-US" sz="2400" dirty="0"/>
          </a:p>
        </p:txBody>
      </p:sp>
      <p:sp>
        <p:nvSpPr>
          <p:cNvPr id="4" name="椭圆 3"/>
          <p:cNvSpPr/>
          <p:nvPr/>
        </p:nvSpPr>
        <p:spPr>
          <a:xfrm>
            <a:off x="1878280" y="3378486"/>
            <a:ext cx="142876" cy="14287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5" name="椭圆 4"/>
          <p:cNvSpPr/>
          <p:nvPr/>
        </p:nvSpPr>
        <p:spPr>
          <a:xfrm>
            <a:off x="1142976" y="4500570"/>
            <a:ext cx="142876" cy="14287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6" name="椭圆 5"/>
          <p:cNvSpPr/>
          <p:nvPr/>
        </p:nvSpPr>
        <p:spPr>
          <a:xfrm>
            <a:off x="1857356" y="4500570"/>
            <a:ext cx="142876" cy="14287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7" name="椭圆 6"/>
          <p:cNvSpPr/>
          <p:nvPr/>
        </p:nvSpPr>
        <p:spPr>
          <a:xfrm>
            <a:off x="2571736" y="4500570"/>
            <a:ext cx="142876" cy="14287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cxnSp>
        <p:nvCxnSpPr>
          <p:cNvPr id="9" name="直接连接符 8"/>
          <p:cNvCxnSpPr>
            <a:stCxn id="4" idx="3"/>
            <a:endCxn id="5" idx="7"/>
          </p:cNvCxnSpPr>
          <p:nvPr/>
        </p:nvCxnSpPr>
        <p:spPr>
          <a:xfrm rot="5400000">
            <a:off x="1071538" y="3693828"/>
            <a:ext cx="1021056" cy="634276"/>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接连接符 10"/>
          <p:cNvCxnSpPr>
            <a:stCxn id="4" idx="4"/>
            <a:endCxn id="6" idx="0"/>
          </p:cNvCxnSpPr>
          <p:nvPr/>
        </p:nvCxnSpPr>
        <p:spPr>
          <a:xfrm rot="5400000">
            <a:off x="1449652" y="4000504"/>
            <a:ext cx="979208" cy="20924"/>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直接连接符 19"/>
          <p:cNvCxnSpPr>
            <a:stCxn id="4" idx="5"/>
            <a:endCxn id="7" idx="1"/>
          </p:cNvCxnSpPr>
          <p:nvPr/>
        </p:nvCxnSpPr>
        <p:spPr>
          <a:xfrm rot="16200000" flipH="1">
            <a:off x="1785918" y="3714752"/>
            <a:ext cx="1021056" cy="592428"/>
          </a:xfrm>
          <a:prstGeom prst="line">
            <a:avLst/>
          </a:prstGeom>
        </p:spPr>
        <p:style>
          <a:lnRef idx="2">
            <a:schemeClr val="accent6"/>
          </a:lnRef>
          <a:fillRef idx="0">
            <a:schemeClr val="accent6"/>
          </a:fillRef>
          <a:effectRef idx="1">
            <a:schemeClr val="accent6"/>
          </a:effectRef>
          <a:fontRef idx="minor">
            <a:schemeClr val="tx1"/>
          </a:fontRef>
        </p:style>
      </p:cxnSp>
      <p:sp>
        <p:nvSpPr>
          <p:cNvPr id="26" name="TextBox 25"/>
          <p:cNvSpPr txBox="1"/>
          <p:nvPr/>
        </p:nvSpPr>
        <p:spPr>
          <a:xfrm>
            <a:off x="1357290" y="3000372"/>
            <a:ext cx="1143008" cy="369332"/>
          </a:xfrm>
          <a:prstGeom prst="rect">
            <a:avLst/>
          </a:prstGeom>
          <a:noFill/>
        </p:spPr>
        <p:txBody>
          <a:bodyPr wrap="square" rtlCol="0">
            <a:spAutoFit/>
          </a:bodyPr>
          <a:lstStyle/>
          <a:p>
            <a:r>
              <a:rPr lang="zh-CN" altLang="en-US" dirty="0" smtClean="0"/>
              <a:t>主程序员</a:t>
            </a:r>
            <a:endParaRPr lang="zh-CN" altLang="en-US" dirty="0"/>
          </a:p>
        </p:txBody>
      </p:sp>
      <p:sp>
        <p:nvSpPr>
          <p:cNvPr id="27" name="TextBox 26"/>
          <p:cNvSpPr txBox="1"/>
          <p:nvPr/>
        </p:nvSpPr>
        <p:spPr>
          <a:xfrm>
            <a:off x="571472" y="4640057"/>
            <a:ext cx="1000132" cy="646331"/>
          </a:xfrm>
          <a:prstGeom prst="rect">
            <a:avLst/>
          </a:prstGeom>
          <a:noFill/>
        </p:spPr>
        <p:txBody>
          <a:bodyPr wrap="square" rtlCol="0">
            <a:spAutoFit/>
          </a:bodyPr>
          <a:lstStyle/>
          <a:p>
            <a:pPr algn="ctr"/>
            <a:r>
              <a:rPr lang="zh-CN" altLang="en-US" dirty="0" smtClean="0"/>
              <a:t>后援</a:t>
            </a:r>
            <a:endParaRPr lang="en-US" altLang="zh-CN" dirty="0" smtClean="0"/>
          </a:p>
          <a:p>
            <a:pPr algn="ctr"/>
            <a:r>
              <a:rPr lang="zh-CN" altLang="en-US" dirty="0" smtClean="0"/>
              <a:t>程序员</a:t>
            </a:r>
            <a:endParaRPr lang="zh-CN" altLang="en-US" dirty="0"/>
          </a:p>
        </p:txBody>
      </p:sp>
      <p:sp>
        <p:nvSpPr>
          <p:cNvPr id="28" name="TextBox 27"/>
          <p:cNvSpPr txBox="1"/>
          <p:nvPr/>
        </p:nvSpPr>
        <p:spPr>
          <a:xfrm>
            <a:off x="1500166" y="4643446"/>
            <a:ext cx="928694" cy="646331"/>
          </a:xfrm>
          <a:prstGeom prst="rect">
            <a:avLst/>
          </a:prstGeom>
          <a:noFill/>
        </p:spPr>
        <p:txBody>
          <a:bodyPr wrap="square" rtlCol="0">
            <a:spAutoFit/>
          </a:bodyPr>
          <a:lstStyle/>
          <a:p>
            <a:pPr algn="ctr"/>
            <a:r>
              <a:rPr lang="zh-CN" altLang="en-US" dirty="0" smtClean="0"/>
              <a:t>若干</a:t>
            </a:r>
            <a:endParaRPr lang="en-US" altLang="zh-CN" dirty="0" smtClean="0"/>
          </a:p>
          <a:p>
            <a:pPr algn="ctr"/>
            <a:r>
              <a:rPr lang="zh-CN" altLang="en-US" dirty="0" smtClean="0"/>
              <a:t>程序员</a:t>
            </a:r>
            <a:endParaRPr lang="zh-CN" altLang="en-US" dirty="0"/>
          </a:p>
        </p:txBody>
      </p:sp>
      <p:sp>
        <p:nvSpPr>
          <p:cNvPr id="29" name="TextBox 28"/>
          <p:cNvSpPr txBox="1"/>
          <p:nvPr/>
        </p:nvSpPr>
        <p:spPr>
          <a:xfrm>
            <a:off x="2428860" y="4643446"/>
            <a:ext cx="785818" cy="646331"/>
          </a:xfrm>
          <a:prstGeom prst="rect">
            <a:avLst/>
          </a:prstGeom>
          <a:noFill/>
        </p:spPr>
        <p:txBody>
          <a:bodyPr wrap="square" rtlCol="0">
            <a:spAutoFit/>
          </a:bodyPr>
          <a:lstStyle/>
          <a:p>
            <a:pPr algn="ctr"/>
            <a:r>
              <a:rPr lang="zh-CN" altLang="en-US" dirty="0" smtClean="0"/>
              <a:t>资料员</a:t>
            </a:r>
            <a:endParaRPr lang="zh-CN" altLang="en-US" dirty="0"/>
          </a:p>
        </p:txBody>
      </p:sp>
      <p:sp>
        <p:nvSpPr>
          <p:cNvPr id="30" name="椭圆 29"/>
          <p:cNvSpPr/>
          <p:nvPr/>
        </p:nvSpPr>
        <p:spPr>
          <a:xfrm>
            <a:off x="4328096" y="3449924"/>
            <a:ext cx="142876" cy="142876"/>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31" name="椭圆 30"/>
          <p:cNvSpPr/>
          <p:nvPr/>
        </p:nvSpPr>
        <p:spPr>
          <a:xfrm>
            <a:off x="3521354" y="3786190"/>
            <a:ext cx="142876" cy="142876"/>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32" name="椭圆 31"/>
          <p:cNvSpPr/>
          <p:nvPr/>
        </p:nvSpPr>
        <p:spPr>
          <a:xfrm>
            <a:off x="4021420" y="4500570"/>
            <a:ext cx="142876" cy="142876"/>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33" name="椭圆 32"/>
          <p:cNvSpPr/>
          <p:nvPr/>
        </p:nvSpPr>
        <p:spPr>
          <a:xfrm>
            <a:off x="5235866" y="3714752"/>
            <a:ext cx="142876" cy="142876"/>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cxnSp>
        <p:nvCxnSpPr>
          <p:cNvPr id="34" name="直接连接符 33"/>
          <p:cNvCxnSpPr>
            <a:stCxn id="30" idx="3"/>
            <a:endCxn id="31" idx="7"/>
          </p:cNvCxnSpPr>
          <p:nvPr/>
        </p:nvCxnSpPr>
        <p:spPr>
          <a:xfrm rot="5400000">
            <a:off x="3878544" y="3336638"/>
            <a:ext cx="235238" cy="705714"/>
          </a:xfrm>
          <a:prstGeom prst="line">
            <a:avLst/>
          </a:prstGeom>
        </p:spPr>
        <p:style>
          <a:lnRef idx="2">
            <a:schemeClr val="accent3"/>
          </a:lnRef>
          <a:fillRef idx="0">
            <a:schemeClr val="accent3"/>
          </a:fillRef>
          <a:effectRef idx="1">
            <a:schemeClr val="accent3"/>
          </a:effectRef>
          <a:fontRef idx="minor">
            <a:schemeClr val="tx1"/>
          </a:fontRef>
        </p:style>
      </p:cxnSp>
      <p:cxnSp>
        <p:nvCxnSpPr>
          <p:cNvPr id="35" name="直接连接符 34"/>
          <p:cNvCxnSpPr>
            <a:stCxn id="30" idx="4"/>
            <a:endCxn id="32" idx="0"/>
          </p:cNvCxnSpPr>
          <p:nvPr/>
        </p:nvCxnSpPr>
        <p:spPr>
          <a:xfrm rot="5400000">
            <a:off x="3792311" y="3893347"/>
            <a:ext cx="907770" cy="306676"/>
          </a:xfrm>
          <a:prstGeom prst="line">
            <a:avLst/>
          </a:prstGeom>
        </p:spPr>
        <p:style>
          <a:lnRef idx="2">
            <a:schemeClr val="accent3"/>
          </a:lnRef>
          <a:fillRef idx="0">
            <a:schemeClr val="accent3"/>
          </a:fillRef>
          <a:effectRef idx="1">
            <a:schemeClr val="accent3"/>
          </a:effectRef>
          <a:fontRef idx="minor">
            <a:schemeClr val="tx1"/>
          </a:fontRef>
        </p:style>
      </p:cxnSp>
      <p:cxnSp>
        <p:nvCxnSpPr>
          <p:cNvPr id="36" name="直接连接符 35"/>
          <p:cNvCxnSpPr>
            <a:stCxn id="30" idx="5"/>
            <a:endCxn id="33" idx="1"/>
          </p:cNvCxnSpPr>
          <p:nvPr/>
        </p:nvCxnSpPr>
        <p:spPr>
          <a:xfrm rot="16200000" flipH="1">
            <a:off x="4771519" y="3250405"/>
            <a:ext cx="163800" cy="806742"/>
          </a:xfrm>
          <a:prstGeom prst="line">
            <a:avLst/>
          </a:prstGeom>
        </p:spPr>
        <p:style>
          <a:lnRef idx="2">
            <a:schemeClr val="accent3"/>
          </a:lnRef>
          <a:fillRef idx="0">
            <a:schemeClr val="accent3"/>
          </a:fillRef>
          <a:effectRef idx="1">
            <a:schemeClr val="accent3"/>
          </a:effectRef>
          <a:fontRef idx="minor">
            <a:schemeClr val="tx1"/>
          </a:fontRef>
        </p:style>
      </p:cxnSp>
      <p:sp>
        <p:nvSpPr>
          <p:cNvPr id="41" name="椭圆 40"/>
          <p:cNvSpPr/>
          <p:nvPr/>
        </p:nvSpPr>
        <p:spPr>
          <a:xfrm>
            <a:off x="4807238" y="4500570"/>
            <a:ext cx="142876" cy="142876"/>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cxnSp>
        <p:nvCxnSpPr>
          <p:cNvPr id="42" name="直接连接符 41"/>
          <p:cNvCxnSpPr>
            <a:stCxn id="30" idx="5"/>
            <a:endCxn id="41" idx="0"/>
          </p:cNvCxnSpPr>
          <p:nvPr/>
        </p:nvCxnSpPr>
        <p:spPr>
          <a:xfrm rot="16200000" flipH="1">
            <a:off x="4200015" y="3821909"/>
            <a:ext cx="928694" cy="428628"/>
          </a:xfrm>
          <a:prstGeom prst="line">
            <a:avLst/>
          </a:prstGeom>
        </p:spPr>
        <p:style>
          <a:lnRef idx="2">
            <a:schemeClr val="accent3"/>
          </a:lnRef>
          <a:fillRef idx="0">
            <a:schemeClr val="accent3"/>
          </a:fillRef>
          <a:effectRef idx="1">
            <a:schemeClr val="accent3"/>
          </a:effectRef>
          <a:fontRef idx="minor">
            <a:schemeClr val="tx1"/>
          </a:fontRef>
        </p:style>
      </p:cxnSp>
      <p:cxnSp>
        <p:nvCxnSpPr>
          <p:cNvPr id="45" name="直接连接符 44"/>
          <p:cNvCxnSpPr>
            <a:stCxn id="33" idx="4"/>
            <a:endCxn id="41" idx="7"/>
          </p:cNvCxnSpPr>
          <p:nvPr/>
        </p:nvCxnSpPr>
        <p:spPr>
          <a:xfrm rot="5400000">
            <a:off x="4786314" y="4000504"/>
            <a:ext cx="663866" cy="378114"/>
          </a:xfrm>
          <a:prstGeom prst="line">
            <a:avLst/>
          </a:prstGeom>
        </p:spPr>
        <p:style>
          <a:lnRef idx="2">
            <a:schemeClr val="accent3"/>
          </a:lnRef>
          <a:fillRef idx="0">
            <a:schemeClr val="accent3"/>
          </a:fillRef>
          <a:effectRef idx="1">
            <a:schemeClr val="accent3"/>
          </a:effectRef>
          <a:fontRef idx="minor">
            <a:schemeClr val="tx1"/>
          </a:fontRef>
        </p:style>
      </p:cxnSp>
      <p:cxnSp>
        <p:nvCxnSpPr>
          <p:cNvPr id="48" name="直接连接符 47"/>
          <p:cNvCxnSpPr>
            <a:stCxn id="31" idx="4"/>
            <a:endCxn id="32" idx="1"/>
          </p:cNvCxnSpPr>
          <p:nvPr/>
        </p:nvCxnSpPr>
        <p:spPr>
          <a:xfrm rot="16200000" flipH="1">
            <a:off x="3521354" y="4000504"/>
            <a:ext cx="592428" cy="449552"/>
          </a:xfrm>
          <a:prstGeom prst="line">
            <a:avLst/>
          </a:prstGeom>
        </p:spPr>
        <p:style>
          <a:lnRef idx="2">
            <a:schemeClr val="accent3"/>
          </a:lnRef>
          <a:fillRef idx="0">
            <a:schemeClr val="accent3"/>
          </a:fillRef>
          <a:effectRef idx="1">
            <a:schemeClr val="accent3"/>
          </a:effectRef>
          <a:fontRef idx="minor">
            <a:schemeClr val="tx1"/>
          </a:fontRef>
        </p:style>
      </p:cxnSp>
      <p:cxnSp>
        <p:nvCxnSpPr>
          <p:cNvPr id="51" name="直接连接符 50"/>
          <p:cNvCxnSpPr>
            <a:stCxn id="41" idx="2"/>
            <a:endCxn id="32" idx="6"/>
          </p:cNvCxnSpPr>
          <p:nvPr/>
        </p:nvCxnSpPr>
        <p:spPr>
          <a:xfrm rot="10800000">
            <a:off x="4164296" y="4572008"/>
            <a:ext cx="642942" cy="1588"/>
          </a:xfrm>
          <a:prstGeom prst="line">
            <a:avLst/>
          </a:prstGeom>
        </p:spPr>
        <p:style>
          <a:lnRef idx="2">
            <a:schemeClr val="accent3"/>
          </a:lnRef>
          <a:fillRef idx="0">
            <a:schemeClr val="accent3"/>
          </a:fillRef>
          <a:effectRef idx="1">
            <a:schemeClr val="accent3"/>
          </a:effectRef>
          <a:fontRef idx="minor">
            <a:schemeClr val="tx1"/>
          </a:fontRef>
        </p:style>
      </p:cxnSp>
      <p:sp>
        <p:nvSpPr>
          <p:cNvPr id="54" name="TextBox 53"/>
          <p:cNvSpPr txBox="1"/>
          <p:nvPr/>
        </p:nvSpPr>
        <p:spPr>
          <a:xfrm>
            <a:off x="1285852" y="5500702"/>
            <a:ext cx="1357322"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smtClean="0"/>
              <a:t>主程序员制小组</a:t>
            </a:r>
            <a:endParaRPr lang="zh-CN" altLang="en-US" dirty="0"/>
          </a:p>
        </p:txBody>
      </p:sp>
      <p:sp>
        <p:nvSpPr>
          <p:cNvPr id="55" name="TextBox 54"/>
          <p:cNvSpPr txBox="1"/>
          <p:nvPr/>
        </p:nvSpPr>
        <p:spPr>
          <a:xfrm>
            <a:off x="3786182" y="5500702"/>
            <a:ext cx="1357322"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dirty="0" smtClean="0"/>
              <a:t>民主制小组</a:t>
            </a:r>
            <a:endParaRPr lang="zh-CN" altLang="en-US" dirty="0"/>
          </a:p>
        </p:txBody>
      </p:sp>
      <p:sp>
        <p:nvSpPr>
          <p:cNvPr id="56" name="TextBox 55"/>
          <p:cNvSpPr txBox="1"/>
          <p:nvPr/>
        </p:nvSpPr>
        <p:spPr>
          <a:xfrm>
            <a:off x="6643702" y="5488560"/>
            <a:ext cx="135732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dirty="0" smtClean="0"/>
              <a:t>层次式小组</a:t>
            </a:r>
            <a:endParaRPr lang="zh-CN" altLang="en-US" dirty="0"/>
          </a:p>
        </p:txBody>
      </p:sp>
      <p:sp>
        <p:nvSpPr>
          <p:cNvPr id="57" name="椭圆 56"/>
          <p:cNvSpPr/>
          <p:nvPr/>
        </p:nvSpPr>
        <p:spPr>
          <a:xfrm>
            <a:off x="7093254" y="3235610"/>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8" name="椭圆 57"/>
          <p:cNvSpPr/>
          <p:nvPr/>
        </p:nvSpPr>
        <p:spPr>
          <a:xfrm>
            <a:off x="6429388" y="3929066"/>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9" name="椭圆 58"/>
          <p:cNvSpPr/>
          <p:nvPr/>
        </p:nvSpPr>
        <p:spPr>
          <a:xfrm>
            <a:off x="6786578" y="4429132"/>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0" name="椭圆 59"/>
          <p:cNvSpPr/>
          <p:nvPr/>
        </p:nvSpPr>
        <p:spPr>
          <a:xfrm>
            <a:off x="7786710" y="3929066"/>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61" name="直接连接符 60"/>
          <p:cNvCxnSpPr>
            <a:stCxn id="57" idx="3"/>
            <a:endCxn id="58" idx="7"/>
          </p:cNvCxnSpPr>
          <p:nvPr/>
        </p:nvCxnSpPr>
        <p:spPr>
          <a:xfrm rot="5400000">
            <a:off x="6536545" y="3372357"/>
            <a:ext cx="592428" cy="562838"/>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直接连接符 62"/>
          <p:cNvCxnSpPr>
            <a:stCxn id="57" idx="5"/>
            <a:endCxn id="60" idx="1"/>
          </p:cNvCxnSpPr>
          <p:nvPr/>
        </p:nvCxnSpPr>
        <p:spPr>
          <a:xfrm rot="16200000" flipH="1">
            <a:off x="7215206" y="3357562"/>
            <a:ext cx="592428" cy="592428"/>
          </a:xfrm>
          <a:prstGeom prst="line">
            <a:avLst/>
          </a:prstGeom>
        </p:spPr>
        <p:style>
          <a:lnRef idx="2">
            <a:schemeClr val="accent1"/>
          </a:lnRef>
          <a:fillRef idx="0">
            <a:schemeClr val="accent1"/>
          </a:fillRef>
          <a:effectRef idx="1">
            <a:schemeClr val="accent1"/>
          </a:effectRef>
          <a:fontRef idx="minor">
            <a:schemeClr val="tx1"/>
          </a:fontRef>
        </p:style>
      </p:cxnSp>
      <p:sp>
        <p:nvSpPr>
          <p:cNvPr id="64" name="椭圆 63"/>
          <p:cNvSpPr/>
          <p:nvPr/>
        </p:nvSpPr>
        <p:spPr>
          <a:xfrm>
            <a:off x="7500958" y="4429132"/>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66" name="直接连接符 65"/>
          <p:cNvCxnSpPr>
            <a:stCxn id="60" idx="4"/>
            <a:endCxn id="64" idx="7"/>
          </p:cNvCxnSpPr>
          <p:nvPr/>
        </p:nvCxnSpPr>
        <p:spPr>
          <a:xfrm rot="5400000">
            <a:off x="7551472" y="4143380"/>
            <a:ext cx="378114" cy="235238"/>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直接连接符 66"/>
          <p:cNvCxnSpPr>
            <a:stCxn id="58" idx="4"/>
            <a:endCxn id="59" idx="1"/>
          </p:cNvCxnSpPr>
          <p:nvPr/>
        </p:nvCxnSpPr>
        <p:spPr>
          <a:xfrm rot="16200000" flipH="1">
            <a:off x="6465107" y="4107661"/>
            <a:ext cx="378114" cy="306676"/>
          </a:xfrm>
          <a:prstGeom prst="line">
            <a:avLst/>
          </a:prstGeom>
        </p:spPr>
        <p:style>
          <a:lnRef idx="2">
            <a:schemeClr val="accent1"/>
          </a:lnRef>
          <a:fillRef idx="0">
            <a:schemeClr val="accent1"/>
          </a:fillRef>
          <a:effectRef idx="1">
            <a:schemeClr val="accent1"/>
          </a:effectRef>
          <a:fontRef idx="minor">
            <a:schemeClr val="tx1"/>
          </a:fontRef>
        </p:style>
      </p:cxnSp>
      <p:sp>
        <p:nvSpPr>
          <p:cNvPr id="73" name="椭圆 72"/>
          <p:cNvSpPr/>
          <p:nvPr/>
        </p:nvSpPr>
        <p:spPr>
          <a:xfrm>
            <a:off x="6000760" y="4429132"/>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74" name="直接连接符 73"/>
          <p:cNvCxnSpPr>
            <a:stCxn id="58" idx="3"/>
            <a:endCxn id="73" idx="1"/>
          </p:cNvCxnSpPr>
          <p:nvPr/>
        </p:nvCxnSpPr>
        <p:spPr>
          <a:xfrm rot="5400000">
            <a:off x="6036479" y="4036223"/>
            <a:ext cx="399038" cy="428628"/>
          </a:xfrm>
          <a:prstGeom prst="line">
            <a:avLst/>
          </a:prstGeom>
        </p:spPr>
        <p:style>
          <a:lnRef idx="2">
            <a:schemeClr val="accent1"/>
          </a:lnRef>
          <a:fillRef idx="0">
            <a:schemeClr val="accent1"/>
          </a:fillRef>
          <a:effectRef idx="1">
            <a:schemeClr val="accent1"/>
          </a:effectRef>
          <a:fontRef idx="minor">
            <a:schemeClr val="tx1"/>
          </a:fontRef>
        </p:style>
      </p:cxnSp>
      <p:sp>
        <p:nvSpPr>
          <p:cNvPr id="75" name="椭圆 74"/>
          <p:cNvSpPr/>
          <p:nvPr/>
        </p:nvSpPr>
        <p:spPr>
          <a:xfrm>
            <a:off x="6429388" y="4429132"/>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76" name="直接连接符 75"/>
          <p:cNvCxnSpPr>
            <a:stCxn id="58" idx="3"/>
            <a:endCxn id="75" idx="1"/>
          </p:cNvCxnSpPr>
          <p:nvPr/>
        </p:nvCxnSpPr>
        <p:spPr>
          <a:xfrm rot="5400000">
            <a:off x="6250793" y="4250537"/>
            <a:ext cx="399038" cy="1588"/>
          </a:xfrm>
          <a:prstGeom prst="line">
            <a:avLst/>
          </a:prstGeom>
        </p:spPr>
        <p:style>
          <a:lnRef idx="2">
            <a:schemeClr val="accent1"/>
          </a:lnRef>
          <a:fillRef idx="0">
            <a:schemeClr val="accent1"/>
          </a:fillRef>
          <a:effectRef idx="1">
            <a:schemeClr val="accent1"/>
          </a:effectRef>
          <a:fontRef idx="minor">
            <a:schemeClr val="tx1"/>
          </a:fontRef>
        </p:style>
      </p:cxnSp>
      <p:sp>
        <p:nvSpPr>
          <p:cNvPr id="77" name="椭圆 76"/>
          <p:cNvSpPr/>
          <p:nvPr/>
        </p:nvSpPr>
        <p:spPr>
          <a:xfrm>
            <a:off x="8286776" y="4429132"/>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78" name="直接连接符 77"/>
          <p:cNvCxnSpPr>
            <a:stCxn id="60" idx="5"/>
            <a:endCxn id="77" idx="1"/>
          </p:cNvCxnSpPr>
          <p:nvPr/>
        </p:nvCxnSpPr>
        <p:spPr>
          <a:xfrm rot="16200000" flipH="1">
            <a:off x="7908662" y="4051018"/>
            <a:ext cx="399038" cy="399038"/>
          </a:xfrm>
          <a:prstGeom prst="line">
            <a:avLst/>
          </a:prstGeom>
        </p:spPr>
        <p:style>
          <a:lnRef idx="2">
            <a:schemeClr val="accent1"/>
          </a:lnRef>
          <a:fillRef idx="0">
            <a:schemeClr val="accent1"/>
          </a:fillRef>
          <a:effectRef idx="1">
            <a:schemeClr val="accent1"/>
          </a:effectRef>
          <a:fontRef idx="minor">
            <a:schemeClr val="tx1"/>
          </a:fontRef>
        </p:style>
      </p:cxnSp>
      <p:sp>
        <p:nvSpPr>
          <p:cNvPr id="79" name="椭圆 78"/>
          <p:cNvSpPr/>
          <p:nvPr/>
        </p:nvSpPr>
        <p:spPr>
          <a:xfrm>
            <a:off x="7929586" y="4429132"/>
            <a:ext cx="142876" cy="14287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80" name="直接连接符 79"/>
          <p:cNvCxnSpPr>
            <a:stCxn id="60" idx="4"/>
            <a:endCxn id="79" idx="1"/>
          </p:cNvCxnSpPr>
          <p:nvPr/>
        </p:nvCxnSpPr>
        <p:spPr>
          <a:xfrm rot="16200000" flipH="1">
            <a:off x="7715272" y="4214818"/>
            <a:ext cx="378114" cy="92362"/>
          </a:xfrm>
          <a:prstGeom prst="line">
            <a:avLst/>
          </a:prstGeom>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6429388" y="2845354"/>
            <a:ext cx="1428760" cy="369332"/>
          </a:xfrm>
          <a:prstGeom prst="rect">
            <a:avLst/>
          </a:prstGeom>
          <a:noFill/>
        </p:spPr>
        <p:txBody>
          <a:bodyPr wrap="square" rtlCol="0">
            <a:spAutoFit/>
          </a:bodyPr>
          <a:lstStyle/>
          <a:p>
            <a:pPr algn="ctr"/>
            <a:r>
              <a:rPr lang="zh-CN" altLang="en-US" dirty="0" smtClean="0"/>
              <a:t>项目负责人</a:t>
            </a:r>
            <a:endParaRPr lang="zh-CN" altLang="en-US" dirty="0"/>
          </a:p>
        </p:txBody>
      </p:sp>
      <p:sp>
        <p:nvSpPr>
          <p:cNvPr id="99" name="TextBox 98"/>
          <p:cNvSpPr txBox="1"/>
          <p:nvPr/>
        </p:nvSpPr>
        <p:spPr>
          <a:xfrm>
            <a:off x="6357950" y="4643446"/>
            <a:ext cx="1428760" cy="369332"/>
          </a:xfrm>
          <a:prstGeom prst="rect">
            <a:avLst/>
          </a:prstGeom>
          <a:noFill/>
        </p:spPr>
        <p:txBody>
          <a:bodyPr wrap="square" rtlCol="0">
            <a:spAutoFit/>
          </a:bodyPr>
          <a:lstStyle/>
          <a:p>
            <a:pPr algn="ctr"/>
            <a:r>
              <a:rPr lang="zh-CN" altLang="en-US" dirty="0" smtClean="0"/>
              <a:t>初级程序员</a:t>
            </a:r>
            <a:endParaRPr lang="zh-CN" altLang="en-US" dirty="0"/>
          </a:p>
        </p:txBody>
      </p:sp>
      <p:sp>
        <p:nvSpPr>
          <p:cNvPr id="100" name="TextBox 99"/>
          <p:cNvSpPr txBox="1"/>
          <p:nvPr/>
        </p:nvSpPr>
        <p:spPr>
          <a:xfrm>
            <a:off x="7500958" y="3500438"/>
            <a:ext cx="1428760" cy="369332"/>
          </a:xfrm>
          <a:prstGeom prst="rect">
            <a:avLst/>
          </a:prstGeom>
          <a:noFill/>
        </p:spPr>
        <p:txBody>
          <a:bodyPr wrap="square" rtlCol="0">
            <a:spAutoFit/>
          </a:bodyPr>
          <a:lstStyle/>
          <a:p>
            <a:pPr algn="ctr"/>
            <a:r>
              <a:rPr lang="zh-CN" altLang="en-US" dirty="0" smtClean="0"/>
              <a:t>高级程序员</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anim calcmode="lin" valueType="num">
                                      <p:cBhvr>
                                        <p:cTn id="35" dur="1000" fill="hold"/>
                                        <p:tgtEl>
                                          <p:spTgt spid="56"/>
                                        </p:tgtEl>
                                        <p:attrNameLst>
                                          <p:attrName>ppt_x</p:attrName>
                                        </p:attrNameLst>
                                      </p:cBhvr>
                                      <p:tavLst>
                                        <p:tav tm="0">
                                          <p:val>
                                            <p:strVal val="#ppt_x-.2"/>
                                          </p:val>
                                        </p:tav>
                                        <p:tav tm="100000">
                                          <p:val>
                                            <p:strVal val="#ppt_x"/>
                                          </p:val>
                                        </p:tav>
                                      </p:tavLst>
                                    </p:anim>
                                    <p:anim calcmode="lin" valueType="num">
                                      <p:cBhvr>
                                        <p:cTn id="36" dur="1000" fill="hold"/>
                                        <p:tgtEl>
                                          <p:spTgt spid="56"/>
                                        </p:tgtEl>
                                        <p:attrNameLst>
                                          <p:attrName>ppt_y</p:attrName>
                                        </p:attrNameLst>
                                      </p:cBhvr>
                                      <p:tavLst>
                                        <p:tav tm="0">
                                          <p:val>
                                            <p:strVal val="#ppt_y"/>
                                          </p:val>
                                        </p:tav>
                                        <p:tav tm="100000">
                                          <p:val>
                                            <p:strVal val="#ppt_y"/>
                                          </p:val>
                                        </p:tav>
                                      </p:tavLst>
                                    </p:anim>
                                    <p:animEffect transition="in" filter="wipe(right)" prLst="gradientSize: 0.1">
                                      <p:cBhvr>
                                        <p:cTn id="37" dur="1000"/>
                                        <p:tgtEl>
                                          <p:spTgt spid="56"/>
                                        </p:tgtEl>
                                      </p:cBhvr>
                                    </p:animEffect>
                                  </p:childTnLst>
                                </p:cTn>
                              </p:par>
                              <p:par>
                                <p:cTn id="38" presetID="29" presetClass="entr" presetSubtype="0"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 calcmode="lin" valueType="num">
                                      <p:cBhvr>
                                        <p:cTn id="40" dur="1000" fill="hold"/>
                                        <p:tgtEl>
                                          <p:spTgt spid="57"/>
                                        </p:tgtEl>
                                        <p:attrNameLst>
                                          <p:attrName>ppt_x</p:attrName>
                                        </p:attrNameLst>
                                      </p:cBhvr>
                                      <p:tavLst>
                                        <p:tav tm="0">
                                          <p:val>
                                            <p:strVal val="#ppt_x-.2"/>
                                          </p:val>
                                        </p:tav>
                                        <p:tav tm="100000">
                                          <p:val>
                                            <p:strVal val="#ppt_x"/>
                                          </p:val>
                                        </p:tav>
                                      </p:tavLst>
                                    </p:anim>
                                    <p:anim calcmode="lin" valueType="num">
                                      <p:cBhvr>
                                        <p:cTn id="41" dur="1000" fill="hold"/>
                                        <p:tgtEl>
                                          <p:spTgt spid="57"/>
                                        </p:tgtEl>
                                        <p:attrNameLst>
                                          <p:attrName>ppt_y</p:attrName>
                                        </p:attrNameLst>
                                      </p:cBhvr>
                                      <p:tavLst>
                                        <p:tav tm="0">
                                          <p:val>
                                            <p:strVal val="#ppt_y"/>
                                          </p:val>
                                        </p:tav>
                                        <p:tav tm="100000">
                                          <p:val>
                                            <p:strVal val="#ppt_y"/>
                                          </p:val>
                                        </p:tav>
                                      </p:tavLst>
                                    </p:anim>
                                    <p:animEffect transition="in" filter="wipe(right)" prLst="gradientSize: 0.1">
                                      <p:cBhvr>
                                        <p:cTn id="42" dur="1000"/>
                                        <p:tgtEl>
                                          <p:spTgt spid="57"/>
                                        </p:tgtEl>
                                      </p:cBhvr>
                                    </p:animEffect>
                                  </p:childTnLst>
                                </p:cTn>
                              </p:par>
                              <p:par>
                                <p:cTn id="43" presetID="29"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 calcmode="lin" valueType="num">
                                      <p:cBhvr>
                                        <p:cTn id="45" dur="1000" fill="hold"/>
                                        <p:tgtEl>
                                          <p:spTgt spid="58"/>
                                        </p:tgtEl>
                                        <p:attrNameLst>
                                          <p:attrName>ppt_x</p:attrName>
                                        </p:attrNameLst>
                                      </p:cBhvr>
                                      <p:tavLst>
                                        <p:tav tm="0">
                                          <p:val>
                                            <p:strVal val="#ppt_x-.2"/>
                                          </p:val>
                                        </p:tav>
                                        <p:tav tm="100000">
                                          <p:val>
                                            <p:strVal val="#ppt_x"/>
                                          </p:val>
                                        </p:tav>
                                      </p:tavLst>
                                    </p:anim>
                                    <p:anim calcmode="lin" valueType="num">
                                      <p:cBhvr>
                                        <p:cTn id="46" dur="1000" fill="hold"/>
                                        <p:tgtEl>
                                          <p:spTgt spid="58"/>
                                        </p:tgtEl>
                                        <p:attrNameLst>
                                          <p:attrName>ppt_y</p:attrName>
                                        </p:attrNameLst>
                                      </p:cBhvr>
                                      <p:tavLst>
                                        <p:tav tm="0">
                                          <p:val>
                                            <p:strVal val="#ppt_y"/>
                                          </p:val>
                                        </p:tav>
                                        <p:tav tm="100000">
                                          <p:val>
                                            <p:strVal val="#ppt_y"/>
                                          </p:val>
                                        </p:tav>
                                      </p:tavLst>
                                    </p:anim>
                                    <p:animEffect transition="in" filter="wipe(right)" prLst="gradientSize: 0.1">
                                      <p:cBhvr>
                                        <p:cTn id="47" dur="1000"/>
                                        <p:tgtEl>
                                          <p:spTgt spid="58"/>
                                        </p:tgtEl>
                                      </p:cBhvr>
                                    </p:animEffect>
                                  </p:childTnLst>
                                </p:cTn>
                              </p:par>
                              <p:par>
                                <p:cTn id="48" presetID="29" presetClass="entr" presetSubtype="0" fill="hold" grpId="0" nodeType="withEffect">
                                  <p:stCondLst>
                                    <p:cond delay="0"/>
                                  </p:stCondLst>
                                  <p:childTnLst>
                                    <p:set>
                                      <p:cBhvr>
                                        <p:cTn id="49" dur="1" fill="hold">
                                          <p:stCondLst>
                                            <p:cond delay="0"/>
                                          </p:stCondLst>
                                        </p:cTn>
                                        <p:tgtEl>
                                          <p:spTgt spid="59"/>
                                        </p:tgtEl>
                                        <p:attrNameLst>
                                          <p:attrName>style.visibility</p:attrName>
                                        </p:attrNameLst>
                                      </p:cBhvr>
                                      <p:to>
                                        <p:strVal val="visible"/>
                                      </p:to>
                                    </p:set>
                                    <p:anim calcmode="lin" valueType="num">
                                      <p:cBhvr>
                                        <p:cTn id="50" dur="1000" fill="hold"/>
                                        <p:tgtEl>
                                          <p:spTgt spid="59"/>
                                        </p:tgtEl>
                                        <p:attrNameLst>
                                          <p:attrName>ppt_x</p:attrName>
                                        </p:attrNameLst>
                                      </p:cBhvr>
                                      <p:tavLst>
                                        <p:tav tm="0">
                                          <p:val>
                                            <p:strVal val="#ppt_x-.2"/>
                                          </p:val>
                                        </p:tav>
                                        <p:tav tm="100000">
                                          <p:val>
                                            <p:strVal val="#ppt_x"/>
                                          </p:val>
                                        </p:tav>
                                      </p:tavLst>
                                    </p:anim>
                                    <p:anim calcmode="lin" valueType="num">
                                      <p:cBhvr>
                                        <p:cTn id="51" dur="1000" fill="hold"/>
                                        <p:tgtEl>
                                          <p:spTgt spid="59"/>
                                        </p:tgtEl>
                                        <p:attrNameLst>
                                          <p:attrName>ppt_y</p:attrName>
                                        </p:attrNameLst>
                                      </p:cBhvr>
                                      <p:tavLst>
                                        <p:tav tm="0">
                                          <p:val>
                                            <p:strVal val="#ppt_y"/>
                                          </p:val>
                                        </p:tav>
                                        <p:tav tm="100000">
                                          <p:val>
                                            <p:strVal val="#ppt_y"/>
                                          </p:val>
                                        </p:tav>
                                      </p:tavLst>
                                    </p:anim>
                                    <p:animEffect transition="in" filter="wipe(right)" prLst="gradientSize: 0.1">
                                      <p:cBhvr>
                                        <p:cTn id="52" dur="1000"/>
                                        <p:tgtEl>
                                          <p:spTgt spid="59"/>
                                        </p:tgtEl>
                                      </p:cBhvr>
                                    </p:animEffect>
                                  </p:childTnLst>
                                </p:cTn>
                              </p:par>
                              <p:par>
                                <p:cTn id="53" presetID="29"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anim calcmode="lin" valueType="num">
                                      <p:cBhvr>
                                        <p:cTn id="55" dur="1000" fill="hold"/>
                                        <p:tgtEl>
                                          <p:spTgt spid="60"/>
                                        </p:tgtEl>
                                        <p:attrNameLst>
                                          <p:attrName>ppt_x</p:attrName>
                                        </p:attrNameLst>
                                      </p:cBhvr>
                                      <p:tavLst>
                                        <p:tav tm="0">
                                          <p:val>
                                            <p:strVal val="#ppt_x-.2"/>
                                          </p:val>
                                        </p:tav>
                                        <p:tav tm="100000">
                                          <p:val>
                                            <p:strVal val="#ppt_x"/>
                                          </p:val>
                                        </p:tav>
                                      </p:tavLst>
                                    </p:anim>
                                    <p:anim calcmode="lin" valueType="num">
                                      <p:cBhvr>
                                        <p:cTn id="56" dur="1000" fill="hold"/>
                                        <p:tgtEl>
                                          <p:spTgt spid="60"/>
                                        </p:tgtEl>
                                        <p:attrNameLst>
                                          <p:attrName>ppt_y</p:attrName>
                                        </p:attrNameLst>
                                      </p:cBhvr>
                                      <p:tavLst>
                                        <p:tav tm="0">
                                          <p:val>
                                            <p:strVal val="#ppt_y"/>
                                          </p:val>
                                        </p:tav>
                                        <p:tav tm="100000">
                                          <p:val>
                                            <p:strVal val="#ppt_y"/>
                                          </p:val>
                                        </p:tav>
                                      </p:tavLst>
                                    </p:anim>
                                    <p:animEffect transition="in" filter="wipe(right)" prLst="gradientSize: 0.1">
                                      <p:cBhvr>
                                        <p:cTn id="57" dur="1000"/>
                                        <p:tgtEl>
                                          <p:spTgt spid="60"/>
                                        </p:tgtEl>
                                      </p:cBhvr>
                                    </p:animEffect>
                                  </p:childTnLst>
                                </p:cTn>
                              </p:par>
                              <p:par>
                                <p:cTn id="58" presetID="29" presetClass="entr" presetSubtype="0" fill="hold" nodeType="withEffect">
                                  <p:stCondLst>
                                    <p:cond delay="0"/>
                                  </p:stCondLst>
                                  <p:childTnLst>
                                    <p:set>
                                      <p:cBhvr>
                                        <p:cTn id="59" dur="1" fill="hold">
                                          <p:stCondLst>
                                            <p:cond delay="0"/>
                                          </p:stCondLst>
                                        </p:cTn>
                                        <p:tgtEl>
                                          <p:spTgt spid="61"/>
                                        </p:tgtEl>
                                        <p:attrNameLst>
                                          <p:attrName>style.visibility</p:attrName>
                                        </p:attrNameLst>
                                      </p:cBhvr>
                                      <p:to>
                                        <p:strVal val="visible"/>
                                      </p:to>
                                    </p:set>
                                    <p:anim calcmode="lin" valueType="num">
                                      <p:cBhvr>
                                        <p:cTn id="60" dur="1000" fill="hold"/>
                                        <p:tgtEl>
                                          <p:spTgt spid="61"/>
                                        </p:tgtEl>
                                        <p:attrNameLst>
                                          <p:attrName>ppt_x</p:attrName>
                                        </p:attrNameLst>
                                      </p:cBhvr>
                                      <p:tavLst>
                                        <p:tav tm="0">
                                          <p:val>
                                            <p:strVal val="#ppt_x-.2"/>
                                          </p:val>
                                        </p:tav>
                                        <p:tav tm="100000">
                                          <p:val>
                                            <p:strVal val="#ppt_x"/>
                                          </p:val>
                                        </p:tav>
                                      </p:tavLst>
                                    </p:anim>
                                    <p:anim calcmode="lin" valueType="num">
                                      <p:cBhvr>
                                        <p:cTn id="61" dur="1000" fill="hold"/>
                                        <p:tgtEl>
                                          <p:spTgt spid="61"/>
                                        </p:tgtEl>
                                        <p:attrNameLst>
                                          <p:attrName>ppt_y</p:attrName>
                                        </p:attrNameLst>
                                      </p:cBhvr>
                                      <p:tavLst>
                                        <p:tav tm="0">
                                          <p:val>
                                            <p:strVal val="#ppt_y"/>
                                          </p:val>
                                        </p:tav>
                                        <p:tav tm="100000">
                                          <p:val>
                                            <p:strVal val="#ppt_y"/>
                                          </p:val>
                                        </p:tav>
                                      </p:tavLst>
                                    </p:anim>
                                    <p:animEffect transition="in" filter="wipe(right)" prLst="gradientSize: 0.1">
                                      <p:cBhvr>
                                        <p:cTn id="62" dur="1000"/>
                                        <p:tgtEl>
                                          <p:spTgt spid="61"/>
                                        </p:tgtEl>
                                      </p:cBhvr>
                                    </p:animEffect>
                                  </p:childTnLst>
                                </p:cTn>
                              </p:par>
                              <p:par>
                                <p:cTn id="63" presetID="29" presetClass="entr" presetSubtype="0" fill="hold" nodeType="withEffect">
                                  <p:stCondLst>
                                    <p:cond delay="0"/>
                                  </p:stCondLst>
                                  <p:childTnLst>
                                    <p:set>
                                      <p:cBhvr>
                                        <p:cTn id="64" dur="1" fill="hold">
                                          <p:stCondLst>
                                            <p:cond delay="0"/>
                                          </p:stCondLst>
                                        </p:cTn>
                                        <p:tgtEl>
                                          <p:spTgt spid="63"/>
                                        </p:tgtEl>
                                        <p:attrNameLst>
                                          <p:attrName>style.visibility</p:attrName>
                                        </p:attrNameLst>
                                      </p:cBhvr>
                                      <p:to>
                                        <p:strVal val="visible"/>
                                      </p:to>
                                    </p:set>
                                    <p:anim calcmode="lin" valueType="num">
                                      <p:cBhvr>
                                        <p:cTn id="65" dur="1000" fill="hold"/>
                                        <p:tgtEl>
                                          <p:spTgt spid="63"/>
                                        </p:tgtEl>
                                        <p:attrNameLst>
                                          <p:attrName>ppt_x</p:attrName>
                                        </p:attrNameLst>
                                      </p:cBhvr>
                                      <p:tavLst>
                                        <p:tav tm="0">
                                          <p:val>
                                            <p:strVal val="#ppt_x-.2"/>
                                          </p:val>
                                        </p:tav>
                                        <p:tav tm="100000">
                                          <p:val>
                                            <p:strVal val="#ppt_x"/>
                                          </p:val>
                                        </p:tav>
                                      </p:tavLst>
                                    </p:anim>
                                    <p:anim calcmode="lin" valueType="num">
                                      <p:cBhvr>
                                        <p:cTn id="66" dur="1000" fill="hold"/>
                                        <p:tgtEl>
                                          <p:spTgt spid="63"/>
                                        </p:tgtEl>
                                        <p:attrNameLst>
                                          <p:attrName>ppt_y</p:attrName>
                                        </p:attrNameLst>
                                      </p:cBhvr>
                                      <p:tavLst>
                                        <p:tav tm="0">
                                          <p:val>
                                            <p:strVal val="#ppt_y"/>
                                          </p:val>
                                        </p:tav>
                                        <p:tav tm="100000">
                                          <p:val>
                                            <p:strVal val="#ppt_y"/>
                                          </p:val>
                                        </p:tav>
                                      </p:tavLst>
                                    </p:anim>
                                    <p:animEffect transition="in" filter="wipe(right)" prLst="gradientSize: 0.1">
                                      <p:cBhvr>
                                        <p:cTn id="67" dur="1000"/>
                                        <p:tgtEl>
                                          <p:spTgt spid="63"/>
                                        </p:tgtEl>
                                      </p:cBhvr>
                                    </p:animEffect>
                                  </p:childTnLst>
                                </p:cTn>
                              </p:par>
                              <p:par>
                                <p:cTn id="68" presetID="29" presetClass="entr" presetSubtype="0"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anim calcmode="lin" valueType="num">
                                      <p:cBhvr>
                                        <p:cTn id="70" dur="1000" fill="hold"/>
                                        <p:tgtEl>
                                          <p:spTgt spid="64"/>
                                        </p:tgtEl>
                                        <p:attrNameLst>
                                          <p:attrName>ppt_x</p:attrName>
                                        </p:attrNameLst>
                                      </p:cBhvr>
                                      <p:tavLst>
                                        <p:tav tm="0">
                                          <p:val>
                                            <p:strVal val="#ppt_x-.2"/>
                                          </p:val>
                                        </p:tav>
                                        <p:tav tm="100000">
                                          <p:val>
                                            <p:strVal val="#ppt_x"/>
                                          </p:val>
                                        </p:tav>
                                      </p:tavLst>
                                    </p:anim>
                                    <p:anim calcmode="lin" valueType="num">
                                      <p:cBhvr>
                                        <p:cTn id="71" dur="1000" fill="hold"/>
                                        <p:tgtEl>
                                          <p:spTgt spid="64"/>
                                        </p:tgtEl>
                                        <p:attrNameLst>
                                          <p:attrName>ppt_y</p:attrName>
                                        </p:attrNameLst>
                                      </p:cBhvr>
                                      <p:tavLst>
                                        <p:tav tm="0">
                                          <p:val>
                                            <p:strVal val="#ppt_y"/>
                                          </p:val>
                                        </p:tav>
                                        <p:tav tm="100000">
                                          <p:val>
                                            <p:strVal val="#ppt_y"/>
                                          </p:val>
                                        </p:tav>
                                      </p:tavLst>
                                    </p:anim>
                                    <p:animEffect transition="in" filter="wipe(right)" prLst="gradientSize: 0.1">
                                      <p:cBhvr>
                                        <p:cTn id="72" dur="1000"/>
                                        <p:tgtEl>
                                          <p:spTgt spid="64"/>
                                        </p:tgtEl>
                                      </p:cBhvr>
                                    </p:animEffect>
                                  </p:childTnLst>
                                </p:cTn>
                              </p:par>
                              <p:par>
                                <p:cTn id="73" presetID="29" presetClass="entr" presetSubtype="0" fill="hold" nodeType="withEffect">
                                  <p:stCondLst>
                                    <p:cond delay="0"/>
                                  </p:stCondLst>
                                  <p:childTnLst>
                                    <p:set>
                                      <p:cBhvr>
                                        <p:cTn id="74" dur="1" fill="hold">
                                          <p:stCondLst>
                                            <p:cond delay="0"/>
                                          </p:stCondLst>
                                        </p:cTn>
                                        <p:tgtEl>
                                          <p:spTgt spid="66"/>
                                        </p:tgtEl>
                                        <p:attrNameLst>
                                          <p:attrName>style.visibility</p:attrName>
                                        </p:attrNameLst>
                                      </p:cBhvr>
                                      <p:to>
                                        <p:strVal val="visible"/>
                                      </p:to>
                                    </p:set>
                                    <p:anim calcmode="lin" valueType="num">
                                      <p:cBhvr>
                                        <p:cTn id="75" dur="1000" fill="hold"/>
                                        <p:tgtEl>
                                          <p:spTgt spid="66"/>
                                        </p:tgtEl>
                                        <p:attrNameLst>
                                          <p:attrName>ppt_x</p:attrName>
                                        </p:attrNameLst>
                                      </p:cBhvr>
                                      <p:tavLst>
                                        <p:tav tm="0">
                                          <p:val>
                                            <p:strVal val="#ppt_x-.2"/>
                                          </p:val>
                                        </p:tav>
                                        <p:tav tm="100000">
                                          <p:val>
                                            <p:strVal val="#ppt_x"/>
                                          </p:val>
                                        </p:tav>
                                      </p:tavLst>
                                    </p:anim>
                                    <p:anim calcmode="lin" valueType="num">
                                      <p:cBhvr>
                                        <p:cTn id="76" dur="1000" fill="hold"/>
                                        <p:tgtEl>
                                          <p:spTgt spid="66"/>
                                        </p:tgtEl>
                                        <p:attrNameLst>
                                          <p:attrName>ppt_y</p:attrName>
                                        </p:attrNameLst>
                                      </p:cBhvr>
                                      <p:tavLst>
                                        <p:tav tm="0">
                                          <p:val>
                                            <p:strVal val="#ppt_y"/>
                                          </p:val>
                                        </p:tav>
                                        <p:tav tm="100000">
                                          <p:val>
                                            <p:strVal val="#ppt_y"/>
                                          </p:val>
                                        </p:tav>
                                      </p:tavLst>
                                    </p:anim>
                                    <p:animEffect transition="in" filter="wipe(right)" prLst="gradientSize: 0.1">
                                      <p:cBhvr>
                                        <p:cTn id="77" dur="1000"/>
                                        <p:tgtEl>
                                          <p:spTgt spid="66"/>
                                        </p:tgtEl>
                                      </p:cBhvr>
                                    </p:animEffect>
                                  </p:childTnLst>
                                </p:cTn>
                              </p:par>
                              <p:par>
                                <p:cTn id="78" presetID="29" presetClass="entr" presetSubtype="0" fill="hold" nodeType="withEffect">
                                  <p:stCondLst>
                                    <p:cond delay="0"/>
                                  </p:stCondLst>
                                  <p:childTnLst>
                                    <p:set>
                                      <p:cBhvr>
                                        <p:cTn id="79" dur="1" fill="hold">
                                          <p:stCondLst>
                                            <p:cond delay="0"/>
                                          </p:stCondLst>
                                        </p:cTn>
                                        <p:tgtEl>
                                          <p:spTgt spid="67"/>
                                        </p:tgtEl>
                                        <p:attrNameLst>
                                          <p:attrName>style.visibility</p:attrName>
                                        </p:attrNameLst>
                                      </p:cBhvr>
                                      <p:to>
                                        <p:strVal val="visible"/>
                                      </p:to>
                                    </p:set>
                                    <p:anim calcmode="lin" valueType="num">
                                      <p:cBhvr>
                                        <p:cTn id="80" dur="1000" fill="hold"/>
                                        <p:tgtEl>
                                          <p:spTgt spid="67"/>
                                        </p:tgtEl>
                                        <p:attrNameLst>
                                          <p:attrName>ppt_x</p:attrName>
                                        </p:attrNameLst>
                                      </p:cBhvr>
                                      <p:tavLst>
                                        <p:tav tm="0">
                                          <p:val>
                                            <p:strVal val="#ppt_x-.2"/>
                                          </p:val>
                                        </p:tav>
                                        <p:tav tm="100000">
                                          <p:val>
                                            <p:strVal val="#ppt_x"/>
                                          </p:val>
                                        </p:tav>
                                      </p:tavLst>
                                    </p:anim>
                                    <p:anim calcmode="lin" valueType="num">
                                      <p:cBhvr>
                                        <p:cTn id="81" dur="1000" fill="hold"/>
                                        <p:tgtEl>
                                          <p:spTgt spid="67"/>
                                        </p:tgtEl>
                                        <p:attrNameLst>
                                          <p:attrName>ppt_y</p:attrName>
                                        </p:attrNameLst>
                                      </p:cBhvr>
                                      <p:tavLst>
                                        <p:tav tm="0">
                                          <p:val>
                                            <p:strVal val="#ppt_y"/>
                                          </p:val>
                                        </p:tav>
                                        <p:tav tm="100000">
                                          <p:val>
                                            <p:strVal val="#ppt_y"/>
                                          </p:val>
                                        </p:tav>
                                      </p:tavLst>
                                    </p:anim>
                                    <p:animEffect transition="in" filter="wipe(right)" prLst="gradientSize: 0.1">
                                      <p:cBhvr>
                                        <p:cTn id="82" dur="1000"/>
                                        <p:tgtEl>
                                          <p:spTgt spid="67"/>
                                        </p:tgtEl>
                                      </p:cBhvr>
                                    </p:animEffect>
                                  </p:childTnLst>
                                </p:cTn>
                              </p:par>
                              <p:par>
                                <p:cTn id="83" presetID="29" presetClass="entr" presetSubtype="0" fill="hold" grpId="0" nodeType="withEffect">
                                  <p:stCondLst>
                                    <p:cond delay="0"/>
                                  </p:stCondLst>
                                  <p:childTnLst>
                                    <p:set>
                                      <p:cBhvr>
                                        <p:cTn id="84" dur="1" fill="hold">
                                          <p:stCondLst>
                                            <p:cond delay="0"/>
                                          </p:stCondLst>
                                        </p:cTn>
                                        <p:tgtEl>
                                          <p:spTgt spid="73"/>
                                        </p:tgtEl>
                                        <p:attrNameLst>
                                          <p:attrName>style.visibility</p:attrName>
                                        </p:attrNameLst>
                                      </p:cBhvr>
                                      <p:to>
                                        <p:strVal val="visible"/>
                                      </p:to>
                                    </p:set>
                                    <p:anim calcmode="lin" valueType="num">
                                      <p:cBhvr>
                                        <p:cTn id="85" dur="1000" fill="hold"/>
                                        <p:tgtEl>
                                          <p:spTgt spid="73"/>
                                        </p:tgtEl>
                                        <p:attrNameLst>
                                          <p:attrName>ppt_x</p:attrName>
                                        </p:attrNameLst>
                                      </p:cBhvr>
                                      <p:tavLst>
                                        <p:tav tm="0">
                                          <p:val>
                                            <p:strVal val="#ppt_x-.2"/>
                                          </p:val>
                                        </p:tav>
                                        <p:tav tm="100000">
                                          <p:val>
                                            <p:strVal val="#ppt_x"/>
                                          </p:val>
                                        </p:tav>
                                      </p:tavLst>
                                    </p:anim>
                                    <p:anim calcmode="lin" valueType="num">
                                      <p:cBhvr>
                                        <p:cTn id="86" dur="1000" fill="hold"/>
                                        <p:tgtEl>
                                          <p:spTgt spid="73"/>
                                        </p:tgtEl>
                                        <p:attrNameLst>
                                          <p:attrName>ppt_y</p:attrName>
                                        </p:attrNameLst>
                                      </p:cBhvr>
                                      <p:tavLst>
                                        <p:tav tm="0">
                                          <p:val>
                                            <p:strVal val="#ppt_y"/>
                                          </p:val>
                                        </p:tav>
                                        <p:tav tm="100000">
                                          <p:val>
                                            <p:strVal val="#ppt_y"/>
                                          </p:val>
                                        </p:tav>
                                      </p:tavLst>
                                    </p:anim>
                                    <p:animEffect transition="in" filter="wipe(right)" prLst="gradientSize: 0.1">
                                      <p:cBhvr>
                                        <p:cTn id="87" dur="1000"/>
                                        <p:tgtEl>
                                          <p:spTgt spid="73"/>
                                        </p:tgtEl>
                                      </p:cBhvr>
                                    </p:animEffect>
                                  </p:childTnLst>
                                </p:cTn>
                              </p:par>
                              <p:par>
                                <p:cTn id="88" presetID="29" presetClass="entr" presetSubtype="0" fill="hold" nodeType="withEffect">
                                  <p:stCondLst>
                                    <p:cond delay="0"/>
                                  </p:stCondLst>
                                  <p:childTnLst>
                                    <p:set>
                                      <p:cBhvr>
                                        <p:cTn id="89" dur="1" fill="hold">
                                          <p:stCondLst>
                                            <p:cond delay="0"/>
                                          </p:stCondLst>
                                        </p:cTn>
                                        <p:tgtEl>
                                          <p:spTgt spid="74"/>
                                        </p:tgtEl>
                                        <p:attrNameLst>
                                          <p:attrName>style.visibility</p:attrName>
                                        </p:attrNameLst>
                                      </p:cBhvr>
                                      <p:to>
                                        <p:strVal val="visible"/>
                                      </p:to>
                                    </p:set>
                                    <p:anim calcmode="lin" valueType="num">
                                      <p:cBhvr>
                                        <p:cTn id="90" dur="1000" fill="hold"/>
                                        <p:tgtEl>
                                          <p:spTgt spid="74"/>
                                        </p:tgtEl>
                                        <p:attrNameLst>
                                          <p:attrName>ppt_x</p:attrName>
                                        </p:attrNameLst>
                                      </p:cBhvr>
                                      <p:tavLst>
                                        <p:tav tm="0">
                                          <p:val>
                                            <p:strVal val="#ppt_x-.2"/>
                                          </p:val>
                                        </p:tav>
                                        <p:tav tm="100000">
                                          <p:val>
                                            <p:strVal val="#ppt_x"/>
                                          </p:val>
                                        </p:tav>
                                      </p:tavLst>
                                    </p:anim>
                                    <p:anim calcmode="lin" valueType="num">
                                      <p:cBhvr>
                                        <p:cTn id="91" dur="1000" fill="hold"/>
                                        <p:tgtEl>
                                          <p:spTgt spid="74"/>
                                        </p:tgtEl>
                                        <p:attrNameLst>
                                          <p:attrName>ppt_y</p:attrName>
                                        </p:attrNameLst>
                                      </p:cBhvr>
                                      <p:tavLst>
                                        <p:tav tm="0">
                                          <p:val>
                                            <p:strVal val="#ppt_y"/>
                                          </p:val>
                                        </p:tav>
                                        <p:tav tm="100000">
                                          <p:val>
                                            <p:strVal val="#ppt_y"/>
                                          </p:val>
                                        </p:tav>
                                      </p:tavLst>
                                    </p:anim>
                                    <p:animEffect transition="in" filter="wipe(right)" prLst="gradientSize: 0.1">
                                      <p:cBhvr>
                                        <p:cTn id="92" dur="1000"/>
                                        <p:tgtEl>
                                          <p:spTgt spid="74"/>
                                        </p:tgtEl>
                                      </p:cBhvr>
                                    </p:animEffect>
                                  </p:childTnLst>
                                </p:cTn>
                              </p:par>
                              <p:par>
                                <p:cTn id="93" presetID="29" presetClass="entr" presetSubtype="0" fill="hold" grpId="0" nodeType="withEffect">
                                  <p:stCondLst>
                                    <p:cond delay="0"/>
                                  </p:stCondLst>
                                  <p:childTnLst>
                                    <p:set>
                                      <p:cBhvr>
                                        <p:cTn id="94" dur="1" fill="hold">
                                          <p:stCondLst>
                                            <p:cond delay="0"/>
                                          </p:stCondLst>
                                        </p:cTn>
                                        <p:tgtEl>
                                          <p:spTgt spid="75"/>
                                        </p:tgtEl>
                                        <p:attrNameLst>
                                          <p:attrName>style.visibility</p:attrName>
                                        </p:attrNameLst>
                                      </p:cBhvr>
                                      <p:to>
                                        <p:strVal val="visible"/>
                                      </p:to>
                                    </p:set>
                                    <p:anim calcmode="lin" valueType="num">
                                      <p:cBhvr>
                                        <p:cTn id="95" dur="1000" fill="hold"/>
                                        <p:tgtEl>
                                          <p:spTgt spid="75"/>
                                        </p:tgtEl>
                                        <p:attrNameLst>
                                          <p:attrName>ppt_x</p:attrName>
                                        </p:attrNameLst>
                                      </p:cBhvr>
                                      <p:tavLst>
                                        <p:tav tm="0">
                                          <p:val>
                                            <p:strVal val="#ppt_x-.2"/>
                                          </p:val>
                                        </p:tav>
                                        <p:tav tm="100000">
                                          <p:val>
                                            <p:strVal val="#ppt_x"/>
                                          </p:val>
                                        </p:tav>
                                      </p:tavLst>
                                    </p:anim>
                                    <p:anim calcmode="lin" valueType="num">
                                      <p:cBhvr>
                                        <p:cTn id="96" dur="1000" fill="hold"/>
                                        <p:tgtEl>
                                          <p:spTgt spid="75"/>
                                        </p:tgtEl>
                                        <p:attrNameLst>
                                          <p:attrName>ppt_y</p:attrName>
                                        </p:attrNameLst>
                                      </p:cBhvr>
                                      <p:tavLst>
                                        <p:tav tm="0">
                                          <p:val>
                                            <p:strVal val="#ppt_y"/>
                                          </p:val>
                                        </p:tav>
                                        <p:tav tm="100000">
                                          <p:val>
                                            <p:strVal val="#ppt_y"/>
                                          </p:val>
                                        </p:tav>
                                      </p:tavLst>
                                    </p:anim>
                                    <p:animEffect transition="in" filter="wipe(right)" prLst="gradientSize: 0.1">
                                      <p:cBhvr>
                                        <p:cTn id="97" dur="1000"/>
                                        <p:tgtEl>
                                          <p:spTgt spid="75"/>
                                        </p:tgtEl>
                                      </p:cBhvr>
                                    </p:animEffect>
                                  </p:childTnLst>
                                </p:cTn>
                              </p:par>
                              <p:par>
                                <p:cTn id="98" presetID="29" presetClass="entr" presetSubtype="0" fill="hold" nodeType="withEffect">
                                  <p:stCondLst>
                                    <p:cond delay="0"/>
                                  </p:stCondLst>
                                  <p:childTnLst>
                                    <p:set>
                                      <p:cBhvr>
                                        <p:cTn id="99" dur="1" fill="hold">
                                          <p:stCondLst>
                                            <p:cond delay="0"/>
                                          </p:stCondLst>
                                        </p:cTn>
                                        <p:tgtEl>
                                          <p:spTgt spid="76"/>
                                        </p:tgtEl>
                                        <p:attrNameLst>
                                          <p:attrName>style.visibility</p:attrName>
                                        </p:attrNameLst>
                                      </p:cBhvr>
                                      <p:to>
                                        <p:strVal val="visible"/>
                                      </p:to>
                                    </p:set>
                                    <p:anim calcmode="lin" valueType="num">
                                      <p:cBhvr>
                                        <p:cTn id="100" dur="1000" fill="hold"/>
                                        <p:tgtEl>
                                          <p:spTgt spid="76"/>
                                        </p:tgtEl>
                                        <p:attrNameLst>
                                          <p:attrName>ppt_x</p:attrName>
                                        </p:attrNameLst>
                                      </p:cBhvr>
                                      <p:tavLst>
                                        <p:tav tm="0">
                                          <p:val>
                                            <p:strVal val="#ppt_x-.2"/>
                                          </p:val>
                                        </p:tav>
                                        <p:tav tm="100000">
                                          <p:val>
                                            <p:strVal val="#ppt_x"/>
                                          </p:val>
                                        </p:tav>
                                      </p:tavLst>
                                    </p:anim>
                                    <p:anim calcmode="lin" valueType="num">
                                      <p:cBhvr>
                                        <p:cTn id="101" dur="1000" fill="hold"/>
                                        <p:tgtEl>
                                          <p:spTgt spid="76"/>
                                        </p:tgtEl>
                                        <p:attrNameLst>
                                          <p:attrName>ppt_y</p:attrName>
                                        </p:attrNameLst>
                                      </p:cBhvr>
                                      <p:tavLst>
                                        <p:tav tm="0">
                                          <p:val>
                                            <p:strVal val="#ppt_y"/>
                                          </p:val>
                                        </p:tav>
                                        <p:tav tm="100000">
                                          <p:val>
                                            <p:strVal val="#ppt_y"/>
                                          </p:val>
                                        </p:tav>
                                      </p:tavLst>
                                    </p:anim>
                                    <p:animEffect transition="in" filter="wipe(right)" prLst="gradientSize: 0.1">
                                      <p:cBhvr>
                                        <p:cTn id="102" dur="1000"/>
                                        <p:tgtEl>
                                          <p:spTgt spid="76"/>
                                        </p:tgtEl>
                                      </p:cBhvr>
                                    </p:animEffect>
                                  </p:childTnLst>
                                </p:cTn>
                              </p:par>
                              <p:par>
                                <p:cTn id="103" presetID="29" presetClass="entr" presetSubtype="0" fill="hold" grpId="0" nodeType="withEffect">
                                  <p:stCondLst>
                                    <p:cond delay="0"/>
                                  </p:stCondLst>
                                  <p:childTnLst>
                                    <p:set>
                                      <p:cBhvr>
                                        <p:cTn id="104" dur="1" fill="hold">
                                          <p:stCondLst>
                                            <p:cond delay="0"/>
                                          </p:stCondLst>
                                        </p:cTn>
                                        <p:tgtEl>
                                          <p:spTgt spid="77"/>
                                        </p:tgtEl>
                                        <p:attrNameLst>
                                          <p:attrName>style.visibility</p:attrName>
                                        </p:attrNameLst>
                                      </p:cBhvr>
                                      <p:to>
                                        <p:strVal val="visible"/>
                                      </p:to>
                                    </p:set>
                                    <p:anim calcmode="lin" valueType="num">
                                      <p:cBhvr>
                                        <p:cTn id="105" dur="1000" fill="hold"/>
                                        <p:tgtEl>
                                          <p:spTgt spid="77"/>
                                        </p:tgtEl>
                                        <p:attrNameLst>
                                          <p:attrName>ppt_x</p:attrName>
                                        </p:attrNameLst>
                                      </p:cBhvr>
                                      <p:tavLst>
                                        <p:tav tm="0">
                                          <p:val>
                                            <p:strVal val="#ppt_x-.2"/>
                                          </p:val>
                                        </p:tav>
                                        <p:tav tm="100000">
                                          <p:val>
                                            <p:strVal val="#ppt_x"/>
                                          </p:val>
                                        </p:tav>
                                      </p:tavLst>
                                    </p:anim>
                                    <p:anim calcmode="lin" valueType="num">
                                      <p:cBhvr>
                                        <p:cTn id="106" dur="1000" fill="hold"/>
                                        <p:tgtEl>
                                          <p:spTgt spid="77"/>
                                        </p:tgtEl>
                                        <p:attrNameLst>
                                          <p:attrName>ppt_y</p:attrName>
                                        </p:attrNameLst>
                                      </p:cBhvr>
                                      <p:tavLst>
                                        <p:tav tm="0">
                                          <p:val>
                                            <p:strVal val="#ppt_y"/>
                                          </p:val>
                                        </p:tav>
                                        <p:tav tm="100000">
                                          <p:val>
                                            <p:strVal val="#ppt_y"/>
                                          </p:val>
                                        </p:tav>
                                      </p:tavLst>
                                    </p:anim>
                                    <p:animEffect transition="in" filter="wipe(right)" prLst="gradientSize: 0.1">
                                      <p:cBhvr>
                                        <p:cTn id="107" dur="1000"/>
                                        <p:tgtEl>
                                          <p:spTgt spid="77"/>
                                        </p:tgtEl>
                                      </p:cBhvr>
                                    </p:animEffect>
                                  </p:childTnLst>
                                </p:cTn>
                              </p:par>
                              <p:par>
                                <p:cTn id="108" presetID="29" presetClass="entr" presetSubtype="0" fill="hold" nodeType="withEffect">
                                  <p:stCondLst>
                                    <p:cond delay="0"/>
                                  </p:stCondLst>
                                  <p:childTnLst>
                                    <p:set>
                                      <p:cBhvr>
                                        <p:cTn id="109" dur="1" fill="hold">
                                          <p:stCondLst>
                                            <p:cond delay="0"/>
                                          </p:stCondLst>
                                        </p:cTn>
                                        <p:tgtEl>
                                          <p:spTgt spid="78"/>
                                        </p:tgtEl>
                                        <p:attrNameLst>
                                          <p:attrName>style.visibility</p:attrName>
                                        </p:attrNameLst>
                                      </p:cBhvr>
                                      <p:to>
                                        <p:strVal val="visible"/>
                                      </p:to>
                                    </p:set>
                                    <p:anim calcmode="lin" valueType="num">
                                      <p:cBhvr>
                                        <p:cTn id="110" dur="1000" fill="hold"/>
                                        <p:tgtEl>
                                          <p:spTgt spid="78"/>
                                        </p:tgtEl>
                                        <p:attrNameLst>
                                          <p:attrName>ppt_x</p:attrName>
                                        </p:attrNameLst>
                                      </p:cBhvr>
                                      <p:tavLst>
                                        <p:tav tm="0">
                                          <p:val>
                                            <p:strVal val="#ppt_x-.2"/>
                                          </p:val>
                                        </p:tav>
                                        <p:tav tm="100000">
                                          <p:val>
                                            <p:strVal val="#ppt_x"/>
                                          </p:val>
                                        </p:tav>
                                      </p:tavLst>
                                    </p:anim>
                                    <p:anim calcmode="lin" valueType="num">
                                      <p:cBhvr>
                                        <p:cTn id="111" dur="1000" fill="hold"/>
                                        <p:tgtEl>
                                          <p:spTgt spid="78"/>
                                        </p:tgtEl>
                                        <p:attrNameLst>
                                          <p:attrName>ppt_y</p:attrName>
                                        </p:attrNameLst>
                                      </p:cBhvr>
                                      <p:tavLst>
                                        <p:tav tm="0">
                                          <p:val>
                                            <p:strVal val="#ppt_y"/>
                                          </p:val>
                                        </p:tav>
                                        <p:tav tm="100000">
                                          <p:val>
                                            <p:strVal val="#ppt_y"/>
                                          </p:val>
                                        </p:tav>
                                      </p:tavLst>
                                    </p:anim>
                                    <p:animEffect transition="in" filter="wipe(right)" prLst="gradientSize: 0.1">
                                      <p:cBhvr>
                                        <p:cTn id="112" dur="1000"/>
                                        <p:tgtEl>
                                          <p:spTgt spid="78"/>
                                        </p:tgtEl>
                                      </p:cBhvr>
                                    </p:animEffect>
                                  </p:childTnLst>
                                </p:cTn>
                              </p:par>
                              <p:par>
                                <p:cTn id="113" presetID="29" presetClass="entr" presetSubtype="0" fill="hold" grpId="0" nodeType="withEffect">
                                  <p:stCondLst>
                                    <p:cond delay="0"/>
                                  </p:stCondLst>
                                  <p:childTnLst>
                                    <p:set>
                                      <p:cBhvr>
                                        <p:cTn id="114" dur="1" fill="hold">
                                          <p:stCondLst>
                                            <p:cond delay="0"/>
                                          </p:stCondLst>
                                        </p:cTn>
                                        <p:tgtEl>
                                          <p:spTgt spid="79"/>
                                        </p:tgtEl>
                                        <p:attrNameLst>
                                          <p:attrName>style.visibility</p:attrName>
                                        </p:attrNameLst>
                                      </p:cBhvr>
                                      <p:to>
                                        <p:strVal val="visible"/>
                                      </p:to>
                                    </p:set>
                                    <p:anim calcmode="lin" valueType="num">
                                      <p:cBhvr>
                                        <p:cTn id="115" dur="1000" fill="hold"/>
                                        <p:tgtEl>
                                          <p:spTgt spid="79"/>
                                        </p:tgtEl>
                                        <p:attrNameLst>
                                          <p:attrName>ppt_x</p:attrName>
                                        </p:attrNameLst>
                                      </p:cBhvr>
                                      <p:tavLst>
                                        <p:tav tm="0">
                                          <p:val>
                                            <p:strVal val="#ppt_x-.2"/>
                                          </p:val>
                                        </p:tav>
                                        <p:tav tm="100000">
                                          <p:val>
                                            <p:strVal val="#ppt_x"/>
                                          </p:val>
                                        </p:tav>
                                      </p:tavLst>
                                    </p:anim>
                                    <p:anim calcmode="lin" valueType="num">
                                      <p:cBhvr>
                                        <p:cTn id="116" dur="1000" fill="hold"/>
                                        <p:tgtEl>
                                          <p:spTgt spid="79"/>
                                        </p:tgtEl>
                                        <p:attrNameLst>
                                          <p:attrName>ppt_y</p:attrName>
                                        </p:attrNameLst>
                                      </p:cBhvr>
                                      <p:tavLst>
                                        <p:tav tm="0">
                                          <p:val>
                                            <p:strVal val="#ppt_y"/>
                                          </p:val>
                                        </p:tav>
                                        <p:tav tm="100000">
                                          <p:val>
                                            <p:strVal val="#ppt_y"/>
                                          </p:val>
                                        </p:tav>
                                      </p:tavLst>
                                    </p:anim>
                                    <p:animEffect transition="in" filter="wipe(right)" prLst="gradientSize: 0.1">
                                      <p:cBhvr>
                                        <p:cTn id="117" dur="1000"/>
                                        <p:tgtEl>
                                          <p:spTgt spid="79"/>
                                        </p:tgtEl>
                                      </p:cBhvr>
                                    </p:animEffect>
                                  </p:childTnLst>
                                </p:cTn>
                              </p:par>
                              <p:par>
                                <p:cTn id="118" presetID="29" presetClass="entr" presetSubtype="0" fill="hold" nodeType="withEffect">
                                  <p:stCondLst>
                                    <p:cond delay="0"/>
                                  </p:stCondLst>
                                  <p:childTnLst>
                                    <p:set>
                                      <p:cBhvr>
                                        <p:cTn id="119" dur="1" fill="hold">
                                          <p:stCondLst>
                                            <p:cond delay="0"/>
                                          </p:stCondLst>
                                        </p:cTn>
                                        <p:tgtEl>
                                          <p:spTgt spid="80"/>
                                        </p:tgtEl>
                                        <p:attrNameLst>
                                          <p:attrName>style.visibility</p:attrName>
                                        </p:attrNameLst>
                                      </p:cBhvr>
                                      <p:to>
                                        <p:strVal val="visible"/>
                                      </p:to>
                                    </p:set>
                                    <p:anim calcmode="lin" valueType="num">
                                      <p:cBhvr>
                                        <p:cTn id="120" dur="1000" fill="hold"/>
                                        <p:tgtEl>
                                          <p:spTgt spid="80"/>
                                        </p:tgtEl>
                                        <p:attrNameLst>
                                          <p:attrName>ppt_x</p:attrName>
                                        </p:attrNameLst>
                                      </p:cBhvr>
                                      <p:tavLst>
                                        <p:tav tm="0">
                                          <p:val>
                                            <p:strVal val="#ppt_x-.2"/>
                                          </p:val>
                                        </p:tav>
                                        <p:tav tm="100000">
                                          <p:val>
                                            <p:strVal val="#ppt_x"/>
                                          </p:val>
                                        </p:tav>
                                      </p:tavLst>
                                    </p:anim>
                                    <p:anim calcmode="lin" valueType="num">
                                      <p:cBhvr>
                                        <p:cTn id="121" dur="1000" fill="hold"/>
                                        <p:tgtEl>
                                          <p:spTgt spid="80"/>
                                        </p:tgtEl>
                                        <p:attrNameLst>
                                          <p:attrName>ppt_y</p:attrName>
                                        </p:attrNameLst>
                                      </p:cBhvr>
                                      <p:tavLst>
                                        <p:tav tm="0">
                                          <p:val>
                                            <p:strVal val="#ppt_y"/>
                                          </p:val>
                                        </p:tav>
                                        <p:tav tm="100000">
                                          <p:val>
                                            <p:strVal val="#ppt_y"/>
                                          </p:val>
                                        </p:tav>
                                      </p:tavLst>
                                    </p:anim>
                                    <p:animEffect transition="in" filter="wipe(right)" prLst="gradientSize: 0.1">
                                      <p:cBhvr>
                                        <p:cTn id="122" dur="1000"/>
                                        <p:tgtEl>
                                          <p:spTgt spid="80"/>
                                        </p:tgtEl>
                                      </p:cBhvr>
                                    </p:animEffect>
                                  </p:childTnLst>
                                </p:cTn>
                              </p:par>
                              <p:par>
                                <p:cTn id="123" presetID="29" presetClass="entr" presetSubtype="0" fill="hold" grpId="0" nodeType="withEffect">
                                  <p:stCondLst>
                                    <p:cond delay="0"/>
                                  </p:stCondLst>
                                  <p:childTnLst>
                                    <p:set>
                                      <p:cBhvr>
                                        <p:cTn id="124" dur="1" fill="hold">
                                          <p:stCondLst>
                                            <p:cond delay="0"/>
                                          </p:stCondLst>
                                        </p:cTn>
                                        <p:tgtEl>
                                          <p:spTgt spid="98"/>
                                        </p:tgtEl>
                                        <p:attrNameLst>
                                          <p:attrName>style.visibility</p:attrName>
                                        </p:attrNameLst>
                                      </p:cBhvr>
                                      <p:to>
                                        <p:strVal val="visible"/>
                                      </p:to>
                                    </p:set>
                                    <p:anim calcmode="lin" valueType="num">
                                      <p:cBhvr>
                                        <p:cTn id="125" dur="1000" fill="hold"/>
                                        <p:tgtEl>
                                          <p:spTgt spid="98"/>
                                        </p:tgtEl>
                                        <p:attrNameLst>
                                          <p:attrName>ppt_x</p:attrName>
                                        </p:attrNameLst>
                                      </p:cBhvr>
                                      <p:tavLst>
                                        <p:tav tm="0">
                                          <p:val>
                                            <p:strVal val="#ppt_x-.2"/>
                                          </p:val>
                                        </p:tav>
                                        <p:tav tm="100000">
                                          <p:val>
                                            <p:strVal val="#ppt_x"/>
                                          </p:val>
                                        </p:tav>
                                      </p:tavLst>
                                    </p:anim>
                                    <p:anim calcmode="lin" valueType="num">
                                      <p:cBhvr>
                                        <p:cTn id="126" dur="1000" fill="hold"/>
                                        <p:tgtEl>
                                          <p:spTgt spid="98"/>
                                        </p:tgtEl>
                                        <p:attrNameLst>
                                          <p:attrName>ppt_y</p:attrName>
                                        </p:attrNameLst>
                                      </p:cBhvr>
                                      <p:tavLst>
                                        <p:tav tm="0">
                                          <p:val>
                                            <p:strVal val="#ppt_y"/>
                                          </p:val>
                                        </p:tav>
                                        <p:tav tm="100000">
                                          <p:val>
                                            <p:strVal val="#ppt_y"/>
                                          </p:val>
                                        </p:tav>
                                      </p:tavLst>
                                    </p:anim>
                                    <p:animEffect transition="in" filter="wipe(right)" prLst="gradientSize: 0.1">
                                      <p:cBhvr>
                                        <p:cTn id="127" dur="1000"/>
                                        <p:tgtEl>
                                          <p:spTgt spid="98"/>
                                        </p:tgtEl>
                                      </p:cBhvr>
                                    </p:animEffect>
                                  </p:childTnLst>
                                </p:cTn>
                              </p:par>
                              <p:par>
                                <p:cTn id="128" presetID="29" presetClass="entr" presetSubtype="0" fill="hold" grpId="0" nodeType="withEffect">
                                  <p:stCondLst>
                                    <p:cond delay="0"/>
                                  </p:stCondLst>
                                  <p:childTnLst>
                                    <p:set>
                                      <p:cBhvr>
                                        <p:cTn id="129" dur="1" fill="hold">
                                          <p:stCondLst>
                                            <p:cond delay="0"/>
                                          </p:stCondLst>
                                        </p:cTn>
                                        <p:tgtEl>
                                          <p:spTgt spid="99"/>
                                        </p:tgtEl>
                                        <p:attrNameLst>
                                          <p:attrName>style.visibility</p:attrName>
                                        </p:attrNameLst>
                                      </p:cBhvr>
                                      <p:to>
                                        <p:strVal val="visible"/>
                                      </p:to>
                                    </p:set>
                                    <p:anim calcmode="lin" valueType="num">
                                      <p:cBhvr>
                                        <p:cTn id="130" dur="1000" fill="hold"/>
                                        <p:tgtEl>
                                          <p:spTgt spid="99"/>
                                        </p:tgtEl>
                                        <p:attrNameLst>
                                          <p:attrName>ppt_x</p:attrName>
                                        </p:attrNameLst>
                                      </p:cBhvr>
                                      <p:tavLst>
                                        <p:tav tm="0">
                                          <p:val>
                                            <p:strVal val="#ppt_x-.2"/>
                                          </p:val>
                                        </p:tav>
                                        <p:tav tm="100000">
                                          <p:val>
                                            <p:strVal val="#ppt_x"/>
                                          </p:val>
                                        </p:tav>
                                      </p:tavLst>
                                    </p:anim>
                                    <p:anim calcmode="lin" valueType="num">
                                      <p:cBhvr>
                                        <p:cTn id="131" dur="1000" fill="hold"/>
                                        <p:tgtEl>
                                          <p:spTgt spid="99"/>
                                        </p:tgtEl>
                                        <p:attrNameLst>
                                          <p:attrName>ppt_y</p:attrName>
                                        </p:attrNameLst>
                                      </p:cBhvr>
                                      <p:tavLst>
                                        <p:tav tm="0">
                                          <p:val>
                                            <p:strVal val="#ppt_y"/>
                                          </p:val>
                                        </p:tav>
                                        <p:tav tm="100000">
                                          <p:val>
                                            <p:strVal val="#ppt_y"/>
                                          </p:val>
                                        </p:tav>
                                      </p:tavLst>
                                    </p:anim>
                                    <p:animEffect transition="in" filter="wipe(right)" prLst="gradientSize: 0.1">
                                      <p:cBhvr>
                                        <p:cTn id="132" dur="1000"/>
                                        <p:tgtEl>
                                          <p:spTgt spid="99"/>
                                        </p:tgtEl>
                                      </p:cBhvr>
                                    </p:animEffect>
                                  </p:childTnLst>
                                </p:cTn>
                              </p:par>
                              <p:par>
                                <p:cTn id="133" presetID="29" presetClass="entr" presetSubtype="0" fill="hold" grpId="0" nodeType="withEffect">
                                  <p:stCondLst>
                                    <p:cond delay="0"/>
                                  </p:stCondLst>
                                  <p:childTnLst>
                                    <p:set>
                                      <p:cBhvr>
                                        <p:cTn id="134" dur="1" fill="hold">
                                          <p:stCondLst>
                                            <p:cond delay="0"/>
                                          </p:stCondLst>
                                        </p:cTn>
                                        <p:tgtEl>
                                          <p:spTgt spid="100"/>
                                        </p:tgtEl>
                                        <p:attrNameLst>
                                          <p:attrName>style.visibility</p:attrName>
                                        </p:attrNameLst>
                                      </p:cBhvr>
                                      <p:to>
                                        <p:strVal val="visible"/>
                                      </p:to>
                                    </p:set>
                                    <p:anim calcmode="lin" valueType="num">
                                      <p:cBhvr>
                                        <p:cTn id="135" dur="1000" fill="hold"/>
                                        <p:tgtEl>
                                          <p:spTgt spid="100"/>
                                        </p:tgtEl>
                                        <p:attrNameLst>
                                          <p:attrName>ppt_x</p:attrName>
                                        </p:attrNameLst>
                                      </p:cBhvr>
                                      <p:tavLst>
                                        <p:tav tm="0">
                                          <p:val>
                                            <p:strVal val="#ppt_x-.2"/>
                                          </p:val>
                                        </p:tav>
                                        <p:tav tm="100000">
                                          <p:val>
                                            <p:strVal val="#ppt_x"/>
                                          </p:val>
                                        </p:tav>
                                      </p:tavLst>
                                    </p:anim>
                                    <p:anim calcmode="lin" valueType="num">
                                      <p:cBhvr>
                                        <p:cTn id="136" dur="1000" fill="hold"/>
                                        <p:tgtEl>
                                          <p:spTgt spid="100"/>
                                        </p:tgtEl>
                                        <p:attrNameLst>
                                          <p:attrName>ppt_y</p:attrName>
                                        </p:attrNameLst>
                                      </p:cBhvr>
                                      <p:tavLst>
                                        <p:tav tm="0">
                                          <p:val>
                                            <p:strVal val="#ppt_y"/>
                                          </p:val>
                                        </p:tav>
                                        <p:tav tm="100000">
                                          <p:val>
                                            <p:strVal val="#ppt_y"/>
                                          </p:val>
                                        </p:tav>
                                      </p:tavLst>
                                    </p:anim>
                                    <p:animEffect transition="in" filter="wipe(right)" prLst="gradientSize: 0.1">
                                      <p:cBhvr>
                                        <p:cTn id="137" dur="1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41" grpId="0" animBg="1"/>
      <p:bldP spid="55" grpId="0" animBg="1"/>
      <p:bldP spid="56" grpId="0" animBg="1"/>
      <p:bldP spid="57" grpId="0" animBg="1"/>
      <p:bldP spid="58" grpId="0" animBg="1"/>
      <p:bldP spid="59" grpId="0" animBg="1"/>
      <p:bldP spid="60" grpId="0" animBg="1"/>
      <p:bldP spid="64" grpId="0" animBg="1"/>
      <p:bldP spid="73" grpId="0" animBg="1"/>
      <p:bldP spid="75" grpId="0" animBg="1"/>
      <p:bldP spid="77" grpId="0" animBg="1"/>
      <p:bldP spid="79" grpId="0" animBg="1"/>
      <p:bldP spid="98" grpId="0"/>
      <p:bldP spid="99" grpId="0"/>
      <p:bldP spid="10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smtClean="0"/>
              <a:t>小结：软件项目管理的特点</a:t>
            </a:r>
            <a:endParaRPr lang="zh-CN" altLang="en-US" sz="4000" dirty="0"/>
          </a:p>
        </p:txBody>
      </p:sp>
      <p:sp>
        <p:nvSpPr>
          <p:cNvPr id="3" name="内容占位符 2"/>
          <p:cNvSpPr>
            <a:spLocks noGrp="1"/>
          </p:cNvSpPr>
          <p:nvPr>
            <p:ph idx="1"/>
          </p:nvPr>
        </p:nvSpPr>
        <p:spPr/>
        <p:txBody>
          <a:bodyPr>
            <a:normAutofit/>
          </a:bodyPr>
          <a:lstStyle/>
          <a:p>
            <a:r>
              <a:rPr lang="zh-CN" altLang="en-US" sz="2400" dirty="0" smtClean="0"/>
              <a:t>解决软件项目管理的问题，要涉及到社会、环境、人的因素，比单纯的技术问题要复杂得多。单纯地形式地照搬曾经成功的经验不一定奏效。</a:t>
            </a:r>
            <a:endParaRPr lang="en-US" altLang="zh-CN" sz="2400" dirty="0" smtClean="0"/>
          </a:p>
          <a:p>
            <a:endParaRPr lang="en-US" altLang="zh-CN" sz="2400" b="1" dirty="0">
              <a:solidFill>
                <a:srgbClr val="FFC000"/>
              </a:solidFill>
            </a:endParaRPr>
          </a:p>
          <a:p>
            <a:r>
              <a:rPr lang="zh-CN" altLang="en-US" sz="2400" b="1" dirty="0" smtClean="0">
                <a:solidFill>
                  <a:srgbClr val="FFC000"/>
                </a:solidFill>
              </a:rPr>
              <a:t>软件项目的特点</a:t>
            </a:r>
            <a:r>
              <a:rPr lang="zh-CN" altLang="en-US" sz="2400" dirty="0" smtClean="0"/>
              <a:t>：</a:t>
            </a:r>
            <a:endParaRPr lang="en-US" altLang="zh-CN" sz="2400" dirty="0" smtClean="0"/>
          </a:p>
          <a:p>
            <a:pPr lvl="1"/>
            <a:r>
              <a:rPr lang="zh-CN" altLang="en-US" sz="2400" dirty="0" smtClean="0"/>
              <a:t>智力密集，可见性差；</a:t>
            </a:r>
            <a:endParaRPr lang="en-US" altLang="zh-CN" sz="2400" dirty="0" smtClean="0"/>
          </a:p>
          <a:p>
            <a:pPr lvl="1"/>
            <a:r>
              <a:rPr lang="zh-CN" altLang="en-US" sz="2400" dirty="0" smtClean="0"/>
              <a:t>单件生产；</a:t>
            </a:r>
            <a:endParaRPr lang="en-US" altLang="zh-CN" sz="2400" dirty="0" smtClean="0"/>
          </a:p>
          <a:p>
            <a:pPr lvl="1"/>
            <a:r>
              <a:rPr lang="zh-CN" altLang="en-US" sz="2400" dirty="0" smtClean="0"/>
              <a:t>劳动密集，自动化程度低；</a:t>
            </a:r>
            <a:endParaRPr lang="en-US" altLang="zh-CN" sz="2400" dirty="0" smtClean="0"/>
          </a:p>
          <a:p>
            <a:pPr lvl="1"/>
            <a:r>
              <a:rPr lang="zh-CN" altLang="en-US" sz="2400" dirty="0" smtClean="0"/>
              <a:t>软件工作渗透了人的因素。</a:t>
            </a:r>
            <a:endParaRPr lang="en-US" altLang="zh-CN" sz="24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smtClean="0"/>
              <a:t>小结：软件项目管理的特点</a:t>
            </a:r>
            <a:endParaRPr lang="zh-CN" altLang="en-US" sz="4000" dirty="0"/>
          </a:p>
        </p:txBody>
      </p:sp>
      <p:sp>
        <p:nvSpPr>
          <p:cNvPr id="3" name="内容占位符 2"/>
          <p:cNvSpPr>
            <a:spLocks noGrp="1"/>
          </p:cNvSpPr>
          <p:nvPr>
            <p:ph idx="1"/>
          </p:nvPr>
        </p:nvSpPr>
        <p:spPr>
          <a:xfrm>
            <a:off x="457200" y="1646236"/>
            <a:ext cx="8229600" cy="4807099"/>
          </a:xfrm>
        </p:spPr>
        <p:txBody>
          <a:bodyPr>
            <a:normAutofit/>
          </a:bodyPr>
          <a:lstStyle/>
          <a:p>
            <a:r>
              <a:rPr lang="zh-CN" altLang="en-US" sz="2400" b="1" dirty="0" smtClean="0">
                <a:solidFill>
                  <a:srgbClr val="FFC000"/>
                </a:solidFill>
              </a:rPr>
              <a:t>软件管理的主要职能</a:t>
            </a:r>
            <a:r>
              <a:rPr lang="zh-CN" altLang="en-US" sz="2400" dirty="0" smtClean="0"/>
              <a:t>：</a:t>
            </a:r>
            <a:endParaRPr lang="en-US" altLang="zh-CN" sz="2400" dirty="0" smtClean="0"/>
          </a:p>
          <a:p>
            <a:pPr lvl="1"/>
            <a:r>
              <a:rPr lang="zh-CN" altLang="en-US" sz="2400" dirty="0" smtClean="0"/>
              <a:t>制定计划：规定待完成的任务、要求、资源、人力和进度等；</a:t>
            </a:r>
            <a:endParaRPr lang="en-US" altLang="zh-CN" sz="2400" dirty="0" smtClean="0"/>
          </a:p>
          <a:p>
            <a:pPr lvl="1"/>
            <a:r>
              <a:rPr lang="zh-CN" altLang="en-US" sz="2400" dirty="0" smtClean="0"/>
              <a:t>建立组织：建立分工明确的责任制机构；</a:t>
            </a:r>
            <a:endParaRPr lang="en-US" altLang="zh-CN" sz="2400" dirty="0" smtClean="0"/>
          </a:p>
          <a:p>
            <a:pPr lvl="1"/>
            <a:r>
              <a:rPr lang="zh-CN" altLang="en-US" sz="2400" dirty="0" smtClean="0"/>
              <a:t>配备人员；</a:t>
            </a:r>
            <a:endParaRPr lang="en-US" altLang="zh-CN" sz="2400" dirty="0" smtClean="0"/>
          </a:p>
          <a:p>
            <a:pPr lvl="1"/>
            <a:r>
              <a:rPr lang="zh-CN" altLang="en-US" sz="2400" dirty="0" smtClean="0"/>
              <a:t>指导工作；</a:t>
            </a:r>
            <a:endParaRPr lang="en-US" altLang="zh-CN" sz="2400" dirty="0" smtClean="0"/>
          </a:p>
          <a:p>
            <a:pPr lvl="1"/>
            <a:r>
              <a:rPr lang="zh-CN" altLang="en-US" sz="2400" dirty="0" smtClean="0"/>
              <a:t>检验：对照计划或标准，监督和检查实施的情况。</a:t>
            </a:r>
            <a:endParaRPr lang="en-US" altLang="zh-CN" sz="2400" dirty="0" smtClean="0"/>
          </a:p>
          <a:p>
            <a:r>
              <a:rPr lang="zh-CN" altLang="en-US" sz="3000" dirty="0" smtClean="0"/>
              <a:t>项目管理三要素：</a:t>
            </a:r>
            <a:endParaRPr lang="en-US" altLang="zh-CN" sz="3000" dirty="0" smtClean="0"/>
          </a:p>
          <a:p>
            <a:pPr lvl="1"/>
            <a:r>
              <a:rPr lang="zh-CN" altLang="en-US" sz="2400" dirty="0" smtClean="0">
                <a:solidFill>
                  <a:srgbClr val="FFC000"/>
                </a:solidFill>
              </a:rPr>
              <a:t>时间</a:t>
            </a:r>
            <a:endParaRPr lang="en-US" altLang="zh-CN" sz="2400" dirty="0" smtClean="0">
              <a:solidFill>
                <a:srgbClr val="FFC000"/>
              </a:solidFill>
            </a:endParaRPr>
          </a:p>
          <a:p>
            <a:pPr lvl="1"/>
            <a:r>
              <a:rPr lang="zh-CN" altLang="en-US" sz="2400" dirty="0" smtClean="0">
                <a:solidFill>
                  <a:srgbClr val="FFC000"/>
                </a:solidFill>
              </a:rPr>
              <a:t>成本</a:t>
            </a:r>
            <a:endParaRPr lang="en-US" altLang="zh-CN" sz="2400" dirty="0" smtClean="0">
              <a:solidFill>
                <a:srgbClr val="FFC000"/>
              </a:solidFill>
            </a:endParaRPr>
          </a:p>
          <a:p>
            <a:pPr lvl="1"/>
            <a:r>
              <a:rPr lang="zh-CN" altLang="en-US" sz="2400" dirty="0" smtClean="0">
                <a:solidFill>
                  <a:srgbClr val="FFC000"/>
                </a:solidFill>
              </a:rPr>
              <a:t>质量</a:t>
            </a:r>
            <a:endParaRPr lang="zh-CN" altLang="en-US" sz="16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项目管理九个知识领域</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1960" y="2492896"/>
            <a:ext cx="3924913" cy="2232248"/>
          </a:xfrm>
          <a:prstGeom prst="rect">
            <a:avLst/>
          </a:prstGeom>
        </p:spPr>
      </p:pic>
      <p:sp>
        <p:nvSpPr>
          <p:cNvPr id="5" name="内容占位符 2"/>
          <p:cNvSpPr txBox="1">
            <a:spLocks/>
          </p:cNvSpPr>
          <p:nvPr/>
        </p:nvSpPr>
        <p:spPr>
          <a:xfrm>
            <a:off x="611559" y="1556792"/>
            <a:ext cx="7992889" cy="4526280"/>
          </a:xfrm>
          <a:prstGeom prst="rect">
            <a:avLst/>
          </a:prstGeom>
          <a:ln>
            <a:solidFill>
              <a:schemeClr val="tx1">
                <a:lumMod val="95000"/>
              </a:schemeClr>
            </a:solidFill>
          </a:ln>
        </p:spPr>
        <p:txBody>
          <a:bodyPr>
            <a:norm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r>
              <a:rPr lang="zh-CN" altLang="en-US" sz="2800" dirty="0" smtClean="0"/>
              <a:t>范围管理</a:t>
            </a:r>
            <a:endParaRPr lang="en-US" altLang="zh-CN" sz="2800" dirty="0" smtClean="0"/>
          </a:p>
          <a:p>
            <a:r>
              <a:rPr lang="zh-CN" altLang="en-US" sz="2800" dirty="0" smtClean="0"/>
              <a:t>时间管理</a:t>
            </a:r>
            <a:endParaRPr lang="en-US" altLang="zh-CN" sz="2800" dirty="0" smtClean="0"/>
          </a:p>
          <a:p>
            <a:r>
              <a:rPr lang="zh-CN" altLang="en-US" sz="2800" dirty="0" smtClean="0"/>
              <a:t>成本管理</a:t>
            </a:r>
            <a:endParaRPr lang="en-US" altLang="zh-CN" sz="2800" dirty="0" smtClean="0"/>
          </a:p>
          <a:p>
            <a:r>
              <a:rPr lang="zh-CN" altLang="en-US" sz="2800" dirty="0" smtClean="0"/>
              <a:t>质量管理</a:t>
            </a:r>
            <a:endParaRPr lang="en-US" altLang="zh-CN" sz="2800" dirty="0" smtClean="0"/>
          </a:p>
          <a:p>
            <a:r>
              <a:rPr lang="zh-CN" altLang="en-US" sz="2800" dirty="0" smtClean="0"/>
              <a:t>人力资源管理</a:t>
            </a:r>
            <a:endParaRPr lang="en-US" altLang="zh-CN" sz="2800" dirty="0" smtClean="0"/>
          </a:p>
          <a:p>
            <a:r>
              <a:rPr lang="zh-CN" altLang="en-US" sz="2800" dirty="0" smtClean="0"/>
              <a:t>沟通管理</a:t>
            </a:r>
            <a:endParaRPr lang="en-US" altLang="zh-CN" sz="2800" dirty="0" smtClean="0"/>
          </a:p>
          <a:p>
            <a:r>
              <a:rPr lang="zh-CN" altLang="en-US" sz="2800" dirty="0" smtClean="0"/>
              <a:t>采购管理</a:t>
            </a:r>
            <a:endParaRPr lang="en-US" altLang="zh-CN" sz="2800" dirty="0" smtClean="0"/>
          </a:p>
          <a:p>
            <a:r>
              <a:rPr lang="zh-CN" altLang="en-US" sz="2800" dirty="0" smtClean="0"/>
              <a:t>风险管理</a:t>
            </a:r>
            <a:endParaRPr lang="en-US" altLang="zh-CN" sz="2800" dirty="0" smtClean="0"/>
          </a:p>
          <a:p>
            <a:r>
              <a:rPr lang="zh-CN" altLang="en-US" sz="2800" dirty="0" smtClean="0"/>
              <a:t>整体管理</a:t>
            </a:r>
            <a:endParaRPr lang="en-US" altLang="zh-CN" sz="2800" dirty="0" smtClean="0"/>
          </a:p>
        </p:txBody>
      </p:sp>
    </p:spTree>
    <p:extLst>
      <p:ext uri="{BB962C8B-B14F-4D97-AF65-F5344CB8AC3E}">
        <p14:creationId xmlns:p14="http://schemas.microsoft.com/office/powerpoint/2010/main" val="55537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项目管理的过程</a:t>
            </a:r>
            <a:endParaRPr lang="zh-CN" altLang="en-US" dirty="0"/>
          </a:p>
        </p:txBody>
      </p:sp>
      <p:sp>
        <p:nvSpPr>
          <p:cNvPr id="3" name="内容占位符 2"/>
          <p:cNvSpPr>
            <a:spLocks noGrp="1"/>
          </p:cNvSpPr>
          <p:nvPr>
            <p:ph idx="1"/>
          </p:nvPr>
        </p:nvSpPr>
        <p:spPr>
          <a:xfrm>
            <a:off x="539552" y="1556792"/>
            <a:ext cx="8147248" cy="5040560"/>
          </a:xfrm>
          <a:ln>
            <a:solidFill>
              <a:schemeClr val="tx1">
                <a:lumMod val="95000"/>
              </a:schemeClr>
            </a:solidFill>
          </a:ln>
        </p:spPr>
        <p:txBody>
          <a:bodyPr/>
          <a:lstStyle/>
          <a:p>
            <a:r>
              <a:rPr lang="zh-CN" altLang="en-US" sz="2800" dirty="0"/>
              <a:t>起始</a:t>
            </a:r>
            <a:r>
              <a:rPr lang="zh-CN" altLang="en-US" sz="2800" dirty="0" smtClean="0"/>
              <a:t>（</a:t>
            </a:r>
            <a:r>
              <a:rPr lang="zh-CN" altLang="en-US" sz="2800" dirty="0"/>
              <a:t>启动</a:t>
            </a:r>
            <a:r>
              <a:rPr lang="zh-CN" altLang="en-US" sz="2800" dirty="0" smtClean="0"/>
              <a:t>）</a:t>
            </a:r>
            <a:endParaRPr lang="en-US" altLang="zh-CN" sz="2800" dirty="0" smtClean="0"/>
          </a:p>
          <a:p>
            <a:pPr lvl="1"/>
            <a:r>
              <a:rPr lang="zh-CN" altLang="en-US" sz="2200" dirty="0" smtClean="0"/>
              <a:t>发起项目、授权启动项目、任命项目经理、组建项目团队、确定项目利益相关者</a:t>
            </a:r>
            <a:endParaRPr lang="en-US" altLang="zh-CN" sz="2200" dirty="0"/>
          </a:p>
          <a:p>
            <a:r>
              <a:rPr lang="zh-CN" altLang="en-US" sz="2800" dirty="0" smtClean="0"/>
              <a:t>计划</a:t>
            </a:r>
            <a:r>
              <a:rPr lang="zh-CN" altLang="en-US" sz="2800" dirty="0"/>
              <a:t>（策划</a:t>
            </a:r>
            <a:r>
              <a:rPr lang="zh-CN" altLang="en-US" sz="2800" dirty="0" smtClean="0"/>
              <a:t>）</a:t>
            </a:r>
            <a:endParaRPr lang="en-US" altLang="zh-CN" sz="2800" dirty="0" smtClean="0"/>
          </a:p>
          <a:p>
            <a:pPr lvl="1"/>
            <a:r>
              <a:rPr lang="zh-CN" altLang="en-US" sz="2200" dirty="0" smtClean="0"/>
              <a:t>制定项目计划、确定项目范围、配置项目人力资源、制定项目风险管理计划、编制项目预算表、确定项目预算表、制定项目质量保证计划、确定项目沟通计划、制定采购计划</a:t>
            </a:r>
            <a:endParaRPr lang="en-US" altLang="zh-CN" sz="2200" dirty="0"/>
          </a:p>
          <a:p>
            <a:r>
              <a:rPr lang="zh-CN" altLang="en-US" sz="2800" dirty="0"/>
              <a:t>实施</a:t>
            </a:r>
            <a:r>
              <a:rPr lang="zh-CN" altLang="en-US" sz="2800" dirty="0" smtClean="0"/>
              <a:t>（</a:t>
            </a:r>
            <a:r>
              <a:rPr lang="zh-CN" altLang="en-US" sz="2800" dirty="0"/>
              <a:t>执行</a:t>
            </a:r>
            <a:r>
              <a:rPr lang="zh-CN" altLang="en-US" sz="2800" dirty="0" smtClean="0"/>
              <a:t>）</a:t>
            </a:r>
            <a:endParaRPr lang="en-US" altLang="zh-CN" sz="2200" dirty="0"/>
          </a:p>
          <a:p>
            <a:r>
              <a:rPr lang="zh-CN" altLang="en-US" sz="2800" dirty="0"/>
              <a:t>控制（监测</a:t>
            </a:r>
            <a:r>
              <a:rPr lang="zh-CN" altLang="en-US" sz="2800" dirty="0" smtClean="0"/>
              <a:t>）</a:t>
            </a:r>
            <a:endParaRPr lang="en-US" altLang="zh-CN" sz="2800" dirty="0" smtClean="0"/>
          </a:p>
          <a:p>
            <a:pPr lvl="1"/>
            <a:r>
              <a:rPr lang="zh-CN" altLang="en-US" sz="2200" dirty="0" smtClean="0"/>
              <a:t>跟踪项目、控制项目</a:t>
            </a:r>
            <a:endParaRPr lang="en-US" altLang="zh-CN" sz="2200" dirty="0" smtClean="0"/>
          </a:p>
          <a:p>
            <a:r>
              <a:rPr lang="zh-CN" altLang="en-US" sz="2800" dirty="0" smtClean="0"/>
              <a:t>收尾（完成）</a:t>
            </a:r>
            <a:endParaRPr lang="en-US" altLang="zh-CN" sz="2800" dirty="0" smtClean="0"/>
          </a:p>
          <a:p>
            <a:pPr lvl="1"/>
            <a:r>
              <a:rPr lang="zh-CN" altLang="en-US" sz="2200" dirty="0" smtClean="0"/>
              <a:t>项目移交评审、合同收尾、项目行政收尾</a:t>
            </a:r>
          </a:p>
          <a:p>
            <a:endParaRPr lang="zh-CN" altLang="en-US" dirty="0"/>
          </a:p>
        </p:txBody>
      </p:sp>
    </p:spTree>
    <p:extLst>
      <p:ext uri="{BB962C8B-B14F-4D97-AF65-F5344CB8AC3E}">
        <p14:creationId xmlns:p14="http://schemas.microsoft.com/office/powerpoint/2010/main" val="20384833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14546" y="714356"/>
            <a:ext cx="6248400" cy="1143000"/>
          </a:xfrm>
        </p:spPr>
        <p:txBody>
          <a:bodyPr/>
          <a:lstStyle/>
          <a:p>
            <a:pPr fontAlgn="auto">
              <a:spcAft>
                <a:spcPts val="0"/>
              </a:spcAft>
              <a:defRPr/>
            </a:pPr>
            <a:r>
              <a:rPr lang="en-US" altLang="zh-CN" dirty="0" smtClean="0"/>
              <a:t>The End</a:t>
            </a:r>
            <a:endParaRPr lang="zh-CN" altLang="en-US" dirty="0" smtClean="0"/>
          </a:p>
        </p:txBody>
      </p:sp>
      <p:sp>
        <p:nvSpPr>
          <p:cNvPr id="4" name="副标题 3"/>
          <p:cNvSpPr>
            <a:spLocks noGrp="1"/>
          </p:cNvSpPr>
          <p:nvPr>
            <p:ph type="subTitle" idx="1"/>
          </p:nvPr>
        </p:nvSpPr>
        <p:spPr/>
        <p:txBody>
          <a:bodyPr/>
          <a:lstStyle/>
          <a:p>
            <a:endParaRPr lang="zh-CN" alt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沉稳">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沉稳">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沉稳">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3954</TotalTime>
  <Words>3492</Words>
  <Application>Microsoft Office PowerPoint</Application>
  <PresentationFormat>全屏显示(4:3)</PresentationFormat>
  <Paragraphs>310</Paragraphs>
  <Slides>40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1" baseType="lpstr">
      <vt:lpstr>方正姚体</vt:lpstr>
      <vt:lpstr>金桥简魏碑</vt:lpstr>
      <vt:lpstr>经典行楷简</vt:lpstr>
      <vt:lpstr>宋体</vt:lpstr>
      <vt:lpstr>微软雅黑</vt:lpstr>
      <vt:lpstr>Calibri</vt:lpstr>
      <vt:lpstr>Rockwell</vt:lpstr>
      <vt:lpstr>Wingdings</vt:lpstr>
      <vt:lpstr>Wingdings 2</vt:lpstr>
      <vt:lpstr>沉稳</vt:lpstr>
      <vt:lpstr>图表</vt:lpstr>
      <vt:lpstr>软件项目管理</vt:lpstr>
      <vt:lpstr>软件项目管理的作用</vt:lpstr>
      <vt:lpstr>项目趣谈——草船借箭</vt:lpstr>
      <vt:lpstr>项目趣谈——草船借箭</vt:lpstr>
      <vt:lpstr>项目管理知识体系（PMBOK） Project Management Body of Knowledge</vt:lpstr>
      <vt:lpstr>1、软件项目管理概述</vt:lpstr>
      <vt:lpstr>1、软件项目管理概述</vt:lpstr>
      <vt:lpstr>2、项目管理过程</vt:lpstr>
      <vt:lpstr>3、软件开发成本估算</vt:lpstr>
      <vt:lpstr>3、软件开发成本估算—估算方法</vt:lpstr>
      <vt:lpstr>3、软件开发成本估算—估算方法</vt:lpstr>
      <vt:lpstr>3、软件开发成本估算—度量软件规模</vt:lpstr>
      <vt:lpstr>PowerPoint 演示文稿</vt:lpstr>
      <vt:lpstr>PowerPoint 演示文稿</vt:lpstr>
      <vt:lpstr>PowerPoint 演示文稿</vt:lpstr>
      <vt:lpstr>PowerPoint 演示文稿</vt:lpstr>
      <vt:lpstr>4、风险分析</vt:lpstr>
      <vt:lpstr>4、风险分析</vt:lpstr>
      <vt:lpstr>5、进度安排</vt:lpstr>
      <vt:lpstr>5、进度安排</vt:lpstr>
      <vt:lpstr>5、进度安排</vt:lpstr>
      <vt:lpstr>5、进度安排</vt:lpstr>
      <vt:lpstr>6、软件质量保证</vt:lpstr>
      <vt:lpstr>6、软件质量保证</vt:lpstr>
      <vt:lpstr>6、软件质量保证</vt:lpstr>
      <vt:lpstr>6、软件质量保证</vt:lpstr>
      <vt:lpstr>6、软件质量保证</vt:lpstr>
      <vt:lpstr>6、软件质量保证</vt:lpstr>
      <vt:lpstr>7、软件配置管理</vt:lpstr>
      <vt:lpstr>7、软件配置管理</vt:lpstr>
      <vt:lpstr>7、软件配置管理</vt:lpstr>
      <vt:lpstr>7、软件配置管理</vt:lpstr>
      <vt:lpstr>8、软件项目的组织</vt:lpstr>
      <vt:lpstr>8、软件项目的组织</vt:lpstr>
      <vt:lpstr>8、软件项目的组织</vt:lpstr>
      <vt:lpstr>小结：软件项目管理的特点</vt:lpstr>
      <vt:lpstr>小结：软件项目管理的特点</vt:lpstr>
      <vt:lpstr>项目管理九个知识领域</vt:lpstr>
      <vt:lpstr>项目管理的过程</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软件项目管理</dc:title>
  <cp:lastModifiedBy>张弛</cp:lastModifiedBy>
  <cp:revision>103</cp:revision>
  <dcterms:modified xsi:type="dcterms:W3CDTF">2019-06-03T12:10:15Z</dcterms:modified>
</cp:coreProperties>
</file>

<file path=[Content_Types].xml><?xml version="1.0" encoding="utf-8"?>
<Types xmlns="http://schemas.openxmlformats.org/package/2006/content-types">
  <Default Extension="bin" ContentType="audio/unknown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0"/>
  </p:notesMasterIdLst>
  <p:handoutMasterIdLst>
    <p:handoutMasterId r:id="rId31"/>
  </p:handoutMasterIdLst>
  <p:sldIdLst>
    <p:sldId id="478" r:id="rId2"/>
    <p:sldId id="497" r:id="rId3"/>
    <p:sldId id="392" r:id="rId4"/>
    <p:sldId id="362" r:id="rId5"/>
    <p:sldId id="494" r:id="rId6"/>
    <p:sldId id="400" r:id="rId7"/>
    <p:sldId id="404" r:id="rId8"/>
    <p:sldId id="364" r:id="rId9"/>
    <p:sldId id="423" r:id="rId10"/>
    <p:sldId id="401" r:id="rId11"/>
    <p:sldId id="402" r:id="rId12"/>
    <p:sldId id="496" r:id="rId13"/>
    <p:sldId id="406" r:id="rId14"/>
    <p:sldId id="338" r:id="rId15"/>
    <p:sldId id="495" r:id="rId16"/>
    <p:sldId id="347" r:id="rId17"/>
    <p:sldId id="321" r:id="rId18"/>
    <p:sldId id="409" r:id="rId19"/>
    <p:sldId id="306" r:id="rId20"/>
    <p:sldId id="410" r:id="rId21"/>
    <p:sldId id="498" r:id="rId22"/>
    <p:sldId id="344" r:id="rId23"/>
    <p:sldId id="345" r:id="rId24"/>
    <p:sldId id="359" r:id="rId25"/>
    <p:sldId id="360" r:id="rId26"/>
    <p:sldId id="346" r:id="rId27"/>
    <p:sldId id="342" r:id="rId28"/>
    <p:sldId id="293" r:id="rId29"/>
  </p:sldIdLst>
  <p:sldSz cx="9144000" cy="6858000" type="screen4x3"/>
  <p:notesSz cx="6670675" cy="9929813"/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rtl="0" eaLnBrk="0" fontAlgn="base" hangingPunct="0">
      <a:lnSpc>
        <a:spcPct val="75000"/>
      </a:lnSpc>
      <a:spcBef>
        <a:spcPct val="20000"/>
      </a:spcBef>
      <a:spcAft>
        <a:spcPct val="0"/>
      </a:spcAft>
      <a:buClr>
        <a:srgbClr val="FFCC66"/>
      </a:buClr>
      <a:buSzPct val="80000"/>
      <a:buFont typeface="Monotype Sorts" charset="2"/>
      <a:defRPr sz="2000" b="1" kern="1200">
        <a:solidFill>
          <a:schemeClr val="tx1"/>
        </a:solidFill>
        <a:latin typeface="Courier New" charset="0"/>
        <a:ea typeface="宋体" charset="0"/>
        <a:cs typeface="+mn-cs"/>
      </a:defRPr>
    </a:lvl1pPr>
    <a:lvl2pPr marL="457200" algn="l" rtl="0" eaLnBrk="0" fontAlgn="base" hangingPunct="0">
      <a:lnSpc>
        <a:spcPct val="75000"/>
      </a:lnSpc>
      <a:spcBef>
        <a:spcPct val="20000"/>
      </a:spcBef>
      <a:spcAft>
        <a:spcPct val="0"/>
      </a:spcAft>
      <a:buClr>
        <a:srgbClr val="FFCC66"/>
      </a:buClr>
      <a:buSzPct val="80000"/>
      <a:buFont typeface="Monotype Sorts" charset="2"/>
      <a:defRPr sz="2000" b="1" kern="1200">
        <a:solidFill>
          <a:schemeClr val="tx1"/>
        </a:solidFill>
        <a:latin typeface="Courier New" charset="0"/>
        <a:ea typeface="宋体" charset="0"/>
        <a:cs typeface="+mn-cs"/>
      </a:defRPr>
    </a:lvl2pPr>
    <a:lvl3pPr marL="914400" algn="l" rtl="0" eaLnBrk="0" fontAlgn="base" hangingPunct="0">
      <a:lnSpc>
        <a:spcPct val="75000"/>
      </a:lnSpc>
      <a:spcBef>
        <a:spcPct val="20000"/>
      </a:spcBef>
      <a:spcAft>
        <a:spcPct val="0"/>
      </a:spcAft>
      <a:buClr>
        <a:srgbClr val="FFCC66"/>
      </a:buClr>
      <a:buSzPct val="80000"/>
      <a:buFont typeface="Monotype Sorts" charset="2"/>
      <a:defRPr sz="2000" b="1" kern="1200">
        <a:solidFill>
          <a:schemeClr val="tx1"/>
        </a:solidFill>
        <a:latin typeface="Courier New" charset="0"/>
        <a:ea typeface="宋体" charset="0"/>
        <a:cs typeface="+mn-cs"/>
      </a:defRPr>
    </a:lvl3pPr>
    <a:lvl4pPr marL="1371600" algn="l" rtl="0" eaLnBrk="0" fontAlgn="base" hangingPunct="0">
      <a:lnSpc>
        <a:spcPct val="75000"/>
      </a:lnSpc>
      <a:spcBef>
        <a:spcPct val="20000"/>
      </a:spcBef>
      <a:spcAft>
        <a:spcPct val="0"/>
      </a:spcAft>
      <a:buClr>
        <a:srgbClr val="FFCC66"/>
      </a:buClr>
      <a:buSzPct val="80000"/>
      <a:buFont typeface="Monotype Sorts" charset="2"/>
      <a:defRPr sz="2000" b="1" kern="1200">
        <a:solidFill>
          <a:schemeClr val="tx1"/>
        </a:solidFill>
        <a:latin typeface="Courier New" charset="0"/>
        <a:ea typeface="宋体" charset="0"/>
        <a:cs typeface="+mn-cs"/>
      </a:defRPr>
    </a:lvl4pPr>
    <a:lvl5pPr marL="1828800" algn="l" rtl="0" eaLnBrk="0" fontAlgn="base" hangingPunct="0">
      <a:lnSpc>
        <a:spcPct val="75000"/>
      </a:lnSpc>
      <a:spcBef>
        <a:spcPct val="20000"/>
      </a:spcBef>
      <a:spcAft>
        <a:spcPct val="0"/>
      </a:spcAft>
      <a:buClr>
        <a:srgbClr val="FFCC66"/>
      </a:buClr>
      <a:buSzPct val="80000"/>
      <a:buFont typeface="Monotype Sorts" charset="2"/>
      <a:defRPr sz="2000" b="1" kern="1200">
        <a:solidFill>
          <a:schemeClr val="tx1"/>
        </a:solidFill>
        <a:latin typeface="Courier New" charset="0"/>
        <a:ea typeface="宋体" charset="0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urier New" charset="0"/>
        <a:ea typeface="宋体" charset="0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urier New" charset="0"/>
        <a:ea typeface="宋体" charset="0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urier New" charset="0"/>
        <a:ea typeface="宋体" charset="0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urier New" charset="0"/>
        <a:ea typeface="宋体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80000"/>
    <a:srgbClr val="3366FF"/>
    <a:srgbClr val="996600"/>
    <a:srgbClr val="FF9900"/>
    <a:srgbClr val="669900"/>
    <a:srgbClr val="9900CC"/>
    <a:srgbClr val="0000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07" autoAdjust="0"/>
    <p:restoredTop sz="96654" autoAdjust="0"/>
  </p:normalViewPr>
  <p:slideViewPr>
    <p:cSldViewPr>
      <p:cViewPr varScale="1">
        <p:scale>
          <a:sx n="187" d="100"/>
          <a:sy n="187" d="100"/>
        </p:scale>
        <p:origin x="169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7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  <a:latin typeface="Times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  <a:latin typeface="Times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  <a:latin typeface="Times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latin typeface="Times" charset="0"/>
              </a:defRPr>
            </a:lvl1pPr>
          </a:lstStyle>
          <a:p>
            <a:fld id="{04234D78-619C-3745-BD86-3D1254E4511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1315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28.36041" units="1/cm"/>
          <inkml:channelProperty channel="Y" name="resolution" value="28.34646" units="1/cm"/>
        </inkml:channelProperties>
      </inkml:inkSource>
      <inkml:timestamp xml:id="ts0" timeString="2013-05-20T01:58:12.624"/>
    </inkml:context>
    <inkml:brush xml:id="br0">
      <inkml:brushProperty name="width" value="0.05292" units="cm"/>
      <inkml:brushProperty name="height" value="0.05292" units="cm"/>
      <inkml:brushProperty name="color" value="#FBD7BB"/>
    </inkml:brush>
  </inkml:definitions>
  <inkml:trace contextRef="#ctx0" brushRef="#br0">1058 17886</inkml:trace>
  <inkml:trace contextRef="#ctx0" brushRef="#br0" timeOffset="4808.26">970 17992</inkml:trace>
  <inkml:trace contextRef="#ctx0" brushRef="#br0" timeOffset="6672.38">1023 18115</inkml:trace>
  <inkml:trace contextRef="#ctx0" brushRef="#br0" timeOffset="7424.42">1111 18115</inkml:trace>
  <inkml:trace contextRef="#ctx0" brushRef="#br0" timeOffset="9783.54">1147 17992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0771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4098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kumimoji="0"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099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F4C1B79A-7E73-5D49-B012-E24C78966A30}" type="slidenum">
              <a:rPr lang="en-US" altLang="zh-CN" sz="1200">
                <a:latin typeface="Times New Roman" charset="0"/>
              </a:rPr>
              <a:pPr/>
              <a:t>1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302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</p:spPr>
        <p:txBody>
          <a:bodyPr anchor="b"/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323488D-E838-7048-AFAA-916744A88C70}" type="slidenum">
              <a:rPr lang="zh-CN" altLang="en-US" sz="1200" b="0">
                <a:solidFill>
                  <a:schemeClr val="tx1"/>
                </a:solidFill>
                <a:latin typeface="Calibri" charset="0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zh-CN" altLang="en-US" sz="1200" b="0">
              <a:solidFill>
                <a:schemeClr val="tx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447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</p:spPr>
        <p:txBody>
          <a:bodyPr anchor="b"/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EE599DF-436F-9F44-B406-D232A620CA5B}" type="slidenum">
              <a:rPr lang="zh-CN" altLang="en-US" sz="1200" b="0">
                <a:solidFill>
                  <a:schemeClr val="tx1"/>
                </a:solidFill>
                <a:latin typeface="Calibri" charset="0"/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zh-CN" altLang="en-US" sz="1200" b="0">
              <a:solidFill>
                <a:schemeClr val="tx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900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91138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91139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charset="0"/>
                <a:ea typeface="宋体" charset="0"/>
              </a:defRPr>
            </a:lvl9pPr>
          </a:lstStyle>
          <a:p>
            <a:fld id="{2FF367E6-D264-6C45-8138-243061461214}" type="slidenum">
              <a:rPr lang="en-US" altLang="zh-CN" sz="1200" b="0">
                <a:solidFill>
                  <a:schemeClr val="tx1"/>
                </a:solidFill>
              </a:rPr>
              <a:pPr/>
              <a:t>9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116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778250" y="9431338"/>
            <a:ext cx="2890838" cy="496887"/>
          </a:xfrm>
          <a:prstGeom prst="rect">
            <a:avLst/>
          </a:prstGeom>
          <a:noFill/>
        </p:spPr>
        <p:txBody>
          <a:bodyPr anchor="b"/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DADE01B-D333-3E41-B63E-079E32712B31}" type="slidenum">
              <a:rPr lang="zh-CN" altLang="en-US" sz="1200" b="0">
                <a:solidFill>
                  <a:schemeClr val="tx1"/>
                </a:solidFill>
                <a:latin typeface="Calibri" charset="0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zh-CN" altLang="en-US" sz="1200" b="0">
              <a:solidFill>
                <a:schemeClr val="tx1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086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33265FB6-C41A-8899-2EAC-6CDD9A5FD8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A12CA33-1550-E94B-AF55-6FC682CFDDA1}" type="slidenum">
              <a:rPr lang="en-US" altLang="zh-CN" sz="1200" b="0">
                <a:solidFill>
                  <a:schemeClr val="tx1"/>
                </a:solidFill>
              </a:rPr>
              <a:pPr/>
              <a:t>22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21019C7F-CBE2-E68F-BA7C-A5BD34FFD3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2A25D81E-3C28-C459-0D7A-A3EC3C0CE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>
            <a:extLst>
              <a:ext uri="{FF2B5EF4-FFF2-40B4-BE49-F238E27FC236}">
                <a16:creationId xmlns:a16="http://schemas.microsoft.com/office/drawing/2014/main" id="{4DBC7591-1E18-DB1A-3D81-056F9B17B3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4A74F60-F12C-1046-93CB-53CC5B0EFDE3}" type="slidenum">
              <a:rPr lang="en-US" altLang="zh-CN" sz="1200" b="0">
                <a:solidFill>
                  <a:schemeClr val="tx1"/>
                </a:solidFill>
              </a:rPr>
              <a:pPr/>
              <a:t>23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54CCE886-BB28-D1C0-338B-58707F4CA4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7C785FE6-15B8-311A-309B-4C816B32B4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>
            <a:extLst>
              <a:ext uri="{FF2B5EF4-FFF2-40B4-BE49-F238E27FC236}">
                <a16:creationId xmlns:a16="http://schemas.microsoft.com/office/drawing/2014/main" id="{EF154918-504E-CB7D-D278-0B59D159FE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AD42E69-15D4-7246-9FFF-FB51AE793C2D}" type="slidenum">
              <a:rPr lang="en-US" altLang="zh-CN" sz="1200" b="0">
                <a:solidFill>
                  <a:schemeClr val="tx1"/>
                </a:solidFill>
              </a:rPr>
              <a:pPr/>
              <a:t>26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F8B77B83-5DC1-4F16-7C3F-829692D490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08795FB8-E4ED-F743-296A-BE8BE57257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>
            <a:extLst>
              <a:ext uri="{FF2B5EF4-FFF2-40B4-BE49-F238E27FC236}">
                <a16:creationId xmlns:a16="http://schemas.microsoft.com/office/drawing/2014/main" id="{116908D4-7C6F-1AB9-AE3B-A3BA42E6FD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FAE043E-12D2-4441-8B30-38C07D758EC7}" type="slidenum">
              <a:rPr lang="en-US" altLang="zh-CN" sz="1200" b="0">
                <a:solidFill>
                  <a:schemeClr val="tx1"/>
                </a:solidFill>
              </a:rPr>
              <a:pPr/>
              <a:t>27</a:t>
            </a:fld>
            <a:endParaRPr lang="en-US" altLang="zh-CN" sz="1200" b="0">
              <a:solidFill>
                <a:schemeClr val="tx1"/>
              </a:solidFill>
            </a:endParaRP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3C4FB707-6C68-3776-0A2F-64568D78F6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9FAADF12-F280-92CD-4727-7C4819EA6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9FC6B6-2ADB-F544-9C51-B5F1CF3F074F}" type="datetime1">
              <a:rPr lang="zh-CN" altLang="en-US" smtClean="0"/>
              <a:t>2022/11/24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9F04F4AE-2E1F-F54F-AFF7-53C707B6D2E6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94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B6E7-AF89-454F-98AE-AFED4239F98D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FECB7B8-690A-1746-A99C-121FBBC90BD4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466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0C195-B920-B04B-8A8D-1D96F41A80F5}" type="datetime1">
              <a:rPr lang="zh-CN" altLang="en-US" smtClean="0"/>
              <a:t>2022/11/24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41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5F47-CA1B-DC49-82AD-B2CB89DEFA3F}" type="datetime1">
              <a:rPr lang="zh-CN" altLang="en-US" smtClean="0"/>
              <a:t>2022/11/24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90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6459A6B-70B2-524D-B786-2E345CC6B91F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55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097B5-EE7D-D04A-B749-4EBE87F233A2}" type="datetime1">
              <a:rPr lang="zh-CN" altLang="en-US" smtClean="0"/>
              <a:t>2022/11/24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5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C767F-2FF2-9448-B7AF-2E553C5E18E7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798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F4131-F1E0-E44C-B57A-7FBC3B297A1A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379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A7F65-C148-9145-A326-289FB247F152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521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1643F-DF8B-E94A-B006-C3FD98D92121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26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1038" y="333375"/>
            <a:ext cx="7797800" cy="8397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843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4313"/>
            <a:ext cx="3810000" cy="2228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865563"/>
            <a:ext cx="3810000" cy="22304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6947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4B28F58-F81C-7F47-B000-1A56E32DD32B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8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leizhang@cuc.edu.c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88670" y="3200399"/>
            <a:ext cx="7593330" cy="1008551"/>
          </a:xfrm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4000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程序设计与编程方法</a:t>
            </a:r>
          </a:p>
        </p:txBody>
      </p:sp>
      <p:sp>
        <p:nvSpPr>
          <p:cNvPr id="3" name="WordArt 6"/>
          <p:cNvSpPr>
            <a:spLocks noChangeArrowheads="1" noChangeShapeType="1" noTextEdit="1"/>
          </p:cNvSpPr>
          <p:nvPr/>
        </p:nvSpPr>
        <p:spPr bwMode="auto">
          <a:xfrm>
            <a:off x="1763688" y="1916832"/>
            <a:ext cx="5839494" cy="96138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accent1">
                  <a:lumMod val="75000"/>
                </a:schemeClr>
              </a:buClr>
              <a:buSzPct val="85000"/>
              <a:buNone/>
            </a:pPr>
            <a:r>
              <a:rPr kumimoji="1" lang="zh-CN" altLang="en-US" sz="4000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第七章 函数与多维数组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421037" y="4797152"/>
            <a:ext cx="4374356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隶书" charset="0"/>
                <a:ea typeface="隶书" charset="0"/>
              </a:rPr>
              <a:t>张雷</a:t>
            </a:r>
            <a:br>
              <a:rPr lang="zh-CN" altLang="en-US" sz="2000" b="1" dirty="0">
                <a:solidFill>
                  <a:srgbClr val="000000"/>
                </a:solidFill>
                <a:latin typeface="隶书" charset="0"/>
                <a:ea typeface="隶书" charset="0"/>
              </a:rPr>
            </a:br>
            <a:r>
              <a:rPr lang="en-US" altLang="zh-CN" sz="2000" b="1" dirty="0">
                <a:latin typeface="Times New Roman" charset="0"/>
                <a:ea typeface="隶书" charset="0"/>
                <a:hlinkClick r:id="rId4"/>
              </a:rPr>
              <a:t>leizhang</a:t>
            </a:r>
            <a:r>
              <a:rPr lang="en-US" altLang="zh-CN" sz="2000" b="1" dirty="0">
                <a:latin typeface="Times New Roman" charset="0"/>
                <a:hlinkClick r:id="rId4"/>
              </a:rPr>
              <a:t>@cuc.edu.cn</a:t>
            </a:r>
            <a:endParaRPr lang="zh-CN" altLang="en-US" sz="2000" b="1" dirty="0">
              <a:latin typeface="Times New Roman" charset="0"/>
            </a:endParaRPr>
          </a:p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charset="0"/>
              </a:rPr>
              <a:t>中国传媒大学</a:t>
            </a:r>
          </a:p>
          <a:p>
            <a:pPr algn="ctr">
              <a:spcBef>
                <a:spcPct val="50000"/>
              </a:spcBef>
            </a:pPr>
            <a:r>
              <a:rPr lang="zh-CN" altLang="en-US" dirty="0">
                <a:latin typeface="Times New Roman" charset="0"/>
              </a:rPr>
              <a:t>计算机与网络空间安全学院</a:t>
            </a:r>
            <a:endParaRPr lang="en-US" altLang="zh-CN" sz="2400">
              <a:latin typeface="Times New Roman" charset="0"/>
            </a:endParaRPr>
          </a:p>
          <a:p>
            <a:pPr algn="ctr" eaLnBrk="0" hangingPunct="0">
              <a:spcBef>
                <a:spcPct val="50000"/>
              </a:spcBef>
            </a:pPr>
            <a:endParaRPr lang="en-US" altLang="zh-CN" sz="2400" b="1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01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6104BC-2EC4-B62A-83EB-93F66A77E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132" y="2624328"/>
            <a:ext cx="7772400" cy="1609344"/>
          </a:xfrm>
        </p:spPr>
        <p:txBody>
          <a:bodyPr/>
          <a:lstStyle/>
          <a:p>
            <a:r>
              <a:rPr lang="en-US" altLang="zh-CN" sz="4400" b="1">
                <a:latin typeface="华文楷体" panose="02010600040101010101" pitchFamily="2" charset="-122"/>
                <a:ea typeface="华文楷体" panose="02010600040101010101" pitchFamily="2" charset="-122"/>
              </a:rPr>
              <a:t>7.1</a:t>
            </a:r>
            <a:r>
              <a:rPr lang="zh-CN" altLang="en-US" sz="4400" b="1">
                <a:latin typeface="华文楷体" panose="02010600040101010101" pitchFamily="2" charset="-122"/>
                <a:ea typeface="华文楷体" panose="02010600040101010101" pitchFamily="2" charset="-122"/>
              </a:rPr>
              <a:t> 多维数组</a:t>
            </a:r>
            <a:endParaRPr kumimoji="1" lang="zh-CN" altLang="en-US" b="1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3D9F43-05DF-F3FC-3FBF-45B8335A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B6E7-AF89-454F-98AE-AFED4239F98D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0AD425-F9A4-F45F-6569-411E23AA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412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标题 6"/>
          <p:cNvSpPr>
            <a:spLocks noGrp="1"/>
          </p:cNvSpPr>
          <p:nvPr>
            <p:ph type="title" idx="4294967295"/>
          </p:nvPr>
        </p:nvSpPr>
        <p:spPr>
          <a:xfrm>
            <a:off x="1346200" y="333375"/>
            <a:ext cx="7797800" cy="839788"/>
          </a:xfrm>
        </p:spPr>
        <p:txBody>
          <a:bodyPr lIns="91440" tIns="45720" rIns="91440" bIns="45720"/>
          <a:lstStyle/>
          <a:p>
            <a:r>
              <a:rPr lang="zh-CN" altLang="en-US"/>
              <a:t>一维数组和多维数组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half" idx="4294967295"/>
          </p:nvPr>
        </p:nvSpPr>
        <p:spPr>
          <a:xfrm>
            <a:off x="719138" y="1196975"/>
            <a:ext cx="8424862" cy="4176713"/>
          </a:xfrm>
        </p:spPr>
        <p:txBody>
          <a:bodyPr lIns="91440" tIns="45720" rIns="91440" bIns="45720">
            <a:normAutofit lnSpcReduction="10000"/>
          </a:bodyPr>
          <a:lstStyle/>
          <a:p>
            <a:pPr eaLnBrk="1"/>
            <a:r>
              <a:rPr lang="zh-CN" altLang="en-US" sz="2400">
                <a:ea typeface="宋体" charset="0"/>
              </a:rPr>
              <a:t>一维数组</a:t>
            </a:r>
          </a:p>
          <a:p>
            <a:pPr lvl="1" eaLnBrk="1"/>
            <a:r>
              <a:rPr lang="zh-CN" altLang="en-US" sz="2000">
                <a:ea typeface="宋体" charset="0"/>
              </a:rPr>
              <a:t>用一个下标确定各元素在数组中的顺序</a:t>
            </a:r>
          </a:p>
          <a:p>
            <a:pPr lvl="1" eaLnBrk="1"/>
            <a:r>
              <a:rPr lang="zh-CN" altLang="en-US" sz="2000">
                <a:ea typeface="宋体" charset="0"/>
              </a:rPr>
              <a:t>可用排列成一行的元素组来表示</a:t>
            </a:r>
            <a:endParaRPr lang="en-US" altLang="zh-CN" sz="2000">
              <a:ea typeface="宋体" charset="0"/>
            </a:endParaRPr>
          </a:p>
          <a:p>
            <a:pPr lvl="2" eaLnBrk="1"/>
            <a:r>
              <a:rPr lang="zh-CN" altLang="en-US" sz="1800">
                <a:ea typeface="宋体" charset="0"/>
              </a:rPr>
              <a:t>如 </a:t>
            </a:r>
            <a:r>
              <a:rPr lang="en-US" altLang="zh-CN" sz="1800">
                <a:latin typeface="Courier New" charset="0"/>
                <a:ea typeface="宋体" charset="0"/>
              </a:rPr>
              <a:t>int a[5];   </a:t>
            </a:r>
          </a:p>
          <a:p>
            <a:pPr eaLnBrk="1"/>
            <a:r>
              <a:rPr lang="zh-CN" altLang="en-US" sz="2400">
                <a:ea typeface="宋体" charset="0"/>
              </a:rPr>
              <a:t>二维数组</a:t>
            </a:r>
          </a:p>
          <a:p>
            <a:pPr lvl="1" eaLnBrk="1"/>
            <a:r>
              <a:rPr lang="zh-CN" altLang="en-US" sz="2000">
                <a:ea typeface="宋体" charset="0"/>
              </a:rPr>
              <a:t>用两个下标确定各元素在数组中的顺序</a:t>
            </a:r>
          </a:p>
          <a:p>
            <a:pPr lvl="1" eaLnBrk="1"/>
            <a:r>
              <a:rPr lang="zh-CN" altLang="en-US" sz="2000">
                <a:ea typeface="宋体" charset="0"/>
              </a:rPr>
              <a:t>可用排列成</a:t>
            </a:r>
            <a:r>
              <a:rPr lang="en-US" altLang="zh-CN" sz="2000">
                <a:ea typeface="宋体" charset="0"/>
              </a:rPr>
              <a:t>i</a:t>
            </a:r>
            <a:r>
              <a:rPr lang="zh-CN" altLang="en-US" sz="2000">
                <a:ea typeface="宋体" charset="0"/>
              </a:rPr>
              <a:t>行，</a:t>
            </a:r>
            <a:r>
              <a:rPr lang="en-US" altLang="zh-CN" sz="2000">
                <a:ea typeface="宋体" charset="0"/>
              </a:rPr>
              <a:t>j</a:t>
            </a:r>
            <a:r>
              <a:rPr lang="zh-CN" altLang="en-US" sz="2000">
                <a:ea typeface="宋体" charset="0"/>
              </a:rPr>
              <a:t>列的元素组来表示</a:t>
            </a:r>
            <a:endParaRPr lang="en-US" altLang="zh-CN" sz="2000">
              <a:ea typeface="宋体" charset="0"/>
            </a:endParaRPr>
          </a:p>
          <a:p>
            <a:pPr lvl="2" eaLnBrk="1"/>
            <a:r>
              <a:rPr lang="zh-CN" altLang="en-US" sz="1800">
                <a:ea typeface="宋体" charset="0"/>
              </a:rPr>
              <a:t>如 </a:t>
            </a:r>
            <a:r>
              <a:rPr lang="en-US" altLang="zh-CN" sz="1800">
                <a:latin typeface="Courier New" charset="0"/>
                <a:ea typeface="宋体" charset="0"/>
              </a:rPr>
              <a:t>int b[2][3];  </a:t>
            </a:r>
          </a:p>
          <a:p>
            <a:pPr eaLnBrk="1"/>
            <a:r>
              <a:rPr lang="en-US" altLang="zh-CN" sz="2400">
                <a:ea typeface="宋体" charset="0"/>
              </a:rPr>
              <a:t>n</a:t>
            </a:r>
            <a:r>
              <a:rPr lang="zh-CN" altLang="en-US" sz="2400">
                <a:ea typeface="宋体" charset="0"/>
              </a:rPr>
              <a:t>维数组</a:t>
            </a:r>
            <a:endParaRPr lang="en-US" altLang="zh-CN" sz="2400">
              <a:ea typeface="宋体" charset="0"/>
            </a:endParaRPr>
          </a:p>
          <a:p>
            <a:pPr lvl="1" eaLnBrk="1"/>
            <a:r>
              <a:rPr lang="zh-CN" altLang="en-US" sz="2000">
                <a:ea typeface="宋体" charset="0"/>
              </a:rPr>
              <a:t>用</a:t>
            </a:r>
            <a:r>
              <a:rPr lang="en-US" altLang="zh-CN" sz="2000">
                <a:ea typeface="宋体" charset="0"/>
              </a:rPr>
              <a:t>n</a:t>
            </a:r>
            <a:r>
              <a:rPr lang="zh-CN" altLang="en-US" sz="2000">
                <a:ea typeface="宋体" charset="0"/>
              </a:rPr>
              <a:t>个下标来确定各元素在数组中的顺序</a:t>
            </a:r>
            <a:endParaRPr lang="en-US" altLang="zh-CN" sz="2000">
              <a:ea typeface="宋体" charset="0"/>
            </a:endParaRPr>
          </a:p>
          <a:p>
            <a:pPr lvl="2" eaLnBrk="1"/>
            <a:r>
              <a:rPr lang="zh-CN" altLang="en-US" sz="1800">
                <a:ea typeface="宋体" charset="0"/>
              </a:rPr>
              <a:t>如   </a:t>
            </a:r>
            <a:r>
              <a:rPr lang="en-US" altLang="zh-CN" sz="1800">
                <a:latin typeface="Courier New" charset="0"/>
                <a:ea typeface="宋体" charset="0"/>
              </a:rPr>
              <a:t>int c[3][2][4];</a:t>
            </a:r>
          </a:p>
          <a:p>
            <a:pPr lvl="1" eaLnBrk="1"/>
            <a:r>
              <a:rPr lang="en-US" altLang="zh-CN" sz="2000">
                <a:ea typeface="宋体" charset="0"/>
              </a:rPr>
              <a:t>n≥3</a:t>
            </a:r>
            <a:r>
              <a:rPr lang="zh-CN" altLang="en-US" sz="2000">
                <a:ea typeface="宋体" charset="0"/>
              </a:rPr>
              <a:t>时，维数组无法在平面上表示其各元素的位置</a:t>
            </a:r>
            <a:endParaRPr lang="zh-CN" altLang="en-US">
              <a:ea typeface="宋体" charset="0"/>
            </a:endParaRPr>
          </a:p>
        </p:txBody>
      </p:sp>
      <p:graphicFrame>
        <p:nvGraphicFramePr>
          <p:cNvPr id="11" name="Group 4"/>
          <p:cNvGraphicFramePr>
            <a:graphicFrameLocks noGrp="1"/>
          </p:cNvGraphicFramePr>
          <p:nvPr>
            <p:ph sz="quarter" idx="4294967295"/>
          </p:nvPr>
        </p:nvGraphicFramePr>
        <p:xfrm>
          <a:off x="0" y="5661025"/>
          <a:ext cx="4038600" cy="517525"/>
        </p:xfrm>
        <a:graphic>
          <a:graphicData uri="http://schemas.openxmlformats.org/drawingml/2006/table">
            <a:tbl>
              <a:tblPr/>
              <a:tblGrid>
                <a:gridCol w="80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a[4]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Group 18"/>
          <p:cNvGraphicFramePr>
            <a:graphicFrameLocks noGrp="1"/>
          </p:cNvGraphicFramePr>
          <p:nvPr/>
        </p:nvGraphicFramePr>
        <p:xfrm>
          <a:off x="4859338" y="5589588"/>
          <a:ext cx="3967162" cy="1036637"/>
        </p:xfrm>
        <a:graphic>
          <a:graphicData uri="http://schemas.openxmlformats.org/drawingml/2006/table">
            <a:tbl>
              <a:tblPr/>
              <a:tblGrid>
                <a:gridCol w="1274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b[0][0]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b[0][1]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b[0][2]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b[1][0]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b[1][1]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charset="0"/>
                          <a:ea typeface="宋体" pitchFamily="2" charset="-122"/>
                        </a:rPr>
                        <a:t>b[1][2]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B39F-2DA5-334B-AC48-256EA1B65498}" type="datetime1">
              <a:rPr lang="zh-CN" altLang="en-US" smtClean="0"/>
              <a:t>2022/11/24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9" grpId="1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ChangeArrowheads="1"/>
          </p:cNvSpPr>
          <p:nvPr/>
        </p:nvSpPr>
        <p:spPr bwMode="auto">
          <a:xfrm>
            <a:off x="687388" y="228600"/>
            <a:ext cx="7772400" cy="66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zh-CN" altLang="en-US" sz="4400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charset="0"/>
              </a:rPr>
              <a:t>二维数组的定义</a:t>
            </a:r>
          </a:p>
        </p:txBody>
      </p:sp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107950" y="1327150"/>
            <a:ext cx="9144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20000"/>
              </a:spcBef>
              <a:buClr>
                <a:srgbClr val="CCCCFF"/>
              </a:buClr>
              <a:buFont typeface="Monotype Sorts" charset="2"/>
              <a:buNone/>
            </a:pPr>
            <a:r>
              <a:rPr kumimoji="1" lang="zh-CN" altLang="en-US" sz="3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数据类型  数组名</a:t>
            </a:r>
            <a:r>
              <a:rPr kumimoji="1" lang="en-US" altLang="zh-CN" sz="3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[</a:t>
            </a:r>
            <a:r>
              <a:rPr kumimoji="1" lang="zh-CN" altLang="en-US" sz="3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常量表达式</a:t>
            </a:r>
            <a:r>
              <a:rPr kumimoji="1" lang="en-US" altLang="zh-CN" sz="3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][</a:t>
            </a:r>
            <a:r>
              <a:rPr kumimoji="1" lang="zh-CN" altLang="en-US" sz="3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常量表达式</a:t>
            </a:r>
            <a:r>
              <a:rPr kumimoji="1" lang="en-US" altLang="zh-CN" sz="3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]</a:t>
            </a:r>
            <a:r>
              <a:rPr kumimoji="1" lang="zh-CN" altLang="en-US" sz="3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；</a:t>
            </a:r>
          </a:p>
        </p:txBody>
      </p:sp>
      <p:sp>
        <p:nvSpPr>
          <p:cNvPr id="313348" name="Text Box 4"/>
          <p:cNvSpPr txBox="1">
            <a:spLocks noChangeArrowheads="1"/>
          </p:cNvSpPr>
          <p:nvPr/>
        </p:nvSpPr>
        <p:spPr bwMode="auto">
          <a:xfrm>
            <a:off x="2209800" y="2165350"/>
            <a:ext cx="3117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kumimoji="1"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int a[2][3];</a:t>
            </a:r>
          </a:p>
        </p:txBody>
      </p:sp>
      <p:sp>
        <p:nvSpPr>
          <p:cNvPr id="313349" name="Text Box 5"/>
          <p:cNvSpPr txBox="1">
            <a:spLocks noChangeArrowheads="1"/>
          </p:cNvSpPr>
          <p:nvPr/>
        </p:nvSpPr>
        <p:spPr bwMode="auto">
          <a:xfrm>
            <a:off x="717550" y="4222750"/>
            <a:ext cx="116205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kumimoji="1"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a[0]</a:t>
            </a:r>
          </a:p>
          <a:p>
            <a:pPr eaLnBrk="1" hangingPunct="1">
              <a:spcBef>
                <a:spcPct val="0"/>
              </a:spcBef>
              <a:defRPr/>
            </a:pPr>
            <a:endParaRPr kumimoji="1" lang="en-US" altLang="zh-CN" sz="32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kumimoji="1"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a[1]</a:t>
            </a:r>
          </a:p>
        </p:txBody>
      </p:sp>
      <p:sp>
        <p:nvSpPr>
          <p:cNvPr id="313350" name="AutoShape 6"/>
          <p:cNvSpPr>
            <a:spLocks/>
          </p:cNvSpPr>
          <p:nvPr/>
        </p:nvSpPr>
        <p:spPr bwMode="auto">
          <a:xfrm>
            <a:off x="565150" y="4441825"/>
            <a:ext cx="152400" cy="1120775"/>
          </a:xfrm>
          <a:prstGeom prst="leftBracket">
            <a:avLst>
              <a:gd name="adj" fmla="val 61285"/>
            </a:avLst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13351" name="Rectangle 7"/>
          <p:cNvSpPr>
            <a:spLocks noChangeArrowheads="1"/>
          </p:cNvSpPr>
          <p:nvPr/>
        </p:nvSpPr>
        <p:spPr bwMode="auto">
          <a:xfrm>
            <a:off x="107950" y="4603750"/>
            <a:ext cx="4286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kumimoji="1" lang="en-US" altLang="zh-CN" sz="32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a</a:t>
            </a:r>
          </a:p>
        </p:txBody>
      </p:sp>
      <p:sp>
        <p:nvSpPr>
          <p:cNvPr id="313352" name="Rectangle 8"/>
          <p:cNvSpPr>
            <a:spLocks noChangeArrowheads="1"/>
          </p:cNvSpPr>
          <p:nvPr/>
        </p:nvSpPr>
        <p:spPr bwMode="auto">
          <a:xfrm>
            <a:off x="1755775" y="4184650"/>
            <a:ext cx="69373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kumimoji="1" lang="en-US" altLang="zh-CN" sz="3200" b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</a:rPr>
              <a:t>---- </a:t>
            </a:r>
            <a:r>
              <a:rPr kumimoji="1" lang="en-US" altLang="zh-CN" sz="3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a[0][0]  a[0][1]  a[0][2]</a:t>
            </a:r>
          </a:p>
        </p:txBody>
      </p:sp>
      <p:sp>
        <p:nvSpPr>
          <p:cNvPr id="313353" name="Rectangle 9"/>
          <p:cNvSpPr>
            <a:spLocks noChangeArrowheads="1"/>
          </p:cNvSpPr>
          <p:nvPr/>
        </p:nvSpPr>
        <p:spPr bwMode="auto">
          <a:xfrm>
            <a:off x="1768475" y="5233988"/>
            <a:ext cx="69373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kumimoji="1" lang="en-US" altLang="zh-CN" sz="3200" b="0">
                <a:solidFill>
                  <a:srgbClr val="0066FF"/>
                </a:solidFill>
                <a:latin typeface="Times New Roman" pitchFamily="18" charset="0"/>
                <a:ea typeface="宋体" pitchFamily="2" charset="-122"/>
              </a:rPr>
              <a:t>---- </a:t>
            </a:r>
            <a:r>
              <a:rPr kumimoji="1" lang="en-US" altLang="zh-CN" sz="32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a[1][0]  a[1][1]  a[1][2]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0030-2970-0145-9A41-26FDA887DC1E}" type="datetime1">
              <a:rPr lang="zh-CN" altLang="en-US" smtClean="0"/>
              <a:t>2022/11/24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19138" y="1627188"/>
            <a:ext cx="8424862" cy="2232025"/>
          </a:xfrm>
          <a:solidFill>
            <a:srgbClr val="3333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1440" tIns="45720" rIns="91440" bIns="45720">
            <a:normAutofit fontScale="92500" lnSpcReduction="20000"/>
          </a:bodyPr>
          <a:lstStyle/>
          <a:p>
            <a:pPr marL="0" indent="0" eaLnBrk="1">
              <a:lnSpc>
                <a:spcPct val="90000"/>
              </a:lnSpc>
              <a:buFont typeface="Wingdings" charset="2"/>
              <a:buNone/>
            </a:pPr>
            <a:r>
              <a:rPr lang="en-US" altLang="zh-CN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【</a:t>
            </a: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例一</a:t>
            </a:r>
            <a:r>
              <a:rPr lang="en-US" altLang="zh-CN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】</a:t>
            </a:r>
            <a:r>
              <a:rPr lang="zh-CN" alt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以下程序的运行结果是什么？</a:t>
            </a:r>
          </a:p>
          <a:p>
            <a:pPr marL="0" indent="0" eaLnBrk="1">
              <a:lnSpc>
                <a:spcPct val="90000"/>
              </a:lnSpc>
              <a:buFont typeface="Wingdings" charset="2"/>
              <a:buNone/>
            </a:pPr>
            <a:r>
              <a:rPr lang="en-US" altLang="zh-CN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main()</a:t>
            </a:r>
          </a:p>
          <a:p>
            <a:pPr marL="0" indent="0" eaLnBrk="1">
              <a:lnSpc>
                <a:spcPct val="90000"/>
              </a:lnSpc>
              <a:buFont typeface="Wingdings" charset="2"/>
              <a:buNone/>
            </a:pPr>
            <a:r>
              <a:rPr lang="en-US" altLang="zh-CN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{</a:t>
            </a:r>
          </a:p>
          <a:p>
            <a:pPr marL="0" indent="0" eaLnBrk="1">
              <a:lnSpc>
                <a:spcPct val="90000"/>
              </a:lnSpc>
              <a:buFont typeface="Wingdings" charset="2"/>
              <a:buNone/>
            </a:pPr>
            <a:r>
              <a:rPr lang="en-US" altLang="zh-CN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int a[][3]={{1,2,3},{4,5},{6},{0}};</a:t>
            </a:r>
          </a:p>
          <a:p>
            <a:pPr marL="0" indent="0" eaLnBrk="1">
              <a:lnSpc>
                <a:spcPct val="90000"/>
              </a:lnSpc>
              <a:buFont typeface="Wingdings" charset="2"/>
              <a:buNone/>
            </a:pPr>
            <a:r>
              <a:rPr lang="en-US" altLang="zh-CN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printf("%d,%d,%d\n",a[1][1],a[2][1],a[3][1]);</a:t>
            </a:r>
          </a:p>
          <a:p>
            <a:pPr marL="0" indent="0" eaLnBrk="1">
              <a:lnSpc>
                <a:spcPct val="90000"/>
              </a:lnSpc>
              <a:buFont typeface="Wingdings" charset="2"/>
              <a:buNone/>
            </a:pPr>
            <a:r>
              <a:rPr lang="en-US" altLang="zh-CN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}</a:t>
            </a:r>
          </a:p>
        </p:txBody>
      </p:sp>
      <p:sp>
        <p:nvSpPr>
          <p:cNvPr id="3532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46200" y="333375"/>
            <a:ext cx="7797800" cy="839788"/>
          </a:xfrm>
        </p:spPr>
        <p:txBody>
          <a:bodyPr lIns="91440" tIns="45720" rIns="91440" bIns="45720"/>
          <a:lstStyle/>
          <a:p>
            <a:r>
              <a:rPr lang="zh-CN" altLang="en-US"/>
              <a:t>二维数组的初始化示例</a:t>
            </a:r>
            <a:endParaRPr lang="en-US" altLang="zh-CN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4427538" y="3933825"/>
            <a:ext cx="1217612" cy="1571625"/>
          </a:xfrm>
          <a:prstGeom prst="rect">
            <a:avLst/>
          </a:prstGeom>
          <a:solidFill>
            <a:srgbClr val="FFFF99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solidFill>
                  <a:schemeClr val="tx1"/>
                </a:solidFill>
                <a:latin typeface="Arial" charset="0"/>
                <a:ea typeface="宋体" charset="0"/>
              </a:rPr>
              <a:t>1   2   3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400" b="0">
                <a:solidFill>
                  <a:schemeClr val="tx1"/>
                </a:solidFill>
                <a:latin typeface="Arial" charset="0"/>
                <a:ea typeface="宋体" charset="0"/>
              </a:rPr>
              <a:t>4   5   0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400" b="0">
                <a:solidFill>
                  <a:schemeClr val="tx1"/>
                </a:solidFill>
                <a:latin typeface="Arial" charset="0"/>
                <a:ea typeface="宋体" charset="0"/>
              </a:rPr>
              <a:t>6   0   0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400" b="0">
                <a:solidFill>
                  <a:schemeClr val="tx1"/>
                </a:solidFill>
                <a:latin typeface="Arial" charset="0"/>
                <a:ea typeface="宋体" charset="0"/>
              </a:rPr>
              <a:t>0   0   0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6588125" y="4400550"/>
            <a:ext cx="2012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000">
                <a:solidFill>
                  <a:schemeClr val="tx1"/>
                </a:solidFill>
                <a:latin typeface="华文细黑" charset="-122"/>
                <a:ea typeface="华文细黑" charset="-122"/>
              </a:rPr>
              <a:t>结果：</a:t>
            </a:r>
            <a:r>
              <a:rPr lang="en-US" altLang="zh-CN" sz="2000">
                <a:solidFill>
                  <a:schemeClr val="tx1"/>
                </a:solidFill>
                <a:latin typeface="Courier New" charset="0"/>
                <a:ea typeface="华文细黑" charset="-122"/>
              </a:rPr>
              <a:t>5, 0, 0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504825" y="5549900"/>
            <a:ext cx="6584950" cy="920750"/>
          </a:xfrm>
          <a:prstGeom prst="rect">
            <a:avLst/>
          </a:prstGeom>
          <a:solidFill>
            <a:srgbClr val="333399"/>
          </a:solidFill>
          <a:ln w="222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144000" rIns="0" bIns="144000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000">
                <a:solidFill>
                  <a:schemeClr val="bg1"/>
                </a:solidFill>
                <a:latin typeface="Courier New" charset="0"/>
                <a:ea typeface="宋体" charset="0"/>
              </a:rPr>
              <a:t>【</a:t>
            </a:r>
            <a:r>
              <a:rPr lang="zh-CN" altLang="en-US" sz="2000">
                <a:solidFill>
                  <a:schemeClr val="bg1"/>
                </a:solidFill>
                <a:latin typeface="Courier New" charset="0"/>
                <a:ea typeface="宋体" charset="0"/>
              </a:rPr>
              <a:t>例二</a:t>
            </a:r>
            <a:r>
              <a:rPr lang="en-US" altLang="zh-CN" sz="2000">
                <a:solidFill>
                  <a:schemeClr val="bg1"/>
                </a:solidFill>
                <a:latin typeface="Courier New" charset="0"/>
                <a:ea typeface="宋体" charset="0"/>
              </a:rPr>
              <a:t>】</a:t>
            </a:r>
            <a:r>
              <a:rPr lang="zh-CN" altLang="en-US" sz="2000">
                <a:solidFill>
                  <a:schemeClr val="bg1"/>
                </a:solidFill>
                <a:latin typeface="Courier New" charset="0"/>
                <a:ea typeface="宋体" charset="0"/>
              </a:rPr>
              <a:t>若</a:t>
            </a:r>
            <a:r>
              <a:rPr lang="en-US" altLang="zh-CN" sz="2000">
                <a:solidFill>
                  <a:schemeClr val="bg1"/>
                </a:solidFill>
                <a:latin typeface="Courier New" charset="0"/>
                <a:ea typeface="宋体" charset="0"/>
              </a:rPr>
              <a:t>int a[ ][3]={1, 2, 3, 4, 5, 6, 7}</a:t>
            </a:r>
            <a:r>
              <a:rPr lang="zh-CN" altLang="en-US" sz="2000">
                <a:solidFill>
                  <a:schemeClr val="bg1"/>
                </a:solidFill>
                <a:latin typeface="Courier New" charset="0"/>
                <a:ea typeface="宋体" charset="0"/>
              </a:rPr>
              <a:t>，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2000">
                <a:solidFill>
                  <a:schemeClr val="bg1"/>
                </a:solidFill>
                <a:latin typeface="Courier New" charset="0"/>
                <a:ea typeface="宋体" charset="0"/>
              </a:rPr>
              <a:t>则</a:t>
            </a:r>
            <a:r>
              <a:rPr lang="en-US" altLang="zh-CN" sz="2000">
                <a:solidFill>
                  <a:schemeClr val="bg1"/>
                </a:solidFill>
                <a:latin typeface="Courier New" charset="0"/>
                <a:ea typeface="宋体" charset="0"/>
              </a:rPr>
              <a:t>a</a:t>
            </a:r>
            <a:r>
              <a:rPr lang="zh-CN" altLang="en-US" sz="2000">
                <a:solidFill>
                  <a:schemeClr val="bg1"/>
                </a:solidFill>
                <a:latin typeface="Courier New" charset="0"/>
                <a:ea typeface="宋体" charset="0"/>
              </a:rPr>
              <a:t>数组的第一维大小是多少？</a:t>
            </a:r>
            <a:r>
              <a:rPr lang="zh-CN" altLang="en-US" sz="2000">
                <a:solidFill>
                  <a:schemeClr val="bg1"/>
                </a:solidFill>
                <a:latin typeface="宋体" charset="0"/>
                <a:ea typeface="宋体" charset="0"/>
              </a:rPr>
              <a:t> 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7667625" y="5391150"/>
            <a:ext cx="1217613" cy="1206500"/>
          </a:xfrm>
          <a:prstGeom prst="rect">
            <a:avLst/>
          </a:prstGeom>
          <a:solidFill>
            <a:srgbClr val="FFFF99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solidFill>
                  <a:schemeClr val="tx1"/>
                </a:solidFill>
                <a:latin typeface="Arial" charset="0"/>
                <a:ea typeface="宋体" charset="0"/>
              </a:rPr>
              <a:t>1   2   3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400" b="0">
                <a:solidFill>
                  <a:schemeClr val="tx1"/>
                </a:solidFill>
                <a:latin typeface="Arial" charset="0"/>
                <a:ea typeface="宋体" charset="0"/>
              </a:rPr>
              <a:t>4   5  6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sz="2400" b="0">
                <a:solidFill>
                  <a:schemeClr val="tx1"/>
                </a:solidFill>
                <a:latin typeface="Arial" charset="0"/>
                <a:ea typeface="宋体" charset="0"/>
              </a:rPr>
              <a:t>7   0   0</a:t>
            </a:r>
          </a:p>
        </p:txBody>
      </p:sp>
      <p:sp>
        <p:nvSpPr>
          <p:cNvPr id="353288" name="Rectangle 8"/>
          <p:cNvSpPr>
            <a:spLocks noChangeArrowheads="1"/>
          </p:cNvSpPr>
          <p:nvPr/>
        </p:nvSpPr>
        <p:spPr bwMode="auto">
          <a:xfrm>
            <a:off x="4859338" y="4365625"/>
            <a:ext cx="360362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89" name="Rectangle 9"/>
          <p:cNvSpPr>
            <a:spLocks noChangeArrowheads="1"/>
          </p:cNvSpPr>
          <p:nvPr/>
        </p:nvSpPr>
        <p:spPr bwMode="auto">
          <a:xfrm>
            <a:off x="4197350" y="2998788"/>
            <a:ext cx="1081088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90" name="Rectangle 10"/>
          <p:cNvSpPr>
            <a:spLocks noChangeArrowheads="1"/>
          </p:cNvSpPr>
          <p:nvPr/>
        </p:nvSpPr>
        <p:spPr bwMode="auto">
          <a:xfrm>
            <a:off x="4859338" y="4725988"/>
            <a:ext cx="360362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91" name="Rectangle 11"/>
          <p:cNvSpPr>
            <a:spLocks noChangeArrowheads="1"/>
          </p:cNvSpPr>
          <p:nvPr/>
        </p:nvSpPr>
        <p:spPr bwMode="auto">
          <a:xfrm>
            <a:off x="5364163" y="2997200"/>
            <a:ext cx="1081087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92" name="Rectangle 12"/>
          <p:cNvSpPr>
            <a:spLocks noChangeArrowheads="1"/>
          </p:cNvSpPr>
          <p:nvPr/>
        </p:nvSpPr>
        <p:spPr bwMode="auto">
          <a:xfrm>
            <a:off x="4859338" y="5086350"/>
            <a:ext cx="360362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93" name="Rectangle 13"/>
          <p:cNvSpPr>
            <a:spLocks noChangeArrowheads="1"/>
          </p:cNvSpPr>
          <p:nvPr/>
        </p:nvSpPr>
        <p:spPr bwMode="auto">
          <a:xfrm>
            <a:off x="6616700" y="2997200"/>
            <a:ext cx="1081088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94" name="Rectangle 14"/>
          <p:cNvSpPr>
            <a:spLocks noChangeArrowheads="1"/>
          </p:cNvSpPr>
          <p:nvPr/>
        </p:nvSpPr>
        <p:spPr bwMode="auto">
          <a:xfrm>
            <a:off x="3678238" y="5662613"/>
            <a:ext cx="1254125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95" name="Rectangle 15"/>
          <p:cNvSpPr>
            <a:spLocks noChangeArrowheads="1"/>
          </p:cNvSpPr>
          <p:nvPr/>
        </p:nvSpPr>
        <p:spPr bwMode="auto">
          <a:xfrm>
            <a:off x="7651750" y="5430838"/>
            <a:ext cx="1254125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96" name="Rectangle 16"/>
          <p:cNvSpPr>
            <a:spLocks noChangeArrowheads="1"/>
          </p:cNvSpPr>
          <p:nvPr/>
        </p:nvSpPr>
        <p:spPr bwMode="auto">
          <a:xfrm>
            <a:off x="5048250" y="5676900"/>
            <a:ext cx="1254125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97" name="Rectangle 17"/>
          <p:cNvSpPr>
            <a:spLocks noChangeArrowheads="1"/>
          </p:cNvSpPr>
          <p:nvPr/>
        </p:nvSpPr>
        <p:spPr bwMode="auto">
          <a:xfrm>
            <a:off x="7654925" y="5807075"/>
            <a:ext cx="1254125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98" name="Rectangle 18"/>
          <p:cNvSpPr>
            <a:spLocks noChangeArrowheads="1"/>
          </p:cNvSpPr>
          <p:nvPr/>
        </p:nvSpPr>
        <p:spPr bwMode="auto">
          <a:xfrm>
            <a:off x="6400800" y="5676900"/>
            <a:ext cx="331788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99" name="Rectangle 19"/>
          <p:cNvSpPr>
            <a:spLocks noChangeArrowheads="1"/>
          </p:cNvSpPr>
          <p:nvPr/>
        </p:nvSpPr>
        <p:spPr bwMode="auto">
          <a:xfrm>
            <a:off x="7659688" y="6181725"/>
            <a:ext cx="1254125" cy="35877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BC36D-1EE8-8745-8B43-DD0E5487D14E}" type="datetime1">
              <a:rPr lang="zh-CN" altLang="en-US" smtClean="0"/>
              <a:t>2022/11/24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3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3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3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3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3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3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3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3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3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3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3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53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3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53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3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3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53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53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3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53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53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53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53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53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3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53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53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53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53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 autoUpdateAnimBg="0"/>
      <p:bldP spid="14341" grpId="0" autoUpdateAnimBg="0"/>
      <p:bldP spid="14342" grpId="0" animBg="1" autoUpdateAnimBg="0"/>
      <p:bldP spid="14343" grpId="0" animBg="1" autoUpdateAnimBg="0"/>
      <p:bldP spid="353288" grpId="0" animBg="1"/>
      <p:bldP spid="353289" grpId="0" animBg="1"/>
      <p:bldP spid="353290" grpId="0" animBg="1"/>
      <p:bldP spid="353291" grpId="0" animBg="1"/>
      <p:bldP spid="353292" grpId="0" animBg="1"/>
      <p:bldP spid="353293" grpId="0" animBg="1"/>
      <p:bldP spid="353294" grpId="0" animBg="1"/>
      <p:bldP spid="353295" grpId="0" animBg="1"/>
      <p:bldP spid="353296" grpId="0" animBg="1"/>
      <p:bldP spid="353297" grpId="0" animBg="1"/>
      <p:bldP spid="353298" grpId="0" animBg="1"/>
      <p:bldP spid="35329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333375"/>
            <a:ext cx="7797800" cy="661988"/>
          </a:xfrm>
          <a:noFill/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/>
          <a:p>
            <a:r>
              <a:rPr lang="zh-CN" altLang="en-US"/>
              <a:t>二维数组的存储结构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255713" y="3140075"/>
            <a:ext cx="48291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 sz="3200">
                <a:solidFill>
                  <a:schemeClr val="tx1"/>
                </a:solidFill>
                <a:latin typeface="Courier New" charset="0"/>
                <a:ea typeface="宋体" charset="0"/>
              </a:rPr>
              <a:t>short int  a[2][3];</a:t>
            </a:r>
          </a:p>
        </p:txBody>
      </p:sp>
      <p:grpSp>
        <p:nvGrpSpPr>
          <p:cNvPr id="365572" name="Group 4"/>
          <p:cNvGrpSpPr>
            <a:grpSpLocks/>
          </p:cNvGrpSpPr>
          <p:nvPr/>
        </p:nvGrpSpPr>
        <p:grpSpPr bwMode="auto">
          <a:xfrm>
            <a:off x="536575" y="3908425"/>
            <a:ext cx="777875" cy="2479675"/>
            <a:chOff x="2112" y="2352"/>
            <a:chExt cx="490" cy="1344"/>
          </a:xfrm>
        </p:grpSpPr>
        <p:sp>
          <p:nvSpPr>
            <p:cNvPr id="31180" name="Text Box 5"/>
            <p:cNvSpPr txBox="1">
              <a:spLocks noChangeArrowheads="1"/>
            </p:cNvSpPr>
            <p:nvPr/>
          </p:nvSpPr>
          <p:spPr bwMode="auto">
            <a:xfrm>
              <a:off x="2112" y="2466"/>
              <a:ext cx="490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CN">
                  <a:solidFill>
                    <a:schemeClr val="hlink"/>
                  </a:solidFill>
                  <a:ea typeface="宋体" charset="0"/>
                </a:rPr>
                <a:t>a[0]</a:t>
              </a:r>
            </a:p>
          </p:txBody>
        </p:sp>
        <p:sp>
          <p:nvSpPr>
            <p:cNvPr id="31181" name="Text Box 6"/>
            <p:cNvSpPr txBox="1">
              <a:spLocks noChangeArrowheads="1"/>
            </p:cNvSpPr>
            <p:nvPr/>
          </p:nvSpPr>
          <p:spPr bwMode="auto">
            <a:xfrm>
              <a:off x="2112" y="3129"/>
              <a:ext cx="490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CN">
                  <a:solidFill>
                    <a:schemeClr val="hlink"/>
                  </a:solidFill>
                  <a:ea typeface="宋体" charset="0"/>
                </a:rPr>
                <a:t>a[1]</a:t>
              </a:r>
            </a:p>
          </p:txBody>
        </p:sp>
        <p:sp>
          <p:nvSpPr>
            <p:cNvPr id="365575" name="Rectangle 7"/>
            <p:cNvSpPr>
              <a:spLocks noChangeArrowheads="1"/>
            </p:cNvSpPr>
            <p:nvPr/>
          </p:nvSpPr>
          <p:spPr bwMode="auto">
            <a:xfrm>
              <a:off x="2112" y="2352"/>
              <a:ext cx="480" cy="1344"/>
            </a:xfrm>
            <a:prstGeom prst="rect">
              <a:avLst/>
            </a:prstGeom>
            <a:noFill/>
            <a:ln w="38100">
              <a:solidFill>
                <a:srgbClr val="00008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365576" name="Line 8"/>
            <p:cNvSpPr>
              <a:spLocks noChangeShapeType="1"/>
            </p:cNvSpPr>
            <p:nvPr/>
          </p:nvSpPr>
          <p:spPr bwMode="auto">
            <a:xfrm>
              <a:off x="2136" y="3000"/>
              <a:ext cx="432" cy="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</p:grpSp>
      <p:sp>
        <p:nvSpPr>
          <p:cNvPr id="365577" name="Text Box 9"/>
          <p:cNvSpPr txBox="1">
            <a:spLocks noChangeArrowheads="1"/>
          </p:cNvSpPr>
          <p:nvPr/>
        </p:nvSpPr>
        <p:spPr bwMode="auto">
          <a:xfrm>
            <a:off x="1328738" y="5862638"/>
            <a:ext cx="119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>
                <a:solidFill>
                  <a:schemeClr val="hlink"/>
                </a:solidFill>
                <a:ea typeface="宋体" charset="0"/>
              </a:rPr>
              <a:t>a[1][0]</a:t>
            </a:r>
          </a:p>
        </p:txBody>
      </p:sp>
      <p:sp>
        <p:nvSpPr>
          <p:cNvPr id="365578" name="Text Box 10"/>
          <p:cNvSpPr txBox="1">
            <a:spLocks noChangeArrowheads="1"/>
          </p:cNvSpPr>
          <p:nvPr/>
        </p:nvSpPr>
        <p:spPr bwMode="auto">
          <a:xfrm>
            <a:off x="2595563" y="5846763"/>
            <a:ext cx="119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>
                <a:solidFill>
                  <a:schemeClr val="hlink"/>
                </a:solidFill>
                <a:ea typeface="宋体" charset="0"/>
              </a:rPr>
              <a:t>a[1][1]</a:t>
            </a:r>
          </a:p>
        </p:txBody>
      </p:sp>
      <p:sp>
        <p:nvSpPr>
          <p:cNvPr id="365579" name="Text Box 11"/>
          <p:cNvSpPr txBox="1">
            <a:spLocks noChangeArrowheads="1"/>
          </p:cNvSpPr>
          <p:nvPr/>
        </p:nvSpPr>
        <p:spPr bwMode="auto">
          <a:xfrm>
            <a:off x="3921125" y="5848350"/>
            <a:ext cx="119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>
                <a:solidFill>
                  <a:schemeClr val="hlink"/>
                </a:solidFill>
                <a:ea typeface="宋体" charset="0"/>
              </a:rPr>
              <a:t>a[1][2]</a:t>
            </a:r>
          </a:p>
        </p:txBody>
      </p:sp>
      <p:sp>
        <p:nvSpPr>
          <p:cNvPr id="365580" name="Text Box 12"/>
          <p:cNvSpPr txBox="1">
            <a:spLocks noChangeArrowheads="1"/>
          </p:cNvSpPr>
          <p:nvPr/>
        </p:nvSpPr>
        <p:spPr bwMode="auto">
          <a:xfrm>
            <a:off x="1270000" y="3803650"/>
            <a:ext cx="119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>
                <a:solidFill>
                  <a:schemeClr val="hlink"/>
                </a:solidFill>
                <a:ea typeface="宋体" charset="0"/>
              </a:rPr>
              <a:t>a[0][0]</a:t>
            </a:r>
          </a:p>
        </p:txBody>
      </p:sp>
      <p:sp>
        <p:nvSpPr>
          <p:cNvPr id="365581" name="Text Box 13"/>
          <p:cNvSpPr txBox="1">
            <a:spLocks noChangeArrowheads="1"/>
          </p:cNvSpPr>
          <p:nvPr/>
        </p:nvSpPr>
        <p:spPr bwMode="auto">
          <a:xfrm>
            <a:off x="2511425" y="3773488"/>
            <a:ext cx="119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>
                <a:solidFill>
                  <a:schemeClr val="hlink"/>
                </a:solidFill>
                <a:ea typeface="宋体" charset="0"/>
              </a:rPr>
              <a:t>a[0][1]</a:t>
            </a:r>
          </a:p>
        </p:txBody>
      </p:sp>
      <p:sp>
        <p:nvSpPr>
          <p:cNvPr id="365582" name="Text Box 14"/>
          <p:cNvSpPr txBox="1">
            <a:spLocks noChangeArrowheads="1"/>
          </p:cNvSpPr>
          <p:nvPr/>
        </p:nvSpPr>
        <p:spPr bwMode="auto">
          <a:xfrm>
            <a:off x="3848100" y="3759200"/>
            <a:ext cx="12144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>
                <a:solidFill>
                  <a:schemeClr val="hlink"/>
                </a:solidFill>
                <a:ea typeface="宋体" charset="0"/>
              </a:rPr>
              <a:t>a[0][2]</a:t>
            </a:r>
          </a:p>
        </p:txBody>
      </p:sp>
      <p:sp>
        <p:nvSpPr>
          <p:cNvPr id="365583" name="Text Box 15"/>
          <p:cNvSpPr txBox="1">
            <a:spLocks noChangeArrowheads="1"/>
          </p:cNvSpPr>
          <p:nvPr/>
        </p:nvSpPr>
        <p:spPr bwMode="auto">
          <a:xfrm>
            <a:off x="395288" y="1196975"/>
            <a:ext cx="5545137" cy="186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20000"/>
              </a:spcBef>
              <a:buClr>
                <a:srgbClr val="CCCCFF"/>
              </a:buClr>
              <a:buFont typeface="Monotype Sorts" charset="2"/>
              <a:buNone/>
            </a:pPr>
            <a:r>
              <a:rPr kumimoji="1" lang="zh-CN" altLang="en-US">
                <a:solidFill>
                  <a:srgbClr val="000066"/>
                </a:solidFill>
                <a:latin typeface="楷体_GB2312" charset="0"/>
                <a:ea typeface="楷体_GB2312" charset="0"/>
              </a:rPr>
              <a:t>存放顺序：</a:t>
            </a:r>
            <a:endParaRPr kumimoji="1" lang="zh-CN" altLang="en-US">
              <a:latin typeface="楷体_GB2312" charset="0"/>
              <a:ea typeface="楷体_GB2312" charset="0"/>
            </a:endParaRPr>
          </a:p>
          <a:p>
            <a:pPr eaLnBrk="1" hangingPunct="1">
              <a:lnSpc>
                <a:spcPct val="115000"/>
              </a:lnSpc>
              <a:spcBef>
                <a:spcPct val="20000"/>
              </a:spcBef>
              <a:buClr>
                <a:srgbClr val="CCCCFF"/>
              </a:buClr>
              <a:buFont typeface="Monotype Sorts" charset="2"/>
              <a:buNone/>
            </a:pPr>
            <a:r>
              <a:rPr kumimoji="1" lang="zh-CN" altLang="en-US">
                <a:solidFill>
                  <a:srgbClr val="000066"/>
                </a:solidFill>
                <a:latin typeface="楷体_GB2312" charset="0"/>
                <a:ea typeface="楷体_GB2312" charset="0"/>
              </a:rPr>
              <a:t>先顺序存放第</a:t>
            </a:r>
            <a:r>
              <a:rPr kumimoji="1" lang="en-US" altLang="zh-CN">
                <a:solidFill>
                  <a:srgbClr val="000066"/>
                </a:solidFill>
                <a:latin typeface="楷体_GB2312" charset="0"/>
                <a:ea typeface="楷体_GB2312" charset="0"/>
              </a:rPr>
              <a:t>0</a:t>
            </a:r>
            <a:r>
              <a:rPr kumimoji="1" lang="zh-CN" altLang="en-US">
                <a:solidFill>
                  <a:srgbClr val="000066"/>
                </a:solidFill>
                <a:latin typeface="楷体_GB2312" charset="0"/>
                <a:ea typeface="楷体_GB2312" charset="0"/>
              </a:rPr>
              <a:t>行的元素</a:t>
            </a:r>
          </a:p>
          <a:p>
            <a:pPr eaLnBrk="1" hangingPunct="1">
              <a:lnSpc>
                <a:spcPct val="115000"/>
              </a:lnSpc>
              <a:spcBef>
                <a:spcPct val="20000"/>
              </a:spcBef>
              <a:buClr>
                <a:srgbClr val="CCCCFF"/>
              </a:buClr>
              <a:buFont typeface="Monotype Sorts" charset="2"/>
              <a:buNone/>
            </a:pPr>
            <a:r>
              <a:rPr kumimoji="1" lang="zh-CN" altLang="en-US">
                <a:solidFill>
                  <a:srgbClr val="000066"/>
                </a:solidFill>
                <a:latin typeface="楷体_GB2312" charset="0"/>
                <a:ea typeface="楷体_GB2312" charset="0"/>
              </a:rPr>
              <a:t>再存放第</a:t>
            </a:r>
            <a:r>
              <a:rPr kumimoji="1" lang="en-US" altLang="zh-CN">
                <a:solidFill>
                  <a:srgbClr val="000066"/>
                </a:solidFill>
                <a:latin typeface="楷体_GB2312" charset="0"/>
                <a:ea typeface="楷体_GB2312" charset="0"/>
              </a:rPr>
              <a:t>1</a:t>
            </a:r>
            <a:r>
              <a:rPr kumimoji="1" lang="zh-CN" altLang="en-US">
                <a:solidFill>
                  <a:srgbClr val="000066"/>
                </a:solidFill>
                <a:latin typeface="楷体_GB2312" charset="0"/>
                <a:ea typeface="楷体_GB2312" charset="0"/>
              </a:rPr>
              <a:t>行的元素</a:t>
            </a:r>
          </a:p>
        </p:txBody>
      </p:sp>
      <p:grpSp>
        <p:nvGrpSpPr>
          <p:cNvPr id="365584" name="Group 16"/>
          <p:cNvGrpSpPr>
            <a:grpSpLocks/>
          </p:cNvGrpSpPr>
          <p:nvPr/>
        </p:nvGrpSpPr>
        <p:grpSpPr bwMode="auto">
          <a:xfrm>
            <a:off x="6659563" y="1700213"/>
            <a:ext cx="1981200" cy="4572000"/>
            <a:chOff x="4512" y="336"/>
            <a:chExt cx="1248" cy="2880"/>
          </a:xfrm>
        </p:grpSpPr>
        <p:sp>
          <p:nvSpPr>
            <p:cNvPr id="31155" name="Text Box 17"/>
            <p:cNvSpPr txBox="1">
              <a:spLocks noChangeArrowheads="1"/>
            </p:cNvSpPr>
            <p:nvPr/>
          </p:nvSpPr>
          <p:spPr bwMode="auto">
            <a:xfrm>
              <a:off x="5210" y="645"/>
              <a:ext cx="550" cy="13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a[0][0]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en-US" altLang="zh-CN" sz="1800">
                <a:solidFill>
                  <a:schemeClr val="tx1"/>
                </a:solidFill>
                <a:ea typeface="宋体" charset="0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a[0][1]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en-US" altLang="zh-CN" sz="1800">
                <a:solidFill>
                  <a:schemeClr val="tx1"/>
                </a:solidFill>
                <a:ea typeface="宋体" charset="0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a[0][2]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en-US" altLang="zh-CN" sz="1800">
                <a:solidFill>
                  <a:schemeClr val="tx1"/>
                </a:solidFill>
                <a:ea typeface="宋体" charset="0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a[1][0]</a:t>
              </a:r>
            </a:p>
          </p:txBody>
        </p:sp>
        <p:sp>
          <p:nvSpPr>
            <p:cNvPr id="31156" name="Text Box 18"/>
            <p:cNvSpPr txBox="1">
              <a:spLocks noChangeArrowheads="1"/>
            </p:cNvSpPr>
            <p:nvPr/>
          </p:nvSpPr>
          <p:spPr bwMode="auto">
            <a:xfrm>
              <a:off x="5210" y="2127"/>
              <a:ext cx="550" cy="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a[1][1]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en-US" altLang="zh-CN" sz="1800">
                <a:solidFill>
                  <a:schemeClr val="tx1"/>
                </a:solidFill>
                <a:ea typeface="宋体" charset="0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a[1][2]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zh-CN" altLang="en-US" sz="1800">
                <a:solidFill>
                  <a:schemeClr val="tx1"/>
                </a:solidFill>
                <a:ea typeface="宋体" charset="0"/>
              </a:endParaRPr>
            </a:p>
          </p:txBody>
        </p:sp>
        <p:grpSp>
          <p:nvGrpSpPr>
            <p:cNvPr id="31157" name="Group 19"/>
            <p:cNvGrpSpPr>
              <a:grpSpLocks/>
            </p:cNvGrpSpPr>
            <p:nvPr/>
          </p:nvGrpSpPr>
          <p:grpSpPr bwMode="auto">
            <a:xfrm>
              <a:off x="4512" y="336"/>
              <a:ext cx="759" cy="2880"/>
              <a:chOff x="4512" y="336"/>
              <a:chExt cx="759" cy="2880"/>
            </a:xfrm>
          </p:grpSpPr>
          <p:grpSp>
            <p:nvGrpSpPr>
              <p:cNvPr id="31158" name="Group 20"/>
              <p:cNvGrpSpPr>
                <a:grpSpLocks/>
              </p:cNvGrpSpPr>
              <p:nvPr/>
            </p:nvGrpSpPr>
            <p:grpSpPr bwMode="auto">
              <a:xfrm>
                <a:off x="4512" y="336"/>
                <a:ext cx="576" cy="1920"/>
                <a:chOff x="4752" y="576"/>
                <a:chExt cx="576" cy="1920"/>
              </a:xfrm>
            </p:grpSpPr>
            <p:sp>
              <p:nvSpPr>
                <p:cNvPr id="365589" name="Rectangle 21"/>
                <p:cNvSpPr>
                  <a:spLocks noChangeArrowheads="1"/>
                </p:cNvSpPr>
                <p:nvPr/>
              </p:nvSpPr>
              <p:spPr bwMode="auto">
                <a:xfrm>
                  <a:off x="4752" y="960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65590" name="Rectangle 22"/>
                <p:cNvSpPr>
                  <a:spLocks noChangeArrowheads="1"/>
                </p:cNvSpPr>
                <p:nvPr/>
              </p:nvSpPr>
              <p:spPr bwMode="auto">
                <a:xfrm>
                  <a:off x="4752" y="1152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65591" name="Rectangle 23"/>
                <p:cNvSpPr>
                  <a:spLocks noChangeArrowheads="1"/>
                </p:cNvSpPr>
                <p:nvPr/>
              </p:nvSpPr>
              <p:spPr bwMode="auto">
                <a:xfrm>
                  <a:off x="4752" y="1344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65592" name="Rectangle 24"/>
                <p:cNvSpPr>
                  <a:spLocks noChangeArrowheads="1"/>
                </p:cNvSpPr>
                <p:nvPr/>
              </p:nvSpPr>
              <p:spPr bwMode="auto">
                <a:xfrm>
                  <a:off x="4752" y="1536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65593" name="Rectangle 25"/>
                <p:cNvSpPr>
                  <a:spLocks noChangeArrowheads="1"/>
                </p:cNvSpPr>
                <p:nvPr/>
              </p:nvSpPr>
              <p:spPr bwMode="auto">
                <a:xfrm>
                  <a:off x="4752" y="1728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65594" name="Rectangle 26"/>
                <p:cNvSpPr>
                  <a:spLocks noChangeArrowheads="1"/>
                </p:cNvSpPr>
                <p:nvPr/>
              </p:nvSpPr>
              <p:spPr bwMode="auto">
                <a:xfrm>
                  <a:off x="4752" y="1920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65595" name="Rectangle 27"/>
                <p:cNvSpPr>
                  <a:spLocks noChangeArrowheads="1"/>
                </p:cNvSpPr>
                <p:nvPr/>
              </p:nvSpPr>
              <p:spPr bwMode="auto">
                <a:xfrm>
                  <a:off x="4752" y="2112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65596" name="Rectangle 28"/>
                <p:cNvSpPr>
                  <a:spLocks noChangeArrowheads="1"/>
                </p:cNvSpPr>
                <p:nvPr/>
              </p:nvSpPr>
              <p:spPr bwMode="auto">
                <a:xfrm>
                  <a:off x="4752" y="2304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65597" name="Rectangle 29"/>
                <p:cNvSpPr>
                  <a:spLocks noChangeArrowheads="1"/>
                </p:cNvSpPr>
                <p:nvPr/>
              </p:nvSpPr>
              <p:spPr bwMode="auto">
                <a:xfrm>
                  <a:off x="4752" y="768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65598" name="Rectangle 30"/>
                <p:cNvSpPr>
                  <a:spLocks noChangeArrowheads="1"/>
                </p:cNvSpPr>
                <p:nvPr/>
              </p:nvSpPr>
              <p:spPr bwMode="auto">
                <a:xfrm>
                  <a:off x="4752" y="576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365599" name="AutoShape 31"/>
              <p:cNvSpPr>
                <a:spLocks/>
              </p:cNvSpPr>
              <p:nvPr/>
            </p:nvSpPr>
            <p:spPr bwMode="auto">
              <a:xfrm>
                <a:off x="5088" y="609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00" name="AutoShape 32"/>
              <p:cNvSpPr>
                <a:spLocks/>
              </p:cNvSpPr>
              <p:nvPr/>
            </p:nvSpPr>
            <p:spPr bwMode="auto">
              <a:xfrm>
                <a:off x="5088" y="993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01" name="AutoShape 33"/>
              <p:cNvSpPr>
                <a:spLocks/>
              </p:cNvSpPr>
              <p:nvPr/>
            </p:nvSpPr>
            <p:spPr bwMode="auto">
              <a:xfrm>
                <a:off x="5088" y="1377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02" name="AutoShape 34"/>
              <p:cNvSpPr>
                <a:spLocks/>
              </p:cNvSpPr>
              <p:nvPr/>
            </p:nvSpPr>
            <p:spPr bwMode="auto">
              <a:xfrm>
                <a:off x="5088" y="1750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03" name="Rectangle 35"/>
              <p:cNvSpPr>
                <a:spLocks noChangeArrowheads="1"/>
              </p:cNvSpPr>
              <p:nvPr/>
            </p:nvSpPr>
            <p:spPr bwMode="auto">
              <a:xfrm>
                <a:off x="4512" y="2640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04" name="Rectangle 36"/>
              <p:cNvSpPr>
                <a:spLocks noChangeArrowheads="1"/>
              </p:cNvSpPr>
              <p:nvPr/>
            </p:nvSpPr>
            <p:spPr bwMode="auto">
              <a:xfrm>
                <a:off x="4512" y="2832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05" name="Rectangle 37"/>
              <p:cNvSpPr>
                <a:spLocks noChangeArrowheads="1"/>
              </p:cNvSpPr>
              <p:nvPr/>
            </p:nvSpPr>
            <p:spPr bwMode="auto">
              <a:xfrm>
                <a:off x="4512" y="3024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06" name="Rectangle 38"/>
              <p:cNvSpPr>
                <a:spLocks noChangeArrowheads="1"/>
              </p:cNvSpPr>
              <p:nvPr/>
            </p:nvSpPr>
            <p:spPr bwMode="auto">
              <a:xfrm>
                <a:off x="4512" y="2448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07" name="Rectangle 39"/>
              <p:cNvSpPr>
                <a:spLocks noChangeArrowheads="1"/>
              </p:cNvSpPr>
              <p:nvPr/>
            </p:nvSpPr>
            <p:spPr bwMode="auto">
              <a:xfrm>
                <a:off x="4512" y="2256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08" name="AutoShape 40"/>
              <p:cNvSpPr>
                <a:spLocks/>
              </p:cNvSpPr>
              <p:nvPr/>
            </p:nvSpPr>
            <p:spPr bwMode="auto">
              <a:xfrm>
                <a:off x="5088" y="2119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09" name="AutoShape 41"/>
              <p:cNvSpPr>
                <a:spLocks/>
              </p:cNvSpPr>
              <p:nvPr/>
            </p:nvSpPr>
            <p:spPr bwMode="auto">
              <a:xfrm>
                <a:off x="5088" y="2503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</p:grpSp>
      </p:grpSp>
      <p:grpSp>
        <p:nvGrpSpPr>
          <p:cNvPr id="365610" name="Group 42"/>
          <p:cNvGrpSpPr>
            <a:grpSpLocks/>
          </p:cNvGrpSpPr>
          <p:nvPr/>
        </p:nvGrpSpPr>
        <p:grpSpPr bwMode="auto">
          <a:xfrm>
            <a:off x="1687513" y="4333875"/>
            <a:ext cx="495300" cy="887413"/>
            <a:chOff x="4368" y="0"/>
            <a:chExt cx="1392" cy="1567"/>
          </a:xfrm>
        </p:grpSpPr>
        <p:grpSp>
          <p:nvGrpSpPr>
            <p:cNvPr id="31121" name="Group 43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65612" name="Freeform 44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13" name="Freeform 45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14" name="Rectangle 46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15" name="Freeform 47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16" name="Freeform 48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17" name="Freeform 49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18" name="Freeform 50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19" name="Rectangle 51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20" name="Freeform 52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21" name="Freeform 53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22" name="Freeform 54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23" name="Freeform 55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24" name="Freeform 56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25" name="Freeform 57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26" name="Freeform 58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27" name="Freeform 59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28" name="Freeform 60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29" name="Freeform 61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30" name="Freeform 62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31" name="Freeform 63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32" name="Freeform 64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33" name="Freeform 65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34" name="Freeform 66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35" name="Freeform 67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36" name="Freeform 68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37" name="Freeform 69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38" name="Freeform 70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39" name="Freeform 71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40" name="Freeform 72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41" name="Freeform 73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42" name="Freeform 74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43" name="Freeform 75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122" name="Text Box 76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365645" name="Group 77"/>
          <p:cNvGrpSpPr>
            <a:grpSpLocks/>
          </p:cNvGrpSpPr>
          <p:nvPr/>
        </p:nvGrpSpPr>
        <p:grpSpPr bwMode="auto">
          <a:xfrm>
            <a:off x="2921000" y="4333875"/>
            <a:ext cx="495300" cy="887413"/>
            <a:chOff x="4368" y="0"/>
            <a:chExt cx="1392" cy="1567"/>
          </a:xfrm>
        </p:grpSpPr>
        <p:grpSp>
          <p:nvGrpSpPr>
            <p:cNvPr id="31087" name="Group 78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65647" name="Freeform 79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48" name="Freeform 80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49" name="Rectangle 81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50" name="Freeform 82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51" name="Freeform 83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52" name="Freeform 84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53" name="Freeform 85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54" name="Rectangle 86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55" name="Freeform 87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56" name="Freeform 88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57" name="Freeform 89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58" name="Freeform 90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59" name="Freeform 91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60" name="Freeform 92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61" name="Freeform 93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62" name="Freeform 94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63" name="Freeform 95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64" name="Freeform 96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65" name="Freeform 97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66" name="Freeform 98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67" name="Freeform 99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68" name="Freeform 100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69" name="Freeform 101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70" name="Freeform 102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71" name="Freeform 103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72" name="Freeform 104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73" name="Freeform 105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74" name="Freeform 106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75" name="Freeform 107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76" name="Freeform 108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77" name="Freeform 109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78" name="Freeform 110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088" name="Text Box 111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365680" name="Group 112"/>
          <p:cNvGrpSpPr>
            <a:grpSpLocks/>
          </p:cNvGrpSpPr>
          <p:nvPr/>
        </p:nvGrpSpPr>
        <p:grpSpPr bwMode="auto">
          <a:xfrm>
            <a:off x="4289425" y="4333875"/>
            <a:ext cx="495300" cy="887413"/>
            <a:chOff x="4368" y="0"/>
            <a:chExt cx="1392" cy="1567"/>
          </a:xfrm>
        </p:grpSpPr>
        <p:grpSp>
          <p:nvGrpSpPr>
            <p:cNvPr id="31053" name="Group 113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65682" name="Freeform 114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83" name="Freeform 115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84" name="Rectangle 116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85" name="Freeform 117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86" name="Freeform 118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87" name="Freeform 119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88" name="Freeform 120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89" name="Rectangle 121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690" name="Freeform 122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91" name="Freeform 123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92" name="Freeform 124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93" name="Freeform 125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94" name="Freeform 126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95" name="Freeform 127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96" name="Freeform 128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97" name="Freeform 129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98" name="Freeform 130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699" name="Freeform 131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00" name="Freeform 132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01" name="Freeform 133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02" name="Freeform 134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03" name="Freeform 135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04" name="Freeform 136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05" name="Freeform 137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06" name="Freeform 138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07" name="Freeform 139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08" name="Freeform 140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09" name="Freeform 141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10" name="Freeform 142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11" name="Freeform 143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12" name="Freeform 144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13" name="Freeform 145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054" name="Text Box 146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365715" name="Group 147"/>
          <p:cNvGrpSpPr>
            <a:grpSpLocks/>
          </p:cNvGrpSpPr>
          <p:nvPr/>
        </p:nvGrpSpPr>
        <p:grpSpPr bwMode="auto">
          <a:xfrm>
            <a:off x="1687513" y="5191125"/>
            <a:ext cx="495300" cy="887413"/>
            <a:chOff x="4368" y="0"/>
            <a:chExt cx="1392" cy="1567"/>
          </a:xfrm>
        </p:grpSpPr>
        <p:grpSp>
          <p:nvGrpSpPr>
            <p:cNvPr id="31019" name="Group 148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65717" name="Freeform 149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18" name="Freeform 150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19" name="Rectangle 151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720" name="Freeform 152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21" name="Freeform 153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22" name="Freeform 154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23" name="Freeform 155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24" name="Rectangle 156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725" name="Freeform 157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26" name="Freeform 158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27" name="Freeform 159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28" name="Freeform 160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29" name="Freeform 161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30" name="Freeform 162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31" name="Freeform 163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32" name="Freeform 164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33" name="Freeform 165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34" name="Freeform 166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35" name="Freeform 167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36" name="Freeform 168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37" name="Freeform 169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38" name="Freeform 170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39" name="Freeform 171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40" name="Freeform 172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41" name="Freeform 173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42" name="Freeform 174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43" name="Freeform 175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44" name="Freeform 176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45" name="Freeform 177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46" name="Freeform 178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47" name="Freeform 179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48" name="Freeform 180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020" name="Text Box 181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365750" name="Group 182"/>
          <p:cNvGrpSpPr>
            <a:grpSpLocks/>
          </p:cNvGrpSpPr>
          <p:nvPr/>
        </p:nvGrpSpPr>
        <p:grpSpPr bwMode="auto">
          <a:xfrm>
            <a:off x="2921000" y="5191125"/>
            <a:ext cx="495300" cy="887413"/>
            <a:chOff x="4368" y="0"/>
            <a:chExt cx="1392" cy="1567"/>
          </a:xfrm>
        </p:grpSpPr>
        <p:grpSp>
          <p:nvGrpSpPr>
            <p:cNvPr id="30985" name="Group 183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65752" name="Freeform 184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53" name="Freeform 185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54" name="Rectangle 186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755" name="Freeform 187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56" name="Freeform 188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57" name="Freeform 189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58" name="Freeform 190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59" name="Rectangle 191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760" name="Freeform 192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61" name="Freeform 193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62" name="Freeform 194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63" name="Freeform 195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64" name="Freeform 196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65" name="Freeform 197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66" name="Freeform 198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67" name="Freeform 199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68" name="Freeform 200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69" name="Freeform 201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70" name="Freeform 202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71" name="Freeform 203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72" name="Freeform 204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73" name="Freeform 205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74" name="Freeform 206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75" name="Freeform 207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76" name="Freeform 208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77" name="Freeform 209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78" name="Freeform 210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79" name="Freeform 211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80" name="Freeform 212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81" name="Freeform 213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82" name="Freeform 214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83" name="Freeform 215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986" name="Text Box 216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365785" name="Group 217"/>
          <p:cNvGrpSpPr>
            <a:grpSpLocks/>
          </p:cNvGrpSpPr>
          <p:nvPr/>
        </p:nvGrpSpPr>
        <p:grpSpPr bwMode="auto">
          <a:xfrm>
            <a:off x="4289425" y="5191125"/>
            <a:ext cx="495300" cy="887413"/>
            <a:chOff x="4368" y="0"/>
            <a:chExt cx="1392" cy="1567"/>
          </a:xfrm>
        </p:grpSpPr>
        <p:grpSp>
          <p:nvGrpSpPr>
            <p:cNvPr id="30951" name="Group 218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65787" name="Freeform 219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88" name="Freeform 220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89" name="Rectangle 221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790" name="Freeform 222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91" name="Freeform 223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92" name="Freeform 224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93" name="Freeform 225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94" name="Rectangle 226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795" name="Freeform 227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96" name="Freeform 228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97" name="Freeform 229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98" name="Freeform 230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799" name="Freeform 231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00" name="Freeform 232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01" name="Freeform 233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02" name="Freeform 234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03" name="Freeform 235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04" name="Freeform 236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05" name="Freeform 237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06" name="Freeform 238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07" name="Freeform 239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08" name="Freeform 240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09" name="Freeform 241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10" name="Freeform 242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11" name="Freeform 243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12" name="Freeform 244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13" name="Freeform 245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14" name="Freeform 246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15" name="Freeform 247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16" name="Freeform 248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17" name="Freeform 249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18" name="Freeform 250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952" name="Text Box 251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365820" name="Group 252"/>
          <p:cNvGrpSpPr>
            <a:grpSpLocks/>
          </p:cNvGrpSpPr>
          <p:nvPr/>
        </p:nvGrpSpPr>
        <p:grpSpPr bwMode="auto">
          <a:xfrm>
            <a:off x="6840538" y="2043113"/>
            <a:ext cx="495300" cy="887412"/>
            <a:chOff x="4368" y="0"/>
            <a:chExt cx="1392" cy="1567"/>
          </a:xfrm>
        </p:grpSpPr>
        <p:grpSp>
          <p:nvGrpSpPr>
            <p:cNvPr id="30917" name="Group 253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65822" name="Freeform 254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23" name="Freeform 255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24" name="Rectangle 256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825" name="Freeform 257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26" name="Freeform 258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27" name="Freeform 259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28" name="Freeform 260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29" name="Rectangle 261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830" name="Freeform 262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31" name="Freeform 263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32" name="Freeform 264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33" name="Freeform 265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34" name="Freeform 266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35" name="Freeform 267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36" name="Freeform 268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37" name="Freeform 269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38" name="Freeform 270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39" name="Freeform 271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40" name="Freeform 272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41" name="Freeform 273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42" name="Freeform 274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43" name="Freeform 275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44" name="Freeform 276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45" name="Freeform 277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46" name="Freeform 278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47" name="Freeform 279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48" name="Freeform 280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49" name="Freeform 281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50" name="Freeform 282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51" name="Freeform 283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52" name="Freeform 284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53" name="Freeform 285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918" name="Text Box 286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365855" name="Group 287"/>
          <p:cNvGrpSpPr>
            <a:grpSpLocks/>
          </p:cNvGrpSpPr>
          <p:nvPr/>
        </p:nvGrpSpPr>
        <p:grpSpPr bwMode="auto">
          <a:xfrm>
            <a:off x="6840538" y="2647950"/>
            <a:ext cx="495300" cy="887413"/>
            <a:chOff x="4368" y="0"/>
            <a:chExt cx="1392" cy="1567"/>
          </a:xfrm>
        </p:grpSpPr>
        <p:grpSp>
          <p:nvGrpSpPr>
            <p:cNvPr id="30883" name="Group 288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65857" name="Freeform 289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58" name="Freeform 290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59" name="Rectangle 291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860" name="Freeform 292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61" name="Freeform 293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62" name="Freeform 294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63" name="Freeform 295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64" name="Rectangle 296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865" name="Freeform 297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66" name="Freeform 298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67" name="Freeform 299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68" name="Freeform 300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69" name="Freeform 301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70" name="Freeform 302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71" name="Freeform 303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72" name="Freeform 304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73" name="Freeform 305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74" name="Freeform 306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75" name="Freeform 307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76" name="Freeform 308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77" name="Freeform 309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78" name="Freeform 310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79" name="Freeform 311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80" name="Freeform 312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81" name="Freeform 313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82" name="Freeform 314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83" name="Freeform 315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84" name="Freeform 316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85" name="Freeform 317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86" name="Freeform 318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87" name="Freeform 319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88" name="Freeform 320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884" name="Text Box 321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365890" name="Group 322"/>
          <p:cNvGrpSpPr>
            <a:grpSpLocks/>
          </p:cNvGrpSpPr>
          <p:nvPr/>
        </p:nvGrpSpPr>
        <p:grpSpPr bwMode="auto">
          <a:xfrm>
            <a:off x="6840538" y="3238500"/>
            <a:ext cx="495300" cy="887413"/>
            <a:chOff x="4368" y="0"/>
            <a:chExt cx="1392" cy="1567"/>
          </a:xfrm>
        </p:grpSpPr>
        <p:grpSp>
          <p:nvGrpSpPr>
            <p:cNvPr id="30849" name="Group 323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65892" name="Freeform 324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93" name="Freeform 325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94" name="Rectangle 326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895" name="Freeform 327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96" name="Freeform 328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97" name="Freeform 329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98" name="Freeform 330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899" name="Rectangle 331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900" name="Freeform 332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01" name="Freeform 333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02" name="Freeform 334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03" name="Freeform 335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04" name="Freeform 336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05" name="Freeform 337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06" name="Freeform 338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07" name="Freeform 339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08" name="Freeform 340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09" name="Freeform 341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10" name="Freeform 342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11" name="Freeform 343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12" name="Freeform 344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13" name="Freeform 345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14" name="Freeform 346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15" name="Freeform 347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16" name="Freeform 348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17" name="Freeform 349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18" name="Freeform 350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19" name="Freeform 351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20" name="Freeform 352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21" name="Freeform 353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22" name="Freeform 354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23" name="Freeform 355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850" name="Text Box 356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365925" name="Group 357"/>
          <p:cNvGrpSpPr>
            <a:grpSpLocks/>
          </p:cNvGrpSpPr>
          <p:nvPr/>
        </p:nvGrpSpPr>
        <p:grpSpPr bwMode="auto">
          <a:xfrm>
            <a:off x="6840538" y="3871913"/>
            <a:ext cx="495300" cy="887412"/>
            <a:chOff x="4368" y="0"/>
            <a:chExt cx="1392" cy="1567"/>
          </a:xfrm>
        </p:grpSpPr>
        <p:grpSp>
          <p:nvGrpSpPr>
            <p:cNvPr id="30815" name="Group 358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65927" name="Freeform 359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28" name="Freeform 360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29" name="Rectangle 361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930" name="Freeform 362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31" name="Freeform 363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32" name="Freeform 364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33" name="Freeform 365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34" name="Rectangle 366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935" name="Freeform 367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36" name="Freeform 368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37" name="Freeform 369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38" name="Freeform 370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39" name="Freeform 371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40" name="Freeform 372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41" name="Freeform 373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42" name="Freeform 374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43" name="Freeform 375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44" name="Freeform 376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45" name="Freeform 377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46" name="Freeform 378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47" name="Freeform 379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48" name="Freeform 380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49" name="Freeform 381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50" name="Freeform 382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51" name="Freeform 383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52" name="Freeform 384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53" name="Freeform 385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54" name="Freeform 386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55" name="Freeform 387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56" name="Freeform 388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57" name="Freeform 389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58" name="Freeform 390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816" name="Text Box 391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365960" name="Group 392"/>
          <p:cNvGrpSpPr>
            <a:grpSpLocks/>
          </p:cNvGrpSpPr>
          <p:nvPr/>
        </p:nvGrpSpPr>
        <p:grpSpPr bwMode="auto">
          <a:xfrm>
            <a:off x="6840538" y="4462463"/>
            <a:ext cx="495300" cy="887412"/>
            <a:chOff x="4368" y="0"/>
            <a:chExt cx="1392" cy="1567"/>
          </a:xfrm>
        </p:grpSpPr>
        <p:grpSp>
          <p:nvGrpSpPr>
            <p:cNvPr id="30781" name="Group 393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65962" name="Freeform 394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63" name="Freeform 395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64" name="Rectangle 396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965" name="Freeform 397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66" name="Freeform 398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67" name="Freeform 399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68" name="Freeform 400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69" name="Rectangle 401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5970" name="Freeform 402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71" name="Freeform 403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72" name="Freeform 404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73" name="Freeform 405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74" name="Freeform 406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75" name="Freeform 407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76" name="Freeform 408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77" name="Freeform 409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78" name="Freeform 410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79" name="Freeform 411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80" name="Freeform 412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81" name="Freeform 413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82" name="Freeform 414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83" name="Freeform 415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84" name="Freeform 416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85" name="Freeform 417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86" name="Freeform 418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87" name="Freeform 419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88" name="Freeform 420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89" name="Freeform 421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90" name="Freeform 422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91" name="Freeform 423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92" name="Freeform 424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93" name="Freeform 425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782" name="Text Box 426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365995" name="Group 427"/>
          <p:cNvGrpSpPr>
            <a:grpSpLocks/>
          </p:cNvGrpSpPr>
          <p:nvPr/>
        </p:nvGrpSpPr>
        <p:grpSpPr bwMode="auto">
          <a:xfrm>
            <a:off x="6840538" y="5067300"/>
            <a:ext cx="495300" cy="887413"/>
            <a:chOff x="4368" y="0"/>
            <a:chExt cx="1392" cy="1567"/>
          </a:xfrm>
        </p:grpSpPr>
        <p:grpSp>
          <p:nvGrpSpPr>
            <p:cNvPr id="30747" name="Group 428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65997" name="Freeform 429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98" name="Freeform 430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999" name="Rectangle 431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6000" name="Freeform 432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01" name="Freeform 433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02" name="Freeform 434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03" name="Freeform 435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04" name="Rectangle 436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66005" name="Freeform 437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06" name="Freeform 438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07" name="Freeform 439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08" name="Freeform 440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09" name="Freeform 441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10" name="Freeform 442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11" name="Freeform 443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12" name="Freeform 444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13" name="Freeform 445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14" name="Freeform 446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15" name="Freeform 447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16" name="Freeform 448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17" name="Freeform 449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18" name="Freeform 450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19" name="Freeform 451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20" name="Freeform 452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21" name="Freeform 453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22" name="Freeform 454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23" name="Freeform 455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24" name="Freeform 456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25" name="Freeform 457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26" name="Freeform 458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27" name="Freeform 459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028" name="Freeform 460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748" name="Text Box 461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sp>
        <p:nvSpPr>
          <p:cNvPr id="366030" name="Text Box 462"/>
          <p:cNvSpPr txBox="1">
            <a:spLocks noChangeArrowheads="1"/>
          </p:cNvSpPr>
          <p:nvPr/>
        </p:nvSpPr>
        <p:spPr bwMode="auto">
          <a:xfrm>
            <a:off x="2195513" y="5808663"/>
            <a:ext cx="6624637" cy="860425"/>
          </a:xfrm>
          <a:prstGeom prst="rect">
            <a:avLst/>
          </a:prstGeom>
          <a:solidFill>
            <a:srgbClr val="FFFF99"/>
          </a:solidFill>
          <a:ln w="38100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zh-CN" altLang="en-US" sz="2400">
                <a:solidFill>
                  <a:srgbClr val="880000"/>
                </a:solidFill>
                <a:latin typeface="楷体_GB2312" charset="0"/>
                <a:ea typeface="楷体_GB2312" charset="0"/>
              </a:rPr>
              <a:t>所以需要知道数组的每一行 有多少列，这样从起始地址开始，才能正确的读出数组的元素</a:t>
            </a:r>
          </a:p>
        </p:txBody>
      </p:sp>
      <p:sp>
        <p:nvSpPr>
          <p:cNvPr id="366031" name="Rectangle 463"/>
          <p:cNvSpPr>
            <a:spLocks noChangeArrowheads="1"/>
          </p:cNvSpPr>
          <p:nvPr/>
        </p:nvSpPr>
        <p:spPr bwMode="auto">
          <a:xfrm>
            <a:off x="2268538" y="1268413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kumimoji="1" lang="zh-CN" altLang="en-US">
                <a:solidFill>
                  <a:schemeClr val="accent2"/>
                </a:solidFill>
                <a:ea typeface="宋体" charset="0"/>
              </a:rPr>
              <a:t>按行存放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AD552-59B9-5F40-9932-A1F559B0038D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6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6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6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6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5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6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3656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3656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5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5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3656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3656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65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65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3656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3656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65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65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 tmFilter="0, 0; .2, .5; .8, .5; 1, 0"/>
                                        <p:tgtEl>
                                          <p:spTgt spid="3657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3657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65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65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3657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3657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65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65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 tmFilter="0, 0; .2, .5; .8, .5; 1, 0"/>
                                        <p:tgtEl>
                                          <p:spTgt spid="3657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5" dur="250" autoRev="1" fill="hold"/>
                                        <p:tgtEl>
                                          <p:spTgt spid="3657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65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65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66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66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6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7" grpId="0" autoUpdateAnimBg="0"/>
      <p:bldP spid="365578" grpId="0" autoUpdateAnimBg="0"/>
      <p:bldP spid="365579" grpId="0" autoUpdateAnimBg="0"/>
      <p:bldP spid="365580" grpId="0" autoUpdateAnimBg="0"/>
      <p:bldP spid="365581" grpId="0" autoUpdateAnimBg="0"/>
      <p:bldP spid="365582" grpId="0" autoUpdateAnimBg="0"/>
      <p:bldP spid="365583" grpId="0" autoUpdateAnimBg="0"/>
      <p:bldP spid="3660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5" name="Rectangle 7"/>
          <p:cNvSpPr>
            <a:spLocks noChangeArrowheads="1"/>
          </p:cNvSpPr>
          <p:nvPr/>
        </p:nvSpPr>
        <p:spPr bwMode="auto">
          <a:xfrm>
            <a:off x="284543" y="2924944"/>
            <a:ext cx="8678863" cy="4397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二维数组占用字节数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=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第一维长度</a:t>
            </a:r>
            <a:r>
              <a:rPr lang="zh-CN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×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第二维长度</a:t>
            </a:r>
            <a:r>
              <a:rPr lang="zh-CN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×</a:t>
            </a:r>
            <a:r>
              <a:rPr lang="zh-CN" altLang="zh-CN" sz="2400">
                <a:effectLst>
                  <a:outerShdw blurRad="38100" dist="38100" dir="2700000" algn="tl">
                    <a:srgbClr val="000000"/>
                  </a:outerShdw>
                </a:effectLst>
                <a:ea typeface="宋体" charset="0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sizeof(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基类型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)</a:t>
            </a:r>
          </a:p>
        </p:txBody>
      </p:sp>
      <p:sp>
        <p:nvSpPr>
          <p:cNvPr id="370696" name="Text Box 8"/>
          <p:cNvSpPr txBox="1">
            <a:spLocks noChangeArrowheads="1"/>
          </p:cNvSpPr>
          <p:nvPr/>
        </p:nvSpPr>
        <p:spPr bwMode="auto">
          <a:xfrm>
            <a:off x="502031" y="2132782"/>
            <a:ext cx="5759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二维数组所占的存储空间的计算：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97AC-577E-E74F-A174-02C7C7913F68}" type="datetime1">
              <a:rPr lang="zh-CN" altLang="en-US" smtClean="0"/>
              <a:t>2022/11/24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12213" cy="661988"/>
          </a:xfrm>
          <a:noFill/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/>
          <a:p>
            <a:r>
              <a:rPr lang="zh-CN" altLang="en-US"/>
              <a:t>二维数组的输入和输出</a:t>
            </a:r>
          </a:p>
        </p:txBody>
      </p:sp>
      <p:sp>
        <p:nvSpPr>
          <p:cNvPr id="315395" name="Text Box 3"/>
          <p:cNvSpPr txBox="1">
            <a:spLocks noChangeArrowheads="1"/>
          </p:cNvSpPr>
          <p:nvPr/>
        </p:nvSpPr>
        <p:spPr bwMode="auto">
          <a:xfrm>
            <a:off x="685800" y="914400"/>
            <a:ext cx="777240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</a:pPr>
            <a:r>
              <a:rPr kumimoji="1" lang="zh-CN" altLang="en-US">
                <a:solidFill>
                  <a:srgbClr val="0066FF"/>
                </a:solidFill>
                <a:ea typeface="宋体" charset="0"/>
              </a:rPr>
              <a:t>数组的输入和输出只能逐个对数组元素进行操作（字符数组例外）</a:t>
            </a:r>
          </a:p>
        </p:txBody>
      </p:sp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3203575" y="2046288"/>
            <a:ext cx="3587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en-US" altLang="zh-CN">
                <a:solidFill>
                  <a:schemeClr val="tx1"/>
                </a:solidFill>
                <a:latin typeface="Courier New" charset="0"/>
                <a:ea typeface="宋体" charset="0"/>
              </a:rPr>
              <a:t>int a[2][3],i,j;</a:t>
            </a:r>
          </a:p>
        </p:txBody>
      </p:sp>
      <p:grpSp>
        <p:nvGrpSpPr>
          <p:cNvPr id="315397" name="Group 5"/>
          <p:cNvGrpSpPr>
            <a:grpSpLocks/>
          </p:cNvGrpSpPr>
          <p:nvPr/>
        </p:nvGrpSpPr>
        <p:grpSpPr bwMode="auto">
          <a:xfrm>
            <a:off x="107950" y="2862263"/>
            <a:ext cx="4356100" cy="3433762"/>
            <a:chOff x="240" y="1599"/>
            <a:chExt cx="2744" cy="2163"/>
          </a:xfrm>
        </p:grpSpPr>
        <p:sp>
          <p:nvSpPr>
            <p:cNvPr id="315398" name="Text Box 6"/>
            <p:cNvSpPr txBox="1">
              <a:spLocks noChangeArrowheads="1"/>
            </p:cNvSpPr>
            <p:nvPr/>
          </p:nvSpPr>
          <p:spPr bwMode="auto">
            <a:xfrm>
              <a:off x="252" y="1599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zh-CN" altLang="en-US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0"/>
                </a:rPr>
                <a:t>输入方法：</a:t>
              </a:r>
            </a:p>
          </p:txBody>
        </p:sp>
        <p:grpSp>
          <p:nvGrpSpPr>
            <p:cNvPr id="32784" name="Group 7"/>
            <p:cNvGrpSpPr>
              <a:grpSpLocks/>
            </p:cNvGrpSpPr>
            <p:nvPr/>
          </p:nvGrpSpPr>
          <p:grpSpPr bwMode="auto">
            <a:xfrm>
              <a:off x="240" y="1971"/>
              <a:ext cx="2744" cy="1791"/>
              <a:chOff x="240" y="1971"/>
              <a:chExt cx="2744" cy="1791"/>
            </a:xfrm>
          </p:grpSpPr>
          <p:sp>
            <p:nvSpPr>
              <p:cNvPr id="32785" name="Text Box 8"/>
              <p:cNvSpPr txBox="1">
                <a:spLocks noChangeArrowheads="1"/>
              </p:cNvSpPr>
              <p:nvPr/>
            </p:nvSpPr>
            <p:spPr bwMode="auto">
              <a:xfrm>
                <a:off x="804" y="3435"/>
                <a:ext cx="11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1pPr>
                <a:lvl2pPr marL="742950" indent="-28575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2pPr>
                <a:lvl3pPr marL="1143000" indent="-22860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3pPr>
                <a:lvl4pPr marL="1600200" indent="-22860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4pPr>
                <a:lvl5pPr marL="2057400" indent="-22860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endParaRPr kumimoji="1" lang="zh-CN" altLang="en-US" b="0">
                  <a:solidFill>
                    <a:schemeClr val="tx1"/>
                  </a:solidFill>
                  <a:ea typeface="宋体" charset="0"/>
                </a:endParaRPr>
              </a:p>
            </p:txBody>
          </p:sp>
          <p:sp>
            <p:nvSpPr>
              <p:cNvPr id="32786" name="Text Box 9"/>
              <p:cNvSpPr txBox="1">
                <a:spLocks noChangeArrowheads="1"/>
              </p:cNvSpPr>
              <p:nvPr/>
            </p:nvSpPr>
            <p:spPr bwMode="auto">
              <a:xfrm>
                <a:off x="240" y="1971"/>
                <a:ext cx="208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1pPr>
                <a:lvl2pPr marL="742950" indent="-28575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2pPr>
                <a:lvl3pPr marL="1143000" indent="-22860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3pPr>
                <a:lvl4pPr marL="1600200" indent="-22860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4pPr>
                <a:lvl5pPr marL="2057400" indent="-22860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kumimoji="1" lang="zh-CN" altLang="en-US" sz="2400">
                    <a:solidFill>
                      <a:srgbClr val="0066FF"/>
                    </a:solidFill>
                    <a:latin typeface="Courier New" charset="0"/>
                    <a:ea typeface="宋体" charset="0"/>
                  </a:rPr>
                  <a:t>输入第</a:t>
                </a:r>
                <a:r>
                  <a:rPr kumimoji="1" lang="en-US" altLang="zh-CN" sz="2400">
                    <a:solidFill>
                      <a:srgbClr val="0066FF"/>
                    </a:solidFill>
                    <a:latin typeface="Courier New" charset="0"/>
                    <a:ea typeface="宋体" charset="0"/>
                  </a:rPr>
                  <a:t>i</a:t>
                </a:r>
                <a:r>
                  <a:rPr kumimoji="1" lang="zh-CN" altLang="en-US" sz="2400">
                    <a:solidFill>
                      <a:srgbClr val="0066FF"/>
                    </a:solidFill>
                    <a:latin typeface="Courier New" charset="0"/>
                    <a:ea typeface="宋体" charset="0"/>
                  </a:rPr>
                  <a:t>行第</a:t>
                </a:r>
                <a:r>
                  <a:rPr kumimoji="1" lang="en-US" altLang="zh-CN" sz="2400">
                    <a:solidFill>
                      <a:srgbClr val="0066FF"/>
                    </a:solidFill>
                    <a:latin typeface="Courier New" charset="0"/>
                    <a:ea typeface="宋体" charset="0"/>
                  </a:rPr>
                  <a:t>j</a:t>
                </a:r>
                <a:r>
                  <a:rPr kumimoji="1" lang="zh-CN" altLang="en-US" sz="2400">
                    <a:solidFill>
                      <a:srgbClr val="0066FF"/>
                    </a:solidFill>
                    <a:latin typeface="Courier New" charset="0"/>
                    <a:ea typeface="宋体" charset="0"/>
                  </a:rPr>
                  <a:t>列元素：</a:t>
                </a:r>
                <a:endParaRPr kumimoji="1" lang="zh-CN" altLang="en-US" sz="2400" b="0">
                  <a:solidFill>
                    <a:srgbClr val="0066FF"/>
                  </a:solidFill>
                  <a:latin typeface="Courier New" charset="0"/>
                  <a:ea typeface="宋体" charset="0"/>
                </a:endParaRPr>
              </a:p>
            </p:txBody>
          </p:sp>
          <p:sp>
            <p:nvSpPr>
              <p:cNvPr id="32787" name="Text Box 10"/>
              <p:cNvSpPr txBox="1">
                <a:spLocks noChangeArrowheads="1"/>
              </p:cNvSpPr>
              <p:nvPr/>
            </p:nvSpPr>
            <p:spPr bwMode="auto">
              <a:xfrm>
                <a:off x="264" y="2235"/>
                <a:ext cx="253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1pPr>
                <a:lvl2pPr marL="742950" indent="-28575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2pPr>
                <a:lvl3pPr marL="1143000" indent="-22860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3pPr>
                <a:lvl4pPr marL="1600200" indent="-22860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4pPr>
                <a:lvl5pPr marL="2057400" indent="-22860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kumimoji="1" lang="en-US" altLang="zh-CN" sz="2400">
                    <a:solidFill>
                      <a:schemeClr val="tx1"/>
                    </a:solidFill>
                    <a:latin typeface="Courier New" charset="0"/>
                    <a:ea typeface="宋体" charset="0"/>
                  </a:rPr>
                  <a:t>scanf(“%d”,&amp;a[i][j]);</a:t>
                </a:r>
                <a:endParaRPr kumimoji="1" lang="en-US" altLang="zh-CN" sz="2400">
                  <a:solidFill>
                    <a:srgbClr val="FF9900"/>
                  </a:solidFill>
                  <a:latin typeface="Courier New" charset="0"/>
                  <a:ea typeface="宋体" charset="0"/>
                </a:endParaRPr>
              </a:p>
            </p:txBody>
          </p:sp>
          <p:sp>
            <p:nvSpPr>
              <p:cNvPr id="32788" name="Text Box 11"/>
              <p:cNvSpPr txBox="1">
                <a:spLocks noChangeArrowheads="1"/>
              </p:cNvSpPr>
              <p:nvPr/>
            </p:nvSpPr>
            <p:spPr bwMode="auto">
              <a:xfrm>
                <a:off x="240" y="2568"/>
                <a:ext cx="185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1pPr>
                <a:lvl2pPr marL="742950" indent="-28575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2pPr>
                <a:lvl3pPr marL="1143000" indent="-22860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3pPr>
                <a:lvl4pPr marL="1600200" indent="-22860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4pPr>
                <a:lvl5pPr marL="2057400" indent="-228600"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800" b="1">
                    <a:solidFill>
                      <a:srgbClr val="FF0000"/>
                    </a:solidFill>
                    <a:latin typeface="Times New Roman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</a:pPr>
                <a:r>
                  <a:rPr kumimoji="1" lang="zh-CN" altLang="en-US" sz="2400">
                    <a:solidFill>
                      <a:srgbClr val="0066FF"/>
                    </a:solidFill>
                    <a:latin typeface="Courier New" charset="0"/>
                    <a:ea typeface="宋体" charset="0"/>
                  </a:rPr>
                  <a:t>输入整个数组元素：</a:t>
                </a:r>
                <a:endParaRPr kumimoji="1" lang="zh-CN" altLang="en-US" sz="2400" b="0">
                  <a:solidFill>
                    <a:srgbClr val="0066FF"/>
                  </a:solidFill>
                  <a:latin typeface="Courier New" charset="0"/>
                  <a:ea typeface="宋体" charset="0"/>
                </a:endParaRPr>
              </a:p>
            </p:txBody>
          </p:sp>
          <p:sp>
            <p:nvSpPr>
              <p:cNvPr id="315404" name="Text Box 12"/>
              <p:cNvSpPr txBox="1">
                <a:spLocks noChangeArrowheads="1"/>
              </p:cNvSpPr>
              <p:nvPr/>
            </p:nvSpPr>
            <p:spPr bwMode="auto">
              <a:xfrm>
                <a:off x="276" y="2891"/>
                <a:ext cx="2708" cy="7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defRPr/>
                </a:pPr>
                <a:r>
                  <a:rPr kumimoji="1" lang="en-US" altLang="zh-CN" sz="2000">
                    <a:solidFill>
                      <a:schemeClr val="tx1"/>
                    </a:solidFill>
                    <a:latin typeface="Courier New" pitchFamily="49" charset="0"/>
                    <a:ea typeface="宋体" pitchFamily="2" charset="-122"/>
                  </a:rPr>
                  <a:t>for (i=0;i&lt;2;i++)</a:t>
                </a:r>
              </a:p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defRPr/>
                </a:pPr>
                <a:r>
                  <a:rPr kumimoji="1" lang="en-US" altLang="zh-CN" sz="2000">
                    <a:solidFill>
                      <a:schemeClr val="tx1"/>
                    </a:solidFill>
                    <a:latin typeface="Courier New" pitchFamily="49" charset="0"/>
                    <a:ea typeface="宋体" pitchFamily="2" charset="-122"/>
                  </a:rPr>
                  <a:t>   for(j=0;j&lt;3;j++)</a:t>
                </a:r>
              </a:p>
              <a:p>
                <a:pPr eaLnBrk="1" hangingPunct="1">
                  <a:lnSpc>
                    <a:spcPct val="120000"/>
                  </a:lnSpc>
                  <a:spcBef>
                    <a:spcPct val="0"/>
                  </a:spcBef>
                  <a:defRPr/>
                </a:pPr>
                <a:r>
                  <a:rPr kumimoji="1" lang="en-US" altLang="zh-CN" sz="2000">
                    <a:solidFill>
                      <a:schemeClr val="tx1"/>
                    </a:solidFill>
                    <a:latin typeface="Courier New" pitchFamily="49" charset="0"/>
                    <a:ea typeface="宋体" pitchFamily="2" charset="-122"/>
                  </a:rPr>
                  <a:t>      scanf(“%d”,&amp;a[i][j]);</a:t>
                </a:r>
                <a:endParaRPr kumimoji="1" lang="en-US" altLang="zh-CN" sz="20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itchFamily="49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315405" name="Group 13"/>
          <p:cNvGrpSpPr>
            <a:grpSpLocks/>
          </p:cNvGrpSpPr>
          <p:nvPr/>
        </p:nvGrpSpPr>
        <p:grpSpPr bwMode="auto">
          <a:xfrm>
            <a:off x="4572000" y="2811463"/>
            <a:ext cx="4510088" cy="3289300"/>
            <a:chOff x="3351" y="1647"/>
            <a:chExt cx="2841" cy="2072"/>
          </a:xfrm>
        </p:grpSpPr>
        <p:sp>
          <p:nvSpPr>
            <p:cNvPr id="315406" name="Text Box 14"/>
            <p:cNvSpPr txBox="1">
              <a:spLocks noChangeArrowheads="1"/>
            </p:cNvSpPr>
            <p:nvPr/>
          </p:nvSpPr>
          <p:spPr bwMode="auto">
            <a:xfrm>
              <a:off x="3378" y="1647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zh-CN" altLang="en-US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0"/>
                </a:rPr>
                <a:t>输出方法：</a:t>
              </a:r>
            </a:p>
          </p:txBody>
        </p:sp>
        <p:sp>
          <p:nvSpPr>
            <p:cNvPr id="32778" name="Text Box 15"/>
            <p:cNvSpPr txBox="1">
              <a:spLocks noChangeArrowheads="1"/>
            </p:cNvSpPr>
            <p:nvPr/>
          </p:nvSpPr>
          <p:spPr bwMode="auto">
            <a:xfrm>
              <a:off x="3351" y="3019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  <p:sp>
          <p:nvSpPr>
            <p:cNvPr id="32779" name="Text Box 16"/>
            <p:cNvSpPr txBox="1">
              <a:spLocks noChangeArrowheads="1"/>
            </p:cNvSpPr>
            <p:nvPr/>
          </p:nvSpPr>
          <p:spPr bwMode="auto">
            <a:xfrm>
              <a:off x="3366" y="2007"/>
              <a:ext cx="20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zh-CN" altLang="en-US" sz="2400">
                  <a:solidFill>
                    <a:srgbClr val="0066FF"/>
                  </a:solidFill>
                  <a:latin typeface="Courier New" charset="0"/>
                  <a:ea typeface="宋体" charset="0"/>
                </a:rPr>
                <a:t>输出第</a:t>
              </a:r>
              <a:r>
                <a:rPr kumimoji="1" lang="en-US" altLang="zh-CN" sz="2400">
                  <a:solidFill>
                    <a:srgbClr val="0066FF"/>
                  </a:solidFill>
                  <a:latin typeface="Courier New" charset="0"/>
                  <a:ea typeface="宋体" charset="0"/>
                </a:rPr>
                <a:t>i</a:t>
              </a:r>
              <a:r>
                <a:rPr kumimoji="1" lang="zh-CN" altLang="zh-CN" sz="2400">
                  <a:solidFill>
                    <a:srgbClr val="0066FF"/>
                  </a:solidFill>
                  <a:latin typeface="Courier New" charset="0"/>
                  <a:ea typeface="宋体" charset="0"/>
                </a:rPr>
                <a:t>行第</a:t>
              </a:r>
              <a:r>
                <a:rPr kumimoji="1" lang="en-US" altLang="zh-CN" sz="2400">
                  <a:solidFill>
                    <a:srgbClr val="0066FF"/>
                  </a:solidFill>
                  <a:latin typeface="Courier New" charset="0"/>
                  <a:ea typeface="宋体" charset="0"/>
                </a:rPr>
                <a:t>j</a:t>
              </a:r>
              <a:r>
                <a:rPr kumimoji="1" lang="zh-CN" altLang="zh-CN" sz="2400">
                  <a:solidFill>
                    <a:srgbClr val="0066FF"/>
                  </a:solidFill>
                  <a:latin typeface="Courier New" charset="0"/>
                  <a:ea typeface="宋体" charset="0"/>
                </a:rPr>
                <a:t>列</a:t>
              </a:r>
              <a:r>
                <a:rPr kumimoji="1" lang="zh-CN" altLang="en-US" sz="2400">
                  <a:solidFill>
                    <a:srgbClr val="0066FF"/>
                  </a:solidFill>
                  <a:latin typeface="Courier New" charset="0"/>
                  <a:ea typeface="宋体" charset="0"/>
                </a:rPr>
                <a:t>元素：</a:t>
              </a:r>
            </a:p>
          </p:txBody>
        </p:sp>
        <p:sp>
          <p:nvSpPr>
            <p:cNvPr id="32780" name="Text Box 17"/>
            <p:cNvSpPr txBox="1">
              <a:spLocks noChangeArrowheads="1"/>
            </p:cNvSpPr>
            <p:nvPr/>
          </p:nvSpPr>
          <p:spPr bwMode="auto">
            <a:xfrm>
              <a:off x="3387" y="2309"/>
              <a:ext cx="253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CN" sz="2400">
                  <a:solidFill>
                    <a:schemeClr val="tx1"/>
                  </a:solidFill>
                  <a:latin typeface="Courier New" charset="0"/>
                  <a:ea typeface="宋体" charset="0"/>
                </a:rPr>
                <a:t>printf(“%d”,a[i][j]);</a:t>
              </a:r>
            </a:p>
          </p:txBody>
        </p:sp>
        <p:sp>
          <p:nvSpPr>
            <p:cNvPr id="32781" name="Text Box 18"/>
            <p:cNvSpPr txBox="1">
              <a:spLocks noChangeArrowheads="1"/>
            </p:cNvSpPr>
            <p:nvPr/>
          </p:nvSpPr>
          <p:spPr bwMode="auto">
            <a:xfrm>
              <a:off x="3354" y="2642"/>
              <a:ext cx="18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zh-CN" altLang="en-US" sz="2400">
                  <a:solidFill>
                    <a:srgbClr val="0066FF"/>
                  </a:solidFill>
                  <a:ea typeface="宋体" charset="0"/>
                </a:rPr>
                <a:t>输出整个数组元素：</a:t>
              </a:r>
            </a:p>
          </p:txBody>
        </p:sp>
        <p:sp>
          <p:nvSpPr>
            <p:cNvPr id="315411" name="Text Box 19"/>
            <p:cNvSpPr txBox="1">
              <a:spLocks noChangeArrowheads="1"/>
            </p:cNvSpPr>
            <p:nvPr/>
          </p:nvSpPr>
          <p:spPr bwMode="auto">
            <a:xfrm>
              <a:off x="3388" y="2971"/>
              <a:ext cx="2804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kumimoji="1" lang="en-US" altLang="zh-CN" sz="2000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for (i=0;i&lt;2;i++)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kumimoji="1" lang="en-US" altLang="zh-CN" sz="2000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   for(j=0;j&lt;3;j++)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kumimoji="1" lang="en-US" altLang="zh-CN" sz="2000">
                  <a:solidFill>
                    <a:schemeClr val="tx1"/>
                  </a:solidFill>
                  <a:latin typeface="Courier New" pitchFamily="49" charset="0"/>
                  <a:ea typeface="宋体" pitchFamily="2" charset="-122"/>
                </a:rPr>
                <a:t>       printf(“%d”,a[i][j]);</a:t>
              </a:r>
              <a:endParaRPr kumimoji="1" lang="en-US" altLang="zh-CN" sz="2000">
                <a:solidFill>
                  <a:srgbClr val="CC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endParaRPr>
            </a:p>
          </p:txBody>
        </p:sp>
      </p:grpSp>
      <p:sp>
        <p:nvSpPr>
          <p:cNvPr id="315412" name="Line 20"/>
          <p:cNvSpPr>
            <a:spLocks noChangeShapeType="1"/>
          </p:cNvSpPr>
          <p:nvPr/>
        </p:nvSpPr>
        <p:spPr bwMode="auto">
          <a:xfrm>
            <a:off x="4495800" y="2590800"/>
            <a:ext cx="0" cy="4267200"/>
          </a:xfrm>
          <a:prstGeom prst="line">
            <a:avLst/>
          </a:prstGeom>
          <a:noFill/>
          <a:ln w="57150">
            <a:solidFill>
              <a:srgbClr val="99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15413" name="Line 21"/>
          <p:cNvSpPr>
            <a:spLocks noChangeShapeType="1"/>
          </p:cNvSpPr>
          <p:nvPr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57150">
            <a:solidFill>
              <a:srgbClr val="99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DD1A6-D84D-1F45-9D7F-B7FACD1957FD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3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Line 136"/>
          <p:cNvSpPr>
            <a:spLocks noChangeShapeType="1"/>
          </p:cNvSpPr>
          <p:nvPr/>
        </p:nvSpPr>
        <p:spPr bwMode="auto">
          <a:xfrm>
            <a:off x="1265238" y="3695700"/>
            <a:ext cx="443865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122" name="Group 87"/>
          <p:cNvGrpSpPr>
            <a:grpSpLocks/>
          </p:cNvGrpSpPr>
          <p:nvPr/>
        </p:nvGrpSpPr>
        <p:grpSpPr bwMode="auto">
          <a:xfrm>
            <a:off x="1164871" y="696913"/>
            <a:ext cx="7337425" cy="5133975"/>
            <a:chOff x="814" y="411"/>
            <a:chExt cx="4622" cy="3234"/>
          </a:xfrm>
        </p:grpSpPr>
        <p:sp>
          <p:nvSpPr>
            <p:cNvPr id="123" name="Rectangle 3"/>
            <p:cNvSpPr>
              <a:spLocks noChangeArrowheads="1"/>
            </p:cNvSpPr>
            <p:nvPr/>
          </p:nvSpPr>
          <p:spPr bwMode="auto">
            <a:xfrm>
              <a:off x="814" y="1044"/>
              <a:ext cx="4622" cy="2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  <a:ea typeface="隶书" charset="0"/>
                </a:rPr>
                <a:t>  </a:t>
              </a:r>
              <a:r>
                <a:rPr lang="zh-CN" altLang="en-US">
                  <a:solidFill>
                    <a:schemeClr val="tx1"/>
                  </a:solidFill>
                  <a:ea typeface="隶书" charset="0"/>
                </a:rPr>
                <a:t>例 </a:t>
              </a:r>
              <a:r>
                <a:rPr lang="en-US" altLang="zh-CN">
                  <a:solidFill>
                    <a:schemeClr val="tx1"/>
                  </a:solidFill>
                </a:rPr>
                <a:t>char diamond</a:t>
              </a:r>
              <a:r>
                <a:rPr lang="en-US" altLang="zh-CN">
                  <a:solidFill>
                    <a:srgbClr val="FF0000"/>
                  </a:solidFill>
                </a:rPr>
                <a:t>[]</a:t>
              </a:r>
              <a:r>
                <a:rPr lang="en-US" altLang="zh-CN">
                  <a:solidFill>
                    <a:schemeClr val="tx1"/>
                  </a:solidFill>
                </a:rPr>
                <a:t>[5]={{'.', '.','*'},{'.','*','.','*'},</a:t>
              </a:r>
            </a:p>
            <a:p>
              <a:pPr eaLnBrk="0" hangingPunct="0"/>
              <a:r>
                <a:rPr lang="en-US" altLang="zh-CN">
                  <a:solidFill>
                    <a:schemeClr val="tx1"/>
                  </a:solidFill>
                </a:rPr>
                <a:t>	   {'*', '.', '.', '.' ,'*'},{'.','*', '.','*'},{'.', '.','*'}};</a:t>
              </a:r>
            </a:p>
            <a:p>
              <a:pPr eaLnBrk="0" hangingPunct="0"/>
              <a:endParaRPr lang="en-US" altLang="zh-CN">
                <a:solidFill>
                  <a:schemeClr val="tx1"/>
                </a:solidFill>
              </a:endParaRPr>
            </a:p>
            <a:p>
              <a:pPr eaLnBrk="0" hangingPunct="0"/>
              <a:endParaRPr lang="en-US" altLang="zh-CN">
                <a:solidFill>
                  <a:schemeClr val="bg2"/>
                </a:solidFill>
              </a:endParaRPr>
            </a:p>
            <a:p>
              <a:pPr eaLnBrk="0" hangingPunct="0"/>
              <a:endParaRPr lang="en-US" altLang="zh-CN">
                <a:solidFill>
                  <a:schemeClr val="bg2"/>
                </a:solidFill>
              </a:endParaRPr>
            </a:p>
            <a:p>
              <a:pPr eaLnBrk="0" hangingPunct="0"/>
              <a:endParaRPr lang="en-US" altLang="zh-CN">
                <a:solidFill>
                  <a:schemeClr val="bg2"/>
                </a:solidFill>
                <a:ea typeface="隶书" charset="0"/>
              </a:endParaRPr>
            </a:p>
            <a:p>
              <a:endParaRPr lang="en-US" altLang="zh-CN">
                <a:solidFill>
                  <a:schemeClr val="bg2"/>
                </a:solidFill>
                <a:ea typeface="隶书" charset="0"/>
              </a:endParaRPr>
            </a:p>
            <a:p>
              <a:endParaRPr lang="en-US" altLang="zh-CN">
                <a:solidFill>
                  <a:schemeClr val="bg2"/>
                </a:solidFill>
                <a:ea typeface="隶书" charset="0"/>
              </a:endParaRPr>
            </a:p>
            <a:p>
              <a:endParaRPr lang="en-US" altLang="zh-CN">
                <a:solidFill>
                  <a:schemeClr val="bg2"/>
                </a:solidFill>
                <a:ea typeface="隶书" charset="0"/>
              </a:endParaRPr>
            </a:p>
            <a:p>
              <a:endParaRPr lang="en-US" altLang="zh-CN">
                <a:solidFill>
                  <a:schemeClr val="bg2"/>
                </a:solidFill>
                <a:ea typeface="隶书" charset="0"/>
              </a:endParaRPr>
            </a:p>
          </p:txBody>
        </p:sp>
        <p:sp>
          <p:nvSpPr>
            <p:cNvPr id="124" name="AutoShape 4"/>
            <p:cNvSpPr>
              <a:spLocks noChangeArrowheads="1"/>
            </p:cNvSpPr>
            <p:nvPr/>
          </p:nvSpPr>
          <p:spPr bwMode="auto">
            <a:xfrm>
              <a:off x="3006" y="411"/>
              <a:ext cx="2343" cy="378"/>
            </a:xfrm>
            <a:prstGeom prst="cloudCallout">
              <a:avLst>
                <a:gd name="adj1" fmla="val -30579"/>
                <a:gd name="adj2" fmla="val 10502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rgbClr val="339966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defRPr/>
              </a:pPr>
              <a:r>
                <a:rPr lang="zh-CN" altLang="en-US" sz="2000" dirty="0">
                  <a:solidFill>
                    <a:srgbClr val="669900"/>
                  </a:solidFill>
                  <a:cs typeface="宋体" charset="0"/>
                </a:rPr>
                <a:t>二维字符数组初始化</a:t>
              </a:r>
              <a:endParaRPr lang="zh-CN" altLang="en-US" sz="2000" dirty="0">
                <a:solidFill>
                  <a:srgbClr val="FF0000"/>
                </a:solidFill>
                <a:cs typeface="宋体" charset="0"/>
              </a:endParaRPr>
            </a:p>
          </p:txBody>
        </p:sp>
        <p:grpSp>
          <p:nvGrpSpPr>
            <p:cNvPr id="125" name="Group 86"/>
            <p:cNvGrpSpPr>
              <a:grpSpLocks/>
            </p:cNvGrpSpPr>
            <p:nvPr/>
          </p:nvGrpSpPr>
          <p:grpSpPr bwMode="auto">
            <a:xfrm>
              <a:off x="831" y="1833"/>
              <a:ext cx="3657" cy="1585"/>
              <a:chOff x="831" y="1833"/>
              <a:chExt cx="3657" cy="1585"/>
            </a:xfrm>
          </p:grpSpPr>
          <p:grpSp>
            <p:nvGrpSpPr>
              <p:cNvPr id="126" name="Group 80"/>
              <p:cNvGrpSpPr>
                <a:grpSpLocks/>
              </p:cNvGrpSpPr>
              <p:nvPr/>
            </p:nvGrpSpPr>
            <p:grpSpPr bwMode="auto">
              <a:xfrm>
                <a:off x="1668" y="1833"/>
                <a:ext cx="2820" cy="1585"/>
                <a:chOff x="1176" y="1893"/>
                <a:chExt cx="2820" cy="1585"/>
              </a:xfrm>
            </p:grpSpPr>
            <p:grpSp>
              <p:nvGrpSpPr>
                <p:cNvPr id="132" name="Group 46"/>
                <p:cNvGrpSpPr>
                  <a:grpSpLocks/>
                </p:cNvGrpSpPr>
                <p:nvPr/>
              </p:nvGrpSpPr>
              <p:grpSpPr bwMode="auto">
                <a:xfrm>
                  <a:off x="1187" y="1893"/>
                  <a:ext cx="2808" cy="1585"/>
                  <a:chOff x="1187" y="1881"/>
                  <a:chExt cx="2808" cy="409"/>
                </a:xfrm>
              </p:grpSpPr>
              <p:sp>
                <p:nvSpPr>
                  <p:cNvPr id="171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1187" y="1887"/>
                    <a:ext cx="2808" cy="394"/>
                  </a:xfrm>
                  <a:prstGeom prst="rect">
                    <a:avLst/>
                  </a:prstGeom>
                  <a:solidFill>
                    <a:schemeClr val="tx1"/>
                  </a:solidFill>
                  <a:ln w="19050">
                    <a:solidFill>
                      <a:schemeClr val="bg2"/>
                    </a:solidFill>
                    <a:miter lim="800000"/>
                    <a:headEnd/>
                    <a:tailEnd/>
                  </a:ln>
                </p:spPr>
                <p:txBody>
                  <a:bodyPr wrap="none" lIns="90000" tIns="46800" rIns="90000" bIns="46800" anchor="ctr"/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pPr algn="ctr"/>
                    <a:endParaRPr lang="zh-CN" altLang="en-US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2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1715" y="1895"/>
                    <a:ext cx="0" cy="395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73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2309" y="1881"/>
                    <a:ext cx="0" cy="395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2903" y="1881"/>
                    <a:ext cx="0" cy="395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3497" y="1881"/>
                    <a:ext cx="0" cy="395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3" name="Group 51"/>
                <p:cNvGrpSpPr>
                  <a:grpSpLocks/>
                </p:cNvGrpSpPr>
                <p:nvPr/>
              </p:nvGrpSpPr>
              <p:grpSpPr bwMode="auto">
                <a:xfrm>
                  <a:off x="1176" y="1932"/>
                  <a:ext cx="2796" cy="288"/>
                  <a:chOff x="1200" y="1932"/>
                  <a:chExt cx="2796" cy="288"/>
                </a:xfrm>
              </p:grpSpPr>
              <p:sp>
                <p:nvSpPr>
                  <p:cNvPr id="165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34" y="1932"/>
                    <a:ext cx="1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.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6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19" y="1932"/>
                    <a:ext cx="1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.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7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05" y="1932"/>
                    <a:ext cx="195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rgbClr val="FFFF00"/>
                        </a:solidFill>
                      </a:rPr>
                      <a:t>*</a:t>
                    </a:r>
                  </a:p>
                </p:txBody>
              </p:sp>
              <p:sp>
                <p:nvSpPr>
                  <p:cNvPr id="168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90" y="1932"/>
                    <a:ext cx="23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\0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9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76" y="1932"/>
                    <a:ext cx="23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\0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0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1200" y="2220"/>
                    <a:ext cx="279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4" name="Line 48"/>
                <p:cNvSpPr>
                  <a:spLocks noChangeShapeType="1"/>
                </p:cNvSpPr>
                <p:nvPr/>
              </p:nvSpPr>
              <p:spPr bwMode="auto">
                <a:xfrm>
                  <a:off x="1200" y="2524"/>
                  <a:ext cx="2796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5" name="Line 49"/>
                <p:cNvSpPr>
                  <a:spLocks noChangeShapeType="1"/>
                </p:cNvSpPr>
                <p:nvPr/>
              </p:nvSpPr>
              <p:spPr bwMode="auto">
                <a:xfrm>
                  <a:off x="1200" y="2828"/>
                  <a:ext cx="2796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6" name="Line 50"/>
                <p:cNvSpPr>
                  <a:spLocks noChangeShapeType="1"/>
                </p:cNvSpPr>
                <p:nvPr/>
              </p:nvSpPr>
              <p:spPr bwMode="auto">
                <a:xfrm>
                  <a:off x="1200" y="3132"/>
                  <a:ext cx="2796" cy="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37" name="Group 52"/>
                <p:cNvGrpSpPr>
                  <a:grpSpLocks/>
                </p:cNvGrpSpPr>
                <p:nvPr/>
              </p:nvGrpSpPr>
              <p:grpSpPr bwMode="auto">
                <a:xfrm>
                  <a:off x="1176" y="2229"/>
                  <a:ext cx="2796" cy="288"/>
                  <a:chOff x="1200" y="1932"/>
                  <a:chExt cx="2796" cy="288"/>
                </a:xfrm>
              </p:grpSpPr>
              <p:sp>
                <p:nvSpPr>
                  <p:cNvPr id="159" name="Text Box 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34" y="1932"/>
                    <a:ext cx="1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.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0" name="Text Box 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19" y="1932"/>
                    <a:ext cx="195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rgbClr val="FFFF00"/>
                        </a:solidFill>
                      </a:rPr>
                      <a:t>*</a:t>
                    </a:r>
                  </a:p>
                </p:txBody>
              </p:sp>
              <p:sp>
                <p:nvSpPr>
                  <p:cNvPr id="161" name="Text Box 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05" y="1932"/>
                    <a:ext cx="1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.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2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90" y="1932"/>
                    <a:ext cx="195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rgbClr val="FFFF00"/>
                        </a:solidFill>
                      </a:rPr>
                      <a:t>*</a:t>
                    </a:r>
                  </a:p>
                </p:txBody>
              </p:sp>
              <p:sp>
                <p:nvSpPr>
                  <p:cNvPr id="163" name="Text Box 5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76" y="1932"/>
                    <a:ext cx="23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\0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4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1200" y="2220"/>
                    <a:ext cx="279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8" name="Group 59"/>
                <p:cNvGrpSpPr>
                  <a:grpSpLocks/>
                </p:cNvGrpSpPr>
                <p:nvPr/>
              </p:nvGrpSpPr>
              <p:grpSpPr bwMode="auto">
                <a:xfrm>
                  <a:off x="1176" y="2526"/>
                  <a:ext cx="2796" cy="288"/>
                  <a:chOff x="1200" y="1932"/>
                  <a:chExt cx="2796" cy="288"/>
                </a:xfrm>
              </p:grpSpPr>
              <p:sp>
                <p:nvSpPr>
                  <p:cNvPr id="153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34" y="1932"/>
                    <a:ext cx="195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rgbClr val="FFFF00"/>
                        </a:solidFill>
                      </a:rPr>
                      <a:t>*</a:t>
                    </a:r>
                  </a:p>
                </p:txBody>
              </p:sp>
              <p:sp>
                <p:nvSpPr>
                  <p:cNvPr id="154" name="Text Box 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19" y="1932"/>
                    <a:ext cx="1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.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5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05" y="1932"/>
                    <a:ext cx="1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.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6" name="Text Box 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90" y="1932"/>
                    <a:ext cx="1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.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Text Box 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76" y="1932"/>
                    <a:ext cx="195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rgbClr val="FFFF00"/>
                        </a:solidFill>
                      </a:rPr>
                      <a:t>*</a:t>
                    </a:r>
                  </a:p>
                </p:txBody>
              </p:sp>
              <p:sp>
                <p:nvSpPr>
                  <p:cNvPr id="158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1200" y="2220"/>
                    <a:ext cx="2796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9" name="Group 66"/>
                <p:cNvGrpSpPr>
                  <a:grpSpLocks/>
                </p:cNvGrpSpPr>
                <p:nvPr/>
              </p:nvGrpSpPr>
              <p:grpSpPr bwMode="auto">
                <a:xfrm>
                  <a:off x="1176" y="2823"/>
                  <a:ext cx="2796" cy="288"/>
                  <a:chOff x="1200" y="1932"/>
                  <a:chExt cx="2796" cy="288"/>
                </a:xfrm>
              </p:grpSpPr>
              <p:sp>
                <p:nvSpPr>
                  <p:cNvPr id="147" name="Text Box 6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34" y="1932"/>
                    <a:ext cx="1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.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8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19" y="1932"/>
                    <a:ext cx="195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rgbClr val="FFFF00"/>
                        </a:solidFill>
                      </a:rPr>
                      <a:t>*</a:t>
                    </a:r>
                  </a:p>
                </p:txBody>
              </p:sp>
              <p:sp>
                <p:nvSpPr>
                  <p:cNvPr id="149" name="Text Box 6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05" y="1932"/>
                    <a:ext cx="1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.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0" name="Text Box 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90" y="1932"/>
                    <a:ext cx="195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rgbClr val="FFFF00"/>
                        </a:solidFill>
                      </a:rPr>
                      <a:t>*</a:t>
                    </a:r>
                  </a:p>
                </p:txBody>
              </p:sp>
              <p:sp>
                <p:nvSpPr>
                  <p:cNvPr id="151" name="Text Box 7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76" y="1932"/>
                    <a:ext cx="23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\0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2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1200" y="2220"/>
                    <a:ext cx="2796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0" name="Group 73"/>
                <p:cNvGrpSpPr>
                  <a:grpSpLocks/>
                </p:cNvGrpSpPr>
                <p:nvPr/>
              </p:nvGrpSpPr>
              <p:grpSpPr bwMode="auto">
                <a:xfrm>
                  <a:off x="1176" y="3120"/>
                  <a:ext cx="2796" cy="288"/>
                  <a:chOff x="1200" y="1932"/>
                  <a:chExt cx="2796" cy="288"/>
                </a:xfrm>
              </p:grpSpPr>
              <p:sp>
                <p:nvSpPr>
                  <p:cNvPr id="141" name="Text Box 7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34" y="1932"/>
                    <a:ext cx="1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.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2" name="Text Box 7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19" y="1932"/>
                    <a:ext cx="15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.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3" name="Text Box 7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05" y="1932"/>
                    <a:ext cx="195" cy="25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rgbClr val="FFFF00"/>
                        </a:solidFill>
                      </a:rPr>
                      <a:t>*</a:t>
                    </a:r>
                  </a:p>
                </p:txBody>
              </p:sp>
              <p:sp>
                <p:nvSpPr>
                  <p:cNvPr id="144" name="Text Box 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90" y="1932"/>
                    <a:ext cx="23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\0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" name="Text Box 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76" y="1932"/>
                    <a:ext cx="23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charset="0"/>
                        <a:ea typeface="宋体" charset="0"/>
                      </a:defRPr>
                    </a:lvl9pPr>
                  </a:lstStyle>
                  <a:p>
                    <a:r>
                      <a:rPr lang="en-US" altLang="zh-CN" sz="2000">
                        <a:solidFill>
                          <a:schemeClr val="bg2"/>
                        </a:solidFill>
                      </a:rPr>
                      <a:t>\0</a:t>
                    </a:r>
                    <a:endParaRPr lang="en-US" altLang="zh-CN" sz="2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1200" y="2220"/>
                    <a:ext cx="2796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lIns="90000" tIns="46800" rIns="90000" bIns="46800" anchor="ctr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27" name="Text Box 81"/>
              <p:cNvSpPr txBox="1">
                <a:spLocks noChangeArrowheads="1"/>
              </p:cNvSpPr>
              <p:nvPr/>
            </p:nvSpPr>
            <p:spPr bwMode="auto">
              <a:xfrm>
                <a:off x="831" y="1881"/>
                <a:ext cx="913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r>
                  <a:rPr lang="en-US" altLang="zh-CN" sz="2000">
                    <a:solidFill>
                      <a:schemeClr val="tx1"/>
                    </a:solidFill>
                  </a:rPr>
                  <a:t>diamond[0]</a:t>
                </a:r>
              </a:p>
            </p:txBody>
          </p:sp>
          <p:sp>
            <p:nvSpPr>
              <p:cNvPr id="128" name="Text Box 82"/>
              <p:cNvSpPr txBox="1">
                <a:spLocks noChangeArrowheads="1"/>
              </p:cNvSpPr>
              <p:nvPr/>
            </p:nvSpPr>
            <p:spPr bwMode="auto">
              <a:xfrm>
                <a:off x="831" y="2187"/>
                <a:ext cx="913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r>
                  <a:rPr lang="en-US" altLang="zh-CN" sz="2000">
                    <a:solidFill>
                      <a:srgbClr val="000000"/>
                    </a:solidFill>
                  </a:rPr>
                  <a:t>diamond[1]</a:t>
                </a:r>
              </a:p>
            </p:txBody>
          </p:sp>
          <p:sp>
            <p:nvSpPr>
              <p:cNvPr id="129" name="Text Box 83"/>
              <p:cNvSpPr txBox="1">
                <a:spLocks noChangeArrowheads="1"/>
              </p:cNvSpPr>
              <p:nvPr/>
            </p:nvSpPr>
            <p:spPr bwMode="auto">
              <a:xfrm>
                <a:off x="831" y="2493"/>
                <a:ext cx="913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r>
                  <a:rPr lang="en-US" altLang="zh-CN" sz="2000">
                    <a:solidFill>
                      <a:srgbClr val="000000"/>
                    </a:solidFill>
                  </a:rPr>
                  <a:t>diamond[2]</a:t>
                </a:r>
              </a:p>
            </p:txBody>
          </p:sp>
          <p:sp>
            <p:nvSpPr>
              <p:cNvPr id="130" name="Text Box 84"/>
              <p:cNvSpPr txBox="1">
                <a:spLocks noChangeArrowheads="1"/>
              </p:cNvSpPr>
              <p:nvPr/>
            </p:nvSpPr>
            <p:spPr bwMode="auto">
              <a:xfrm>
                <a:off x="831" y="2799"/>
                <a:ext cx="913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r>
                  <a:rPr lang="en-US" altLang="zh-CN" sz="2000">
                    <a:solidFill>
                      <a:srgbClr val="000000"/>
                    </a:solidFill>
                  </a:rPr>
                  <a:t>diamond[3]</a:t>
                </a:r>
              </a:p>
            </p:txBody>
          </p:sp>
          <p:sp>
            <p:nvSpPr>
              <p:cNvPr id="131" name="Text Box 85"/>
              <p:cNvSpPr txBox="1">
                <a:spLocks noChangeArrowheads="1"/>
              </p:cNvSpPr>
              <p:nvPr/>
            </p:nvSpPr>
            <p:spPr bwMode="auto">
              <a:xfrm>
                <a:off x="831" y="3105"/>
                <a:ext cx="913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r>
                  <a:rPr lang="en-US" altLang="zh-CN" sz="2000">
                    <a:solidFill>
                      <a:srgbClr val="000000"/>
                    </a:solidFill>
                  </a:rPr>
                  <a:t>diamond[4]</a:t>
                </a:r>
              </a:p>
            </p:txBody>
          </p:sp>
        </p:grpSp>
      </p:grpSp>
      <p:grpSp>
        <p:nvGrpSpPr>
          <p:cNvPr id="176" name="Group 189"/>
          <p:cNvGrpSpPr>
            <a:grpSpLocks/>
          </p:cNvGrpSpPr>
          <p:nvPr/>
        </p:nvGrpSpPr>
        <p:grpSpPr bwMode="auto">
          <a:xfrm>
            <a:off x="1269646" y="242888"/>
            <a:ext cx="7369175" cy="5899150"/>
            <a:chOff x="610" y="-755"/>
            <a:chExt cx="4642" cy="3716"/>
          </a:xfrm>
          <a:solidFill>
            <a:srgbClr val="FFFFFF"/>
          </a:solidFill>
        </p:grpSpPr>
        <p:sp>
          <p:nvSpPr>
            <p:cNvPr id="177" name="Rectangle 89"/>
            <p:cNvSpPr>
              <a:spLocks noChangeArrowheads="1"/>
            </p:cNvSpPr>
            <p:nvPr/>
          </p:nvSpPr>
          <p:spPr bwMode="auto">
            <a:xfrm>
              <a:off x="610" y="360"/>
              <a:ext cx="4622" cy="2601"/>
            </a:xfrm>
            <a:prstGeom prst="rect">
              <a:avLst/>
            </a:prstGeom>
            <a:grpFill/>
            <a:ln w="3810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>
                <a:defRPr/>
              </a:pPr>
              <a:r>
                <a:rPr lang="en-US" altLang="zh-CN" dirty="0">
                  <a:solidFill>
                    <a:schemeClr val="bg2"/>
                  </a:solidFill>
                  <a:ea typeface="隶书" charset="0"/>
                  <a:cs typeface="隶书" charset="0"/>
                </a:rPr>
                <a:t>  </a:t>
              </a:r>
              <a:r>
                <a:rPr lang="zh-CN" altLang="en-US" dirty="0">
                  <a:solidFill>
                    <a:srgbClr val="000000"/>
                  </a:solidFill>
                  <a:ea typeface="隶书" charset="0"/>
                  <a:cs typeface="隶书" charset="0"/>
                </a:rPr>
                <a:t>例</a:t>
              </a:r>
              <a:r>
                <a:rPr lang="zh-CN" altLang="en-US" dirty="0">
                  <a:solidFill>
                    <a:srgbClr val="000000"/>
                  </a:solidFill>
                  <a:cs typeface="宋体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cs typeface="宋体" charset="0"/>
                </a:rPr>
                <a:t>char fruit</a:t>
              </a:r>
              <a:r>
                <a:rPr lang="en-US" altLang="zh-CN" dirty="0">
                  <a:solidFill>
                    <a:srgbClr val="FF0000"/>
                  </a:solidFill>
                  <a:cs typeface="宋体" charset="0"/>
                </a:rPr>
                <a:t>[]</a:t>
              </a:r>
              <a:r>
                <a:rPr lang="en-US" altLang="zh-CN" dirty="0">
                  <a:solidFill>
                    <a:srgbClr val="000000"/>
                  </a:solidFill>
                  <a:cs typeface="宋体" charset="0"/>
                </a:rPr>
                <a:t>[7]={“</a:t>
              </a:r>
              <a:r>
                <a:rPr lang="en-US" altLang="zh-CN" dirty="0" err="1">
                  <a:solidFill>
                    <a:srgbClr val="000000"/>
                  </a:solidFill>
                  <a:cs typeface="宋体" charset="0"/>
                </a:rPr>
                <a:t>Apple”,”Orange</a:t>
              </a:r>
              <a:r>
                <a:rPr lang="en-US" altLang="zh-CN" dirty="0">
                  <a:solidFill>
                    <a:srgbClr val="000000"/>
                  </a:solidFill>
                  <a:cs typeface="宋体" charset="0"/>
                </a:rPr>
                <a:t>”,</a:t>
              </a:r>
            </a:p>
            <a:p>
              <a:pPr>
                <a:defRPr/>
              </a:pPr>
              <a:r>
                <a:rPr lang="en-US" altLang="zh-CN" dirty="0">
                  <a:solidFill>
                    <a:srgbClr val="000000"/>
                  </a:solidFill>
                  <a:cs typeface="宋体" charset="0"/>
                </a:rPr>
                <a:t>                                           ”</a:t>
              </a:r>
              <a:r>
                <a:rPr lang="en-US" altLang="zh-CN" dirty="0" err="1">
                  <a:solidFill>
                    <a:srgbClr val="000000"/>
                  </a:solidFill>
                  <a:cs typeface="宋体" charset="0"/>
                </a:rPr>
                <a:t>Grape”,”Pear”,”Peach</a:t>
              </a:r>
              <a:r>
                <a:rPr lang="en-US" altLang="zh-CN" dirty="0">
                  <a:solidFill>
                    <a:srgbClr val="000000"/>
                  </a:solidFill>
                  <a:cs typeface="宋体" charset="0"/>
                </a:rPr>
                <a:t>”};</a:t>
              </a:r>
            </a:p>
            <a:p>
              <a:pPr eaLnBrk="0" hangingPunct="0">
                <a:defRPr/>
              </a:pPr>
              <a:endParaRPr lang="en-US" altLang="zh-CN" dirty="0">
                <a:solidFill>
                  <a:srgbClr val="000000"/>
                </a:solidFill>
                <a:cs typeface="宋体" charset="0"/>
              </a:endParaRPr>
            </a:p>
            <a:p>
              <a:pPr eaLnBrk="0" hangingPunct="0">
                <a:defRPr/>
              </a:pPr>
              <a:endParaRPr lang="en-US" altLang="zh-CN" dirty="0">
                <a:solidFill>
                  <a:srgbClr val="000000"/>
                </a:solidFill>
                <a:cs typeface="宋体" charset="0"/>
              </a:endParaRPr>
            </a:p>
            <a:p>
              <a:pPr eaLnBrk="0" hangingPunct="0">
                <a:defRPr/>
              </a:pPr>
              <a:endParaRPr lang="en-US" altLang="zh-CN" dirty="0">
                <a:solidFill>
                  <a:srgbClr val="000000"/>
                </a:solidFill>
                <a:cs typeface="宋体" charset="0"/>
              </a:endParaRPr>
            </a:p>
            <a:p>
              <a:pPr eaLnBrk="0" hangingPunct="0">
                <a:defRPr/>
              </a:pPr>
              <a:endParaRPr lang="en-US" altLang="zh-CN" dirty="0">
                <a:solidFill>
                  <a:srgbClr val="000000"/>
                </a:solidFill>
                <a:ea typeface="隶书" charset="0"/>
                <a:cs typeface="隶书" charset="0"/>
              </a:endParaRPr>
            </a:p>
            <a:p>
              <a:pPr>
                <a:defRPr/>
              </a:pPr>
              <a:endParaRPr lang="en-US" altLang="zh-CN" dirty="0">
                <a:solidFill>
                  <a:srgbClr val="000000"/>
                </a:solidFill>
                <a:ea typeface="隶书" charset="0"/>
                <a:cs typeface="隶书" charset="0"/>
              </a:endParaRPr>
            </a:p>
            <a:p>
              <a:pPr>
                <a:defRPr/>
              </a:pPr>
              <a:endParaRPr lang="en-US" altLang="zh-CN" dirty="0">
                <a:solidFill>
                  <a:srgbClr val="000000"/>
                </a:solidFill>
                <a:ea typeface="隶书" charset="0"/>
                <a:cs typeface="隶书" charset="0"/>
              </a:endParaRPr>
            </a:p>
            <a:p>
              <a:pPr>
                <a:defRPr/>
              </a:pPr>
              <a:endParaRPr lang="en-US" altLang="zh-CN" dirty="0">
                <a:solidFill>
                  <a:srgbClr val="000000"/>
                </a:solidFill>
                <a:ea typeface="隶书" charset="0"/>
                <a:cs typeface="隶书" charset="0"/>
              </a:endParaRPr>
            </a:p>
            <a:p>
              <a:pPr>
                <a:defRPr/>
              </a:pPr>
              <a:endParaRPr lang="en-US" altLang="zh-CN" dirty="0">
                <a:solidFill>
                  <a:srgbClr val="000000"/>
                </a:solidFill>
                <a:ea typeface="隶书" charset="0"/>
                <a:cs typeface="隶书" charset="0"/>
              </a:endParaRPr>
            </a:p>
          </p:txBody>
        </p:sp>
        <p:sp>
          <p:nvSpPr>
            <p:cNvPr id="178" name="AutoShape 90"/>
            <p:cNvSpPr>
              <a:spLocks noChangeArrowheads="1"/>
            </p:cNvSpPr>
            <p:nvPr/>
          </p:nvSpPr>
          <p:spPr bwMode="auto">
            <a:xfrm>
              <a:off x="2909" y="-755"/>
              <a:ext cx="2343" cy="378"/>
            </a:xfrm>
            <a:prstGeom prst="cloudCallout">
              <a:avLst>
                <a:gd name="adj1" fmla="val -30579"/>
                <a:gd name="adj2" fmla="val 105028"/>
              </a:avLst>
            </a:prstGeom>
            <a:grpFill/>
            <a:ln w="38100">
              <a:solidFill>
                <a:srgbClr val="339966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669900"/>
                  </a:solidFill>
                  <a:cs typeface="宋体" charset="0"/>
                </a:rPr>
                <a:t>二维字符数组初始化</a:t>
              </a:r>
              <a:endParaRPr lang="zh-CN" altLang="en-US" sz="2000">
                <a:solidFill>
                  <a:srgbClr val="FF0000"/>
                </a:solidFill>
                <a:cs typeface="宋体" charset="0"/>
              </a:endParaRPr>
            </a:p>
          </p:txBody>
        </p:sp>
        <p:sp>
          <p:nvSpPr>
            <p:cNvPr id="179" name="Rectangle 94"/>
            <p:cNvSpPr>
              <a:spLocks noChangeArrowheads="1"/>
            </p:cNvSpPr>
            <p:nvPr/>
          </p:nvSpPr>
          <p:spPr bwMode="auto">
            <a:xfrm>
              <a:off x="1427" y="1148"/>
              <a:ext cx="2856" cy="1527"/>
            </a:xfrm>
            <a:prstGeom prst="rect">
              <a:avLst/>
            </a:prstGeom>
            <a:grpFill/>
            <a:ln w="1905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defRPr/>
              </a:pPr>
              <a:endParaRPr lang="zh-CN" altLang="en-US" sz="2000">
                <a:solidFill>
                  <a:srgbClr val="660066"/>
                </a:solidFill>
                <a:cs typeface="宋体" charset="0"/>
              </a:endParaRPr>
            </a:p>
          </p:txBody>
        </p:sp>
        <p:sp>
          <p:nvSpPr>
            <p:cNvPr id="180" name="Line 95"/>
            <p:cNvSpPr>
              <a:spLocks noChangeShapeType="1"/>
            </p:cNvSpPr>
            <p:nvPr/>
          </p:nvSpPr>
          <p:spPr bwMode="auto">
            <a:xfrm>
              <a:off x="1811" y="1149"/>
              <a:ext cx="0" cy="1531"/>
            </a:xfrm>
            <a:prstGeom prst="line">
              <a:avLst/>
            </a:prstGeom>
            <a:grp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>
                <a:cs typeface="宋体" charset="0"/>
              </a:endParaRPr>
            </a:p>
          </p:txBody>
        </p:sp>
        <p:sp>
          <p:nvSpPr>
            <p:cNvPr id="181" name="Line 96"/>
            <p:cNvSpPr>
              <a:spLocks noChangeShapeType="1"/>
            </p:cNvSpPr>
            <p:nvPr/>
          </p:nvSpPr>
          <p:spPr bwMode="auto">
            <a:xfrm>
              <a:off x="3067" y="1149"/>
              <a:ext cx="0" cy="1531"/>
            </a:xfrm>
            <a:prstGeom prst="line">
              <a:avLst/>
            </a:prstGeom>
            <a:grp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>
                <a:cs typeface="宋体" charset="0"/>
              </a:endParaRPr>
            </a:p>
          </p:txBody>
        </p:sp>
        <p:sp>
          <p:nvSpPr>
            <p:cNvPr id="182" name="Line 97"/>
            <p:cNvSpPr>
              <a:spLocks noChangeShapeType="1"/>
            </p:cNvSpPr>
            <p:nvPr/>
          </p:nvSpPr>
          <p:spPr bwMode="auto">
            <a:xfrm>
              <a:off x="3486" y="1149"/>
              <a:ext cx="0" cy="1531"/>
            </a:xfrm>
            <a:prstGeom prst="line">
              <a:avLst/>
            </a:prstGeom>
            <a:grp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>
                <a:cs typeface="宋体" charset="0"/>
              </a:endParaRPr>
            </a:p>
          </p:txBody>
        </p:sp>
        <p:sp>
          <p:nvSpPr>
            <p:cNvPr id="183" name="Line 98"/>
            <p:cNvSpPr>
              <a:spLocks noChangeShapeType="1"/>
            </p:cNvSpPr>
            <p:nvPr/>
          </p:nvSpPr>
          <p:spPr bwMode="auto">
            <a:xfrm>
              <a:off x="3905" y="1149"/>
              <a:ext cx="0" cy="1531"/>
            </a:xfrm>
            <a:prstGeom prst="line">
              <a:avLst/>
            </a:prstGeom>
            <a:grp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>
                <a:cs typeface="宋体" charset="0"/>
              </a:endParaRPr>
            </a:p>
          </p:txBody>
        </p:sp>
        <p:sp>
          <p:nvSpPr>
            <p:cNvPr id="184" name="Line 107"/>
            <p:cNvSpPr>
              <a:spLocks noChangeShapeType="1"/>
            </p:cNvSpPr>
            <p:nvPr/>
          </p:nvSpPr>
          <p:spPr bwMode="auto">
            <a:xfrm>
              <a:off x="1488" y="2345"/>
              <a:ext cx="2796" cy="0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>
                <a:cs typeface="宋体" charset="0"/>
              </a:endParaRPr>
            </a:p>
          </p:txBody>
        </p:sp>
        <p:sp>
          <p:nvSpPr>
            <p:cNvPr id="185" name="Line 108"/>
            <p:cNvSpPr>
              <a:spLocks noChangeShapeType="1"/>
            </p:cNvSpPr>
            <p:nvPr/>
          </p:nvSpPr>
          <p:spPr bwMode="auto">
            <a:xfrm>
              <a:off x="1452" y="2060"/>
              <a:ext cx="2796" cy="0"/>
            </a:xfrm>
            <a:prstGeom prst="line">
              <a:avLst/>
            </a:prstGeom>
            <a:grpFill/>
            <a:ln w="1905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>
                <a:cs typeface="宋体" charset="0"/>
              </a:endParaRPr>
            </a:p>
          </p:txBody>
        </p:sp>
        <p:grpSp>
          <p:nvGrpSpPr>
            <p:cNvPr id="186" name="Group 152"/>
            <p:cNvGrpSpPr>
              <a:grpSpLocks/>
            </p:cNvGrpSpPr>
            <p:nvPr/>
          </p:nvGrpSpPr>
          <p:grpSpPr bwMode="auto">
            <a:xfrm>
              <a:off x="1440" y="1476"/>
              <a:ext cx="2832" cy="891"/>
              <a:chOff x="1464" y="1476"/>
              <a:chExt cx="2796" cy="891"/>
            </a:xfrm>
            <a:grpFill/>
          </p:grpSpPr>
          <p:sp>
            <p:nvSpPr>
              <p:cNvPr id="234" name="Line 105"/>
              <p:cNvSpPr>
                <a:spLocks noChangeShapeType="1"/>
              </p:cNvSpPr>
              <p:nvPr/>
            </p:nvSpPr>
            <p:spPr bwMode="auto">
              <a:xfrm>
                <a:off x="1464" y="1476"/>
                <a:ext cx="2796" cy="0"/>
              </a:xfrm>
              <a:prstGeom prst="line">
                <a:avLst/>
              </a:prstGeom>
              <a:grp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cs typeface="宋体" charset="0"/>
                </a:endParaRPr>
              </a:p>
            </p:txBody>
          </p:sp>
          <p:sp>
            <p:nvSpPr>
              <p:cNvPr id="235" name="Line 115"/>
              <p:cNvSpPr>
                <a:spLocks noChangeShapeType="1"/>
              </p:cNvSpPr>
              <p:nvPr/>
            </p:nvSpPr>
            <p:spPr bwMode="auto">
              <a:xfrm>
                <a:off x="1464" y="1776"/>
                <a:ext cx="2796" cy="0"/>
              </a:xfrm>
              <a:prstGeom prst="line">
                <a:avLst/>
              </a:prstGeom>
              <a:grp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cs typeface="宋体" charset="0"/>
                </a:endParaRPr>
              </a:p>
            </p:txBody>
          </p:sp>
          <p:sp>
            <p:nvSpPr>
              <p:cNvPr id="236" name="Line 122"/>
              <p:cNvSpPr>
                <a:spLocks noChangeShapeType="1"/>
              </p:cNvSpPr>
              <p:nvPr/>
            </p:nvSpPr>
            <p:spPr bwMode="auto">
              <a:xfrm>
                <a:off x="1464" y="2070"/>
                <a:ext cx="2796" cy="0"/>
              </a:xfrm>
              <a:prstGeom prst="line">
                <a:avLst/>
              </a:prstGeom>
              <a:grp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cs typeface="宋体" charset="0"/>
                </a:endParaRPr>
              </a:p>
            </p:txBody>
          </p:sp>
          <p:sp>
            <p:nvSpPr>
              <p:cNvPr id="237" name="Line 129"/>
              <p:cNvSpPr>
                <a:spLocks noChangeShapeType="1"/>
              </p:cNvSpPr>
              <p:nvPr/>
            </p:nvSpPr>
            <p:spPr bwMode="auto">
              <a:xfrm>
                <a:off x="1464" y="2367"/>
                <a:ext cx="2796" cy="0"/>
              </a:xfrm>
              <a:prstGeom prst="line">
                <a:avLst/>
              </a:prstGeom>
              <a:grp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cs typeface="宋体" charset="0"/>
                </a:endParaRPr>
              </a:p>
            </p:txBody>
          </p:sp>
        </p:grpSp>
        <p:grpSp>
          <p:nvGrpSpPr>
            <p:cNvPr id="187" name="Group 187"/>
            <p:cNvGrpSpPr>
              <a:grpSpLocks/>
            </p:cNvGrpSpPr>
            <p:nvPr/>
          </p:nvGrpSpPr>
          <p:grpSpPr bwMode="auto">
            <a:xfrm>
              <a:off x="867" y="1197"/>
              <a:ext cx="617" cy="1477"/>
              <a:chOff x="867" y="1197"/>
              <a:chExt cx="617" cy="1477"/>
            </a:xfrm>
            <a:grpFill/>
          </p:grpSpPr>
          <p:sp>
            <p:nvSpPr>
              <p:cNvPr id="229" name="Text Box 137"/>
              <p:cNvSpPr txBox="1">
                <a:spLocks noChangeArrowheads="1"/>
              </p:cNvSpPr>
              <p:nvPr/>
            </p:nvSpPr>
            <p:spPr bwMode="auto">
              <a:xfrm>
                <a:off x="867" y="1197"/>
                <a:ext cx="617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 dirty="0">
                    <a:solidFill>
                      <a:srgbClr val="660066"/>
                    </a:solidFill>
                  </a:rPr>
                  <a:t>fruit[0]</a:t>
                </a:r>
              </a:p>
            </p:txBody>
          </p:sp>
          <p:sp>
            <p:nvSpPr>
              <p:cNvPr id="230" name="Text Box 138"/>
              <p:cNvSpPr txBox="1">
                <a:spLocks noChangeArrowheads="1"/>
              </p:cNvSpPr>
              <p:nvPr/>
            </p:nvSpPr>
            <p:spPr bwMode="auto">
              <a:xfrm>
                <a:off x="867" y="1503"/>
                <a:ext cx="617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fruit[1]</a:t>
                </a:r>
              </a:p>
            </p:txBody>
          </p:sp>
          <p:sp>
            <p:nvSpPr>
              <p:cNvPr id="231" name="Text Box 139"/>
              <p:cNvSpPr txBox="1">
                <a:spLocks noChangeArrowheads="1"/>
              </p:cNvSpPr>
              <p:nvPr/>
            </p:nvSpPr>
            <p:spPr bwMode="auto">
              <a:xfrm>
                <a:off x="867" y="1809"/>
                <a:ext cx="617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fruit[2]</a:t>
                </a:r>
              </a:p>
            </p:txBody>
          </p:sp>
          <p:sp>
            <p:nvSpPr>
              <p:cNvPr id="232" name="Text Box 140"/>
              <p:cNvSpPr txBox="1">
                <a:spLocks noChangeArrowheads="1"/>
              </p:cNvSpPr>
              <p:nvPr/>
            </p:nvSpPr>
            <p:spPr bwMode="auto">
              <a:xfrm>
                <a:off x="867" y="2115"/>
                <a:ext cx="617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fruit[3]</a:t>
                </a:r>
              </a:p>
            </p:txBody>
          </p:sp>
          <p:sp>
            <p:nvSpPr>
              <p:cNvPr id="233" name="Text Box 141"/>
              <p:cNvSpPr txBox="1">
                <a:spLocks noChangeArrowheads="1"/>
              </p:cNvSpPr>
              <p:nvPr/>
            </p:nvSpPr>
            <p:spPr bwMode="auto">
              <a:xfrm>
                <a:off x="867" y="2421"/>
                <a:ext cx="617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fruit[4]</a:t>
                </a:r>
              </a:p>
            </p:txBody>
          </p:sp>
        </p:grpSp>
        <p:sp>
          <p:nvSpPr>
            <p:cNvPr id="188" name="Line 144"/>
            <p:cNvSpPr>
              <a:spLocks noChangeShapeType="1"/>
            </p:cNvSpPr>
            <p:nvPr/>
          </p:nvSpPr>
          <p:spPr bwMode="auto">
            <a:xfrm>
              <a:off x="2229" y="1149"/>
              <a:ext cx="0" cy="1531"/>
            </a:xfrm>
            <a:prstGeom prst="line">
              <a:avLst/>
            </a:prstGeom>
            <a:grp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>
                <a:cs typeface="宋体" charset="0"/>
              </a:endParaRPr>
            </a:p>
          </p:txBody>
        </p:sp>
        <p:sp>
          <p:nvSpPr>
            <p:cNvPr id="189" name="Line 145"/>
            <p:cNvSpPr>
              <a:spLocks noChangeShapeType="1"/>
            </p:cNvSpPr>
            <p:nvPr/>
          </p:nvSpPr>
          <p:spPr bwMode="auto">
            <a:xfrm>
              <a:off x="2648" y="1149"/>
              <a:ext cx="0" cy="1531"/>
            </a:xfrm>
            <a:prstGeom prst="line">
              <a:avLst/>
            </a:prstGeom>
            <a:grp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>
                <a:defRPr/>
              </a:pPr>
              <a:endParaRPr lang="zh-CN" altLang="en-US">
                <a:cs typeface="宋体" charset="0"/>
              </a:endParaRPr>
            </a:p>
          </p:txBody>
        </p:sp>
        <p:grpSp>
          <p:nvGrpSpPr>
            <p:cNvPr id="190" name="Group 154"/>
            <p:cNvGrpSpPr>
              <a:grpSpLocks/>
            </p:cNvGrpSpPr>
            <p:nvPr/>
          </p:nvGrpSpPr>
          <p:grpSpPr bwMode="auto">
            <a:xfrm>
              <a:off x="1488" y="1188"/>
              <a:ext cx="2714" cy="265"/>
              <a:chOff x="1538" y="1188"/>
              <a:chExt cx="2714" cy="265"/>
            </a:xfrm>
            <a:grpFill/>
          </p:grpSpPr>
          <p:sp>
            <p:nvSpPr>
              <p:cNvPr id="222" name="Text Box 100"/>
              <p:cNvSpPr txBox="1">
                <a:spLocks noChangeArrowheads="1"/>
              </p:cNvSpPr>
              <p:nvPr/>
            </p:nvSpPr>
            <p:spPr bwMode="auto">
              <a:xfrm>
                <a:off x="1538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A</a:t>
                </a:r>
              </a:p>
            </p:txBody>
          </p:sp>
          <p:sp>
            <p:nvSpPr>
              <p:cNvPr id="223" name="Text Box 146"/>
              <p:cNvSpPr txBox="1">
                <a:spLocks noChangeArrowheads="1"/>
              </p:cNvSpPr>
              <p:nvPr/>
            </p:nvSpPr>
            <p:spPr bwMode="auto">
              <a:xfrm>
                <a:off x="1951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p</a:t>
                </a:r>
              </a:p>
            </p:txBody>
          </p:sp>
          <p:sp>
            <p:nvSpPr>
              <p:cNvPr id="224" name="Text Box 147"/>
              <p:cNvSpPr txBox="1">
                <a:spLocks noChangeArrowheads="1"/>
              </p:cNvSpPr>
              <p:nvPr/>
            </p:nvSpPr>
            <p:spPr bwMode="auto">
              <a:xfrm>
                <a:off x="2364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p</a:t>
                </a:r>
              </a:p>
            </p:txBody>
          </p:sp>
          <p:sp>
            <p:nvSpPr>
              <p:cNvPr id="225" name="Text Box 148"/>
              <p:cNvSpPr txBox="1">
                <a:spLocks noChangeArrowheads="1"/>
              </p:cNvSpPr>
              <p:nvPr/>
            </p:nvSpPr>
            <p:spPr bwMode="auto">
              <a:xfrm>
                <a:off x="2777" y="1188"/>
                <a:ext cx="236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l</a:t>
                </a:r>
              </a:p>
            </p:txBody>
          </p:sp>
          <p:sp>
            <p:nvSpPr>
              <p:cNvPr id="226" name="Text Box 149"/>
              <p:cNvSpPr txBox="1">
                <a:spLocks noChangeArrowheads="1"/>
              </p:cNvSpPr>
              <p:nvPr/>
            </p:nvSpPr>
            <p:spPr bwMode="auto">
              <a:xfrm>
                <a:off x="3191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e</a:t>
                </a:r>
              </a:p>
            </p:txBody>
          </p:sp>
          <p:sp>
            <p:nvSpPr>
              <p:cNvPr id="227" name="Text Box 150"/>
              <p:cNvSpPr txBox="1">
                <a:spLocks noChangeArrowheads="1"/>
              </p:cNvSpPr>
              <p:nvPr/>
            </p:nvSpPr>
            <p:spPr bwMode="auto">
              <a:xfrm>
                <a:off x="3568" y="1200"/>
                <a:ext cx="283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\0</a:t>
                </a:r>
              </a:p>
            </p:txBody>
          </p:sp>
          <p:sp>
            <p:nvSpPr>
              <p:cNvPr id="228" name="Text Box 151"/>
              <p:cNvSpPr txBox="1">
                <a:spLocks noChangeArrowheads="1"/>
              </p:cNvSpPr>
              <p:nvPr/>
            </p:nvSpPr>
            <p:spPr bwMode="auto">
              <a:xfrm>
                <a:off x="3981" y="1188"/>
                <a:ext cx="271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\0</a:t>
                </a:r>
              </a:p>
            </p:txBody>
          </p:sp>
        </p:grpSp>
        <p:grpSp>
          <p:nvGrpSpPr>
            <p:cNvPr id="191" name="Group 155"/>
            <p:cNvGrpSpPr>
              <a:grpSpLocks/>
            </p:cNvGrpSpPr>
            <p:nvPr/>
          </p:nvGrpSpPr>
          <p:grpSpPr bwMode="auto">
            <a:xfrm>
              <a:off x="1488" y="1477"/>
              <a:ext cx="2714" cy="265"/>
              <a:chOff x="1538" y="1188"/>
              <a:chExt cx="2714" cy="265"/>
            </a:xfrm>
            <a:grpFill/>
          </p:grpSpPr>
          <p:sp>
            <p:nvSpPr>
              <p:cNvPr id="215" name="Text Box 156"/>
              <p:cNvSpPr txBox="1">
                <a:spLocks noChangeArrowheads="1"/>
              </p:cNvSpPr>
              <p:nvPr/>
            </p:nvSpPr>
            <p:spPr bwMode="auto">
              <a:xfrm>
                <a:off x="1538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 dirty="0">
                    <a:solidFill>
                      <a:srgbClr val="660066"/>
                    </a:solidFill>
                  </a:rPr>
                  <a:t>O</a:t>
                </a:r>
              </a:p>
            </p:txBody>
          </p:sp>
          <p:sp>
            <p:nvSpPr>
              <p:cNvPr id="216" name="Text Box 157"/>
              <p:cNvSpPr txBox="1">
                <a:spLocks noChangeArrowheads="1"/>
              </p:cNvSpPr>
              <p:nvPr/>
            </p:nvSpPr>
            <p:spPr bwMode="auto">
              <a:xfrm>
                <a:off x="1951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r</a:t>
                </a:r>
              </a:p>
            </p:txBody>
          </p:sp>
          <p:sp>
            <p:nvSpPr>
              <p:cNvPr id="217" name="Text Box 158"/>
              <p:cNvSpPr txBox="1">
                <a:spLocks noChangeArrowheads="1"/>
              </p:cNvSpPr>
              <p:nvPr/>
            </p:nvSpPr>
            <p:spPr bwMode="auto">
              <a:xfrm>
                <a:off x="2364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a</a:t>
                </a:r>
              </a:p>
            </p:txBody>
          </p:sp>
          <p:sp>
            <p:nvSpPr>
              <p:cNvPr id="218" name="Text Box 159"/>
              <p:cNvSpPr txBox="1">
                <a:spLocks noChangeArrowheads="1"/>
              </p:cNvSpPr>
              <p:nvPr/>
            </p:nvSpPr>
            <p:spPr bwMode="auto">
              <a:xfrm>
                <a:off x="2777" y="1188"/>
                <a:ext cx="236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n</a:t>
                </a:r>
              </a:p>
            </p:txBody>
          </p:sp>
          <p:sp>
            <p:nvSpPr>
              <p:cNvPr id="219" name="Text Box 160"/>
              <p:cNvSpPr txBox="1">
                <a:spLocks noChangeArrowheads="1"/>
              </p:cNvSpPr>
              <p:nvPr/>
            </p:nvSpPr>
            <p:spPr bwMode="auto">
              <a:xfrm>
                <a:off x="3191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g</a:t>
                </a:r>
              </a:p>
            </p:txBody>
          </p:sp>
          <p:sp>
            <p:nvSpPr>
              <p:cNvPr id="220" name="Text Box 161"/>
              <p:cNvSpPr txBox="1">
                <a:spLocks noChangeArrowheads="1"/>
              </p:cNvSpPr>
              <p:nvPr/>
            </p:nvSpPr>
            <p:spPr bwMode="auto">
              <a:xfrm>
                <a:off x="3568" y="1200"/>
                <a:ext cx="283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e</a:t>
                </a:r>
              </a:p>
            </p:txBody>
          </p:sp>
          <p:sp>
            <p:nvSpPr>
              <p:cNvPr id="221" name="Text Box 162"/>
              <p:cNvSpPr txBox="1">
                <a:spLocks noChangeArrowheads="1"/>
              </p:cNvSpPr>
              <p:nvPr/>
            </p:nvSpPr>
            <p:spPr bwMode="auto">
              <a:xfrm>
                <a:off x="3981" y="1188"/>
                <a:ext cx="271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\0</a:t>
                </a:r>
              </a:p>
            </p:txBody>
          </p:sp>
        </p:grpSp>
        <p:grpSp>
          <p:nvGrpSpPr>
            <p:cNvPr id="192" name="Group 163"/>
            <p:cNvGrpSpPr>
              <a:grpSpLocks/>
            </p:cNvGrpSpPr>
            <p:nvPr/>
          </p:nvGrpSpPr>
          <p:grpSpPr bwMode="auto">
            <a:xfrm>
              <a:off x="1488" y="1766"/>
              <a:ext cx="2714" cy="265"/>
              <a:chOff x="1538" y="1188"/>
              <a:chExt cx="2714" cy="265"/>
            </a:xfrm>
            <a:grpFill/>
          </p:grpSpPr>
          <p:sp>
            <p:nvSpPr>
              <p:cNvPr id="208" name="Text Box 164"/>
              <p:cNvSpPr txBox="1">
                <a:spLocks noChangeArrowheads="1"/>
              </p:cNvSpPr>
              <p:nvPr/>
            </p:nvSpPr>
            <p:spPr bwMode="auto">
              <a:xfrm>
                <a:off x="1538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G</a:t>
                </a:r>
              </a:p>
            </p:txBody>
          </p:sp>
          <p:sp>
            <p:nvSpPr>
              <p:cNvPr id="209" name="Text Box 165"/>
              <p:cNvSpPr txBox="1">
                <a:spLocks noChangeArrowheads="1"/>
              </p:cNvSpPr>
              <p:nvPr/>
            </p:nvSpPr>
            <p:spPr bwMode="auto">
              <a:xfrm>
                <a:off x="1951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r</a:t>
                </a:r>
              </a:p>
            </p:txBody>
          </p:sp>
          <p:sp>
            <p:nvSpPr>
              <p:cNvPr id="210" name="Text Box 166"/>
              <p:cNvSpPr txBox="1">
                <a:spLocks noChangeArrowheads="1"/>
              </p:cNvSpPr>
              <p:nvPr/>
            </p:nvSpPr>
            <p:spPr bwMode="auto">
              <a:xfrm>
                <a:off x="2364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a</a:t>
                </a:r>
              </a:p>
            </p:txBody>
          </p:sp>
          <p:sp>
            <p:nvSpPr>
              <p:cNvPr id="211" name="Text Box 167"/>
              <p:cNvSpPr txBox="1">
                <a:spLocks noChangeArrowheads="1"/>
              </p:cNvSpPr>
              <p:nvPr/>
            </p:nvSpPr>
            <p:spPr bwMode="auto">
              <a:xfrm>
                <a:off x="2777" y="1188"/>
                <a:ext cx="236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p</a:t>
                </a:r>
              </a:p>
            </p:txBody>
          </p:sp>
          <p:sp>
            <p:nvSpPr>
              <p:cNvPr id="212" name="Text Box 168"/>
              <p:cNvSpPr txBox="1">
                <a:spLocks noChangeArrowheads="1"/>
              </p:cNvSpPr>
              <p:nvPr/>
            </p:nvSpPr>
            <p:spPr bwMode="auto">
              <a:xfrm>
                <a:off x="3191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e</a:t>
                </a:r>
              </a:p>
            </p:txBody>
          </p:sp>
          <p:sp>
            <p:nvSpPr>
              <p:cNvPr id="213" name="Text Box 169"/>
              <p:cNvSpPr txBox="1">
                <a:spLocks noChangeArrowheads="1"/>
              </p:cNvSpPr>
              <p:nvPr/>
            </p:nvSpPr>
            <p:spPr bwMode="auto">
              <a:xfrm>
                <a:off x="3568" y="1200"/>
                <a:ext cx="283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\0</a:t>
                </a:r>
              </a:p>
            </p:txBody>
          </p:sp>
          <p:sp>
            <p:nvSpPr>
              <p:cNvPr id="214" name="Text Box 170"/>
              <p:cNvSpPr txBox="1">
                <a:spLocks noChangeArrowheads="1"/>
              </p:cNvSpPr>
              <p:nvPr/>
            </p:nvSpPr>
            <p:spPr bwMode="auto">
              <a:xfrm>
                <a:off x="3981" y="1188"/>
                <a:ext cx="271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\0</a:t>
                </a:r>
              </a:p>
            </p:txBody>
          </p:sp>
        </p:grpSp>
        <p:sp>
          <p:nvSpPr>
            <p:cNvPr id="193" name="Text Box 172"/>
            <p:cNvSpPr txBox="1">
              <a:spLocks noChangeArrowheads="1"/>
            </p:cNvSpPr>
            <p:nvPr/>
          </p:nvSpPr>
          <p:spPr bwMode="auto">
            <a:xfrm>
              <a:off x="1488" y="2044"/>
              <a:ext cx="235" cy="25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defRPr/>
              </a:pPr>
              <a:r>
                <a:rPr lang="en-US" altLang="zh-CN" sz="2000">
                  <a:solidFill>
                    <a:srgbClr val="660066"/>
                  </a:solidFill>
                </a:rPr>
                <a:t>P</a:t>
              </a:r>
            </a:p>
          </p:txBody>
        </p:sp>
        <p:sp>
          <p:nvSpPr>
            <p:cNvPr id="194" name="Text Box 173"/>
            <p:cNvSpPr txBox="1">
              <a:spLocks noChangeArrowheads="1"/>
            </p:cNvSpPr>
            <p:nvPr/>
          </p:nvSpPr>
          <p:spPr bwMode="auto">
            <a:xfrm>
              <a:off x="1901" y="2044"/>
              <a:ext cx="235" cy="25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defRPr/>
              </a:pPr>
              <a:r>
                <a:rPr lang="en-US" altLang="zh-CN" sz="2000">
                  <a:solidFill>
                    <a:srgbClr val="660066"/>
                  </a:solidFill>
                </a:rPr>
                <a:t>e</a:t>
              </a:r>
            </a:p>
          </p:txBody>
        </p:sp>
        <p:sp>
          <p:nvSpPr>
            <p:cNvPr id="195" name="Text Box 174"/>
            <p:cNvSpPr txBox="1">
              <a:spLocks noChangeArrowheads="1"/>
            </p:cNvSpPr>
            <p:nvPr/>
          </p:nvSpPr>
          <p:spPr bwMode="auto">
            <a:xfrm>
              <a:off x="2314" y="2044"/>
              <a:ext cx="235" cy="25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defRPr/>
              </a:pPr>
              <a:r>
                <a:rPr lang="en-US" altLang="zh-CN" sz="2000">
                  <a:solidFill>
                    <a:srgbClr val="660066"/>
                  </a:solidFill>
                </a:rPr>
                <a:t>a</a:t>
              </a:r>
            </a:p>
          </p:txBody>
        </p:sp>
        <p:sp>
          <p:nvSpPr>
            <p:cNvPr id="196" name="Text Box 175"/>
            <p:cNvSpPr txBox="1">
              <a:spLocks noChangeArrowheads="1"/>
            </p:cNvSpPr>
            <p:nvPr/>
          </p:nvSpPr>
          <p:spPr bwMode="auto">
            <a:xfrm>
              <a:off x="2727" y="2044"/>
              <a:ext cx="236" cy="25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defRPr/>
              </a:pPr>
              <a:r>
                <a:rPr lang="en-US" altLang="zh-CN" sz="2000">
                  <a:solidFill>
                    <a:srgbClr val="660066"/>
                  </a:solidFill>
                </a:rPr>
                <a:t>r</a:t>
              </a:r>
            </a:p>
          </p:txBody>
        </p:sp>
        <p:sp>
          <p:nvSpPr>
            <p:cNvPr id="197" name="Text Box 176"/>
            <p:cNvSpPr txBox="1">
              <a:spLocks noChangeArrowheads="1"/>
            </p:cNvSpPr>
            <p:nvPr/>
          </p:nvSpPr>
          <p:spPr bwMode="auto">
            <a:xfrm>
              <a:off x="3141" y="2044"/>
              <a:ext cx="283" cy="25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defRPr/>
              </a:pPr>
              <a:r>
                <a:rPr lang="en-US" altLang="zh-CN" sz="2000">
                  <a:solidFill>
                    <a:srgbClr val="660066"/>
                  </a:solidFill>
                </a:rPr>
                <a:t>\0</a:t>
              </a:r>
            </a:p>
          </p:txBody>
        </p:sp>
        <p:sp>
          <p:nvSpPr>
            <p:cNvPr id="198" name="Text Box 177"/>
            <p:cNvSpPr txBox="1">
              <a:spLocks noChangeArrowheads="1"/>
            </p:cNvSpPr>
            <p:nvPr/>
          </p:nvSpPr>
          <p:spPr bwMode="auto">
            <a:xfrm>
              <a:off x="3518" y="2056"/>
              <a:ext cx="283" cy="25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defRPr/>
              </a:pPr>
              <a:r>
                <a:rPr lang="en-US" altLang="zh-CN" sz="2000">
                  <a:solidFill>
                    <a:srgbClr val="660066"/>
                  </a:solidFill>
                </a:rPr>
                <a:t>\0</a:t>
              </a:r>
            </a:p>
          </p:txBody>
        </p:sp>
        <p:sp>
          <p:nvSpPr>
            <p:cNvPr id="199" name="Text Box 178"/>
            <p:cNvSpPr txBox="1">
              <a:spLocks noChangeArrowheads="1"/>
            </p:cNvSpPr>
            <p:nvPr/>
          </p:nvSpPr>
          <p:spPr bwMode="auto">
            <a:xfrm>
              <a:off x="3931" y="2044"/>
              <a:ext cx="271" cy="253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>
                <a:defRPr/>
              </a:pPr>
              <a:r>
                <a:rPr lang="en-US" altLang="zh-CN" sz="2000">
                  <a:solidFill>
                    <a:srgbClr val="660066"/>
                  </a:solidFill>
                </a:rPr>
                <a:t>\0</a:t>
              </a:r>
            </a:p>
          </p:txBody>
        </p:sp>
        <p:grpSp>
          <p:nvGrpSpPr>
            <p:cNvPr id="200" name="Group 179"/>
            <p:cNvGrpSpPr>
              <a:grpSpLocks/>
            </p:cNvGrpSpPr>
            <p:nvPr/>
          </p:nvGrpSpPr>
          <p:grpSpPr bwMode="auto">
            <a:xfrm>
              <a:off x="1488" y="2400"/>
              <a:ext cx="2714" cy="265"/>
              <a:chOff x="1538" y="1188"/>
              <a:chExt cx="2714" cy="265"/>
            </a:xfrm>
            <a:grpFill/>
          </p:grpSpPr>
          <p:sp>
            <p:nvSpPr>
              <p:cNvPr id="201" name="Text Box 180"/>
              <p:cNvSpPr txBox="1">
                <a:spLocks noChangeArrowheads="1"/>
              </p:cNvSpPr>
              <p:nvPr/>
            </p:nvSpPr>
            <p:spPr bwMode="auto">
              <a:xfrm>
                <a:off x="1538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P</a:t>
                </a:r>
              </a:p>
            </p:txBody>
          </p:sp>
          <p:sp>
            <p:nvSpPr>
              <p:cNvPr id="202" name="Text Box 181"/>
              <p:cNvSpPr txBox="1">
                <a:spLocks noChangeArrowheads="1"/>
              </p:cNvSpPr>
              <p:nvPr/>
            </p:nvSpPr>
            <p:spPr bwMode="auto">
              <a:xfrm>
                <a:off x="1951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e</a:t>
                </a:r>
              </a:p>
            </p:txBody>
          </p:sp>
          <p:sp>
            <p:nvSpPr>
              <p:cNvPr id="203" name="Text Box 182"/>
              <p:cNvSpPr txBox="1">
                <a:spLocks noChangeArrowheads="1"/>
              </p:cNvSpPr>
              <p:nvPr/>
            </p:nvSpPr>
            <p:spPr bwMode="auto">
              <a:xfrm>
                <a:off x="2364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a</a:t>
                </a:r>
              </a:p>
            </p:txBody>
          </p:sp>
          <p:sp>
            <p:nvSpPr>
              <p:cNvPr id="204" name="Text Box 183"/>
              <p:cNvSpPr txBox="1">
                <a:spLocks noChangeArrowheads="1"/>
              </p:cNvSpPr>
              <p:nvPr/>
            </p:nvSpPr>
            <p:spPr bwMode="auto">
              <a:xfrm>
                <a:off x="2777" y="1188"/>
                <a:ext cx="236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c</a:t>
                </a:r>
              </a:p>
            </p:txBody>
          </p:sp>
          <p:sp>
            <p:nvSpPr>
              <p:cNvPr id="205" name="Text Box 184"/>
              <p:cNvSpPr txBox="1">
                <a:spLocks noChangeArrowheads="1"/>
              </p:cNvSpPr>
              <p:nvPr/>
            </p:nvSpPr>
            <p:spPr bwMode="auto">
              <a:xfrm>
                <a:off x="3191" y="1188"/>
                <a:ext cx="235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h</a:t>
                </a:r>
              </a:p>
            </p:txBody>
          </p:sp>
          <p:sp>
            <p:nvSpPr>
              <p:cNvPr id="206" name="Text Box 185"/>
              <p:cNvSpPr txBox="1">
                <a:spLocks noChangeArrowheads="1"/>
              </p:cNvSpPr>
              <p:nvPr/>
            </p:nvSpPr>
            <p:spPr bwMode="auto">
              <a:xfrm>
                <a:off x="3568" y="1200"/>
                <a:ext cx="283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\0</a:t>
                </a:r>
              </a:p>
            </p:txBody>
          </p:sp>
          <p:sp>
            <p:nvSpPr>
              <p:cNvPr id="207" name="Text Box 186"/>
              <p:cNvSpPr txBox="1">
                <a:spLocks noChangeArrowheads="1"/>
              </p:cNvSpPr>
              <p:nvPr/>
            </p:nvSpPr>
            <p:spPr bwMode="auto">
              <a:xfrm>
                <a:off x="3981" y="1188"/>
                <a:ext cx="271" cy="253"/>
              </a:xfrm>
              <a:prstGeom prst="rect">
                <a:avLst/>
              </a:prstGeom>
              <a:grp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  <a:cs typeface="宋体" charset="0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charset="0"/>
                    <a:ea typeface="宋体" charset="0"/>
                  </a:defRPr>
                </a:lvl9pPr>
              </a:lstStyle>
              <a:p>
                <a:pPr>
                  <a:defRPr/>
                </a:pPr>
                <a:r>
                  <a:rPr lang="en-US" altLang="zh-CN" sz="2000">
                    <a:solidFill>
                      <a:srgbClr val="660066"/>
                    </a:solidFill>
                  </a:rPr>
                  <a:t>\0</a:t>
                </a:r>
              </a:p>
            </p:txBody>
          </p:sp>
        </p:grp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B0F5-8FB2-2147-9C92-D20735D9A42B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33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标题 1"/>
          <p:cNvSpPr>
            <a:spLocks noGrp="1"/>
          </p:cNvSpPr>
          <p:nvPr>
            <p:ph type="title" idx="4294967295"/>
          </p:nvPr>
        </p:nvSpPr>
        <p:spPr>
          <a:xfrm>
            <a:off x="1346200" y="333375"/>
            <a:ext cx="7797800" cy="839788"/>
          </a:xfrm>
        </p:spPr>
        <p:txBody>
          <a:bodyPr lIns="91440" tIns="45720" rIns="91440" bIns="45720"/>
          <a:lstStyle/>
          <a:p>
            <a:r>
              <a:rPr lang="zh-CN" altLang="en-US"/>
              <a:t>如何使两个数组的值相等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39750" y="1916113"/>
            <a:ext cx="4110038" cy="2305050"/>
          </a:xfrm>
          <a:prstGeom prst="rect">
            <a:avLst/>
          </a:prstGeom>
          <a:solidFill>
            <a:srgbClr val="3333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 typeface="Wingdings" charset="2"/>
              <a:buNone/>
            </a:pPr>
            <a:r>
              <a:rPr lang="en-US" altLang="zh-CN" sz="2400" b="0">
                <a:solidFill>
                  <a:schemeClr val="bg1"/>
                </a:solidFill>
                <a:latin typeface="Arial" charset="0"/>
                <a:ea typeface="华文细黑" charset="-122"/>
              </a:rPr>
              <a:t>main()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charset="2"/>
              <a:buNone/>
            </a:pPr>
            <a:r>
              <a:rPr lang="en-US" altLang="zh-CN" sz="2400" b="0">
                <a:solidFill>
                  <a:schemeClr val="bg1"/>
                </a:solidFill>
                <a:latin typeface="Arial" charset="0"/>
                <a:ea typeface="华文细黑" charset="-122"/>
              </a:rPr>
              <a:t>{ 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charset="2"/>
              <a:buNone/>
            </a:pPr>
            <a:r>
              <a:rPr lang="en-US" altLang="zh-CN" sz="2400" b="0">
                <a:solidFill>
                  <a:schemeClr val="bg1"/>
                </a:solidFill>
                <a:latin typeface="Arial" charset="0"/>
                <a:ea typeface="华文细黑" charset="-122"/>
              </a:rPr>
              <a:t>    int a[4] = {1,2,3,4}, b[4];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charset="2"/>
              <a:buNone/>
            </a:pPr>
            <a:r>
              <a:rPr lang="en-US" altLang="zh-CN" sz="2400" b="0">
                <a:solidFill>
                  <a:schemeClr val="bg1"/>
                </a:solidFill>
                <a:latin typeface="Arial" charset="0"/>
                <a:ea typeface="华文细黑" charset="-122"/>
              </a:rPr>
              <a:t>    </a:t>
            </a:r>
            <a:r>
              <a:rPr lang="en-US" altLang="zh-CN" sz="2400" b="0">
                <a:solidFill>
                  <a:srgbClr val="FFFF00"/>
                </a:solidFill>
                <a:latin typeface="Arial" charset="0"/>
                <a:ea typeface="华文细黑" charset="-122"/>
              </a:rPr>
              <a:t>b = a;</a:t>
            </a:r>
            <a:r>
              <a:rPr lang="en-US" altLang="zh-CN" sz="2400" b="0">
                <a:solidFill>
                  <a:schemeClr val="bg1"/>
                </a:solidFill>
                <a:latin typeface="Arial" charset="0"/>
                <a:ea typeface="华文细黑" charset="-122"/>
              </a:rPr>
              <a:t>      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charset="2"/>
              <a:buNone/>
            </a:pPr>
            <a:r>
              <a:rPr lang="en-US" altLang="zh-CN" sz="2400" b="0">
                <a:solidFill>
                  <a:schemeClr val="bg1"/>
                </a:solidFill>
                <a:latin typeface="Arial" charset="0"/>
                <a:ea typeface="华文细黑" charset="-122"/>
              </a:rPr>
              <a:t>}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4787900" y="1701800"/>
            <a:ext cx="4038600" cy="4895850"/>
          </a:xfrm>
          <a:prstGeom prst="rect">
            <a:avLst/>
          </a:prstGeom>
          <a:solidFill>
            <a:srgbClr val="CCFFFF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20000"/>
              </a:spcBef>
              <a:buFont typeface="Wingdings" charset="2"/>
              <a:buNone/>
            </a:pPr>
            <a:r>
              <a:rPr lang="zh-CN" altLang="en-US" sz="2400">
                <a:solidFill>
                  <a:schemeClr val="tx1"/>
                </a:solidFill>
                <a:latin typeface="楷体_GB2312" charset="0"/>
                <a:ea typeface="楷体_GB2312" charset="0"/>
              </a:rPr>
              <a:t>解决方法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楷体_GB2312" charset="0"/>
                <a:ea typeface="楷体_GB2312" charset="0"/>
              </a:rPr>
              <a:t>法</a:t>
            </a:r>
            <a:r>
              <a:rPr lang="en-US" altLang="zh-CN" sz="2400">
                <a:solidFill>
                  <a:schemeClr val="tx1"/>
                </a:solidFill>
                <a:latin typeface="楷体_GB2312" charset="0"/>
                <a:ea typeface="楷体_GB2312" charset="0"/>
              </a:rPr>
              <a:t>1:</a:t>
            </a:r>
            <a:r>
              <a:rPr lang="zh-CN" altLang="en-US" sz="2400">
                <a:solidFill>
                  <a:schemeClr val="tx1"/>
                </a:solidFill>
                <a:latin typeface="楷体_GB2312" charset="0"/>
                <a:ea typeface="楷体_GB2312" charset="0"/>
              </a:rPr>
              <a:t>逐个元素赋值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charset="2"/>
              <a:buNone/>
            </a:pPr>
            <a:r>
              <a:rPr lang="zh-CN" altLang="en-US" sz="2400">
                <a:solidFill>
                  <a:schemeClr val="tx1"/>
                </a:solidFill>
                <a:latin typeface="Courier New" charset="0"/>
                <a:ea typeface="宋体" charset="0"/>
              </a:rPr>
              <a:t>    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b[0]=a[0];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b[1]=a[1];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b[2]=a[2];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b[3]=a[3];</a:t>
            </a:r>
          </a:p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楷体_GB2312" charset="0"/>
                <a:ea typeface="楷体_GB2312" charset="0"/>
              </a:rPr>
              <a:t>法</a:t>
            </a:r>
            <a:r>
              <a:rPr lang="en-US" altLang="zh-CN" sz="2400">
                <a:solidFill>
                  <a:schemeClr val="tx1"/>
                </a:solidFill>
                <a:latin typeface="楷体_GB2312" charset="0"/>
                <a:ea typeface="楷体_GB2312" charset="0"/>
              </a:rPr>
              <a:t>2:</a:t>
            </a:r>
            <a:r>
              <a:rPr lang="zh-CN" altLang="en-US" sz="2400">
                <a:solidFill>
                  <a:schemeClr val="tx1"/>
                </a:solidFill>
                <a:latin typeface="楷体_GB2312" charset="0"/>
                <a:ea typeface="楷体_GB2312" charset="0"/>
              </a:rPr>
              <a:t>通过循环赋值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zh-CN" altLang="en-US" sz="2400">
                <a:solidFill>
                  <a:schemeClr val="tx1"/>
                </a:solidFill>
                <a:latin typeface="Courier New" charset="0"/>
                <a:ea typeface="宋体" charset="0"/>
              </a:rPr>
              <a:t>    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int i;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for (i=0;i&lt;4;i++)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{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    </a:t>
            </a:r>
            <a:r>
              <a:rPr lang="en-US" altLang="zh-CN" sz="2400">
                <a:solidFill>
                  <a:srgbClr val="880000"/>
                </a:solidFill>
                <a:latin typeface="Courier New" charset="0"/>
                <a:ea typeface="宋体" charset="0"/>
              </a:rPr>
              <a:t>b[i] = a[i];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}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11188" y="4652963"/>
            <a:ext cx="3816350" cy="1212850"/>
          </a:xfrm>
          <a:prstGeom prst="rect">
            <a:avLst/>
          </a:prstGeom>
          <a:solidFill>
            <a:srgbClr val="FFFF99">
              <a:alpha val="81175"/>
            </a:srgbClr>
          </a:solidFill>
          <a:ln w="25400">
            <a:solidFill>
              <a:srgbClr val="9933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400">
                <a:solidFill>
                  <a:srgbClr val="000066"/>
                </a:solidFill>
                <a:latin typeface="楷体_GB2312" charset="0"/>
                <a:ea typeface="楷体_GB2312" charset="0"/>
              </a:rPr>
              <a:t>原因</a:t>
            </a:r>
            <a:r>
              <a:rPr lang="en-US" altLang="zh-CN" sz="2400">
                <a:solidFill>
                  <a:srgbClr val="000066"/>
                </a:solidFill>
                <a:latin typeface="楷体_GB2312" charset="0"/>
                <a:ea typeface="楷体_GB2312" charset="0"/>
              </a:rPr>
              <a:t>:</a:t>
            </a:r>
          </a:p>
          <a:p>
            <a:pPr eaLnBrk="1" hangingPunct="1">
              <a:spcBef>
                <a:spcPct val="0"/>
              </a:spcBef>
            </a:pPr>
            <a:r>
              <a:rPr lang="zh-CN" altLang="en-US" sz="2400">
                <a:solidFill>
                  <a:srgbClr val="000066"/>
                </a:solidFill>
                <a:latin typeface="楷体_GB2312" charset="0"/>
                <a:ea typeface="楷体_GB2312" charset="0"/>
              </a:rPr>
              <a:t>数组名表示数组的首地址</a:t>
            </a:r>
            <a:r>
              <a:rPr lang="en-US" altLang="zh-CN" sz="2400">
                <a:solidFill>
                  <a:srgbClr val="000066"/>
                </a:solidFill>
                <a:latin typeface="楷体_GB2312" charset="0"/>
                <a:ea typeface="楷体_GB2312" charset="0"/>
              </a:rPr>
              <a:t>,</a:t>
            </a:r>
            <a:r>
              <a:rPr lang="zh-CN" altLang="en-US" sz="2400">
                <a:solidFill>
                  <a:srgbClr val="000066"/>
                </a:solidFill>
                <a:latin typeface="楷体_GB2312" charset="0"/>
                <a:ea typeface="楷体_GB2312" charset="0"/>
              </a:rPr>
              <a:t>其值不可改变</a:t>
            </a:r>
            <a:r>
              <a:rPr lang="en-US" altLang="zh-CN" sz="2400">
                <a:solidFill>
                  <a:srgbClr val="000066"/>
                </a:solidFill>
                <a:latin typeface="楷体_GB2312" charset="0"/>
                <a:ea typeface="楷体_GB2312" charset="0"/>
              </a:rPr>
              <a:t>!</a:t>
            </a: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112963" y="3216275"/>
            <a:ext cx="946150" cy="933450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800" b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7030-E092-2140-8943-05F231C838DC}" type="datetime1">
              <a:rPr lang="zh-CN" altLang="en-US" smtClean="0"/>
              <a:t>2022/11/24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p" animBg="1" autoUpdateAnimBg="0"/>
      <p:bldP spid="8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640"/>
            <a:ext cx="7772400" cy="1609344"/>
          </a:xfrm>
        </p:spPr>
        <p:txBody>
          <a:bodyPr/>
          <a:lstStyle/>
          <a:p>
            <a:r>
              <a:rPr lang="zh-CN" altLang="en-US" dirty="0"/>
              <a:t>如何使两个数组的值相等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539750" y="1628800"/>
            <a:ext cx="6551613" cy="4319588"/>
          </a:xfrm>
          <a:prstGeom prst="rect">
            <a:avLst/>
          </a:prstGeom>
          <a:solidFill>
            <a:srgbClr val="CCFFFF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Courier New" charset="0"/>
                <a:ea typeface="楷体_GB2312" charset="0"/>
              </a:rPr>
              <a:t>通过双重循环赋值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zh-CN" altLang="en-US" sz="2400">
                <a:solidFill>
                  <a:schemeClr val="tx1"/>
                </a:solidFill>
                <a:latin typeface="Courier New" charset="0"/>
                <a:ea typeface="宋体" charset="0"/>
              </a:rPr>
              <a:t>    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int a[4][2]={1,2,3,4,5,6,7,8}; 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int b[4][2];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int i,j;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for (i=0; i&lt;</a:t>
            </a:r>
            <a:r>
              <a:rPr lang="en-US" altLang="zh-CN" sz="2400">
                <a:solidFill>
                  <a:srgbClr val="880000"/>
                </a:solidFill>
                <a:latin typeface="Courier New" charset="0"/>
                <a:ea typeface="宋体" charset="0"/>
              </a:rPr>
              <a:t>4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; i++)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{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   for (j=0; j&lt;</a:t>
            </a:r>
            <a:r>
              <a:rPr lang="en-US" altLang="zh-CN" sz="2400">
                <a:solidFill>
                  <a:srgbClr val="880000"/>
                </a:solidFill>
                <a:latin typeface="Courier New" charset="0"/>
                <a:ea typeface="宋体" charset="0"/>
              </a:rPr>
              <a:t>2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; j++)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   {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       </a:t>
            </a:r>
            <a:r>
              <a:rPr lang="en-US" altLang="zh-CN" sz="2400">
                <a:solidFill>
                  <a:srgbClr val="880000"/>
                </a:solidFill>
                <a:latin typeface="Courier New" charset="0"/>
                <a:ea typeface="宋体" charset="0"/>
              </a:rPr>
              <a:t>b[i][j] = a[i][j];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   }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}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C90CD-BB27-FE4C-BF05-297026DDD34A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6104BC-2EC4-B62A-83EB-93F66A77E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132" y="2624328"/>
            <a:ext cx="7772400" cy="1609344"/>
          </a:xfrm>
        </p:spPr>
        <p:txBody>
          <a:bodyPr/>
          <a:lstStyle/>
          <a:p>
            <a:r>
              <a:rPr lang="en-US" altLang="zh-CN" sz="4400" b="1">
                <a:latin typeface="华文楷体" panose="02010600040101010101" pitchFamily="2" charset="-122"/>
                <a:ea typeface="华文楷体" panose="02010600040101010101" pitchFamily="2" charset="-122"/>
              </a:rPr>
              <a:t>7.2</a:t>
            </a:r>
            <a:r>
              <a:rPr lang="zh-CN" altLang="en-US" sz="4400" b="1">
                <a:latin typeface="华文楷体" panose="02010600040101010101" pitchFamily="2" charset="-122"/>
                <a:ea typeface="华文楷体" panose="02010600040101010101" pitchFamily="2" charset="-122"/>
              </a:rPr>
              <a:t> 用数组名作函数参数</a:t>
            </a:r>
            <a:endParaRPr kumimoji="1" lang="zh-CN" altLang="en-US" b="1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3D9F43-05DF-F3FC-3FBF-45B8335A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B6E7-AF89-454F-98AE-AFED4239F98D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0AD425-F9A4-F45F-6569-411E23AA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64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5977" name="Group 169"/>
          <p:cNvGraphicFramePr>
            <a:graphicFrameLocks noGrp="1"/>
          </p:cNvGraphicFramePr>
          <p:nvPr/>
        </p:nvGraphicFramePr>
        <p:xfrm>
          <a:off x="1692275" y="1341438"/>
          <a:ext cx="6480175" cy="606514"/>
        </p:xfrm>
        <a:graphic>
          <a:graphicData uri="http://schemas.openxmlformats.org/drawingml/2006/table">
            <a:tbl>
              <a:tblPr/>
              <a:tblGrid>
                <a:gridCol w="925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55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ea typeface="宋体" pitchFamily="2" charset="-122"/>
                        </a:rPr>
                        <a:t>200801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ea typeface="宋体" pitchFamily="2" charset="-122"/>
                        </a:rPr>
                        <a:t>200802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ea typeface="宋体" pitchFamily="2" charset="-122"/>
                        </a:rPr>
                        <a:t>200803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ea typeface="宋体" pitchFamily="2" charset="-122"/>
                        </a:rPr>
                        <a:t>200804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ea typeface="宋体" pitchFamily="2" charset="-122"/>
                        </a:rPr>
                        <a:t>……</a:t>
                      </a:r>
                    </a:p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urier New" pitchFamily="49" charset="0"/>
                        <a:ea typeface="宋体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urier New" pitchFamily="49" charset="0"/>
                          <a:ea typeface="宋体" pitchFamily="2" charset="-122"/>
                        </a:rPr>
                        <a:t>200838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3366FF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urier New" pitchFamily="49" charset="0"/>
                        <a:ea typeface="宋体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956" name="Text Box 51"/>
          <p:cNvSpPr txBox="1">
            <a:spLocks noChangeArrowheads="1"/>
          </p:cNvSpPr>
          <p:nvPr/>
        </p:nvSpPr>
        <p:spPr bwMode="auto">
          <a:xfrm>
            <a:off x="250825" y="765175"/>
            <a:ext cx="1511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zh-CN" altLang="en-US" sz="2000">
                <a:solidFill>
                  <a:schemeClr val="tx1"/>
                </a:solidFill>
                <a:ea typeface="宋体" charset="0"/>
              </a:rPr>
              <a:t>数组编号：</a:t>
            </a:r>
          </a:p>
        </p:txBody>
      </p:sp>
      <p:sp>
        <p:nvSpPr>
          <p:cNvPr id="39957" name="Text Box 52"/>
          <p:cNvSpPr txBox="1">
            <a:spLocks noChangeArrowheads="1"/>
          </p:cNvSpPr>
          <p:nvPr/>
        </p:nvSpPr>
        <p:spPr bwMode="auto">
          <a:xfrm>
            <a:off x="250825" y="1412875"/>
            <a:ext cx="1260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zh-CN" altLang="en-US" sz="2000">
                <a:ea typeface="宋体" charset="0"/>
              </a:rPr>
              <a:t>学号：</a:t>
            </a:r>
          </a:p>
        </p:txBody>
      </p:sp>
      <p:sp>
        <p:nvSpPr>
          <p:cNvPr id="39958" name="Text Box 53"/>
          <p:cNvSpPr txBox="1">
            <a:spLocks noChangeArrowheads="1"/>
          </p:cNvSpPr>
          <p:nvPr/>
        </p:nvSpPr>
        <p:spPr bwMode="auto">
          <a:xfrm>
            <a:off x="250825" y="2205038"/>
            <a:ext cx="1511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zh-CN" altLang="en-US" sz="2000">
                <a:solidFill>
                  <a:schemeClr val="accent2"/>
                </a:solidFill>
                <a:ea typeface="宋体" charset="0"/>
              </a:rPr>
              <a:t>成绩：</a:t>
            </a:r>
          </a:p>
        </p:txBody>
      </p:sp>
      <p:graphicFrame>
        <p:nvGraphicFramePr>
          <p:cNvPr id="375976" name="Group 168"/>
          <p:cNvGraphicFramePr>
            <a:graphicFrameLocks noGrp="1"/>
          </p:cNvGraphicFramePr>
          <p:nvPr/>
        </p:nvGraphicFramePr>
        <p:xfrm>
          <a:off x="1692275" y="692150"/>
          <a:ext cx="6480175" cy="504825"/>
        </p:xfrm>
        <a:graphic>
          <a:graphicData uri="http://schemas.openxmlformats.org/drawingml/2006/table">
            <a:tbl>
              <a:tblPr/>
              <a:tblGrid>
                <a:gridCol w="925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5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55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38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39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6029" name="Group 221"/>
          <p:cNvGraphicFramePr>
            <a:graphicFrameLocks noGrp="1"/>
          </p:cNvGraphicFramePr>
          <p:nvPr/>
        </p:nvGraphicFramePr>
        <p:xfrm>
          <a:off x="1692275" y="2133600"/>
          <a:ext cx="6480175" cy="431800"/>
        </p:xfrm>
        <a:graphic>
          <a:graphicData uri="http://schemas.openxmlformats.org/drawingml/2006/table">
            <a:tbl>
              <a:tblPr/>
              <a:tblGrid>
                <a:gridCol w="93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5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55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Franklin Gothic Medium" pitchFamily="34" charset="0"/>
                          <a:ea typeface="隶书" pitchFamily="49" charset="-122"/>
                        </a:rPr>
                        <a:t>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Franklin Gothic Medium" pitchFamily="34" charset="0"/>
                          <a:ea typeface="隶书" pitchFamily="49" charset="-122"/>
                        </a:rPr>
                        <a:t>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Franklin Gothic Medium" pitchFamily="34" charset="0"/>
                          <a:ea typeface="隶书" pitchFamily="49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Franklin Gothic Medium" pitchFamily="34" charset="0"/>
                          <a:ea typeface="隶书" pitchFamily="49" charset="-122"/>
                        </a:rPr>
                        <a:t>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66FF"/>
                          </a:solidFill>
                          <a:effectLst/>
                          <a:latin typeface="Franklin Gothic Medium" pitchFamily="34" charset="0"/>
                          <a:ea typeface="隶书" pitchFamily="49" charset="-122"/>
                        </a:rPr>
                        <a:t>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66FF"/>
                        </a:solidFill>
                        <a:effectLst/>
                        <a:latin typeface="Franklin Gothic Medium" pitchFamily="34" charset="0"/>
                        <a:ea typeface="隶书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66FF"/>
                        </a:solidFill>
                        <a:effectLst/>
                        <a:latin typeface="Franklin Gothic Medium" pitchFamily="34" charset="0"/>
                        <a:ea typeface="隶书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6006" name="Text Box 198"/>
          <p:cNvSpPr txBox="1">
            <a:spLocks noChangeArrowheads="1"/>
          </p:cNvSpPr>
          <p:nvPr/>
        </p:nvSpPr>
        <p:spPr bwMode="auto">
          <a:xfrm>
            <a:off x="250825" y="3068638"/>
            <a:ext cx="1511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maxScore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：</a:t>
            </a:r>
          </a:p>
        </p:txBody>
      </p:sp>
      <p:sp>
        <p:nvSpPr>
          <p:cNvPr id="376008" name="Text Box 200"/>
          <p:cNvSpPr txBox="1">
            <a:spLocks noChangeArrowheads="1"/>
          </p:cNvSpPr>
          <p:nvPr/>
        </p:nvSpPr>
        <p:spPr bwMode="auto">
          <a:xfrm>
            <a:off x="250825" y="3860800"/>
            <a:ext cx="1511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maxNum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：</a:t>
            </a:r>
          </a:p>
        </p:txBody>
      </p:sp>
      <p:graphicFrame>
        <p:nvGraphicFramePr>
          <p:cNvPr id="376039" name="Group 231"/>
          <p:cNvGraphicFramePr>
            <a:graphicFrameLocks noGrp="1"/>
          </p:cNvGraphicFramePr>
          <p:nvPr/>
        </p:nvGraphicFramePr>
        <p:xfrm>
          <a:off x="1692275" y="3860800"/>
          <a:ext cx="1150938" cy="576263"/>
        </p:xfrm>
        <a:graphic>
          <a:graphicData uri="http://schemas.openxmlformats.org/drawingml/2006/table">
            <a:tbl>
              <a:tblPr/>
              <a:tblGrid>
                <a:gridCol w="11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Franklin Gothic Medium" pitchFamily="34" charset="0"/>
                        <a:ea typeface="隶书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6018" name="Line 210"/>
          <p:cNvSpPr>
            <a:spLocks noChangeShapeType="1"/>
          </p:cNvSpPr>
          <p:nvPr/>
        </p:nvSpPr>
        <p:spPr bwMode="auto">
          <a:xfrm>
            <a:off x="2124075" y="2565400"/>
            <a:ext cx="0" cy="503238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76019" name="Line 211"/>
          <p:cNvSpPr>
            <a:spLocks noChangeShapeType="1"/>
          </p:cNvSpPr>
          <p:nvPr/>
        </p:nvSpPr>
        <p:spPr bwMode="auto">
          <a:xfrm flipV="1">
            <a:off x="2268538" y="2565400"/>
            <a:ext cx="790575" cy="503238"/>
          </a:xfrm>
          <a:prstGeom prst="line">
            <a:avLst/>
          </a:prstGeom>
          <a:noFill/>
          <a:ln w="63500">
            <a:solidFill>
              <a:schemeClr val="hlink"/>
            </a:solidFill>
            <a:prstDash val="sysDot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76020" name="Line 212"/>
          <p:cNvSpPr>
            <a:spLocks noChangeShapeType="1"/>
          </p:cNvSpPr>
          <p:nvPr/>
        </p:nvSpPr>
        <p:spPr bwMode="auto">
          <a:xfrm flipV="1">
            <a:off x="2411413" y="2565400"/>
            <a:ext cx="1296987" cy="503238"/>
          </a:xfrm>
          <a:prstGeom prst="line">
            <a:avLst/>
          </a:prstGeom>
          <a:noFill/>
          <a:ln w="63500">
            <a:solidFill>
              <a:schemeClr val="hlink"/>
            </a:solidFill>
            <a:prstDash val="sysDot"/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76021" name="Text Box 213"/>
          <p:cNvSpPr txBox="1">
            <a:spLocks noChangeArrowheads="1"/>
          </p:cNvSpPr>
          <p:nvPr/>
        </p:nvSpPr>
        <p:spPr bwMode="auto">
          <a:xfrm>
            <a:off x="2771775" y="2781300"/>
            <a:ext cx="3384550" cy="3968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因为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88&gt;75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，所以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88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保留</a:t>
            </a:r>
          </a:p>
        </p:txBody>
      </p:sp>
      <p:sp>
        <p:nvSpPr>
          <p:cNvPr id="376022" name="Text Box 214"/>
          <p:cNvSpPr txBox="1">
            <a:spLocks noChangeArrowheads="1"/>
          </p:cNvSpPr>
          <p:nvPr/>
        </p:nvSpPr>
        <p:spPr bwMode="auto">
          <a:xfrm>
            <a:off x="3276600" y="2852738"/>
            <a:ext cx="3384550" cy="396875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因为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90&gt;88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，所以用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90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替换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88</a:t>
            </a:r>
            <a:endParaRPr lang="zh-CN" altLang="en-US" sz="200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ea typeface="宋体" charset="0"/>
            </a:endParaRPr>
          </a:p>
        </p:txBody>
      </p:sp>
      <p:sp>
        <p:nvSpPr>
          <p:cNvPr id="376023" name="Text Box 215"/>
          <p:cNvSpPr txBox="1">
            <a:spLocks noChangeArrowheads="1"/>
          </p:cNvSpPr>
          <p:nvPr/>
        </p:nvSpPr>
        <p:spPr bwMode="auto">
          <a:xfrm>
            <a:off x="2843213" y="3860800"/>
            <a:ext cx="5184775" cy="7016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由于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90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分所在的数组编号是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2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，记下该编号，去找到学号数组中的数组编号，并替换</a:t>
            </a:r>
          </a:p>
        </p:txBody>
      </p:sp>
      <p:graphicFrame>
        <p:nvGraphicFramePr>
          <p:cNvPr id="376036" name="Group 228"/>
          <p:cNvGraphicFramePr>
            <a:graphicFrameLocks noGrp="1"/>
          </p:cNvGraphicFramePr>
          <p:nvPr/>
        </p:nvGraphicFramePr>
        <p:xfrm>
          <a:off x="1692275" y="3068638"/>
          <a:ext cx="1150938" cy="504825"/>
        </p:xfrm>
        <a:graphic>
          <a:graphicData uri="http://schemas.openxmlformats.org/drawingml/2006/table">
            <a:tbl>
              <a:tblPr/>
              <a:tblGrid>
                <a:gridCol w="11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CC66"/>
                        </a:buClr>
                        <a:buSzPct val="80000"/>
                        <a:buFont typeface="Monotype Sorts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3366FF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6040" name="Rectangle 232"/>
          <p:cNvSpPr>
            <a:spLocks noChangeArrowheads="1"/>
          </p:cNvSpPr>
          <p:nvPr/>
        </p:nvSpPr>
        <p:spPr bwMode="auto">
          <a:xfrm>
            <a:off x="1835150" y="31194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en-US" altLang="zh-CN" sz="2400">
                <a:solidFill>
                  <a:srgbClr val="3366FF"/>
                </a:solidFill>
                <a:ea typeface="宋体" charset="0"/>
              </a:rPr>
              <a:t>88</a:t>
            </a:r>
            <a:endParaRPr lang="zh-CN" altLang="en-US" sz="2400">
              <a:solidFill>
                <a:srgbClr val="3366FF"/>
              </a:solidFill>
              <a:ea typeface="宋体" charset="0"/>
            </a:endParaRPr>
          </a:p>
        </p:txBody>
      </p:sp>
      <p:sp>
        <p:nvSpPr>
          <p:cNvPr id="376041" name="Rectangle 233"/>
          <p:cNvSpPr>
            <a:spLocks noChangeArrowheads="1"/>
          </p:cNvSpPr>
          <p:nvPr/>
        </p:nvSpPr>
        <p:spPr bwMode="auto">
          <a:xfrm>
            <a:off x="1763713" y="3933825"/>
            <a:ext cx="10080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en-US" altLang="zh-CN" sz="2000">
                <a:ea typeface="宋体" charset="0"/>
              </a:rPr>
              <a:t>200801</a:t>
            </a:r>
            <a:endParaRPr lang="zh-CN" altLang="en-US" sz="2000">
              <a:ea typeface="宋体" charset="0"/>
            </a:endParaRPr>
          </a:p>
        </p:txBody>
      </p:sp>
      <p:sp>
        <p:nvSpPr>
          <p:cNvPr id="376042" name="Rectangle 234"/>
          <p:cNvSpPr>
            <a:spLocks noChangeArrowheads="1"/>
          </p:cNvSpPr>
          <p:nvPr/>
        </p:nvSpPr>
        <p:spPr bwMode="auto">
          <a:xfrm>
            <a:off x="1763713" y="3933825"/>
            <a:ext cx="1008062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en-US" altLang="zh-CN" sz="2000">
                <a:solidFill>
                  <a:srgbClr val="9900CC"/>
                </a:solidFill>
                <a:ea typeface="宋体" charset="0"/>
              </a:rPr>
              <a:t>200803</a:t>
            </a:r>
            <a:endParaRPr lang="zh-CN" altLang="en-US" sz="2000">
              <a:solidFill>
                <a:srgbClr val="9900CC"/>
              </a:solidFill>
              <a:ea typeface="宋体" charset="0"/>
            </a:endParaRPr>
          </a:p>
        </p:txBody>
      </p:sp>
      <p:sp>
        <p:nvSpPr>
          <p:cNvPr id="376043" name="Rectangle 235"/>
          <p:cNvSpPr>
            <a:spLocks noChangeArrowheads="1"/>
          </p:cNvSpPr>
          <p:nvPr/>
        </p:nvSpPr>
        <p:spPr bwMode="auto">
          <a:xfrm>
            <a:off x="1835150" y="3068638"/>
            <a:ext cx="792163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en-US" altLang="zh-CN" sz="2400">
                <a:solidFill>
                  <a:srgbClr val="9900CC"/>
                </a:solidFill>
                <a:ea typeface="宋体" charset="0"/>
              </a:rPr>
              <a:t>90</a:t>
            </a:r>
            <a:endParaRPr lang="zh-CN" altLang="en-US" sz="2400">
              <a:solidFill>
                <a:srgbClr val="9900CC"/>
              </a:solidFill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17786-0A66-C84D-B506-E80BC76CA0AC}" type="datetime1">
              <a:rPr lang="zh-CN" altLang="en-US" smtClean="0"/>
              <a:t>2022/11/24</a:t>
            </a:fld>
            <a:endParaRPr lang="en-US"/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210367" y="4760913"/>
            <a:ext cx="8212137" cy="8397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7" rIns="92075" bIns="46037" anchor="ctr"/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zh-CN" altLang="en-US" sz="4000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charset="0"/>
              </a:rPr>
              <a:t>计算最大值算法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5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7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7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603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603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6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6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6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7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37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37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7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55" dur="2000" fill="hold"/>
                                        <p:tgtEl>
                                          <p:spTgt spid="376040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37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4" dur="500"/>
                                        <p:tgtEl>
                                          <p:spTgt spid="3760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9" dur="500"/>
                                        <p:tgtEl>
                                          <p:spTgt spid="3760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37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37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37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37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500"/>
                                        <p:tgtEl>
                                          <p:spTgt spid="37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021" grpId="0" animBg="1"/>
      <p:bldP spid="376021" grpId="1" animBg="1"/>
      <p:bldP spid="376022" grpId="0" animBg="1"/>
      <p:bldP spid="376023" grpId="0" animBg="1"/>
      <p:bldP spid="376040" grpId="0"/>
      <p:bldP spid="376040" grpId="1"/>
      <p:bldP spid="376041" grpId="0"/>
      <p:bldP spid="376042" grpId="0" animBg="1"/>
      <p:bldP spid="37604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3" name="Rectangle 5"/>
          <p:cNvSpPr>
            <a:spLocks noChangeArrowheads="1"/>
          </p:cNvSpPr>
          <p:nvPr/>
        </p:nvSpPr>
        <p:spPr bwMode="auto">
          <a:xfrm>
            <a:off x="3390900" y="4321175"/>
            <a:ext cx="360363" cy="360363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78532" name="Rectangle 4"/>
          <p:cNvSpPr>
            <a:spLocks noChangeArrowheads="1"/>
          </p:cNvSpPr>
          <p:nvPr/>
        </p:nvSpPr>
        <p:spPr bwMode="auto">
          <a:xfrm>
            <a:off x="3635375" y="2636838"/>
            <a:ext cx="360363" cy="360362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333375"/>
            <a:ext cx="8212137" cy="83978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例</a:t>
            </a:r>
            <a:r>
              <a:rPr lang="en-US" altLang="zh-CN" dirty="0"/>
              <a:t>6.2 —</a:t>
            </a:r>
            <a:r>
              <a:rPr lang="zh-CN" altLang="en-US" dirty="0"/>
              <a:t>打印最高分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idx="1"/>
          </p:nvPr>
        </p:nvSpPr>
        <p:spPr>
          <a:xfrm>
            <a:off x="136525" y="1341438"/>
            <a:ext cx="8785225" cy="5256212"/>
          </a:xfrm>
        </p:spPr>
        <p:txBody>
          <a:bodyPr/>
          <a:lstStyle/>
          <a:p>
            <a:pPr eaLnBrk="1"/>
            <a:r>
              <a:rPr lang="zh-CN" altLang="en-US" sz="2400">
                <a:ea typeface="宋体" charset="0"/>
              </a:rPr>
              <a:t>从键盘输入学生人数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n</a:t>
            </a:r>
            <a:r>
              <a:rPr lang="zh-CN" altLang="en-US" sz="2400">
                <a:ea typeface="宋体" charset="0"/>
              </a:rPr>
              <a:t>；</a:t>
            </a:r>
          </a:p>
          <a:p>
            <a:pPr eaLnBrk="1"/>
            <a:r>
              <a:rPr lang="zh-CN" altLang="en-US" sz="2400">
                <a:ea typeface="宋体" charset="0"/>
              </a:rPr>
              <a:t>从键盘输入所有学生的学号和成绩分别存入数组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num</a:t>
            </a:r>
            <a:r>
              <a:rPr lang="zh-CN" altLang="en-US" sz="2400">
                <a:latin typeface="Courier New" charset="0"/>
                <a:ea typeface="宋体" charset="0"/>
              </a:rPr>
              <a:t>和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score</a:t>
            </a:r>
            <a:endParaRPr lang="zh-CN" altLang="en-US" sz="2400">
              <a:solidFill>
                <a:schemeClr val="tx1"/>
              </a:solidFill>
              <a:latin typeface="Courier New" charset="0"/>
              <a:ea typeface="宋体" charset="0"/>
            </a:endParaRPr>
          </a:p>
          <a:p>
            <a:pPr eaLnBrk="1"/>
            <a:r>
              <a:rPr lang="zh-CN" altLang="en-US" sz="2400">
                <a:ea typeface="宋体" charset="0"/>
              </a:rPr>
              <a:t>假设其中的一个学生成绩为最高</a:t>
            </a:r>
          </a:p>
          <a:p>
            <a:pPr eaLnBrk="1">
              <a:buFont typeface="Monotype Sorts" charset="2"/>
              <a:buNone/>
            </a:pPr>
            <a:r>
              <a:rPr lang="en-US" altLang="zh-CN" sz="2400">
                <a:ea typeface="宋体" charset="0"/>
              </a:rPr>
              <a:t>	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maxScore = score[0];	</a:t>
            </a:r>
            <a:endParaRPr lang="zh-CN" altLang="en-US" sz="2400">
              <a:solidFill>
                <a:schemeClr val="tx1"/>
              </a:solidFill>
              <a:latin typeface="Courier New" charset="0"/>
              <a:ea typeface="宋体" charset="0"/>
            </a:endParaRPr>
          </a:p>
          <a:p>
            <a:pPr eaLnBrk="1"/>
            <a:r>
              <a:rPr lang="zh-CN" altLang="en-US" sz="2400">
                <a:latin typeface="Courier New" charset="0"/>
                <a:ea typeface="宋体" charset="0"/>
              </a:rPr>
              <a:t>对所有学生成绩进行比较，即</a:t>
            </a:r>
          </a:p>
          <a:p>
            <a:pPr eaLnBrk="1">
              <a:buFont typeface="Monotype Sorts" charset="2"/>
              <a:buNone/>
            </a:pPr>
            <a:r>
              <a:rPr lang="zh-CN" altLang="en-US" sz="2400">
                <a:latin typeface="Courier New" charset="0"/>
                <a:ea typeface="宋体" charset="0"/>
              </a:rPr>
              <a:t>      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for (i=1; i&lt;n; i++)</a:t>
            </a:r>
          </a:p>
          <a:p>
            <a:pPr eaLnBrk="1">
              <a:buFont typeface="Monotype Sort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  { </a:t>
            </a:r>
          </a:p>
          <a:p>
            <a:pPr eaLnBrk="1">
              <a:buFont typeface="Monotype Sorts" charset="2"/>
              <a:buNone/>
            </a:pP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          	</a:t>
            </a:r>
            <a:r>
              <a:rPr lang="zh-CN" altLang="en-US" sz="2400">
                <a:solidFill>
                  <a:schemeClr val="tx1"/>
                </a:solidFill>
                <a:latin typeface="Courier New" charset="0"/>
                <a:ea typeface="宋体" charset="0"/>
              </a:rPr>
              <a:t>若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score[i] &gt; maxScore</a:t>
            </a:r>
            <a:endParaRPr lang="zh-CN" altLang="en-US" sz="2400">
              <a:solidFill>
                <a:schemeClr val="tx1"/>
              </a:solidFill>
              <a:latin typeface="Courier New" charset="0"/>
              <a:ea typeface="宋体" charset="0"/>
            </a:endParaRPr>
          </a:p>
          <a:p>
            <a:pPr eaLnBrk="1">
              <a:buFont typeface="Monotype Sorts" charset="2"/>
              <a:buNone/>
            </a:pPr>
            <a:r>
              <a:rPr lang="zh-CN" altLang="en-US" sz="2400">
                <a:solidFill>
                  <a:schemeClr val="tx1"/>
                </a:solidFill>
                <a:latin typeface="Courier New" charset="0"/>
                <a:ea typeface="宋体" charset="0"/>
              </a:rPr>
              <a:t>			则修改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maxScore</a:t>
            </a:r>
            <a:r>
              <a:rPr lang="zh-CN" altLang="en-US" sz="2400">
                <a:solidFill>
                  <a:schemeClr val="tx1"/>
                </a:solidFill>
                <a:latin typeface="Courier New" charset="0"/>
                <a:ea typeface="宋体" charset="0"/>
              </a:rPr>
              <a:t>值为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score[i]</a:t>
            </a:r>
            <a:endParaRPr lang="zh-CN" altLang="en-US" sz="2400">
              <a:solidFill>
                <a:schemeClr val="tx1"/>
              </a:solidFill>
              <a:latin typeface="Courier New" charset="0"/>
              <a:ea typeface="宋体" charset="0"/>
            </a:endParaRPr>
          </a:p>
          <a:p>
            <a:pPr eaLnBrk="1">
              <a:buFont typeface="Monotype Sorts" charset="2"/>
              <a:buNone/>
            </a:pPr>
            <a:r>
              <a:rPr lang="zh-CN" altLang="en-US" sz="2400">
                <a:solidFill>
                  <a:schemeClr val="tx1"/>
                </a:solidFill>
                <a:latin typeface="Courier New" charset="0"/>
                <a:ea typeface="宋体" charset="0"/>
              </a:rPr>
              <a:t>		 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}</a:t>
            </a:r>
          </a:p>
          <a:p>
            <a:pPr eaLnBrk="1"/>
            <a:r>
              <a:rPr lang="zh-CN" altLang="en-US" sz="2400">
                <a:latin typeface="Courier New" charset="0"/>
                <a:ea typeface="宋体" charset="0"/>
              </a:rPr>
              <a:t>打印最高分</a:t>
            </a:r>
            <a:r>
              <a:rPr lang="en-US" altLang="zh-CN" sz="2400">
                <a:solidFill>
                  <a:schemeClr val="tx1"/>
                </a:solidFill>
                <a:latin typeface="Courier New" charset="0"/>
                <a:ea typeface="宋体" charset="0"/>
              </a:rPr>
              <a:t>maxScore</a:t>
            </a:r>
            <a:endParaRPr lang="zh-CN" altLang="en-US" sz="2400">
              <a:solidFill>
                <a:schemeClr val="tx1"/>
              </a:solidFill>
              <a:latin typeface="Courier New" charset="0"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8C7E-047C-DC47-8DA9-99003FD79803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3" name="Rectangle 5"/>
          <p:cNvSpPr>
            <a:spLocks noChangeArrowheads="1"/>
          </p:cNvSpPr>
          <p:nvPr/>
        </p:nvSpPr>
        <p:spPr bwMode="auto">
          <a:xfrm>
            <a:off x="611188" y="3429000"/>
            <a:ext cx="5832475" cy="2232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17094" name="Rectangle 6"/>
          <p:cNvSpPr>
            <a:spLocks noChangeArrowheads="1"/>
          </p:cNvSpPr>
          <p:nvPr/>
        </p:nvSpPr>
        <p:spPr bwMode="auto">
          <a:xfrm>
            <a:off x="1042988" y="4005263"/>
            <a:ext cx="4608512" cy="13684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17092" name="Rectangle 4"/>
          <p:cNvSpPr>
            <a:spLocks noGrp="1" noChangeArrowheads="1"/>
          </p:cNvSpPr>
          <p:nvPr>
            <p:ph type="title"/>
          </p:nvPr>
        </p:nvSpPr>
        <p:spPr>
          <a:xfrm>
            <a:off x="2700338" y="333375"/>
            <a:ext cx="6192837" cy="839788"/>
          </a:xfrm>
        </p:spPr>
        <p:txBody>
          <a:bodyPr/>
          <a:lstStyle/>
          <a:p>
            <a:pPr>
              <a:defRPr/>
            </a:pPr>
            <a:r>
              <a:rPr lang="zh-CN" altLang="en-US" sz="4800" dirty="0"/>
              <a:t>例</a:t>
            </a:r>
            <a:r>
              <a:rPr lang="en-US" altLang="zh-CN" sz="4800" dirty="0"/>
              <a:t>6.2 —</a:t>
            </a:r>
            <a:r>
              <a:rPr lang="zh-CN" altLang="en-US" sz="4800" dirty="0"/>
              <a:t>打印最高分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260350"/>
            <a:ext cx="8640762" cy="6524625"/>
          </a:xfrm>
        </p:spPr>
        <p:txBody>
          <a:bodyPr>
            <a:normAutofit fontScale="92500" lnSpcReduction="20000"/>
          </a:bodyPr>
          <a:lstStyle/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......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main()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{ 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......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0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for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(i=0; i&lt;n; i++)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{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	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scanf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("%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ld%f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", &amp;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num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[i], &amp;score[i]);      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}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endParaRPr lang="fr-FR" altLang="zh-CN" sz="20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000" dirty="0" err="1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20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= score[0];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0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for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(i=1; i&lt;n; i++)                       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{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	</a:t>
            </a:r>
            <a:r>
              <a:rPr lang="fr-FR" altLang="zh-CN" sz="20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if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(score[i] &gt; 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)                     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	{  	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	    </a:t>
            </a:r>
            <a:r>
              <a:rPr lang="fr-FR" altLang="zh-CN" sz="2000" dirty="0" err="1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20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= score[i];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	}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}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= %.0f\n", 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); 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20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7E11-F81C-C64D-A7B0-0B30DE17D029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7" name="Rectangle 5"/>
          <p:cNvSpPr>
            <a:spLocks noChangeArrowheads="1"/>
          </p:cNvSpPr>
          <p:nvPr/>
        </p:nvSpPr>
        <p:spPr bwMode="auto">
          <a:xfrm>
            <a:off x="582613" y="3270250"/>
            <a:ext cx="5832475" cy="2232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89798" name="Rectangle 6"/>
          <p:cNvSpPr>
            <a:spLocks noChangeArrowheads="1"/>
          </p:cNvSpPr>
          <p:nvPr/>
        </p:nvSpPr>
        <p:spPr bwMode="auto">
          <a:xfrm>
            <a:off x="1014413" y="3846513"/>
            <a:ext cx="4608512" cy="13684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89795" name="Rectangle 3"/>
          <p:cNvSpPr>
            <a:spLocks noGrp="1" noChangeArrowheads="1"/>
          </p:cNvSpPr>
          <p:nvPr>
            <p:ph type="title"/>
          </p:nvPr>
        </p:nvSpPr>
        <p:spPr>
          <a:xfrm>
            <a:off x="2700338" y="333375"/>
            <a:ext cx="6192837" cy="8397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/>
              <a:t>例</a:t>
            </a:r>
            <a:r>
              <a:rPr lang="en-US" altLang="zh-CN"/>
              <a:t>6.2 —</a:t>
            </a:r>
            <a:r>
              <a:rPr lang="zh-CN" altLang="en-US"/>
              <a:t>打印最高分及其学生序号 </a:t>
            </a:r>
          </a:p>
        </p:txBody>
      </p:sp>
      <p:sp>
        <p:nvSpPr>
          <p:cNvPr id="289794" name="Rectangle 2"/>
          <p:cNvSpPr>
            <a:spLocks noGrp="1" noChangeArrowheads="1"/>
          </p:cNvSpPr>
          <p:nvPr>
            <p:ph idx="1"/>
          </p:nvPr>
        </p:nvSpPr>
        <p:spPr>
          <a:xfrm>
            <a:off x="179388" y="333375"/>
            <a:ext cx="8640762" cy="6524625"/>
          </a:xfrm>
        </p:spPr>
        <p:txBody>
          <a:bodyPr>
            <a:normAutofit fontScale="92500" lnSpcReduction="20000"/>
          </a:bodyPr>
          <a:lstStyle/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......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main()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{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......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0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for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(i=0; i&lt;n; i++)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{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	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scanf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("%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ld%f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", &amp;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num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[i], &amp;score[i]);     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}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= score[0];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000" dirty="0" err="1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maxNum</a:t>
            </a:r>
            <a:r>
              <a:rPr lang="fr-FR" altLang="zh-CN" sz="20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= </a:t>
            </a:r>
            <a:r>
              <a:rPr lang="fr-FR" altLang="zh-CN" sz="2000" dirty="0" err="1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num</a:t>
            </a:r>
            <a:r>
              <a:rPr lang="fr-FR" altLang="zh-CN" sz="20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[0];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          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0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for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(i=1; i&lt;n; i++)                      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{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	</a:t>
            </a:r>
            <a:r>
              <a:rPr lang="fr-FR" altLang="zh-CN" sz="2000" dirty="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if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(score[i] &gt; 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)                    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	{  	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	    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= score[i];                   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	    </a:t>
            </a:r>
            <a:r>
              <a:rPr lang="fr-FR" altLang="zh-CN" sz="2000" dirty="0" err="1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maxNum</a:t>
            </a:r>
            <a:r>
              <a:rPr lang="fr-FR" altLang="zh-CN" sz="20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= </a:t>
            </a:r>
            <a:r>
              <a:rPr lang="fr-FR" altLang="zh-CN" sz="2000" dirty="0" err="1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num</a:t>
            </a:r>
            <a:r>
              <a:rPr lang="fr-FR" altLang="zh-CN" sz="20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[i];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           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   	}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}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("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= %.0f</a:t>
            </a:r>
            <a:r>
              <a:rPr lang="fr-FR" altLang="zh-CN" sz="20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, </a:t>
            </a:r>
            <a:r>
              <a:rPr lang="fr-FR" altLang="zh-CN" sz="2000" dirty="0" err="1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maxNum</a:t>
            </a:r>
            <a:r>
              <a:rPr lang="fr-FR" altLang="zh-CN" sz="20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 =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2000" dirty="0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%</a:t>
            </a:r>
            <a:r>
              <a:rPr lang="fr-FR" altLang="zh-CN" sz="2000" dirty="0" err="1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ld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\n", 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,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		    </a:t>
            </a:r>
            <a:r>
              <a:rPr lang="fr-FR" altLang="zh-CN" sz="2000" dirty="0" err="1">
                <a:solidFill>
                  <a:schemeClr val="hlink"/>
                </a:solidFill>
                <a:latin typeface="Courier New" pitchFamily="49" charset="0"/>
                <a:ea typeface="宋体" pitchFamily="2" charset="-122"/>
              </a:rPr>
              <a:t>maxNum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);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2000" dirty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89796" name="Rectangle 4"/>
          <p:cNvSpPr>
            <a:spLocks noChangeArrowheads="1"/>
          </p:cNvSpPr>
          <p:nvPr/>
        </p:nvSpPr>
        <p:spPr bwMode="auto">
          <a:xfrm>
            <a:off x="6299200" y="4029075"/>
            <a:ext cx="2881313" cy="83978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7" rIns="92075" bIns="46037" anchor="ctr"/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zh-CN" altLang="en-US" sz="3200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charset="0"/>
              </a:rPr>
              <a:t>用函数实现？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E94B1-4BC8-6D43-9250-7A0B4984D8AE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61" name="Rectangle 5"/>
          <p:cNvSpPr>
            <a:spLocks noChangeArrowheads="1"/>
          </p:cNvSpPr>
          <p:nvPr/>
        </p:nvSpPr>
        <p:spPr bwMode="auto">
          <a:xfrm>
            <a:off x="395288" y="1557338"/>
            <a:ext cx="3313112" cy="1657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912813" y="1997075"/>
            <a:ext cx="2617787" cy="10160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49860" name="Rectangle 4"/>
          <p:cNvSpPr>
            <a:spLocks noGrp="1" noChangeArrowheads="1"/>
          </p:cNvSpPr>
          <p:nvPr>
            <p:ph type="title"/>
          </p:nvPr>
        </p:nvSpPr>
        <p:spPr>
          <a:xfrm>
            <a:off x="4427538" y="333375"/>
            <a:ext cx="4465637" cy="83978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用函数实现打印最高分</a:t>
            </a:r>
          </a:p>
        </p:txBody>
      </p:sp>
      <p:sp>
        <p:nvSpPr>
          <p:cNvPr id="249858" name="Rectangle 2"/>
          <p:cNvSpPr>
            <a:spLocks noGrp="1" noChangeArrowheads="1"/>
          </p:cNvSpPr>
          <p:nvPr>
            <p:ph idx="1"/>
          </p:nvPr>
        </p:nvSpPr>
        <p:spPr>
          <a:xfrm>
            <a:off x="3779838" y="1628775"/>
            <a:ext cx="5292725" cy="4581525"/>
          </a:xfrm>
          <a:solidFill>
            <a:srgbClr val="CCFFFF"/>
          </a:solidFill>
        </p:spPr>
        <p:txBody>
          <a:bodyPr>
            <a:normAutofit fontScale="62500" lnSpcReduction="20000"/>
          </a:bodyPr>
          <a:lstStyle/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6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&lt;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stdio.h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&gt;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6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define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ARR_SIZE  40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float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FindMax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float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arr,int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n);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endParaRPr lang="fr-FR" altLang="zh-CN" sz="16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()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{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float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score[ARR_SIZE],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  n, i;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Please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enter total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number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:");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scanf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("%d", &amp;n);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Please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enter the score:\n");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for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(i=0; i&lt;n; i++)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{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 		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scanf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("%f", &amp;score[i]);     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}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=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FindMax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</a:t>
            </a:r>
            <a:r>
              <a:rPr lang="fr-FR" altLang="zh-CN" sz="2600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score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,n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);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= %f\n",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maxScore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);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107950" y="188913"/>
            <a:ext cx="4608513" cy="352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7" rIns="92075" bIns="46037"/>
          <a:lstStyle/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float</a:t>
            </a: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FindMax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(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float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arr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[],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n)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{  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float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max;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 i;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	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max =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arr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[0];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for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(i=1; i&lt;n; i++)                        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{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 	</a:t>
            </a: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if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(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arr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[i] &gt; max)                      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 	{  	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		    max =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arr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[i];                     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 	}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}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en-US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return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max;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ED5B-D225-4C46-889C-339509A47D88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4" name="Rectangle 4"/>
          <p:cNvSpPr>
            <a:spLocks noChangeArrowheads="1"/>
          </p:cNvSpPr>
          <p:nvPr/>
        </p:nvSpPr>
        <p:spPr bwMode="auto">
          <a:xfrm>
            <a:off x="179388" y="139700"/>
            <a:ext cx="8756650" cy="354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zh-CN" alt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用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数组</a:t>
            </a:r>
            <a:r>
              <a:rPr lang="zh-CN" alt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作为函数的形式参数：</a:t>
            </a:r>
          </a:p>
          <a:p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        由于每次调用函数，作为形式参数的数组，每次都要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重新开辟</a:t>
            </a: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一块连续的存储空间，每次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复制一堆的实参值，</a:t>
            </a: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用完又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马上将内存还给系统</a:t>
            </a: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。需要的系统开销太大。</a:t>
            </a:r>
          </a:p>
          <a:p>
            <a:r>
              <a:rPr lang="zh-CN" alt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因此，</a:t>
            </a:r>
            <a:r>
              <a:rPr lang="en-US" altLang="zh-CN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C</a:t>
            </a:r>
            <a:r>
              <a:rPr lang="zh-CN" alt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程序设计语言规定，数组作形式参数时，不重新开辟存储空间，而是用实际参数已有的空间。</a:t>
            </a:r>
            <a:endParaRPr lang="en-US" altLang="zh-CN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charset="0"/>
            </a:endParaRPr>
          </a:p>
        </p:txBody>
      </p:sp>
      <p:sp>
        <p:nvSpPr>
          <p:cNvPr id="378885" name="Rectangle 5"/>
          <p:cNvSpPr>
            <a:spLocks noChangeArrowheads="1"/>
          </p:cNvSpPr>
          <p:nvPr/>
        </p:nvSpPr>
        <p:spPr bwMode="auto">
          <a:xfrm>
            <a:off x="468313" y="3644900"/>
            <a:ext cx="4535487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7" rIns="92075" bIns="46037"/>
          <a:lstStyle/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float 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FindMax(float arr[], int n)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{  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float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max;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 i;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	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max = arr[0];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for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(i=1; i&lt;n; i++)                        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{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 	</a:t>
            </a: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if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(arr[i] &gt; max)                      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 	{  	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		    max = arr[i];                     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 	}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}	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378892" name="Group 12"/>
          <p:cNvGrpSpPr>
            <a:grpSpLocks/>
          </p:cNvGrpSpPr>
          <p:nvPr/>
        </p:nvGrpSpPr>
        <p:grpSpPr bwMode="auto">
          <a:xfrm>
            <a:off x="2214563" y="3890963"/>
            <a:ext cx="6696075" cy="1800225"/>
            <a:chOff x="1429" y="2296"/>
            <a:chExt cx="4218" cy="953"/>
          </a:xfrm>
        </p:grpSpPr>
        <p:sp>
          <p:nvSpPr>
            <p:cNvPr id="378890" name="AutoShape 10"/>
            <p:cNvSpPr>
              <a:spLocks/>
            </p:cNvSpPr>
            <p:nvPr/>
          </p:nvSpPr>
          <p:spPr bwMode="auto">
            <a:xfrm>
              <a:off x="2925" y="2557"/>
              <a:ext cx="2722" cy="692"/>
            </a:xfrm>
            <a:prstGeom prst="borderCallout1">
              <a:avLst>
                <a:gd name="adj1" fmla="val 10403"/>
                <a:gd name="adj2" fmla="val -1764"/>
                <a:gd name="adj3" fmla="val -37718"/>
                <a:gd name="adj4" fmla="val -21639"/>
              </a:avLst>
            </a:prstGeom>
            <a:noFill/>
            <a:ln w="31750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algn="ctr"/>
              <a:r>
                <a:rPr lang="zh-CN" altLang="en-US" sz="1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0"/>
                </a:rPr>
                <a:t>此处虽然写成数组形式，但</a:t>
              </a:r>
              <a:r>
                <a:rPr lang="zh-CN" altLang="en-US" sz="180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0"/>
                </a:rPr>
                <a:t>不真正开辟形式参数</a:t>
              </a:r>
              <a:r>
                <a:rPr lang="zh-CN" altLang="en-US" sz="1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0"/>
                </a:rPr>
                <a:t>的内存空间，只产生一个用来</a:t>
              </a:r>
              <a:r>
                <a:rPr lang="zh-CN" altLang="en-US" sz="180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0"/>
                </a:rPr>
                <a:t>存放地址的变量</a:t>
              </a:r>
              <a:r>
                <a:rPr lang="zh-CN" altLang="en-US" sz="180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宋体" charset="0"/>
                </a:rPr>
                <a:t>。这里这样写是为了说明此处需要放一个数组，作为实际参数</a:t>
              </a:r>
            </a:p>
          </p:txBody>
        </p:sp>
        <p:sp>
          <p:nvSpPr>
            <p:cNvPr id="378891" name="Line 11"/>
            <p:cNvSpPr>
              <a:spLocks noChangeShapeType="1"/>
            </p:cNvSpPr>
            <p:nvPr/>
          </p:nvSpPr>
          <p:spPr bwMode="auto">
            <a:xfrm>
              <a:off x="1429" y="2296"/>
              <a:ext cx="907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77DF6-C961-0D47-94E7-B25FCCB7CF58}" type="datetime1">
              <a:rPr lang="zh-CN" altLang="en-US" smtClean="0"/>
              <a:t>2022/11/24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Text Box 2"/>
          <p:cNvSpPr txBox="1">
            <a:spLocks noChangeArrowheads="1"/>
          </p:cNvSpPr>
          <p:nvPr/>
        </p:nvSpPr>
        <p:spPr bwMode="auto">
          <a:xfrm>
            <a:off x="381000" y="5464175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kumimoji="1" lang="zh-CN" altLang="en-US">
                <a:solidFill>
                  <a:srgbClr val="CC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　　</a:t>
            </a:r>
          </a:p>
        </p:txBody>
      </p:sp>
      <p:sp>
        <p:nvSpPr>
          <p:cNvPr id="23245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olidFill>
                  <a:schemeClr val="accent2"/>
                </a:solidFill>
              </a:rPr>
              <a:t>数组名作函数参数</a:t>
            </a:r>
          </a:p>
        </p:txBody>
      </p:sp>
      <p:sp>
        <p:nvSpPr>
          <p:cNvPr id="232459" name="Rectangle 11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484313"/>
            <a:ext cx="5473700" cy="5113337"/>
          </a:xfrm>
        </p:spPr>
        <p:txBody>
          <a:bodyPr>
            <a:normAutofit/>
          </a:bodyPr>
          <a:lstStyle/>
          <a:p>
            <a:pPr marL="342900" indent="-342900" eaLnBrk="1"/>
            <a:r>
              <a:rPr lang="zh-CN" altLang="en-US" sz="2800" dirty="0">
                <a:solidFill>
                  <a:srgbClr val="0066FF"/>
                </a:solidFill>
                <a:ea typeface="宋体" charset="0"/>
              </a:rPr>
              <a:t>传递整个数组到另一个函数内，实际上是将数组的</a:t>
            </a:r>
            <a:r>
              <a:rPr lang="zh-CN" altLang="en-US" sz="2800" dirty="0">
                <a:solidFill>
                  <a:schemeClr val="tx1"/>
                </a:solidFill>
                <a:ea typeface="宋体" charset="0"/>
              </a:rPr>
              <a:t>首地址</a:t>
            </a:r>
            <a:r>
              <a:rPr lang="zh-CN" altLang="en-US" sz="2800" dirty="0">
                <a:solidFill>
                  <a:srgbClr val="0066FF"/>
                </a:solidFill>
                <a:ea typeface="宋体" charset="0"/>
              </a:rPr>
              <a:t>作为参数传过去</a:t>
            </a:r>
          </a:p>
          <a:p>
            <a:pPr marL="742950" lvl="1" eaLnBrk="1"/>
            <a:r>
              <a:rPr lang="zh-CN" altLang="en-US" sz="2400" dirty="0">
                <a:solidFill>
                  <a:schemeClr val="hlink"/>
                </a:solidFill>
                <a:ea typeface="宋体" charset="0"/>
              </a:rPr>
              <a:t>用</a:t>
            </a:r>
            <a:r>
              <a:rPr lang="zh-CN" altLang="en-US" sz="2400" dirty="0">
                <a:solidFill>
                  <a:schemeClr val="accent2"/>
                </a:solidFill>
                <a:ea typeface="宋体" charset="0"/>
              </a:rPr>
              <a:t>数组名</a:t>
            </a:r>
            <a:r>
              <a:rPr lang="zh-CN" altLang="en-US" sz="2400" dirty="0">
                <a:solidFill>
                  <a:schemeClr val="hlink"/>
                </a:solidFill>
                <a:ea typeface="宋体" charset="0"/>
              </a:rPr>
              <a:t>作为</a:t>
            </a:r>
            <a:r>
              <a:rPr lang="zh-CN" altLang="en-US" sz="2400" dirty="0">
                <a:solidFill>
                  <a:schemeClr val="accent2"/>
                </a:solidFill>
                <a:ea typeface="宋体" charset="0"/>
              </a:rPr>
              <a:t>函数参数</a:t>
            </a:r>
          </a:p>
          <a:p>
            <a:pPr marL="742950" lvl="1" eaLnBrk="1"/>
            <a:r>
              <a:rPr lang="zh-CN" altLang="en-US" sz="2400" dirty="0">
                <a:solidFill>
                  <a:schemeClr val="hlink"/>
                </a:solidFill>
                <a:ea typeface="宋体" charset="0"/>
              </a:rPr>
              <a:t>只</a:t>
            </a:r>
            <a:r>
              <a:rPr lang="zh-CN" altLang="en-US" sz="2400" dirty="0">
                <a:solidFill>
                  <a:schemeClr val="accent2"/>
                </a:solidFill>
                <a:ea typeface="宋体" charset="0"/>
              </a:rPr>
              <a:t>拷贝一个地址</a:t>
            </a:r>
            <a:r>
              <a:rPr lang="zh-CN" altLang="en-US" sz="2400" dirty="0">
                <a:solidFill>
                  <a:schemeClr val="hlink"/>
                </a:solidFill>
                <a:ea typeface="宋体" charset="0"/>
              </a:rPr>
              <a:t>自然比拷贝全部数据效率高</a:t>
            </a:r>
          </a:p>
          <a:p>
            <a:pPr marL="742950" lvl="1" eaLnBrk="1"/>
            <a:r>
              <a:rPr lang="zh-CN" altLang="en-US" sz="2400" dirty="0">
                <a:solidFill>
                  <a:schemeClr val="hlink"/>
                </a:solidFill>
                <a:ea typeface="宋体" charset="0"/>
              </a:rPr>
              <a:t>由于首地址相同，故</a:t>
            </a:r>
            <a:r>
              <a:rPr lang="zh-CN" altLang="en-US" sz="2400" dirty="0">
                <a:solidFill>
                  <a:schemeClr val="accent2"/>
                </a:solidFill>
                <a:ea typeface="宋体" charset="0"/>
              </a:rPr>
              <a:t>实参数组与形参数组占用同一段内存</a:t>
            </a:r>
          </a:p>
          <a:p>
            <a:pPr marL="742950" lvl="1" eaLnBrk="1"/>
            <a:r>
              <a:rPr lang="zh-CN" altLang="en-US" sz="2400" dirty="0">
                <a:solidFill>
                  <a:schemeClr val="hlink"/>
                </a:solidFill>
                <a:ea typeface="宋体" charset="0"/>
              </a:rPr>
              <a:t>在该函数内，不仅可以读这个数组的元素，还可以修改它们</a:t>
            </a:r>
            <a:endParaRPr lang="en-US" altLang="zh-CN" sz="2400" dirty="0">
              <a:solidFill>
                <a:schemeClr val="hlink"/>
              </a:solidFill>
              <a:ea typeface="宋体" charset="0"/>
            </a:endParaRPr>
          </a:p>
        </p:txBody>
      </p:sp>
      <p:grpSp>
        <p:nvGrpSpPr>
          <p:cNvPr id="47109" name="Group 47"/>
          <p:cNvGrpSpPr>
            <a:grpSpLocks/>
          </p:cNvGrpSpPr>
          <p:nvPr/>
        </p:nvGrpSpPr>
        <p:grpSpPr bwMode="auto">
          <a:xfrm>
            <a:off x="6732240" y="2492896"/>
            <a:ext cx="495300" cy="887412"/>
            <a:chOff x="4368" y="0"/>
            <a:chExt cx="1392" cy="1567"/>
          </a:xfrm>
        </p:grpSpPr>
        <p:grpSp>
          <p:nvGrpSpPr>
            <p:cNvPr id="47289" name="Group 48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232497" name="Freeform 49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498" name="Freeform 50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499" name="Rectangle 51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232500" name="Freeform 52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01" name="Freeform 53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02" name="Freeform 54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03" name="Freeform 55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04" name="Rectangle 56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232505" name="Freeform 57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06" name="Freeform 58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07" name="Freeform 59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08" name="Freeform 60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09" name="Freeform 61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10" name="Freeform 62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11" name="Freeform 63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12" name="Freeform 64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13" name="Freeform 65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14" name="Freeform 66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15" name="Freeform 67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16" name="Freeform 68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17" name="Freeform 69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18" name="Freeform 70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19" name="Freeform 71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20" name="Freeform 72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21" name="Freeform 73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22" name="Freeform 74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23" name="Freeform 75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24" name="Freeform 76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25" name="Freeform 77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26" name="Freeform 78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27" name="Freeform 79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28" name="Freeform 80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290" name="Text Box 81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47110" name="Group 82"/>
          <p:cNvGrpSpPr>
            <a:grpSpLocks/>
          </p:cNvGrpSpPr>
          <p:nvPr/>
        </p:nvGrpSpPr>
        <p:grpSpPr bwMode="auto">
          <a:xfrm>
            <a:off x="6948140" y="2708796"/>
            <a:ext cx="495300" cy="887412"/>
            <a:chOff x="4368" y="0"/>
            <a:chExt cx="1392" cy="1567"/>
          </a:xfrm>
        </p:grpSpPr>
        <p:grpSp>
          <p:nvGrpSpPr>
            <p:cNvPr id="47255" name="Group 83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232532" name="Freeform 84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33" name="Freeform 85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34" name="Rectangle 86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232535" name="Freeform 87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36" name="Freeform 88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37" name="Freeform 89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38" name="Freeform 90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39" name="Rectangle 91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232540" name="Freeform 92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41" name="Freeform 93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42" name="Freeform 94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43" name="Freeform 95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44" name="Freeform 96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45" name="Freeform 97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46" name="Freeform 98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47" name="Freeform 99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48" name="Freeform 100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49" name="Freeform 101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50" name="Freeform 102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51" name="Freeform 103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52" name="Freeform 104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53" name="Freeform 105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54" name="Freeform 106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55" name="Freeform 107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56" name="Freeform 108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57" name="Freeform 109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58" name="Freeform 110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59" name="Freeform 111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60" name="Freeform 112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61" name="Freeform 113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62" name="Freeform 114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63" name="Freeform 115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256" name="Text Box 116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47111" name="Group 117"/>
          <p:cNvGrpSpPr>
            <a:grpSpLocks/>
          </p:cNvGrpSpPr>
          <p:nvPr/>
        </p:nvGrpSpPr>
        <p:grpSpPr bwMode="auto">
          <a:xfrm>
            <a:off x="7164040" y="2924696"/>
            <a:ext cx="495300" cy="887412"/>
            <a:chOff x="4368" y="0"/>
            <a:chExt cx="1392" cy="1567"/>
          </a:xfrm>
        </p:grpSpPr>
        <p:grpSp>
          <p:nvGrpSpPr>
            <p:cNvPr id="47221" name="Group 118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232567" name="Freeform 119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68" name="Freeform 120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69" name="Rectangle 121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232570" name="Freeform 122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71" name="Freeform 123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72" name="Freeform 124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73" name="Freeform 125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74" name="Rectangle 126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232575" name="Freeform 127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76" name="Freeform 128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77" name="Freeform 129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78" name="Freeform 130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79" name="Freeform 131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80" name="Freeform 132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81" name="Freeform 133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82" name="Freeform 134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83" name="Freeform 135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84" name="Freeform 136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85" name="Freeform 137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86" name="Freeform 138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87" name="Freeform 139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88" name="Freeform 140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89" name="Freeform 141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90" name="Freeform 142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91" name="Freeform 143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92" name="Freeform 144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93" name="Freeform 145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94" name="Freeform 146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95" name="Freeform 147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96" name="Freeform 148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97" name="Freeform 149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598" name="Freeform 150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222" name="Text Box 151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47112" name="Group 152"/>
          <p:cNvGrpSpPr>
            <a:grpSpLocks/>
          </p:cNvGrpSpPr>
          <p:nvPr/>
        </p:nvGrpSpPr>
        <p:grpSpPr bwMode="auto">
          <a:xfrm>
            <a:off x="7379940" y="3140596"/>
            <a:ext cx="495300" cy="887412"/>
            <a:chOff x="4368" y="0"/>
            <a:chExt cx="1392" cy="1567"/>
          </a:xfrm>
        </p:grpSpPr>
        <p:grpSp>
          <p:nvGrpSpPr>
            <p:cNvPr id="47187" name="Group 153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232602" name="Freeform 154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03" name="Freeform 155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04" name="Rectangle 156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232605" name="Freeform 157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06" name="Freeform 158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07" name="Freeform 159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08" name="Freeform 160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09" name="Rectangle 161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232610" name="Freeform 162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11" name="Freeform 163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12" name="Freeform 164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13" name="Freeform 165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14" name="Freeform 166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15" name="Freeform 167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16" name="Freeform 168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17" name="Freeform 169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18" name="Freeform 170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19" name="Freeform 171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20" name="Freeform 172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21" name="Freeform 173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22" name="Freeform 174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23" name="Freeform 175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24" name="Freeform 176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25" name="Freeform 177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26" name="Freeform 178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27" name="Freeform 179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28" name="Freeform 180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29" name="Freeform 181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30" name="Freeform 182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31" name="Freeform 183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32" name="Freeform 184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33" name="Freeform 185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88" name="Text Box 186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47113" name="Group 187"/>
          <p:cNvGrpSpPr>
            <a:grpSpLocks/>
          </p:cNvGrpSpPr>
          <p:nvPr/>
        </p:nvGrpSpPr>
        <p:grpSpPr bwMode="auto">
          <a:xfrm>
            <a:off x="7595840" y="3356496"/>
            <a:ext cx="495300" cy="887412"/>
            <a:chOff x="4368" y="0"/>
            <a:chExt cx="1392" cy="1567"/>
          </a:xfrm>
        </p:grpSpPr>
        <p:grpSp>
          <p:nvGrpSpPr>
            <p:cNvPr id="47153" name="Group 188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232637" name="Freeform 189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38" name="Freeform 190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39" name="Rectangle 191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232640" name="Freeform 192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41" name="Freeform 193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42" name="Freeform 194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43" name="Freeform 195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44" name="Rectangle 196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232645" name="Freeform 197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46" name="Freeform 198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47" name="Freeform 199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48" name="Freeform 200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49" name="Freeform 201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50" name="Freeform 202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51" name="Freeform 203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52" name="Freeform 204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53" name="Freeform 205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54" name="Freeform 206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55" name="Freeform 207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56" name="Freeform 208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57" name="Freeform 209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58" name="Freeform 210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59" name="Freeform 211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60" name="Freeform 212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61" name="Freeform 213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62" name="Freeform 214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63" name="Freeform 215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64" name="Freeform 216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65" name="Freeform 217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66" name="Freeform 218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67" name="Freeform 219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68" name="Freeform 220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54" name="Text Box 221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47114" name="Group 222"/>
          <p:cNvGrpSpPr>
            <a:grpSpLocks/>
          </p:cNvGrpSpPr>
          <p:nvPr/>
        </p:nvGrpSpPr>
        <p:grpSpPr bwMode="auto">
          <a:xfrm>
            <a:off x="7811740" y="3572396"/>
            <a:ext cx="495300" cy="887412"/>
            <a:chOff x="4368" y="0"/>
            <a:chExt cx="1392" cy="1567"/>
          </a:xfrm>
        </p:grpSpPr>
        <p:grpSp>
          <p:nvGrpSpPr>
            <p:cNvPr id="47119" name="Group 223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232672" name="Freeform 224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73" name="Freeform 225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74" name="Rectangle 226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232675" name="Freeform 227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76" name="Freeform 228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77" name="Freeform 229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78" name="Freeform 230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79" name="Rectangle 231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232680" name="Freeform 232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81" name="Freeform 233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82" name="Freeform 234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83" name="Freeform 235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84" name="Freeform 236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85" name="Freeform 237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86" name="Freeform 238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87" name="Freeform 239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88" name="Freeform 240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89" name="Freeform 241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90" name="Freeform 242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91" name="Freeform 243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92" name="Freeform 244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93" name="Freeform 245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94" name="Freeform 246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95" name="Freeform 247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96" name="Freeform 248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97" name="Freeform 249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98" name="Freeform 250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699" name="Freeform 251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700" name="Freeform 252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701" name="Freeform 253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702" name="Freeform 254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703" name="Freeform 255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120" name="Text Box 256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349200" y="6438960"/>
              <a:ext cx="64080" cy="8280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/>
            <p:spPr/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2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9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ChangeArrowheads="1"/>
          </p:cNvSpPr>
          <p:nvPr/>
        </p:nvSpPr>
        <p:spPr bwMode="auto">
          <a:xfrm>
            <a:off x="395288" y="1557338"/>
            <a:ext cx="3313112" cy="1657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79907" name="Rectangle 3"/>
          <p:cNvSpPr>
            <a:spLocks noChangeArrowheads="1"/>
          </p:cNvSpPr>
          <p:nvPr/>
        </p:nvSpPr>
        <p:spPr bwMode="auto">
          <a:xfrm>
            <a:off x="912813" y="1997075"/>
            <a:ext cx="2617787" cy="10160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79910" name="Rectangle 6"/>
          <p:cNvSpPr>
            <a:spLocks noGrp="1" noChangeArrowheads="1"/>
          </p:cNvSpPr>
          <p:nvPr>
            <p:ph type="title"/>
          </p:nvPr>
        </p:nvSpPr>
        <p:spPr>
          <a:xfrm>
            <a:off x="4427538" y="333375"/>
            <a:ext cx="4465637" cy="839788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用函数实现打印最高分</a:t>
            </a:r>
          </a:p>
        </p:txBody>
      </p:sp>
      <p:sp>
        <p:nvSpPr>
          <p:cNvPr id="379908" name="Rectangle 4"/>
          <p:cNvSpPr>
            <a:spLocks noGrp="1" noChangeArrowheads="1"/>
          </p:cNvSpPr>
          <p:nvPr>
            <p:ph idx="1"/>
          </p:nvPr>
        </p:nvSpPr>
        <p:spPr>
          <a:xfrm>
            <a:off x="3779838" y="1628775"/>
            <a:ext cx="5184775" cy="4824413"/>
          </a:xfrm>
          <a:solidFill>
            <a:srgbClr val="CCFFFF"/>
          </a:solidFill>
        </p:spPr>
        <p:txBody>
          <a:bodyPr>
            <a:normAutofit fontScale="77500" lnSpcReduction="20000"/>
          </a:bodyPr>
          <a:lstStyle/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600" dirty="0">
                <a:solidFill>
                  <a:schemeClr val="accent2"/>
                </a:solidFill>
                <a:effectLst/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&lt;stdio.h&gt;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1600" dirty="0">
                <a:solidFill>
                  <a:schemeClr val="accent2"/>
                </a:solidFill>
                <a:effectLst/>
                <a:latin typeface="Courier New" pitchFamily="49" charset="0"/>
                <a:ea typeface="宋体" pitchFamily="2" charset="-122"/>
              </a:rPr>
              <a:t>define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ARR_SIZE  40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float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FindMax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float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arr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[],int n);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endParaRPr lang="fr-FR" altLang="zh-CN" sz="16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accent2"/>
                </a:solidFill>
                <a:effectLst/>
                <a:latin typeface="Courier New" pitchFamily="49" charset="0"/>
                <a:ea typeface="宋体" pitchFamily="2" charset="-122"/>
              </a:rPr>
              <a:t>main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()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{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>
                <a:solidFill>
                  <a:schemeClr val="accent2"/>
                </a:solidFill>
                <a:effectLst/>
                <a:latin typeface="Courier New" pitchFamily="49" charset="0"/>
                <a:ea typeface="宋体" pitchFamily="2" charset="-122"/>
              </a:rPr>
              <a:t>float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score[ARR_SIZE], maxScore;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>
                <a:solidFill>
                  <a:schemeClr val="accent2"/>
                </a:solidFill>
                <a:effectLst/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  n, i;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printf("Please enter total number:");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scanf("%d", &amp;n);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printf("Please enter the score:\n");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>
                <a:solidFill>
                  <a:schemeClr val="accent2"/>
                </a:solidFill>
                <a:effectLst/>
                <a:latin typeface="Courier New" pitchFamily="49" charset="0"/>
                <a:ea typeface="宋体" pitchFamily="2" charset="-122"/>
              </a:rPr>
              <a:t>for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(i=0; i&lt;n; i++)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{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 		scanf("%f", &amp;score[i]);     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}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maxScore = FindMax(</a:t>
            </a:r>
            <a:r>
              <a:rPr lang="fr-FR" altLang="zh-CN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score,  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);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printf("maxScore = %.0f\n", maxScore);  </a:t>
            </a:r>
          </a:p>
          <a:p>
            <a:pPr eaLnBrk="1">
              <a:lnSpc>
                <a:spcPct val="75000"/>
              </a:lnSpc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79909" name="Rectangle 5"/>
          <p:cNvSpPr>
            <a:spLocks noChangeArrowheads="1"/>
          </p:cNvSpPr>
          <p:nvPr/>
        </p:nvSpPr>
        <p:spPr bwMode="auto">
          <a:xfrm>
            <a:off x="107950" y="188913"/>
            <a:ext cx="4608513" cy="352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7" rIns="92075" bIns="46037"/>
          <a:lstStyle/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float 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FindMax(float arr[], int </a:t>
            </a:r>
            <a:r>
              <a:rPr lang="fr-FR" altLang="zh-CN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)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{  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float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max;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 i;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	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max = arr[0];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for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(i=1; i&lt;</a:t>
            </a:r>
            <a:r>
              <a:rPr lang="fr-FR" altLang="zh-CN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; i++)                        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{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 	</a:t>
            </a:r>
            <a:r>
              <a:rPr lang="fr-FR" altLang="zh-CN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if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(arr[i] &gt; max)                      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 	{  	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		    max = arr[i];                     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  	}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	}	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en-US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r</a:t>
            </a:r>
            <a:r>
              <a:rPr lang="fr-FR" altLang="zh-CN" sz="16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eturn</a:t>
            </a: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max;</a:t>
            </a:r>
          </a:p>
          <a:p>
            <a:pPr marL="374650" indent="-374650" eaLnBrk="1">
              <a:lnSpc>
                <a:spcPct val="7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  <a:defRPr/>
            </a:pPr>
            <a:r>
              <a:rPr lang="fr-FR" altLang="zh-CN" sz="1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16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79954" name="Text Box 50"/>
          <p:cNvSpPr txBox="1">
            <a:spLocks noChangeArrowheads="1"/>
          </p:cNvSpPr>
          <p:nvPr/>
        </p:nvSpPr>
        <p:spPr bwMode="auto">
          <a:xfrm>
            <a:off x="395288" y="3933825"/>
            <a:ext cx="3240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9997" name="Text Box 93"/>
          <p:cNvSpPr txBox="1">
            <a:spLocks noChangeArrowheads="1"/>
          </p:cNvSpPr>
          <p:nvPr/>
        </p:nvSpPr>
        <p:spPr bwMode="auto">
          <a:xfrm>
            <a:off x="468313" y="3789363"/>
            <a:ext cx="2879725" cy="1800225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r>
              <a:rPr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向函数传递一维数组时，最好同时再用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一个参数传递数组的</a:t>
            </a:r>
            <a:r>
              <a:rPr lang="zh-CN" altLang="en-US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0"/>
              </a:rPr>
              <a:t>长度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611188" y="3789363"/>
            <a:ext cx="2592387" cy="165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00193" y="5579948"/>
            <a:ext cx="28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</a:t>
            </a:r>
            <a:endParaRPr lang="zh-CN" alt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pic>
        <p:nvPicPr>
          <p:cNvPr id="380000" name="Picture 9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119063"/>
            <a:ext cx="444500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1" name="Picture 9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50" y="1522413"/>
            <a:ext cx="444500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80CF7-68AA-B449-A2D9-A0361751F903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99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00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97" grpId="0" animBg="1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283575" cy="839788"/>
          </a:xfrm>
        </p:spPr>
        <p:txBody>
          <a:bodyPr/>
          <a:lstStyle/>
          <a:p>
            <a:r>
              <a:rPr lang="zh-CN" altLang="en-US" sz="4000">
                <a:latin typeface="宋体" charset="0"/>
              </a:rPr>
              <a:t> 简单变量和数组作函数参数</a:t>
            </a:r>
            <a:r>
              <a:rPr lang="zh-CN" altLang="en-US" sz="4000"/>
              <a:t>的区别</a:t>
            </a:r>
          </a:p>
        </p:txBody>
      </p:sp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1885950" y="2143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4511EB-0728-4DCD-B683-6EBC02D39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73163"/>
            <a:ext cx="7772400" cy="538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39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ext Box 2">
            <a:extLst>
              <a:ext uri="{FF2B5EF4-FFF2-40B4-BE49-F238E27FC236}">
                <a16:creationId xmlns:a16="http://schemas.microsoft.com/office/drawing/2014/main" id="{F0C9024A-FE03-A98A-EB22-276FB5617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3" y="271463"/>
            <a:ext cx="5813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例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  数组元素与数组名作函数参数比较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EF6F3D30-CEF1-CC89-3BC0-416875094072}"/>
              </a:ext>
            </a:extLst>
          </p:cNvPr>
          <p:cNvGrpSpPr>
            <a:grpSpLocks/>
          </p:cNvGrpSpPr>
          <p:nvPr/>
        </p:nvGrpSpPr>
        <p:grpSpPr bwMode="auto">
          <a:xfrm>
            <a:off x="377825" y="4248150"/>
            <a:ext cx="1731963" cy="1600200"/>
            <a:chOff x="215" y="2212"/>
            <a:chExt cx="1091" cy="1008"/>
          </a:xfrm>
        </p:grpSpPr>
        <p:grpSp>
          <p:nvGrpSpPr>
            <p:cNvPr id="95274" name="Group 4">
              <a:extLst>
                <a:ext uri="{FF2B5EF4-FFF2-40B4-BE49-F238E27FC236}">
                  <a16:creationId xmlns:a16="http://schemas.microsoft.com/office/drawing/2014/main" id="{34327C84-AA7D-DF62-54B7-9449CD9A0D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" y="2212"/>
              <a:ext cx="1091" cy="1008"/>
              <a:chOff x="776" y="1194"/>
              <a:chExt cx="1091" cy="1008"/>
            </a:xfrm>
          </p:grpSpPr>
          <p:grpSp>
            <p:nvGrpSpPr>
              <p:cNvPr id="95277" name="Group 5">
                <a:extLst>
                  <a:ext uri="{FF2B5EF4-FFF2-40B4-BE49-F238E27FC236}">
                    <a16:creationId xmlns:a16="http://schemas.microsoft.com/office/drawing/2014/main" id="{A0DCF928-F958-39F5-5974-CD489C29ED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6" y="1194"/>
                <a:ext cx="1091" cy="761"/>
                <a:chOff x="776" y="1194"/>
                <a:chExt cx="1091" cy="761"/>
              </a:xfrm>
            </p:grpSpPr>
            <p:sp>
              <p:nvSpPr>
                <p:cNvPr id="95279" name="Rectangle 6">
                  <a:extLst>
                    <a:ext uri="{FF2B5EF4-FFF2-40B4-BE49-F238E27FC236}">
                      <a16:creationId xmlns:a16="http://schemas.microsoft.com/office/drawing/2014/main" id="{317060F0-F320-6D13-9E52-859531D862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9" y="1333"/>
                  <a:ext cx="678" cy="62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20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95280" name="Line 7">
                  <a:extLst>
                    <a:ext uri="{FF2B5EF4-FFF2-40B4-BE49-F238E27FC236}">
                      <a16:creationId xmlns:a16="http://schemas.microsoft.com/office/drawing/2014/main" id="{E839B486-9BA0-3ECD-8134-017125EF32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9" y="1644"/>
                  <a:ext cx="6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5281" name="Text Box 8">
                  <a:extLst>
                    <a:ext uri="{FF2B5EF4-FFF2-40B4-BE49-F238E27FC236}">
                      <a16:creationId xmlns:a16="http://schemas.microsoft.com/office/drawing/2014/main" id="{C55F7A1E-5EFD-DCAD-96FE-9F9C4FBC67C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20" y="1383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0000FF"/>
                      </a:solidFill>
                    </a:rPr>
                    <a:t>1</a:t>
                  </a:r>
                </a:p>
              </p:txBody>
            </p:sp>
            <p:sp>
              <p:nvSpPr>
                <p:cNvPr id="95282" name="Text Box 9">
                  <a:extLst>
                    <a:ext uri="{FF2B5EF4-FFF2-40B4-BE49-F238E27FC236}">
                      <a16:creationId xmlns:a16="http://schemas.microsoft.com/office/drawing/2014/main" id="{9DECCF01-2913-8F84-57B7-6E41A35C64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08" y="1672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0000FF"/>
                      </a:solidFill>
                    </a:rPr>
                    <a:t>2</a:t>
                  </a:r>
                </a:p>
              </p:txBody>
            </p:sp>
            <p:sp>
              <p:nvSpPr>
                <p:cNvPr id="95283" name="Text Box 10">
                  <a:extLst>
                    <a:ext uri="{FF2B5EF4-FFF2-40B4-BE49-F238E27FC236}">
                      <a16:creationId xmlns:a16="http://schemas.microsoft.com/office/drawing/2014/main" id="{AEE0386C-A595-6AE5-25C1-37BF70DDA0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6" y="1194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0000FF"/>
                      </a:solidFill>
                    </a:rPr>
                    <a:t>a</a:t>
                  </a:r>
                </a:p>
              </p:txBody>
            </p:sp>
            <p:sp>
              <p:nvSpPr>
                <p:cNvPr id="95284" name="Line 11">
                  <a:extLst>
                    <a:ext uri="{FF2B5EF4-FFF2-40B4-BE49-F238E27FC236}">
                      <a16:creationId xmlns:a16="http://schemas.microsoft.com/office/drawing/2014/main" id="{CC035635-4FB8-A9C9-A342-BD14AB4F01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33" y="1333"/>
                  <a:ext cx="2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5278" name="Text Box 12">
                <a:extLst>
                  <a:ext uri="{FF2B5EF4-FFF2-40B4-BE49-F238E27FC236}">
                    <a16:creationId xmlns:a16="http://schemas.microsoft.com/office/drawing/2014/main" id="{F1F7F968-A9A0-39E8-3505-0B89F801CF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1" y="1950"/>
                <a:ext cx="60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rgbClr val="0000FF"/>
                    </a:solidFill>
                  </a:rPr>
                  <a:t>调用前</a:t>
                </a:r>
              </a:p>
            </p:txBody>
          </p:sp>
        </p:grpSp>
        <p:sp>
          <p:nvSpPr>
            <p:cNvPr id="95275" name="Text Box 13">
              <a:extLst>
                <a:ext uri="{FF2B5EF4-FFF2-40B4-BE49-F238E27FC236}">
                  <a16:creationId xmlns:a16="http://schemas.microsoft.com/office/drawing/2014/main" id="{A86E5588-FEE1-2E29-E0A0-9AC3E0B46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2397"/>
              <a:ext cx="3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FF"/>
                  </a:solidFill>
                </a:rPr>
                <a:t>a[0]</a:t>
              </a:r>
            </a:p>
          </p:txBody>
        </p:sp>
        <p:sp>
          <p:nvSpPr>
            <p:cNvPr id="95276" name="Text Box 14">
              <a:extLst>
                <a:ext uri="{FF2B5EF4-FFF2-40B4-BE49-F238E27FC236}">
                  <a16:creationId xmlns:a16="http://schemas.microsoft.com/office/drawing/2014/main" id="{548AF8DE-226A-C4C7-85E2-BA0C77539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" y="2704"/>
              <a:ext cx="3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FF"/>
                  </a:solidFill>
                </a:rPr>
                <a:t>a[1]</a:t>
              </a:r>
            </a:p>
          </p:txBody>
        </p:sp>
      </p:grpSp>
      <p:grpSp>
        <p:nvGrpSpPr>
          <p:cNvPr id="5" name="Group 15">
            <a:extLst>
              <a:ext uri="{FF2B5EF4-FFF2-40B4-BE49-F238E27FC236}">
                <a16:creationId xmlns:a16="http://schemas.microsoft.com/office/drawing/2014/main" id="{FB3D3E14-6A58-5865-043B-55AD2EA6B29B}"/>
              </a:ext>
            </a:extLst>
          </p:cNvPr>
          <p:cNvGrpSpPr>
            <a:grpSpLocks/>
          </p:cNvGrpSpPr>
          <p:nvPr/>
        </p:nvGrpSpPr>
        <p:grpSpPr bwMode="auto">
          <a:xfrm>
            <a:off x="2435225" y="4206875"/>
            <a:ext cx="2909888" cy="1670050"/>
            <a:chOff x="1511" y="2186"/>
            <a:chExt cx="1833" cy="1052"/>
          </a:xfrm>
        </p:grpSpPr>
        <p:grpSp>
          <p:nvGrpSpPr>
            <p:cNvPr id="95256" name="Group 16">
              <a:extLst>
                <a:ext uri="{FF2B5EF4-FFF2-40B4-BE49-F238E27FC236}">
                  <a16:creationId xmlns:a16="http://schemas.microsoft.com/office/drawing/2014/main" id="{6DA93CC4-A265-6B83-9B5F-9B13187C17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1" y="2230"/>
              <a:ext cx="1091" cy="1008"/>
              <a:chOff x="215" y="2212"/>
              <a:chExt cx="1091" cy="1008"/>
            </a:xfrm>
          </p:grpSpPr>
          <p:grpSp>
            <p:nvGrpSpPr>
              <p:cNvPr id="95263" name="Group 17">
                <a:extLst>
                  <a:ext uri="{FF2B5EF4-FFF2-40B4-BE49-F238E27FC236}">
                    <a16:creationId xmlns:a16="http://schemas.microsoft.com/office/drawing/2014/main" id="{BBDD6D40-EE0F-442D-CA35-48392BCA83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" y="2212"/>
                <a:ext cx="1091" cy="1008"/>
                <a:chOff x="776" y="1194"/>
                <a:chExt cx="1091" cy="1008"/>
              </a:xfrm>
            </p:grpSpPr>
            <p:grpSp>
              <p:nvGrpSpPr>
                <p:cNvPr id="95266" name="Group 18">
                  <a:extLst>
                    <a:ext uri="{FF2B5EF4-FFF2-40B4-BE49-F238E27FC236}">
                      <a16:creationId xmlns:a16="http://schemas.microsoft.com/office/drawing/2014/main" id="{20B9BDAE-0117-7CC2-3C7F-DFDDBCC978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76" y="1194"/>
                  <a:ext cx="1091" cy="761"/>
                  <a:chOff x="776" y="1194"/>
                  <a:chExt cx="1091" cy="761"/>
                </a:xfrm>
              </p:grpSpPr>
              <p:sp>
                <p:nvSpPr>
                  <p:cNvPr id="95268" name="Rectangle 19">
                    <a:extLst>
                      <a:ext uri="{FF2B5EF4-FFF2-40B4-BE49-F238E27FC236}">
                        <a16:creationId xmlns:a16="http://schemas.microsoft.com/office/drawing/2014/main" id="{12AFFDE7-1358-F07A-D518-09B40CE245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89" y="1333"/>
                    <a:ext cx="678" cy="622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 sz="2000">
                      <a:solidFill>
                        <a:srgbClr val="0000FF"/>
                      </a:solidFill>
                    </a:endParaRPr>
                  </a:p>
                </p:txBody>
              </p:sp>
              <p:sp>
                <p:nvSpPr>
                  <p:cNvPr id="95269" name="Line 20">
                    <a:extLst>
                      <a:ext uri="{FF2B5EF4-FFF2-40B4-BE49-F238E27FC236}">
                        <a16:creationId xmlns:a16="http://schemas.microsoft.com/office/drawing/2014/main" id="{B73CF30B-781A-16A6-8BCB-8BD9BF98F7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89" y="1644"/>
                    <a:ext cx="67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5270" name="Text Box 21">
                    <a:extLst>
                      <a:ext uri="{FF2B5EF4-FFF2-40B4-BE49-F238E27FC236}">
                        <a16:creationId xmlns:a16="http://schemas.microsoft.com/office/drawing/2014/main" id="{289B7FFF-9C1A-E31B-A21D-CEA901970E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20" y="1383"/>
                    <a:ext cx="19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000">
                        <a:solidFill>
                          <a:srgbClr val="0000FF"/>
                        </a:solidFill>
                      </a:rPr>
                      <a:t>1</a:t>
                    </a:r>
                  </a:p>
                </p:txBody>
              </p:sp>
              <p:sp>
                <p:nvSpPr>
                  <p:cNvPr id="95271" name="Text Box 22">
                    <a:extLst>
                      <a:ext uri="{FF2B5EF4-FFF2-40B4-BE49-F238E27FC236}">
                        <a16:creationId xmlns:a16="http://schemas.microsoft.com/office/drawing/2014/main" id="{FEB55F70-639F-0386-425A-A467B24C237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08" y="1672"/>
                    <a:ext cx="19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000">
                        <a:solidFill>
                          <a:srgbClr val="0000FF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95272" name="Text Box 23">
                    <a:extLst>
                      <a:ext uri="{FF2B5EF4-FFF2-40B4-BE49-F238E27FC236}">
                        <a16:creationId xmlns:a16="http://schemas.microsoft.com/office/drawing/2014/main" id="{5CF75E9A-42E8-3CDD-C5C2-C22520C57C2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76" y="1194"/>
                    <a:ext cx="197" cy="25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2000">
                        <a:solidFill>
                          <a:srgbClr val="0000FF"/>
                        </a:solidFill>
                      </a:rPr>
                      <a:t>a</a:t>
                    </a:r>
                  </a:p>
                </p:txBody>
              </p:sp>
              <p:sp>
                <p:nvSpPr>
                  <p:cNvPr id="95273" name="Line 24">
                    <a:extLst>
                      <a:ext uri="{FF2B5EF4-FFF2-40B4-BE49-F238E27FC236}">
                        <a16:creationId xmlns:a16="http://schemas.microsoft.com/office/drawing/2014/main" id="{2A2A13B4-7F35-73D0-B414-A30EB8062CD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33" y="1333"/>
                    <a:ext cx="24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5267" name="Text Box 25">
                  <a:extLst>
                    <a:ext uri="{FF2B5EF4-FFF2-40B4-BE49-F238E27FC236}">
                      <a16:creationId xmlns:a16="http://schemas.microsoft.com/office/drawing/2014/main" id="{F233CA47-2DC2-66E1-C7BF-4008C256D2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31" y="1950"/>
                  <a:ext cx="441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000">
                      <a:solidFill>
                        <a:srgbClr val="0000FF"/>
                      </a:solidFill>
                    </a:rPr>
                    <a:t>调用</a:t>
                  </a:r>
                </a:p>
              </p:txBody>
            </p:sp>
          </p:grpSp>
          <p:sp>
            <p:nvSpPr>
              <p:cNvPr id="95264" name="Text Box 26">
                <a:extLst>
                  <a:ext uri="{FF2B5EF4-FFF2-40B4-BE49-F238E27FC236}">
                    <a16:creationId xmlns:a16="http://schemas.microsoft.com/office/drawing/2014/main" id="{CAAEAC20-E8D9-B898-2956-F9089CEAB8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" y="2397"/>
                <a:ext cx="38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a[0]</a:t>
                </a:r>
              </a:p>
            </p:txBody>
          </p:sp>
          <p:sp>
            <p:nvSpPr>
              <p:cNvPr id="95265" name="Text Box 27">
                <a:extLst>
                  <a:ext uri="{FF2B5EF4-FFF2-40B4-BE49-F238E27FC236}">
                    <a16:creationId xmlns:a16="http://schemas.microsoft.com/office/drawing/2014/main" id="{637745C3-605C-E08A-745B-20C49EC718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" y="2704"/>
                <a:ext cx="38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a[1]</a:t>
                </a:r>
              </a:p>
            </p:txBody>
          </p:sp>
        </p:grpSp>
        <p:sp>
          <p:nvSpPr>
            <p:cNvPr id="95257" name="Line 28">
              <a:extLst>
                <a:ext uri="{FF2B5EF4-FFF2-40B4-BE49-F238E27FC236}">
                  <a16:creationId xmlns:a16="http://schemas.microsoft.com/office/drawing/2014/main" id="{869B5354-8E25-1607-5A27-020B78C0E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0" y="2500"/>
              <a:ext cx="2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58" name="Line 29">
              <a:extLst>
                <a:ext uri="{FF2B5EF4-FFF2-40B4-BE49-F238E27FC236}">
                  <a16:creationId xmlns:a16="http://schemas.microsoft.com/office/drawing/2014/main" id="{A2F51D87-BDCB-6190-D39F-5043D4254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896"/>
              <a:ext cx="2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59" name="Rectangle 30">
              <a:extLst>
                <a:ext uri="{FF2B5EF4-FFF2-40B4-BE49-F238E27FC236}">
                  <a16:creationId xmlns:a16="http://schemas.microsoft.com/office/drawing/2014/main" id="{3AE123BE-6748-65E2-5E0C-C5409B11D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" y="2378"/>
              <a:ext cx="578" cy="2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95260" name="Rectangle 31">
              <a:extLst>
                <a:ext uri="{FF2B5EF4-FFF2-40B4-BE49-F238E27FC236}">
                  <a16:creationId xmlns:a16="http://schemas.microsoft.com/office/drawing/2014/main" id="{2FB983FB-B0E0-02E2-B83A-507BB5994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2" y="2796"/>
              <a:ext cx="567" cy="25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95261" name="Text Box 32">
              <a:extLst>
                <a:ext uri="{FF2B5EF4-FFF2-40B4-BE49-F238E27FC236}">
                  <a16:creationId xmlns:a16="http://schemas.microsoft.com/office/drawing/2014/main" id="{820DADF4-EA01-D2D0-4EFD-F6A2D9719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218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FF"/>
                  </a:solidFill>
                </a:rPr>
                <a:t>x</a:t>
              </a:r>
            </a:p>
          </p:txBody>
        </p:sp>
        <p:sp>
          <p:nvSpPr>
            <p:cNvPr id="95262" name="Text Box 33">
              <a:extLst>
                <a:ext uri="{FF2B5EF4-FFF2-40B4-BE49-F238E27FC236}">
                  <a16:creationId xmlns:a16="http://schemas.microsoft.com/office/drawing/2014/main" id="{3CFE800A-E9D7-BBB6-F6E6-4A1A94B33B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7" y="298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FF"/>
                  </a:solidFill>
                </a:rPr>
                <a:t>y</a:t>
              </a:r>
            </a:p>
          </p:txBody>
        </p:sp>
      </p:grpSp>
      <p:grpSp>
        <p:nvGrpSpPr>
          <p:cNvPr id="9" name="Group 34">
            <a:extLst>
              <a:ext uri="{FF2B5EF4-FFF2-40B4-BE49-F238E27FC236}">
                <a16:creationId xmlns:a16="http://schemas.microsoft.com/office/drawing/2014/main" id="{CA558692-5DA1-16C8-C7FA-B94CF48CA99B}"/>
              </a:ext>
            </a:extLst>
          </p:cNvPr>
          <p:cNvGrpSpPr>
            <a:grpSpLocks/>
          </p:cNvGrpSpPr>
          <p:nvPr/>
        </p:nvGrpSpPr>
        <p:grpSpPr bwMode="auto">
          <a:xfrm>
            <a:off x="5700713" y="4149725"/>
            <a:ext cx="923925" cy="1941513"/>
            <a:chOff x="3835" y="2227"/>
            <a:chExt cx="582" cy="1223"/>
          </a:xfrm>
        </p:grpSpPr>
        <p:sp>
          <p:nvSpPr>
            <p:cNvPr id="95250" name="Rectangle 35">
              <a:extLst>
                <a:ext uri="{FF2B5EF4-FFF2-40B4-BE49-F238E27FC236}">
                  <a16:creationId xmlns:a16="http://schemas.microsoft.com/office/drawing/2014/main" id="{87E45B66-5904-3C17-F852-1E2AF9032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9" y="2419"/>
              <a:ext cx="578" cy="26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95251" name="Rectangle 36">
              <a:extLst>
                <a:ext uri="{FF2B5EF4-FFF2-40B4-BE49-F238E27FC236}">
                  <a16:creationId xmlns:a16="http://schemas.microsoft.com/office/drawing/2014/main" id="{ECC92EF8-B488-7435-7849-3D2C59C8F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5" y="2837"/>
              <a:ext cx="567" cy="25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95252" name="Text Box 37">
              <a:extLst>
                <a:ext uri="{FF2B5EF4-FFF2-40B4-BE49-F238E27FC236}">
                  <a16:creationId xmlns:a16="http://schemas.microsoft.com/office/drawing/2014/main" id="{E779C747-2B04-ECDE-EA01-4A768E009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3" y="222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FF"/>
                  </a:solidFill>
                </a:rPr>
                <a:t>x</a:t>
              </a:r>
            </a:p>
          </p:txBody>
        </p:sp>
        <p:sp>
          <p:nvSpPr>
            <p:cNvPr id="95253" name="Text Box 38">
              <a:extLst>
                <a:ext uri="{FF2B5EF4-FFF2-40B4-BE49-F238E27FC236}">
                  <a16:creationId xmlns:a16="http://schemas.microsoft.com/office/drawing/2014/main" id="{59BBD5D3-9132-E2A5-EC2A-5282A73E4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0" y="302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FF"/>
                  </a:solidFill>
                </a:rPr>
                <a:t>y</a:t>
              </a:r>
            </a:p>
          </p:txBody>
        </p:sp>
        <p:sp>
          <p:nvSpPr>
            <p:cNvPr id="95254" name="Line 39">
              <a:extLst>
                <a:ext uri="{FF2B5EF4-FFF2-40B4-BE49-F238E27FC236}">
                  <a16:creationId xmlns:a16="http://schemas.microsoft.com/office/drawing/2014/main" id="{E001145B-C1AD-1D98-A9C5-6EDEAE181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3" y="2678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255" name="Text Box 40">
              <a:extLst>
                <a:ext uri="{FF2B5EF4-FFF2-40B4-BE49-F238E27FC236}">
                  <a16:creationId xmlns:a16="http://schemas.microsoft.com/office/drawing/2014/main" id="{CA5CB75D-601B-1959-3892-1FD61D097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5" y="3198"/>
              <a:ext cx="4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0000FF"/>
                  </a:solidFill>
                </a:rPr>
                <a:t>交换</a:t>
              </a:r>
            </a:p>
          </p:txBody>
        </p:sp>
      </p:grpSp>
      <p:grpSp>
        <p:nvGrpSpPr>
          <p:cNvPr id="10" name="Group 41">
            <a:extLst>
              <a:ext uri="{FF2B5EF4-FFF2-40B4-BE49-F238E27FC236}">
                <a16:creationId xmlns:a16="http://schemas.microsoft.com/office/drawing/2014/main" id="{913AD258-570C-BB8D-9C54-8DB7FBC08E1F}"/>
              </a:ext>
            </a:extLst>
          </p:cNvPr>
          <p:cNvGrpSpPr>
            <a:grpSpLocks/>
          </p:cNvGrpSpPr>
          <p:nvPr/>
        </p:nvGrpSpPr>
        <p:grpSpPr bwMode="auto">
          <a:xfrm>
            <a:off x="7040563" y="4337050"/>
            <a:ext cx="1731962" cy="1571625"/>
            <a:chOff x="3405" y="2368"/>
            <a:chExt cx="1091" cy="990"/>
          </a:xfrm>
        </p:grpSpPr>
        <p:grpSp>
          <p:nvGrpSpPr>
            <p:cNvPr id="95242" name="Group 42">
              <a:extLst>
                <a:ext uri="{FF2B5EF4-FFF2-40B4-BE49-F238E27FC236}">
                  <a16:creationId xmlns:a16="http://schemas.microsoft.com/office/drawing/2014/main" id="{160100AC-CF65-5373-40E3-4CC4E1B0C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5" y="2368"/>
              <a:ext cx="1091" cy="761"/>
              <a:chOff x="776" y="1194"/>
              <a:chExt cx="1091" cy="761"/>
            </a:xfrm>
          </p:grpSpPr>
          <p:sp>
            <p:nvSpPr>
              <p:cNvPr id="95244" name="Rectangle 43">
                <a:extLst>
                  <a:ext uri="{FF2B5EF4-FFF2-40B4-BE49-F238E27FC236}">
                    <a16:creationId xmlns:a16="http://schemas.microsoft.com/office/drawing/2014/main" id="{A1721E9E-0902-97AF-47F9-588E9C37E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9" y="1333"/>
                <a:ext cx="678" cy="6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000">
                  <a:solidFill>
                    <a:srgbClr val="0000FF"/>
                  </a:solidFill>
                </a:endParaRPr>
              </a:p>
            </p:txBody>
          </p:sp>
          <p:sp>
            <p:nvSpPr>
              <p:cNvPr id="95245" name="Line 44">
                <a:extLst>
                  <a:ext uri="{FF2B5EF4-FFF2-40B4-BE49-F238E27FC236}">
                    <a16:creationId xmlns:a16="http://schemas.microsoft.com/office/drawing/2014/main" id="{95257332-02F8-F855-DDA7-EEF429BB81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9" y="1644"/>
                <a:ext cx="6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246" name="Text Box 45">
                <a:extLst>
                  <a:ext uri="{FF2B5EF4-FFF2-40B4-BE49-F238E27FC236}">
                    <a16:creationId xmlns:a16="http://schemas.microsoft.com/office/drawing/2014/main" id="{30EA233E-0053-C7F0-196F-CCBDD48218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0" y="1383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1</a:t>
                </a:r>
              </a:p>
            </p:txBody>
          </p:sp>
          <p:sp>
            <p:nvSpPr>
              <p:cNvPr id="95247" name="Text Box 46">
                <a:extLst>
                  <a:ext uri="{FF2B5EF4-FFF2-40B4-BE49-F238E27FC236}">
                    <a16:creationId xmlns:a16="http://schemas.microsoft.com/office/drawing/2014/main" id="{BDB2112A-324F-08CE-C24F-FF68DB6A49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8" y="1672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2</a:t>
                </a:r>
              </a:p>
            </p:txBody>
          </p:sp>
          <p:sp>
            <p:nvSpPr>
              <p:cNvPr id="95248" name="Text Box 47">
                <a:extLst>
                  <a:ext uri="{FF2B5EF4-FFF2-40B4-BE49-F238E27FC236}">
                    <a16:creationId xmlns:a16="http://schemas.microsoft.com/office/drawing/2014/main" id="{5C8741E9-4F14-E702-DF87-19DEDC74BA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" y="1194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a</a:t>
                </a:r>
              </a:p>
            </p:txBody>
          </p:sp>
          <p:sp>
            <p:nvSpPr>
              <p:cNvPr id="95249" name="Line 48">
                <a:extLst>
                  <a:ext uri="{FF2B5EF4-FFF2-40B4-BE49-F238E27FC236}">
                    <a16:creationId xmlns:a16="http://schemas.microsoft.com/office/drawing/2014/main" id="{39BD7574-66EA-5F2A-9E56-5D2C92DD7B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3" y="1333"/>
                <a:ext cx="2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5243" name="Text Box 49">
              <a:extLst>
                <a:ext uri="{FF2B5EF4-FFF2-40B4-BE49-F238E27FC236}">
                  <a16:creationId xmlns:a16="http://schemas.microsoft.com/office/drawing/2014/main" id="{E05E62DB-8C55-960D-D10A-8AD3F22B1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2" y="3106"/>
              <a:ext cx="4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0000FF"/>
                  </a:solidFill>
                </a:rPr>
                <a:t>返回</a:t>
              </a:r>
            </a:p>
          </p:txBody>
        </p:sp>
      </p:grpSp>
      <p:sp>
        <p:nvSpPr>
          <p:cNvPr id="115762" name="Text Box 50">
            <a:extLst>
              <a:ext uri="{FF2B5EF4-FFF2-40B4-BE49-F238E27FC236}">
                <a16:creationId xmlns:a16="http://schemas.microsoft.com/office/drawing/2014/main" id="{443D8112-57C4-1AFE-1778-C5A30E78D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2475" y="785813"/>
            <a:ext cx="5278438" cy="341630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void swap2(</a:t>
            </a:r>
            <a:r>
              <a:rPr lang="en-US" altLang="zh-CN" b="0">
                <a:solidFill>
                  <a:srgbClr val="0000FF"/>
                </a:solidFill>
                <a:latin typeface="Arial" panose="020B0604020202020204" pitchFamily="34" charset="0"/>
              </a:rPr>
              <a:t>int x,int y</a:t>
            </a:r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{   int z;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    z=x;      x=y;      y=z;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}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int main()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{   int a[2]={1,2};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lang="en-US" altLang="zh-CN" b="0">
                <a:solidFill>
                  <a:srgbClr val="0000FF"/>
                </a:solidFill>
                <a:latin typeface="Arial" panose="020B0604020202020204" pitchFamily="34" charset="0"/>
              </a:rPr>
              <a:t>swap2(a[0],a[1]);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    printf(“a[0]=%d,a[1]=%d“,a[0],a[1]);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115763" name="AutoShape 51">
            <a:extLst>
              <a:ext uri="{FF2B5EF4-FFF2-40B4-BE49-F238E27FC236}">
                <a16:creationId xmlns:a16="http://schemas.microsoft.com/office/drawing/2014/main" id="{11DAA594-BE2C-9E30-3B04-1892BDE1B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3" y="2041525"/>
            <a:ext cx="1858962" cy="1166813"/>
          </a:xfrm>
          <a:prstGeom prst="irregularSeal1">
            <a:avLst/>
          </a:prstGeom>
          <a:solidFill>
            <a:srgbClr val="FFFFFF"/>
          </a:solidFill>
          <a:ln w="38100">
            <a:solidFill>
              <a:srgbClr val="0099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accent2"/>
                </a:solidFill>
              </a:rPr>
              <a:t>值传递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57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57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57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4" grpId="0" autoUpdateAnimBg="0"/>
      <p:bldP spid="115762" grpId="0" animBg="1" autoUpdateAnimBg="0"/>
      <p:bldP spid="115763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1AF2197-BDF0-39B5-5CB9-5E9A676F9200}"/>
              </a:ext>
            </a:extLst>
          </p:cNvPr>
          <p:cNvGrpSpPr>
            <a:grpSpLocks/>
          </p:cNvGrpSpPr>
          <p:nvPr/>
        </p:nvGrpSpPr>
        <p:grpSpPr bwMode="auto">
          <a:xfrm>
            <a:off x="238125" y="4222750"/>
            <a:ext cx="1731963" cy="1600200"/>
            <a:chOff x="776" y="1194"/>
            <a:chExt cx="1091" cy="1008"/>
          </a:xfrm>
        </p:grpSpPr>
        <p:grpSp>
          <p:nvGrpSpPr>
            <p:cNvPr id="97320" name="Group 3">
              <a:extLst>
                <a:ext uri="{FF2B5EF4-FFF2-40B4-BE49-F238E27FC236}">
                  <a16:creationId xmlns:a16="http://schemas.microsoft.com/office/drawing/2014/main" id="{C7D2A524-EEAD-C928-05C1-C4E3939858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" y="1194"/>
              <a:ext cx="1091" cy="761"/>
              <a:chOff x="776" y="1194"/>
              <a:chExt cx="1091" cy="761"/>
            </a:xfrm>
          </p:grpSpPr>
          <p:sp>
            <p:nvSpPr>
              <p:cNvPr id="97322" name="Rectangle 4">
                <a:extLst>
                  <a:ext uri="{FF2B5EF4-FFF2-40B4-BE49-F238E27FC236}">
                    <a16:creationId xmlns:a16="http://schemas.microsoft.com/office/drawing/2014/main" id="{88D77D15-CFE2-40BC-DFCA-F3219D8504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9" y="1333"/>
                <a:ext cx="678" cy="6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000">
                  <a:solidFill>
                    <a:srgbClr val="0000FF"/>
                  </a:solidFill>
                </a:endParaRPr>
              </a:p>
            </p:txBody>
          </p:sp>
          <p:sp>
            <p:nvSpPr>
              <p:cNvPr id="97323" name="Line 5">
                <a:extLst>
                  <a:ext uri="{FF2B5EF4-FFF2-40B4-BE49-F238E27FC236}">
                    <a16:creationId xmlns:a16="http://schemas.microsoft.com/office/drawing/2014/main" id="{F8BFD010-F361-5875-E34B-3C8F5004E7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9" y="1644"/>
                <a:ext cx="6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324" name="Text Box 6">
                <a:extLst>
                  <a:ext uri="{FF2B5EF4-FFF2-40B4-BE49-F238E27FC236}">
                    <a16:creationId xmlns:a16="http://schemas.microsoft.com/office/drawing/2014/main" id="{A0448A3D-C41D-8989-7021-B014D61AA2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0" y="1383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1</a:t>
                </a:r>
              </a:p>
            </p:txBody>
          </p:sp>
          <p:sp>
            <p:nvSpPr>
              <p:cNvPr id="97325" name="Text Box 7">
                <a:extLst>
                  <a:ext uri="{FF2B5EF4-FFF2-40B4-BE49-F238E27FC236}">
                    <a16:creationId xmlns:a16="http://schemas.microsoft.com/office/drawing/2014/main" id="{55A20489-8D22-5953-9B2F-896ACC901C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8" y="1672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2</a:t>
                </a:r>
              </a:p>
            </p:txBody>
          </p:sp>
          <p:sp>
            <p:nvSpPr>
              <p:cNvPr id="97326" name="Text Box 8">
                <a:extLst>
                  <a:ext uri="{FF2B5EF4-FFF2-40B4-BE49-F238E27FC236}">
                    <a16:creationId xmlns:a16="http://schemas.microsoft.com/office/drawing/2014/main" id="{73C854E8-DF3B-5D67-A427-329F397372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" y="1194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a</a:t>
                </a:r>
              </a:p>
            </p:txBody>
          </p:sp>
          <p:sp>
            <p:nvSpPr>
              <p:cNvPr id="97327" name="Line 9">
                <a:extLst>
                  <a:ext uri="{FF2B5EF4-FFF2-40B4-BE49-F238E27FC236}">
                    <a16:creationId xmlns:a16="http://schemas.microsoft.com/office/drawing/2014/main" id="{B70DB5E6-F67D-F2BA-2CB8-4D89EB5B0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3" y="1333"/>
                <a:ext cx="2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7321" name="Text Box 10">
              <a:extLst>
                <a:ext uri="{FF2B5EF4-FFF2-40B4-BE49-F238E27FC236}">
                  <a16:creationId xmlns:a16="http://schemas.microsoft.com/office/drawing/2014/main" id="{BB406037-9F11-A82C-2796-AB4B6137E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" y="1950"/>
              <a:ext cx="60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0000FF"/>
                  </a:solidFill>
                </a:rPr>
                <a:t>调用前</a:t>
              </a:r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B3B4A34B-1158-9F73-6584-EBA782D5E2E4}"/>
              </a:ext>
            </a:extLst>
          </p:cNvPr>
          <p:cNvGrpSpPr>
            <a:grpSpLocks/>
          </p:cNvGrpSpPr>
          <p:nvPr/>
        </p:nvGrpSpPr>
        <p:grpSpPr bwMode="auto">
          <a:xfrm>
            <a:off x="2551113" y="4222750"/>
            <a:ext cx="1743075" cy="1552575"/>
            <a:chOff x="2343" y="1246"/>
            <a:chExt cx="1098" cy="978"/>
          </a:xfrm>
        </p:grpSpPr>
        <p:grpSp>
          <p:nvGrpSpPr>
            <p:cNvPr id="97309" name="Group 12">
              <a:extLst>
                <a:ext uri="{FF2B5EF4-FFF2-40B4-BE49-F238E27FC236}">
                  <a16:creationId xmlns:a16="http://schemas.microsoft.com/office/drawing/2014/main" id="{E756DD10-89DA-72E3-C40F-5EEAFF751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43" y="1246"/>
              <a:ext cx="1098" cy="761"/>
              <a:chOff x="2343" y="1246"/>
              <a:chExt cx="1098" cy="761"/>
            </a:xfrm>
          </p:grpSpPr>
          <p:grpSp>
            <p:nvGrpSpPr>
              <p:cNvPr id="97311" name="Group 13">
                <a:extLst>
                  <a:ext uri="{FF2B5EF4-FFF2-40B4-BE49-F238E27FC236}">
                    <a16:creationId xmlns:a16="http://schemas.microsoft.com/office/drawing/2014/main" id="{FC953D77-E4D0-3411-FAAC-742E132AC6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0" y="1246"/>
                <a:ext cx="1091" cy="761"/>
                <a:chOff x="776" y="1194"/>
                <a:chExt cx="1091" cy="761"/>
              </a:xfrm>
            </p:grpSpPr>
            <p:sp>
              <p:nvSpPr>
                <p:cNvPr id="97314" name="Rectangle 14">
                  <a:extLst>
                    <a:ext uri="{FF2B5EF4-FFF2-40B4-BE49-F238E27FC236}">
                      <a16:creationId xmlns:a16="http://schemas.microsoft.com/office/drawing/2014/main" id="{C0E038C0-B5EB-E057-2BC5-A73A6045AD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9" y="1333"/>
                  <a:ext cx="678" cy="62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20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97315" name="Line 15">
                  <a:extLst>
                    <a:ext uri="{FF2B5EF4-FFF2-40B4-BE49-F238E27FC236}">
                      <a16:creationId xmlns:a16="http://schemas.microsoft.com/office/drawing/2014/main" id="{18E38BD4-D967-B900-8B9F-9FF7952168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9" y="1644"/>
                  <a:ext cx="6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316" name="Text Box 16">
                  <a:extLst>
                    <a:ext uri="{FF2B5EF4-FFF2-40B4-BE49-F238E27FC236}">
                      <a16:creationId xmlns:a16="http://schemas.microsoft.com/office/drawing/2014/main" id="{26CED6A0-8949-7955-FC7B-76CDC9C8AD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20" y="1383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0000FF"/>
                      </a:solidFill>
                    </a:rPr>
                    <a:t>1</a:t>
                  </a:r>
                </a:p>
              </p:txBody>
            </p:sp>
            <p:sp>
              <p:nvSpPr>
                <p:cNvPr id="97317" name="Text Box 17">
                  <a:extLst>
                    <a:ext uri="{FF2B5EF4-FFF2-40B4-BE49-F238E27FC236}">
                      <a16:creationId xmlns:a16="http://schemas.microsoft.com/office/drawing/2014/main" id="{692609F7-CC45-B477-A141-312B807BF9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08" y="1672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0000FF"/>
                      </a:solidFill>
                    </a:rPr>
                    <a:t>2</a:t>
                  </a:r>
                </a:p>
              </p:txBody>
            </p:sp>
            <p:sp>
              <p:nvSpPr>
                <p:cNvPr id="97318" name="Text Box 18">
                  <a:extLst>
                    <a:ext uri="{FF2B5EF4-FFF2-40B4-BE49-F238E27FC236}">
                      <a16:creationId xmlns:a16="http://schemas.microsoft.com/office/drawing/2014/main" id="{F079D69B-354F-2748-0C97-8F9EF524C3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6" y="1194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0000FF"/>
                      </a:solidFill>
                    </a:rPr>
                    <a:t>a</a:t>
                  </a:r>
                </a:p>
              </p:txBody>
            </p:sp>
            <p:sp>
              <p:nvSpPr>
                <p:cNvPr id="97319" name="Line 19">
                  <a:extLst>
                    <a:ext uri="{FF2B5EF4-FFF2-40B4-BE49-F238E27FC236}">
                      <a16:creationId xmlns:a16="http://schemas.microsoft.com/office/drawing/2014/main" id="{28C24DBA-08E9-F62B-CBC4-75F750D2ED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33" y="1333"/>
                  <a:ext cx="2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7312" name="Text Box 20">
                <a:extLst>
                  <a:ext uri="{FF2B5EF4-FFF2-40B4-BE49-F238E27FC236}">
                    <a16:creationId xmlns:a16="http://schemas.microsoft.com/office/drawing/2014/main" id="{88BCFABF-8607-D6C6-D208-8F6F8DCAB8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3" y="1395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x</a:t>
                </a:r>
              </a:p>
            </p:txBody>
          </p:sp>
          <p:sp>
            <p:nvSpPr>
              <p:cNvPr id="97313" name="Line 21">
                <a:extLst>
                  <a:ext uri="{FF2B5EF4-FFF2-40B4-BE49-F238E27FC236}">
                    <a16:creationId xmlns:a16="http://schemas.microsoft.com/office/drawing/2014/main" id="{C8E369BC-CA96-B2C0-B2ED-D1815B8CE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7" y="1433"/>
                <a:ext cx="289" cy="1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7310" name="Text Box 22">
              <a:extLst>
                <a:ext uri="{FF2B5EF4-FFF2-40B4-BE49-F238E27FC236}">
                  <a16:creationId xmlns:a16="http://schemas.microsoft.com/office/drawing/2014/main" id="{AF1199E1-37F8-414F-53FC-22F1C2C41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1" y="1972"/>
              <a:ext cx="4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0000FF"/>
                  </a:solidFill>
                </a:rPr>
                <a:t>调用</a:t>
              </a:r>
            </a:p>
          </p:txBody>
        </p:sp>
      </p:grpSp>
      <p:grpSp>
        <p:nvGrpSpPr>
          <p:cNvPr id="7" name="Group 23">
            <a:extLst>
              <a:ext uri="{FF2B5EF4-FFF2-40B4-BE49-F238E27FC236}">
                <a16:creationId xmlns:a16="http://schemas.microsoft.com/office/drawing/2014/main" id="{3BDA4E40-91EB-4B41-49A5-20C8E273A513}"/>
              </a:ext>
            </a:extLst>
          </p:cNvPr>
          <p:cNvGrpSpPr>
            <a:grpSpLocks/>
          </p:cNvGrpSpPr>
          <p:nvPr/>
        </p:nvGrpSpPr>
        <p:grpSpPr bwMode="auto">
          <a:xfrm>
            <a:off x="4784725" y="4222750"/>
            <a:ext cx="1743075" cy="1544638"/>
            <a:chOff x="3828" y="1308"/>
            <a:chExt cx="1098" cy="973"/>
          </a:xfrm>
        </p:grpSpPr>
        <p:grpSp>
          <p:nvGrpSpPr>
            <p:cNvPr id="97298" name="Group 24">
              <a:extLst>
                <a:ext uri="{FF2B5EF4-FFF2-40B4-BE49-F238E27FC236}">
                  <a16:creationId xmlns:a16="http://schemas.microsoft.com/office/drawing/2014/main" id="{6C7C8FB6-F6F9-7B16-7884-804B94022E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8" y="1308"/>
              <a:ext cx="1098" cy="761"/>
              <a:chOff x="2343" y="1246"/>
              <a:chExt cx="1098" cy="761"/>
            </a:xfrm>
          </p:grpSpPr>
          <p:grpSp>
            <p:nvGrpSpPr>
              <p:cNvPr id="97300" name="Group 25">
                <a:extLst>
                  <a:ext uri="{FF2B5EF4-FFF2-40B4-BE49-F238E27FC236}">
                    <a16:creationId xmlns:a16="http://schemas.microsoft.com/office/drawing/2014/main" id="{90BFAA8F-493A-DD48-9DBE-24700A1907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0" y="1246"/>
                <a:ext cx="1091" cy="761"/>
                <a:chOff x="776" y="1194"/>
                <a:chExt cx="1091" cy="761"/>
              </a:xfrm>
            </p:grpSpPr>
            <p:sp>
              <p:nvSpPr>
                <p:cNvPr id="97303" name="Rectangle 26">
                  <a:extLst>
                    <a:ext uri="{FF2B5EF4-FFF2-40B4-BE49-F238E27FC236}">
                      <a16:creationId xmlns:a16="http://schemas.microsoft.com/office/drawing/2014/main" id="{18CD856F-C2ED-47D9-B82C-1B296263E8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9" y="1333"/>
                  <a:ext cx="678" cy="62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sz="20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97304" name="Line 27">
                  <a:extLst>
                    <a:ext uri="{FF2B5EF4-FFF2-40B4-BE49-F238E27FC236}">
                      <a16:creationId xmlns:a16="http://schemas.microsoft.com/office/drawing/2014/main" id="{32B45F21-DFB3-6F95-DCFE-6E777EE2DE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89" y="1644"/>
                  <a:ext cx="6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7305" name="Text Box 28">
                  <a:extLst>
                    <a:ext uri="{FF2B5EF4-FFF2-40B4-BE49-F238E27FC236}">
                      <a16:creationId xmlns:a16="http://schemas.microsoft.com/office/drawing/2014/main" id="{6DBC77C1-55E8-F3A8-5164-D72C9C03C3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20" y="1383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0000FF"/>
                      </a:solidFill>
                    </a:rPr>
                    <a:t>2</a:t>
                  </a:r>
                </a:p>
              </p:txBody>
            </p:sp>
            <p:sp>
              <p:nvSpPr>
                <p:cNvPr id="97306" name="Text Box 29">
                  <a:extLst>
                    <a:ext uri="{FF2B5EF4-FFF2-40B4-BE49-F238E27FC236}">
                      <a16:creationId xmlns:a16="http://schemas.microsoft.com/office/drawing/2014/main" id="{0A87D6C0-2CA8-BD11-EC9D-A8FB658FEA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08" y="1672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0000FF"/>
                      </a:solidFill>
                    </a:rPr>
                    <a:t>1</a:t>
                  </a:r>
                </a:p>
              </p:txBody>
            </p:sp>
            <p:sp>
              <p:nvSpPr>
                <p:cNvPr id="97307" name="Text Box 30">
                  <a:extLst>
                    <a:ext uri="{FF2B5EF4-FFF2-40B4-BE49-F238E27FC236}">
                      <a16:creationId xmlns:a16="http://schemas.microsoft.com/office/drawing/2014/main" id="{29F3FB05-6A49-6603-19DB-24F4BE1FFB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76" y="1194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000">
                      <a:solidFill>
                        <a:srgbClr val="0000FF"/>
                      </a:solidFill>
                    </a:rPr>
                    <a:t>a</a:t>
                  </a:r>
                </a:p>
              </p:txBody>
            </p:sp>
            <p:sp>
              <p:nvSpPr>
                <p:cNvPr id="97308" name="Line 31">
                  <a:extLst>
                    <a:ext uri="{FF2B5EF4-FFF2-40B4-BE49-F238E27FC236}">
                      <a16:creationId xmlns:a16="http://schemas.microsoft.com/office/drawing/2014/main" id="{5F23736F-2BDB-CA36-3E1C-D43B73A19E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33" y="1333"/>
                  <a:ext cx="2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7301" name="Text Box 32">
                <a:extLst>
                  <a:ext uri="{FF2B5EF4-FFF2-40B4-BE49-F238E27FC236}">
                    <a16:creationId xmlns:a16="http://schemas.microsoft.com/office/drawing/2014/main" id="{28377EF4-F357-B312-7ACD-F76E09F76B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3" y="1395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x</a:t>
                </a:r>
              </a:p>
            </p:txBody>
          </p:sp>
          <p:sp>
            <p:nvSpPr>
              <p:cNvPr id="97302" name="Line 33">
                <a:extLst>
                  <a:ext uri="{FF2B5EF4-FFF2-40B4-BE49-F238E27FC236}">
                    <a16:creationId xmlns:a16="http://schemas.microsoft.com/office/drawing/2014/main" id="{4ABB51D8-A916-0ED6-7B67-6F7C8F42C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7" y="1433"/>
                <a:ext cx="289" cy="1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7299" name="Text Box 34">
              <a:extLst>
                <a:ext uri="{FF2B5EF4-FFF2-40B4-BE49-F238E27FC236}">
                  <a16:creationId xmlns:a16="http://schemas.microsoft.com/office/drawing/2014/main" id="{DCDD47BE-2972-8F86-397B-AC771EBBC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5" y="2029"/>
              <a:ext cx="4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0000FF"/>
                  </a:solidFill>
                </a:rPr>
                <a:t>交换</a:t>
              </a:r>
            </a:p>
          </p:txBody>
        </p:sp>
      </p:grpSp>
      <p:grpSp>
        <p:nvGrpSpPr>
          <p:cNvPr id="10" name="Group 35">
            <a:extLst>
              <a:ext uri="{FF2B5EF4-FFF2-40B4-BE49-F238E27FC236}">
                <a16:creationId xmlns:a16="http://schemas.microsoft.com/office/drawing/2014/main" id="{537C2402-7A2E-6A9F-8311-33C068447DB9}"/>
              </a:ext>
            </a:extLst>
          </p:cNvPr>
          <p:cNvGrpSpPr>
            <a:grpSpLocks/>
          </p:cNvGrpSpPr>
          <p:nvPr/>
        </p:nvGrpSpPr>
        <p:grpSpPr bwMode="auto">
          <a:xfrm>
            <a:off x="6988175" y="4222750"/>
            <a:ext cx="1731963" cy="1571625"/>
            <a:chOff x="3405" y="2368"/>
            <a:chExt cx="1091" cy="990"/>
          </a:xfrm>
        </p:grpSpPr>
        <p:grpSp>
          <p:nvGrpSpPr>
            <p:cNvPr id="97290" name="Group 36">
              <a:extLst>
                <a:ext uri="{FF2B5EF4-FFF2-40B4-BE49-F238E27FC236}">
                  <a16:creationId xmlns:a16="http://schemas.microsoft.com/office/drawing/2014/main" id="{2F6F4D69-E965-F875-8759-B1B0A7F264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5" y="2368"/>
              <a:ext cx="1091" cy="761"/>
              <a:chOff x="776" y="1194"/>
              <a:chExt cx="1091" cy="761"/>
            </a:xfrm>
          </p:grpSpPr>
          <p:sp>
            <p:nvSpPr>
              <p:cNvPr id="97292" name="Rectangle 37">
                <a:extLst>
                  <a:ext uri="{FF2B5EF4-FFF2-40B4-BE49-F238E27FC236}">
                    <a16:creationId xmlns:a16="http://schemas.microsoft.com/office/drawing/2014/main" id="{85BE3A9E-7BA1-8F26-5CB9-1776579C3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9" y="1333"/>
                <a:ext cx="678" cy="62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000">
                  <a:solidFill>
                    <a:srgbClr val="0000FF"/>
                  </a:solidFill>
                </a:endParaRPr>
              </a:p>
            </p:txBody>
          </p:sp>
          <p:sp>
            <p:nvSpPr>
              <p:cNvPr id="97293" name="Line 38">
                <a:extLst>
                  <a:ext uri="{FF2B5EF4-FFF2-40B4-BE49-F238E27FC236}">
                    <a16:creationId xmlns:a16="http://schemas.microsoft.com/office/drawing/2014/main" id="{FDAABABB-9CF7-D689-AB96-EF034D2A22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9" y="1644"/>
                <a:ext cx="6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294" name="Text Box 39">
                <a:extLst>
                  <a:ext uri="{FF2B5EF4-FFF2-40B4-BE49-F238E27FC236}">
                    <a16:creationId xmlns:a16="http://schemas.microsoft.com/office/drawing/2014/main" id="{CB1B7292-A968-3B02-AC6B-D4D9F63BD0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20" y="1383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2</a:t>
                </a:r>
              </a:p>
            </p:txBody>
          </p:sp>
          <p:sp>
            <p:nvSpPr>
              <p:cNvPr id="97295" name="Text Box 40">
                <a:extLst>
                  <a:ext uri="{FF2B5EF4-FFF2-40B4-BE49-F238E27FC236}">
                    <a16:creationId xmlns:a16="http://schemas.microsoft.com/office/drawing/2014/main" id="{8DE78F0D-1C19-ABBF-2EED-648D29256C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8" y="1672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1</a:t>
                </a:r>
              </a:p>
            </p:txBody>
          </p:sp>
          <p:sp>
            <p:nvSpPr>
              <p:cNvPr id="97296" name="Text Box 41">
                <a:extLst>
                  <a:ext uri="{FF2B5EF4-FFF2-40B4-BE49-F238E27FC236}">
                    <a16:creationId xmlns:a16="http://schemas.microsoft.com/office/drawing/2014/main" id="{7D5CDA23-E856-C23C-B0B1-CE42C2216D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" y="1194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solidFill>
                      <a:srgbClr val="0000FF"/>
                    </a:solidFill>
                  </a:rPr>
                  <a:t>a</a:t>
                </a:r>
              </a:p>
            </p:txBody>
          </p:sp>
          <p:sp>
            <p:nvSpPr>
              <p:cNvPr id="97297" name="Line 42">
                <a:extLst>
                  <a:ext uri="{FF2B5EF4-FFF2-40B4-BE49-F238E27FC236}">
                    <a16:creationId xmlns:a16="http://schemas.microsoft.com/office/drawing/2014/main" id="{9BEFC703-6180-D303-1FC6-9B2C0E2B9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3" y="1333"/>
                <a:ext cx="2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7291" name="Text Box 43">
              <a:extLst>
                <a:ext uri="{FF2B5EF4-FFF2-40B4-BE49-F238E27FC236}">
                  <a16:creationId xmlns:a16="http://schemas.microsoft.com/office/drawing/2014/main" id="{0FE5C84E-901A-8C29-984C-D2C11F021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2" y="3106"/>
              <a:ext cx="4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0000FF"/>
                  </a:solidFill>
                </a:rPr>
                <a:t>返回</a:t>
              </a:r>
            </a:p>
          </p:txBody>
        </p:sp>
      </p:grpSp>
      <p:sp>
        <p:nvSpPr>
          <p:cNvPr id="117804" name="Text Box 44">
            <a:extLst>
              <a:ext uri="{FF2B5EF4-FFF2-40B4-BE49-F238E27FC236}">
                <a16:creationId xmlns:a16="http://schemas.microsoft.com/office/drawing/2014/main" id="{63EDE790-6F1A-8E53-48C1-A83C0C9A7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730250"/>
            <a:ext cx="5449887" cy="341630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void swap2(</a:t>
            </a:r>
            <a:r>
              <a:rPr lang="en-US" altLang="zh-CN" b="0">
                <a:solidFill>
                  <a:srgbClr val="0000FF"/>
                </a:solidFill>
                <a:latin typeface="Arial" panose="020B0604020202020204" pitchFamily="34" charset="0"/>
              </a:rPr>
              <a:t>int x[ ]</a:t>
            </a:r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{   int z; 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    z=x[0];     x[0]=x[1];     x[1]=z;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}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int main()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{   int a[2]={1,2};</a:t>
            </a:r>
          </a:p>
          <a:p>
            <a:r>
              <a:rPr lang="en-US" altLang="zh-CN" b="0">
                <a:solidFill>
                  <a:srgbClr val="0000FF"/>
                </a:solidFill>
                <a:latin typeface="Arial" panose="020B0604020202020204" pitchFamily="34" charset="0"/>
              </a:rPr>
              <a:t>    swap2(a);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      printf(“a[0]=%d,a[1]=%d“,a[0],a[1]);</a:t>
            </a:r>
          </a:p>
          <a:p>
            <a:r>
              <a:rPr lang="en-US" altLang="zh-CN" b="0">
                <a:solidFill>
                  <a:schemeClr val="tx1"/>
                </a:solidFill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117805" name="AutoShape 45">
            <a:extLst>
              <a:ext uri="{FF2B5EF4-FFF2-40B4-BE49-F238E27FC236}">
                <a16:creationId xmlns:a16="http://schemas.microsoft.com/office/drawing/2014/main" id="{2C59B68E-0183-99A5-D231-E64A4803B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8" y="2043113"/>
            <a:ext cx="2405062" cy="1166812"/>
          </a:xfrm>
          <a:prstGeom prst="irregularSeal1">
            <a:avLst/>
          </a:prstGeom>
          <a:solidFill>
            <a:srgbClr val="FFFFFF"/>
          </a:solidFill>
          <a:ln w="38100">
            <a:solidFill>
              <a:srgbClr val="0099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accent2"/>
                </a:solidFill>
              </a:rPr>
              <a:t>地址传递</a:t>
            </a:r>
          </a:p>
        </p:txBody>
      </p:sp>
      <p:sp>
        <p:nvSpPr>
          <p:cNvPr id="97287" name="Text Box 2">
            <a:extLst>
              <a:ext uri="{FF2B5EF4-FFF2-40B4-BE49-F238E27FC236}">
                <a16:creationId xmlns:a16="http://schemas.microsoft.com/office/drawing/2014/main" id="{106358CE-0875-0660-2E21-576555A79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3" y="271463"/>
            <a:ext cx="5813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例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  数组元素与数组名作函数参数比较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7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78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804" grpId="0" animBg="1" autoUpdateAnimBg="0"/>
      <p:bldP spid="117805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向函数传递二维数组</a:t>
            </a:r>
          </a:p>
        </p:txBody>
      </p:sp>
      <p:grpSp>
        <p:nvGrpSpPr>
          <p:cNvPr id="308231" name="Group 7"/>
          <p:cNvGrpSpPr>
            <a:grpSpLocks/>
          </p:cNvGrpSpPr>
          <p:nvPr/>
        </p:nvGrpSpPr>
        <p:grpSpPr bwMode="auto">
          <a:xfrm>
            <a:off x="7127875" y="2097088"/>
            <a:ext cx="1981200" cy="4572000"/>
            <a:chOff x="4512" y="336"/>
            <a:chExt cx="1248" cy="2880"/>
          </a:xfrm>
        </p:grpSpPr>
        <p:sp>
          <p:nvSpPr>
            <p:cNvPr id="64761" name="Text Box 8"/>
            <p:cNvSpPr txBox="1">
              <a:spLocks noChangeArrowheads="1"/>
            </p:cNvSpPr>
            <p:nvPr/>
          </p:nvSpPr>
          <p:spPr bwMode="auto">
            <a:xfrm>
              <a:off x="5210" y="645"/>
              <a:ext cx="550" cy="13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a[0][0]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en-US" altLang="zh-CN" sz="1800">
                <a:solidFill>
                  <a:schemeClr val="tx1"/>
                </a:solidFill>
                <a:ea typeface="宋体" charset="0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a[0][1]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en-US" altLang="zh-CN" sz="1800">
                <a:solidFill>
                  <a:schemeClr val="tx1"/>
                </a:solidFill>
                <a:ea typeface="宋体" charset="0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a[0][2]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en-US" altLang="zh-CN" sz="1800">
                <a:solidFill>
                  <a:schemeClr val="tx1"/>
                </a:solidFill>
                <a:ea typeface="宋体" charset="0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a[1][0]</a:t>
              </a:r>
            </a:p>
          </p:txBody>
        </p:sp>
        <p:sp>
          <p:nvSpPr>
            <p:cNvPr id="64762" name="Text Box 9"/>
            <p:cNvSpPr txBox="1">
              <a:spLocks noChangeArrowheads="1"/>
            </p:cNvSpPr>
            <p:nvPr/>
          </p:nvSpPr>
          <p:spPr bwMode="auto">
            <a:xfrm>
              <a:off x="5210" y="2127"/>
              <a:ext cx="550" cy="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a[1][1]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en-US" altLang="zh-CN" sz="1800">
                <a:solidFill>
                  <a:schemeClr val="tx1"/>
                </a:solidFill>
                <a:ea typeface="宋体" charset="0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a[1][2]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zh-CN" altLang="en-US" sz="1800">
                <a:solidFill>
                  <a:schemeClr val="tx1"/>
                </a:solidFill>
                <a:ea typeface="宋体" charset="0"/>
              </a:endParaRPr>
            </a:p>
          </p:txBody>
        </p:sp>
        <p:grpSp>
          <p:nvGrpSpPr>
            <p:cNvPr id="64763" name="Group 10"/>
            <p:cNvGrpSpPr>
              <a:grpSpLocks/>
            </p:cNvGrpSpPr>
            <p:nvPr/>
          </p:nvGrpSpPr>
          <p:grpSpPr bwMode="auto">
            <a:xfrm>
              <a:off x="4512" y="336"/>
              <a:ext cx="759" cy="2880"/>
              <a:chOff x="4512" y="336"/>
              <a:chExt cx="759" cy="2880"/>
            </a:xfrm>
          </p:grpSpPr>
          <p:grpSp>
            <p:nvGrpSpPr>
              <p:cNvPr id="64764" name="Group 11"/>
              <p:cNvGrpSpPr>
                <a:grpSpLocks/>
              </p:cNvGrpSpPr>
              <p:nvPr/>
            </p:nvGrpSpPr>
            <p:grpSpPr bwMode="auto">
              <a:xfrm>
                <a:off x="4512" y="336"/>
                <a:ext cx="576" cy="1920"/>
                <a:chOff x="4752" y="576"/>
                <a:chExt cx="576" cy="1920"/>
              </a:xfrm>
            </p:grpSpPr>
            <p:sp>
              <p:nvSpPr>
                <p:cNvPr id="308236" name="Rectangle 12"/>
                <p:cNvSpPr>
                  <a:spLocks noChangeArrowheads="1"/>
                </p:cNvSpPr>
                <p:nvPr/>
              </p:nvSpPr>
              <p:spPr bwMode="auto">
                <a:xfrm>
                  <a:off x="4752" y="960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37" name="Rectangle 13"/>
                <p:cNvSpPr>
                  <a:spLocks noChangeArrowheads="1"/>
                </p:cNvSpPr>
                <p:nvPr/>
              </p:nvSpPr>
              <p:spPr bwMode="auto">
                <a:xfrm>
                  <a:off x="4752" y="1152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38" name="Rectangle 14"/>
                <p:cNvSpPr>
                  <a:spLocks noChangeArrowheads="1"/>
                </p:cNvSpPr>
                <p:nvPr/>
              </p:nvSpPr>
              <p:spPr bwMode="auto">
                <a:xfrm>
                  <a:off x="4752" y="1344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39" name="Rectangle 15"/>
                <p:cNvSpPr>
                  <a:spLocks noChangeArrowheads="1"/>
                </p:cNvSpPr>
                <p:nvPr/>
              </p:nvSpPr>
              <p:spPr bwMode="auto">
                <a:xfrm>
                  <a:off x="4752" y="1536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40" name="Rectangle 16"/>
                <p:cNvSpPr>
                  <a:spLocks noChangeArrowheads="1"/>
                </p:cNvSpPr>
                <p:nvPr/>
              </p:nvSpPr>
              <p:spPr bwMode="auto">
                <a:xfrm>
                  <a:off x="4752" y="1728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41" name="Rectangle 17"/>
                <p:cNvSpPr>
                  <a:spLocks noChangeArrowheads="1"/>
                </p:cNvSpPr>
                <p:nvPr/>
              </p:nvSpPr>
              <p:spPr bwMode="auto">
                <a:xfrm>
                  <a:off x="4752" y="1920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42" name="Rectangle 18"/>
                <p:cNvSpPr>
                  <a:spLocks noChangeArrowheads="1"/>
                </p:cNvSpPr>
                <p:nvPr/>
              </p:nvSpPr>
              <p:spPr bwMode="auto">
                <a:xfrm>
                  <a:off x="4752" y="2112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43" name="Rectangle 19"/>
                <p:cNvSpPr>
                  <a:spLocks noChangeArrowheads="1"/>
                </p:cNvSpPr>
                <p:nvPr/>
              </p:nvSpPr>
              <p:spPr bwMode="auto">
                <a:xfrm>
                  <a:off x="4752" y="2304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44" name="Rectangle 20"/>
                <p:cNvSpPr>
                  <a:spLocks noChangeArrowheads="1"/>
                </p:cNvSpPr>
                <p:nvPr/>
              </p:nvSpPr>
              <p:spPr bwMode="auto">
                <a:xfrm>
                  <a:off x="4752" y="768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45" name="Rectangle 21"/>
                <p:cNvSpPr>
                  <a:spLocks noChangeArrowheads="1"/>
                </p:cNvSpPr>
                <p:nvPr/>
              </p:nvSpPr>
              <p:spPr bwMode="auto">
                <a:xfrm>
                  <a:off x="4752" y="576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308246" name="AutoShape 22"/>
              <p:cNvSpPr>
                <a:spLocks/>
              </p:cNvSpPr>
              <p:nvPr/>
            </p:nvSpPr>
            <p:spPr bwMode="auto">
              <a:xfrm>
                <a:off x="5088" y="609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47" name="AutoShape 23"/>
              <p:cNvSpPr>
                <a:spLocks/>
              </p:cNvSpPr>
              <p:nvPr/>
            </p:nvSpPr>
            <p:spPr bwMode="auto">
              <a:xfrm>
                <a:off x="5088" y="993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48" name="AutoShape 24"/>
              <p:cNvSpPr>
                <a:spLocks/>
              </p:cNvSpPr>
              <p:nvPr/>
            </p:nvSpPr>
            <p:spPr bwMode="auto">
              <a:xfrm>
                <a:off x="5088" y="1377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49" name="AutoShape 25"/>
              <p:cNvSpPr>
                <a:spLocks/>
              </p:cNvSpPr>
              <p:nvPr/>
            </p:nvSpPr>
            <p:spPr bwMode="auto">
              <a:xfrm>
                <a:off x="5088" y="1750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50" name="Rectangle 26"/>
              <p:cNvSpPr>
                <a:spLocks noChangeArrowheads="1"/>
              </p:cNvSpPr>
              <p:nvPr/>
            </p:nvSpPr>
            <p:spPr bwMode="auto">
              <a:xfrm>
                <a:off x="4512" y="2640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51" name="Rectangle 27"/>
              <p:cNvSpPr>
                <a:spLocks noChangeArrowheads="1"/>
              </p:cNvSpPr>
              <p:nvPr/>
            </p:nvSpPr>
            <p:spPr bwMode="auto">
              <a:xfrm>
                <a:off x="4512" y="2832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52" name="Rectangle 28"/>
              <p:cNvSpPr>
                <a:spLocks noChangeArrowheads="1"/>
              </p:cNvSpPr>
              <p:nvPr/>
            </p:nvSpPr>
            <p:spPr bwMode="auto">
              <a:xfrm>
                <a:off x="4512" y="3024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53" name="Rectangle 29"/>
              <p:cNvSpPr>
                <a:spLocks noChangeArrowheads="1"/>
              </p:cNvSpPr>
              <p:nvPr/>
            </p:nvSpPr>
            <p:spPr bwMode="auto">
              <a:xfrm>
                <a:off x="4512" y="2448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54" name="Rectangle 30"/>
              <p:cNvSpPr>
                <a:spLocks noChangeArrowheads="1"/>
              </p:cNvSpPr>
              <p:nvPr/>
            </p:nvSpPr>
            <p:spPr bwMode="auto">
              <a:xfrm>
                <a:off x="4512" y="2256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55" name="AutoShape 31"/>
              <p:cNvSpPr>
                <a:spLocks/>
              </p:cNvSpPr>
              <p:nvPr/>
            </p:nvSpPr>
            <p:spPr bwMode="auto">
              <a:xfrm>
                <a:off x="5088" y="2119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56" name="AutoShape 32"/>
              <p:cNvSpPr>
                <a:spLocks/>
              </p:cNvSpPr>
              <p:nvPr/>
            </p:nvSpPr>
            <p:spPr bwMode="auto">
              <a:xfrm>
                <a:off x="5088" y="2503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</p:grpSp>
      </p:grpSp>
      <p:sp>
        <p:nvSpPr>
          <p:cNvPr id="308257" name="Line 33"/>
          <p:cNvSpPr>
            <a:spLocks noChangeShapeType="1"/>
          </p:cNvSpPr>
          <p:nvPr/>
        </p:nvSpPr>
        <p:spPr bwMode="auto">
          <a:xfrm>
            <a:off x="7137400" y="4233863"/>
            <a:ext cx="935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08258" name="Line 34"/>
          <p:cNvSpPr>
            <a:spLocks noChangeShapeType="1"/>
          </p:cNvSpPr>
          <p:nvPr/>
        </p:nvSpPr>
        <p:spPr bwMode="auto">
          <a:xfrm>
            <a:off x="7127875" y="6064250"/>
            <a:ext cx="935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08259" name="Line 35"/>
          <p:cNvSpPr>
            <a:spLocks noChangeShapeType="1"/>
          </p:cNvSpPr>
          <p:nvPr/>
        </p:nvSpPr>
        <p:spPr bwMode="auto">
          <a:xfrm>
            <a:off x="7127875" y="2405063"/>
            <a:ext cx="935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308260" name="Line 36"/>
          <p:cNvSpPr>
            <a:spLocks noChangeShapeType="1"/>
          </p:cNvSpPr>
          <p:nvPr/>
        </p:nvSpPr>
        <p:spPr bwMode="auto">
          <a:xfrm>
            <a:off x="6635750" y="2603500"/>
            <a:ext cx="457200" cy="0"/>
          </a:xfrm>
          <a:prstGeom prst="line">
            <a:avLst/>
          </a:prstGeom>
          <a:noFill/>
          <a:ln w="38100" cap="sq">
            <a:solidFill>
              <a:srgbClr val="FF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pic>
        <p:nvPicPr>
          <p:cNvPr id="64524" name="ImgPreview" descr="文件名: BL00561_.wmf&#10;关键字: 外部, 家, 建筑物 ...&#10;文件大小: 7 K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663575"/>
            <a:ext cx="1366838" cy="136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grpSp>
        <p:nvGrpSpPr>
          <p:cNvPr id="64525" name="Group 38"/>
          <p:cNvGrpSpPr>
            <a:grpSpLocks/>
          </p:cNvGrpSpPr>
          <p:nvPr/>
        </p:nvGrpSpPr>
        <p:grpSpPr bwMode="auto">
          <a:xfrm>
            <a:off x="7135813" y="2103438"/>
            <a:ext cx="1981200" cy="4572000"/>
            <a:chOff x="4512" y="336"/>
            <a:chExt cx="1248" cy="2880"/>
          </a:xfrm>
        </p:grpSpPr>
        <p:sp>
          <p:nvSpPr>
            <p:cNvPr id="64736" name="Text Box 39"/>
            <p:cNvSpPr txBox="1">
              <a:spLocks noChangeArrowheads="1"/>
            </p:cNvSpPr>
            <p:nvPr/>
          </p:nvSpPr>
          <p:spPr bwMode="auto">
            <a:xfrm>
              <a:off x="5210" y="645"/>
              <a:ext cx="550" cy="13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a[0][0]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en-US" altLang="zh-CN" sz="1800">
                <a:solidFill>
                  <a:schemeClr val="tx1"/>
                </a:solidFill>
                <a:ea typeface="宋体" charset="0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a[0][1]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en-US" altLang="zh-CN" sz="1800">
                <a:solidFill>
                  <a:schemeClr val="tx1"/>
                </a:solidFill>
                <a:ea typeface="宋体" charset="0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a[0][2]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en-US" altLang="zh-CN" sz="1800">
                <a:solidFill>
                  <a:schemeClr val="tx1"/>
                </a:solidFill>
                <a:ea typeface="宋体" charset="0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a[1][0]</a:t>
              </a:r>
            </a:p>
          </p:txBody>
        </p:sp>
        <p:sp>
          <p:nvSpPr>
            <p:cNvPr id="64737" name="Text Box 40"/>
            <p:cNvSpPr txBox="1">
              <a:spLocks noChangeArrowheads="1"/>
            </p:cNvSpPr>
            <p:nvPr/>
          </p:nvSpPr>
          <p:spPr bwMode="auto">
            <a:xfrm>
              <a:off x="5210" y="2127"/>
              <a:ext cx="550" cy="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a[1][1]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en-US" altLang="zh-CN" sz="1800">
                <a:solidFill>
                  <a:schemeClr val="tx1"/>
                </a:solidFill>
                <a:ea typeface="宋体" charset="0"/>
              </a:endParaRPr>
            </a:p>
            <a:p>
              <a:pPr eaLnBrk="1" hangingPunct="1">
                <a:spcBef>
                  <a:spcPct val="10000"/>
                </a:spcBef>
              </a:pPr>
              <a:r>
                <a:rPr kumimoji="1" lang="en-US" altLang="zh-CN" sz="1800">
                  <a:solidFill>
                    <a:schemeClr val="tx1"/>
                  </a:solidFill>
                  <a:ea typeface="宋体" charset="0"/>
                </a:rPr>
                <a:t>a[1][2]</a:t>
              </a:r>
            </a:p>
            <a:p>
              <a:pPr eaLnBrk="1" hangingPunct="1">
                <a:spcBef>
                  <a:spcPct val="10000"/>
                </a:spcBef>
              </a:pPr>
              <a:endParaRPr kumimoji="1" lang="zh-CN" altLang="en-US" sz="1800">
                <a:solidFill>
                  <a:schemeClr val="tx1"/>
                </a:solidFill>
                <a:ea typeface="宋体" charset="0"/>
              </a:endParaRPr>
            </a:p>
          </p:txBody>
        </p:sp>
        <p:grpSp>
          <p:nvGrpSpPr>
            <p:cNvPr id="64738" name="Group 41"/>
            <p:cNvGrpSpPr>
              <a:grpSpLocks/>
            </p:cNvGrpSpPr>
            <p:nvPr/>
          </p:nvGrpSpPr>
          <p:grpSpPr bwMode="auto">
            <a:xfrm>
              <a:off x="4512" y="336"/>
              <a:ext cx="759" cy="2880"/>
              <a:chOff x="4512" y="336"/>
              <a:chExt cx="759" cy="2880"/>
            </a:xfrm>
          </p:grpSpPr>
          <p:grpSp>
            <p:nvGrpSpPr>
              <p:cNvPr id="64739" name="Group 42"/>
              <p:cNvGrpSpPr>
                <a:grpSpLocks/>
              </p:cNvGrpSpPr>
              <p:nvPr/>
            </p:nvGrpSpPr>
            <p:grpSpPr bwMode="auto">
              <a:xfrm>
                <a:off x="4512" y="336"/>
                <a:ext cx="576" cy="1920"/>
                <a:chOff x="4752" y="576"/>
                <a:chExt cx="576" cy="1920"/>
              </a:xfrm>
            </p:grpSpPr>
            <p:sp>
              <p:nvSpPr>
                <p:cNvPr id="308267" name="Rectangle 43"/>
                <p:cNvSpPr>
                  <a:spLocks noChangeArrowheads="1"/>
                </p:cNvSpPr>
                <p:nvPr/>
              </p:nvSpPr>
              <p:spPr bwMode="auto">
                <a:xfrm>
                  <a:off x="4752" y="960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68" name="Rectangle 44"/>
                <p:cNvSpPr>
                  <a:spLocks noChangeArrowheads="1"/>
                </p:cNvSpPr>
                <p:nvPr/>
              </p:nvSpPr>
              <p:spPr bwMode="auto">
                <a:xfrm>
                  <a:off x="4752" y="1152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69" name="Rectangle 45"/>
                <p:cNvSpPr>
                  <a:spLocks noChangeArrowheads="1"/>
                </p:cNvSpPr>
                <p:nvPr/>
              </p:nvSpPr>
              <p:spPr bwMode="auto">
                <a:xfrm>
                  <a:off x="4752" y="1344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70" name="Rectangle 46"/>
                <p:cNvSpPr>
                  <a:spLocks noChangeArrowheads="1"/>
                </p:cNvSpPr>
                <p:nvPr/>
              </p:nvSpPr>
              <p:spPr bwMode="auto">
                <a:xfrm>
                  <a:off x="4752" y="1536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71" name="Rectangle 47"/>
                <p:cNvSpPr>
                  <a:spLocks noChangeArrowheads="1"/>
                </p:cNvSpPr>
                <p:nvPr/>
              </p:nvSpPr>
              <p:spPr bwMode="auto">
                <a:xfrm>
                  <a:off x="4752" y="1728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72" name="Rectangle 48"/>
                <p:cNvSpPr>
                  <a:spLocks noChangeArrowheads="1"/>
                </p:cNvSpPr>
                <p:nvPr/>
              </p:nvSpPr>
              <p:spPr bwMode="auto">
                <a:xfrm>
                  <a:off x="4752" y="1920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73" name="Rectangle 49"/>
                <p:cNvSpPr>
                  <a:spLocks noChangeArrowheads="1"/>
                </p:cNvSpPr>
                <p:nvPr/>
              </p:nvSpPr>
              <p:spPr bwMode="auto">
                <a:xfrm>
                  <a:off x="4752" y="2112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74" name="Rectangle 50"/>
                <p:cNvSpPr>
                  <a:spLocks noChangeArrowheads="1"/>
                </p:cNvSpPr>
                <p:nvPr/>
              </p:nvSpPr>
              <p:spPr bwMode="auto">
                <a:xfrm>
                  <a:off x="4752" y="2304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75" name="Rectangle 51"/>
                <p:cNvSpPr>
                  <a:spLocks noChangeArrowheads="1"/>
                </p:cNvSpPr>
                <p:nvPr/>
              </p:nvSpPr>
              <p:spPr bwMode="auto">
                <a:xfrm>
                  <a:off x="4752" y="768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  <p:sp>
              <p:nvSpPr>
                <p:cNvPr id="308276" name="Rectangle 52"/>
                <p:cNvSpPr>
                  <a:spLocks noChangeArrowheads="1"/>
                </p:cNvSpPr>
                <p:nvPr/>
              </p:nvSpPr>
              <p:spPr bwMode="auto">
                <a:xfrm>
                  <a:off x="4752" y="576"/>
                  <a:ext cx="576" cy="192"/>
                </a:xfrm>
                <a:prstGeom prst="rect">
                  <a:avLst/>
                </a:prstGeom>
                <a:solidFill>
                  <a:schemeClr val="accent1"/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308277" name="AutoShape 53"/>
              <p:cNvSpPr>
                <a:spLocks/>
              </p:cNvSpPr>
              <p:nvPr/>
            </p:nvSpPr>
            <p:spPr bwMode="auto">
              <a:xfrm>
                <a:off x="5088" y="609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78" name="AutoShape 54"/>
              <p:cNvSpPr>
                <a:spLocks/>
              </p:cNvSpPr>
              <p:nvPr/>
            </p:nvSpPr>
            <p:spPr bwMode="auto">
              <a:xfrm>
                <a:off x="5088" y="993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79" name="AutoShape 55"/>
              <p:cNvSpPr>
                <a:spLocks/>
              </p:cNvSpPr>
              <p:nvPr/>
            </p:nvSpPr>
            <p:spPr bwMode="auto">
              <a:xfrm>
                <a:off x="5088" y="1377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80" name="AutoShape 56"/>
              <p:cNvSpPr>
                <a:spLocks/>
              </p:cNvSpPr>
              <p:nvPr/>
            </p:nvSpPr>
            <p:spPr bwMode="auto">
              <a:xfrm>
                <a:off x="5088" y="1750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81" name="Rectangle 57"/>
              <p:cNvSpPr>
                <a:spLocks noChangeArrowheads="1"/>
              </p:cNvSpPr>
              <p:nvPr/>
            </p:nvSpPr>
            <p:spPr bwMode="auto">
              <a:xfrm>
                <a:off x="4512" y="2640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82" name="Rectangle 58"/>
              <p:cNvSpPr>
                <a:spLocks noChangeArrowheads="1"/>
              </p:cNvSpPr>
              <p:nvPr/>
            </p:nvSpPr>
            <p:spPr bwMode="auto">
              <a:xfrm>
                <a:off x="4512" y="2832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83" name="Rectangle 59"/>
              <p:cNvSpPr>
                <a:spLocks noChangeArrowheads="1"/>
              </p:cNvSpPr>
              <p:nvPr/>
            </p:nvSpPr>
            <p:spPr bwMode="auto">
              <a:xfrm>
                <a:off x="4512" y="3024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84" name="Rectangle 60"/>
              <p:cNvSpPr>
                <a:spLocks noChangeArrowheads="1"/>
              </p:cNvSpPr>
              <p:nvPr/>
            </p:nvSpPr>
            <p:spPr bwMode="auto">
              <a:xfrm>
                <a:off x="4512" y="2448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85" name="Rectangle 61"/>
              <p:cNvSpPr>
                <a:spLocks noChangeArrowheads="1"/>
              </p:cNvSpPr>
              <p:nvPr/>
            </p:nvSpPr>
            <p:spPr bwMode="auto">
              <a:xfrm>
                <a:off x="4512" y="2256"/>
                <a:ext cx="576" cy="192"/>
              </a:xfrm>
              <a:prstGeom prst="rect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86" name="AutoShape 62"/>
              <p:cNvSpPr>
                <a:spLocks/>
              </p:cNvSpPr>
              <p:nvPr/>
            </p:nvSpPr>
            <p:spPr bwMode="auto">
              <a:xfrm>
                <a:off x="5088" y="2119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87" name="AutoShape 63"/>
              <p:cNvSpPr>
                <a:spLocks/>
              </p:cNvSpPr>
              <p:nvPr/>
            </p:nvSpPr>
            <p:spPr bwMode="auto">
              <a:xfrm>
                <a:off x="5088" y="2503"/>
                <a:ext cx="183" cy="288"/>
              </a:xfrm>
              <a:prstGeom prst="rightBrace">
                <a:avLst>
                  <a:gd name="adj1" fmla="val 13115"/>
                  <a:gd name="adj2" fmla="val 50000"/>
                </a:avLst>
              </a:prstGeom>
              <a:noFill/>
              <a:ln w="12700" cap="sq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</p:grpSp>
      </p:grpSp>
      <p:grpSp>
        <p:nvGrpSpPr>
          <p:cNvPr id="64526" name="Group 64"/>
          <p:cNvGrpSpPr>
            <a:grpSpLocks/>
          </p:cNvGrpSpPr>
          <p:nvPr/>
        </p:nvGrpSpPr>
        <p:grpSpPr bwMode="auto">
          <a:xfrm>
            <a:off x="7316788" y="2446338"/>
            <a:ext cx="495300" cy="887412"/>
            <a:chOff x="4368" y="0"/>
            <a:chExt cx="1392" cy="1567"/>
          </a:xfrm>
        </p:grpSpPr>
        <p:grpSp>
          <p:nvGrpSpPr>
            <p:cNvPr id="64702" name="Group 65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08290" name="Freeform 66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291" name="Freeform 67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292" name="Rectangle 68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93" name="Freeform 69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294" name="Freeform 70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295" name="Freeform 71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296" name="Freeform 72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297" name="Rectangle 73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298" name="Freeform 74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299" name="Freeform 75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00" name="Freeform 76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01" name="Freeform 77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02" name="Freeform 78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03" name="Freeform 79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04" name="Freeform 80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05" name="Freeform 81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06" name="Freeform 82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07" name="Freeform 83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08" name="Freeform 84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09" name="Freeform 85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10" name="Freeform 86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11" name="Freeform 87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12" name="Freeform 88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13" name="Freeform 89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14" name="Freeform 90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15" name="Freeform 91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16" name="Freeform 92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17" name="Freeform 93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18" name="Freeform 94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19" name="Freeform 95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20" name="Freeform 96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21" name="Freeform 97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703" name="Text Box 98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64527" name="Group 99"/>
          <p:cNvGrpSpPr>
            <a:grpSpLocks/>
          </p:cNvGrpSpPr>
          <p:nvPr/>
        </p:nvGrpSpPr>
        <p:grpSpPr bwMode="auto">
          <a:xfrm>
            <a:off x="7316788" y="3051175"/>
            <a:ext cx="495300" cy="887413"/>
            <a:chOff x="4368" y="0"/>
            <a:chExt cx="1392" cy="1567"/>
          </a:xfrm>
        </p:grpSpPr>
        <p:grpSp>
          <p:nvGrpSpPr>
            <p:cNvPr id="64668" name="Group 100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08325" name="Freeform 101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26" name="Freeform 102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27" name="Rectangle 103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328" name="Freeform 104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29" name="Freeform 105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30" name="Freeform 106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31" name="Freeform 107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32" name="Rectangle 108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333" name="Freeform 109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34" name="Freeform 110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35" name="Freeform 111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36" name="Freeform 112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37" name="Freeform 113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38" name="Freeform 114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39" name="Freeform 115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40" name="Freeform 116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41" name="Freeform 117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42" name="Freeform 118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43" name="Freeform 119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44" name="Freeform 120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45" name="Freeform 121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46" name="Freeform 122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47" name="Freeform 123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48" name="Freeform 124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49" name="Freeform 125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50" name="Freeform 126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51" name="Freeform 127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52" name="Freeform 128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53" name="Freeform 129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54" name="Freeform 130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55" name="Freeform 131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56" name="Freeform 132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669" name="Text Box 133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64528" name="Group 134"/>
          <p:cNvGrpSpPr>
            <a:grpSpLocks/>
          </p:cNvGrpSpPr>
          <p:nvPr/>
        </p:nvGrpSpPr>
        <p:grpSpPr bwMode="auto">
          <a:xfrm>
            <a:off x="7316788" y="3641725"/>
            <a:ext cx="495300" cy="887413"/>
            <a:chOff x="4368" y="0"/>
            <a:chExt cx="1392" cy="1567"/>
          </a:xfrm>
        </p:grpSpPr>
        <p:grpSp>
          <p:nvGrpSpPr>
            <p:cNvPr id="64634" name="Group 135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08360" name="Freeform 136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9933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61" name="Freeform 137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62" name="Rectangle 138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363" name="Freeform 139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64" name="Freeform 140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65" name="Freeform 141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66" name="Freeform 142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67" name="Rectangle 143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368" name="Freeform 144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69" name="Freeform 145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70" name="Freeform 146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71" name="Freeform 147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72" name="Freeform 148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73" name="Freeform 149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74" name="Freeform 150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75" name="Freeform 151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76" name="Freeform 152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77" name="Freeform 153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78" name="Freeform 154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79" name="Freeform 155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80" name="Freeform 156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81" name="Freeform 157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82" name="Freeform 158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83" name="Freeform 159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84" name="Freeform 160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85" name="Freeform 161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86" name="Freeform 162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87" name="Freeform 163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88" name="Freeform 164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89" name="Freeform 165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90" name="Freeform 166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91" name="Freeform 167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635" name="Text Box 168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64529" name="Group 169"/>
          <p:cNvGrpSpPr>
            <a:grpSpLocks/>
          </p:cNvGrpSpPr>
          <p:nvPr/>
        </p:nvGrpSpPr>
        <p:grpSpPr bwMode="auto">
          <a:xfrm>
            <a:off x="7316788" y="4275138"/>
            <a:ext cx="495300" cy="887412"/>
            <a:chOff x="4368" y="0"/>
            <a:chExt cx="1392" cy="1567"/>
          </a:xfrm>
        </p:grpSpPr>
        <p:grpSp>
          <p:nvGrpSpPr>
            <p:cNvPr id="64600" name="Group 170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08395" name="Freeform 171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96" name="Freeform 172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97" name="Rectangle 173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398" name="Freeform 174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399" name="Freeform 175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00" name="Freeform 176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01" name="Freeform 177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02" name="Rectangle 178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403" name="Freeform 179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04" name="Freeform 180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05" name="Freeform 181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06" name="Freeform 182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07" name="Freeform 183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08" name="Freeform 184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09" name="Freeform 185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10" name="Freeform 186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11" name="Freeform 187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12" name="Freeform 188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13" name="Freeform 189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14" name="Freeform 190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15" name="Freeform 191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16" name="Freeform 192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17" name="Freeform 193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18" name="Freeform 194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19" name="Freeform 195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20" name="Freeform 196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21" name="Freeform 197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22" name="Freeform 198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23" name="Freeform 199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24" name="Freeform 200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25" name="Freeform 201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26" name="Freeform 202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601" name="Text Box 203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64530" name="Group 204"/>
          <p:cNvGrpSpPr>
            <a:grpSpLocks/>
          </p:cNvGrpSpPr>
          <p:nvPr/>
        </p:nvGrpSpPr>
        <p:grpSpPr bwMode="auto">
          <a:xfrm>
            <a:off x="7316788" y="4865688"/>
            <a:ext cx="495300" cy="887412"/>
            <a:chOff x="4368" y="0"/>
            <a:chExt cx="1392" cy="1567"/>
          </a:xfrm>
        </p:grpSpPr>
        <p:grpSp>
          <p:nvGrpSpPr>
            <p:cNvPr id="64566" name="Group 205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08430" name="Freeform 206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31" name="Freeform 207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32" name="Rectangle 208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433" name="Freeform 209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34" name="Freeform 210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35" name="Freeform 211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36" name="Freeform 212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37" name="Rectangle 213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438" name="Freeform 214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39" name="Freeform 215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40" name="Freeform 216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41" name="Freeform 217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42" name="Freeform 218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43" name="Freeform 219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44" name="Freeform 220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45" name="Freeform 221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46" name="Freeform 222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47" name="Freeform 223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48" name="Freeform 224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49" name="Freeform 225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50" name="Freeform 226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51" name="Freeform 227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52" name="Freeform 228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53" name="Freeform 229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54" name="Freeform 230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55" name="Freeform 231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56" name="Freeform 232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57" name="Freeform 233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58" name="Freeform 234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59" name="Freeform 235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60" name="Freeform 236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61" name="Freeform 237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67" name="Text Box 238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grpSp>
        <p:nvGrpSpPr>
          <p:cNvPr id="64531" name="Group 239"/>
          <p:cNvGrpSpPr>
            <a:grpSpLocks/>
          </p:cNvGrpSpPr>
          <p:nvPr/>
        </p:nvGrpSpPr>
        <p:grpSpPr bwMode="auto">
          <a:xfrm>
            <a:off x="7316788" y="5470525"/>
            <a:ext cx="495300" cy="887413"/>
            <a:chOff x="4368" y="0"/>
            <a:chExt cx="1392" cy="1567"/>
          </a:xfrm>
        </p:grpSpPr>
        <p:grpSp>
          <p:nvGrpSpPr>
            <p:cNvPr id="64532" name="Group 240"/>
            <p:cNvGrpSpPr>
              <a:grpSpLocks/>
            </p:cNvGrpSpPr>
            <p:nvPr/>
          </p:nvGrpSpPr>
          <p:grpSpPr bwMode="auto">
            <a:xfrm>
              <a:off x="4368" y="0"/>
              <a:ext cx="1392" cy="1056"/>
              <a:chOff x="4368" y="2016"/>
              <a:chExt cx="1072" cy="1344"/>
            </a:xfrm>
          </p:grpSpPr>
          <p:sp>
            <p:nvSpPr>
              <p:cNvPr id="308465" name="Freeform 241"/>
              <p:cNvSpPr>
                <a:spLocks/>
              </p:cNvSpPr>
              <p:nvPr/>
            </p:nvSpPr>
            <p:spPr bwMode="auto">
              <a:xfrm>
                <a:off x="4457" y="2460"/>
                <a:ext cx="897" cy="829"/>
              </a:xfrm>
              <a:custGeom>
                <a:avLst/>
                <a:gdLst>
                  <a:gd name="T0" fmla="*/ 445 w 897"/>
                  <a:gd name="T1" fmla="*/ 0 h 829"/>
                  <a:gd name="T2" fmla="*/ 897 w 897"/>
                  <a:gd name="T3" fmla="*/ 293 h 829"/>
                  <a:gd name="T4" fmla="*/ 897 w 897"/>
                  <a:gd name="T5" fmla="*/ 829 h 829"/>
                  <a:gd name="T6" fmla="*/ 601 w 897"/>
                  <a:gd name="T7" fmla="*/ 829 h 829"/>
                  <a:gd name="T8" fmla="*/ 296 w 897"/>
                  <a:gd name="T9" fmla="*/ 829 h 829"/>
                  <a:gd name="T10" fmla="*/ 0 w 897"/>
                  <a:gd name="T11" fmla="*/ 829 h 829"/>
                  <a:gd name="T12" fmla="*/ 0 w 897"/>
                  <a:gd name="T13" fmla="*/ 293 h 829"/>
                  <a:gd name="T14" fmla="*/ 445 w 897"/>
                  <a:gd name="T15" fmla="*/ 0 h 8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7" h="829">
                    <a:moveTo>
                      <a:pt x="445" y="0"/>
                    </a:moveTo>
                    <a:lnTo>
                      <a:pt x="897" y="293"/>
                    </a:lnTo>
                    <a:lnTo>
                      <a:pt x="897" y="829"/>
                    </a:lnTo>
                    <a:lnTo>
                      <a:pt x="601" y="829"/>
                    </a:lnTo>
                    <a:lnTo>
                      <a:pt x="296" y="829"/>
                    </a:lnTo>
                    <a:lnTo>
                      <a:pt x="0" y="829"/>
                    </a:lnTo>
                    <a:lnTo>
                      <a:pt x="0" y="293"/>
                    </a:lnTo>
                    <a:lnTo>
                      <a:pt x="445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66" name="Freeform 242"/>
              <p:cNvSpPr>
                <a:spLocks/>
              </p:cNvSpPr>
              <p:nvPr/>
            </p:nvSpPr>
            <p:spPr bwMode="auto">
              <a:xfrm>
                <a:off x="4368" y="2462"/>
                <a:ext cx="416" cy="288"/>
              </a:xfrm>
              <a:custGeom>
                <a:avLst/>
                <a:gdLst>
                  <a:gd name="T0" fmla="*/ 0 w 416"/>
                  <a:gd name="T1" fmla="*/ 288 h 288"/>
                  <a:gd name="T2" fmla="*/ 416 w 416"/>
                  <a:gd name="T3" fmla="*/ 32 h 288"/>
                  <a:gd name="T4" fmla="*/ 416 w 416"/>
                  <a:gd name="T5" fmla="*/ 27 h 288"/>
                  <a:gd name="T6" fmla="*/ 416 w 416"/>
                  <a:gd name="T7" fmla="*/ 19 h 288"/>
                  <a:gd name="T8" fmla="*/ 416 w 416"/>
                  <a:gd name="T9" fmla="*/ 9 h 288"/>
                  <a:gd name="T10" fmla="*/ 416 w 416"/>
                  <a:gd name="T11" fmla="*/ 0 h 288"/>
                  <a:gd name="T12" fmla="*/ 0 w 416"/>
                  <a:gd name="T13" fmla="*/ 254 h 288"/>
                  <a:gd name="T14" fmla="*/ 0 w 416"/>
                  <a:gd name="T15" fmla="*/ 288 h 28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6" h="288">
                    <a:moveTo>
                      <a:pt x="0" y="288"/>
                    </a:moveTo>
                    <a:lnTo>
                      <a:pt x="416" y="32"/>
                    </a:lnTo>
                    <a:lnTo>
                      <a:pt x="416" y="27"/>
                    </a:lnTo>
                    <a:lnTo>
                      <a:pt x="416" y="19"/>
                    </a:lnTo>
                    <a:lnTo>
                      <a:pt x="416" y="9"/>
                    </a:lnTo>
                    <a:lnTo>
                      <a:pt x="416" y="0"/>
                    </a:lnTo>
                    <a:lnTo>
                      <a:pt x="0" y="254"/>
                    </a:lnTo>
                    <a:lnTo>
                      <a:pt x="0" y="2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67" name="Rectangle 243"/>
              <p:cNvSpPr>
                <a:spLocks noChangeArrowheads="1"/>
              </p:cNvSpPr>
              <p:nvPr/>
            </p:nvSpPr>
            <p:spPr bwMode="auto">
              <a:xfrm>
                <a:off x="4457" y="3332"/>
                <a:ext cx="897" cy="2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468" name="Freeform 244"/>
              <p:cNvSpPr>
                <a:spLocks/>
              </p:cNvSpPr>
              <p:nvPr/>
            </p:nvSpPr>
            <p:spPr bwMode="auto">
              <a:xfrm>
                <a:off x="4786" y="2171"/>
                <a:ext cx="242" cy="327"/>
              </a:xfrm>
              <a:custGeom>
                <a:avLst/>
                <a:gdLst>
                  <a:gd name="T0" fmla="*/ 242 w 242"/>
                  <a:gd name="T1" fmla="*/ 327 h 327"/>
                  <a:gd name="T2" fmla="*/ 242 w 242"/>
                  <a:gd name="T3" fmla="*/ 0 h 327"/>
                  <a:gd name="T4" fmla="*/ 0 w 242"/>
                  <a:gd name="T5" fmla="*/ 0 h 327"/>
                  <a:gd name="T6" fmla="*/ 0 w 242"/>
                  <a:gd name="T7" fmla="*/ 321 h 327"/>
                  <a:gd name="T8" fmla="*/ 116 w 242"/>
                  <a:gd name="T9" fmla="*/ 240 h 327"/>
                  <a:gd name="T10" fmla="*/ 242 w 242"/>
                  <a:gd name="T11" fmla="*/ 327 h 3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2" h="327">
                    <a:moveTo>
                      <a:pt x="242" y="327"/>
                    </a:moveTo>
                    <a:lnTo>
                      <a:pt x="242" y="0"/>
                    </a:lnTo>
                    <a:lnTo>
                      <a:pt x="0" y="0"/>
                    </a:lnTo>
                    <a:lnTo>
                      <a:pt x="0" y="321"/>
                    </a:lnTo>
                    <a:lnTo>
                      <a:pt x="116" y="240"/>
                    </a:lnTo>
                    <a:lnTo>
                      <a:pt x="242" y="3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69" name="Freeform 245"/>
              <p:cNvSpPr>
                <a:spLocks/>
              </p:cNvSpPr>
              <p:nvPr/>
            </p:nvSpPr>
            <p:spPr bwMode="auto">
              <a:xfrm>
                <a:off x="4721" y="2016"/>
                <a:ext cx="361" cy="126"/>
              </a:xfrm>
              <a:custGeom>
                <a:avLst/>
                <a:gdLst>
                  <a:gd name="T0" fmla="*/ 181 w 361"/>
                  <a:gd name="T1" fmla="*/ 0 h 126"/>
                  <a:gd name="T2" fmla="*/ 0 w 361"/>
                  <a:gd name="T3" fmla="*/ 126 h 126"/>
                  <a:gd name="T4" fmla="*/ 361 w 361"/>
                  <a:gd name="T5" fmla="*/ 126 h 126"/>
                  <a:gd name="T6" fmla="*/ 181 w 361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1" h="126">
                    <a:moveTo>
                      <a:pt x="181" y="0"/>
                    </a:moveTo>
                    <a:lnTo>
                      <a:pt x="0" y="126"/>
                    </a:lnTo>
                    <a:lnTo>
                      <a:pt x="361" y="126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70" name="Freeform 246"/>
              <p:cNvSpPr>
                <a:spLocks/>
              </p:cNvSpPr>
              <p:nvPr/>
            </p:nvSpPr>
            <p:spPr bwMode="auto">
              <a:xfrm>
                <a:off x="5027" y="2467"/>
                <a:ext cx="413" cy="287"/>
              </a:xfrm>
              <a:custGeom>
                <a:avLst/>
                <a:gdLst>
                  <a:gd name="T0" fmla="*/ 413 w 413"/>
                  <a:gd name="T1" fmla="*/ 287 h 287"/>
                  <a:gd name="T2" fmla="*/ 0 w 413"/>
                  <a:gd name="T3" fmla="*/ 31 h 287"/>
                  <a:gd name="T4" fmla="*/ 0 w 413"/>
                  <a:gd name="T5" fmla="*/ 25 h 287"/>
                  <a:gd name="T6" fmla="*/ 0 w 413"/>
                  <a:gd name="T7" fmla="*/ 17 h 287"/>
                  <a:gd name="T8" fmla="*/ 0 w 413"/>
                  <a:gd name="T9" fmla="*/ 9 h 287"/>
                  <a:gd name="T10" fmla="*/ 0 w 413"/>
                  <a:gd name="T11" fmla="*/ 0 h 287"/>
                  <a:gd name="T12" fmla="*/ 413 w 413"/>
                  <a:gd name="T13" fmla="*/ 253 h 287"/>
                  <a:gd name="T14" fmla="*/ 413 w 413"/>
                  <a:gd name="T15" fmla="*/ 287 h 2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3" h="287">
                    <a:moveTo>
                      <a:pt x="413" y="287"/>
                    </a:moveTo>
                    <a:lnTo>
                      <a:pt x="0" y="31"/>
                    </a:lnTo>
                    <a:lnTo>
                      <a:pt x="0" y="2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413" y="253"/>
                    </a:lnTo>
                    <a:lnTo>
                      <a:pt x="413" y="28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71" name="Freeform 247"/>
              <p:cNvSpPr>
                <a:spLocks/>
              </p:cNvSpPr>
              <p:nvPr/>
            </p:nvSpPr>
            <p:spPr bwMode="auto">
              <a:xfrm>
                <a:off x="4840" y="2209"/>
                <a:ext cx="127" cy="164"/>
              </a:xfrm>
              <a:custGeom>
                <a:avLst/>
                <a:gdLst>
                  <a:gd name="T0" fmla="*/ 65 w 127"/>
                  <a:gd name="T1" fmla="*/ 0 h 164"/>
                  <a:gd name="T2" fmla="*/ 51 w 127"/>
                  <a:gd name="T3" fmla="*/ 1 h 164"/>
                  <a:gd name="T4" fmla="*/ 38 w 127"/>
                  <a:gd name="T5" fmla="*/ 6 h 164"/>
                  <a:gd name="T6" fmla="*/ 27 w 127"/>
                  <a:gd name="T7" fmla="*/ 13 h 164"/>
                  <a:gd name="T8" fmla="*/ 17 w 127"/>
                  <a:gd name="T9" fmla="*/ 20 h 164"/>
                  <a:gd name="T10" fmla="*/ 9 w 127"/>
                  <a:gd name="T11" fmla="*/ 32 h 164"/>
                  <a:gd name="T12" fmla="*/ 5 w 127"/>
                  <a:gd name="T13" fmla="*/ 44 h 164"/>
                  <a:gd name="T14" fmla="*/ 1 w 127"/>
                  <a:gd name="T15" fmla="*/ 58 h 164"/>
                  <a:gd name="T16" fmla="*/ 0 w 127"/>
                  <a:gd name="T17" fmla="*/ 74 h 164"/>
                  <a:gd name="T18" fmla="*/ 0 w 127"/>
                  <a:gd name="T19" fmla="*/ 103 h 164"/>
                  <a:gd name="T20" fmla="*/ 0 w 127"/>
                  <a:gd name="T21" fmla="*/ 126 h 164"/>
                  <a:gd name="T22" fmla="*/ 0 w 127"/>
                  <a:gd name="T23" fmla="*/ 145 h 164"/>
                  <a:gd name="T24" fmla="*/ 0 w 127"/>
                  <a:gd name="T25" fmla="*/ 164 h 164"/>
                  <a:gd name="T26" fmla="*/ 27 w 127"/>
                  <a:gd name="T27" fmla="*/ 164 h 164"/>
                  <a:gd name="T28" fmla="*/ 44 w 127"/>
                  <a:gd name="T29" fmla="*/ 164 h 164"/>
                  <a:gd name="T30" fmla="*/ 55 w 127"/>
                  <a:gd name="T31" fmla="*/ 164 h 164"/>
                  <a:gd name="T32" fmla="*/ 63 w 127"/>
                  <a:gd name="T33" fmla="*/ 164 h 164"/>
                  <a:gd name="T34" fmla="*/ 71 w 127"/>
                  <a:gd name="T35" fmla="*/ 164 h 164"/>
                  <a:gd name="T36" fmla="*/ 82 w 127"/>
                  <a:gd name="T37" fmla="*/ 164 h 164"/>
                  <a:gd name="T38" fmla="*/ 100 w 127"/>
                  <a:gd name="T39" fmla="*/ 164 h 164"/>
                  <a:gd name="T40" fmla="*/ 127 w 127"/>
                  <a:gd name="T41" fmla="*/ 164 h 164"/>
                  <a:gd name="T42" fmla="*/ 127 w 127"/>
                  <a:gd name="T43" fmla="*/ 139 h 164"/>
                  <a:gd name="T44" fmla="*/ 127 w 127"/>
                  <a:gd name="T45" fmla="*/ 114 h 164"/>
                  <a:gd name="T46" fmla="*/ 127 w 127"/>
                  <a:gd name="T47" fmla="*/ 90 h 164"/>
                  <a:gd name="T48" fmla="*/ 127 w 127"/>
                  <a:gd name="T49" fmla="*/ 71 h 164"/>
                  <a:gd name="T50" fmla="*/ 127 w 127"/>
                  <a:gd name="T51" fmla="*/ 62 h 164"/>
                  <a:gd name="T52" fmla="*/ 123 w 127"/>
                  <a:gd name="T53" fmla="*/ 51 h 164"/>
                  <a:gd name="T54" fmla="*/ 119 w 127"/>
                  <a:gd name="T55" fmla="*/ 38 h 164"/>
                  <a:gd name="T56" fmla="*/ 112 w 127"/>
                  <a:gd name="T57" fmla="*/ 27 h 164"/>
                  <a:gd name="T58" fmla="*/ 104 w 127"/>
                  <a:gd name="T59" fmla="*/ 16 h 164"/>
                  <a:gd name="T60" fmla="*/ 93 w 127"/>
                  <a:gd name="T61" fmla="*/ 8 h 164"/>
                  <a:gd name="T62" fmla="*/ 81 w 127"/>
                  <a:gd name="T63" fmla="*/ 1 h 164"/>
                  <a:gd name="T64" fmla="*/ 65 w 127"/>
                  <a:gd name="T65" fmla="*/ 0 h 16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4">
                    <a:moveTo>
                      <a:pt x="65" y="0"/>
                    </a:moveTo>
                    <a:lnTo>
                      <a:pt x="51" y="1"/>
                    </a:lnTo>
                    <a:lnTo>
                      <a:pt x="38" y="6"/>
                    </a:lnTo>
                    <a:lnTo>
                      <a:pt x="27" y="13"/>
                    </a:lnTo>
                    <a:lnTo>
                      <a:pt x="17" y="20"/>
                    </a:lnTo>
                    <a:lnTo>
                      <a:pt x="9" y="32"/>
                    </a:lnTo>
                    <a:lnTo>
                      <a:pt x="5" y="44"/>
                    </a:lnTo>
                    <a:lnTo>
                      <a:pt x="1" y="58"/>
                    </a:lnTo>
                    <a:lnTo>
                      <a:pt x="0" y="74"/>
                    </a:lnTo>
                    <a:lnTo>
                      <a:pt x="0" y="103"/>
                    </a:lnTo>
                    <a:lnTo>
                      <a:pt x="0" y="126"/>
                    </a:lnTo>
                    <a:lnTo>
                      <a:pt x="0" y="145"/>
                    </a:lnTo>
                    <a:lnTo>
                      <a:pt x="0" y="164"/>
                    </a:lnTo>
                    <a:lnTo>
                      <a:pt x="27" y="164"/>
                    </a:lnTo>
                    <a:lnTo>
                      <a:pt x="44" y="164"/>
                    </a:lnTo>
                    <a:lnTo>
                      <a:pt x="55" y="164"/>
                    </a:lnTo>
                    <a:lnTo>
                      <a:pt x="63" y="164"/>
                    </a:lnTo>
                    <a:lnTo>
                      <a:pt x="71" y="164"/>
                    </a:lnTo>
                    <a:lnTo>
                      <a:pt x="82" y="164"/>
                    </a:lnTo>
                    <a:lnTo>
                      <a:pt x="100" y="164"/>
                    </a:lnTo>
                    <a:lnTo>
                      <a:pt x="127" y="164"/>
                    </a:lnTo>
                    <a:lnTo>
                      <a:pt x="127" y="139"/>
                    </a:lnTo>
                    <a:lnTo>
                      <a:pt x="127" y="114"/>
                    </a:lnTo>
                    <a:lnTo>
                      <a:pt x="127" y="90"/>
                    </a:lnTo>
                    <a:lnTo>
                      <a:pt x="127" y="71"/>
                    </a:lnTo>
                    <a:lnTo>
                      <a:pt x="127" y="62"/>
                    </a:lnTo>
                    <a:lnTo>
                      <a:pt x="123" y="51"/>
                    </a:lnTo>
                    <a:lnTo>
                      <a:pt x="119" y="38"/>
                    </a:lnTo>
                    <a:lnTo>
                      <a:pt x="112" y="27"/>
                    </a:lnTo>
                    <a:lnTo>
                      <a:pt x="104" y="16"/>
                    </a:lnTo>
                    <a:lnTo>
                      <a:pt x="93" y="8"/>
                    </a:lnTo>
                    <a:lnTo>
                      <a:pt x="81" y="1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72" name="Rectangle 248"/>
              <p:cNvSpPr>
                <a:spLocks noChangeArrowheads="1"/>
              </p:cNvSpPr>
              <p:nvPr/>
            </p:nvSpPr>
            <p:spPr bwMode="auto">
              <a:xfrm>
                <a:off x="4804" y="2901"/>
                <a:ext cx="206" cy="38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endParaRPr>
              </a:p>
            </p:txBody>
          </p:sp>
          <p:sp>
            <p:nvSpPr>
              <p:cNvPr id="308473" name="Freeform 249"/>
              <p:cNvSpPr>
                <a:spLocks/>
              </p:cNvSpPr>
              <p:nvPr/>
            </p:nvSpPr>
            <p:spPr bwMode="auto">
              <a:xfrm>
                <a:off x="4735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74" name="Freeform 250"/>
              <p:cNvSpPr>
                <a:spLocks/>
              </p:cNvSpPr>
              <p:nvPr/>
            </p:nvSpPr>
            <p:spPr bwMode="auto">
              <a:xfrm>
                <a:off x="4556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75" name="Freeform 251"/>
              <p:cNvSpPr>
                <a:spLocks/>
              </p:cNvSpPr>
              <p:nvPr/>
            </p:nvSpPr>
            <p:spPr bwMode="auto">
              <a:xfrm>
                <a:off x="4556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76" name="Freeform 252"/>
              <p:cNvSpPr>
                <a:spLocks/>
              </p:cNvSpPr>
              <p:nvPr/>
            </p:nvSpPr>
            <p:spPr bwMode="auto">
              <a:xfrm>
                <a:off x="4564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77" name="Freeform 253"/>
              <p:cNvSpPr>
                <a:spLocks/>
              </p:cNvSpPr>
              <p:nvPr/>
            </p:nvSpPr>
            <p:spPr bwMode="auto">
              <a:xfrm>
                <a:off x="4566" y="2914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78" name="Freeform 254"/>
              <p:cNvSpPr>
                <a:spLocks/>
              </p:cNvSpPr>
              <p:nvPr/>
            </p:nvSpPr>
            <p:spPr bwMode="auto">
              <a:xfrm>
                <a:off x="4566" y="3026"/>
                <a:ext cx="176" cy="16"/>
              </a:xfrm>
              <a:custGeom>
                <a:avLst/>
                <a:gdLst>
                  <a:gd name="T0" fmla="*/ 176 w 176"/>
                  <a:gd name="T1" fmla="*/ 8 h 16"/>
                  <a:gd name="T2" fmla="*/ 176 w 176"/>
                  <a:gd name="T3" fmla="*/ 0 h 16"/>
                  <a:gd name="T4" fmla="*/ 0 w 176"/>
                  <a:gd name="T5" fmla="*/ 0 h 16"/>
                  <a:gd name="T6" fmla="*/ 0 w 176"/>
                  <a:gd name="T7" fmla="*/ 16 h 16"/>
                  <a:gd name="T8" fmla="*/ 176 w 176"/>
                  <a:gd name="T9" fmla="*/ 16 h 16"/>
                  <a:gd name="T10" fmla="*/ 176 w 176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6" h="16">
                    <a:moveTo>
                      <a:pt x="176" y="8"/>
                    </a:moveTo>
                    <a:lnTo>
                      <a:pt x="176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6" y="16"/>
                    </a:lnTo>
                    <a:lnTo>
                      <a:pt x="17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79" name="Freeform 255"/>
              <p:cNvSpPr>
                <a:spLocks/>
              </p:cNvSpPr>
              <p:nvPr/>
            </p:nvSpPr>
            <p:spPr bwMode="auto">
              <a:xfrm>
                <a:off x="4644" y="2835"/>
                <a:ext cx="15" cy="302"/>
              </a:xfrm>
              <a:custGeom>
                <a:avLst/>
                <a:gdLst>
                  <a:gd name="T0" fmla="*/ 7 w 15"/>
                  <a:gd name="T1" fmla="*/ 302 h 302"/>
                  <a:gd name="T2" fmla="*/ 15 w 15"/>
                  <a:gd name="T3" fmla="*/ 302 h 302"/>
                  <a:gd name="T4" fmla="*/ 15 w 15"/>
                  <a:gd name="T5" fmla="*/ 0 h 302"/>
                  <a:gd name="T6" fmla="*/ 0 w 15"/>
                  <a:gd name="T7" fmla="*/ 0 h 302"/>
                  <a:gd name="T8" fmla="*/ 0 w 15"/>
                  <a:gd name="T9" fmla="*/ 302 h 302"/>
                  <a:gd name="T10" fmla="*/ 7 w 15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02">
                    <a:moveTo>
                      <a:pt x="7" y="302"/>
                    </a:moveTo>
                    <a:lnTo>
                      <a:pt x="15" y="302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7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80" name="Freeform 256"/>
              <p:cNvSpPr>
                <a:spLocks/>
              </p:cNvSpPr>
              <p:nvPr/>
            </p:nvSpPr>
            <p:spPr bwMode="auto">
              <a:xfrm>
                <a:off x="5239" y="2822"/>
                <a:ext cx="16" cy="320"/>
              </a:xfrm>
              <a:custGeom>
                <a:avLst/>
                <a:gdLst>
                  <a:gd name="T0" fmla="*/ 8 w 16"/>
                  <a:gd name="T1" fmla="*/ 16 h 320"/>
                  <a:gd name="T2" fmla="*/ 0 w 16"/>
                  <a:gd name="T3" fmla="*/ 8 h 320"/>
                  <a:gd name="T4" fmla="*/ 0 w 16"/>
                  <a:gd name="T5" fmla="*/ 320 h 320"/>
                  <a:gd name="T6" fmla="*/ 16 w 16"/>
                  <a:gd name="T7" fmla="*/ 320 h 320"/>
                  <a:gd name="T8" fmla="*/ 16 w 16"/>
                  <a:gd name="T9" fmla="*/ 8 h 320"/>
                  <a:gd name="T10" fmla="*/ 8 w 16"/>
                  <a:gd name="T11" fmla="*/ 0 h 320"/>
                  <a:gd name="T12" fmla="*/ 16 w 16"/>
                  <a:gd name="T13" fmla="*/ 8 h 320"/>
                  <a:gd name="T14" fmla="*/ 16 w 16"/>
                  <a:gd name="T15" fmla="*/ 0 h 320"/>
                  <a:gd name="T16" fmla="*/ 8 w 16"/>
                  <a:gd name="T17" fmla="*/ 0 h 320"/>
                  <a:gd name="T18" fmla="*/ 8 w 16"/>
                  <a:gd name="T19" fmla="*/ 16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16"/>
                    </a:moveTo>
                    <a:lnTo>
                      <a:pt x="0" y="8"/>
                    </a:lnTo>
                    <a:lnTo>
                      <a:pt x="0" y="320"/>
                    </a:lnTo>
                    <a:lnTo>
                      <a:pt x="16" y="320"/>
                    </a:lnTo>
                    <a:lnTo>
                      <a:pt x="16" y="8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0"/>
                    </a:lnTo>
                    <a:lnTo>
                      <a:pt x="8" y="0"/>
                    </a:lnTo>
                    <a:lnTo>
                      <a:pt x="8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81" name="Freeform 257"/>
              <p:cNvSpPr>
                <a:spLocks/>
              </p:cNvSpPr>
              <p:nvPr/>
            </p:nvSpPr>
            <p:spPr bwMode="auto">
              <a:xfrm>
                <a:off x="5060" y="2822"/>
                <a:ext cx="187" cy="16"/>
              </a:xfrm>
              <a:custGeom>
                <a:avLst/>
                <a:gdLst>
                  <a:gd name="T0" fmla="*/ 16 w 187"/>
                  <a:gd name="T1" fmla="*/ 8 h 16"/>
                  <a:gd name="T2" fmla="*/ 8 w 187"/>
                  <a:gd name="T3" fmla="*/ 16 h 16"/>
                  <a:gd name="T4" fmla="*/ 187 w 187"/>
                  <a:gd name="T5" fmla="*/ 16 h 16"/>
                  <a:gd name="T6" fmla="*/ 187 w 187"/>
                  <a:gd name="T7" fmla="*/ 0 h 16"/>
                  <a:gd name="T8" fmla="*/ 8 w 187"/>
                  <a:gd name="T9" fmla="*/ 0 h 16"/>
                  <a:gd name="T10" fmla="*/ 0 w 187"/>
                  <a:gd name="T11" fmla="*/ 8 h 16"/>
                  <a:gd name="T12" fmla="*/ 8 w 187"/>
                  <a:gd name="T13" fmla="*/ 0 h 16"/>
                  <a:gd name="T14" fmla="*/ 0 w 187"/>
                  <a:gd name="T15" fmla="*/ 0 h 16"/>
                  <a:gd name="T16" fmla="*/ 0 w 187"/>
                  <a:gd name="T17" fmla="*/ 8 h 16"/>
                  <a:gd name="T18" fmla="*/ 16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6" y="8"/>
                    </a:moveTo>
                    <a:lnTo>
                      <a:pt x="8" y="16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8" y="0"/>
                    </a:lnTo>
                    <a:lnTo>
                      <a:pt x="0" y="8"/>
                    </a:lnTo>
                    <a:lnTo>
                      <a:pt x="8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82" name="Freeform 258"/>
              <p:cNvSpPr>
                <a:spLocks/>
              </p:cNvSpPr>
              <p:nvPr/>
            </p:nvSpPr>
            <p:spPr bwMode="auto">
              <a:xfrm>
                <a:off x="5060" y="2830"/>
                <a:ext cx="16" cy="320"/>
              </a:xfrm>
              <a:custGeom>
                <a:avLst/>
                <a:gdLst>
                  <a:gd name="T0" fmla="*/ 8 w 16"/>
                  <a:gd name="T1" fmla="*/ 304 h 320"/>
                  <a:gd name="T2" fmla="*/ 16 w 16"/>
                  <a:gd name="T3" fmla="*/ 312 h 320"/>
                  <a:gd name="T4" fmla="*/ 16 w 16"/>
                  <a:gd name="T5" fmla="*/ 0 h 320"/>
                  <a:gd name="T6" fmla="*/ 0 w 16"/>
                  <a:gd name="T7" fmla="*/ 0 h 320"/>
                  <a:gd name="T8" fmla="*/ 0 w 16"/>
                  <a:gd name="T9" fmla="*/ 312 h 320"/>
                  <a:gd name="T10" fmla="*/ 8 w 16"/>
                  <a:gd name="T11" fmla="*/ 320 h 320"/>
                  <a:gd name="T12" fmla="*/ 0 w 16"/>
                  <a:gd name="T13" fmla="*/ 312 h 320"/>
                  <a:gd name="T14" fmla="*/ 0 w 16"/>
                  <a:gd name="T15" fmla="*/ 320 h 320"/>
                  <a:gd name="T16" fmla="*/ 8 w 16"/>
                  <a:gd name="T17" fmla="*/ 320 h 320"/>
                  <a:gd name="T18" fmla="*/ 8 w 16"/>
                  <a:gd name="T19" fmla="*/ 304 h 3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6" h="320">
                    <a:moveTo>
                      <a:pt x="8" y="304"/>
                    </a:moveTo>
                    <a:lnTo>
                      <a:pt x="16" y="31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12"/>
                    </a:lnTo>
                    <a:lnTo>
                      <a:pt x="8" y="320"/>
                    </a:lnTo>
                    <a:lnTo>
                      <a:pt x="0" y="312"/>
                    </a:lnTo>
                    <a:lnTo>
                      <a:pt x="0" y="320"/>
                    </a:lnTo>
                    <a:lnTo>
                      <a:pt x="8" y="320"/>
                    </a:lnTo>
                    <a:lnTo>
                      <a:pt x="8" y="3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83" name="Freeform 259"/>
              <p:cNvSpPr>
                <a:spLocks/>
              </p:cNvSpPr>
              <p:nvPr/>
            </p:nvSpPr>
            <p:spPr bwMode="auto">
              <a:xfrm>
                <a:off x="5068" y="3134"/>
                <a:ext cx="187" cy="16"/>
              </a:xfrm>
              <a:custGeom>
                <a:avLst/>
                <a:gdLst>
                  <a:gd name="T0" fmla="*/ 171 w 187"/>
                  <a:gd name="T1" fmla="*/ 8 h 16"/>
                  <a:gd name="T2" fmla="*/ 179 w 187"/>
                  <a:gd name="T3" fmla="*/ 0 h 16"/>
                  <a:gd name="T4" fmla="*/ 0 w 187"/>
                  <a:gd name="T5" fmla="*/ 0 h 16"/>
                  <a:gd name="T6" fmla="*/ 0 w 187"/>
                  <a:gd name="T7" fmla="*/ 16 h 16"/>
                  <a:gd name="T8" fmla="*/ 179 w 187"/>
                  <a:gd name="T9" fmla="*/ 16 h 16"/>
                  <a:gd name="T10" fmla="*/ 187 w 187"/>
                  <a:gd name="T11" fmla="*/ 8 h 16"/>
                  <a:gd name="T12" fmla="*/ 179 w 187"/>
                  <a:gd name="T13" fmla="*/ 16 h 16"/>
                  <a:gd name="T14" fmla="*/ 187 w 187"/>
                  <a:gd name="T15" fmla="*/ 16 h 16"/>
                  <a:gd name="T16" fmla="*/ 187 w 187"/>
                  <a:gd name="T17" fmla="*/ 8 h 16"/>
                  <a:gd name="T18" fmla="*/ 171 w 187"/>
                  <a:gd name="T19" fmla="*/ 8 h 1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87" h="16">
                    <a:moveTo>
                      <a:pt x="171" y="8"/>
                    </a:moveTo>
                    <a:lnTo>
                      <a:pt x="179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9" y="16"/>
                    </a:lnTo>
                    <a:lnTo>
                      <a:pt x="187" y="8"/>
                    </a:lnTo>
                    <a:lnTo>
                      <a:pt x="179" y="16"/>
                    </a:lnTo>
                    <a:lnTo>
                      <a:pt x="187" y="16"/>
                    </a:lnTo>
                    <a:lnTo>
                      <a:pt x="187" y="8"/>
                    </a:lnTo>
                    <a:lnTo>
                      <a:pt x="171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84" name="Freeform 260"/>
              <p:cNvSpPr>
                <a:spLocks/>
              </p:cNvSpPr>
              <p:nvPr/>
            </p:nvSpPr>
            <p:spPr bwMode="auto">
              <a:xfrm>
                <a:off x="5069" y="2914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85" name="Freeform 261"/>
              <p:cNvSpPr>
                <a:spLocks/>
              </p:cNvSpPr>
              <p:nvPr/>
            </p:nvSpPr>
            <p:spPr bwMode="auto">
              <a:xfrm>
                <a:off x="5069" y="3026"/>
                <a:ext cx="175" cy="16"/>
              </a:xfrm>
              <a:custGeom>
                <a:avLst/>
                <a:gdLst>
                  <a:gd name="T0" fmla="*/ 175 w 175"/>
                  <a:gd name="T1" fmla="*/ 8 h 16"/>
                  <a:gd name="T2" fmla="*/ 175 w 175"/>
                  <a:gd name="T3" fmla="*/ 0 h 16"/>
                  <a:gd name="T4" fmla="*/ 0 w 175"/>
                  <a:gd name="T5" fmla="*/ 0 h 16"/>
                  <a:gd name="T6" fmla="*/ 0 w 175"/>
                  <a:gd name="T7" fmla="*/ 16 h 16"/>
                  <a:gd name="T8" fmla="*/ 175 w 175"/>
                  <a:gd name="T9" fmla="*/ 16 h 16"/>
                  <a:gd name="T10" fmla="*/ 175 w 175"/>
                  <a:gd name="T11" fmla="*/ 8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5" h="16">
                    <a:moveTo>
                      <a:pt x="175" y="8"/>
                    </a:moveTo>
                    <a:lnTo>
                      <a:pt x="175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175" y="16"/>
                    </a:lnTo>
                    <a:lnTo>
                      <a:pt x="175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86" name="Freeform 262"/>
              <p:cNvSpPr>
                <a:spLocks/>
              </p:cNvSpPr>
              <p:nvPr/>
            </p:nvSpPr>
            <p:spPr bwMode="auto">
              <a:xfrm>
                <a:off x="5147" y="2835"/>
                <a:ext cx="16" cy="302"/>
              </a:xfrm>
              <a:custGeom>
                <a:avLst/>
                <a:gdLst>
                  <a:gd name="T0" fmla="*/ 8 w 16"/>
                  <a:gd name="T1" fmla="*/ 302 h 302"/>
                  <a:gd name="T2" fmla="*/ 16 w 16"/>
                  <a:gd name="T3" fmla="*/ 302 h 302"/>
                  <a:gd name="T4" fmla="*/ 16 w 16"/>
                  <a:gd name="T5" fmla="*/ 0 h 302"/>
                  <a:gd name="T6" fmla="*/ 0 w 16"/>
                  <a:gd name="T7" fmla="*/ 0 h 302"/>
                  <a:gd name="T8" fmla="*/ 0 w 16"/>
                  <a:gd name="T9" fmla="*/ 302 h 302"/>
                  <a:gd name="T10" fmla="*/ 8 w 16"/>
                  <a:gd name="T11" fmla="*/ 302 h 3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302">
                    <a:moveTo>
                      <a:pt x="8" y="302"/>
                    </a:moveTo>
                    <a:lnTo>
                      <a:pt x="16" y="302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302"/>
                    </a:lnTo>
                    <a:lnTo>
                      <a:pt x="8" y="30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87" name="Freeform 263"/>
              <p:cNvSpPr>
                <a:spLocks/>
              </p:cNvSpPr>
              <p:nvPr/>
            </p:nvSpPr>
            <p:spPr bwMode="auto">
              <a:xfrm>
                <a:off x="4849" y="2236"/>
                <a:ext cx="103" cy="112"/>
              </a:xfrm>
              <a:custGeom>
                <a:avLst/>
                <a:gdLst>
                  <a:gd name="T0" fmla="*/ 59 w 103"/>
                  <a:gd name="T1" fmla="*/ 112 h 112"/>
                  <a:gd name="T2" fmla="*/ 76 w 103"/>
                  <a:gd name="T3" fmla="*/ 112 h 112"/>
                  <a:gd name="T4" fmla="*/ 89 w 103"/>
                  <a:gd name="T5" fmla="*/ 109 h 112"/>
                  <a:gd name="T6" fmla="*/ 99 w 103"/>
                  <a:gd name="T7" fmla="*/ 107 h 112"/>
                  <a:gd name="T8" fmla="*/ 102 w 103"/>
                  <a:gd name="T9" fmla="*/ 104 h 112"/>
                  <a:gd name="T10" fmla="*/ 103 w 103"/>
                  <a:gd name="T11" fmla="*/ 103 h 112"/>
                  <a:gd name="T12" fmla="*/ 103 w 103"/>
                  <a:gd name="T13" fmla="*/ 98 h 112"/>
                  <a:gd name="T14" fmla="*/ 100 w 103"/>
                  <a:gd name="T15" fmla="*/ 88 h 112"/>
                  <a:gd name="T16" fmla="*/ 97 w 103"/>
                  <a:gd name="T17" fmla="*/ 79 h 112"/>
                  <a:gd name="T18" fmla="*/ 95 w 103"/>
                  <a:gd name="T19" fmla="*/ 73 h 112"/>
                  <a:gd name="T20" fmla="*/ 95 w 103"/>
                  <a:gd name="T21" fmla="*/ 68 h 112"/>
                  <a:gd name="T22" fmla="*/ 94 w 103"/>
                  <a:gd name="T23" fmla="*/ 66 h 112"/>
                  <a:gd name="T24" fmla="*/ 92 w 103"/>
                  <a:gd name="T25" fmla="*/ 60 h 112"/>
                  <a:gd name="T26" fmla="*/ 91 w 103"/>
                  <a:gd name="T27" fmla="*/ 50 h 112"/>
                  <a:gd name="T28" fmla="*/ 91 w 103"/>
                  <a:gd name="T29" fmla="*/ 42 h 112"/>
                  <a:gd name="T30" fmla="*/ 91 w 103"/>
                  <a:gd name="T31" fmla="*/ 41 h 112"/>
                  <a:gd name="T32" fmla="*/ 89 w 103"/>
                  <a:gd name="T33" fmla="*/ 33 h 112"/>
                  <a:gd name="T34" fmla="*/ 89 w 103"/>
                  <a:gd name="T35" fmla="*/ 22 h 112"/>
                  <a:gd name="T36" fmla="*/ 87 w 103"/>
                  <a:gd name="T37" fmla="*/ 9 h 112"/>
                  <a:gd name="T38" fmla="*/ 75 w 103"/>
                  <a:gd name="T39" fmla="*/ 1 h 112"/>
                  <a:gd name="T40" fmla="*/ 59 w 103"/>
                  <a:gd name="T41" fmla="*/ 0 h 112"/>
                  <a:gd name="T42" fmla="*/ 45 w 103"/>
                  <a:gd name="T43" fmla="*/ 3 h 112"/>
                  <a:gd name="T44" fmla="*/ 38 w 103"/>
                  <a:gd name="T45" fmla="*/ 14 h 112"/>
                  <a:gd name="T46" fmla="*/ 34 w 103"/>
                  <a:gd name="T47" fmla="*/ 25 h 112"/>
                  <a:gd name="T48" fmla="*/ 30 w 103"/>
                  <a:gd name="T49" fmla="*/ 31 h 112"/>
                  <a:gd name="T50" fmla="*/ 30 w 103"/>
                  <a:gd name="T51" fmla="*/ 33 h 112"/>
                  <a:gd name="T52" fmla="*/ 27 w 103"/>
                  <a:gd name="T53" fmla="*/ 39 h 112"/>
                  <a:gd name="T54" fmla="*/ 23 w 103"/>
                  <a:gd name="T55" fmla="*/ 49 h 112"/>
                  <a:gd name="T56" fmla="*/ 19 w 103"/>
                  <a:gd name="T57" fmla="*/ 54 h 112"/>
                  <a:gd name="T58" fmla="*/ 19 w 103"/>
                  <a:gd name="T59" fmla="*/ 55 h 112"/>
                  <a:gd name="T60" fmla="*/ 16 w 103"/>
                  <a:gd name="T61" fmla="*/ 58 h 112"/>
                  <a:gd name="T62" fmla="*/ 11 w 103"/>
                  <a:gd name="T63" fmla="*/ 63 h 112"/>
                  <a:gd name="T64" fmla="*/ 5 w 103"/>
                  <a:gd name="T65" fmla="*/ 73 h 112"/>
                  <a:gd name="T66" fmla="*/ 0 w 103"/>
                  <a:gd name="T67" fmla="*/ 82 h 112"/>
                  <a:gd name="T68" fmla="*/ 0 w 103"/>
                  <a:gd name="T69" fmla="*/ 87 h 112"/>
                  <a:gd name="T70" fmla="*/ 0 w 103"/>
                  <a:gd name="T71" fmla="*/ 88 h 112"/>
                  <a:gd name="T72" fmla="*/ 7 w 103"/>
                  <a:gd name="T73" fmla="*/ 93 h 112"/>
                  <a:gd name="T74" fmla="*/ 29 w 103"/>
                  <a:gd name="T75" fmla="*/ 106 h 11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3" h="112">
                    <a:moveTo>
                      <a:pt x="48" y="110"/>
                    </a:moveTo>
                    <a:lnTo>
                      <a:pt x="59" y="112"/>
                    </a:lnTo>
                    <a:lnTo>
                      <a:pt x="68" y="112"/>
                    </a:lnTo>
                    <a:lnTo>
                      <a:pt x="76" y="112"/>
                    </a:lnTo>
                    <a:lnTo>
                      <a:pt x="84" y="110"/>
                    </a:lnTo>
                    <a:lnTo>
                      <a:pt x="89" y="109"/>
                    </a:lnTo>
                    <a:lnTo>
                      <a:pt x="94" y="107"/>
                    </a:lnTo>
                    <a:lnTo>
                      <a:pt x="99" y="107"/>
                    </a:lnTo>
                    <a:lnTo>
                      <a:pt x="100" y="106"/>
                    </a:lnTo>
                    <a:lnTo>
                      <a:pt x="102" y="104"/>
                    </a:lnTo>
                    <a:lnTo>
                      <a:pt x="102" y="103"/>
                    </a:lnTo>
                    <a:lnTo>
                      <a:pt x="103" y="103"/>
                    </a:lnTo>
                    <a:lnTo>
                      <a:pt x="103" y="101"/>
                    </a:lnTo>
                    <a:lnTo>
                      <a:pt x="103" y="98"/>
                    </a:lnTo>
                    <a:lnTo>
                      <a:pt x="103" y="93"/>
                    </a:lnTo>
                    <a:lnTo>
                      <a:pt x="100" y="88"/>
                    </a:lnTo>
                    <a:lnTo>
                      <a:pt x="99" y="82"/>
                    </a:lnTo>
                    <a:lnTo>
                      <a:pt x="97" y="79"/>
                    </a:lnTo>
                    <a:lnTo>
                      <a:pt x="97" y="76"/>
                    </a:lnTo>
                    <a:lnTo>
                      <a:pt x="95" y="73"/>
                    </a:lnTo>
                    <a:lnTo>
                      <a:pt x="95" y="69"/>
                    </a:lnTo>
                    <a:lnTo>
                      <a:pt x="95" y="68"/>
                    </a:lnTo>
                    <a:lnTo>
                      <a:pt x="94" y="66"/>
                    </a:lnTo>
                    <a:lnTo>
                      <a:pt x="92" y="60"/>
                    </a:lnTo>
                    <a:lnTo>
                      <a:pt x="92" y="55"/>
                    </a:lnTo>
                    <a:lnTo>
                      <a:pt x="91" y="50"/>
                    </a:lnTo>
                    <a:lnTo>
                      <a:pt x="91" y="44"/>
                    </a:lnTo>
                    <a:lnTo>
                      <a:pt x="91" y="42"/>
                    </a:lnTo>
                    <a:lnTo>
                      <a:pt x="91" y="41"/>
                    </a:lnTo>
                    <a:lnTo>
                      <a:pt x="89" y="33"/>
                    </a:lnTo>
                    <a:lnTo>
                      <a:pt x="89" y="27"/>
                    </a:lnTo>
                    <a:lnTo>
                      <a:pt x="89" y="22"/>
                    </a:lnTo>
                    <a:lnTo>
                      <a:pt x="89" y="17"/>
                    </a:lnTo>
                    <a:lnTo>
                      <a:pt x="87" y="9"/>
                    </a:lnTo>
                    <a:lnTo>
                      <a:pt x="83" y="5"/>
                    </a:lnTo>
                    <a:lnTo>
                      <a:pt x="75" y="1"/>
                    </a:lnTo>
                    <a:lnTo>
                      <a:pt x="67" y="0"/>
                    </a:lnTo>
                    <a:lnTo>
                      <a:pt x="59" y="0"/>
                    </a:lnTo>
                    <a:lnTo>
                      <a:pt x="51" y="0"/>
                    </a:lnTo>
                    <a:lnTo>
                      <a:pt x="45" y="3"/>
                    </a:lnTo>
                    <a:lnTo>
                      <a:pt x="40" y="9"/>
                    </a:lnTo>
                    <a:lnTo>
                      <a:pt x="38" y="14"/>
                    </a:lnTo>
                    <a:lnTo>
                      <a:pt x="37" y="19"/>
                    </a:lnTo>
                    <a:lnTo>
                      <a:pt x="34" y="25"/>
                    </a:lnTo>
                    <a:lnTo>
                      <a:pt x="30" y="31"/>
                    </a:lnTo>
                    <a:lnTo>
                      <a:pt x="30" y="33"/>
                    </a:lnTo>
                    <a:lnTo>
                      <a:pt x="30" y="35"/>
                    </a:lnTo>
                    <a:lnTo>
                      <a:pt x="27" y="39"/>
                    </a:lnTo>
                    <a:lnTo>
                      <a:pt x="26" y="44"/>
                    </a:lnTo>
                    <a:lnTo>
                      <a:pt x="23" y="49"/>
                    </a:lnTo>
                    <a:lnTo>
                      <a:pt x="19" y="54"/>
                    </a:lnTo>
                    <a:lnTo>
                      <a:pt x="19" y="55"/>
                    </a:lnTo>
                    <a:lnTo>
                      <a:pt x="18" y="55"/>
                    </a:lnTo>
                    <a:lnTo>
                      <a:pt x="16" y="58"/>
                    </a:lnTo>
                    <a:lnTo>
                      <a:pt x="15" y="61"/>
                    </a:lnTo>
                    <a:lnTo>
                      <a:pt x="11" y="63"/>
                    </a:lnTo>
                    <a:lnTo>
                      <a:pt x="10" y="66"/>
                    </a:lnTo>
                    <a:lnTo>
                      <a:pt x="5" y="73"/>
                    </a:lnTo>
                    <a:lnTo>
                      <a:pt x="2" y="77"/>
                    </a:lnTo>
                    <a:lnTo>
                      <a:pt x="0" y="82"/>
                    </a:lnTo>
                    <a:lnTo>
                      <a:pt x="0" y="85"/>
                    </a:lnTo>
                    <a:lnTo>
                      <a:pt x="0" y="87"/>
                    </a:lnTo>
                    <a:lnTo>
                      <a:pt x="0" y="88"/>
                    </a:lnTo>
                    <a:lnTo>
                      <a:pt x="2" y="88"/>
                    </a:lnTo>
                    <a:lnTo>
                      <a:pt x="7" y="93"/>
                    </a:lnTo>
                    <a:lnTo>
                      <a:pt x="15" y="99"/>
                    </a:lnTo>
                    <a:lnTo>
                      <a:pt x="29" y="106"/>
                    </a:lnTo>
                    <a:lnTo>
                      <a:pt x="48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88" name="Freeform 264"/>
              <p:cNvSpPr>
                <a:spLocks/>
              </p:cNvSpPr>
              <p:nvPr/>
            </p:nvSpPr>
            <p:spPr bwMode="auto">
              <a:xfrm>
                <a:off x="4849" y="2315"/>
                <a:ext cx="103" cy="28"/>
              </a:xfrm>
              <a:custGeom>
                <a:avLst/>
                <a:gdLst>
                  <a:gd name="T0" fmla="*/ 40 w 103"/>
                  <a:gd name="T1" fmla="*/ 3 h 28"/>
                  <a:gd name="T2" fmla="*/ 49 w 103"/>
                  <a:gd name="T3" fmla="*/ 5 h 28"/>
                  <a:gd name="T4" fmla="*/ 59 w 103"/>
                  <a:gd name="T5" fmla="*/ 6 h 28"/>
                  <a:gd name="T6" fmla="*/ 67 w 103"/>
                  <a:gd name="T7" fmla="*/ 8 h 28"/>
                  <a:gd name="T8" fmla="*/ 75 w 103"/>
                  <a:gd name="T9" fmla="*/ 11 h 28"/>
                  <a:gd name="T10" fmla="*/ 83 w 103"/>
                  <a:gd name="T11" fmla="*/ 14 h 28"/>
                  <a:gd name="T12" fmla="*/ 89 w 103"/>
                  <a:gd name="T13" fmla="*/ 17 h 28"/>
                  <a:gd name="T14" fmla="*/ 95 w 103"/>
                  <a:gd name="T15" fmla="*/ 22 h 28"/>
                  <a:gd name="T16" fmla="*/ 100 w 103"/>
                  <a:gd name="T17" fmla="*/ 27 h 28"/>
                  <a:gd name="T18" fmla="*/ 102 w 103"/>
                  <a:gd name="T19" fmla="*/ 25 h 28"/>
                  <a:gd name="T20" fmla="*/ 102 w 103"/>
                  <a:gd name="T21" fmla="*/ 24 h 28"/>
                  <a:gd name="T22" fmla="*/ 103 w 103"/>
                  <a:gd name="T23" fmla="*/ 24 h 28"/>
                  <a:gd name="T24" fmla="*/ 103 w 103"/>
                  <a:gd name="T25" fmla="*/ 22 h 28"/>
                  <a:gd name="T26" fmla="*/ 94 w 103"/>
                  <a:gd name="T27" fmla="*/ 14 h 28"/>
                  <a:gd name="T28" fmla="*/ 81 w 103"/>
                  <a:gd name="T29" fmla="*/ 9 h 28"/>
                  <a:gd name="T30" fmla="*/ 68 w 103"/>
                  <a:gd name="T31" fmla="*/ 5 h 28"/>
                  <a:gd name="T32" fmla="*/ 53 w 103"/>
                  <a:gd name="T33" fmla="*/ 1 h 28"/>
                  <a:gd name="T34" fmla="*/ 38 w 103"/>
                  <a:gd name="T35" fmla="*/ 0 h 28"/>
                  <a:gd name="T36" fmla="*/ 24 w 103"/>
                  <a:gd name="T37" fmla="*/ 0 h 28"/>
                  <a:gd name="T38" fmla="*/ 11 w 103"/>
                  <a:gd name="T39" fmla="*/ 1 h 28"/>
                  <a:gd name="T40" fmla="*/ 0 w 103"/>
                  <a:gd name="T41" fmla="*/ 6 h 28"/>
                  <a:gd name="T42" fmla="*/ 0 w 103"/>
                  <a:gd name="T43" fmla="*/ 8 h 28"/>
                  <a:gd name="T44" fmla="*/ 0 w 103"/>
                  <a:gd name="T45" fmla="*/ 8 h 28"/>
                  <a:gd name="T46" fmla="*/ 0 w 103"/>
                  <a:gd name="T47" fmla="*/ 9 h 28"/>
                  <a:gd name="T48" fmla="*/ 2 w 103"/>
                  <a:gd name="T49" fmla="*/ 9 h 28"/>
                  <a:gd name="T50" fmla="*/ 10 w 103"/>
                  <a:gd name="T51" fmla="*/ 6 h 28"/>
                  <a:gd name="T52" fmla="*/ 18 w 103"/>
                  <a:gd name="T53" fmla="*/ 5 h 28"/>
                  <a:gd name="T54" fmla="*/ 27 w 103"/>
                  <a:gd name="T55" fmla="*/ 3 h 28"/>
                  <a:gd name="T56" fmla="*/ 37 w 103"/>
                  <a:gd name="T57" fmla="*/ 3 h 28"/>
                  <a:gd name="T58" fmla="*/ 35 w 103"/>
                  <a:gd name="T59" fmla="*/ 5 h 28"/>
                  <a:gd name="T60" fmla="*/ 35 w 103"/>
                  <a:gd name="T61" fmla="*/ 6 h 28"/>
                  <a:gd name="T62" fmla="*/ 35 w 103"/>
                  <a:gd name="T63" fmla="*/ 8 h 28"/>
                  <a:gd name="T64" fmla="*/ 34 w 103"/>
                  <a:gd name="T65" fmla="*/ 9 h 28"/>
                  <a:gd name="T66" fmla="*/ 30 w 103"/>
                  <a:gd name="T67" fmla="*/ 9 h 28"/>
                  <a:gd name="T68" fmla="*/ 27 w 103"/>
                  <a:gd name="T69" fmla="*/ 11 h 28"/>
                  <a:gd name="T70" fmla="*/ 26 w 103"/>
                  <a:gd name="T71" fmla="*/ 14 h 28"/>
                  <a:gd name="T72" fmla="*/ 24 w 103"/>
                  <a:gd name="T73" fmla="*/ 16 h 28"/>
                  <a:gd name="T74" fmla="*/ 24 w 103"/>
                  <a:gd name="T75" fmla="*/ 17 h 28"/>
                  <a:gd name="T76" fmla="*/ 24 w 103"/>
                  <a:gd name="T77" fmla="*/ 20 h 28"/>
                  <a:gd name="T78" fmla="*/ 24 w 103"/>
                  <a:gd name="T79" fmla="*/ 24 h 28"/>
                  <a:gd name="T80" fmla="*/ 26 w 103"/>
                  <a:gd name="T81" fmla="*/ 27 h 28"/>
                  <a:gd name="T82" fmla="*/ 27 w 103"/>
                  <a:gd name="T83" fmla="*/ 27 h 28"/>
                  <a:gd name="T84" fmla="*/ 27 w 103"/>
                  <a:gd name="T85" fmla="*/ 27 h 28"/>
                  <a:gd name="T86" fmla="*/ 27 w 103"/>
                  <a:gd name="T87" fmla="*/ 27 h 28"/>
                  <a:gd name="T88" fmla="*/ 29 w 103"/>
                  <a:gd name="T89" fmla="*/ 27 h 28"/>
                  <a:gd name="T90" fmla="*/ 29 w 103"/>
                  <a:gd name="T91" fmla="*/ 28 h 28"/>
                  <a:gd name="T92" fmla="*/ 30 w 103"/>
                  <a:gd name="T93" fmla="*/ 28 h 28"/>
                  <a:gd name="T94" fmla="*/ 30 w 103"/>
                  <a:gd name="T95" fmla="*/ 28 h 28"/>
                  <a:gd name="T96" fmla="*/ 32 w 103"/>
                  <a:gd name="T97" fmla="*/ 28 h 28"/>
                  <a:gd name="T98" fmla="*/ 35 w 103"/>
                  <a:gd name="T99" fmla="*/ 28 h 28"/>
                  <a:gd name="T100" fmla="*/ 38 w 103"/>
                  <a:gd name="T101" fmla="*/ 25 h 28"/>
                  <a:gd name="T102" fmla="*/ 40 w 103"/>
                  <a:gd name="T103" fmla="*/ 24 h 28"/>
                  <a:gd name="T104" fmla="*/ 40 w 103"/>
                  <a:gd name="T105" fmla="*/ 22 h 28"/>
                  <a:gd name="T106" fmla="*/ 42 w 103"/>
                  <a:gd name="T107" fmla="*/ 19 h 28"/>
                  <a:gd name="T108" fmla="*/ 42 w 103"/>
                  <a:gd name="T109" fmla="*/ 16 h 28"/>
                  <a:gd name="T110" fmla="*/ 40 w 103"/>
                  <a:gd name="T111" fmla="*/ 12 h 28"/>
                  <a:gd name="T112" fmla="*/ 37 w 103"/>
                  <a:gd name="T113" fmla="*/ 11 h 28"/>
                  <a:gd name="T114" fmla="*/ 38 w 103"/>
                  <a:gd name="T115" fmla="*/ 9 h 28"/>
                  <a:gd name="T116" fmla="*/ 38 w 103"/>
                  <a:gd name="T117" fmla="*/ 6 h 28"/>
                  <a:gd name="T118" fmla="*/ 38 w 103"/>
                  <a:gd name="T119" fmla="*/ 5 h 28"/>
                  <a:gd name="T120" fmla="*/ 40 w 103"/>
                  <a:gd name="T121" fmla="*/ 3 h 28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03" h="28">
                    <a:moveTo>
                      <a:pt x="40" y="3"/>
                    </a:moveTo>
                    <a:lnTo>
                      <a:pt x="49" y="5"/>
                    </a:lnTo>
                    <a:lnTo>
                      <a:pt x="59" y="6"/>
                    </a:lnTo>
                    <a:lnTo>
                      <a:pt x="67" y="8"/>
                    </a:lnTo>
                    <a:lnTo>
                      <a:pt x="75" y="11"/>
                    </a:lnTo>
                    <a:lnTo>
                      <a:pt x="83" y="14"/>
                    </a:lnTo>
                    <a:lnTo>
                      <a:pt x="89" y="17"/>
                    </a:lnTo>
                    <a:lnTo>
                      <a:pt x="95" y="22"/>
                    </a:lnTo>
                    <a:lnTo>
                      <a:pt x="100" y="27"/>
                    </a:lnTo>
                    <a:lnTo>
                      <a:pt x="102" y="25"/>
                    </a:lnTo>
                    <a:lnTo>
                      <a:pt x="102" y="24"/>
                    </a:lnTo>
                    <a:lnTo>
                      <a:pt x="103" y="24"/>
                    </a:lnTo>
                    <a:lnTo>
                      <a:pt x="103" y="22"/>
                    </a:lnTo>
                    <a:lnTo>
                      <a:pt x="94" y="14"/>
                    </a:lnTo>
                    <a:lnTo>
                      <a:pt x="81" y="9"/>
                    </a:lnTo>
                    <a:lnTo>
                      <a:pt x="68" y="5"/>
                    </a:lnTo>
                    <a:lnTo>
                      <a:pt x="53" y="1"/>
                    </a:lnTo>
                    <a:lnTo>
                      <a:pt x="38" y="0"/>
                    </a:lnTo>
                    <a:lnTo>
                      <a:pt x="24" y="0"/>
                    </a:lnTo>
                    <a:lnTo>
                      <a:pt x="11" y="1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2" y="9"/>
                    </a:lnTo>
                    <a:lnTo>
                      <a:pt x="10" y="6"/>
                    </a:lnTo>
                    <a:lnTo>
                      <a:pt x="18" y="5"/>
                    </a:lnTo>
                    <a:lnTo>
                      <a:pt x="27" y="3"/>
                    </a:lnTo>
                    <a:lnTo>
                      <a:pt x="37" y="3"/>
                    </a:lnTo>
                    <a:lnTo>
                      <a:pt x="35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4" y="9"/>
                    </a:lnTo>
                    <a:lnTo>
                      <a:pt x="30" y="9"/>
                    </a:lnTo>
                    <a:lnTo>
                      <a:pt x="27" y="11"/>
                    </a:lnTo>
                    <a:lnTo>
                      <a:pt x="26" y="14"/>
                    </a:lnTo>
                    <a:lnTo>
                      <a:pt x="24" y="16"/>
                    </a:lnTo>
                    <a:lnTo>
                      <a:pt x="24" y="17"/>
                    </a:lnTo>
                    <a:lnTo>
                      <a:pt x="24" y="20"/>
                    </a:lnTo>
                    <a:lnTo>
                      <a:pt x="24" y="24"/>
                    </a:lnTo>
                    <a:lnTo>
                      <a:pt x="26" y="27"/>
                    </a:lnTo>
                    <a:lnTo>
                      <a:pt x="27" y="27"/>
                    </a:lnTo>
                    <a:lnTo>
                      <a:pt x="29" y="27"/>
                    </a:lnTo>
                    <a:lnTo>
                      <a:pt x="29" y="28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5" y="28"/>
                    </a:lnTo>
                    <a:lnTo>
                      <a:pt x="38" y="25"/>
                    </a:lnTo>
                    <a:lnTo>
                      <a:pt x="40" y="24"/>
                    </a:lnTo>
                    <a:lnTo>
                      <a:pt x="40" y="22"/>
                    </a:lnTo>
                    <a:lnTo>
                      <a:pt x="42" y="19"/>
                    </a:lnTo>
                    <a:lnTo>
                      <a:pt x="42" y="16"/>
                    </a:lnTo>
                    <a:lnTo>
                      <a:pt x="40" y="12"/>
                    </a:lnTo>
                    <a:lnTo>
                      <a:pt x="37" y="11"/>
                    </a:lnTo>
                    <a:lnTo>
                      <a:pt x="38" y="9"/>
                    </a:lnTo>
                    <a:lnTo>
                      <a:pt x="38" y="6"/>
                    </a:lnTo>
                    <a:lnTo>
                      <a:pt x="38" y="5"/>
                    </a:lnTo>
                    <a:lnTo>
                      <a:pt x="4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89" name="Freeform 265"/>
              <p:cNvSpPr>
                <a:spLocks/>
              </p:cNvSpPr>
              <p:nvPr/>
            </p:nvSpPr>
            <p:spPr bwMode="auto">
              <a:xfrm>
                <a:off x="4875" y="2342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1 w 6"/>
                  <a:gd name="T3" fmla="*/ 0 h 6"/>
                  <a:gd name="T4" fmla="*/ 1 w 6"/>
                  <a:gd name="T5" fmla="*/ 0 h 6"/>
                  <a:gd name="T6" fmla="*/ 1 w 6"/>
                  <a:gd name="T7" fmla="*/ 0 h 6"/>
                  <a:gd name="T8" fmla="*/ 3 w 6"/>
                  <a:gd name="T9" fmla="*/ 0 h 6"/>
                  <a:gd name="T10" fmla="*/ 3 w 6"/>
                  <a:gd name="T11" fmla="*/ 1 h 6"/>
                  <a:gd name="T12" fmla="*/ 4 w 6"/>
                  <a:gd name="T13" fmla="*/ 1 h 6"/>
                  <a:gd name="T14" fmla="*/ 4 w 6"/>
                  <a:gd name="T15" fmla="*/ 1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4 w 6"/>
                  <a:gd name="T23" fmla="*/ 4 h 6"/>
                  <a:gd name="T24" fmla="*/ 3 w 6"/>
                  <a:gd name="T25" fmla="*/ 6 h 6"/>
                  <a:gd name="T26" fmla="*/ 1 w 6"/>
                  <a:gd name="T27" fmla="*/ 6 h 6"/>
                  <a:gd name="T28" fmla="*/ 0 w 6"/>
                  <a:gd name="T29" fmla="*/ 6 h 6"/>
                  <a:gd name="T30" fmla="*/ 0 w 6"/>
                  <a:gd name="T31" fmla="*/ 4 h 6"/>
                  <a:gd name="T32" fmla="*/ 0 w 6"/>
                  <a:gd name="T33" fmla="*/ 4 h 6"/>
                  <a:gd name="T34" fmla="*/ 0 w 6"/>
                  <a:gd name="T35" fmla="*/ 3 h 6"/>
                  <a:gd name="T36" fmla="*/ 0 w 6"/>
                  <a:gd name="T37" fmla="*/ 1 h 6"/>
                  <a:gd name="T38" fmla="*/ 0 w 6"/>
                  <a:gd name="T39" fmla="*/ 0 h 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4" y="4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11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90" name="Freeform 266"/>
              <p:cNvSpPr>
                <a:spLocks/>
              </p:cNvSpPr>
              <p:nvPr/>
            </p:nvSpPr>
            <p:spPr bwMode="auto">
              <a:xfrm>
                <a:off x="4998" y="2818"/>
                <a:ext cx="16" cy="15"/>
              </a:xfrm>
              <a:custGeom>
                <a:avLst/>
                <a:gdLst>
                  <a:gd name="T0" fmla="*/ 0 w 16"/>
                  <a:gd name="T1" fmla="*/ 0 h 15"/>
                  <a:gd name="T2" fmla="*/ 0 w 16"/>
                  <a:gd name="T3" fmla="*/ 0 h 15"/>
                  <a:gd name="T4" fmla="*/ 0 w 16"/>
                  <a:gd name="T5" fmla="*/ 9 h 15"/>
                  <a:gd name="T6" fmla="*/ 0 w 16"/>
                  <a:gd name="T7" fmla="*/ 14 h 15"/>
                  <a:gd name="T8" fmla="*/ 0 w 16"/>
                  <a:gd name="T9" fmla="*/ 15 h 15"/>
                  <a:gd name="T10" fmla="*/ 8 w 16"/>
                  <a:gd name="T11" fmla="*/ 15 h 15"/>
                  <a:gd name="T12" fmla="*/ 8 w 16"/>
                  <a:gd name="T13" fmla="*/ 15 h 15"/>
                  <a:gd name="T14" fmla="*/ 16 w 16"/>
                  <a:gd name="T15" fmla="*/ 15 h 15"/>
                  <a:gd name="T16" fmla="*/ 16 w 16"/>
                  <a:gd name="T17" fmla="*/ 14 h 15"/>
                  <a:gd name="T18" fmla="*/ 16 w 16"/>
                  <a:gd name="T19" fmla="*/ 9 h 15"/>
                  <a:gd name="T20" fmla="*/ 16 w 16"/>
                  <a:gd name="T21" fmla="*/ 0 h 15"/>
                  <a:gd name="T22" fmla="*/ 16 w 16"/>
                  <a:gd name="T23" fmla="*/ 0 h 15"/>
                  <a:gd name="T24" fmla="*/ 0 w 16"/>
                  <a:gd name="T25" fmla="*/ 0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15">
                    <a:moveTo>
                      <a:pt x="0" y="0"/>
                    </a:move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91" name="Freeform 267"/>
              <p:cNvSpPr>
                <a:spLocks/>
              </p:cNvSpPr>
              <p:nvPr/>
            </p:nvSpPr>
            <p:spPr bwMode="auto">
              <a:xfrm>
                <a:off x="4803" y="2724"/>
                <a:ext cx="211" cy="94"/>
              </a:xfrm>
              <a:custGeom>
                <a:avLst/>
                <a:gdLst>
                  <a:gd name="T0" fmla="*/ 16 w 211"/>
                  <a:gd name="T1" fmla="*/ 94 h 94"/>
                  <a:gd name="T2" fmla="*/ 16 w 211"/>
                  <a:gd name="T3" fmla="*/ 94 h 94"/>
                  <a:gd name="T4" fmla="*/ 23 w 211"/>
                  <a:gd name="T5" fmla="*/ 59 h 94"/>
                  <a:gd name="T6" fmla="*/ 43 w 211"/>
                  <a:gd name="T7" fmla="*/ 35 h 94"/>
                  <a:gd name="T8" fmla="*/ 72 w 211"/>
                  <a:gd name="T9" fmla="*/ 21 h 94"/>
                  <a:gd name="T10" fmla="*/ 107 w 211"/>
                  <a:gd name="T11" fmla="*/ 16 h 94"/>
                  <a:gd name="T12" fmla="*/ 140 w 211"/>
                  <a:gd name="T13" fmla="*/ 21 h 94"/>
                  <a:gd name="T14" fmla="*/ 168 w 211"/>
                  <a:gd name="T15" fmla="*/ 37 h 94"/>
                  <a:gd name="T16" fmla="*/ 189 w 211"/>
                  <a:gd name="T17" fmla="*/ 60 h 94"/>
                  <a:gd name="T18" fmla="*/ 195 w 211"/>
                  <a:gd name="T19" fmla="*/ 94 h 94"/>
                  <a:gd name="T20" fmla="*/ 211 w 211"/>
                  <a:gd name="T21" fmla="*/ 94 h 94"/>
                  <a:gd name="T22" fmla="*/ 202 w 211"/>
                  <a:gd name="T23" fmla="*/ 54 h 94"/>
                  <a:gd name="T24" fmla="*/ 178 w 211"/>
                  <a:gd name="T25" fmla="*/ 24 h 94"/>
                  <a:gd name="T26" fmla="*/ 143 w 211"/>
                  <a:gd name="T27" fmla="*/ 5 h 94"/>
                  <a:gd name="T28" fmla="*/ 107 w 211"/>
                  <a:gd name="T29" fmla="*/ 0 h 94"/>
                  <a:gd name="T30" fmla="*/ 69 w 211"/>
                  <a:gd name="T31" fmla="*/ 5 h 94"/>
                  <a:gd name="T32" fmla="*/ 34 w 211"/>
                  <a:gd name="T33" fmla="*/ 23 h 94"/>
                  <a:gd name="T34" fmla="*/ 10 w 211"/>
                  <a:gd name="T35" fmla="*/ 53 h 94"/>
                  <a:gd name="T36" fmla="*/ 0 w 211"/>
                  <a:gd name="T37" fmla="*/ 94 h 94"/>
                  <a:gd name="T38" fmla="*/ 0 w 211"/>
                  <a:gd name="T39" fmla="*/ 94 h 94"/>
                  <a:gd name="T40" fmla="*/ 16 w 211"/>
                  <a:gd name="T41" fmla="*/ 94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11" h="94">
                    <a:moveTo>
                      <a:pt x="16" y="94"/>
                    </a:moveTo>
                    <a:lnTo>
                      <a:pt x="16" y="94"/>
                    </a:lnTo>
                    <a:lnTo>
                      <a:pt x="23" y="59"/>
                    </a:lnTo>
                    <a:lnTo>
                      <a:pt x="43" y="35"/>
                    </a:lnTo>
                    <a:lnTo>
                      <a:pt x="72" y="21"/>
                    </a:lnTo>
                    <a:lnTo>
                      <a:pt x="107" y="16"/>
                    </a:lnTo>
                    <a:lnTo>
                      <a:pt x="140" y="21"/>
                    </a:lnTo>
                    <a:lnTo>
                      <a:pt x="168" y="37"/>
                    </a:lnTo>
                    <a:lnTo>
                      <a:pt x="189" y="60"/>
                    </a:lnTo>
                    <a:lnTo>
                      <a:pt x="195" y="94"/>
                    </a:lnTo>
                    <a:lnTo>
                      <a:pt x="211" y="94"/>
                    </a:lnTo>
                    <a:lnTo>
                      <a:pt x="202" y="54"/>
                    </a:lnTo>
                    <a:lnTo>
                      <a:pt x="178" y="24"/>
                    </a:lnTo>
                    <a:lnTo>
                      <a:pt x="143" y="5"/>
                    </a:lnTo>
                    <a:lnTo>
                      <a:pt x="107" y="0"/>
                    </a:lnTo>
                    <a:lnTo>
                      <a:pt x="69" y="5"/>
                    </a:lnTo>
                    <a:lnTo>
                      <a:pt x="34" y="23"/>
                    </a:lnTo>
                    <a:lnTo>
                      <a:pt x="10" y="53"/>
                    </a:lnTo>
                    <a:lnTo>
                      <a:pt x="0" y="94"/>
                    </a:lnTo>
                    <a:lnTo>
                      <a:pt x="16" y="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92" name="Freeform 268"/>
              <p:cNvSpPr>
                <a:spLocks/>
              </p:cNvSpPr>
              <p:nvPr/>
            </p:nvSpPr>
            <p:spPr bwMode="auto">
              <a:xfrm>
                <a:off x="4803" y="2818"/>
                <a:ext cx="16" cy="23"/>
              </a:xfrm>
              <a:custGeom>
                <a:avLst/>
                <a:gdLst>
                  <a:gd name="T0" fmla="*/ 8 w 16"/>
                  <a:gd name="T1" fmla="*/ 8 h 23"/>
                  <a:gd name="T2" fmla="*/ 8 w 16"/>
                  <a:gd name="T3" fmla="*/ 15 h 23"/>
                  <a:gd name="T4" fmla="*/ 16 w 16"/>
                  <a:gd name="T5" fmla="*/ 15 h 23"/>
                  <a:gd name="T6" fmla="*/ 16 w 16"/>
                  <a:gd name="T7" fmla="*/ 14 h 23"/>
                  <a:gd name="T8" fmla="*/ 16 w 16"/>
                  <a:gd name="T9" fmla="*/ 9 h 23"/>
                  <a:gd name="T10" fmla="*/ 16 w 16"/>
                  <a:gd name="T11" fmla="*/ 0 h 23"/>
                  <a:gd name="T12" fmla="*/ 0 w 16"/>
                  <a:gd name="T13" fmla="*/ 0 h 23"/>
                  <a:gd name="T14" fmla="*/ 0 w 16"/>
                  <a:gd name="T15" fmla="*/ 9 h 23"/>
                  <a:gd name="T16" fmla="*/ 0 w 16"/>
                  <a:gd name="T17" fmla="*/ 14 h 23"/>
                  <a:gd name="T18" fmla="*/ 0 w 16"/>
                  <a:gd name="T19" fmla="*/ 15 h 23"/>
                  <a:gd name="T20" fmla="*/ 8 w 16"/>
                  <a:gd name="T21" fmla="*/ 15 h 23"/>
                  <a:gd name="T22" fmla="*/ 8 w 16"/>
                  <a:gd name="T23" fmla="*/ 23 h 23"/>
                  <a:gd name="T24" fmla="*/ 0 w 16"/>
                  <a:gd name="T25" fmla="*/ 15 h 23"/>
                  <a:gd name="T26" fmla="*/ 0 w 16"/>
                  <a:gd name="T27" fmla="*/ 23 h 23"/>
                  <a:gd name="T28" fmla="*/ 8 w 16"/>
                  <a:gd name="T29" fmla="*/ 23 h 23"/>
                  <a:gd name="T30" fmla="*/ 8 w 16"/>
                  <a:gd name="T31" fmla="*/ 8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23">
                    <a:moveTo>
                      <a:pt x="8" y="8"/>
                    </a:moveTo>
                    <a:lnTo>
                      <a:pt x="8" y="15"/>
                    </a:lnTo>
                    <a:lnTo>
                      <a:pt x="16" y="15"/>
                    </a:lnTo>
                    <a:lnTo>
                      <a:pt x="16" y="14"/>
                    </a:lnTo>
                    <a:lnTo>
                      <a:pt x="16" y="9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9"/>
                    </a:lnTo>
                    <a:lnTo>
                      <a:pt x="0" y="14"/>
                    </a:lnTo>
                    <a:lnTo>
                      <a:pt x="0" y="15"/>
                    </a:lnTo>
                    <a:lnTo>
                      <a:pt x="8" y="15"/>
                    </a:lnTo>
                    <a:lnTo>
                      <a:pt x="8" y="23"/>
                    </a:lnTo>
                    <a:lnTo>
                      <a:pt x="0" y="15"/>
                    </a:lnTo>
                    <a:lnTo>
                      <a:pt x="0" y="23"/>
                    </a:lnTo>
                    <a:lnTo>
                      <a:pt x="8" y="23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93" name="Freeform 269"/>
              <p:cNvSpPr>
                <a:spLocks/>
              </p:cNvSpPr>
              <p:nvPr/>
            </p:nvSpPr>
            <p:spPr bwMode="auto">
              <a:xfrm>
                <a:off x="4811" y="2826"/>
                <a:ext cx="203" cy="15"/>
              </a:xfrm>
              <a:custGeom>
                <a:avLst/>
                <a:gdLst>
                  <a:gd name="T0" fmla="*/ 187 w 203"/>
                  <a:gd name="T1" fmla="*/ 7 h 15"/>
                  <a:gd name="T2" fmla="*/ 195 w 203"/>
                  <a:gd name="T3" fmla="*/ 0 h 15"/>
                  <a:gd name="T4" fmla="*/ 0 w 203"/>
                  <a:gd name="T5" fmla="*/ 0 h 15"/>
                  <a:gd name="T6" fmla="*/ 0 w 203"/>
                  <a:gd name="T7" fmla="*/ 15 h 15"/>
                  <a:gd name="T8" fmla="*/ 195 w 203"/>
                  <a:gd name="T9" fmla="*/ 15 h 15"/>
                  <a:gd name="T10" fmla="*/ 203 w 203"/>
                  <a:gd name="T11" fmla="*/ 7 h 15"/>
                  <a:gd name="T12" fmla="*/ 195 w 203"/>
                  <a:gd name="T13" fmla="*/ 15 h 15"/>
                  <a:gd name="T14" fmla="*/ 203 w 203"/>
                  <a:gd name="T15" fmla="*/ 15 h 15"/>
                  <a:gd name="T16" fmla="*/ 203 w 203"/>
                  <a:gd name="T17" fmla="*/ 7 h 15"/>
                  <a:gd name="T18" fmla="*/ 187 w 203"/>
                  <a:gd name="T19" fmla="*/ 7 h 1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03" h="15">
                    <a:moveTo>
                      <a:pt x="187" y="7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95" y="15"/>
                    </a:lnTo>
                    <a:lnTo>
                      <a:pt x="203" y="7"/>
                    </a:lnTo>
                    <a:lnTo>
                      <a:pt x="195" y="15"/>
                    </a:lnTo>
                    <a:lnTo>
                      <a:pt x="203" y="15"/>
                    </a:lnTo>
                    <a:lnTo>
                      <a:pt x="203" y="7"/>
                    </a:lnTo>
                    <a:lnTo>
                      <a:pt x="187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94" name="Freeform 270"/>
              <p:cNvSpPr>
                <a:spLocks/>
              </p:cNvSpPr>
              <p:nvPr/>
            </p:nvSpPr>
            <p:spPr bwMode="auto">
              <a:xfrm>
                <a:off x="4900" y="2732"/>
                <a:ext cx="16" cy="101"/>
              </a:xfrm>
              <a:custGeom>
                <a:avLst/>
                <a:gdLst>
                  <a:gd name="T0" fmla="*/ 8 w 16"/>
                  <a:gd name="T1" fmla="*/ 101 h 101"/>
                  <a:gd name="T2" fmla="*/ 16 w 16"/>
                  <a:gd name="T3" fmla="*/ 101 h 101"/>
                  <a:gd name="T4" fmla="*/ 16 w 16"/>
                  <a:gd name="T5" fmla="*/ 0 h 101"/>
                  <a:gd name="T6" fmla="*/ 0 w 16"/>
                  <a:gd name="T7" fmla="*/ 0 h 101"/>
                  <a:gd name="T8" fmla="*/ 0 w 16"/>
                  <a:gd name="T9" fmla="*/ 101 h 101"/>
                  <a:gd name="T10" fmla="*/ 8 w 16"/>
                  <a:gd name="T11" fmla="*/ 101 h 10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01">
                    <a:moveTo>
                      <a:pt x="8" y="101"/>
                    </a:moveTo>
                    <a:lnTo>
                      <a:pt x="16" y="101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95" name="Freeform 271"/>
              <p:cNvSpPr>
                <a:spLocks/>
              </p:cNvSpPr>
              <p:nvPr/>
            </p:nvSpPr>
            <p:spPr bwMode="auto">
              <a:xfrm>
                <a:off x="4903" y="2754"/>
                <a:ext cx="87" cy="84"/>
              </a:xfrm>
              <a:custGeom>
                <a:avLst/>
                <a:gdLst>
                  <a:gd name="T0" fmla="*/ 5 w 87"/>
                  <a:gd name="T1" fmla="*/ 79 h 84"/>
                  <a:gd name="T2" fmla="*/ 10 w 87"/>
                  <a:gd name="T3" fmla="*/ 84 h 84"/>
                  <a:gd name="T4" fmla="*/ 87 w 87"/>
                  <a:gd name="T5" fmla="*/ 10 h 84"/>
                  <a:gd name="T6" fmla="*/ 78 w 87"/>
                  <a:gd name="T7" fmla="*/ 0 h 84"/>
                  <a:gd name="T8" fmla="*/ 0 w 87"/>
                  <a:gd name="T9" fmla="*/ 75 h 84"/>
                  <a:gd name="T10" fmla="*/ 5 w 87"/>
                  <a:gd name="T11" fmla="*/ 79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84">
                    <a:moveTo>
                      <a:pt x="5" y="79"/>
                    </a:moveTo>
                    <a:lnTo>
                      <a:pt x="10" y="84"/>
                    </a:lnTo>
                    <a:lnTo>
                      <a:pt x="87" y="10"/>
                    </a:lnTo>
                    <a:lnTo>
                      <a:pt x="78" y="0"/>
                    </a:lnTo>
                    <a:lnTo>
                      <a:pt x="0" y="75"/>
                    </a:lnTo>
                    <a:lnTo>
                      <a:pt x="5" y="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496" name="Freeform 272"/>
              <p:cNvSpPr>
                <a:spLocks/>
              </p:cNvSpPr>
              <p:nvPr/>
            </p:nvSpPr>
            <p:spPr bwMode="auto">
              <a:xfrm>
                <a:off x="4830" y="2753"/>
                <a:ext cx="83" cy="85"/>
              </a:xfrm>
              <a:custGeom>
                <a:avLst/>
                <a:gdLst>
                  <a:gd name="T0" fmla="*/ 78 w 83"/>
                  <a:gd name="T1" fmla="*/ 80 h 85"/>
                  <a:gd name="T2" fmla="*/ 83 w 83"/>
                  <a:gd name="T3" fmla="*/ 76 h 85"/>
                  <a:gd name="T4" fmla="*/ 10 w 83"/>
                  <a:gd name="T5" fmla="*/ 0 h 85"/>
                  <a:gd name="T6" fmla="*/ 0 w 83"/>
                  <a:gd name="T7" fmla="*/ 9 h 85"/>
                  <a:gd name="T8" fmla="*/ 73 w 83"/>
                  <a:gd name="T9" fmla="*/ 85 h 85"/>
                  <a:gd name="T10" fmla="*/ 78 w 83"/>
                  <a:gd name="T11" fmla="*/ 80 h 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85">
                    <a:moveTo>
                      <a:pt x="78" y="80"/>
                    </a:moveTo>
                    <a:lnTo>
                      <a:pt x="83" y="76"/>
                    </a:lnTo>
                    <a:lnTo>
                      <a:pt x="10" y="0"/>
                    </a:lnTo>
                    <a:lnTo>
                      <a:pt x="0" y="9"/>
                    </a:lnTo>
                    <a:lnTo>
                      <a:pt x="73" y="85"/>
                    </a:lnTo>
                    <a:lnTo>
                      <a:pt x="78" y="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4533" name="Text Box 273"/>
            <p:cNvSpPr txBox="1">
              <a:spLocks noChangeArrowheads="1"/>
            </p:cNvSpPr>
            <p:nvPr/>
          </p:nvSpPr>
          <p:spPr bwMode="auto">
            <a:xfrm>
              <a:off x="4729" y="650"/>
              <a:ext cx="518" cy="9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FF0000"/>
                  </a:solidFill>
                  <a:latin typeface="Times New Roman" charset="0"/>
                </a:defRPr>
              </a:lvl1pPr>
              <a:lvl2pPr marL="742950" indent="-285750">
                <a:defRPr sz="2800" b="1">
                  <a:solidFill>
                    <a:srgbClr val="FF0000"/>
                  </a:solidFill>
                  <a:latin typeface="Times New Roman" charset="0"/>
                </a:defRPr>
              </a:lvl2pPr>
              <a:lvl3pPr marL="11430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3pPr>
              <a:lvl4pPr marL="16002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4pPr>
              <a:lvl5pPr marL="2057400" indent="-228600">
                <a:defRPr sz="2800" b="1">
                  <a:solidFill>
                    <a:srgbClr val="FF0000"/>
                  </a:solidFill>
                  <a:latin typeface="Times New Roman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800" b="1">
                  <a:solidFill>
                    <a:srgbClr val="FF0000"/>
                  </a:solidFill>
                  <a:latin typeface="Times New Roman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endParaRPr kumimoji="1" lang="zh-CN" altLang="en-US">
                <a:solidFill>
                  <a:schemeClr val="tx1"/>
                </a:solidFill>
                <a:ea typeface="宋体" charset="0"/>
              </a:endParaRPr>
            </a:p>
          </p:txBody>
        </p:sp>
      </p:grpSp>
      <p:sp>
        <p:nvSpPr>
          <p:cNvPr id="276" name="内容占位符 2"/>
          <p:cNvSpPr>
            <a:spLocks noGrp="1"/>
          </p:cNvSpPr>
          <p:nvPr>
            <p:ph idx="1"/>
          </p:nvPr>
        </p:nvSpPr>
        <p:spPr>
          <a:xfrm>
            <a:off x="107504" y="1211874"/>
            <a:ext cx="6877571" cy="4470400"/>
          </a:xfrm>
        </p:spPr>
        <p:txBody>
          <a:bodyPr>
            <a:normAutofit/>
          </a:bodyPr>
          <a:lstStyle/>
          <a:p>
            <a:pPr marL="738188" indent="-457200"/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隶书" charset="0"/>
              </a:rPr>
              <a:t>在对形参数组声明时，必须</a:t>
            </a:r>
            <a:r>
              <a:rPr lang="zh-CN" altLang="en-US" dirty="0">
                <a:solidFill>
                  <a:srgbClr val="FF0000"/>
                </a:solidFill>
                <a:latin typeface="华文楷体" charset="-122"/>
                <a:ea typeface="隶书" charset="0"/>
              </a:rPr>
              <a:t>指定第二维</a:t>
            </a:r>
            <a:r>
              <a:rPr lang="en-US" altLang="zh-CN" dirty="0">
                <a:solidFill>
                  <a:srgbClr val="FF0000"/>
                </a:solidFill>
                <a:latin typeface="华文楷体" charset="-122"/>
                <a:ea typeface="隶书" charset="0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华文楷体" charset="-122"/>
                <a:ea typeface="隶书" charset="0"/>
              </a:rPr>
              <a:t>即列</a:t>
            </a:r>
            <a:r>
              <a:rPr lang="en-US" altLang="zh-CN" dirty="0">
                <a:solidFill>
                  <a:srgbClr val="FF0000"/>
                </a:solidFill>
                <a:latin typeface="华文楷体" charset="-122"/>
                <a:ea typeface="隶书" charset="0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隶书" charset="0"/>
              </a:rPr>
              <a:t>的大小，且应与实参的第二维的大小相同。</a:t>
            </a:r>
            <a:endParaRPr lang="en-US" altLang="zh-CN" dirty="0">
              <a:solidFill>
                <a:schemeClr val="tx1"/>
              </a:solidFill>
              <a:latin typeface="华文楷体" charset="-122"/>
              <a:ea typeface="隶书" charset="0"/>
            </a:endParaRPr>
          </a:p>
          <a:p>
            <a:pPr marL="738188" indent="-457200"/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隶书" charset="0"/>
              </a:rPr>
              <a:t>第一维的大小可以指定，也可以不指定。</a:t>
            </a:r>
          </a:p>
          <a:p>
            <a:pPr marL="1273175" lvl="3" indent="-457200"/>
            <a:r>
              <a:rPr lang="zh-CN" altLang="en-US" sz="2400" dirty="0">
                <a:solidFill>
                  <a:schemeClr val="tx1"/>
                </a:solidFill>
                <a:latin typeface="华文楷体" charset="-122"/>
                <a:ea typeface="隶书" charset="0"/>
              </a:rPr>
              <a:t>如 </a:t>
            </a:r>
            <a:r>
              <a:rPr lang="en-US" altLang="zh-CN" sz="2400" dirty="0" err="1">
                <a:solidFill>
                  <a:schemeClr val="tx1"/>
                </a:solidFill>
                <a:latin typeface="华文楷体" charset="-122"/>
                <a:ea typeface="隶书" charset="0"/>
              </a:rPr>
              <a:t>int</a:t>
            </a:r>
            <a:r>
              <a:rPr lang="en-US" altLang="zh-CN" sz="2400" dirty="0">
                <a:solidFill>
                  <a:schemeClr val="tx1"/>
                </a:solidFill>
                <a:latin typeface="华文楷体" charset="-122"/>
                <a:ea typeface="隶书" charset="0"/>
              </a:rPr>
              <a:t> array[3][10]; </a:t>
            </a:r>
          </a:p>
          <a:p>
            <a:pPr marL="1273175" lvl="3" indent="-457200"/>
            <a:r>
              <a:rPr lang="zh-CN" altLang="en-US" sz="2400" dirty="0">
                <a:solidFill>
                  <a:schemeClr val="tx1"/>
                </a:solidFill>
                <a:latin typeface="华文楷体" charset="-122"/>
                <a:ea typeface="隶书" charset="0"/>
              </a:rPr>
              <a:t>或  </a:t>
            </a:r>
            <a:r>
              <a:rPr lang="en-US" altLang="zh-CN" sz="2400" dirty="0" err="1">
                <a:solidFill>
                  <a:schemeClr val="tx1"/>
                </a:solidFill>
                <a:latin typeface="华文楷体" charset="-122"/>
                <a:ea typeface="隶书" charset="0"/>
              </a:rPr>
              <a:t>int</a:t>
            </a:r>
            <a:r>
              <a:rPr lang="en-US" altLang="zh-CN" sz="2400" dirty="0">
                <a:solidFill>
                  <a:schemeClr val="tx1"/>
                </a:solidFill>
                <a:latin typeface="华文楷体" charset="-122"/>
                <a:ea typeface="隶书" charset="0"/>
              </a:rPr>
              <a:t> array[ ][10];         </a:t>
            </a:r>
          </a:p>
          <a:p>
            <a:pPr marL="738188" indent="-457200">
              <a:buFont typeface="Wingdings" charset="2"/>
              <a:buNone/>
            </a:pPr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隶书" charset="0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华文楷体" charset="-122"/>
                <a:ea typeface="隶书" charset="0"/>
              </a:rPr>
              <a:t>二者都合法而且等价。但是不能把第二维的大小省略。下面的形参数组写法不合法：</a:t>
            </a:r>
            <a:endParaRPr lang="en-US" altLang="zh-CN" sz="2400" dirty="0">
              <a:solidFill>
                <a:schemeClr val="tx1"/>
              </a:solidFill>
              <a:latin typeface="华文楷体" charset="-122"/>
              <a:ea typeface="隶书" charset="0"/>
            </a:endParaRPr>
          </a:p>
          <a:p>
            <a:pPr marL="590550" lvl="1" indent="-6350"/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隶书" charset="0"/>
              </a:rPr>
              <a:t>   如  </a:t>
            </a:r>
            <a:r>
              <a:rPr lang="en-US" altLang="zh-CN" dirty="0" err="1">
                <a:solidFill>
                  <a:schemeClr val="tx1"/>
                </a:solidFill>
                <a:latin typeface="华文楷体" charset="-122"/>
                <a:ea typeface="隶书" charset="0"/>
              </a:rPr>
              <a:t>int</a:t>
            </a:r>
            <a:r>
              <a:rPr lang="en-US" altLang="zh-CN" dirty="0">
                <a:solidFill>
                  <a:schemeClr val="tx1"/>
                </a:solidFill>
                <a:latin typeface="华文楷体" charset="-122"/>
                <a:ea typeface="隶书" charset="0"/>
              </a:rPr>
              <a:t> array[][]; </a:t>
            </a:r>
          </a:p>
          <a:p>
            <a:pPr marL="590550" lvl="1" indent="-6350"/>
            <a:r>
              <a:rPr lang="zh-CN" altLang="en-US" dirty="0">
                <a:solidFill>
                  <a:schemeClr val="tx1"/>
                </a:solidFill>
                <a:latin typeface="华文楷体" charset="-122"/>
                <a:ea typeface="隶书" charset="0"/>
              </a:rPr>
              <a:t>   或 </a:t>
            </a:r>
            <a:r>
              <a:rPr lang="en-US" altLang="zh-CN" dirty="0" err="1">
                <a:solidFill>
                  <a:schemeClr val="tx1"/>
                </a:solidFill>
                <a:latin typeface="华文楷体" charset="-122"/>
                <a:ea typeface="隶书" charset="0"/>
              </a:rPr>
              <a:t>int</a:t>
            </a:r>
            <a:r>
              <a:rPr lang="zh-CN" altLang="zh-CN" dirty="0">
                <a:solidFill>
                  <a:schemeClr val="tx1"/>
                </a:solidFill>
                <a:latin typeface="华文楷体" charset="-122"/>
                <a:ea typeface="隶书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华文楷体" charset="-122"/>
                <a:ea typeface="隶书" charset="0"/>
              </a:rPr>
              <a:t>array[3][]; </a:t>
            </a:r>
            <a:endParaRPr lang="zh-CN" altLang="en-US" dirty="0">
              <a:solidFill>
                <a:schemeClr val="tx1"/>
              </a:solidFill>
              <a:latin typeface="华文楷体" charset="-122"/>
              <a:ea typeface="隶书" charset="0"/>
            </a:endParaRPr>
          </a:p>
          <a:p>
            <a:pPr marL="280988" lvl="1" indent="0">
              <a:spcBef>
                <a:spcPts val="1200"/>
              </a:spcBef>
              <a:buNone/>
            </a:pPr>
            <a:endParaRPr lang="zh-CN" altLang="en-US" sz="2000" dirty="0">
              <a:latin typeface="华文楷体" charset="-122"/>
              <a:ea typeface="隶书" charset="0"/>
            </a:endParaRPr>
          </a:p>
          <a:p>
            <a:pPr marL="738188" lvl="1" indent="-457200">
              <a:spcBef>
                <a:spcPts val="1200"/>
              </a:spcBef>
            </a:pPr>
            <a:r>
              <a:rPr lang="zh-CN" altLang="en-US" sz="2000" dirty="0">
                <a:latin typeface="华文楷体" charset="-122"/>
                <a:ea typeface="隶书" charset="0"/>
              </a:rPr>
              <a:t>实际传送的是指向数组第一个元素的地址</a:t>
            </a:r>
          </a:p>
          <a:p>
            <a:pPr marL="584200" lvl="1" indent="0">
              <a:buNone/>
            </a:pPr>
            <a:endParaRPr lang="en-US" altLang="zh-CN" dirty="0">
              <a:solidFill>
                <a:schemeClr val="tx1"/>
              </a:solidFill>
              <a:latin typeface="华文楷体" charset="-122"/>
              <a:ea typeface="隶书" charset="0"/>
            </a:endParaRPr>
          </a:p>
          <a:p>
            <a:pPr marL="738188" indent="-457200"/>
            <a:endParaRPr lang="zh-CN" altLang="en-US" dirty="0">
              <a:latin typeface="华文楷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" dur="500"/>
                                        <p:tgtEl>
                                          <p:spTgt spid="30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34975" y="333375"/>
            <a:ext cx="8228013" cy="839788"/>
          </a:xfrm>
        </p:spPr>
        <p:txBody>
          <a:bodyPr/>
          <a:lstStyle/>
          <a:p>
            <a:r>
              <a:rPr lang="zh-CN" altLang="en-US" sz="4000"/>
              <a:t>例 </a:t>
            </a:r>
            <a:r>
              <a:rPr lang="en-US" altLang="zh-CN" sz="4000"/>
              <a:t> </a:t>
            </a:r>
            <a:r>
              <a:rPr lang="zh-CN" altLang="en-US" sz="4000"/>
              <a:t>计算每门课程的总分和平均分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484313"/>
            <a:ext cx="8569325" cy="4897437"/>
          </a:xfrm>
        </p:spPr>
        <p:txBody>
          <a:bodyPr>
            <a:normAutofit fontScale="85000" lnSpcReduction="20000"/>
          </a:bodyPr>
          <a:lstStyle/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 err="1">
                <a:solidFill>
                  <a:schemeClr val="accent2"/>
                </a:solidFill>
                <a:latin typeface="Courier New" pitchFamily="49" charset="0"/>
                <a:ea typeface="黑体" pitchFamily="2" charset="-122"/>
              </a:rPr>
              <a:t>void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 Total(</a:t>
            </a:r>
            <a:r>
              <a:rPr lang="fr-FR" altLang="zh-CN" sz="2000" dirty="0" err="1">
                <a:solidFill>
                  <a:schemeClr val="accent2"/>
                </a:solidFill>
                <a:latin typeface="Courier New" pitchFamily="49" charset="0"/>
                <a:ea typeface="黑体" pitchFamily="2" charset="-122"/>
              </a:rPr>
              <a:t>int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</a:t>
            </a:r>
            <a:r>
              <a:rPr lang="fr-FR" altLang="zh-CN" sz="2000" dirty="0">
                <a:solidFill>
                  <a:srgbClr val="880000"/>
                </a:solidFill>
                <a:latin typeface="Courier New" pitchFamily="49" charset="0"/>
                <a:ea typeface="黑体" pitchFamily="2" charset="-122"/>
              </a:rPr>
              <a:t>score[][COURSE],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</a:t>
            </a:r>
            <a:r>
              <a:rPr lang="fr-FR" altLang="zh-CN" sz="2000" dirty="0" err="1">
                <a:solidFill>
                  <a:schemeClr val="accent2"/>
                </a:solidFill>
                <a:latin typeface="Courier New" pitchFamily="49" charset="0"/>
                <a:ea typeface="黑体" pitchFamily="2" charset="-122"/>
              </a:rPr>
              <a:t>int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sum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[],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           </a:t>
            </a:r>
            <a:r>
              <a:rPr lang="fr-FR" altLang="zh-CN" sz="2000" dirty="0" err="1">
                <a:solidFill>
                  <a:schemeClr val="accent2"/>
                </a:solidFill>
                <a:latin typeface="Courier New" pitchFamily="49" charset="0"/>
                <a:ea typeface="黑体" pitchFamily="2" charset="-122"/>
              </a:rPr>
              <a:t>float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aver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[], </a:t>
            </a:r>
            <a:r>
              <a:rPr lang="fr-FR" altLang="zh-CN" sz="2000" dirty="0" err="1">
                <a:solidFill>
                  <a:schemeClr val="accent2"/>
                </a:solidFill>
                <a:latin typeface="Courier New" pitchFamily="49" charset="0"/>
                <a:ea typeface="黑体" pitchFamily="2" charset="-122"/>
              </a:rPr>
              <a:t>int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n)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{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	</a:t>
            </a:r>
            <a:r>
              <a:rPr lang="fr-FR" altLang="zh-CN" sz="2000" dirty="0" err="1">
                <a:solidFill>
                  <a:schemeClr val="accent2"/>
                </a:solidFill>
                <a:latin typeface="Courier New" pitchFamily="49" charset="0"/>
                <a:ea typeface="黑体" pitchFamily="2" charset="-122"/>
              </a:rPr>
              <a:t>int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 i, j;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endParaRPr lang="fr-FR" altLang="zh-CN" sz="2000" dirty="0">
              <a:solidFill>
                <a:schemeClr val="tx1"/>
              </a:solidFill>
              <a:latin typeface="Courier New" pitchFamily="49" charset="0"/>
              <a:ea typeface="黑体" pitchFamily="2" charset="-122"/>
            </a:endParaRP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	</a:t>
            </a:r>
            <a:r>
              <a:rPr lang="fr-FR" altLang="zh-CN" sz="2000" dirty="0">
                <a:solidFill>
                  <a:schemeClr val="accent2"/>
                </a:solidFill>
                <a:latin typeface="Courier New" pitchFamily="49" charset="0"/>
                <a:ea typeface="黑体" pitchFamily="2" charset="-122"/>
              </a:rPr>
              <a:t>for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(j=0; j&lt;COURSE; j++)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	{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   	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sum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[j] = 0;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   	</a:t>
            </a:r>
            <a:r>
              <a:rPr lang="fr-FR" altLang="zh-CN" sz="2000" dirty="0">
                <a:solidFill>
                  <a:schemeClr val="accent2"/>
                </a:solidFill>
                <a:latin typeface="Courier New" pitchFamily="49" charset="0"/>
                <a:ea typeface="黑体" pitchFamily="2" charset="-122"/>
              </a:rPr>
              <a:t>for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(i=0; i&lt;n; i++)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   	{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     	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sum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[j] = 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sum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[j] + score[i][j];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    	} 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		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aver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[j] = (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float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) </a:t>
            </a:r>
            <a:r>
              <a:rPr lang="fr-FR" altLang="zh-CN" sz="2000" dirty="0" err="1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sum</a:t>
            </a: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[j] / n;       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	}  </a:t>
            </a:r>
          </a:p>
          <a:p>
            <a:pPr eaLnBrk="1">
              <a:lnSpc>
                <a:spcPct val="85000"/>
              </a:lnSpc>
              <a:buFont typeface="Monotype Sorts" charset="2"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latin typeface="Courier New" pitchFamily="49" charset="0"/>
                <a:ea typeface="黑体" pitchFamily="2" charset="-122"/>
              </a:rPr>
              <a:t>}</a:t>
            </a:r>
            <a:endParaRPr lang="zh-CN" altLang="en-US" sz="2000" dirty="0">
              <a:solidFill>
                <a:schemeClr val="tx1"/>
              </a:solidFill>
              <a:latin typeface="Courier New" pitchFamily="49" charset="0"/>
              <a:ea typeface="黑体" pitchFamily="2" charset="-122"/>
            </a:endParaRPr>
          </a:p>
        </p:txBody>
      </p:sp>
      <p:sp>
        <p:nvSpPr>
          <p:cNvPr id="309252" name="AutoShape 4"/>
          <p:cNvSpPr>
            <a:spLocks/>
          </p:cNvSpPr>
          <p:nvPr/>
        </p:nvSpPr>
        <p:spPr bwMode="auto">
          <a:xfrm>
            <a:off x="4787900" y="2667000"/>
            <a:ext cx="3960813" cy="906463"/>
          </a:xfrm>
          <a:prstGeom prst="borderCallout3">
            <a:avLst>
              <a:gd name="adj1" fmla="val 12611"/>
              <a:gd name="adj2" fmla="val 101926"/>
              <a:gd name="adj3" fmla="val 12611"/>
              <a:gd name="adj4" fmla="val 104250"/>
              <a:gd name="adj5" fmla="val -41329"/>
              <a:gd name="adj6" fmla="val 104250"/>
              <a:gd name="adj7" fmla="val -95273"/>
              <a:gd name="adj8" fmla="val -2444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rgbClr val="FF0000"/>
                </a:solidFill>
                <a:latin typeface="Times New Roman" charset="0"/>
              </a:defRPr>
            </a:lvl1pPr>
            <a:lvl2pPr marL="742950" indent="-285750">
              <a:defRPr sz="2800" b="1">
                <a:solidFill>
                  <a:srgbClr val="FF0000"/>
                </a:solidFill>
                <a:latin typeface="Times New Roman" charset="0"/>
              </a:defRPr>
            </a:lvl2pPr>
            <a:lvl3pPr marL="1143000" indent="-228600">
              <a:defRPr sz="2800" b="1">
                <a:solidFill>
                  <a:srgbClr val="FF0000"/>
                </a:solidFill>
                <a:latin typeface="Times New Roman" charset="0"/>
              </a:defRPr>
            </a:lvl3pPr>
            <a:lvl4pPr marL="1600200" indent="-228600">
              <a:defRPr sz="2800" b="1">
                <a:solidFill>
                  <a:srgbClr val="FF0000"/>
                </a:solidFill>
                <a:latin typeface="Times New Roman" charset="0"/>
              </a:defRPr>
            </a:lvl4pPr>
            <a:lvl5pPr marL="2057400" indent="-228600">
              <a:defRPr sz="2800" b="1">
                <a:solidFill>
                  <a:srgbClr val="FF0000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0"/>
              </a:rPr>
              <a:t>可以省略数组第一维的长度</a:t>
            </a:r>
          </a:p>
          <a:p>
            <a:pPr algn="ctr">
              <a:spcBef>
                <a:spcPct val="0"/>
              </a:spcBef>
            </a:pPr>
            <a:r>
              <a:rPr lang="zh-CN" altLang="en-US" sz="2400">
                <a:solidFill>
                  <a:srgbClr val="33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charset="0"/>
              </a:rPr>
              <a:t>不能省略数组第二维的长度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2B964-8914-9643-AA20-F7B0D109B20E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2" grpId="0" animBg="1"/>
      <p:bldP spid="30925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ext Box 2">
            <a:extLst>
              <a:ext uri="{FF2B5EF4-FFF2-40B4-BE49-F238E27FC236}">
                <a16:creationId xmlns:a16="http://schemas.microsoft.com/office/drawing/2014/main" id="{C46CE349-4469-9DB1-2449-EA49B2040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92088"/>
            <a:ext cx="55210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例 已知一个二维数组，求各行元素之和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4DA17D3B-42B5-FD89-D517-1E42CA735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98488"/>
            <a:ext cx="8556625" cy="5632450"/>
          </a:xfrm>
          <a:prstGeom prst="rect">
            <a:avLst/>
          </a:prstGeom>
          <a:solidFill>
            <a:schemeClr val="bg1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00FF"/>
                </a:solidFill>
                <a:latin typeface="Arial" panose="020B0604020202020204" pitchFamily="34" charset="0"/>
              </a:rPr>
              <a:t>void get_sum_row(</a:t>
            </a:r>
            <a:r>
              <a:rPr lang="en-US" altLang="zh-CN">
                <a:solidFill>
                  <a:srgbClr val="B32C16"/>
                </a:solidFill>
                <a:latin typeface="Arial" panose="020B0604020202020204" pitchFamily="34" charset="0"/>
              </a:rPr>
              <a:t>int  x[][3],</a:t>
            </a:r>
            <a:r>
              <a:rPr lang="en-US" altLang="zh-CN">
                <a:solidFill>
                  <a:srgbClr val="F1F5FB"/>
                </a:solidFill>
                <a:latin typeface="Arial" panose="020B0604020202020204" pitchFamily="34" charset="0"/>
              </a:rPr>
              <a:t> </a:t>
            </a:r>
            <a:r>
              <a:rPr lang="en-US" altLang="zh-CN">
                <a:solidFill>
                  <a:srgbClr val="FF99FF"/>
                </a:solidFill>
                <a:latin typeface="Arial" panose="020B0604020202020204" pitchFamily="34" charset="0"/>
              </a:rPr>
              <a:t>int  result[] </a:t>
            </a:r>
            <a:r>
              <a:rPr lang="en-US" altLang="zh-CN">
                <a:solidFill>
                  <a:srgbClr val="00B050"/>
                </a:solidFill>
                <a:latin typeface="Arial" panose="020B0604020202020204" pitchFamily="34" charset="0"/>
              </a:rPr>
              <a:t>,int  row, int  col</a:t>
            </a:r>
            <a:r>
              <a:rPr lang="en-US" altLang="zh-CN">
                <a:solidFill>
                  <a:srgbClr val="0000FF"/>
                </a:solidFill>
                <a:latin typeface="Arial" panose="020B0604020202020204" pitchFamily="34" charset="0"/>
              </a:rPr>
              <a:t>)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{   int i,j; 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    for(i=0;i&lt;row;i++)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    {     result[i]=0;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	for(j=0;j&lt;col;j++)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	      result[i]+=x[i][j];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    }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}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int main()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{   int a[2][3]={3,6,9,1,4,7};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    int sum_row[2],row=2,col=3,i;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lang="en-US" altLang="zh-CN">
                <a:solidFill>
                  <a:srgbClr val="0000FF"/>
                </a:solidFill>
                <a:latin typeface="Arial" panose="020B0604020202020204" pitchFamily="34" charset="0"/>
              </a:rPr>
              <a:t>get_sum_row(</a:t>
            </a:r>
            <a:r>
              <a:rPr lang="en-US" altLang="zh-CN">
                <a:solidFill>
                  <a:srgbClr val="B32C16"/>
                </a:solidFill>
                <a:latin typeface="Arial" panose="020B0604020202020204" pitchFamily="34" charset="0"/>
              </a:rPr>
              <a:t>a,</a:t>
            </a:r>
            <a:r>
              <a:rPr lang="en-US" altLang="zh-CN">
                <a:solidFill>
                  <a:srgbClr val="FF99FF"/>
                </a:solidFill>
                <a:latin typeface="Arial" panose="020B0604020202020204" pitchFamily="34" charset="0"/>
              </a:rPr>
              <a:t>sum_row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,</a:t>
            </a:r>
            <a:r>
              <a:rPr lang="en-US" altLang="zh-CN">
                <a:solidFill>
                  <a:srgbClr val="00B050"/>
                </a:solidFill>
                <a:latin typeface="Arial" panose="020B0604020202020204" pitchFamily="34" charset="0"/>
              </a:rPr>
              <a:t>row,col</a:t>
            </a:r>
            <a:r>
              <a:rPr lang="en-US" altLang="zh-CN">
                <a:solidFill>
                  <a:srgbClr val="0000FF"/>
                </a:solidFill>
                <a:latin typeface="Arial" panose="020B0604020202020204" pitchFamily="34" charset="0"/>
              </a:rPr>
              <a:t>)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;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    for(i=0;i&lt;row;i++)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       printf("The sum of row[%d]=%d”,</a:t>
            </a:r>
            <a:r>
              <a:rPr lang="en-US" altLang="zh-CN">
                <a:solidFill>
                  <a:srgbClr val="B32C16"/>
                </a:solidFill>
                <a:latin typeface="Arial" panose="020B0604020202020204" pitchFamily="34" charset="0"/>
              </a:rPr>
              <a:t>i+1,sum_row[i]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);</a:t>
            </a:r>
          </a:p>
          <a:p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}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076AB78-8AFC-282A-7F30-6ACCBF650A97}"/>
              </a:ext>
            </a:extLst>
          </p:cNvPr>
          <p:cNvGrpSpPr>
            <a:grpSpLocks/>
          </p:cNvGrpSpPr>
          <p:nvPr/>
        </p:nvGrpSpPr>
        <p:grpSpPr bwMode="auto">
          <a:xfrm>
            <a:off x="4087813" y="1820863"/>
            <a:ext cx="5056187" cy="1265237"/>
            <a:chOff x="507" y="1831"/>
            <a:chExt cx="3185" cy="797"/>
          </a:xfrm>
        </p:grpSpPr>
        <p:grpSp>
          <p:nvGrpSpPr>
            <p:cNvPr id="99341" name="Group 5">
              <a:extLst>
                <a:ext uri="{FF2B5EF4-FFF2-40B4-BE49-F238E27FC236}">
                  <a16:creationId xmlns:a16="http://schemas.microsoft.com/office/drawing/2014/main" id="{1B664002-0B83-38B2-1E12-74BAA7E87E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7" y="1831"/>
              <a:ext cx="1653" cy="785"/>
              <a:chOff x="507" y="1831"/>
              <a:chExt cx="1653" cy="785"/>
            </a:xfrm>
          </p:grpSpPr>
          <p:grpSp>
            <p:nvGrpSpPr>
              <p:cNvPr id="99347" name="Group 6">
                <a:extLst>
                  <a:ext uri="{FF2B5EF4-FFF2-40B4-BE49-F238E27FC236}">
                    <a16:creationId xmlns:a16="http://schemas.microsoft.com/office/drawing/2014/main" id="{EEF590C7-958D-6BF2-19AA-22700348CC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2" y="1980"/>
                <a:ext cx="1188" cy="636"/>
                <a:chOff x="972" y="1980"/>
                <a:chExt cx="1188" cy="636"/>
              </a:xfrm>
            </p:grpSpPr>
            <p:sp>
              <p:nvSpPr>
                <p:cNvPr id="99356" name="Rectangle 7">
                  <a:extLst>
                    <a:ext uri="{FF2B5EF4-FFF2-40B4-BE49-F238E27FC236}">
                      <a16:creationId xmlns:a16="http://schemas.microsoft.com/office/drawing/2014/main" id="{D9258370-A545-377E-6827-216E9B4000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4" y="1980"/>
                  <a:ext cx="1176" cy="63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9357" name="Line 8">
                  <a:extLst>
                    <a:ext uri="{FF2B5EF4-FFF2-40B4-BE49-F238E27FC236}">
                      <a16:creationId xmlns:a16="http://schemas.microsoft.com/office/drawing/2014/main" id="{7D5530C0-94D8-70C8-F03B-C2A5333998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72" y="2304"/>
                  <a:ext cx="11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358" name="Line 9">
                  <a:extLst>
                    <a:ext uri="{FF2B5EF4-FFF2-40B4-BE49-F238E27FC236}">
                      <a16:creationId xmlns:a16="http://schemas.microsoft.com/office/drawing/2014/main" id="{20B73941-B99E-1650-BA8D-7059695D30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44" y="1980"/>
                  <a:ext cx="0" cy="6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359" name="Line 10">
                  <a:extLst>
                    <a:ext uri="{FF2B5EF4-FFF2-40B4-BE49-F238E27FC236}">
                      <a16:creationId xmlns:a16="http://schemas.microsoft.com/office/drawing/2014/main" id="{F1143812-E195-8235-B8FE-0588332C8C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40" y="1980"/>
                  <a:ext cx="0" cy="6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9348" name="Text Box 11">
                <a:extLst>
                  <a:ext uri="{FF2B5EF4-FFF2-40B4-BE49-F238E27FC236}">
                    <a16:creationId xmlns:a16="http://schemas.microsoft.com/office/drawing/2014/main" id="{FC140754-9124-1C63-CC95-345B72321E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4" y="204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3</a:t>
                </a:r>
              </a:p>
            </p:txBody>
          </p:sp>
          <p:sp>
            <p:nvSpPr>
              <p:cNvPr id="99349" name="Text Box 12">
                <a:extLst>
                  <a:ext uri="{FF2B5EF4-FFF2-40B4-BE49-F238E27FC236}">
                    <a16:creationId xmlns:a16="http://schemas.microsoft.com/office/drawing/2014/main" id="{4DDCB396-8480-BABE-8E6F-99095757F2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4" y="235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1</a:t>
                </a:r>
              </a:p>
            </p:txBody>
          </p:sp>
          <p:sp>
            <p:nvSpPr>
              <p:cNvPr id="99350" name="Text Box 13">
                <a:extLst>
                  <a:ext uri="{FF2B5EF4-FFF2-40B4-BE49-F238E27FC236}">
                    <a16:creationId xmlns:a16="http://schemas.microsoft.com/office/drawing/2014/main" id="{2F591784-6BA0-A6C5-199D-E830AF100A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2" y="235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4</a:t>
                </a:r>
              </a:p>
            </p:txBody>
          </p:sp>
          <p:sp>
            <p:nvSpPr>
              <p:cNvPr id="99351" name="Text Box 14">
                <a:extLst>
                  <a:ext uri="{FF2B5EF4-FFF2-40B4-BE49-F238E27FC236}">
                    <a16:creationId xmlns:a16="http://schemas.microsoft.com/office/drawing/2014/main" id="{6FCB8DF3-8E75-0B5E-7E71-C124E40DC6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2" y="204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6</a:t>
                </a:r>
              </a:p>
            </p:txBody>
          </p:sp>
          <p:sp>
            <p:nvSpPr>
              <p:cNvPr id="99352" name="Text Box 15">
                <a:extLst>
                  <a:ext uri="{FF2B5EF4-FFF2-40B4-BE49-F238E27FC236}">
                    <a16:creationId xmlns:a16="http://schemas.microsoft.com/office/drawing/2014/main" id="{0C8297F7-0FFB-17A6-DAB1-DF69965A14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6" y="235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7</a:t>
                </a:r>
              </a:p>
            </p:txBody>
          </p:sp>
          <p:sp>
            <p:nvSpPr>
              <p:cNvPr id="99353" name="Text Box 16">
                <a:extLst>
                  <a:ext uri="{FF2B5EF4-FFF2-40B4-BE49-F238E27FC236}">
                    <a16:creationId xmlns:a16="http://schemas.microsoft.com/office/drawing/2014/main" id="{A17FCB88-EC33-67C2-6E71-BD5E69E0C2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0" y="204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9</a:t>
                </a:r>
              </a:p>
            </p:txBody>
          </p:sp>
          <p:sp>
            <p:nvSpPr>
              <p:cNvPr id="99354" name="Line 17">
                <a:extLst>
                  <a:ext uri="{FF2B5EF4-FFF2-40B4-BE49-F238E27FC236}">
                    <a16:creationId xmlns:a16="http://schemas.microsoft.com/office/drawing/2014/main" id="{6F149D75-CEF4-60D5-1DB0-5CA502882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0" y="1968"/>
                <a:ext cx="3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355" name="Text Box 18">
                <a:extLst>
                  <a:ext uri="{FF2B5EF4-FFF2-40B4-BE49-F238E27FC236}">
                    <a16:creationId xmlns:a16="http://schemas.microsoft.com/office/drawing/2014/main" id="{3E7E265C-F736-C154-22FB-656B110748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" y="1831"/>
                <a:ext cx="18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a</a:t>
                </a:r>
              </a:p>
            </p:txBody>
          </p:sp>
        </p:grpSp>
        <p:grpSp>
          <p:nvGrpSpPr>
            <p:cNvPr id="99342" name="Group 19">
              <a:extLst>
                <a:ext uri="{FF2B5EF4-FFF2-40B4-BE49-F238E27FC236}">
                  <a16:creationId xmlns:a16="http://schemas.microsoft.com/office/drawing/2014/main" id="{171923AC-4982-27DD-97E8-E0E81EDF70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1843"/>
              <a:ext cx="1244" cy="785"/>
              <a:chOff x="2448" y="1843"/>
              <a:chExt cx="1244" cy="785"/>
            </a:xfrm>
          </p:grpSpPr>
          <p:sp>
            <p:nvSpPr>
              <p:cNvPr id="99343" name="Rectangle 20">
                <a:extLst>
                  <a:ext uri="{FF2B5EF4-FFF2-40B4-BE49-F238E27FC236}">
                    <a16:creationId xmlns:a16="http://schemas.microsoft.com/office/drawing/2014/main" id="{6A3EF016-D3CB-02B6-4576-C9706BD651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968"/>
                <a:ext cx="312" cy="6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9344" name="Line 21">
                <a:extLst>
                  <a:ext uri="{FF2B5EF4-FFF2-40B4-BE49-F238E27FC236}">
                    <a16:creationId xmlns:a16="http://schemas.microsoft.com/office/drawing/2014/main" id="{60536D61-40C0-7C4C-EBAC-E7504535ED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316"/>
                <a:ext cx="3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345" name="Line 22">
                <a:extLst>
                  <a:ext uri="{FF2B5EF4-FFF2-40B4-BE49-F238E27FC236}">
                    <a16:creationId xmlns:a16="http://schemas.microsoft.com/office/drawing/2014/main" id="{1E725209-26EA-EC2B-F6C4-84D158339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60" y="1980"/>
                <a:ext cx="2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346" name="Text Box 23">
                <a:extLst>
                  <a:ext uri="{FF2B5EF4-FFF2-40B4-BE49-F238E27FC236}">
                    <a16:creationId xmlns:a16="http://schemas.microsoft.com/office/drawing/2014/main" id="{B4DD49DA-BB22-8BB4-2A1F-1149BCD57D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1" y="1843"/>
                <a:ext cx="71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sum_row</a:t>
                </a:r>
              </a:p>
            </p:txBody>
          </p:sp>
        </p:grpSp>
      </p:grpSp>
      <p:grpSp>
        <p:nvGrpSpPr>
          <p:cNvPr id="6" name="Group 24">
            <a:extLst>
              <a:ext uri="{FF2B5EF4-FFF2-40B4-BE49-F238E27FC236}">
                <a16:creationId xmlns:a16="http://schemas.microsoft.com/office/drawing/2014/main" id="{069BBCD4-CCAA-34ED-EAB8-52D121E9D13D}"/>
              </a:ext>
            </a:extLst>
          </p:cNvPr>
          <p:cNvGrpSpPr>
            <a:grpSpLocks/>
          </p:cNvGrpSpPr>
          <p:nvPr/>
        </p:nvGrpSpPr>
        <p:grpSpPr bwMode="auto">
          <a:xfrm>
            <a:off x="4060825" y="1401763"/>
            <a:ext cx="4741863" cy="1158875"/>
            <a:chOff x="490" y="1567"/>
            <a:chExt cx="2987" cy="730"/>
          </a:xfrm>
        </p:grpSpPr>
        <p:sp>
          <p:nvSpPr>
            <p:cNvPr id="99337" name="Line 25">
              <a:extLst>
                <a:ext uri="{FF2B5EF4-FFF2-40B4-BE49-F238E27FC236}">
                  <a16:creationId xmlns:a16="http://schemas.microsoft.com/office/drawing/2014/main" id="{A288B480-97F4-F245-CF19-B70E574720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" y="1980"/>
              <a:ext cx="324" cy="16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38" name="Text Box 26">
              <a:extLst>
                <a:ext uri="{FF2B5EF4-FFF2-40B4-BE49-F238E27FC236}">
                  <a16:creationId xmlns:a16="http://schemas.microsoft.com/office/drawing/2014/main" id="{439D1132-20FB-1B08-251F-F4AD35859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" y="204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FF"/>
                  </a:solidFill>
                </a:rPr>
                <a:t>x</a:t>
              </a:r>
            </a:p>
          </p:txBody>
        </p:sp>
        <p:sp>
          <p:nvSpPr>
            <p:cNvPr id="99339" name="Line 27">
              <a:extLst>
                <a:ext uri="{FF2B5EF4-FFF2-40B4-BE49-F238E27FC236}">
                  <a16:creationId xmlns:a16="http://schemas.microsoft.com/office/drawing/2014/main" id="{4083A20A-8881-F9E6-08CE-7810756DBF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0" y="1752"/>
              <a:ext cx="228" cy="22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340" name="Text Box 28">
              <a:extLst>
                <a:ext uri="{FF2B5EF4-FFF2-40B4-BE49-F238E27FC236}">
                  <a16:creationId xmlns:a16="http://schemas.microsoft.com/office/drawing/2014/main" id="{338540AF-F7A3-8A8F-0A43-5E392302C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0" y="1567"/>
              <a:ext cx="5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FF"/>
                  </a:solidFill>
                </a:rPr>
                <a:t>result</a:t>
              </a:r>
            </a:p>
          </p:txBody>
        </p:sp>
      </p:grpSp>
      <p:sp>
        <p:nvSpPr>
          <p:cNvPr id="128029" name="Text Box 29">
            <a:extLst>
              <a:ext uri="{FF2B5EF4-FFF2-40B4-BE49-F238E27FC236}">
                <a16:creationId xmlns:a16="http://schemas.microsoft.com/office/drawing/2014/main" id="{FC490D31-AE8E-1409-9859-7F3648E66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7725" y="214471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accent2"/>
                </a:solidFill>
              </a:rPr>
              <a:t>18</a:t>
            </a:r>
          </a:p>
        </p:txBody>
      </p:sp>
      <p:sp>
        <p:nvSpPr>
          <p:cNvPr id="128030" name="Text Box 30">
            <a:extLst>
              <a:ext uri="{FF2B5EF4-FFF2-40B4-BE49-F238E27FC236}">
                <a16:creationId xmlns:a16="http://schemas.microsoft.com/office/drawing/2014/main" id="{9D86BEA1-16C1-4267-A9C6-FA6D539AE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6775" y="260191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accent2"/>
                </a:solidFill>
              </a:rPr>
              <a:t>12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8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28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28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2" grpId="0" build="p" autoUpdateAnimBg="0"/>
      <p:bldP spid="128003" grpId="0" animBg="1" autoUpdateAnimBg="0"/>
      <p:bldP spid="128029" grpId="0" build="p" autoUpdateAnimBg="0"/>
      <p:bldP spid="128030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内容占位符 2">
            <a:extLst>
              <a:ext uri="{FF2B5EF4-FFF2-40B4-BE49-F238E27FC236}">
                <a16:creationId xmlns:a16="http://schemas.microsoft.com/office/drawing/2014/main" id="{6A4C9B54-2F0F-29AE-8A91-17CA89220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3050" lvl="1" eaLnBrk="1" hangingPunct="1">
              <a:lnSpc>
                <a:spcPct val="150000"/>
              </a:lnSpc>
              <a:buFont typeface="Wingdings" pitchFamily="2" charset="2"/>
              <a:buChar char=""/>
            </a:pP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</a:rPr>
              <a:t>数组名作函数参数</a:t>
            </a:r>
            <a:endParaRPr lang="en-US" altLang="zh-CN" sz="2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52450" lvl="2" eaLnBrk="1" hangingPunct="1">
              <a:lnSpc>
                <a:spcPct val="150000"/>
              </a:lnSpc>
              <a:buFont typeface="Wingdings" pitchFamily="2" charset="2"/>
              <a:buChar char=""/>
            </a:pPr>
            <a:r>
              <a:rPr lang="zh-CN" altLang="en-US">
                <a:solidFill>
                  <a:srgbClr val="B32C16"/>
                </a:solidFill>
                <a:latin typeface="Arial" panose="020B0604020202020204" pitchFamily="34" charset="0"/>
              </a:rPr>
              <a:t>地址传递</a:t>
            </a:r>
            <a:endParaRPr lang="en-US" altLang="zh-CN">
              <a:solidFill>
                <a:srgbClr val="B32C16"/>
              </a:solidFill>
              <a:latin typeface="Arial" panose="020B0604020202020204" pitchFamily="34" charset="0"/>
            </a:endParaRPr>
          </a:p>
          <a:p>
            <a:pPr marL="552450" lvl="2" eaLnBrk="1" hangingPunct="1">
              <a:lnSpc>
                <a:spcPct val="150000"/>
              </a:lnSpc>
              <a:buFont typeface="Wingdings" pitchFamily="2" charset="2"/>
              <a:buChar char=""/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</a:rPr>
              <a:t>在主调函数与被调函数分别定义数组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,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</a:rPr>
              <a:t>且类型应一致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52450" lvl="2" eaLnBrk="1" hangingPunct="1">
              <a:lnSpc>
                <a:spcPct val="150000"/>
              </a:lnSpc>
              <a:buFont typeface="Wingdings" pitchFamily="2" charset="2"/>
              <a:buChar char=""/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</a:rPr>
              <a:t>形参数组大小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</a:rPr>
              <a:t>多维数组第一维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</a:rPr>
              <a:t>可不指定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52450" lvl="2" eaLnBrk="1" hangingPunct="1">
              <a:lnSpc>
                <a:spcPct val="150000"/>
              </a:lnSpc>
              <a:buFont typeface="Wingdings" pitchFamily="2" charset="2"/>
              <a:buChar char=""/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</a:rPr>
              <a:t>形参数组名是地址变量</a:t>
            </a:r>
          </a:p>
          <a:p>
            <a:pPr marL="273050" lvl="1" eaLnBrk="1" hangingPunct="1">
              <a:lnSpc>
                <a:spcPct val="150000"/>
              </a:lnSpc>
              <a:buFont typeface="Wingdings" pitchFamily="2" charset="2"/>
              <a:buChar char=""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endParaRPr lang="en-US" altLang="zh-CN"/>
          </a:p>
          <a:p>
            <a:pPr eaLnBrk="1" hangingPunct="1">
              <a:lnSpc>
                <a:spcPct val="150000"/>
              </a:lnSpc>
            </a:pPr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D2B9699-B780-10AA-3BEF-F282BD0C0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小结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75132" y="2636912"/>
            <a:ext cx="7772400" cy="1609344"/>
          </a:xfrm>
        </p:spPr>
        <p:txBody>
          <a:bodyPr/>
          <a:lstStyle/>
          <a:p>
            <a:pPr algn="ctr"/>
            <a:r>
              <a:rPr lang="en-US" altLang="zh-CN" dirty="0"/>
              <a:t>Thanks</a:t>
            </a:r>
            <a:r>
              <a:rPr lang="zh-CN" altLang="en-US" dirty="0"/>
              <a:t>  </a:t>
            </a:r>
            <a:r>
              <a:rPr lang="en-US" altLang="zh-CN" dirty="0"/>
              <a:t>for</a:t>
            </a:r>
            <a:r>
              <a:rPr lang="zh-CN" altLang="en-US" dirty="0"/>
              <a:t>  </a:t>
            </a:r>
            <a:r>
              <a:rPr lang="en-US" altLang="zh-CN" dirty="0"/>
              <a:t>thinking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F254-D2FE-D54F-B05A-11E6AB3C8795}" type="datetime1">
              <a:rPr lang="zh-CN" altLang="en-US" smtClean="0"/>
              <a:t>2022/11/24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1852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362</TotalTime>
  <Words>3130</Words>
  <Application>Microsoft Macintosh PowerPoint</Application>
  <PresentationFormat>全屏显示(4:3)</PresentationFormat>
  <Paragraphs>604</Paragraphs>
  <Slides>28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6" baseType="lpstr">
      <vt:lpstr>方正姚体</vt:lpstr>
      <vt:lpstr>华文楷体</vt:lpstr>
      <vt:lpstr>华文细黑</vt:lpstr>
      <vt:lpstr>楷体_GB2312</vt:lpstr>
      <vt:lpstr>隶书</vt:lpstr>
      <vt:lpstr>宋体</vt:lpstr>
      <vt:lpstr>Arial</vt:lpstr>
      <vt:lpstr>Calibri</vt:lpstr>
      <vt:lpstr>Courier New</vt:lpstr>
      <vt:lpstr>Franklin Gothic Medium</vt:lpstr>
      <vt:lpstr>Monotype Sorts</vt:lpstr>
      <vt:lpstr>Rockwell</vt:lpstr>
      <vt:lpstr>Rockwell Condensed</vt:lpstr>
      <vt:lpstr>Rockwell Extra Bold</vt:lpstr>
      <vt:lpstr>Times</vt:lpstr>
      <vt:lpstr>Times New Roman</vt:lpstr>
      <vt:lpstr>Wingdings</vt:lpstr>
      <vt:lpstr>木活字</vt:lpstr>
      <vt:lpstr>程序设计与编程方法</vt:lpstr>
      <vt:lpstr>7.1 多维数组</vt:lpstr>
      <vt:lpstr>一维数组和多维数组</vt:lpstr>
      <vt:lpstr>PowerPoint 演示文稿</vt:lpstr>
      <vt:lpstr>二维数组的初始化示例</vt:lpstr>
      <vt:lpstr>二维数组的存储结构</vt:lpstr>
      <vt:lpstr>PowerPoint 演示文稿</vt:lpstr>
      <vt:lpstr>二维数组的输入和输出</vt:lpstr>
      <vt:lpstr>PowerPoint 演示文稿</vt:lpstr>
      <vt:lpstr>如何使两个数组的值相等</vt:lpstr>
      <vt:lpstr>如何使两个数组的值相等</vt:lpstr>
      <vt:lpstr>7.2 用数组名作函数参数</vt:lpstr>
      <vt:lpstr>PowerPoint 演示文稿</vt:lpstr>
      <vt:lpstr>例6.2 —打印最高分</vt:lpstr>
      <vt:lpstr>例6.2 —打印最高分</vt:lpstr>
      <vt:lpstr>例6.2 —打印最高分及其学生序号 </vt:lpstr>
      <vt:lpstr>用函数实现打印最高分</vt:lpstr>
      <vt:lpstr>PowerPoint 演示文稿</vt:lpstr>
      <vt:lpstr>数组名作函数参数</vt:lpstr>
      <vt:lpstr>用函数实现打印最高分</vt:lpstr>
      <vt:lpstr> 简单变量和数组作函数参数的区别</vt:lpstr>
      <vt:lpstr>PowerPoint 演示文稿</vt:lpstr>
      <vt:lpstr>PowerPoint 演示文稿</vt:lpstr>
      <vt:lpstr>向函数传递二维数组</vt:lpstr>
      <vt:lpstr>例  计算每门课程的总分和平均分</vt:lpstr>
      <vt:lpstr>PowerPoint 演示文稿</vt:lpstr>
      <vt:lpstr>小结</vt:lpstr>
      <vt:lpstr>Thanks  for  thinking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LPLS82</cp:lastModifiedBy>
  <cp:revision>178</cp:revision>
  <dcterms:created xsi:type="dcterms:W3CDTF">2016-10-30T08:15:56Z</dcterms:created>
  <dcterms:modified xsi:type="dcterms:W3CDTF">2022-11-24T15:25:26Z</dcterms:modified>
</cp:coreProperties>
</file>
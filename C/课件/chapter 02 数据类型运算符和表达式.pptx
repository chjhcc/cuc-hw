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embeddings/oleObject1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69"/>
  </p:notesMasterIdLst>
  <p:handoutMasterIdLst>
    <p:handoutMasterId r:id="rId70"/>
  </p:handoutMasterIdLst>
  <p:sldIdLst>
    <p:sldId id="304" r:id="rId2"/>
    <p:sldId id="305" r:id="rId3"/>
    <p:sldId id="307" r:id="rId4"/>
    <p:sldId id="306" r:id="rId5"/>
    <p:sldId id="270" r:id="rId6"/>
    <p:sldId id="341" r:id="rId7"/>
    <p:sldId id="342" r:id="rId8"/>
    <p:sldId id="329" r:id="rId9"/>
    <p:sldId id="330" r:id="rId10"/>
    <p:sldId id="271" r:id="rId11"/>
    <p:sldId id="272" r:id="rId12"/>
    <p:sldId id="273" r:id="rId13"/>
    <p:sldId id="274" r:id="rId14"/>
    <p:sldId id="408" r:id="rId15"/>
    <p:sldId id="277" r:id="rId16"/>
    <p:sldId id="429" r:id="rId17"/>
    <p:sldId id="336" r:id="rId18"/>
    <p:sldId id="427" r:id="rId19"/>
    <p:sldId id="385" r:id="rId20"/>
    <p:sldId id="386" r:id="rId21"/>
    <p:sldId id="387" r:id="rId22"/>
    <p:sldId id="388" r:id="rId23"/>
    <p:sldId id="389" r:id="rId24"/>
    <p:sldId id="376" r:id="rId25"/>
    <p:sldId id="377" r:id="rId26"/>
    <p:sldId id="380" r:id="rId27"/>
    <p:sldId id="381" r:id="rId28"/>
    <p:sldId id="390" r:id="rId29"/>
    <p:sldId id="391" r:id="rId30"/>
    <p:sldId id="428" r:id="rId31"/>
    <p:sldId id="384" r:id="rId32"/>
    <p:sldId id="393" r:id="rId33"/>
    <p:sldId id="395" r:id="rId34"/>
    <p:sldId id="368" r:id="rId35"/>
    <p:sldId id="414" r:id="rId36"/>
    <p:sldId id="430" r:id="rId37"/>
    <p:sldId id="431" r:id="rId38"/>
    <p:sldId id="291" r:id="rId39"/>
    <p:sldId id="415" r:id="rId40"/>
    <p:sldId id="416" r:id="rId41"/>
    <p:sldId id="417" r:id="rId42"/>
    <p:sldId id="339" r:id="rId43"/>
    <p:sldId id="318" r:id="rId44"/>
    <p:sldId id="418" r:id="rId45"/>
    <p:sldId id="403" r:id="rId46"/>
    <p:sldId id="419" r:id="rId47"/>
    <p:sldId id="420" r:id="rId48"/>
    <p:sldId id="421" r:id="rId49"/>
    <p:sldId id="422" r:id="rId50"/>
    <p:sldId id="423" r:id="rId51"/>
    <p:sldId id="424" r:id="rId52"/>
    <p:sldId id="434" r:id="rId53"/>
    <p:sldId id="435" r:id="rId54"/>
    <p:sldId id="425" r:id="rId55"/>
    <p:sldId id="269" r:id="rId56"/>
    <p:sldId id="426" r:id="rId57"/>
    <p:sldId id="432" r:id="rId58"/>
    <p:sldId id="296" r:id="rId59"/>
    <p:sldId id="294" r:id="rId60"/>
    <p:sldId id="399" r:id="rId61"/>
    <p:sldId id="400" r:id="rId62"/>
    <p:sldId id="401" r:id="rId63"/>
    <p:sldId id="402" r:id="rId64"/>
    <p:sldId id="297" r:id="rId65"/>
    <p:sldId id="324" r:id="rId66"/>
    <p:sldId id="347" r:id="rId67"/>
    <p:sldId id="284" r:id="rId68"/>
  </p:sldIdLst>
  <p:sldSz cx="9144000" cy="6858000" type="screen4x3"/>
  <p:notesSz cx="6670675" cy="9929813"/>
  <p:defaultTextStyle>
    <a:defPPr>
      <a:defRPr lang="en-US"/>
    </a:defPPr>
    <a:lvl1pPr algn="l" rtl="0" eaLnBrk="0" fontAlgn="base" hangingPunct="0">
      <a:lnSpc>
        <a:spcPct val="95000"/>
      </a:lnSpc>
      <a:spcBef>
        <a:spcPct val="20000"/>
      </a:spcBef>
      <a:spcAft>
        <a:spcPct val="0"/>
      </a:spcAft>
      <a:buClr>
        <a:srgbClr val="FFCC66"/>
      </a:buClr>
      <a:buSzPct val="80000"/>
      <a:buFont typeface="Monotype Sorts" charset="2"/>
      <a:buChar char=""/>
      <a:defRPr sz="2800" b="1" kern="1200">
        <a:solidFill>
          <a:srgbClr val="3366FF"/>
        </a:solidFill>
        <a:latin typeface="Times New Roman" charset="0"/>
        <a:ea typeface="宋体" charset="0"/>
        <a:cs typeface="+mn-cs"/>
      </a:defRPr>
    </a:lvl1pPr>
    <a:lvl2pPr marL="457200" algn="l" rtl="0" eaLnBrk="0" fontAlgn="base" hangingPunct="0">
      <a:lnSpc>
        <a:spcPct val="95000"/>
      </a:lnSpc>
      <a:spcBef>
        <a:spcPct val="20000"/>
      </a:spcBef>
      <a:spcAft>
        <a:spcPct val="0"/>
      </a:spcAft>
      <a:buClr>
        <a:srgbClr val="FFCC66"/>
      </a:buClr>
      <a:buSzPct val="80000"/>
      <a:buFont typeface="Monotype Sorts" charset="2"/>
      <a:buChar char=""/>
      <a:defRPr sz="2800" b="1" kern="1200">
        <a:solidFill>
          <a:srgbClr val="3366FF"/>
        </a:solidFill>
        <a:latin typeface="Times New Roman" charset="0"/>
        <a:ea typeface="宋体" charset="0"/>
        <a:cs typeface="+mn-cs"/>
      </a:defRPr>
    </a:lvl2pPr>
    <a:lvl3pPr marL="914400" algn="l" rtl="0" eaLnBrk="0" fontAlgn="base" hangingPunct="0">
      <a:lnSpc>
        <a:spcPct val="95000"/>
      </a:lnSpc>
      <a:spcBef>
        <a:spcPct val="20000"/>
      </a:spcBef>
      <a:spcAft>
        <a:spcPct val="0"/>
      </a:spcAft>
      <a:buClr>
        <a:srgbClr val="FFCC66"/>
      </a:buClr>
      <a:buSzPct val="80000"/>
      <a:buFont typeface="Monotype Sorts" charset="2"/>
      <a:buChar char=""/>
      <a:defRPr sz="2800" b="1" kern="1200">
        <a:solidFill>
          <a:srgbClr val="3366FF"/>
        </a:solidFill>
        <a:latin typeface="Times New Roman" charset="0"/>
        <a:ea typeface="宋体" charset="0"/>
        <a:cs typeface="+mn-cs"/>
      </a:defRPr>
    </a:lvl3pPr>
    <a:lvl4pPr marL="1371600" algn="l" rtl="0" eaLnBrk="0" fontAlgn="base" hangingPunct="0">
      <a:lnSpc>
        <a:spcPct val="95000"/>
      </a:lnSpc>
      <a:spcBef>
        <a:spcPct val="20000"/>
      </a:spcBef>
      <a:spcAft>
        <a:spcPct val="0"/>
      </a:spcAft>
      <a:buClr>
        <a:srgbClr val="FFCC66"/>
      </a:buClr>
      <a:buSzPct val="80000"/>
      <a:buFont typeface="Monotype Sorts" charset="2"/>
      <a:buChar char=""/>
      <a:defRPr sz="2800" b="1" kern="1200">
        <a:solidFill>
          <a:srgbClr val="3366FF"/>
        </a:solidFill>
        <a:latin typeface="Times New Roman" charset="0"/>
        <a:ea typeface="宋体" charset="0"/>
        <a:cs typeface="+mn-cs"/>
      </a:defRPr>
    </a:lvl4pPr>
    <a:lvl5pPr marL="1828800" algn="l" rtl="0" eaLnBrk="0" fontAlgn="base" hangingPunct="0">
      <a:lnSpc>
        <a:spcPct val="95000"/>
      </a:lnSpc>
      <a:spcBef>
        <a:spcPct val="20000"/>
      </a:spcBef>
      <a:spcAft>
        <a:spcPct val="0"/>
      </a:spcAft>
      <a:buClr>
        <a:srgbClr val="FFCC66"/>
      </a:buClr>
      <a:buSzPct val="80000"/>
      <a:buFont typeface="Monotype Sorts" charset="2"/>
      <a:buChar char=""/>
      <a:defRPr sz="2800" b="1" kern="1200">
        <a:solidFill>
          <a:srgbClr val="3366FF"/>
        </a:solidFill>
        <a:latin typeface="Times New Roman" charset="0"/>
        <a:ea typeface="宋体" charset="0"/>
        <a:cs typeface="+mn-cs"/>
      </a:defRPr>
    </a:lvl5pPr>
    <a:lvl6pPr marL="2286000" algn="l" defTabSz="914400" rtl="0" eaLnBrk="1" latinLnBrk="0" hangingPunct="1">
      <a:defRPr sz="2800" b="1" kern="1200">
        <a:solidFill>
          <a:srgbClr val="3366FF"/>
        </a:solidFill>
        <a:latin typeface="Times New Roman" charset="0"/>
        <a:ea typeface="宋体" charset="0"/>
        <a:cs typeface="+mn-cs"/>
      </a:defRPr>
    </a:lvl6pPr>
    <a:lvl7pPr marL="2743200" algn="l" defTabSz="914400" rtl="0" eaLnBrk="1" latinLnBrk="0" hangingPunct="1">
      <a:defRPr sz="2800" b="1" kern="1200">
        <a:solidFill>
          <a:srgbClr val="3366FF"/>
        </a:solidFill>
        <a:latin typeface="Times New Roman" charset="0"/>
        <a:ea typeface="宋体" charset="0"/>
        <a:cs typeface="+mn-cs"/>
      </a:defRPr>
    </a:lvl7pPr>
    <a:lvl8pPr marL="3200400" algn="l" defTabSz="914400" rtl="0" eaLnBrk="1" latinLnBrk="0" hangingPunct="1">
      <a:defRPr sz="2800" b="1" kern="1200">
        <a:solidFill>
          <a:srgbClr val="3366FF"/>
        </a:solidFill>
        <a:latin typeface="Times New Roman" charset="0"/>
        <a:ea typeface="宋体" charset="0"/>
        <a:cs typeface="+mn-cs"/>
      </a:defRPr>
    </a:lvl8pPr>
    <a:lvl9pPr marL="3657600" algn="l" defTabSz="914400" rtl="0" eaLnBrk="1" latinLnBrk="0" hangingPunct="1">
      <a:defRPr sz="2800" b="1" kern="1200">
        <a:solidFill>
          <a:srgbClr val="3366FF"/>
        </a:solidFill>
        <a:latin typeface="Times New Roman" charset="0"/>
        <a:ea typeface="宋体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80000"/>
    <a:srgbClr val="996600"/>
    <a:srgbClr val="FF9900"/>
    <a:srgbClr val="669900"/>
    <a:srgbClr val="FF0000"/>
    <a:srgbClr val="22DEAD"/>
    <a:srgbClr val="89CDC2"/>
    <a:srgbClr val="61BB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3" autoAdjust="0"/>
    <p:restoredTop sz="93061" autoAdjust="0"/>
  </p:normalViewPr>
  <p:slideViewPr>
    <p:cSldViewPr>
      <p:cViewPr varScale="1">
        <p:scale>
          <a:sx n="131" d="100"/>
          <a:sy n="131" d="100"/>
        </p:scale>
        <p:origin x="159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8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effectLst/>
                <a:latin typeface="Times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effectLst/>
                <a:latin typeface="Times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effectLst/>
                <a:latin typeface="Times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b="0">
                <a:solidFill>
                  <a:schemeClr val="tx1"/>
                </a:solidFill>
                <a:latin typeface="Times" charset="0"/>
              </a:defRPr>
            </a:lvl1pPr>
          </a:lstStyle>
          <a:p>
            <a:fld id="{2B8087C7-8FAD-3E41-91BC-71EB540114B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27139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72761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8338" y="4716463"/>
            <a:ext cx="5335587" cy="44688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66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</a:rPr>
              <a:t>命名风格的选择主要依照习惯。比如在</a:t>
            </a:r>
            <a:r>
              <a:rPr lang="en-US" altLang="zh-CN">
                <a:latin typeface="Times New Roman" charset="0"/>
                <a:ea typeface="宋体" charset="0"/>
              </a:rPr>
              <a:t>Unix/Linux</a:t>
            </a:r>
            <a:r>
              <a:rPr lang="zh-CN" altLang="en-US">
                <a:latin typeface="Times New Roman" charset="0"/>
                <a:ea typeface="宋体" charset="0"/>
              </a:rPr>
              <a:t>下，</a:t>
            </a:r>
            <a:r>
              <a:rPr lang="en-US" altLang="zh-CN">
                <a:latin typeface="Times New Roman" charset="0"/>
                <a:ea typeface="宋体" charset="0"/>
              </a:rPr>
              <a:t>variable_name</a:t>
            </a:r>
            <a:r>
              <a:rPr lang="zh-CN" altLang="en-US">
                <a:latin typeface="Times New Roman" charset="0"/>
                <a:ea typeface="宋体" charset="0"/>
              </a:rPr>
              <a:t>的形式就多见，而在</a:t>
            </a:r>
            <a:r>
              <a:rPr lang="en-US" altLang="zh-CN">
                <a:latin typeface="Times New Roman" charset="0"/>
                <a:ea typeface="宋体" charset="0"/>
              </a:rPr>
              <a:t>Windows</a:t>
            </a:r>
            <a:r>
              <a:rPr lang="zh-CN" altLang="en-US">
                <a:latin typeface="Times New Roman" charset="0"/>
                <a:ea typeface="宋体" charset="0"/>
              </a:rPr>
              <a:t>下，广泛采用的是基于</a:t>
            </a:r>
            <a:r>
              <a:rPr lang="en-US" altLang="zh-CN">
                <a:latin typeface="Times New Roman" charset="0"/>
                <a:ea typeface="宋体" charset="0"/>
              </a:rPr>
              <a:t>VariableName</a:t>
            </a:r>
            <a:r>
              <a:rPr lang="zh-CN" altLang="en-US">
                <a:latin typeface="Times New Roman" charset="0"/>
                <a:ea typeface="宋体" charset="0"/>
              </a:rPr>
              <a:t>形式的匈牙利命名法。</a:t>
            </a:r>
            <a:r>
              <a:rPr lang="en-US" altLang="zh-CN">
                <a:latin typeface="Times New Roman" charset="0"/>
                <a:ea typeface="宋体" charset="0"/>
              </a:rPr>
              <a:t>Java</a:t>
            </a:r>
            <a:r>
              <a:rPr lang="zh-CN" altLang="en-US">
                <a:latin typeface="Times New Roman" charset="0"/>
                <a:ea typeface="宋体" charset="0"/>
              </a:rPr>
              <a:t>语言里常用</a:t>
            </a:r>
            <a:r>
              <a:rPr lang="en-US" altLang="zh-CN">
                <a:latin typeface="Times New Roman" charset="0"/>
                <a:ea typeface="宋体" charset="0"/>
              </a:rPr>
              <a:t>variableName</a:t>
            </a:r>
            <a:r>
              <a:rPr lang="zh-CN" altLang="en-US">
                <a:latin typeface="Times New Roman" charset="0"/>
                <a:ea typeface="宋体" charset="0"/>
              </a:rPr>
              <a:t>形式。</a:t>
            </a:r>
          </a:p>
        </p:txBody>
      </p:sp>
    </p:spTree>
    <p:extLst>
      <p:ext uri="{BB962C8B-B14F-4D97-AF65-F5344CB8AC3E}">
        <p14:creationId xmlns:p14="http://schemas.microsoft.com/office/powerpoint/2010/main" val="698312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17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66750" y="4778375"/>
            <a:ext cx="5337175" cy="3910013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223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</a:rPr>
              <a:t>为什么是</a:t>
            </a:r>
            <a:r>
              <a:rPr lang="en-US" altLang="zh-CN">
                <a:latin typeface="Times New Roman" charset="0"/>
                <a:ea typeface="宋体" charset="0"/>
              </a:rPr>
              <a:t>1024</a:t>
            </a:r>
            <a:r>
              <a:rPr lang="zh-CN" altLang="en-US">
                <a:latin typeface="Times New Roman" charset="0"/>
                <a:ea typeface="宋体" charset="0"/>
              </a:rPr>
              <a:t>而不是更容易计算的</a:t>
            </a:r>
            <a:r>
              <a:rPr lang="en-US" altLang="zh-CN">
                <a:latin typeface="Times New Roman" charset="0"/>
                <a:ea typeface="宋体" charset="0"/>
              </a:rPr>
              <a:t>1000</a:t>
            </a:r>
            <a:r>
              <a:rPr lang="zh-CN" altLang="en-US">
                <a:latin typeface="Times New Roman" charset="0"/>
                <a:ea typeface="宋体" charset="0"/>
              </a:rPr>
              <a:t>？</a:t>
            </a:r>
          </a:p>
          <a:p>
            <a:pPr eaLnBrk="1" hangingPunct="1"/>
            <a:r>
              <a:rPr lang="zh-CN" altLang="en-US">
                <a:latin typeface="Times New Roman" charset="0"/>
                <a:ea typeface="宋体" charset="0"/>
              </a:rPr>
              <a:t>为什么是</a:t>
            </a:r>
            <a:r>
              <a:rPr lang="en-US" altLang="zh-CN">
                <a:latin typeface="Times New Roman" charset="0"/>
                <a:ea typeface="宋体" charset="0"/>
              </a:rPr>
              <a:t>8</a:t>
            </a:r>
            <a:r>
              <a:rPr lang="zh-CN" altLang="en-US">
                <a:latin typeface="Times New Roman" charset="0"/>
                <a:ea typeface="宋体" charset="0"/>
              </a:rPr>
              <a:t>而不是更直观的</a:t>
            </a:r>
            <a:r>
              <a:rPr lang="en-US" altLang="zh-CN">
                <a:latin typeface="Times New Roman" charset="0"/>
                <a:ea typeface="宋体" charset="0"/>
              </a:rPr>
              <a:t>10</a:t>
            </a:r>
            <a:r>
              <a:rPr lang="zh-CN" altLang="en-US">
                <a:latin typeface="Times New Roman" charset="0"/>
                <a:ea typeface="宋体" charset="0"/>
              </a:rPr>
              <a:t>？</a:t>
            </a:r>
          </a:p>
          <a:p>
            <a:pPr eaLnBrk="1" hangingPunct="1"/>
            <a:r>
              <a:rPr lang="zh-CN" altLang="en-US">
                <a:latin typeface="Times New Roman" charset="0"/>
                <a:ea typeface="宋体" charset="0"/>
              </a:rPr>
              <a:t>这将在计算机原理课解答。</a:t>
            </a:r>
            <a:endParaRPr lang="en-US" altLang="zh-CN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293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</a:rPr>
              <a:t>未来的趋势是任何字符，无论英文、中文还是其它文字，都用两个字节来表示。这种编码叫做</a:t>
            </a:r>
            <a:r>
              <a:rPr lang="en-US" altLang="zh-CN">
                <a:latin typeface="Times New Roman" charset="0"/>
                <a:ea typeface="宋体" charset="0"/>
              </a:rPr>
              <a:t>UNICODE</a:t>
            </a:r>
          </a:p>
        </p:txBody>
      </p:sp>
    </p:spTree>
    <p:extLst>
      <p:ext uri="{BB962C8B-B14F-4D97-AF65-F5344CB8AC3E}">
        <p14:creationId xmlns:p14="http://schemas.microsoft.com/office/powerpoint/2010/main" val="1369893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0"/>
            </a:endParaRPr>
          </a:p>
          <a:p>
            <a:pPr eaLnBrk="1" hangingPunct="1"/>
            <a:endParaRPr lang="en-US" altLang="zh-CN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48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</a:rPr>
              <a:t>教材</a:t>
            </a:r>
            <a:r>
              <a:rPr lang="en-US" altLang="zh-CN">
                <a:latin typeface="Times New Roman" charset="0"/>
                <a:ea typeface="宋体" charset="0"/>
              </a:rPr>
              <a:t>P229</a:t>
            </a:r>
            <a:r>
              <a:rPr lang="zh-CN" altLang="en-US">
                <a:latin typeface="Times New Roman" charset="0"/>
                <a:ea typeface="宋体" charset="0"/>
              </a:rPr>
              <a:t>页有对各种类型变量取值范围的描述。在程序中最好的确定范围的方法就是使用这些宏。</a:t>
            </a:r>
          </a:p>
          <a:p>
            <a:pPr eaLnBrk="1" hangingPunct="1"/>
            <a:endParaRPr lang="en-US" altLang="zh-CN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9717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</a:rPr>
              <a:t>整型常数缺生被看作</a:t>
            </a:r>
            <a:r>
              <a:rPr lang="en-US" altLang="zh-CN" dirty="0" err="1">
                <a:latin typeface="Times New Roman" charset="0"/>
                <a:ea typeface="宋体" charset="0"/>
              </a:rPr>
              <a:t>int</a:t>
            </a:r>
            <a:r>
              <a:rPr lang="zh-CN" altLang="en-US" dirty="0">
                <a:latin typeface="Times New Roman" charset="0"/>
                <a:ea typeface="宋体" charset="0"/>
              </a:rPr>
              <a:t>类型，如果超出</a:t>
            </a:r>
            <a:r>
              <a:rPr lang="en-US" altLang="zh-CN" dirty="0" err="1">
                <a:latin typeface="Times New Roman" charset="0"/>
                <a:ea typeface="宋体" charset="0"/>
              </a:rPr>
              <a:t>int</a:t>
            </a:r>
            <a:r>
              <a:rPr lang="zh-CN" altLang="en-US" dirty="0">
                <a:latin typeface="Times New Roman" charset="0"/>
                <a:ea typeface="宋体" charset="0"/>
              </a:rPr>
              <a:t>的范围，就自动被看作</a:t>
            </a:r>
            <a:r>
              <a:rPr lang="en-US" altLang="zh-CN" dirty="0">
                <a:latin typeface="Times New Roman" charset="0"/>
                <a:ea typeface="宋体" charset="0"/>
              </a:rPr>
              <a:t>long</a:t>
            </a:r>
            <a:r>
              <a:rPr lang="zh-CN" altLang="en-US" dirty="0">
                <a:latin typeface="Times New Roman" charset="0"/>
                <a:ea typeface="宋体" charset="0"/>
              </a:rPr>
              <a:t>。可以在数字后面加上</a:t>
            </a:r>
            <a:r>
              <a:rPr lang="en-US" altLang="zh-CN" dirty="0">
                <a:latin typeface="Times New Roman" charset="0"/>
                <a:ea typeface="宋体" charset="0"/>
              </a:rPr>
              <a:t>l</a:t>
            </a:r>
            <a:r>
              <a:rPr lang="zh-CN" altLang="en-US" dirty="0">
                <a:latin typeface="Times New Roman" charset="0"/>
                <a:ea typeface="宋体" charset="0"/>
              </a:rPr>
              <a:t>或者</a:t>
            </a:r>
            <a:r>
              <a:rPr lang="en-US" altLang="zh-CN" dirty="0">
                <a:latin typeface="Times New Roman" charset="0"/>
                <a:ea typeface="宋体" charset="0"/>
              </a:rPr>
              <a:t>L</a:t>
            </a:r>
            <a:r>
              <a:rPr lang="zh-CN" altLang="en-US" dirty="0">
                <a:latin typeface="Times New Roman" charset="0"/>
                <a:ea typeface="宋体" charset="0"/>
              </a:rPr>
              <a:t>强制其为</a:t>
            </a:r>
            <a:r>
              <a:rPr lang="en-US" altLang="zh-CN" dirty="0">
                <a:latin typeface="Times New Roman" charset="0"/>
                <a:ea typeface="宋体" charset="0"/>
              </a:rPr>
              <a:t>long</a:t>
            </a:r>
            <a:r>
              <a:rPr lang="zh-CN" altLang="en-US" dirty="0">
                <a:latin typeface="Times New Roman" charset="0"/>
                <a:ea typeface="宋体" charset="0"/>
              </a:rPr>
              <a:t>。</a:t>
            </a:r>
          </a:p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</a:rPr>
              <a:t>浮点常数缺省为</a:t>
            </a:r>
            <a:r>
              <a:rPr lang="en-US" altLang="zh-CN" dirty="0">
                <a:latin typeface="Times New Roman" charset="0"/>
                <a:ea typeface="宋体" charset="0"/>
              </a:rPr>
              <a:t>double</a:t>
            </a:r>
            <a:r>
              <a:rPr lang="zh-CN" altLang="en-US" dirty="0">
                <a:latin typeface="Times New Roman" charset="0"/>
                <a:ea typeface="宋体" charset="0"/>
              </a:rPr>
              <a:t>，后缀</a:t>
            </a:r>
            <a:r>
              <a:rPr lang="en-US" altLang="zh-CN" dirty="0">
                <a:latin typeface="Times New Roman" charset="0"/>
                <a:ea typeface="宋体" charset="0"/>
              </a:rPr>
              <a:t>f</a:t>
            </a:r>
            <a:r>
              <a:rPr lang="zh-CN" altLang="en-US" dirty="0">
                <a:latin typeface="Times New Roman" charset="0"/>
                <a:ea typeface="宋体" charset="0"/>
              </a:rPr>
              <a:t>或</a:t>
            </a:r>
            <a:r>
              <a:rPr lang="en-US" altLang="zh-CN" dirty="0">
                <a:latin typeface="Times New Roman" charset="0"/>
                <a:ea typeface="宋体" charset="0"/>
              </a:rPr>
              <a:t>F</a:t>
            </a:r>
            <a:r>
              <a:rPr lang="zh-CN" altLang="en-US" dirty="0">
                <a:latin typeface="Times New Roman" charset="0"/>
                <a:ea typeface="宋体" charset="0"/>
              </a:rPr>
              <a:t>为</a:t>
            </a:r>
            <a:r>
              <a:rPr lang="en-US" altLang="zh-CN" dirty="0">
                <a:latin typeface="Times New Roman" charset="0"/>
                <a:ea typeface="宋体" charset="0"/>
              </a:rPr>
              <a:t>float</a:t>
            </a:r>
            <a:r>
              <a:rPr lang="zh-CN" altLang="en-US" dirty="0">
                <a:latin typeface="Times New Roman" charset="0"/>
                <a:ea typeface="宋体" charset="0"/>
              </a:rPr>
              <a:t>，后缀</a:t>
            </a:r>
            <a:r>
              <a:rPr lang="en-US" altLang="zh-CN" dirty="0">
                <a:latin typeface="Times New Roman" charset="0"/>
                <a:ea typeface="宋体" charset="0"/>
              </a:rPr>
              <a:t>l</a:t>
            </a:r>
            <a:r>
              <a:rPr lang="zh-CN" altLang="en-US" dirty="0">
                <a:latin typeface="Times New Roman" charset="0"/>
                <a:ea typeface="宋体" charset="0"/>
              </a:rPr>
              <a:t>或</a:t>
            </a:r>
            <a:r>
              <a:rPr lang="en-US" altLang="zh-CN" dirty="0">
                <a:latin typeface="Times New Roman" charset="0"/>
                <a:ea typeface="宋体" charset="0"/>
              </a:rPr>
              <a:t>L</a:t>
            </a:r>
            <a:r>
              <a:rPr lang="zh-CN" altLang="en-US" dirty="0">
                <a:latin typeface="Times New Roman" charset="0"/>
                <a:ea typeface="宋体" charset="0"/>
              </a:rPr>
              <a:t>为</a:t>
            </a:r>
            <a:r>
              <a:rPr lang="en-US" altLang="zh-CN" dirty="0">
                <a:latin typeface="Times New Roman" charset="0"/>
                <a:ea typeface="宋体" charset="0"/>
              </a:rPr>
              <a:t>long double</a:t>
            </a:r>
            <a:r>
              <a:rPr lang="zh-CN" altLang="en-US" dirty="0">
                <a:latin typeface="Times New Roman" charset="0"/>
                <a:ea typeface="宋体" charset="0"/>
              </a:rPr>
              <a:t>。</a:t>
            </a:r>
          </a:p>
          <a:p>
            <a:pPr eaLnBrk="1" hangingPunct="1"/>
            <a:r>
              <a:rPr lang="zh-CN" altLang="en-US" dirty="0">
                <a:latin typeface="Times New Roman" charset="0"/>
                <a:ea typeface="宋体" charset="0"/>
              </a:rPr>
              <a:t>因为字母</a:t>
            </a:r>
            <a:r>
              <a:rPr lang="en-US" altLang="zh-CN" dirty="0">
                <a:latin typeface="Times New Roman" charset="0"/>
                <a:ea typeface="宋体" charset="0"/>
              </a:rPr>
              <a:t>l</a:t>
            </a:r>
            <a:r>
              <a:rPr lang="zh-CN" altLang="en-US" dirty="0">
                <a:latin typeface="Times New Roman" charset="0"/>
                <a:ea typeface="宋体" charset="0"/>
              </a:rPr>
              <a:t>和数字</a:t>
            </a:r>
            <a:r>
              <a:rPr lang="en-US" altLang="zh-CN" dirty="0">
                <a:latin typeface="Times New Roman" charset="0"/>
                <a:ea typeface="宋体" charset="0"/>
              </a:rPr>
              <a:t>1</a:t>
            </a:r>
            <a:r>
              <a:rPr lang="zh-CN" altLang="en-US" dirty="0">
                <a:latin typeface="Times New Roman" charset="0"/>
                <a:ea typeface="宋体" charset="0"/>
              </a:rPr>
              <a:t>容易混淆，所以当用</a:t>
            </a:r>
            <a:r>
              <a:rPr lang="en-US" altLang="zh-CN" dirty="0">
                <a:latin typeface="Times New Roman" charset="0"/>
                <a:ea typeface="宋体" charset="0"/>
              </a:rPr>
              <a:t>l</a:t>
            </a:r>
            <a:r>
              <a:rPr lang="zh-CN" altLang="en-US" dirty="0">
                <a:latin typeface="Times New Roman" charset="0"/>
                <a:ea typeface="宋体" charset="0"/>
              </a:rPr>
              <a:t>做后缀时，常使用大写形式。</a:t>
            </a:r>
            <a:endParaRPr lang="en-US" altLang="zh-CN" dirty="0">
              <a:latin typeface="Times New Roman" charset="0"/>
              <a:ea typeface="宋体" charset="0"/>
            </a:endParaRPr>
          </a:p>
          <a:p>
            <a:pPr eaLnBrk="1" hangingPunct="1"/>
            <a:endParaRPr lang="en-US" altLang="zh-CN" dirty="0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65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0" y="4716463"/>
            <a:ext cx="5337175" cy="44688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Times New Roman" charset="0"/>
                <a:ea typeface="宋体" charset="0"/>
              </a:rPr>
              <a:t>整型常数缺生被看作</a:t>
            </a:r>
            <a:r>
              <a:rPr lang="en-US" altLang="zh-CN">
                <a:latin typeface="Times New Roman" charset="0"/>
                <a:ea typeface="宋体" charset="0"/>
              </a:rPr>
              <a:t>int</a:t>
            </a:r>
            <a:r>
              <a:rPr lang="zh-CN" altLang="en-US">
                <a:latin typeface="Times New Roman" charset="0"/>
                <a:ea typeface="宋体" charset="0"/>
              </a:rPr>
              <a:t>类型，如果超出</a:t>
            </a:r>
            <a:r>
              <a:rPr lang="en-US" altLang="zh-CN">
                <a:latin typeface="Times New Roman" charset="0"/>
                <a:ea typeface="宋体" charset="0"/>
              </a:rPr>
              <a:t>int</a:t>
            </a:r>
            <a:r>
              <a:rPr lang="zh-CN" altLang="en-US">
                <a:latin typeface="Times New Roman" charset="0"/>
                <a:ea typeface="宋体" charset="0"/>
              </a:rPr>
              <a:t>的范围，就自动被看作</a:t>
            </a:r>
            <a:r>
              <a:rPr lang="en-US" altLang="zh-CN">
                <a:latin typeface="Times New Roman" charset="0"/>
                <a:ea typeface="宋体" charset="0"/>
              </a:rPr>
              <a:t>long</a:t>
            </a:r>
            <a:r>
              <a:rPr lang="zh-CN" altLang="en-US">
                <a:latin typeface="Times New Roman" charset="0"/>
                <a:ea typeface="宋体" charset="0"/>
              </a:rPr>
              <a:t>。可以在数字后面加上</a:t>
            </a:r>
            <a:r>
              <a:rPr lang="en-US" altLang="zh-CN">
                <a:latin typeface="Times New Roman" charset="0"/>
                <a:ea typeface="宋体" charset="0"/>
              </a:rPr>
              <a:t>l</a:t>
            </a:r>
            <a:r>
              <a:rPr lang="zh-CN" altLang="en-US">
                <a:latin typeface="Times New Roman" charset="0"/>
                <a:ea typeface="宋体" charset="0"/>
              </a:rPr>
              <a:t>或者</a:t>
            </a:r>
            <a:r>
              <a:rPr lang="en-US" altLang="zh-CN">
                <a:latin typeface="Times New Roman" charset="0"/>
                <a:ea typeface="宋体" charset="0"/>
              </a:rPr>
              <a:t>L</a:t>
            </a:r>
            <a:r>
              <a:rPr lang="zh-CN" altLang="en-US">
                <a:latin typeface="Times New Roman" charset="0"/>
                <a:ea typeface="宋体" charset="0"/>
              </a:rPr>
              <a:t>强制其为</a:t>
            </a:r>
            <a:r>
              <a:rPr lang="en-US" altLang="zh-CN">
                <a:latin typeface="Times New Roman" charset="0"/>
                <a:ea typeface="宋体" charset="0"/>
              </a:rPr>
              <a:t>long</a:t>
            </a:r>
            <a:r>
              <a:rPr lang="zh-CN" altLang="en-US">
                <a:latin typeface="Times New Roman" charset="0"/>
                <a:ea typeface="宋体" charset="0"/>
              </a:rPr>
              <a:t>。</a:t>
            </a:r>
          </a:p>
          <a:p>
            <a:pPr eaLnBrk="1" hangingPunct="1"/>
            <a:r>
              <a:rPr lang="zh-CN" altLang="en-US">
                <a:latin typeface="Times New Roman" charset="0"/>
                <a:ea typeface="宋体" charset="0"/>
              </a:rPr>
              <a:t>浮点常数缺省为</a:t>
            </a:r>
            <a:r>
              <a:rPr lang="en-US" altLang="zh-CN">
                <a:latin typeface="Times New Roman" charset="0"/>
                <a:ea typeface="宋体" charset="0"/>
              </a:rPr>
              <a:t>double</a:t>
            </a:r>
            <a:r>
              <a:rPr lang="zh-CN" altLang="en-US">
                <a:latin typeface="Times New Roman" charset="0"/>
                <a:ea typeface="宋体" charset="0"/>
              </a:rPr>
              <a:t>，后缀</a:t>
            </a:r>
            <a:r>
              <a:rPr lang="en-US" altLang="zh-CN">
                <a:latin typeface="Times New Roman" charset="0"/>
                <a:ea typeface="宋体" charset="0"/>
              </a:rPr>
              <a:t>f</a:t>
            </a:r>
            <a:r>
              <a:rPr lang="zh-CN" altLang="en-US">
                <a:latin typeface="Times New Roman" charset="0"/>
                <a:ea typeface="宋体" charset="0"/>
              </a:rPr>
              <a:t>或</a:t>
            </a:r>
            <a:r>
              <a:rPr lang="en-US" altLang="zh-CN">
                <a:latin typeface="Times New Roman" charset="0"/>
                <a:ea typeface="宋体" charset="0"/>
              </a:rPr>
              <a:t>F</a:t>
            </a:r>
            <a:r>
              <a:rPr lang="zh-CN" altLang="en-US">
                <a:latin typeface="Times New Roman" charset="0"/>
                <a:ea typeface="宋体" charset="0"/>
              </a:rPr>
              <a:t>为</a:t>
            </a:r>
            <a:r>
              <a:rPr lang="en-US" altLang="zh-CN">
                <a:latin typeface="Times New Roman" charset="0"/>
                <a:ea typeface="宋体" charset="0"/>
              </a:rPr>
              <a:t>float</a:t>
            </a:r>
            <a:r>
              <a:rPr lang="zh-CN" altLang="en-US">
                <a:latin typeface="Times New Roman" charset="0"/>
                <a:ea typeface="宋体" charset="0"/>
              </a:rPr>
              <a:t>，后缀</a:t>
            </a:r>
            <a:r>
              <a:rPr lang="en-US" altLang="zh-CN">
                <a:latin typeface="Times New Roman" charset="0"/>
                <a:ea typeface="宋体" charset="0"/>
              </a:rPr>
              <a:t>l</a:t>
            </a:r>
            <a:r>
              <a:rPr lang="zh-CN" altLang="en-US">
                <a:latin typeface="Times New Roman" charset="0"/>
                <a:ea typeface="宋体" charset="0"/>
              </a:rPr>
              <a:t>或</a:t>
            </a:r>
            <a:r>
              <a:rPr lang="en-US" altLang="zh-CN">
                <a:latin typeface="Times New Roman" charset="0"/>
                <a:ea typeface="宋体" charset="0"/>
              </a:rPr>
              <a:t>L</a:t>
            </a:r>
            <a:r>
              <a:rPr lang="zh-CN" altLang="en-US">
                <a:latin typeface="Times New Roman" charset="0"/>
                <a:ea typeface="宋体" charset="0"/>
              </a:rPr>
              <a:t>为</a:t>
            </a:r>
            <a:r>
              <a:rPr lang="en-US" altLang="zh-CN">
                <a:latin typeface="Times New Roman" charset="0"/>
                <a:ea typeface="宋体" charset="0"/>
              </a:rPr>
              <a:t>long double</a:t>
            </a:r>
            <a:r>
              <a:rPr lang="zh-CN" altLang="en-US">
                <a:latin typeface="Times New Roman" charset="0"/>
                <a:ea typeface="宋体" charset="0"/>
              </a:rPr>
              <a:t>。</a:t>
            </a:r>
          </a:p>
          <a:p>
            <a:pPr eaLnBrk="1" hangingPunct="1"/>
            <a:r>
              <a:rPr lang="zh-CN" altLang="en-US">
                <a:latin typeface="Times New Roman" charset="0"/>
                <a:ea typeface="宋体" charset="0"/>
              </a:rPr>
              <a:t>因为字母</a:t>
            </a:r>
            <a:r>
              <a:rPr lang="en-US" altLang="zh-CN">
                <a:latin typeface="Times New Roman" charset="0"/>
                <a:ea typeface="宋体" charset="0"/>
              </a:rPr>
              <a:t>l</a:t>
            </a:r>
            <a:r>
              <a:rPr lang="zh-CN" altLang="en-US">
                <a:latin typeface="Times New Roman" charset="0"/>
                <a:ea typeface="宋体" charset="0"/>
              </a:rPr>
              <a:t>和数字</a:t>
            </a:r>
            <a:r>
              <a:rPr lang="en-US" altLang="zh-CN">
                <a:latin typeface="Times New Roman" charset="0"/>
                <a:ea typeface="宋体" charset="0"/>
              </a:rPr>
              <a:t>1</a:t>
            </a:r>
            <a:r>
              <a:rPr lang="zh-CN" altLang="en-US">
                <a:latin typeface="Times New Roman" charset="0"/>
                <a:ea typeface="宋体" charset="0"/>
              </a:rPr>
              <a:t>容易混淆，所以当用</a:t>
            </a:r>
            <a:r>
              <a:rPr lang="en-US" altLang="zh-CN">
                <a:latin typeface="Times New Roman" charset="0"/>
                <a:ea typeface="宋体" charset="0"/>
              </a:rPr>
              <a:t>l</a:t>
            </a:r>
            <a:r>
              <a:rPr lang="zh-CN" altLang="en-US">
                <a:latin typeface="Times New Roman" charset="0"/>
                <a:ea typeface="宋体" charset="0"/>
              </a:rPr>
              <a:t>做后缀时，常使用大写形式。</a:t>
            </a:r>
            <a:endParaRPr lang="en-US" altLang="zh-CN">
              <a:latin typeface="Times New Roman" charset="0"/>
              <a:ea typeface="宋体" charset="0"/>
            </a:endParaRPr>
          </a:p>
          <a:p>
            <a:pPr eaLnBrk="1" hangingPunct="1"/>
            <a:endParaRPr lang="en-US" altLang="zh-CN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75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17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66750" y="4778375"/>
            <a:ext cx="5337175" cy="3910013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6503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61442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6D929573-84BB-5C44-820C-04D1CE102FB3}" type="slidenum">
              <a:rPr lang="en-US" altLang="zh-CN" sz="1200">
                <a:latin typeface="Times New Roman" charset="0"/>
              </a:rPr>
              <a:pPr/>
              <a:t>52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54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/>
        </p:spPr>
      </p:sp>
      <p:sp>
        <p:nvSpPr>
          <p:cNvPr id="63490" name="备注占位符 2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  <p:sp>
        <p:nvSpPr>
          <p:cNvPr id="63491" name="灯片编号占位符 3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fld id="{DB08CB48-F509-9C4B-8947-534F08BD0526}" type="slidenum">
              <a:rPr lang="en-US" altLang="zh-CN" sz="1200">
                <a:latin typeface="Times New Roman" charset="0"/>
              </a:rPr>
              <a:pPr/>
              <a:t>53</a:t>
            </a:fld>
            <a:endParaRPr lang="en-US" altLang="zh-CN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110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2DF10A2-751D-AC48-A3C3-E148D6F93F44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E8868FA9-5DE0-DC4E-9D0B-DBF0F250870E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78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9691-F867-F948-AC60-3B31A7AAD0A1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3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624063B-B12D-AC45-827C-DB2740380A72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0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1C312-7628-F247-87F6-CA61EEFEB728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9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BE2C-5B41-7F45-A8A6-91292B6F2D13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49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FA6D24C-21C1-0945-8982-EA44B393C901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6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0C78-D17E-FD44-A71A-F94D75D25789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82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F14C-703E-A246-973D-C718281E7362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621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BEF24-D5E1-224B-BCB3-2ACEEF18BA5F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313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8AEAF-0EA0-704A-B895-96818C6218A3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0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E8942-6396-CD42-B2F9-EB138FD1FAA5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50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53220A-5D56-A549-921E-42124A0F9C58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48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leizhang@cuc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WordArt 6"/>
          <p:cNvSpPr>
            <a:spLocks noChangeArrowheads="1" noChangeShapeType="1" noTextEdit="1"/>
          </p:cNvSpPr>
          <p:nvPr/>
        </p:nvSpPr>
        <p:spPr bwMode="auto">
          <a:xfrm>
            <a:off x="827584" y="1855789"/>
            <a:ext cx="7561262" cy="1223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zh-CN" altLang="en-US" sz="44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第</a:t>
            </a:r>
            <a:r>
              <a:rPr lang="en-US" altLang="zh-CN" sz="44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2</a:t>
            </a:r>
            <a:r>
              <a:rPr lang="zh-CN" altLang="en-US" sz="44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章 数据类型、运算符与表达式</a:t>
            </a:r>
          </a:p>
        </p:txBody>
      </p:sp>
      <p:sp>
        <p:nvSpPr>
          <p:cNvPr id="2" name="矩形 1"/>
          <p:cNvSpPr/>
          <p:nvPr/>
        </p:nvSpPr>
        <p:spPr>
          <a:xfrm>
            <a:off x="1729210" y="3492461"/>
            <a:ext cx="612068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  <a:defRPr/>
            </a:pPr>
            <a:r>
              <a:rPr lang="zh-CN" altLang="en-US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程序设计与编程方法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421037" y="4797152"/>
            <a:ext cx="4374356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  <a:t>张雷</a:t>
            </a:r>
            <a:b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</a:br>
            <a:r>
              <a:rPr lang="en-US" altLang="zh-CN" sz="2000" b="1" dirty="0">
                <a:latin typeface="Times New Roman" charset="0"/>
                <a:ea typeface="隶书" charset="0"/>
                <a:hlinkClick r:id="rId4"/>
              </a:rPr>
              <a:t>leizhang</a:t>
            </a:r>
            <a:r>
              <a:rPr lang="en-US" altLang="zh-CN" sz="2000" b="1" dirty="0">
                <a:latin typeface="Times New Roman" charset="0"/>
                <a:hlinkClick r:id="rId4"/>
              </a:rPr>
              <a:t>@cuc.edu.cn</a:t>
            </a:r>
            <a:endParaRPr lang="zh-CN" altLang="en-US" sz="2000" b="1" dirty="0">
              <a:latin typeface="Times New Roman" charset="0"/>
            </a:endParaRPr>
          </a:p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charset="0"/>
              </a:rPr>
              <a:t>中国传媒大学</a:t>
            </a:r>
          </a:p>
          <a:p>
            <a:pPr algn="ctr">
              <a:spcBef>
                <a:spcPct val="50000"/>
              </a:spcBef>
              <a:buNone/>
            </a:pPr>
            <a:r>
              <a:rPr lang="zh-CN" altLang="en-US" sz="2000">
                <a:solidFill>
                  <a:schemeClr val="tx1"/>
                </a:solidFill>
              </a:rPr>
              <a:t>计算机与网络空间安全学院</a:t>
            </a:r>
          </a:p>
          <a:p>
            <a:pPr algn="ctr" eaLnBrk="0" hangingPunct="0">
              <a:spcBef>
                <a:spcPct val="50000"/>
              </a:spcBef>
            </a:pPr>
            <a:endParaRPr lang="en-US" altLang="zh-CN" sz="2400" b="1" dirty="0">
              <a:latin typeface="Times New Roman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内容提要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zh-CN" altLang="en-US" dirty="0">
                <a:ea typeface="宋体" charset="0"/>
              </a:rPr>
              <a:t>标识符命名；                        </a:t>
            </a:r>
          </a:p>
          <a:p>
            <a:pPr marL="533400" indent="-533400"/>
            <a:r>
              <a:rPr lang="zh-CN" altLang="en-US" dirty="0">
                <a:ea typeface="宋体" charset="0"/>
              </a:rPr>
              <a:t>基本数据类型；</a:t>
            </a:r>
          </a:p>
          <a:p>
            <a:pPr marL="533400" indent="-533400"/>
            <a:r>
              <a:rPr lang="zh-CN" altLang="en-US" dirty="0">
                <a:ea typeface="宋体" charset="0"/>
              </a:rPr>
              <a:t>常量和变量； </a:t>
            </a:r>
          </a:p>
          <a:p>
            <a:pPr marL="533400" indent="-533400"/>
            <a:r>
              <a:rPr lang="zh-CN" altLang="en-US" dirty="0">
                <a:ea typeface="宋体" charset="0"/>
              </a:rPr>
              <a:t>常用运算符和表达式；</a:t>
            </a:r>
          </a:p>
          <a:p>
            <a:pPr marL="533400" indent="-533400"/>
            <a:r>
              <a:rPr lang="zh-CN" altLang="en-US" dirty="0">
                <a:ea typeface="宋体" charset="0"/>
              </a:rPr>
              <a:t>运算符的优先级与结合性。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FE12B-78B2-2A4E-A66C-5145B2BBB93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70879"/>
            <a:ext cx="7772400" cy="928243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2.1</a:t>
            </a:r>
            <a:r>
              <a:rPr lang="zh-CN" altLang="en-US" dirty="0"/>
              <a:t>：一个简单的</a:t>
            </a:r>
            <a:r>
              <a:rPr lang="en-US" altLang="zh-CN" dirty="0"/>
              <a:t>C</a:t>
            </a:r>
            <a:r>
              <a:rPr lang="zh-CN" altLang="en-US" dirty="0"/>
              <a:t>程序例子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88925" y="1152525"/>
            <a:ext cx="8820150" cy="5445125"/>
          </a:xfrm>
          <a:solidFill>
            <a:schemeClr val="bg1"/>
          </a:solidFill>
        </p:spPr>
        <p:txBody>
          <a:bodyPr>
            <a:normAutofit fontScale="62500" lnSpcReduction="20000"/>
          </a:bodyPr>
          <a:lstStyle/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#</a:t>
            </a:r>
            <a:r>
              <a:rPr lang="en-US" altLang="zh-CN" sz="1800">
                <a:solidFill>
                  <a:srgbClr val="880000"/>
                </a:solidFill>
                <a:effectLst/>
                <a:latin typeface="Courier New" charset="0"/>
                <a:ea typeface="宋体" charset="0"/>
              </a:rPr>
              <a:t>include</a:t>
            </a: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 &lt;stdio.h&gt;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endParaRPr lang="en-US" altLang="zh-CN" sz="1800">
              <a:solidFill>
                <a:schemeClr val="tx1"/>
              </a:solidFill>
              <a:effectLst/>
              <a:latin typeface="Courier New" charset="0"/>
              <a:ea typeface="宋体" charset="0"/>
            </a:endParaRP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/*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函数功能</a:t>
            </a:r>
            <a:r>
              <a:rPr lang="zh-CN" altLang="en-US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：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计算两个整数相加之和</a:t>
            </a:r>
            <a:endParaRPr lang="zh-CN" altLang="en-US" sz="1800">
              <a:solidFill>
                <a:schemeClr val="tx1"/>
              </a:solidFill>
              <a:effectLst/>
              <a:latin typeface="Courier New" charset="0"/>
              <a:ea typeface="宋体" charset="0"/>
            </a:endParaRP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zh-CN" altLang="en-US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 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入口参数</a:t>
            </a:r>
            <a:r>
              <a:rPr lang="zh-CN" altLang="en-US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：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整型数据</a:t>
            </a: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a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和</a:t>
            </a: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b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 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返回值：  整型数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a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和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b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之和</a:t>
            </a:r>
            <a:endParaRPr lang="zh-CN" altLang="en-US" sz="1800">
              <a:solidFill>
                <a:schemeClr val="tx1"/>
              </a:solidFill>
              <a:effectLst/>
              <a:latin typeface="Courier New" charset="0"/>
              <a:ea typeface="宋体" charset="0"/>
            </a:endParaRP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zh-CN" altLang="en-US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*</a:t>
            </a: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/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sz="1800">
                <a:solidFill>
                  <a:schemeClr val="accent2"/>
                </a:solidFill>
                <a:effectLst/>
                <a:latin typeface="Courier New" charset="0"/>
                <a:ea typeface="宋体" charset="0"/>
              </a:rPr>
              <a:t>int</a:t>
            </a: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 </a:t>
            </a:r>
            <a:r>
              <a:rPr lang="en-US" altLang="zh-CN" sz="1800">
                <a:solidFill>
                  <a:srgbClr val="880000"/>
                </a:solidFill>
                <a:effectLst/>
                <a:latin typeface="Courier New" charset="0"/>
                <a:ea typeface="宋体" charset="0"/>
              </a:rPr>
              <a:t>Add</a:t>
            </a: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(</a:t>
            </a:r>
            <a:r>
              <a:rPr lang="en-US" altLang="zh-CN" sz="18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int</a:t>
            </a: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 a, </a:t>
            </a:r>
            <a:r>
              <a:rPr lang="en-US" altLang="zh-CN" sz="18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int</a:t>
            </a:r>
            <a:r>
              <a:rPr lang="en-US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 b)</a:t>
            </a:r>
            <a:endParaRPr lang="fr-FR" altLang="zh-CN" sz="1800">
              <a:solidFill>
                <a:schemeClr val="tx1"/>
              </a:solidFill>
              <a:effectLst/>
              <a:latin typeface="Courier New" charset="0"/>
              <a:ea typeface="宋体" charset="0"/>
            </a:endParaRP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{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	</a:t>
            </a:r>
            <a:r>
              <a:rPr lang="fr-FR" altLang="zh-CN" sz="18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return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 (a + b);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}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endParaRPr lang="fr-FR" altLang="zh-CN" sz="1800">
              <a:solidFill>
                <a:schemeClr val="tx1"/>
              </a:solidFill>
              <a:effectLst/>
              <a:latin typeface="Courier New" charset="0"/>
              <a:ea typeface="宋体" charset="0"/>
            </a:endParaRP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/*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主函数*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/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rgbClr val="880000"/>
                </a:solidFill>
                <a:effectLst/>
                <a:latin typeface="Courier New" charset="0"/>
                <a:ea typeface="宋体" charset="0"/>
              </a:rPr>
              <a:t>main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()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{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	</a:t>
            </a:r>
            <a:r>
              <a:rPr lang="fr-FR" altLang="zh-CN" sz="18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int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  x, y, sum = 0;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endParaRPr lang="fr-FR" altLang="zh-CN" sz="1800">
              <a:solidFill>
                <a:schemeClr val="tx1"/>
              </a:solidFill>
              <a:effectLst/>
              <a:latin typeface="Courier New" charset="0"/>
              <a:ea typeface="宋体" charset="0"/>
            </a:endParaRP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	</a:t>
            </a:r>
            <a:r>
              <a:rPr lang="fr-FR" altLang="zh-CN" sz="1800">
                <a:solidFill>
                  <a:srgbClr val="880000"/>
                </a:solidFill>
                <a:effectLst/>
                <a:latin typeface="Courier New" charset="0"/>
                <a:ea typeface="宋体" charset="0"/>
              </a:rPr>
              <a:t>printf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("Input two integers:");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	</a:t>
            </a:r>
            <a:r>
              <a:rPr lang="fr-FR" altLang="zh-CN" sz="1800">
                <a:solidFill>
                  <a:srgbClr val="880000"/>
                </a:solidFill>
                <a:effectLst/>
                <a:latin typeface="Courier New" charset="0"/>
                <a:ea typeface="宋体" charset="0"/>
              </a:rPr>
              <a:t>scanf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("%d%d", &amp;x, &amp;y);         /*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输入两个整型数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x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和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y*/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	sum = </a:t>
            </a:r>
            <a:r>
              <a:rPr lang="fr-FR" altLang="zh-CN" sz="1800">
                <a:solidFill>
                  <a:srgbClr val="880000"/>
                </a:solidFill>
                <a:effectLst/>
                <a:latin typeface="Courier New" charset="0"/>
                <a:ea typeface="宋体" charset="0"/>
              </a:rPr>
              <a:t>Add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(x, y);               /*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调用函数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Add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计算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x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和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y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相加之和*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/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	</a:t>
            </a:r>
            <a:r>
              <a:rPr lang="fr-FR" altLang="zh-CN" sz="1800">
                <a:solidFill>
                  <a:srgbClr val="880000"/>
                </a:solidFill>
                <a:effectLst/>
                <a:latin typeface="Courier New" charset="0"/>
                <a:ea typeface="宋体" charset="0"/>
              </a:rPr>
              <a:t>printf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("sum = %d\n", sum);     /*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输出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x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和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y</a:t>
            </a:r>
            <a:r>
              <a:rPr lang="zh-CN" altLang="fr-FR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相加之和*</a:t>
            </a: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/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fr-FR" altLang="zh-CN" sz="180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}</a:t>
            </a:r>
            <a:endParaRPr lang="zh-CN" altLang="en-US" sz="1800">
              <a:solidFill>
                <a:schemeClr val="tx1"/>
              </a:solidFill>
              <a:effectLst/>
              <a:latin typeface="Courier New" charset="0"/>
              <a:ea typeface="宋体" charset="0"/>
            </a:endParaRPr>
          </a:p>
        </p:txBody>
      </p:sp>
      <p:sp>
        <p:nvSpPr>
          <p:cNvPr id="153604" name="AutoShape 4"/>
          <p:cNvSpPr>
            <a:spLocks noChangeArrowheads="1"/>
          </p:cNvSpPr>
          <p:nvPr/>
        </p:nvSpPr>
        <p:spPr bwMode="auto">
          <a:xfrm>
            <a:off x="5148263" y="2708275"/>
            <a:ext cx="3744912" cy="1655763"/>
          </a:xfrm>
          <a:prstGeom prst="cloudCallout">
            <a:avLst>
              <a:gd name="adj1" fmla="val -47583"/>
              <a:gd name="adj2" fmla="val 92282"/>
            </a:avLst>
          </a:prstGeom>
          <a:solidFill>
            <a:srgbClr val="FFCC99"/>
          </a:solidFill>
          <a:ln w="9525">
            <a:solidFill>
              <a:srgbClr val="000080"/>
            </a:solidFill>
            <a:round/>
            <a:headEnd/>
            <a:tailEnd/>
          </a:ln>
          <a:effectLst/>
        </p:spPr>
        <p:txBody>
          <a:bodyPr lIns="92075" tIns="46037" rIns="92075" bIns="46037"/>
          <a:lstStyle>
            <a:lvl1pPr marL="374650" indent="-3746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并列的两个函数</a:t>
            </a:r>
          </a:p>
          <a:p>
            <a:pPr algn="ctr">
              <a:buFont typeface="Monotype Sorts" charset="2"/>
              <a:buNone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其中一个是</a:t>
            </a:r>
          </a:p>
          <a:p>
            <a:pPr algn="ctr">
              <a:buFont typeface="Monotype Sorts" charset="2"/>
              <a:buNone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程序的入口</a:t>
            </a:r>
          </a:p>
        </p:txBody>
      </p:sp>
      <p:sp>
        <p:nvSpPr>
          <p:cNvPr id="153605" name="Rectangle 5"/>
          <p:cNvSpPr>
            <a:spLocks noChangeArrowheads="1"/>
          </p:cNvSpPr>
          <p:nvPr/>
        </p:nvSpPr>
        <p:spPr bwMode="auto">
          <a:xfrm>
            <a:off x="323850" y="4292600"/>
            <a:ext cx="4608513" cy="2376488"/>
          </a:xfrm>
          <a:prstGeom prst="rect">
            <a:avLst/>
          </a:prstGeom>
          <a:solidFill>
            <a:srgbClr val="FFFF99">
              <a:alpha val="33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06" name="Rectangle 6"/>
          <p:cNvSpPr>
            <a:spLocks noChangeArrowheads="1"/>
          </p:cNvSpPr>
          <p:nvPr/>
        </p:nvSpPr>
        <p:spPr bwMode="auto">
          <a:xfrm>
            <a:off x="323850" y="2708275"/>
            <a:ext cx="4608513" cy="1081088"/>
          </a:xfrm>
          <a:prstGeom prst="rect">
            <a:avLst/>
          </a:prstGeom>
          <a:solidFill>
            <a:srgbClr val="FFFF99">
              <a:alpha val="33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08" name="AutoShape 8"/>
          <p:cNvSpPr>
            <a:spLocks noChangeArrowheads="1"/>
          </p:cNvSpPr>
          <p:nvPr/>
        </p:nvSpPr>
        <p:spPr bwMode="auto">
          <a:xfrm>
            <a:off x="5868988" y="1412875"/>
            <a:ext cx="2303462" cy="863600"/>
          </a:xfrm>
          <a:prstGeom prst="cloudCallout">
            <a:avLst>
              <a:gd name="adj1" fmla="val -87769"/>
              <a:gd name="adj2" fmla="val 65625"/>
            </a:avLst>
          </a:prstGeom>
          <a:solidFill>
            <a:srgbClr val="FFCC99"/>
          </a:solidFill>
          <a:ln w="9525">
            <a:solidFill>
              <a:srgbClr val="000080"/>
            </a:solidFill>
            <a:round/>
            <a:headEnd/>
            <a:tailEnd/>
          </a:ln>
          <a:effectLst/>
        </p:spPr>
        <p:txBody>
          <a:bodyPr lIns="92075" tIns="46037" rIns="92075" bIns="46037"/>
          <a:lstStyle>
            <a:lvl1pPr marL="374650" indent="-3746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程序注释</a:t>
            </a:r>
          </a:p>
        </p:txBody>
      </p:sp>
      <p:sp>
        <p:nvSpPr>
          <p:cNvPr id="153609" name="Rectangle 9"/>
          <p:cNvSpPr>
            <a:spLocks noChangeArrowheads="1"/>
          </p:cNvSpPr>
          <p:nvPr/>
        </p:nvSpPr>
        <p:spPr bwMode="auto">
          <a:xfrm>
            <a:off x="307975" y="1598613"/>
            <a:ext cx="4608513" cy="1081087"/>
          </a:xfrm>
          <a:prstGeom prst="rect">
            <a:avLst/>
          </a:prstGeom>
          <a:solidFill>
            <a:srgbClr val="CCFFCC">
              <a:alpha val="33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10" name="Rectangle 10"/>
          <p:cNvSpPr>
            <a:spLocks noChangeArrowheads="1"/>
          </p:cNvSpPr>
          <p:nvPr/>
        </p:nvSpPr>
        <p:spPr bwMode="auto">
          <a:xfrm>
            <a:off x="5003800" y="5516563"/>
            <a:ext cx="3816350" cy="1081087"/>
          </a:xfrm>
          <a:prstGeom prst="rect">
            <a:avLst/>
          </a:prstGeom>
          <a:solidFill>
            <a:srgbClr val="CCFFCC">
              <a:alpha val="33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11" name="Rectangle 11"/>
          <p:cNvSpPr>
            <a:spLocks noChangeArrowheads="1"/>
          </p:cNvSpPr>
          <p:nvPr/>
        </p:nvSpPr>
        <p:spPr bwMode="auto">
          <a:xfrm>
            <a:off x="309563" y="3960813"/>
            <a:ext cx="4608512" cy="288925"/>
          </a:xfrm>
          <a:prstGeom prst="rect">
            <a:avLst/>
          </a:prstGeom>
          <a:solidFill>
            <a:srgbClr val="CCFFCC">
              <a:alpha val="33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8DAFE-4F13-A24F-A62C-0190D6F8877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5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5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5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4" grpId="0" animBg="1"/>
      <p:bldP spid="153605" grpId="0" animBg="1"/>
      <p:bldP spid="153606" grpId="0" animBg="1"/>
      <p:bldP spid="153608" grpId="0" animBg="1"/>
      <p:bldP spid="153609" grpId="0" animBg="1"/>
      <p:bldP spid="153610" grpId="0" animBg="1"/>
      <p:bldP spid="1536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496096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程序常见符号分类 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268413"/>
            <a:ext cx="8569325" cy="5400675"/>
          </a:xfrm>
        </p:spPr>
        <p:txBody>
          <a:bodyPr>
            <a:normAutofit lnSpcReduction="10000"/>
          </a:bodyPr>
          <a:lstStyle/>
          <a:p>
            <a:pPr>
              <a:lnSpc>
                <a:spcPct val="75000"/>
              </a:lnSpc>
            </a:pP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关键字（</a:t>
            </a:r>
            <a:r>
              <a:rPr lang="en-US" altLang="zh-CN" sz="2400" b="1" dirty="0">
                <a:solidFill>
                  <a:srgbClr val="C00000"/>
                </a:solidFill>
                <a:ea typeface="宋体" charset="0"/>
              </a:rPr>
              <a:t>Keyword</a:t>
            </a: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） 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又称为保留字，</a:t>
            </a:r>
            <a:r>
              <a:rPr lang="en-US" altLang="zh-CN" sz="2000" dirty="0">
                <a:ea typeface="宋体" charset="0"/>
              </a:rPr>
              <a:t>C</a:t>
            </a:r>
            <a:r>
              <a:rPr lang="zh-CN" altLang="en-US" sz="2000" dirty="0">
                <a:ea typeface="宋体" charset="0"/>
              </a:rPr>
              <a:t>语言中预先规定的具有固定含义的一些单词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数据类型修饰符</a:t>
            </a:r>
            <a:r>
              <a:rPr lang="en-US" altLang="zh-CN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int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,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控制语句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return</a:t>
            </a:r>
            <a:r>
              <a:rPr lang="zh-CN" altLang="en-US" sz="2000" dirty="0">
                <a:ea typeface="宋体" charset="0"/>
              </a:rPr>
              <a:t>等 </a:t>
            </a:r>
          </a:p>
          <a:p>
            <a:pPr>
              <a:lnSpc>
                <a:spcPct val="75000"/>
              </a:lnSpc>
            </a:pP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标识符（</a:t>
            </a:r>
            <a:r>
              <a:rPr lang="en-US" altLang="zh-CN" sz="2400" b="1" dirty="0">
                <a:solidFill>
                  <a:srgbClr val="C00000"/>
                </a:solidFill>
                <a:ea typeface="宋体" charset="0"/>
              </a:rPr>
              <a:t>Identifier</a:t>
            </a: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）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系统预定义标识符，</a:t>
            </a:r>
            <a:r>
              <a:rPr lang="en-US" altLang="zh-CN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main,printf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</a:t>
            </a:r>
            <a:r>
              <a:rPr lang="zh-CN" altLang="en-US" sz="2000" dirty="0">
                <a:latin typeface="Courier New" charset="0"/>
                <a:ea typeface="宋体" charset="0"/>
              </a:rPr>
              <a:t>等</a:t>
            </a:r>
            <a:r>
              <a:rPr lang="zh-CN" altLang="en-US" sz="2000" dirty="0">
                <a:ea typeface="宋体" charset="0"/>
              </a:rPr>
              <a:t> 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用户自定义标识符，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Add, x, y</a:t>
            </a:r>
            <a:r>
              <a:rPr lang="en-US" altLang="zh-CN" sz="2000" dirty="0">
                <a:ea typeface="宋体" charset="0"/>
              </a:rPr>
              <a:t> </a:t>
            </a:r>
            <a:r>
              <a:rPr lang="zh-CN" altLang="en-US" sz="2000" dirty="0">
                <a:ea typeface="宋体" charset="0"/>
              </a:rPr>
              <a:t>等</a:t>
            </a:r>
          </a:p>
          <a:p>
            <a:pPr>
              <a:lnSpc>
                <a:spcPct val="75000"/>
              </a:lnSpc>
            </a:pP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运算符（</a:t>
            </a:r>
            <a:r>
              <a:rPr lang="en-US" altLang="zh-CN" sz="2400" b="1" dirty="0">
                <a:solidFill>
                  <a:srgbClr val="C00000"/>
                </a:solidFill>
                <a:ea typeface="宋体" charset="0"/>
              </a:rPr>
              <a:t>Operator</a:t>
            </a: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）</a:t>
            </a:r>
          </a:p>
          <a:p>
            <a:pPr lvl="1">
              <a:lnSpc>
                <a:spcPct val="75000"/>
              </a:lnSpc>
            </a:pPr>
            <a:r>
              <a:rPr lang="en-US" altLang="zh-CN" sz="2000" dirty="0">
                <a:ea typeface="宋体" charset="0"/>
              </a:rPr>
              <a:t>34</a:t>
            </a:r>
            <a:r>
              <a:rPr lang="zh-CN" altLang="en-US" sz="2000" dirty="0">
                <a:ea typeface="宋体" charset="0"/>
              </a:rPr>
              <a:t>种，详见附录</a:t>
            </a:r>
            <a:r>
              <a:rPr lang="en-US" altLang="zh-CN" sz="2000" dirty="0">
                <a:ea typeface="宋体" charset="0"/>
              </a:rPr>
              <a:t>2 </a:t>
            </a:r>
            <a:r>
              <a:rPr lang="zh-CN" altLang="en-US" sz="2000" dirty="0">
                <a:ea typeface="宋体" charset="0"/>
              </a:rPr>
              <a:t> </a:t>
            </a:r>
          </a:p>
          <a:p>
            <a:pPr>
              <a:lnSpc>
                <a:spcPct val="75000"/>
              </a:lnSpc>
            </a:pP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分隔符（</a:t>
            </a:r>
            <a:r>
              <a:rPr lang="en-US" altLang="zh-CN" sz="2400" b="1" dirty="0">
                <a:solidFill>
                  <a:srgbClr val="C00000"/>
                </a:solidFill>
                <a:ea typeface="宋体" charset="0"/>
              </a:rPr>
              <a:t>Separator</a:t>
            </a: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） 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空格、回车</a:t>
            </a:r>
            <a:r>
              <a:rPr lang="en-US" altLang="zh-CN" sz="2000" dirty="0">
                <a:ea typeface="宋体" charset="0"/>
              </a:rPr>
              <a:t>/</a:t>
            </a:r>
            <a:r>
              <a:rPr lang="zh-CN" altLang="en-US" sz="2000" dirty="0">
                <a:ea typeface="宋体" charset="0"/>
              </a:rPr>
              <a:t>换行、逗号等 </a:t>
            </a:r>
          </a:p>
          <a:p>
            <a:pPr>
              <a:lnSpc>
                <a:spcPct val="75000"/>
              </a:lnSpc>
            </a:pP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其它符号 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大花括号“</a:t>
            </a:r>
            <a:r>
              <a:rPr lang="en-US" altLang="zh-CN" sz="2000" dirty="0">
                <a:ea typeface="宋体" charset="0"/>
              </a:rPr>
              <a:t>{”</a:t>
            </a:r>
            <a:r>
              <a:rPr lang="zh-CN" altLang="en-US" sz="2000" dirty="0">
                <a:ea typeface="宋体" charset="0"/>
              </a:rPr>
              <a:t>和“</a:t>
            </a:r>
            <a:r>
              <a:rPr lang="en-US" altLang="zh-CN" sz="2000" dirty="0">
                <a:ea typeface="宋体" charset="0"/>
              </a:rPr>
              <a:t>}”</a:t>
            </a:r>
            <a:r>
              <a:rPr lang="zh-CN" altLang="en-US" sz="2000" dirty="0">
                <a:ea typeface="宋体" charset="0"/>
              </a:rPr>
              <a:t>通常用于标识函数体或者一个语句块 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“</a:t>
            </a:r>
            <a:r>
              <a:rPr lang="en-US" altLang="zh-CN" sz="2000" dirty="0">
                <a:ea typeface="宋体" charset="0"/>
              </a:rPr>
              <a:t>/*”</a:t>
            </a:r>
            <a:r>
              <a:rPr lang="zh-CN" altLang="en-US" sz="2000" dirty="0">
                <a:ea typeface="宋体" charset="0"/>
              </a:rPr>
              <a:t>和“*</a:t>
            </a:r>
            <a:r>
              <a:rPr lang="en-US" altLang="zh-CN" sz="2000" dirty="0">
                <a:ea typeface="宋体" charset="0"/>
              </a:rPr>
              <a:t>/”</a:t>
            </a:r>
            <a:r>
              <a:rPr lang="zh-CN" altLang="en-US" sz="2000" dirty="0">
                <a:ea typeface="宋体" charset="0"/>
              </a:rPr>
              <a:t>是程序注释所需的定界符 </a:t>
            </a:r>
          </a:p>
          <a:p>
            <a:pPr>
              <a:lnSpc>
                <a:spcPct val="75000"/>
              </a:lnSpc>
            </a:pP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数据（</a:t>
            </a:r>
            <a:r>
              <a:rPr lang="en-US" altLang="zh-CN" sz="2400" b="1" dirty="0">
                <a:solidFill>
                  <a:srgbClr val="C00000"/>
                </a:solidFill>
                <a:ea typeface="宋体" charset="0"/>
              </a:rPr>
              <a:t>Data</a:t>
            </a:r>
            <a:r>
              <a:rPr lang="zh-CN" altLang="en-US" sz="2400" b="1" dirty="0">
                <a:solidFill>
                  <a:srgbClr val="C00000"/>
                </a:solidFill>
                <a:ea typeface="宋体" charset="0"/>
              </a:rPr>
              <a:t>）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变量（</a:t>
            </a:r>
            <a:r>
              <a:rPr lang="en-US" altLang="zh-CN" sz="2000" dirty="0">
                <a:ea typeface="宋体" charset="0"/>
              </a:rPr>
              <a:t>Variable</a:t>
            </a:r>
            <a:r>
              <a:rPr lang="zh-CN" altLang="en-US" sz="2000" dirty="0">
                <a:ea typeface="宋体" charset="0"/>
              </a:rPr>
              <a:t>）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常量（</a:t>
            </a:r>
            <a:r>
              <a:rPr lang="en-US" altLang="zh-CN" sz="2000" dirty="0">
                <a:ea typeface="宋体" charset="0"/>
              </a:rPr>
              <a:t>Constant</a:t>
            </a:r>
            <a:r>
              <a:rPr lang="zh-CN" altLang="en-US" sz="2000" dirty="0">
                <a:ea typeface="宋体" charset="0"/>
              </a:rPr>
              <a:t>）  </a:t>
            </a:r>
          </a:p>
        </p:txBody>
      </p:sp>
      <p:pic>
        <p:nvPicPr>
          <p:cNvPr id="717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600" y="1919288"/>
            <a:ext cx="303847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B5868-6FE5-5D44-B9EB-95C487E3D59F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47898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2.1</a:t>
            </a:r>
            <a:r>
              <a:rPr lang="zh-CN" altLang="en-US" b="1" dirty="0"/>
              <a:t> 标识符命名 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469900" y="1141413"/>
            <a:ext cx="7989888" cy="5184775"/>
          </a:xfrm>
        </p:spPr>
        <p:txBody>
          <a:bodyPr>
            <a:normAutofit lnSpcReduction="10000"/>
          </a:bodyPr>
          <a:lstStyle/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zh-CN" altLang="en-US" sz="2400" dirty="0">
                <a:ea typeface="宋体" charset="0"/>
              </a:rPr>
              <a:t>标识符包含有：变量名，函数名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zh-CN" altLang="en-US" sz="2400" dirty="0">
                <a:ea typeface="宋体" charset="0"/>
              </a:rPr>
              <a:t>命名规则，：</a:t>
            </a:r>
          </a:p>
          <a:p>
            <a:pPr>
              <a:lnSpc>
                <a:spcPct val="75000"/>
              </a:lnSpc>
            </a:pPr>
            <a:r>
              <a:rPr lang="zh-CN" altLang="en-US" sz="2400" dirty="0">
                <a:ea typeface="宋体" charset="0"/>
              </a:rPr>
              <a:t>由英文字母、数字和下划线组成，大小写敏感</a:t>
            </a:r>
          </a:p>
          <a:p>
            <a:pPr>
              <a:lnSpc>
                <a:spcPct val="75000"/>
              </a:lnSpc>
            </a:pPr>
            <a:r>
              <a:rPr lang="zh-CN" altLang="en-US" sz="2400" dirty="0">
                <a:solidFill>
                  <a:srgbClr val="FF0000"/>
                </a:solidFill>
                <a:ea typeface="宋体" charset="0"/>
              </a:rPr>
              <a:t>不可以</a:t>
            </a:r>
            <a:r>
              <a:rPr lang="zh-CN" altLang="en-US" sz="2400" dirty="0">
                <a:ea typeface="宋体" charset="0"/>
              </a:rPr>
              <a:t>是数字开头</a:t>
            </a:r>
          </a:p>
          <a:p>
            <a:pPr>
              <a:lnSpc>
                <a:spcPct val="75000"/>
              </a:lnSpc>
            </a:pPr>
            <a:r>
              <a:rPr lang="zh-CN" altLang="en-US" sz="2400" dirty="0">
                <a:ea typeface="宋体" charset="0"/>
              </a:rPr>
              <a:t>直观，见名知意，便于记忆和阅读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最好使用英文单词或其组合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切忌使用汉语拼音 </a:t>
            </a:r>
          </a:p>
          <a:p>
            <a:pPr>
              <a:lnSpc>
                <a:spcPct val="75000"/>
              </a:lnSpc>
            </a:pPr>
            <a:r>
              <a:rPr lang="zh-CN" altLang="en-US" sz="2400" dirty="0">
                <a:ea typeface="宋体" charset="0"/>
              </a:rPr>
              <a:t>下划线和大小写通常用来增强可读性</a:t>
            </a:r>
          </a:p>
          <a:p>
            <a:pPr lvl="1">
              <a:lnSpc>
                <a:spcPct val="75000"/>
              </a:lnSpc>
            </a:pPr>
            <a:r>
              <a:rPr lang="en-US" altLang="zh-CN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variablename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>
              <a:lnSpc>
                <a:spcPct val="75000"/>
              </a:lnSpc>
            </a:pPr>
            <a:r>
              <a:rPr lang="en-US" altLang="zh-CN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variable_name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>
              <a:lnSpc>
                <a:spcPct val="75000"/>
              </a:lnSpc>
            </a:pPr>
            <a:r>
              <a:rPr lang="en-US" altLang="zh-CN" sz="2000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V</a:t>
            </a:r>
            <a:r>
              <a:rPr lang="en-US" altLang="zh-CN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ariableName</a:t>
            </a: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>
              <a:lnSpc>
                <a:spcPct val="75000"/>
              </a:lnSpc>
            </a:pPr>
            <a:r>
              <a:rPr lang="zh-CN" altLang="en-US" sz="2400" dirty="0">
                <a:ea typeface="宋体" charset="0"/>
              </a:rPr>
              <a:t>不允许使用关键字作为标识符的名字</a:t>
            </a:r>
            <a:r>
              <a:rPr lang="zh-CN" altLang="en-US" dirty="0">
                <a:ea typeface="宋体" charset="0"/>
              </a:rPr>
              <a:t> </a:t>
            </a:r>
          </a:p>
          <a:p>
            <a:pPr lvl="1">
              <a:lnSpc>
                <a:spcPct val="75000"/>
              </a:lnSpc>
            </a:pPr>
            <a:r>
              <a:rPr lang="en-US" altLang="zh-CN" sz="2000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, </a:t>
            </a:r>
            <a:r>
              <a:rPr lang="en-US" altLang="zh-CN" sz="2000" dirty="0">
                <a:solidFill>
                  <a:srgbClr val="0000FF"/>
                </a:solidFill>
                <a:latin typeface="Courier New" charset="0"/>
                <a:ea typeface="宋体" charset="0"/>
              </a:rPr>
              <a:t>float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, </a:t>
            </a:r>
            <a:r>
              <a:rPr lang="en-US" altLang="zh-CN" sz="2000" dirty="0">
                <a:solidFill>
                  <a:srgbClr val="0000FF"/>
                </a:solidFill>
                <a:latin typeface="Courier New" charset="0"/>
                <a:ea typeface="宋体" charset="0"/>
              </a:rPr>
              <a:t>for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, </a:t>
            </a:r>
            <a:r>
              <a:rPr lang="en-US" altLang="zh-CN" sz="2000" dirty="0">
                <a:solidFill>
                  <a:srgbClr val="0000FF"/>
                </a:solidFill>
                <a:latin typeface="Courier New" charset="0"/>
                <a:ea typeface="宋体" charset="0"/>
              </a:rPr>
              <a:t>while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, </a:t>
            </a:r>
            <a:r>
              <a:rPr lang="en-US" altLang="zh-CN" sz="2000" dirty="0">
                <a:solidFill>
                  <a:srgbClr val="0000FF"/>
                </a:solidFill>
                <a:latin typeface="Courier New" charset="0"/>
                <a:ea typeface="宋体" charset="0"/>
              </a:rPr>
              <a:t>if</a:t>
            </a:r>
            <a:r>
              <a:rPr lang="zh-CN" altLang="en-US" sz="2000" dirty="0">
                <a:ea typeface="宋体" charset="0"/>
              </a:rPr>
              <a:t>等   （具体查看附录</a:t>
            </a:r>
            <a:r>
              <a:rPr lang="en-US" altLang="zh-CN" sz="2000" dirty="0">
                <a:ea typeface="宋体" charset="0"/>
              </a:rPr>
              <a:t>B C</a:t>
            </a:r>
            <a:r>
              <a:rPr lang="zh-CN" altLang="en-US" sz="2000" dirty="0">
                <a:ea typeface="宋体" charset="0"/>
              </a:rPr>
              <a:t>关键字）</a:t>
            </a:r>
          </a:p>
          <a:p>
            <a:pPr>
              <a:lnSpc>
                <a:spcPct val="75000"/>
              </a:lnSpc>
            </a:pPr>
            <a:r>
              <a:rPr lang="zh-CN" altLang="en-US" sz="2400" dirty="0">
                <a:ea typeface="宋体" charset="0"/>
              </a:rPr>
              <a:t>某些功能的变量采用习惯命名</a:t>
            </a:r>
          </a:p>
          <a:p>
            <a:pPr lvl="1">
              <a:lnSpc>
                <a:spcPct val="75000"/>
              </a:lnSpc>
            </a:pPr>
            <a:r>
              <a:rPr lang="zh-CN" altLang="en-US" sz="2000" dirty="0">
                <a:ea typeface="宋体" charset="0"/>
              </a:rPr>
              <a:t>如：</a:t>
            </a:r>
            <a:r>
              <a:rPr lang="en-US" altLang="zh-CN" sz="2000" dirty="0">
                <a:solidFill>
                  <a:srgbClr val="0000FF"/>
                </a:solidFill>
                <a:latin typeface="Courier New" charset="0"/>
                <a:ea typeface="宋体" charset="0"/>
              </a:rPr>
              <a:t>for</a:t>
            </a:r>
            <a:r>
              <a:rPr lang="zh-CN" altLang="en-US" sz="2000" dirty="0">
                <a:ea typeface="宋体" charset="0"/>
              </a:rPr>
              <a:t>语句所采用的循环变量习惯用</a:t>
            </a:r>
            <a:r>
              <a:rPr lang="en-US" altLang="zh-CN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i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, j, k</a:t>
            </a:r>
          </a:p>
        </p:txBody>
      </p:sp>
      <p:sp>
        <p:nvSpPr>
          <p:cNvPr id="66564" name="Line 4"/>
          <p:cNvSpPr>
            <a:spLocks noChangeShapeType="1"/>
          </p:cNvSpPr>
          <p:nvPr/>
        </p:nvSpPr>
        <p:spPr bwMode="auto">
          <a:xfrm>
            <a:off x="1476375" y="3860800"/>
            <a:ext cx="1727200" cy="2873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6566" name="Line 6"/>
          <p:cNvSpPr>
            <a:spLocks noChangeShapeType="1"/>
          </p:cNvSpPr>
          <p:nvPr/>
        </p:nvSpPr>
        <p:spPr bwMode="auto">
          <a:xfrm flipH="1">
            <a:off x="1476375" y="3860800"/>
            <a:ext cx="1727200" cy="2873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6569" name="Freeform 9"/>
          <p:cNvSpPr>
            <a:spLocks/>
          </p:cNvSpPr>
          <p:nvPr/>
        </p:nvSpPr>
        <p:spPr bwMode="auto">
          <a:xfrm>
            <a:off x="3708400" y="4146550"/>
            <a:ext cx="504825" cy="288925"/>
          </a:xfrm>
          <a:custGeom>
            <a:avLst/>
            <a:gdLst/>
            <a:ahLst/>
            <a:cxnLst>
              <a:cxn ang="0">
                <a:pos x="0" y="46"/>
              </a:cxn>
              <a:cxn ang="0">
                <a:pos x="91" y="182"/>
              </a:cxn>
              <a:cxn ang="0">
                <a:pos x="318" y="0"/>
              </a:cxn>
            </a:cxnLst>
            <a:rect l="0" t="0" r="r" b="b"/>
            <a:pathLst>
              <a:path w="318" h="182">
                <a:moveTo>
                  <a:pt x="0" y="46"/>
                </a:moveTo>
                <a:lnTo>
                  <a:pt x="91" y="182"/>
                </a:lnTo>
                <a:lnTo>
                  <a:pt x="318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6570" name="Freeform 10"/>
          <p:cNvSpPr>
            <a:spLocks/>
          </p:cNvSpPr>
          <p:nvPr/>
        </p:nvSpPr>
        <p:spPr bwMode="auto">
          <a:xfrm>
            <a:off x="3708400" y="4435475"/>
            <a:ext cx="504825" cy="288925"/>
          </a:xfrm>
          <a:custGeom>
            <a:avLst/>
            <a:gdLst/>
            <a:ahLst/>
            <a:cxnLst>
              <a:cxn ang="0">
                <a:pos x="0" y="46"/>
              </a:cxn>
              <a:cxn ang="0">
                <a:pos x="91" y="182"/>
              </a:cxn>
              <a:cxn ang="0">
                <a:pos x="318" y="0"/>
              </a:cxn>
            </a:cxnLst>
            <a:rect l="0" t="0" r="r" b="b"/>
            <a:pathLst>
              <a:path w="318" h="182">
                <a:moveTo>
                  <a:pt x="0" y="46"/>
                </a:moveTo>
                <a:lnTo>
                  <a:pt x="91" y="182"/>
                </a:lnTo>
                <a:lnTo>
                  <a:pt x="318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6571" name="AutoShape 11"/>
          <p:cNvSpPr>
            <a:spLocks noChangeArrowheads="1"/>
          </p:cNvSpPr>
          <p:nvPr/>
        </p:nvSpPr>
        <p:spPr bwMode="auto">
          <a:xfrm>
            <a:off x="6805613" y="3573463"/>
            <a:ext cx="2266950" cy="1079500"/>
          </a:xfrm>
          <a:prstGeom prst="cloudCallout">
            <a:avLst>
              <a:gd name="adj1" fmla="val -86903"/>
              <a:gd name="adj2" fmla="val 47500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Windows </a:t>
            </a:r>
            <a:r>
              <a:rPr lang="zh-CN" altLang="en-US" sz="24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风格</a:t>
            </a:r>
          </a:p>
        </p:txBody>
      </p:sp>
      <p:sp>
        <p:nvSpPr>
          <p:cNvPr id="66572" name="AutoShape 12"/>
          <p:cNvSpPr>
            <a:spLocks noChangeArrowheads="1"/>
          </p:cNvSpPr>
          <p:nvPr/>
        </p:nvSpPr>
        <p:spPr bwMode="auto">
          <a:xfrm>
            <a:off x="6877050" y="2565400"/>
            <a:ext cx="1943100" cy="1008063"/>
          </a:xfrm>
          <a:prstGeom prst="cloudCallout">
            <a:avLst>
              <a:gd name="adj1" fmla="val -165440"/>
              <a:gd name="adj2" fmla="val 110630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UNIX </a:t>
            </a:r>
            <a:r>
              <a:rPr lang="zh-CN" altLang="en-US" sz="24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风格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86E9-0B61-6747-9734-52EC7C608121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313"/>
            <a:ext cx="7772400" cy="3516312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kumimoji="1" lang="en-US" altLang="zh-CN">
                <a:solidFill>
                  <a:schemeClr val="tx1"/>
                </a:solidFill>
                <a:effectLst/>
                <a:ea typeface="宋体" charset="0"/>
              </a:rPr>
              <a:t>C</a:t>
            </a:r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程序是</a:t>
            </a:r>
            <a:r>
              <a:rPr kumimoji="1" lang="zh-CN" altLang="en-US" u="sng">
                <a:solidFill>
                  <a:schemeClr val="tx1"/>
                </a:solidFill>
                <a:effectLst/>
                <a:ea typeface="宋体" charset="0"/>
              </a:rPr>
              <a:t>基本字符</a:t>
            </a:r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的序列。基本字符包括：</a:t>
            </a:r>
          </a:p>
          <a:p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数字（</a:t>
            </a:r>
            <a:r>
              <a:rPr kumimoji="1" lang="en-US" altLang="zh-CN">
                <a:solidFill>
                  <a:schemeClr val="tx1"/>
                </a:solidFill>
                <a:effectLst/>
                <a:ea typeface="宋体" charset="0"/>
              </a:rPr>
              <a:t>0</a:t>
            </a:r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～</a:t>
            </a:r>
            <a:r>
              <a:rPr kumimoji="1" lang="en-US" altLang="zh-CN">
                <a:solidFill>
                  <a:schemeClr val="tx1"/>
                </a:solidFill>
                <a:effectLst/>
                <a:ea typeface="宋体" charset="0"/>
              </a:rPr>
              <a:t>9</a:t>
            </a:r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）</a:t>
            </a:r>
          </a:p>
          <a:p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大小写字母（</a:t>
            </a:r>
            <a:r>
              <a:rPr kumimoji="1" lang="en-US" altLang="zh-CN">
                <a:solidFill>
                  <a:schemeClr val="tx1"/>
                </a:solidFill>
                <a:effectLst/>
                <a:ea typeface="宋体" charset="0"/>
              </a:rPr>
              <a:t>a</a:t>
            </a:r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～</a:t>
            </a:r>
            <a:r>
              <a:rPr kumimoji="1" lang="en-US" altLang="zh-CN">
                <a:solidFill>
                  <a:schemeClr val="tx1"/>
                </a:solidFill>
                <a:effectLst/>
                <a:ea typeface="宋体" charset="0"/>
              </a:rPr>
              <a:t>z</a:t>
            </a:r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，</a:t>
            </a:r>
            <a:r>
              <a:rPr kumimoji="1" lang="en-US" altLang="zh-CN">
                <a:solidFill>
                  <a:schemeClr val="tx1"/>
                </a:solidFill>
                <a:effectLst/>
                <a:ea typeface="宋体" charset="0"/>
              </a:rPr>
              <a:t>A</a:t>
            </a:r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～</a:t>
            </a:r>
            <a:r>
              <a:rPr kumimoji="1" lang="en-US" altLang="zh-CN">
                <a:solidFill>
                  <a:schemeClr val="tx1"/>
                </a:solidFill>
                <a:effectLst/>
                <a:ea typeface="宋体" charset="0"/>
              </a:rPr>
              <a:t>Z</a:t>
            </a:r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）</a:t>
            </a:r>
          </a:p>
          <a:p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标点符号</a:t>
            </a:r>
          </a:p>
          <a:p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特殊字符：空格、换行、制表符（</a:t>
            </a:r>
            <a:r>
              <a:rPr kumimoji="1" lang="zh-CN" altLang="en-US" u="sng">
                <a:solidFill>
                  <a:schemeClr val="tx1"/>
                </a:solidFill>
                <a:effectLst/>
                <a:ea typeface="宋体" charset="0"/>
              </a:rPr>
              <a:t>空白字符</a:t>
            </a:r>
            <a:r>
              <a:rPr kumimoji="1" lang="zh-CN" altLang="en-US">
                <a:solidFill>
                  <a:schemeClr val="tx1"/>
                </a:solidFill>
                <a:effectLst/>
                <a:ea typeface="宋体" charset="0"/>
              </a:rPr>
              <a:t>），起分隔作用。增删空白一般不影响程序的意义</a:t>
            </a:r>
          </a:p>
          <a:p>
            <a:pPr>
              <a:buFont typeface="Monotype Sorts" charset="2"/>
              <a:buNone/>
            </a:pPr>
            <a:endParaRPr lang="zh-CN" altLang="en-US">
              <a:ea typeface="宋体" charset="0"/>
            </a:endParaRPr>
          </a:p>
        </p:txBody>
      </p:sp>
      <p:pic>
        <p:nvPicPr>
          <p:cNvPr id="9220" name="Picture 4" descr="C:\Documents and Settings\Administrator\Local Settings\Temp\Temporary Internet Files\Content.IE5\6OPYNDZJ\MC900432667[1].png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063" y="4857750"/>
            <a:ext cx="10001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8CD6-F391-4942-B527-39AA3CCEB01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620713"/>
            <a:ext cx="7772400" cy="5475287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用于各种对象命名。建立定义和使用的联系。</a:t>
            </a:r>
          </a:p>
          <a:p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语言里的名字称为</a:t>
            </a:r>
            <a:r>
              <a:rPr kumimoji="1" lang="zh-CN" altLang="en-US" dirty="0">
                <a:solidFill>
                  <a:schemeClr val="accent2"/>
                </a:solidFill>
                <a:effectLst/>
                <a:ea typeface="宋体" charset="0"/>
              </a:rPr>
              <a:t>标识符</a:t>
            </a: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。</a:t>
            </a:r>
          </a:p>
          <a:p>
            <a:pPr>
              <a:buFont typeface="Monotype Sorts" charset="2"/>
              <a:buNone/>
            </a:pP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           形式：字母</a:t>
            </a:r>
            <a:r>
              <a:rPr kumimoji="1" lang="en-US" altLang="zh-CN" dirty="0">
                <a:solidFill>
                  <a:schemeClr val="tx1"/>
                </a:solidFill>
                <a:effectLst/>
                <a:ea typeface="宋体" charset="0"/>
              </a:rPr>
              <a:t>/</a:t>
            </a: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数字的连续序列，字母开头。</a:t>
            </a:r>
          </a:p>
          <a:p>
            <a:pPr>
              <a:buFont typeface="Monotype Sorts" charset="2"/>
              <a:buNone/>
            </a:pP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                      下划线“</a:t>
            </a:r>
            <a:r>
              <a:rPr kumimoji="1" lang="en-US" altLang="zh-CN" dirty="0">
                <a:solidFill>
                  <a:schemeClr val="tx1"/>
                </a:solidFill>
                <a:effectLst/>
                <a:ea typeface="宋体" charset="0"/>
              </a:rPr>
              <a:t>_”</a:t>
            </a: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看作字母</a:t>
            </a:r>
          </a:p>
          <a:p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标识符对字母大小写敏感：</a:t>
            </a:r>
            <a:r>
              <a:rPr kumimoji="1" lang="en-US" altLang="zh-CN" dirty="0">
                <a:solidFill>
                  <a:schemeClr val="tx1"/>
                </a:solidFill>
                <a:effectLst/>
                <a:ea typeface="宋体" charset="0"/>
              </a:rPr>
              <a:t>a</a:t>
            </a: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和</a:t>
            </a:r>
            <a:r>
              <a:rPr kumimoji="1" lang="en-US" altLang="zh-CN" dirty="0">
                <a:solidFill>
                  <a:schemeClr val="tx1"/>
                </a:solidFill>
                <a:effectLst/>
                <a:ea typeface="宋体" charset="0"/>
              </a:rPr>
              <a:t>A</a:t>
            </a: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是不同字母；</a:t>
            </a:r>
            <a:r>
              <a:rPr kumimoji="1" lang="en-US" altLang="zh-CN" dirty="0">
                <a:solidFill>
                  <a:schemeClr val="tx1"/>
                </a:solidFill>
                <a:effectLst/>
                <a:ea typeface="宋体" charset="0"/>
              </a:rPr>
              <a:t>ABC</a:t>
            </a: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、</a:t>
            </a:r>
            <a:r>
              <a:rPr kumimoji="1" lang="en-US" altLang="zh-CN" dirty="0" err="1">
                <a:solidFill>
                  <a:schemeClr val="tx1"/>
                </a:solidFill>
                <a:effectLst/>
                <a:ea typeface="宋体" charset="0"/>
              </a:rPr>
              <a:t>Abc</a:t>
            </a: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、</a:t>
            </a:r>
            <a:r>
              <a:rPr kumimoji="1" lang="en-US" altLang="zh-CN" dirty="0" err="1">
                <a:solidFill>
                  <a:schemeClr val="tx1"/>
                </a:solidFill>
                <a:effectLst/>
                <a:ea typeface="宋体" charset="0"/>
              </a:rPr>
              <a:t>AbC</a:t>
            </a: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和</a:t>
            </a:r>
            <a:r>
              <a:rPr kumimoji="1" lang="en-US" altLang="zh-CN" dirty="0" err="1">
                <a:solidFill>
                  <a:schemeClr val="tx1"/>
                </a:solidFill>
                <a:effectLst/>
                <a:ea typeface="宋体" charset="0"/>
              </a:rPr>
              <a:t>abc</a:t>
            </a: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是</a:t>
            </a:r>
            <a:r>
              <a:rPr kumimoji="1" lang="en-US" altLang="zh-CN" dirty="0">
                <a:solidFill>
                  <a:schemeClr val="tx1"/>
                </a:solidFill>
                <a:effectLst/>
                <a:ea typeface="宋体" charset="0"/>
              </a:rPr>
              <a:t>4</a:t>
            </a: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个不同标识符</a:t>
            </a:r>
          </a:p>
          <a:p>
            <a:endParaRPr kumimoji="1" lang="zh-CN" altLang="en-US" dirty="0">
              <a:solidFill>
                <a:schemeClr val="tx1"/>
              </a:solidFill>
              <a:effectLst/>
              <a:ea typeface="宋体" charset="0"/>
            </a:endParaRPr>
          </a:p>
          <a:p>
            <a:pPr>
              <a:buFont typeface="Monotype Sorts" charset="2"/>
              <a:buNone/>
            </a:pPr>
            <a:r>
              <a:rPr kumimoji="1" lang="zh-CN" altLang="en-US" dirty="0">
                <a:solidFill>
                  <a:schemeClr val="tx1"/>
                </a:solidFill>
                <a:effectLst/>
                <a:ea typeface="宋体" charset="0"/>
              </a:rPr>
              <a:t>标识符示例：</a:t>
            </a:r>
          </a:p>
          <a:p>
            <a:pPr>
              <a:buFont typeface="Monotype Sorts" charset="2"/>
              <a:buNone/>
            </a:pPr>
            <a:r>
              <a:rPr kumimoji="1" lang="en-US" altLang="zh-CN" dirty="0" err="1">
                <a:solidFill>
                  <a:schemeClr val="tx1"/>
                </a:solidFill>
                <a:effectLst/>
                <a:ea typeface="宋体" charset="0"/>
              </a:rPr>
              <a:t>abcd</a:t>
            </a:r>
            <a:r>
              <a:rPr kumimoji="1" lang="en-US" altLang="zh-CN" dirty="0">
                <a:solidFill>
                  <a:schemeClr val="tx1"/>
                </a:solidFill>
                <a:effectLst/>
                <a:ea typeface="宋体" charset="0"/>
              </a:rPr>
              <a:t>  sin  Beijing  </a:t>
            </a:r>
            <a:r>
              <a:rPr kumimoji="1" lang="en-US" altLang="zh-CN" dirty="0" err="1">
                <a:solidFill>
                  <a:schemeClr val="tx1"/>
                </a:solidFill>
                <a:effectLst/>
                <a:ea typeface="宋体" charset="0"/>
              </a:rPr>
              <a:t>C_Programming</a:t>
            </a:r>
            <a:endParaRPr kumimoji="1" lang="en-US" altLang="zh-CN" dirty="0">
              <a:solidFill>
                <a:schemeClr val="tx1"/>
              </a:solidFill>
              <a:effectLst/>
              <a:ea typeface="宋体" charset="0"/>
            </a:endParaRPr>
          </a:p>
          <a:p>
            <a:pPr>
              <a:buFont typeface="Monotype Sorts" charset="2"/>
              <a:buNone/>
            </a:pPr>
            <a:r>
              <a:rPr kumimoji="1" lang="en-US" altLang="zh-CN" dirty="0">
                <a:solidFill>
                  <a:schemeClr val="tx1"/>
                </a:solidFill>
                <a:effectLst/>
                <a:ea typeface="宋体" charset="0"/>
              </a:rPr>
              <a:t>a3b06   a3b400n   while   _f2048 </a:t>
            </a:r>
          </a:p>
          <a:p>
            <a:pPr>
              <a:buFont typeface="Monotype Sorts" charset="2"/>
              <a:buNone/>
            </a:pPr>
            <a:r>
              <a:rPr kumimoji="1" lang="en-US" altLang="zh-CN" dirty="0">
                <a:solidFill>
                  <a:schemeClr val="tx1"/>
                </a:solidFill>
                <a:effectLst/>
                <a:ea typeface="宋体" charset="0"/>
              </a:rPr>
              <a:t>sx211_12a   </a:t>
            </a:r>
            <a:r>
              <a:rPr kumimoji="1" lang="en-US" altLang="zh-CN" dirty="0" err="1">
                <a:solidFill>
                  <a:schemeClr val="tx1"/>
                </a:solidFill>
                <a:effectLst/>
                <a:ea typeface="宋体" charset="0"/>
              </a:rPr>
              <a:t>abc</a:t>
            </a:r>
            <a:r>
              <a:rPr kumimoji="1" lang="en-US" altLang="zh-CN" dirty="0">
                <a:solidFill>
                  <a:schemeClr val="tx1"/>
                </a:solidFill>
                <a:effectLst/>
                <a:ea typeface="宋体" charset="0"/>
              </a:rPr>
              <a:t>__    ____ </a:t>
            </a:r>
          </a:p>
          <a:p>
            <a:pPr>
              <a:buFont typeface="Monotype Sorts" charset="2"/>
              <a:buNone/>
            </a:pPr>
            <a:endParaRPr lang="zh-CN" altLang="en-US" dirty="0"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F58A1-4DE9-D743-A4D0-AD9E85BBA563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944710"/>
          </a:xfrm>
        </p:spPr>
        <p:txBody>
          <a:bodyPr/>
          <a:lstStyle/>
          <a:p>
            <a:pPr marL="838200" indent="-838200"/>
            <a:r>
              <a:rPr lang="en-US" altLang="zh-CN" b="1" dirty="0"/>
              <a:t>2.2 </a:t>
            </a:r>
            <a:r>
              <a:rPr lang="zh-CN" altLang="en-US" b="1" dirty="0"/>
              <a:t>数据类型（</a:t>
            </a:r>
            <a:r>
              <a:rPr lang="en-US" altLang="zh-CN" b="1" dirty="0"/>
              <a:t>Data Type</a:t>
            </a:r>
            <a:r>
              <a:rPr lang="zh-CN" altLang="en-US" b="1" dirty="0"/>
              <a:t>）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772815"/>
            <a:ext cx="6840760" cy="4156497"/>
          </a:xfrm>
        </p:spPr>
        <p:txBody>
          <a:bodyPr/>
          <a:lstStyle/>
          <a:p>
            <a:pPr marL="533400" indent="-533400"/>
            <a:r>
              <a:rPr lang="zh-CN" altLang="en-US" dirty="0">
                <a:ea typeface="宋体" charset="0"/>
              </a:rPr>
              <a:t>数据为什么要区分类型？</a:t>
            </a:r>
            <a:endParaRPr lang="en-US" altLang="zh-CN" dirty="0">
              <a:ea typeface="宋体" charset="0"/>
            </a:endParaRPr>
          </a:p>
          <a:p>
            <a:pPr marL="533400" indent="-533400">
              <a:buFont typeface="Monotype Sorts" charset="2"/>
              <a:buNone/>
            </a:pP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主要目的：是便于对它们按不同方式和要求进行处理。</a:t>
            </a:r>
          </a:p>
          <a:p>
            <a:pPr marL="533400" indent="-533400"/>
            <a:r>
              <a:rPr lang="zh-CN" altLang="en-US" dirty="0">
                <a:ea typeface="宋体" charset="0"/>
              </a:rPr>
              <a:t>不同类型的数据代表不同的</a:t>
            </a:r>
          </a:p>
          <a:p>
            <a:pPr marL="1022350" lvl="1" indent="-457200"/>
            <a:r>
              <a:rPr lang="zh-CN" altLang="en-US" dirty="0">
                <a:ea typeface="宋体" charset="0"/>
              </a:rPr>
              <a:t>数据表示形式</a:t>
            </a:r>
          </a:p>
          <a:p>
            <a:pPr marL="1022350" lvl="1" indent="-457200"/>
            <a:r>
              <a:rPr lang="zh-CN" altLang="en-US" dirty="0">
                <a:ea typeface="宋体" charset="0"/>
              </a:rPr>
              <a:t>合法的取值范围</a:t>
            </a:r>
          </a:p>
          <a:p>
            <a:pPr marL="1022350" lvl="1" indent="-457200"/>
            <a:r>
              <a:rPr lang="zh-CN" altLang="en-US" dirty="0">
                <a:ea typeface="宋体" charset="0"/>
              </a:rPr>
              <a:t>占用内存空间大小</a:t>
            </a:r>
          </a:p>
          <a:p>
            <a:pPr marL="1022350" lvl="1" indent="-457200"/>
            <a:r>
              <a:rPr lang="zh-CN" altLang="en-US" dirty="0">
                <a:ea typeface="宋体" charset="0"/>
              </a:rPr>
              <a:t>可参与的运算种类 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E044F-25E2-2E4A-887E-9A7E08E7FE53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725891"/>
          </a:xfrm>
        </p:spPr>
        <p:txBody>
          <a:bodyPr/>
          <a:lstStyle/>
          <a:p>
            <a:r>
              <a:rPr lang="zh-CN" altLang="en-US" dirty="0"/>
              <a:t>数据类型（</a:t>
            </a:r>
            <a:r>
              <a:rPr lang="en-US" altLang="zh-CN" dirty="0"/>
              <a:t>Data Type</a:t>
            </a:r>
            <a:r>
              <a:rPr lang="zh-CN" altLang="en-US" dirty="0"/>
              <a:t>）</a:t>
            </a:r>
          </a:p>
        </p:txBody>
      </p:sp>
      <p:grpSp>
        <p:nvGrpSpPr>
          <p:cNvPr id="12291" name="Group 3"/>
          <p:cNvGrpSpPr>
            <a:grpSpLocks/>
          </p:cNvGrpSpPr>
          <p:nvPr/>
        </p:nvGrpSpPr>
        <p:grpSpPr bwMode="auto">
          <a:xfrm>
            <a:off x="1116013" y="1412875"/>
            <a:ext cx="6911975" cy="4968875"/>
            <a:chOff x="1981" y="5730"/>
            <a:chExt cx="5758" cy="5304"/>
          </a:xfrm>
        </p:grpSpPr>
        <p:sp>
          <p:nvSpPr>
            <p:cNvPr id="181252" name="Text Box 4"/>
            <p:cNvSpPr txBox="1">
              <a:spLocks noChangeArrowheads="1"/>
            </p:cNvSpPr>
            <p:nvPr/>
          </p:nvSpPr>
          <p:spPr bwMode="auto">
            <a:xfrm>
              <a:off x="1981" y="8226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数据类型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53" name="Text Box 5"/>
            <p:cNvSpPr txBox="1">
              <a:spLocks noChangeArrowheads="1"/>
            </p:cNvSpPr>
            <p:nvPr/>
          </p:nvSpPr>
          <p:spPr bwMode="auto">
            <a:xfrm>
              <a:off x="3240" y="6821"/>
              <a:ext cx="1259" cy="4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基本类型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54" name="Text Box 6"/>
            <p:cNvSpPr txBox="1">
              <a:spLocks noChangeArrowheads="1"/>
            </p:cNvSpPr>
            <p:nvPr/>
          </p:nvSpPr>
          <p:spPr bwMode="auto">
            <a:xfrm>
              <a:off x="3240" y="9006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构造类型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55" name="Text Box 7"/>
            <p:cNvSpPr txBox="1">
              <a:spLocks noChangeArrowheads="1"/>
            </p:cNvSpPr>
            <p:nvPr/>
          </p:nvSpPr>
          <p:spPr bwMode="auto">
            <a:xfrm>
              <a:off x="3240" y="10099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指针类型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56" name="Text Box 8"/>
            <p:cNvSpPr txBox="1">
              <a:spLocks noChangeArrowheads="1"/>
            </p:cNvSpPr>
            <p:nvPr/>
          </p:nvSpPr>
          <p:spPr bwMode="auto">
            <a:xfrm>
              <a:off x="3241" y="10566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空类型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57" name="Text Box 9"/>
            <p:cNvSpPr txBox="1">
              <a:spLocks noChangeArrowheads="1"/>
            </p:cNvSpPr>
            <p:nvPr/>
          </p:nvSpPr>
          <p:spPr bwMode="auto">
            <a:xfrm>
              <a:off x="4500" y="6198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整型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58" name="Text Box 10"/>
            <p:cNvSpPr txBox="1">
              <a:spLocks noChangeArrowheads="1"/>
            </p:cNvSpPr>
            <p:nvPr/>
          </p:nvSpPr>
          <p:spPr bwMode="auto">
            <a:xfrm>
              <a:off x="4500" y="7291"/>
              <a:ext cx="179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实型（浮点型）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59" name="Text Box 11"/>
            <p:cNvSpPr txBox="1">
              <a:spLocks noChangeArrowheads="1"/>
            </p:cNvSpPr>
            <p:nvPr/>
          </p:nvSpPr>
          <p:spPr bwMode="auto">
            <a:xfrm>
              <a:off x="4500" y="7692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字符型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60" name="Text Box 12"/>
            <p:cNvSpPr txBox="1">
              <a:spLocks noChangeArrowheads="1"/>
            </p:cNvSpPr>
            <p:nvPr/>
          </p:nvSpPr>
          <p:spPr bwMode="auto">
            <a:xfrm>
              <a:off x="4500" y="8070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枚举类型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61" name="Text Box 13"/>
            <p:cNvSpPr txBox="1">
              <a:spLocks noChangeArrowheads="1"/>
            </p:cNvSpPr>
            <p:nvPr/>
          </p:nvSpPr>
          <p:spPr bwMode="auto">
            <a:xfrm>
              <a:off x="4500" y="8538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数组类型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62" name="Text Box 14"/>
            <p:cNvSpPr txBox="1">
              <a:spLocks noChangeArrowheads="1"/>
            </p:cNvSpPr>
            <p:nvPr/>
          </p:nvSpPr>
          <p:spPr bwMode="auto">
            <a:xfrm>
              <a:off x="4500" y="9006"/>
              <a:ext cx="1440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结构体类型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63" name="Text Box 15"/>
            <p:cNvSpPr txBox="1">
              <a:spLocks noChangeArrowheads="1"/>
            </p:cNvSpPr>
            <p:nvPr/>
          </p:nvSpPr>
          <p:spPr bwMode="auto">
            <a:xfrm>
              <a:off x="4500" y="9473"/>
              <a:ext cx="1620" cy="4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chemeClr val="tx1"/>
                  </a:solidFill>
                </a:rPr>
                <a:t>共用体类型</a:t>
              </a:r>
              <a:endPara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64" name="Text Box 16"/>
            <p:cNvSpPr txBox="1">
              <a:spLocks noChangeArrowheads="1"/>
            </p:cNvSpPr>
            <p:nvPr/>
          </p:nvSpPr>
          <p:spPr bwMode="auto">
            <a:xfrm>
              <a:off x="6120" y="7059"/>
              <a:ext cx="161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chemeClr val="tx1"/>
                  </a:solidFill>
                </a:rPr>
                <a:t>单精度实型</a:t>
              </a:r>
              <a:endPara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65" name="Text Box 17"/>
            <p:cNvSpPr txBox="1">
              <a:spLocks noChangeArrowheads="1"/>
            </p:cNvSpPr>
            <p:nvPr/>
          </p:nvSpPr>
          <p:spPr bwMode="auto">
            <a:xfrm>
              <a:off x="6120" y="7526"/>
              <a:ext cx="1619" cy="4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chemeClr val="tx1"/>
                  </a:solidFill>
                </a:rPr>
                <a:t>双精度实型</a:t>
              </a:r>
              <a:endPara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66" name="Text Box 18"/>
            <p:cNvSpPr txBox="1">
              <a:spLocks noChangeArrowheads="1"/>
            </p:cNvSpPr>
            <p:nvPr/>
          </p:nvSpPr>
          <p:spPr bwMode="auto">
            <a:xfrm>
              <a:off x="5310" y="5730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0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基本整型</a:t>
              </a:r>
              <a:endPara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67" name="Text Box 19"/>
            <p:cNvSpPr txBox="1">
              <a:spLocks noChangeArrowheads="1"/>
            </p:cNvSpPr>
            <p:nvPr/>
          </p:nvSpPr>
          <p:spPr bwMode="auto">
            <a:xfrm>
              <a:off x="5310" y="6042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1pPr>
              <a:lvl2pPr marL="742950" indent="-28575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2pPr>
              <a:lvl3pPr marL="11430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3pPr>
              <a:lvl4pPr marL="16002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4pPr>
              <a:lvl5pPr marL="2057400" indent="-228600"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5pPr>
              <a:lvl6pPr marL="25146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6pPr>
              <a:lvl7pPr marL="29718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7pPr>
              <a:lvl8pPr marL="34290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8pPr>
              <a:lvl9pPr marL="3886200" indent="-228600" eaLnBrk="0" fontAlgn="base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CC66"/>
                </a:buClr>
                <a:buSzPct val="80000"/>
                <a:buFont typeface="Monotype Sorts" charset="2"/>
                <a:buChar char=""/>
                <a:defRPr sz="2800" b="1">
                  <a:solidFill>
                    <a:srgbClr val="3366FF"/>
                  </a:solidFill>
                  <a:latin typeface="Times New Roman" charset="0"/>
                  <a:ea typeface="宋体" charset="0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chemeClr val="tx1"/>
                  </a:solidFill>
                </a:rPr>
                <a:t>长整型</a:t>
              </a:r>
              <a:endPara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81268" name="Text Box 20"/>
            <p:cNvSpPr txBox="1">
              <a:spLocks noChangeArrowheads="1"/>
            </p:cNvSpPr>
            <p:nvPr/>
          </p:nvSpPr>
          <p:spPr bwMode="auto">
            <a:xfrm>
              <a:off x="5310" y="6354"/>
              <a:ext cx="1259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0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短整型</a:t>
              </a:r>
              <a:endPara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69" name="Text Box 21"/>
            <p:cNvSpPr txBox="1">
              <a:spLocks noChangeArrowheads="1"/>
            </p:cNvSpPr>
            <p:nvPr/>
          </p:nvSpPr>
          <p:spPr bwMode="auto">
            <a:xfrm>
              <a:off x="5310" y="6665"/>
              <a:ext cx="1800" cy="4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0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rPr>
                <a:t>无符号整型</a:t>
              </a:r>
              <a:endParaRPr lang="zh-CN" altLang="en-US" sz="2000" b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70" name="AutoShape 22"/>
            <p:cNvSpPr>
              <a:spLocks/>
            </p:cNvSpPr>
            <p:nvPr/>
          </p:nvSpPr>
          <p:spPr bwMode="auto">
            <a:xfrm>
              <a:off x="3060" y="6665"/>
              <a:ext cx="180" cy="4213"/>
            </a:xfrm>
            <a:prstGeom prst="leftBrace">
              <a:avLst>
                <a:gd name="adj1" fmla="val 195000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71" name="AutoShape 23"/>
            <p:cNvSpPr>
              <a:spLocks/>
            </p:cNvSpPr>
            <p:nvPr/>
          </p:nvSpPr>
          <p:spPr bwMode="auto">
            <a:xfrm>
              <a:off x="4320" y="6354"/>
              <a:ext cx="180" cy="1872"/>
            </a:xfrm>
            <a:prstGeom prst="leftBrace">
              <a:avLst>
                <a:gd name="adj1" fmla="val 86667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72" name="AutoShape 24"/>
            <p:cNvSpPr>
              <a:spLocks/>
            </p:cNvSpPr>
            <p:nvPr/>
          </p:nvSpPr>
          <p:spPr bwMode="auto">
            <a:xfrm>
              <a:off x="5191" y="5796"/>
              <a:ext cx="180" cy="1247"/>
            </a:xfrm>
            <a:prstGeom prst="leftBrace">
              <a:avLst>
                <a:gd name="adj1" fmla="val 57778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73" name="AutoShape 25"/>
            <p:cNvSpPr>
              <a:spLocks/>
            </p:cNvSpPr>
            <p:nvPr/>
          </p:nvSpPr>
          <p:spPr bwMode="auto">
            <a:xfrm>
              <a:off x="6030" y="7098"/>
              <a:ext cx="180" cy="781"/>
            </a:xfrm>
            <a:prstGeom prst="leftBrace">
              <a:avLst>
                <a:gd name="adj1" fmla="val 3611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81274" name="AutoShape 26"/>
            <p:cNvSpPr>
              <a:spLocks/>
            </p:cNvSpPr>
            <p:nvPr/>
          </p:nvSpPr>
          <p:spPr bwMode="auto">
            <a:xfrm>
              <a:off x="4320" y="8597"/>
              <a:ext cx="180" cy="1249"/>
            </a:xfrm>
            <a:prstGeom prst="leftBrace">
              <a:avLst>
                <a:gd name="adj1" fmla="val 57778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014D-A178-0A4E-8320-6864C09A1FE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996506"/>
          </a:xfrm>
        </p:spPr>
        <p:txBody>
          <a:bodyPr/>
          <a:lstStyle/>
          <a:p>
            <a:pPr>
              <a:defRPr/>
            </a:pPr>
            <a:r>
              <a:rPr lang="en-US" altLang="zh-CN"/>
              <a:t>b, B, KB, MB, GB, TB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1138"/>
            <a:ext cx="7772400" cy="4268215"/>
          </a:xfrm>
        </p:spPr>
        <p:txBody>
          <a:bodyPr/>
          <a:lstStyle/>
          <a:p>
            <a:r>
              <a:rPr lang="zh-CN" altLang="en-US" dirty="0">
                <a:ea typeface="宋体" charset="0"/>
              </a:rPr>
              <a:t>如何衡量数据类型所占空间大小？</a:t>
            </a:r>
          </a:p>
          <a:p>
            <a:r>
              <a:rPr lang="en-US" altLang="zh-CN" dirty="0">
                <a:ea typeface="宋体" charset="0"/>
              </a:rPr>
              <a:t>bit</a:t>
            </a:r>
            <a:r>
              <a:rPr lang="zh-CN" altLang="en-US" dirty="0">
                <a:ea typeface="宋体" charset="0"/>
              </a:rPr>
              <a:t>，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中文叫法：</a:t>
            </a:r>
            <a:r>
              <a:rPr lang="zh-CN" altLang="en-US" dirty="0">
                <a:ea typeface="宋体" charset="0"/>
              </a:rPr>
              <a:t>位</a:t>
            </a:r>
          </a:p>
          <a:p>
            <a:r>
              <a:rPr lang="en-US" altLang="zh-CN" dirty="0">
                <a:ea typeface="宋体" charset="0"/>
              </a:rPr>
              <a:t>Byte</a:t>
            </a:r>
            <a:r>
              <a:rPr lang="zh-CN" altLang="en-US" dirty="0">
                <a:ea typeface="宋体" charset="0"/>
              </a:rPr>
              <a:t>，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中文叫法：</a:t>
            </a:r>
            <a:r>
              <a:rPr lang="zh-CN" altLang="en-US" dirty="0">
                <a:ea typeface="宋体" charset="0"/>
              </a:rPr>
              <a:t>字节</a:t>
            </a:r>
          </a:p>
          <a:p>
            <a:r>
              <a:rPr lang="en-US" altLang="zh-CN" dirty="0">
                <a:ea typeface="宋体" charset="0"/>
              </a:rPr>
              <a:t>Kilobyte(KB)</a:t>
            </a:r>
            <a:r>
              <a:rPr lang="zh-CN" altLang="en-US" dirty="0">
                <a:ea typeface="宋体" charset="0"/>
              </a:rPr>
              <a:t>，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中文叫法：</a:t>
            </a:r>
            <a:r>
              <a:rPr lang="zh-CN" altLang="en-US" dirty="0">
                <a:ea typeface="宋体" charset="0"/>
              </a:rPr>
              <a:t> </a:t>
            </a:r>
            <a:r>
              <a:rPr lang="en-US" altLang="zh-CN" dirty="0">
                <a:ea typeface="宋体" charset="0"/>
              </a:rPr>
              <a:t>K</a:t>
            </a:r>
          </a:p>
          <a:p>
            <a:r>
              <a:rPr lang="en-US" altLang="zh-CN" dirty="0">
                <a:ea typeface="宋体" charset="0"/>
              </a:rPr>
              <a:t>Megabyte(MB)</a:t>
            </a:r>
            <a:r>
              <a:rPr lang="zh-CN" altLang="en-US" dirty="0">
                <a:ea typeface="宋体" charset="0"/>
              </a:rPr>
              <a:t>，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中文叫法：</a:t>
            </a:r>
            <a:r>
              <a:rPr lang="zh-CN" altLang="en-US" dirty="0">
                <a:ea typeface="宋体" charset="0"/>
              </a:rPr>
              <a:t>兆</a:t>
            </a:r>
          </a:p>
          <a:p>
            <a:r>
              <a:rPr lang="en-US" altLang="zh-CN" dirty="0">
                <a:ea typeface="宋体" charset="0"/>
              </a:rPr>
              <a:t>Gigabyte(GB)</a:t>
            </a:r>
            <a:r>
              <a:rPr lang="zh-CN" altLang="en-US" dirty="0">
                <a:ea typeface="宋体" charset="0"/>
              </a:rPr>
              <a:t>，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中文叫法：</a:t>
            </a:r>
            <a:r>
              <a:rPr lang="en-US" altLang="zh-CN" dirty="0">
                <a:ea typeface="宋体" charset="0"/>
              </a:rPr>
              <a:t>G</a:t>
            </a:r>
          </a:p>
          <a:p>
            <a:r>
              <a:rPr lang="en-US" altLang="zh-CN" dirty="0">
                <a:ea typeface="宋体" charset="0"/>
              </a:rPr>
              <a:t>Terabyte(TB)</a:t>
            </a:r>
            <a:r>
              <a:rPr lang="zh-CN" altLang="en-US" dirty="0">
                <a:ea typeface="宋体" charset="0"/>
              </a:rPr>
              <a:t>，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中文叫法：</a:t>
            </a:r>
            <a:r>
              <a:rPr lang="en-US" altLang="zh-CN" dirty="0">
                <a:ea typeface="宋体" charset="0"/>
              </a:rPr>
              <a:t>T</a:t>
            </a:r>
          </a:p>
        </p:txBody>
      </p:sp>
      <p:sp>
        <p:nvSpPr>
          <p:cNvPr id="68625" name="Text Box 17"/>
          <p:cNvSpPr txBox="1">
            <a:spLocks noChangeArrowheads="1"/>
          </p:cNvSpPr>
          <p:nvPr/>
        </p:nvSpPr>
        <p:spPr bwMode="auto">
          <a:xfrm>
            <a:off x="411163" y="4437063"/>
            <a:ext cx="25193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1 TB 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rPr>
              <a:t>==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1,024 GB</a:t>
            </a:r>
            <a:endParaRPr lang="zh-CN" altLang="en-US" sz="2400" dirty="0">
              <a:solidFill>
                <a:srgbClr val="0033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8627" name="Text Box 19"/>
          <p:cNvSpPr txBox="1">
            <a:spLocks noChangeArrowheads="1"/>
          </p:cNvSpPr>
          <p:nvPr/>
        </p:nvSpPr>
        <p:spPr bwMode="auto">
          <a:xfrm>
            <a:off x="2073275" y="4821238"/>
            <a:ext cx="26035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1 GB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rPr>
              <a:t>==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rgbClr val="66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1,024 MB</a:t>
            </a:r>
            <a:endParaRPr lang="zh-CN" altLang="en-US" sz="2400" dirty="0">
              <a:solidFill>
                <a:srgbClr val="6699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8629" name="Text Box 21"/>
          <p:cNvSpPr txBox="1">
            <a:spLocks noChangeArrowheads="1"/>
          </p:cNvSpPr>
          <p:nvPr/>
        </p:nvSpPr>
        <p:spPr bwMode="auto">
          <a:xfrm>
            <a:off x="3770313" y="5205413"/>
            <a:ext cx="26035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>
                <a:solidFill>
                  <a:srgbClr val="66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1 MB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rPr>
              <a:t>==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>
                <a:solidFill>
                  <a:srgbClr val="99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1,024 KB</a:t>
            </a:r>
            <a:endParaRPr lang="zh-CN" altLang="en-US" sz="2400">
              <a:solidFill>
                <a:srgbClr val="9900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8630" name="Text Box 22"/>
          <p:cNvSpPr txBox="1">
            <a:spLocks noChangeArrowheads="1"/>
          </p:cNvSpPr>
          <p:nvPr/>
        </p:nvSpPr>
        <p:spPr bwMode="auto">
          <a:xfrm>
            <a:off x="5526088" y="5589588"/>
            <a:ext cx="23161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>
                <a:solidFill>
                  <a:srgbClr val="99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1 KB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rPr>
              <a:t>==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>
                <a:solidFill>
                  <a:srgbClr val="99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1,024 B</a:t>
            </a:r>
            <a:endParaRPr lang="zh-CN" altLang="en-US" sz="2400">
              <a:solidFill>
                <a:srgbClr val="9966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8634" name="Text Box 26"/>
          <p:cNvSpPr txBox="1">
            <a:spLocks noChangeArrowheads="1"/>
          </p:cNvSpPr>
          <p:nvPr/>
        </p:nvSpPr>
        <p:spPr bwMode="auto">
          <a:xfrm>
            <a:off x="7221538" y="5975350"/>
            <a:ext cx="15128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>
                <a:solidFill>
                  <a:srgbClr val="99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1 B 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ea typeface="宋体" pitchFamily="2" charset="-122"/>
              </a:rPr>
              <a:t>==</a:t>
            </a:r>
            <a:r>
              <a:rPr lang="en-US" altLang="zh-CN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8 b</a:t>
            </a:r>
            <a:endParaRPr lang="zh-CN" altLang="en-US" sz="2400">
              <a:solidFill>
                <a:srgbClr val="FF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D1EFA-2779-E04B-BC6A-359058BE7292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b, B, KB, MB, GB, TB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697038"/>
            <a:ext cx="8569325" cy="4611687"/>
          </a:xfrm>
        </p:spPr>
        <p:txBody>
          <a:bodyPr/>
          <a:lstStyle/>
          <a:p>
            <a:r>
              <a:rPr lang="zh-CN" altLang="en-US">
                <a:ea typeface="宋体" charset="0"/>
              </a:rPr>
              <a:t>一个位有多大？</a:t>
            </a:r>
          </a:p>
          <a:p>
            <a:pPr lvl="1"/>
            <a:r>
              <a:rPr lang="zh-CN" altLang="en-US">
                <a:ea typeface="宋体" charset="0"/>
              </a:rPr>
              <a:t>只能是“</a:t>
            </a:r>
            <a:r>
              <a:rPr lang="en-US" altLang="zh-CN">
                <a:ea typeface="宋体" charset="0"/>
              </a:rPr>
              <a:t>0”</a:t>
            </a:r>
            <a:r>
              <a:rPr lang="zh-CN" altLang="en-US">
                <a:ea typeface="宋体" charset="0"/>
              </a:rPr>
              <a:t>或者“</a:t>
            </a:r>
            <a:r>
              <a:rPr lang="en-US" altLang="zh-CN">
                <a:ea typeface="宋体" charset="0"/>
              </a:rPr>
              <a:t>1”</a:t>
            </a:r>
            <a:r>
              <a:rPr lang="zh-CN" altLang="en-US">
                <a:ea typeface="宋体" charset="0"/>
              </a:rPr>
              <a:t>，这叫二进制</a:t>
            </a:r>
          </a:p>
          <a:p>
            <a:r>
              <a:rPr lang="zh-CN" altLang="en-US">
                <a:ea typeface="宋体" charset="0"/>
              </a:rPr>
              <a:t>一个字节有多大？</a:t>
            </a:r>
          </a:p>
          <a:p>
            <a:pPr lvl="1"/>
            <a:r>
              <a:rPr lang="zh-CN" altLang="en-US">
                <a:ea typeface="宋体" charset="0"/>
              </a:rPr>
              <a:t>保存一个字符（英文字母、数字、符号）</a:t>
            </a:r>
          </a:p>
          <a:p>
            <a:pPr lvl="2"/>
            <a:r>
              <a:rPr lang="en-US" altLang="zh-CN">
                <a:ea typeface="宋体" charset="0"/>
              </a:rPr>
              <a:t>ASCII</a:t>
            </a:r>
            <a:r>
              <a:rPr lang="zh-CN" altLang="en-US">
                <a:ea typeface="宋体" charset="0"/>
              </a:rPr>
              <a:t>（美国标准信息交换码）编码</a:t>
            </a:r>
          </a:p>
          <a:p>
            <a:pPr lvl="2"/>
            <a:r>
              <a:rPr lang="zh-CN" altLang="en-US">
                <a:ea typeface="宋体" charset="0"/>
              </a:rPr>
              <a:t>见</a:t>
            </a:r>
            <a:r>
              <a:rPr lang="en-US" altLang="zh-CN">
                <a:ea typeface="宋体" charset="0"/>
              </a:rPr>
              <a:t>P427</a:t>
            </a:r>
            <a:r>
              <a:rPr lang="zh-CN" altLang="en-US">
                <a:ea typeface="宋体" charset="0"/>
              </a:rPr>
              <a:t>附录</a:t>
            </a:r>
            <a:r>
              <a:rPr lang="en-US" altLang="zh-CN">
                <a:ea typeface="宋体" charset="0"/>
              </a:rPr>
              <a:t>D</a:t>
            </a:r>
            <a:r>
              <a:rPr lang="zh-CN" altLang="en-US">
                <a:ea typeface="宋体" charset="0"/>
              </a:rPr>
              <a:t>，常用字符与</a:t>
            </a:r>
            <a:r>
              <a:rPr lang="en-US" altLang="zh-CN">
                <a:ea typeface="宋体" charset="0"/>
              </a:rPr>
              <a:t>ASCII</a:t>
            </a:r>
            <a:r>
              <a:rPr lang="zh-CN" altLang="en-US">
                <a:ea typeface="宋体" charset="0"/>
              </a:rPr>
              <a:t>码对照表</a:t>
            </a:r>
          </a:p>
          <a:p>
            <a:pPr lvl="1"/>
            <a:r>
              <a:rPr lang="zh-CN" altLang="en-US">
                <a:ea typeface="宋体" charset="0"/>
              </a:rPr>
              <a:t>两个字节保存一个汉字</a:t>
            </a:r>
          </a:p>
          <a:p>
            <a:pPr lvl="2"/>
            <a:r>
              <a:rPr lang="en-US" altLang="zh-CN">
                <a:ea typeface="宋体" charset="0"/>
              </a:rPr>
              <a:t>GB</a:t>
            </a:r>
            <a:r>
              <a:rPr lang="zh-CN" altLang="en-US">
                <a:ea typeface="宋体" charset="0"/>
              </a:rPr>
              <a:t>编码</a:t>
            </a:r>
          </a:p>
        </p:txBody>
      </p:sp>
      <p:pic>
        <p:nvPicPr>
          <p:cNvPr id="14341" name="Picture 11" descr="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4292600"/>
            <a:ext cx="316230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52098-1432-A441-ADC9-066E35A9E958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072160"/>
          </a:xfrm>
        </p:spPr>
        <p:txBody>
          <a:bodyPr/>
          <a:lstStyle/>
          <a:p>
            <a:r>
              <a:rPr lang="zh-CN" altLang="en-US"/>
              <a:t>基本数据类型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313"/>
            <a:ext cx="7772400" cy="4824412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endParaRPr lang="en-US" altLang="zh-CN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>
              <a:lnSpc>
                <a:spcPct val="85000"/>
              </a:lnSpc>
            </a:pPr>
            <a:r>
              <a:rPr lang="zh-CN" altLang="en-US">
                <a:ea typeface="宋体" charset="0"/>
              </a:rPr>
              <a:t>整数，在目前绝大多数机器上占</a:t>
            </a:r>
            <a:r>
              <a:rPr lang="en-US" altLang="zh-CN">
                <a:ea typeface="宋体" charset="0"/>
              </a:rPr>
              <a:t>4</a:t>
            </a:r>
            <a:r>
              <a:rPr lang="zh-CN" altLang="en-US">
                <a:ea typeface="宋体" charset="0"/>
              </a:rPr>
              <a:t>个字节。</a:t>
            </a:r>
          </a:p>
          <a:p>
            <a:pPr lvl="1">
              <a:lnSpc>
                <a:spcPct val="85000"/>
              </a:lnSpc>
            </a:pPr>
            <a:r>
              <a:rPr lang="en-US" altLang="zh-CN">
                <a:ea typeface="宋体" charset="0"/>
              </a:rPr>
              <a:t>TC2</a:t>
            </a:r>
            <a:r>
              <a:rPr lang="zh-CN" altLang="en-US">
                <a:ea typeface="宋体" charset="0"/>
              </a:rPr>
              <a:t>中是</a:t>
            </a:r>
            <a:r>
              <a:rPr lang="en-US" altLang="zh-CN">
                <a:ea typeface="宋体" charset="0"/>
              </a:rPr>
              <a:t>2</a:t>
            </a:r>
            <a:r>
              <a:rPr lang="zh-CN" altLang="en-US">
                <a:ea typeface="宋体" charset="0"/>
              </a:rPr>
              <a:t>个字节</a:t>
            </a:r>
          </a:p>
          <a:p>
            <a:pPr lvl="1">
              <a:lnSpc>
                <a:spcPct val="85000"/>
              </a:lnSpc>
            </a:pPr>
            <a:r>
              <a:rPr lang="en-US" altLang="zh-CN">
                <a:ea typeface="宋体" charset="0"/>
              </a:rPr>
              <a:t>VC</a:t>
            </a:r>
            <a:r>
              <a:rPr lang="zh-CN" altLang="en-US">
                <a:ea typeface="宋体" charset="0"/>
              </a:rPr>
              <a:t>中是</a:t>
            </a:r>
            <a:r>
              <a:rPr lang="en-US" altLang="zh-CN">
                <a:ea typeface="宋体" charset="0"/>
              </a:rPr>
              <a:t>4</a:t>
            </a:r>
            <a:r>
              <a:rPr lang="zh-CN" altLang="en-US">
                <a:ea typeface="宋体" charset="0"/>
              </a:rPr>
              <a:t>个字节</a:t>
            </a:r>
          </a:p>
          <a:p>
            <a:pPr>
              <a:lnSpc>
                <a:spcPct val="85000"/>
              </a:lnSpc>
            </a:pP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float</a:t>
            </a:r>
            <a:endParaRPr lang="en-US" altLang="zh-CN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>
              <a:lnSpc>
                <a:spcPct val="85000"/>
              </a:lnSpc>
            </a:pPr>
            <a:r>
              <a:rPr lang="zh-CN" altLang="en-US">
                <a:ea typeface="宋体" charset="0"/>
              </a:rPr>
              <a:t>单精度浮点数，一般是</a:t>
            </a:r>
            <a:r>
              <a:rPr lang="en-US" altLang="zh-CN">
                <a:ea typeface="宋体" charset="0"/>
              </a:rPr>
              <a:t>4</a:t>
            </a:r>
            <a:r>
              <a:rPr lang="zh-CN" altLang="en-US">
                <a:ea typeface="宋体" charset="0"/>
              </a:rPr>
              <a:t>个字节长</a:t>
            </a:r>
          </a:p>
          <a:p>
            <a:pPr>
              <a:lnSpc>
                <a:spcPct val="85000"/>
              </a:lnSpc>
            </a:pP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double</a:t>
            </a:r>
            <a:endParaRPr lang="en-US" altLang="zh-CN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>
              <a:lnSpc>
                <a:spcPct val="85000"/>
              </a:lnSpc>
            </a:pPr>
            <a:r>
              <a:rPr lang="zh-CN" altLang="en-US">
                <a:ea typeface="宋体" charset="0"/>
              </a:rPr>
              <a:t>双精度浮点数，一般是</a:t>
            </a:r>
            <a:r>
              <a:rPr lang="en-US" altLang="zh-CN">
                <a:ea typeface="宋体" charset="0"/>
              </a:rPr>
              <a:t>8</a:t>
            </a:r>
            <a:r>
              <a:rPr lang="zh-CN" altLang="en-US">
                <a:ea typeface="宋体" charset="0"/>
              </a:rPr>
              <a:t>个字节长</a:t>
            </a:r>
            <a:endParaRPr lang="en-US" altLang="zh-CN">
              <a:ea typeface="宋体" charset="0"/>
            </a:endParaRPr>
          </a:p>
          <a:p>
            <a:pPr>
              <a:lnSpc>
                <a:spcPct val="85000"/>
              </a:lnSpc>
            </a:pP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char</a:t>
            </a:r>
          </a:p>
          <a:p>
            <a:pPr lvl="1">
              <a:lnSpc>
                <a:spcPct val="85000"/>
              </a:lnSpc>
            </a:pPr>
            <a:r>
              <a:rPr lang="zh-CN" altLang="en-US">
                <a:ea typeface="宋体" charset="0"/>
              </a:rPr>
              <a:t>字符，一般是</a:t>
            </a:r>
            <a:r>
              <a:rPr lang="en-US" altLang="zh-CN">
                <a:ea typeface="宋体" charset="0"/>
              </a:rPr>
              <a:t>1</a:t>
            </a:r>
            <a:r>
              <a:rPr lang="zh-CN" altLang="en-US">
                <a:ea typeface="宋体" charset="0"/>
              </a:rPr>
              <a:t>个字节长</a:t>
            </a:r>
          </a:p>
          <a:p>
            <a:pPr lvl="1">
              <a:lnSpc>
                <a:spcPct val="85000"/>
              </a:lnSpc>
            </a:pPr>
            <a:r>
              <a:rPr lang="zh-CN" altLang="en-US">
                <a:ea typeface="宋体" charset="0"/>
              </a:rPr>
              <a:t>用来表示</a:t>
            </a:r>
            <a:r>
              <a:rPr lang="en-US" altLang="zh-CN">
                <a:ea typeface="宋体" charset="0"/>
              </a:rPr>
              <a:t>256</a:t>
            </a:r>
            <a:r>
              <a:rPr lang="zh-CN" altLang="en-US">
                <a:ea typeface="宋体" charset="0"/>
              </a:rPr>
              <a:t>个</a:t>
            </a:r>
            <a:r>
              <a:rPr lang="en-US" altLang="zh-CN">
                <a:ea typeface="宋体" charset="0"/>
              </a:rPr>
              <a:t>ASCII</a:t>
            </a:r>
            <a:r>
              <a:rPr lang="zh-CN" altLang="en-US">
                <a:ea typeface="宋体" charset="0"/>
              </a:rPr>
              <a:t>字符，或者</a:t>
            </a:r>
            <a:r>
              <a:rPr lang="en-US" altLang="zh-CN">
                <a:ea typeface="宋体" charset="0"/>
              </a:rPr>
              <a:t>0~255</a:t>
            </a:r>
            <a:r>
              <a:rPr lang="zh-CN" altLang="en-US">
                <a:ea typeface="宋体" charset="0"/>
              </a:rPr>
              <a:t>的整数</a:t>
            </a:r>
            <a:endParaRPr lang="en-US" altLang="zh-CN">
              <a:solidFill>
                <a:srgbClr val="0000FF"/>
              </a:solidFill>
              <a:latin typeface="Courier New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E28EE-00F4-0542-A639-5756701945F5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97800" cy="839787"/>
          </a:xfrm>
        </p:spPr>
        <p:txBody>
          <a:bodyPr/>
          <a:lstStyle/>
          <a:p>
            <a:r>
              <a:rPr lang="zh-CN" altLang="en-US"/>
              <a:t>数据类型修饰符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40767"/>
            <a:ext cx="8642350" cy="4967957"/>
          </a:xfrm>
        </p:spPr>
        <p:txBody>
          <a:bodyPr/>
          <a:lstStyle/>
          <a:p>
            <a:r>
              <a:rPr lang="en-US" altLang="zh-CN" sz="2400" dirty="0">
                <a:solidFill>
                  <a:srgbClr val="0000FF"/>
                </a:solidFill>
                <a:latin typeface="Courier New" charset="0"/>
                <a:ea typeface="宋体" charset="0"/>
              </a:rPr>
              <a:t>short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/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short</a:t>
            </a:r>
            <a:r>
              <a:rPr lang="en-US" altLang="zh-CN" dirty="0">
                <a:latin typeface="Courier New" charset="0"/>
                <a:ea typeface="宋体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zh-CN" altLang="en-US" dirty="0">
                <a:ea typeface="宋体" charset="0"/>
              </a:rPr>
              <a:t>，短整数，一般</a:t>
            </a:r>
            <a:r>
              <a:rPr lang="en-US" altLang="zh-CN" dirty="0">
                <a:ea typeface="宋体" charset="0"/>
              </a:rPr>
              <a:t>2</a:t>
            </a:r>
            <a:r>
              <a:rPr lang="zh-CN" altLang="en-US" dirty="0">
                <a:ea typeface="宋体" charset="0"/>
              </a:rPr>
              <a:t>个字节长。通常简写为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short</a:t>
            </a:r>
            <a:endParaRPr lang="en-US" altLang="zh-CN" dirty="0">
              <a:latin typeface="Courier New" charset="0"/>
              <a:ea typeface="宋体" charset="0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/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r>
              <a:rPr lang="en-US" altLang="zh-CN" dirty="0">
                <a:latin typeface="Courier New" charset="0"/>
                <a:ea typeface="宋体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zh-CN" altLang="en-US" dirty="0">
                <a:ea typeface="宋体" charset="0"/>
              </a:rPr>
              <a:t>，长整数，一般是</a:t>
            </a:r>
            <a:r>
              <a:rPr lang="en-US" altLang="zh-CN" dirty="0">
                <a:ea typeface="宋体" charset="0"/>
              </a:rPr>
              <a:t>4</a:t>
            </a:r>
            <a:r>
              <a:rPr lang="zh-CN" altLang="en-US" dirty="0">
                <a:ea typeface="宋体" charset="0"/>
              </a:rPr>
              <a:t>个字节长。通常简写为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endParaRPr lang="zh-CN" altLang="en-US" dirty="0">
              <a:ea typeface="宋体" charset="0"/>
            </a:endParaRPr>
          </a:p>
          <a:p>
            <a:pPr lvl="1"/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r>
              <a:rPr lang="en-US" altLang="zh-CN" dirty="0">
                <a:latin typeface="Courier New" charset="0"/>
                <a:ea typeface="宋体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double</a:t>
            </a:r>
            <a:r>
              <a:rPr lang="zh-CN" altLang="en-US" dirty="0">
                <a:ea typeface="宋体" charset="0"/>
              </a:rPr>
              <a:t>，长双精度（高精度）浮点数，一般是</a:t>
            </a:r>
            <a:r>
              <a:rPr lang="en-US" altLang="zh-CN" dirty="0">
                <a:ea typeface="宋体" charset="0"/>
              </a:rPr>
              <a:t>10</a:t>
            </a:r>
            <a:r>
              <a:rPr lang="zh-CN" altLang="en-US" dirty="0">
                <a:ea typeface="宋体" charset="0"/>
              </a:rPr>
              <a:t>个字节长。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Courier New" charset="0"/>
                <a:ea typeface="宋体" charset="0"/>
              </a:rPr>
              <a:t>signed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/>
            <a:r>
              <a:rPr lang="zh-CN" altLang="en-US" dirty="0">
                <a:ea typeface="宋体" charset="0"/>
              </a:rPr>
              <a:t>用来修饰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char</a:t>
            </a:r>
            <a:r>
              <a:rPr lang="zh-CN" altLang="en-US" dirty="0">
                <a:latin typeface="Courier New" charset="0"/>
                <a:ea typeface="宋体" charset="0"/>
              </a:rPr>
              <a:t>、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zh-CN" altLang="en-US" dirty="0">
                <a:latin typeface="Courier New" charset="0"/>
                <a:ea typeface="宋体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short</a:t>
            </a:r>
            <a:r>
              <a:rPr lang="zh-CN" altLang="en-US" dirty="0">
                <a:latin typeface="Courier New" charset="0"/>
                <a:ea typeface="宋体" charset="0"/>
              </a:rPr>
              <a:t>和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r>
              <a:rPr lang="zh-CN" altLang="en-US" dirty="0">
                <a:ea typeface="宋体" charset="0"/>
              </a:rPr>
              <a:t>，说明他们是</a:t>
            </a: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有符号</a:t>
            </a:r>
            <a:r>
              <a:rPr lang="zh-CN" altLang="en-US" dirty="0">
                <a:ea typeface="宋体" charset="0"/>
              </a:rPr>
              <a:t>的整数（正整数、</a:t>
            </a:r>
            <a:r>
              <a:rPr lang="en-US" altLang="zh-CN" dirty="0">
                <a:ea typeface="宋体" charset="0"/>
              </a:rPr>
              <a:t>0</a:t>
            </a:r>
            <a:r>
              <a:rPr lang="zh-CN" altLang="en-US" dirty="0">
                <a:ea typeface="宋体" charset="0"/>
              </a:rPr>
              <a:t>和负整数）。一般缺省都是有符号的，所以这个修饰符通常省略</a:t>
            </a:r>
            <a:endParaRPr lang="en-US" altLang="zh-CN" dirty="0">
              <a:ea typeface="宋体" charset="0"/>
            </a:endParaRPr>
          </a:p>
          <a:p>
            <a:r>
              <a:rPr lang="en-US" altLang="zh-CN" sz="2400" dirty="0">
                <a:solidFill>
                  <a:srgbClr val="0000FF"/>
                </a:solidFill>
                <a:latin typeface="Courier New" charset="0"/>
                <a:ea typeface="宋体" charset="0"/>
              </a:rPr>
              <a:t>unsigned</a:t>
            </a:r>
          </a:p>
          <a:p>
            <a:pPr lvl="1"/>
            <a:r>
              <a:rPr lang="zh-CN" altLang="en-US" dirty="0">
                <a:ea typeface="宋体" charset="0"/>
              </a:rPr>
              <a:t>用来修饰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char</a:t>
            </a:r>
            <a:r>
              <a:rPr lang="zh-CN" altLang="en-US" dirty="0">
                <a:latin typeface="Courier New" charset="0"/>
                <a:ea typeface="宋体" charset="0"/>
              </a:rPr>
              <a:t>、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zh-CN" altLang="en-US" dirty="0">
                <a:latin typeface="Courier New" charset="0"/>
                <a:ea typeface="宋体" charset="0"/>
              </a:rPr>
              <a:t>、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short</a:t>
            </a:r>
            <a:r>
              <a:rPr lang="zh-CN" altLang="en-US" dirty="0">
                <a:latin typeface="Courier New" charset="0"/>
                <a:ea typeface="宋体" charset="0"/>
              </a:rPr>
              <a:t>和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r>
              <a:rPr lang="zh-CN" altLang="en-US" dirty="0">
                <a:ea typeface="宋体" charset="0"/>
              </a:rPr>
              <a:t>，说明他们是</a:t>
            </a: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无符号</a:t>
            </a:r>
            <a:r>
              <a:rPr lang="zh-CN" altLang="en-US" dirty="0">
                <a:ea typeface="宋体" charset="0"/>
              </a:rPr>
              <a:t>的整数（正整数和</a:t>
            </a:r>
            <a:r>
              <a:rPr lang="en-US" altLang="zh-CN" dirty="0">
                <a:ea typeface="宋体" charset="0"/>
              </a:rPr>
              <a:t>0</a:t>
            </a:r>
            <a:r>
              <a:rPr lang="zh-CN" altLang="en-US" dirty="0">
                <a:ea typeface="宋体" charset="0"/>
              </a:rPr>
              <a:t>）</a:t>
            </a:r>
            <a:endParaRPr lang="en-US" altLang="zh-CN" dirty="0"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A8D4-2396-5841-95C3-F656CDAE6C4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AB6A3-EFE9-5A4E-9143-CB16C15BFA0F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Group 2"/>
          <p:cNvGraphicFramePr>
            <a:graphicFrameLocks/>
          </p:cNvGraphicFramePr>
          <p:nvPr/>
        </p:nvGraphicFramePr>
        <p:xfrm>
          <a:off x="611188" y="765175"/>
          <a:ext cx="7772400" cy="5943600"/>
        </p:xfrm>
        <a:graphic>
          <a:graphicData uri="http://schemas.openxmlformats.org/drawingml/2006/table">
            <a:tbl>
              <a:tblPr/>
              <a:tblGrid>
                <a:gridCol w="2592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类型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长度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字节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取值范围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char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-128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127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[signed] char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-128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127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unsigned char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255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int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charset="0"/>
                        <a:ea typeface="宋体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-2147483648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2147483647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[signed] int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-2147483648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2147483647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unsigned [int]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4294967295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short int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-32768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32767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unsigned short [int]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0-65535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long int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-2147483648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2147483647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[signed] long [int]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-2147483648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2147483647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unsigned long [int]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0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4294967295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float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-3.4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0"/>
                          <a:ea typeface="宋体" charset="0"/>
                        </a:rPr>
                        <a:t>×10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38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3.4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0"/>
                          <a:ea typeface="宋体" charset="0"/>
                        </a:rPr>
                        <a:t>×10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38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7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double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-1.7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0"/>
                          <a:ea typeface="宋体" charset="0"/>
                        </a:rPr>
                        <a:t>×10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308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1.7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0"/>
                          <a:ea typeface="宋体" charset="0"/>
                        </a:rPr>
                        <a:t>×10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308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5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long double</a:t>
                      </a: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charset="0"/>
                          <a:ea typeface="宋体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-1.7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宋体" charset="0"/>
                          <a:ea typeface="宋体" charset="0"/>
                        </a:rPr>
                        <a:t>×10</a:t>
                      </a:r>
                      <a:r>
                        <a:rPr kumimoji="1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308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1.7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宋体" charset="0"/>
                          <a:ea typeface="宋体" charset="0"/>
                        </a:rPr>
                        <a:t>×10</a:t>
                      </a:r>
                      <a:r>
                        <a:rPr kumimoji="1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308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Rectangle 69"/>
          <p:cNvSpPr>
            <a:spLocks noChangeArrowheads="1"/>
          </p:cNvSpPr>
          <p:nvPr/>
        </p:nvSpPr>
        <p:spPr bwMode="auto">
          <a:xfrm>
            <a:off x="2195513" y="260350"/>
            <a:ext cx="4186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VC++ 6.0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数据类型和取值范围</a:t>
            </a:r>
          </a:p>
        </p:txBody>
      </p:sp>
    </p:spTree>
    <p:extLst>
      <p:ext uri="{BB962C8B-B14F-4D97-AF65-F5344CB8AC3E}">
        <p14:creationId xmlns:p14="http://schemas.microsoft.com/office/powerpoint/2010/main" val="40040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527621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何谓类型溢出</a:t>
            </a:r>
            <a:r>
              <a:rPr lang="zh-CN" altLang="en-US" i="0"/>
              <a:t>（</a:t>
            </a:r>
            <a:r>
              <a:rPr lang="en-US" altLang="zh-CN" dirty="0"/>
              <a:t>Overflow</a:t>
            </a:r>
            <a:r>
              <a:rPr lang="zh-CN" altLang="en-US" i="0" dirty="0"/>
              <a:t>）？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844823"/>
            <a:ext cx="7989888" cy="3963839"/>
          </a:xfrm>
        </p:spPr>
        <p:txBody>
          <a:bodyPr/>
          <a:lstStyle/>
          <a:p>
            <a:r>
              <a:rPr lang="en-US" altLang="zh-CN" dirty="0">
                <a:ea typeface="宋体" charset="0"/>
              </a:rPr>
              <a:t>C</a:t>
            </a:r>
            <a:r>
              <a:rPr lang="zh-CN" altLang="en-US" dirty="0">
                <a:ea typeface="宋体" charset="0"/>
              </a:rPr>
              <a:t>语言直接提供的任何类型都有</a:t>
            </a: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取值范围</a:t>
            </a:r>
            <a:r>
              <a:rPr lang="zh-CN" altLang="en-US" dirty="0">
                <a:ea typeface="宋体" charset="0"/>
              </a:rPr>
              <a:t>。当向其赋</a:t>
            </a: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超过此范围</a:t>
            </a:r>
            <a:r>
              <a:rPr lang="zh-CN" altLang="en-US" dirty="0">
                <a:ea typeface="宋体" charset="0"/>
              </a:rPr>
              <a:t>的数值，就会产生数值</a:t>
            </a: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溢出</a:t>
            </a:r>
            <a:r>
              <a:rPr lang="zh-CN" altLang="en-US" dirty="0">
                <a:ea typeface="宋体" charset="0"/>
              </a:rPr>
              <a:t>，得到一个不正确的结果。</a:t>
            </a:r>
            <a:endParaRPr lang="en-US" altLang="zh-CN" dirty="0">
              <a:ea typeface="宋体" charset="0"/>
            </a:endParaRPr>
          </a:p>
          <a:p>
            <a:r>
              <a:rPr lang="en-US" altLang="zh-CN" dirty="0">
                <a:ea typeface="宋体" charset="0"/>
              </a:rPr>
              <a:t>TC2</a:t>
            </a:r>
            <a:r>
              <a:rPr lang="zh-CN" altLang="en-US" dirty="0">
                <a:ea typeface="宋体" charset="0"/>
              </a:rPr>
              <a:t>中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zh-CN" altLang="en-US" dirty="0">
                <a:ea typeface="宋体" charset="0"/>
              </a:rPr>
              <a:t>的范围是</a:t>
            </a:r>
            <a:r>
              <a:rPr lang="en-US" altLang="zh-CN" dirty="0">
                <a:ea typeface="宋体" charset="0"/>
              </a:rPr>
              <a:t>-32768~32767</a:t>
            </a:r>
            <a:endParaRPr lang="zh-CN" altLang="en-US" dirty="0">
              <a:ea typeface="宋体" charset="0"/>
            </a:endParaRPr>
          </a:p>
          <a:p>
            <a:r>
              <a:rPr lang="zh-CN" altLang="en-US" dirty="0">
                <a:solidFill>
                  <a:schemeClr val="accent2"/>
                </a:solidFill>
                <a:ea typeface="宋体" charset="0"/>
              </a:rPr>
              <a:t>溢出的现象与危害</a:t>
            </a:r>
            <a:endParaRPr lang="en-US" altLang="zh-CN" dirty="0">
              <a:ea typeface="宋体" charset="0"/>
            </a:endParaRPr>
          </a:p>
        </p:txBody>
      </p:sp>
      <p:pic>
        <p:nvPicPr>
          <p:cNvPr id="80901" name="Picture 5" descr="j0078622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248150"/>
            <a:ext cx="1125537" cy="242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7" name="Picture 11" descr="j02152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84888" y="3862388"/>
            <a:ext cx="2192337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17" name="Picture 21" descr="j0126395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4888" y="5375275"/>
            <a:ext cx="2052637" cy="90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19" name="AutoShape 23"/>
          <p:cNvSpPr>
            <a:spLocks noChangeArrowheads="1"/>
          </p:cNvSpPr>
          <p:nvPr/>
        </p:nvSpPr>
        <p:spPr bwMode="auto">
          <a:xfrm>
            <a:off x="2268538" y="3960813"/>
            <a:ext cx="2663825" cy="1152525"/>
          </a:xfrm>
          <a:prstGeom prst="cloudCallout">
            <a:avLst>
              <a:gd name="adj1" fmla="val -86176"/>
              <a:gd name="adj2" fmla="val -551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小蛇能吞下大象吗？</a:t>
            </a:r>
          </a:p>
        </p:txBody>
      </p:sp>
      <p:sp>
        <p:nvSpPr>
          <p:cNvPr id="80920" name="Text Box 24"/>
          <p:cNvSpPr txBox="1">
            <a:spLocks noChangeArrowheads="1"/>
          </p:cNvSpPr>
          <p:nvPr/>
        </p:nvSpPr>
        <p:spPr bwMode="auto">
          <a:xfrm>
            <a:off x="6300788" y="6302375"/>
            <a:ext cx="2087562" cy="4397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7" rIns="92075" bIns="46037">
            <a:spAutoFit/>
          </a:bodyPr>
          <a:lstStyle/>
          <a:p>
            <a:pPr marL="374650" indent="-374650">
              <a:spcBef>
                <a:spcPct val="50000"/>
              </a:spcBef>
              <a:buFont typeface="Monotype Sorts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typeoverflow.c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2CA4-0562-F040-9D59-3DF4330EAD0F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809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200" fill="hold"/>
                                        <p:tgtEl>
                                          <p:spTgt spid="80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200" fill="hold"/>
                                        <p:tgtEl>
                                          <p:spTgt spid="80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0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0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70" decel="1000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770" decel="100000"/>
                                        <p:tgtEl>
                                          <p:spTgt spid="8090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6" dur="77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8" dur="77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  <p:bldP spid="809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335B6-8B3E-8E48-8C9C-351EB19E64D4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740420" y="1196752"/>
            <a:ext cx="7720012" cy="4344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0" lang="zh-CN" altLang="en-US" dirty="0">
                <a:latin typeface="Arial" charset="0"/>
                <a:ea typeface="宋体" charset="0"/>
              </a:rPr>
              <a:t>一台安装了</a:t>
            </a:r>
            <a:r>
              <a:rPr kumimoji="0" lang="en-US" altLang="zh-CN" dirty="0">
                <a:latin typeface="Arial" charset="0"/>
                <a:ea typeface="宋体" charset="0"/>
              </a:rPr>
              <a:t>Windows 95/98</a:t>
            </a:r>
            <a:r>
              <a:rPr kumimoji="0" lang="zh-CN" altLang="en-US" dirty="0">
                <a:latin typeface="Arial" charset="0"/>
                <a:ea typeface="宋体" charset="0"/>
              </a:rPr>
              <a:t>的机器，如果连续运行</a:t>
            </a:r>
            <a:r>
              <a:rPr kumimoji="0" lang="en-US" altLang="zh-CN" dirty="0">
                <a:solidFill>
                  <a:srgbClr val="FF0000"/>
                </a:solidFill>
                <a:latin typeface="Arial" charset="0"/>
                <a:ea typeface="宋体" charset="0"/>
              </a:rPr>
              <a:t>49.7</a:t>
            </a:r>
            <a:r>
              <a:rPr kumimoji="0" lang="zh-CN" altLang="en-US" dirty="0">
                <a:latin typeface="Arial" charset="0"/>
                <a:ea typeface="宋体" charset="0"/>
              </a:rPr>
              <a:t>天没有重新启动，可能死机 </a:t>
            </a:r>
          </a:p>
          <a:p>
            <a:r>
              <a:rPr kumimoji="0" lang="zh-CN" altLang="en-US" dirty="0">
                <a:latin typeface="Arial" charset="0"/>
                <a:ea typeface="宋体" charset="0"/>
              </a:rPr>
              <a:t>原因：</a:t>
            </a:r>
          </a:p>
          <a:p>
            <a:pPr lvl="1"/>
            <a:r>
              <a:rPr kumimoji="0" lang="en-US" altLang="zh-CN" dirty="0">
                <a:latin typeface="宋体" charset="0"/>
                <a:ea typeface="宋体" charset="0"/>
              </a:rPr>
              <a:t>Windows</a:t>
            </a:r>
            <a:r>
              <a:rPr kumimoji="0" lang="zh-CN" altLang="en-US" dirty="0">
                <a:latin typeface="宋体" charset="0"/>
                <a:ea typeface="宋体" charset="0"/>
              </a:rPr>
              <a:t>自启动时刻起，有一个计数器，记录系统已经运行了多少毫秒。这个计数器是个</a:t>
            </a:r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unsigned long (4</a:t>
            </a:r>
            <a:r>
              <a:rPr kumimoji="0" lang="zh-CN" altLang="en-US" dirty="0">
                <a:solidFill>
                  <a:srgbClr val="0000FF"/>
                </a:solidFill>
                <a:latin typeface="Arial" charset="0"/>
                <a:ea typeface="宋体" charset="0"/>
              </a:rPr>
              <a:t>字节</a:t>
            </a:r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)</a:t>
            </a:r>
            <a:r>
              <a:rPr kumimoji="0" lang="zh-CN" altLang="en-US" dirty="0">
                <a:latin typeface="宋体" charset="0"/>
                <a:ea typeface="宋体" charset="0"/>
              </a:rPr>
              <a:t>类型的变量</a:t>
            </a:r>
          </a:p>
          <a:p>
            <a:pPr lvl="1"/>
            <a:r>
              <a:rPr kumimoji="0" lang="en-US" altLang="zh-CN" dirty="0">
                <a:solidFill>
                  <a:srgbClr val="0000FF"/>
                </a:solidFill>
                <a:latin typeface="Arial" charset="0"/>
                <a:ea typeface="宋体" charset="0"/>
              </a:rPr>
              <a:t>unsigned long</a:t>
            </a:r>
            <a:r>
              <a:rPr kumimoji="0" lang="zh-CN" altLang="en-US" dirty="0">
                <a:latin typeface="宋体" charset="0"/>
                <a:ea typeface="宋体" charset="0"/>
              </a:rPr>
              <a:t>的最大值是：</a:t>
            </a:r>
            <a:r>
              <a:rPr kumimoji="0" lang="en-US" altLang="zh-CN" dirty="0">
                <a:latin typeface="宋体" charset="0"/>
                <a:ea typeface="宋体" charset="0"/>
              </a:rPr>
              <a:t>4294967295</a:t>
            </a:r>
          </a:p>
          <a:p>
            <a:pPr lvl="1"/>
            <a:r>
              <a:rPr kumimoji="0" lang="zh-CN" altLang="en-US" dirty="0">
                <a:latin typeface="宋体" charset="0"/>
                <a:ea typeface="宋体" charset="0"/>
              </a:rPr>
              <a:t>一天有 </a:t>
            </a:r>
            <a:r>
              <a:rPr kumimoji="0" lang="en-US" altLang="zh-CN" dirty="0">
                <a:latin typeface="宋体" charset="0"/>
                <a:ea typeface="宋体" charset="0"/>
              </a:rPr>
              <a:t>24*60*60*1000 = 86400000</a:t>
            </a:r>
            <a:r>
              <a:rPr kumimoji="0" lang="zh-CN" altLang="en-US" dirty="0">
                <a:latin typeface="宋体" charset="0"/>
                <a:ea typeface="宋体" charset="0"/>
              </a:rPr>
              <a:t>毫秒</a:t>
            </a:r>
          </a:p>
          <a:p>
            <a:pPr lvl="1"/>
            <a:r>
              <a:rPr kumimoji="0" lang="en-US" altLang="zh-CN" dirty="0">
                <a:latin typeface="宋体" charset="0"/>
                <a:ea typeface="宋体" charset="0"/>
              </a:rPr>
              <a:t>4294967295 / 86400000 = 49.71026961805……</a:t>
            </a:r>
          </a:p>
          <a:p>
            <a:pPr lvl="1"/>
            <a:r>
              <a:rPr kumimoji="0" lang="zh-CN" altLang="en-US" dirty="0">
                <a:latin typeface="宋体" charset="0"/>
                <a:ea typeface="宋体" charset="0"/>
              </a:rPr>
              <a:t>当</a:t>
            </a:r>
            <a:r>
              <a:rPr kumimoji="0" lang="en-US" altLang="zh-CN" dirty="0">
                <a:latin typeface="宋体" charset="0"/>
                <a:ea typeface="宋体" charset="0"/>
              </a:rPr>
              <a:t>49.7</a:t>
            </a:r>
            <a:r>
              <a:rPr kumimoji="0" lang="zh-CN" altLang="en-US" dirty="0">
                <a:latin typeface="宋体" charset="0"/>
                <a:ea typeface="宋体" charset="0"/>
              </a:rPr>
              <a:t>天的时候，此计数器会溢出，引起死机</a:t>
            </a:r>
          </a:p>
        </p:txBody>
      </p:sp>
    </p:spTree>
    <p:extLst>
      <p:ext uri="{BB962C8B-B14F-4D97-AF65-F5344CB8AC3E}">
        <p14:creationId xmlns:p14="http://schemas.microsoft.com/office/powerpoint/2010/main" val="121975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072160"/>
          </a:xfrm>
        </p:spPr>
        <p:txBody>
          <a:bodyPr/>
          <a:lstStyle/>
          <a:p>
            <a:r>
              <a:rPr lang="zh-CN" altLang="en-US"/>
              <a:t>类型溢出的解决方案</a:t>
            </a:r>
            <a:r>
              <a:rPr lang="zh-CN" altLang="en-US" i="0"/>
              <a:t>？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844823"/>
            <a:ext cx="8134350" cy="4463901"/>
          </a:xfrm>
        </p:spPr>
        <p:txBody>
          <a:bodyPr/>
          <a:lstStyle/>
          <a:p>
            <a:r>
              <a:rPr lang="zh-CN" altLang="en-US" dirty="0">
                <a:solidFill>
                  <a:schemeClr val="accent2"/>
                </a:solidFill>
                <a:ea typeface="宋体" charset="0"/>
              </a:rPr>
              <a:t>解决方案：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预先估算</a:t>
            </a:r>
            <a:r>
              <a:rPr lang="zh-CN" altLang="en-US" dirty="0">
                <a:ea typeface="宋体" charset="0"/>
              </a:rPr>
              <a:t>运算结果的可能范围，采用</a:t>
            </a: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取值范围更大</a:t>
            </a:r>
            <a:r>
              <a:rPr lang="zh-CN" altLang="en-US" dirty="0">
                <a:ea typeface="宋体" charset="0"/>
              </a:rPr>
              <a:t>的类型。</a:t>
            </a:r>
          </a:p>
          <a:p>
            <a:pPr lvl="2"/>
            <a:r>
              <a:rPr lang="en-US" altLang="zh-CN" dirty="0">
                <a:ea typeface="宋体" charset="0"/>
              </a:rPr>
              <a:t>1+2+3+…</a:t>
            </a:r>
          </a:p>
          <a:p>
            <a:pPr lvl="2"/>
            <a:r>
              <a:rPr lang="en-US" altLang="zh-CN" dirty="0">
                <a:ea typeface="宋体" charset="0"/>
              </a:rPr>
              <a:t>1!+2!+3!+…</a:t>
            </a:r>
          </a:p>
          <a:p>
            <a:pPr lvl="2"/>
            <a:r>
              <a:rPr lang="en-US" altLang="zh-CN" dirty="0">
                <a:ea typeface="宋体" charset="0"/>
              </a:rPr>
              <a:t>1</a:t>
            </a:r>
            <a:r>
              <a:rPr lang="en-US" altLang="zh-CN" baseline="30000" dirty="0">
                <a:ea typeface="宋体" charset="0"/>
              </a:rPr>
              <a:t>3</a:t>
            </a:r>
            <a:r>
              <a:rPr lang="en-US" altLang="zh-CN" dirty="0">
                <a:ea typeface="宋体" charset="0"/>
              </a:rPr>
              <a:t>+2</a:t>
            </a:r>
            <a:r>
              <a:rPr lang="en-US" altLang="zh-CN" baseline="30000" dirty="0">
                <a:ea typeface="宋体" charset="0"/>
              </a:rPr>
              <a:t>3</a:t>
            </a:r>
            <a:r>
              <a:rPr lang="en-US" altLang="zh-CN" dirty="0">
                <a:ea typeface="宋体" charset="0"/>
              </a:rPr>
              <a:t>+3</a:t>
            </a:r>
            <a:r>
              <a:rPr lang="en-US" altLang="zh-CN" baseline="30000" dirty="0">
                <a:ea typeface="宋体" charset="0"/>
              </a:rPr>
              <a:t>3</a:t>
            </a:r>
            <a:r>
              <a:rPr lang="en-US" altLang="zh-CN" dirty="0">
                <a:ea typeface="宋体" charset="0"/>
              </a:rPr>
              <a:t>+…</a:t>
            </a:r>
          </a:p>
          <a:p>
            <a:pPr lvl="1"/>
            <a:r>
              <a:rPr lang="zh-CN" altLang="en-US" dirty="0">
                <a:ea typeface="宋体" charset="0"/>
              </a:rPr>
              <a:t>如果不需要处理负数，则采用无符号类型。</a:t>
            </a:r>
          </a:p>
          <a:p>
            <a:pPr lvl="1"/>
            <a:r>
              <a:rPr lang="zh-CN" altLang="en-US" dirty="0">
                <a:ea typeface="宋体" charset="0"/>
              </a:rPr>
              <a:t>在运算还没开始之前就判断运算数是否在合理的取值范围内。如果超出，则停止运算，转错误处理。</a:t>
            </a:r>
          </a:p>
          <a:p>
            <a:pPr lvl="1"/>
            <a:endParaRPr lang="zh-CN" altLang="en-US" dirty="0">
              <a:solidFill>
                <a:schemeClr val="accent2"/>
              </a:solidFill>
              <a:latin typeface="Courier New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70D6F-641B-484D-B5F5-EA674C97928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92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2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97800" cy="839787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2.3 </a:t>
            </a:r>
            <a:r>
              <a:rPr lang="zh-CN" altLang="en-US" b="1" dirty="0"/>
              <a:t>常量与变量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5239C-916A-C74C-ACF2-5CB6EE88A4AC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8600" y="2321024"/>
            <a:ext cx="89154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3" eaLnBrk="1" hangingPunct="1">
              <a:lnSpc>
                <a:spcPct val="100000"/>
              </a:lnSpc>
              <a:buClr>
                <a:srgbClr val="FF9900"/>
              </a:buClr>
              <a:buSzTx/>
              <a:buFont typeface="Wingdings" charset="2"/>
              <a:buChar char="l"/>
            </a:pPr>
            <a:r>
              <a:rPr lang="zh-CN" altLang="en-US" sz="2800" b="0" dirty="0">
                <a:solidFill>
                  <a:prstClr val="black"/>
                </a:solidFill>
                <a:latin typeface="隶书" charset="0"/>
                <a:ea typeface="隶书" charset="0"/>
              </a:rPr>
              <a:t>直接常量</a:t>
            </a:r>
            <a:r>
              <a:rPr lang="en-US" altLang="zh-CN" sz="2800" b="0" dirty="0">
                <a:solidFill>
                  <a:prstClr val="black"/>
                </a:solidFill>
                <a:latin typeface="隶书" charset="0"/>
                <a:ea typeface="隶书" charset="0"/>
              </a:rPr>
              <a:t>:</a:t>
            </a:r>
            <a:endParaRPr lang="zh-CN" altLang="zh-CN" sz="2800" b="0" dirty="0">
              <a:solidFill>
                <a:prstClr val="black"/>
              </a:solidFill>
              <a:latin typeface="隶书" charset="0"/>
              <a:ea typeface="隶书" charset="0"/>
            </a:endParaRPr>
          </a:p>
          <a:p>
            <a:pPr lvl="4" eaLnBrk="1" hangingPunct="1">
              <a:lnSpc>
                <a:spcPct val="100000"/>
              </a:lnSpc>
              <a:buClr>
                <a:srgbClr val="073E87"/>
              </a:buClr>
              <a:buSzTx/>
              <a:buFont typeface="Wingdings" charset="2"/>
              <a:buChar char="u"/>
            </a:pPr>
            <a:r>
              <a:rPr lang="zh-CN" altLang="en-US" sz="2800" b="0" dirty="0">
                <a:solidFill>
                  <a:prstClr val="black"/>
                </a:solidFill>
                <a:latin typeface="隶书" charset="0"/>
                <a:ea typeface="隶书" charset="0"/>
              </a:rPr>
              <a:t>整型常量   </a:t>
            </a:r>
          </a:p>
          <a:p>
            <a:pPr lvl="4" eaLnBrk="1" hangingPunct="1">
              <a:lnSpc>
                <a:spcPct val="100000"/>
              </a:lnSpc>
              <a:buClr>
                <a:srgbClr val="073E87"/>
              </a:buClr>
              <a:buSzTx/>
              <a:buFont typeface="Wingdings" charset="2"/>
              <a:buChar char="u"/>
            </a:pPr>
            <a:r>
              <a:rPr lang="zh-CN" altLang="en-US" sz="2800" b="0" dirty="0">
                <a:solidFill>
                  <a:prstClr val="black"/>
                </a:solidFill>
                <a:latin typeface="隶书" charset="0"/>
                <a:ea typeface="隶书" charset="0"/>
              </a:rPr>
              <a:t>实型常量   </a:t>
            </a:r>
          </a:p>
          <a:p>
            <a:pPr lvl="4" eaLnBrk="1" hangingPunct="1">
              <a:lnSpc>
                <a:spcPct val="100000"/>
              </a:lnSpc>
              <a:buClr>
                <a:srgbClr val="073E87"/>
              </a:buClr>
              <a:buSzTx/>
              <a:buFont typeface="Wingdings" charset="2"/>
              <a:buChar char="u"/>
            </a:pPr>
            <a:r>
              <a:rPr lang="zh-CN" altLang="en-US" sz="2800" b="0" dirty="0">
                <a:solidFill>
                  <a:prstClr val="black"/>
                </a:solidFill>
                <a:latin typeface="隶书" charset="0"/>
                <a:ea typeface="隶书" charset="0"/>
              </a:rPr>
              <a:t>字符常量  </a:t>
            </a:r>
          </a:p>
          <a:p>
            <a:pPr lvl="4" eaLnBrk="1" hangingPunct="1">
              <a:lnSpc>
                <a:spcPct val="100000"/>
              </a:lnSpc>
              <a:buClr>
                <a:srgbClr val="073E87"/>
              </a:buClr>
              <a:buSzTx/>
              <a:buFont typeface="Wingdings" charset="2"/>
              <a:buChar char="u"/>
            </a:pPr>
            <a:r>
              <a:rPr lang="zh-CN" altLang="en-US" sz="2800" b="0" dirty="0">
                <a:solidFill>
                  <a:prstClr val="black"/>
                </a:solidFill>
                <a:latin typeface="隶书" charset="0"/>
                <a:ea typeface="隶书" charset="0"/>
              </a:rPr>
              <a:t>字符串常量</a:t>
            </a:r>
            <a:endParaRPr lang="en-US" altLang="zh-CN" sz="2800" b="0" dirty="0">
              <a:solidFill>
                <a:prstClr val="black"/>
              </a:solidFill>
              <a:latin typeface="隶书" charset="0"/>
              <a:ea typeface="隶书" charset="0"/>
            </a:endParaRPr>
          </a:p>
          <a:p>
            <a:pPr lvl="4" eaLnBrk="1" hangingPunct="1">
              <a:lnSpc>
                <a:spcPct val="100000"/>
              </a:lnSpc>
              <a:buClr>
                <a:srgbClr val="073E87"/>
              </a:buClr>
              <a:buSzTx/>
              <a:buFont typeface="Wingdings" charset="2"/>
              <a:buChar char="u"/>
            </a:pPr>
            <a:r>
              <a:rPr lang="zh-CN" altLang="en-US" sz="2800" b="0" dirty="0">
                <a:solidFill>
                  <a:prstClr val="black"/>
                </a:solidFill>
                <a:latin typeface="隶书" charset="0"/>
                <a:ea typeface="隶书" charset="0"/>
              </a:rPr>
              <a:t>枚举常量</a:t>
            </a:r>
            <a:endParaRPr lang="en-US" altLang="zh-CN" sz="2800" b="0" dirty="0">
              <a:solidFill>
                <a:prstClr val="black"/>
              </a:solidFill>
              <a:latin typeface="隶书" charset="0"/>
              <a:ea typeface="隶书" charset="0"/>
            </a:endParaRPr>
          </a:p>
          <a:p>
            <a:pPr lvl="3" eaLnBrk="1" hangingPunct="1">
              <a:lnSpc>
                <a:spcPct val="100000"/>
              </a:lnSpc>
              <a:buClr>
                <a:srgbClr val="CC6600"/>
              </a:buClr>
              <a:buSzTx/>
              <a:buFont typeface="Wingdings" charset="2"/>
              <a:buChar char="l"/>
            </a:pPr>
            <a:r>
              <a:rPr lang="zh-CN" altLang="en-US" sz="2800" b="0" dirty="0">
                <a:solidFill>
                  <a:prstClr val="black"/>
                </a:solidFill>
                <a:latin typeface="隶书" charset="0"/>
                <a:ea typeface="隶书" charset="0"/>
              </a:rPr>
              <a:t>宏常量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1412776"/>
            <a:ext cx="8590856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2" eaLnBrk="1" hangingPunct="1">
              <a:lnSpc>
                <a:spcPct val="100000"/>
              </a:lnSpc>
              <a:buClr>
                <a:srgbClr val="FF3300"/>
              </a:buClr>
              <a:buSzTx/>
              <a:buFont typeface="Wingdings" charset="2"/>
              <a:buChar char="v"/>
            </a:pPr>
            <a:r>
              <a:rPr lang="zh-CN" altLang="en-US" b="0">
                <a:solidFill>
                  <a:prstClr val="black"/>
                </a:solidFill>
                <a:latin typeface="隶书" charset="0"/>
                <a:ea typeface="隶书" charset="0"/>
              </a:rPr>
              <a:t>常量的定义</a:t>
            </a:r>
            <a:r>
              <a:rPr lang="zh-CN" altLang="en-US" b="0" dirty="0">
                <a:solidFill>
                  <a:prstClr val="black"/>
                </a:solidFill>
                <a:latin typeface="隶书" charset="0"/>
                <a:ea typeface="隶书" charset="0"/>
              </a:rPr>
              <a:t>：程序运行时其值不能改变的量（即常数）</a:t>
            </a:r>
          </a:p>
          <a:p>
            <a:pPr lvl="2" eaLnBrk="1" hangingPunct="1">
              <a:lnSpc>
                <a:spcPct val="100000"/>
              </a:lnSpc>
              <a:buClr>
                <a:srgbClr val="FF3300"/>
              </a:buClr>
              <a:buSzTx/>
              <a:buFont typeface="Wingdings" charset="2"/>
              <a:buChar char="v"/>
            </a:pPr>
            <a:r>
              <a:rPr lang="zh-CN" altLang="en-US" b="0" dirty="0">
                <a:solidFill>
                  <a:prstClr val="black"/>
                </a:solidFill>
                <a:latin typeface="隶书" charset="0"/>
                <a:ea typeface="隶书" charset="0"/>
              </a:rPr>
              <a:t>分类</a:t>
            </a:r>
            <a:r>
              <a:rPr lang="en-US" altLang="zh-CN" b="0" dirty="0">
                <a:solidFill>
                  <a:prstClr val="black"/>
                </a:solidFill>
                <a:latin typeface="隶书" charset="0"/>
                <a:ea typeface="隶书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22906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611189" y="1412776"/>
            <a:ext cx="7705228" cy="4608512"/>
          </a:xfrm>
        </p:spPr>
        <p:txBody>
          <a:bodyPr/>
          <a:lstStyle/>
          <a:p>
            <a:r>
              <a:rPr lang="zh-CN" altLang="en-US" b="1" dirty="0">
                <a:ea typeface="宋体" charset="0"/>
              </a:rPr>
              <a:t>整型常数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18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-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31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long </a:t>
            </a:r>
            <a:r>
              <a:rPr lang="en-US" altLang="zh-CN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int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型常量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:</a:t>
            </a:r>
            <a:r>
              <a:rPr lang="en-US" altLang="zh-CN" dirty="0">
                <a:ea typeface="宋体" charset="0"/>
              </a:rPr>
              <a:t>   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123l</a:t>
            </a:r>
            <a:r>
              <a:rPr lang="zh-CN" altLang="en-US" dirty="0">
                <a:ea typeface="宋体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123L</a:t>
            </a:r>
            <a:r>
              <a:rPr lang="zh-CN" altLang="en-US" dirty="0">
                <a:ea typeface="宋体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123456l</a:t>
            </a:r>
            <a:r>
              <a:rPr lang="zh-CN" altLang="en-US" dirty="0">
                <a:ea typeface="宋体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123456L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unsigned </a:t>
            </a:r>
            <a:r>
              <a:rPr lang="en-US" altLang="zh-CN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int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型常量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:</a:t>
            </a:r>
            <a:r>
              <a:rPr lang="en-US" altLang="zh-CN" dirty="0">
                <a:ea typeface="宋体" charset="0"/>
              </a:rPr>
              <a:t>      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123u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、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123U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r>
              <a:rPr lang="zh-CN" altLang="en-US" b="1" dirty="0">
                <a:ea typeface="宋体" charset="0"/>
              </a:rPr>
              <a:t>浮点常数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十进制小数形式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:</a:t>
            </a:r>
            <a:r>
              <a:rPr lang="en-US" altLang="zh-CN" dirty="0">
                <a:ea typeface="宋体" charset="0"/>
              </a:rPr>
              <a:t>  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123.45</a:t>
            </a:r>
            <a:r>
              <a:rPr lang="zh-CN" altLang="en-US" dirty="0">
                <a:ea typeface="宋体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456.78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指数形式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:</a:t>
            </a:r>
            <a:r>
              <a:rPr lang="en-US" altLang="zh-CN" dirty="0">
                <a:ea typeface="宋体" charset="0"/>
              </a:rPr>
              <a:t>  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1e-2</a:t>
            </a:r>
            <a:r>
              <a:rPr lang="zh-CN" altLang="en-US" dirty="0">
                <a:ea typeface="宋体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4.5e3  //</a:t>
            </a:r>
            <a:r>
              <a:rPr lang="zh-CN" altLang="en-US" sz="2000" dirty="0">
                <a:solidFill>
                  <a:srgbClr val="FF0000"/>
                </a:solidFill>
                <a:latin typeface="Courier New" charset="0"/>
                <a:ea typeface="宋体" charset="0"/>
              </a:rPr>
              <a:t>用字母</a:t>
            </a:r>
            <a:r>
              <a:rPr lang="en-US" altLang="zh-CN" sz="2000" dirty="0">
                <a:solidFill>
                  <a:srgbClr val="FF0000"/>
                </a:solidFill>
                <a:latin typeface="Courier New" charset="0"/>
                <a:ea typeface="宋体" charset="0"/>
              </a:rPr>
              <a:t>e</a:t>
            </a:r>
            <a:r>
              <a:rPr lang="zh-CN" altLang="en-US" sz="2000" dirty="0">
                <a:solidFill>
                  <a:srgbClr val="FF0000"/>
                </a:solidFill>
                <a:latin typeface="Courier New" charset="0"/>
                <a:ea typeface="宋体" charset="0"/>
              </a:rPr>
              <a:t>或者</a:t>
            </a:r>
            <a:r>
              <a:rPr lang="en-US" altLang="zh-CN" sz="2000" dirty="0">
                <a:solidFill>
                  <a:srgbClr val="FF0000"/>
                </a:solidFill>
                <a:latin typeface="Courier New" charset="0"/>
                <a:ea typeface="宋体" charset="0"/>
              </a:rPr>
              <a:t>E</a:t>
            </a:r>
            <a:r>
              <a:rPr lang="zh-CN" altLang="en-US" sz="2000" dirty="0">
                <a:solidFill>
                  <a:srgbClr val="FF0000"/>
                </a:solidFill>
                <a:latin typeface="Courier New" charset="0"/>
                <a:ea typeface="宋体" charset="0"/>
              </a:rPr>
              <a:t>来代表以</a:t>
            </a:r>
            <a:r>
              <a:rPr lang="en-US" altLang="zh-CN" sz="2000" dirty="0">
                <a:solidFill>
                  <a:srgbClr val="FF0000"/>
                </a:solidFill>
                <a:latin typeface="Courier New" charset="0"/>
                <a:ea typeface="宋体" charset="0"/>
              </a:rPr>
              <a:t>10</a:t>
            </a:r>
            <a:r>
              <a:rPr lang="zh-CN" altLang="en-US" sz="2000" dirty="0">
                <a:solidFill>
                  <a:srgbClr val="FF0000"/>
                </a:solidFill>
                <a:latin typeface="Courier New" charset="0"/>
                <a:ea typeface="宋体" charset="0"/>
              </a:rPr>
              <a:t>为底</a:t>
            </a:r>
          </a:p>
          <a:p>
            <a:pPr lvl="1"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Courier New" charset="0"/>
                <a:ea typeface="宋体" charset="0"/>
              </a:rPr>
              <a:t>                              的指数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float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型常量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:</a:t>
            </a:r>
            <a:r>
              <a:rPr lang="en-US" altLang="zh-CN" dirty="0">
                <a:ea typeface="宋体" charset="0"/>
              </a:rPr>
              <a:t>  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123.45f</a:t>
            </a:r>
            <a:r>
              <a:rPr lang="zh-CN" altLang="en-US" dirty="0">
                <a:ea typeface="宋体" charset="0"/>
              </a:rPr>
              <a:t>、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456.78F</a:t>
            </a:r>
            <a:r>
              <a:rPr lang="zh-CN" altLang="en-US" dirty="0">
                <a:ea typeface="宋体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1e-2f</a:t>
            </a:r>
            <a:r>
              <a:rPr lang="zh-CN" altLang="en-US" dirty="0">
                <a:ea typeface="宋体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4.5e3F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long double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型常量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:</a:t>
            </a:r>
            <a:r>
              <a:rPr lang="en-US" altLang="zh-CN" dirty="0">
                <a:ea typeface="宋体" charset="0"/>
              </a:rPr>
              <a:t>  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123.45l</a:t>
            </a:r>
            <a:r>
              <a:rPr lang="zh-CN" altLang="en-US" dirty="0">
                <a:ea typeface="宋体" charset="0"/>
              </a:rPr>
              <a:t>、 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456.78L</a:t>
            </a:r>
            <a:r>
              <a:rPr lang="zh-CN" altLang="en-US" dirty="0">
                <a:ea typeface="宋体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4.5e3L</a:t>
            </a:r>
          </a:p>
          <a:p>
            <a:pPr lvl="1"/>
            <a:r>
              <a:rPr lang="zh-CN" altLang="en-US" dirty="0">
                <a:ea typeface="宋体" charset="0"/>
              </a:rPr>
              <a:t>缺省为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double</a:t>
            </a:r>
          </a:p>
          <a:p>
            <a:pPr lvl="1"/>
            <a:r>
              <a:rPr lang="zh-CN" altLang="en-US" b="1" dirty="0">
                <a:solidFill>
                  <a:srgbClr val="00B0F0"/>
                </a:solidFill>
                <a:ea typeface="宋体" charset="0"/>
              </a:rPr>
              <a:t>因为字母</a:t>
            </a:r>
            <a:r>
              <a:rPr lang="en-US" altLang="zh-CN" b="1" dirty="0">
                <a:solidFill>
                  <a:srgbClr val="00B0F0"/>
                </a:solidFill>
                <a:ea typeface="宋体" charset="0"/>
              </a:rPr>
              <a:t>l</a:t>
            </a:r>
            <a:r>
              <a:rPr lang="zh-CN" altLang="en-US" b="1" dirty="0">
                <a:solidFill>
                  <a:srgbClr val="00B0F0"/>
                </a:solidFill>
                <a:ea typeface="宋体" charset="0"/>
              </a:rPr>
              <a:t>和数字</a:t>
            </a:r>
            <a:r>
              <a:rPr lang="en-US" altLang="zh-CN" b="1" dirty="0">
                <a:solidFill>
                  <a:srgbClr val="00B0F0"/>
                </a:solidFill>
                <a:ea typeface="宋体" charset="0"/>
              </a:rPr>
              <a:t>1</a:t>
            </a:r>
            <a:r>
              <a:rPr lang="zh-CN" altLang="en-US" b="1" dirty="0">
                <a:solidFill>
                  <a:srgbClr val="00B0F0"/>
                </a:solidFill>
                <a:ea typeface="宋体" charset="0"/>
              </a:rPr>
              <a:t>容易混淆，所以当用</a:t>
            </a:r>
            <a:r>
              <a:rPr lang="en-US" altLang="zh-CN" b="1" dirty="0">
                <a:solidFill>
                  <a:srgbClr val="00B0F0"/>
                </a:solidFill>
                <a:ea typeface="宋体" charset="0"/>
              </a:rPr>
              <a:t>l</a:t>
            </a:r>
            <a:r>
              <a:rPr lang="zh-CN" altLang="en-US" b="1" dirty="0">
                <a:solidFill>
                  <a:srgbClr val="00B0F0"/>
                </a:solidFill>
                <a:ea typeface="宋体" charset="0"/>
              </a:rPr>
              <a:t>做后缀时，常使用大写形式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53C5A-F2D9-414F-B484-513225B5DECD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>
          <a:xfrm>
            <a:off x="710946" y="836712"/>
            <a:ext cx="7772400" cy="4679801"/>
          </a:xfrm>
        </p:spPr>
        <p:txBody>
          <a:bodyPr>
            <a:normAutofit/>
          </a:bodyPr>
          <a:lstStyle/>
          <a:p>
            <a:r>
              <a:rPr lang="zh-CN" altLang="en-US" sz="2400" b="1" dirty="0"/>
              <a:t>八进制与十六进制常数</a:t>
            </a:r>
            <a:endParaRPr lang="en-US" altLang="zh-CN" sz="2400" dirty="0">
              <a:ea typeface="宋体" charset="0"/>
            </a:endParaRPr>
          </a:p>
          <a:p>
            <a:r>
              <a:rPr lang="zh-CN" altLang="en-US" sz="2400" dirty="0">
                <a:ea typeface="宋体" charset="0"/>
              </a:rPr>
              <a:t>以数字“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0</a:t>
            </a:r>
            <a:r>
              <a:rPr lang="zh-CN" altLang="en-US" sz="2400" dirty="0">
                <a:ea typeface="宋体" charset="0"/>
              </a:rPr>
              <a:t>”开始的整型常数是八进制数</a:t>
            </a:r>
          </a:p>
          <a:p>
            <a:pPr lvl="1"/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022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-037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010</a:t>
            </a:r>
            <a:r>
              <a:rPr lang="zh-CN" altLang="en-US" sz="2000" dirty="0">
                <a:ea typeface="宋体" charset="0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10</a:t>
            </a:r>
            <a:r>
              <a:rPr lang="zh-CN" altLang="en-US" sz="2000" dirty="0">
                <a:ea typeface="宋体" charset="0"/>
              </a:rPr>
              <a:t>大小不一样</a:t>
            </a:r>
          </a:p>
          <a:p>
            <a:pPr lvl="1"/>
            <a:r>
              <a:rPr lang="zh-CN" altLang="en-US" sz="2000" dirty="0">
                <a:ea typeface="宋体" charset="0"/>
              </a:rPr>
              <a:t>因为八进制并不常用，所以此种表示法比较少见</a:t>
            </a:r>
          </a:p>
          <a:p>
            <a:pPr lvl="1"/>
            <a:endParaRPr lang="zh-CN" altLang="en-US" sz="2000" dirty="0">
              <a:ea typeface="宋体" charset="0"/>
            </a:endParaRPr>
          </a:p>
          <a:p>
            <a:r>
              <a:rPr lang="zh-CN" altLang="en-US" sz="2400" dirty="0">
                <a:ea typeface="宋体" charset="0"/>
              </a:rPr>
              <a:t>以“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0x</a:t>
            </a:r>
            <a:r>
              <a:rPr lang="zh-CN" altLang="en-US" sz="2400" dirty="0">
                <a:ea typeface="宋体" charset="0"/>
              </a:rPr>
              <a:t>”或者“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0X</a:t>
            </a:r>
            <a:r>
              <a:rPr lang="zh-CN" altLang="en-US" sz="2400" dirty="0">
                <a:ea typeface="宋体" charset="0"/>
              </a:rPr>
              <a:t>”开始的整型常数是十六进制</a:t>
            </a:r>
          </a:p>
          <a:p>
            <a:pPr lvl="1"/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A~F</a:t>
            </a:r>
            <a:r>
              <a:rPr lang="zh-CN" altLang="en-US" sz="2000" dirty="0">
                <a:ea typeface="宋体" charset="0"/>
              </a:rPr>
              <a:t>和</a:t>
            </a:r>
            <a:r>
              <a:rPr lang="en-US" altLang="zh-CN" sz="20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a~f</a:t>
            </a:r>
            <a:r>
              <a:rPr lang="zh-CN" altLang="en-US" sz="2000" dirty="0">
                <a:ea typeface="宋体" charset="0"/>
              </a:rPr>
              <a:t>用来表示十进制的</a:t>
            </a:r>
            <a:r>
              <a:rPr lang="en-US" altLang="zh-CN" sz="2000" dirty="0">
                <a:ea typeface="宋体" charset="0"/>
              </a:rPr>
              <a:t>10~15</a:t>
            </a:r>
          </a:p>
          <a:p>
            <a:pPr lvl="1"/>
            <a:r>
              <a:rPr lang="zh-CN" altLang="en-US" sz="2000" dirty="0">
                <a:ea typeface="宋体" charset="0"/>
              </a:rPr>
              <a:t>十六进制的形式比较常用</a:t>
            </a:r>
          </a:p>
          <a:p>
            <a:pPr lvl="1"/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0x12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-0x1F, -0x1f</a:t>
            </a:r>
            <a:endParaRPr lang="en-US" altLang="zh-CN" sz="20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F14FC-5930-E54C-8CB8-E6676EA1843C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142875"/>
            <a:ext cx="7797800" cy="83978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字符（</a:t>
            </a:r>
            <a:r>
              <a:rPr lang="en-US" altLang="zh-CN" dirty="0"/>
              <a:t>Character</a:t>
            </a:r>
            <a:r>
              <a:rPr lang="zh-CN" altLang="en-US" dirty="0"/>
              <a:t>）常数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idx="1"/>
          </p:nvPr>
        </p:nvSpPr>
        <p:spPr>
          <a:xfrm>
            <a:off x="571499" y="1412776"/>
            <a:ext cx="7911847" cy="4556224"/>
          </a:xfrm>
        </p:spPr>
        <p:txBody>
          <a:bodyPr>
            <a:noAutofit/>
          </a:bodyPr>
          <a:lstStyle/>
          <a:p>
            <a:r>
              <a:rPr lang="zh-CN" altLang="en-US" sz="2800" dirty="0">
                <a:ea typeface="宋体" charset="0"/>
              </a:rPr>
              <a:t>字符常数的表示方法</a:t>
            </a:r>
          </a:p>
          <a:p>
            <a:pPr lvl="1"/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’a’</a:t>
            </a:r>
            <a:r>
              <a:rPr lang="zh-CN" altLang="en-US" sz="2400" dirty="0">
                <a:ea typeface="宋体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’A’</a:t>
            </a:r>
            <a:r>
              <a:rPr lang="zh-CN" altLang="en-US" sz="2400" dirty="0">
                <a:ea typeface="宋体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’5’</a:t>
            </a:r>
            <a:r>
              <a:rPr lang="zh-CN" altLang="en-US" sz="2400" dirty="0">
                <a:ea typeface="宋体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’%’</a:t>
            </a:r>
            <a:r>
              <a:rPr lang="zh-CN" altLang="en-US" sz="2400" dirty="0">
                <a:ea typeface="宋体" charset="0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’$’……</a:t>
            </a:r>
          </a:p>
          <a:p>
            <a:pPr lvl="1"/>
            <a:r>
              <a:rPr lang="zh-CN" altLang="en-US" sz="2400" dirty="0">
                <a:ea typeface="宋体" charset="0"/>
              </a:rPr>
              <a:t>单引号内只能有一个字符，除非用“</a:t>
            </a: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\</a:t>
            </a:r>
            <a:r>
              <a:rPr lang="zh-CN" altLang="en-US" sz="2400" dirty="0">
                <a:ea typeface="宋体" charset="0"/>
              </a:rPr>
              <a:t>”开头</a:t>
            </a:r>
          </a:p>
          <a:p>
            <a:r>
              <a:rPr lang="zh-CN" altLang="en-US" sz="2800" dirty="0">
                <a:ea typeface="宋体" charset="0"/>
              </a:rPr>
              <a:t>就是一个普通字符，也可以参与各种数学运算</a:t>
            </a:r>
          </a:p>
          <a:p>
            <a:pPr lvl="1"/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每个字符具有一个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0~255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之间的数值，可从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  <a:hlinkClick r:id="rId3" action="ppaction://hlinksldjump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  <a:hlinkClick r:id="rId3" action="ppaction://hlinksldjump"/>
              </a:rPr>
              <a:t>表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查出</a:t>
            </a:r>
            <a:endParaRPr lang="en-US" altLang="zh-CN" sz="24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charset="0"/>
            </a:endParaRPr>
          </a:p>
          <a:p>
            <a:pPr lvl="1"/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注意：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’5’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和整数</a:t>
            </a:r>
            <a:r>
              <a:rPr lang="en-US" altLang="zh-CN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的区别</a:t>
            </a:r>
          </a:p>
          <a:p>
            <a:pPr lvl="1"/>
            <a:r>
              <a:rPr lang="zh-CN" alt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字符的数学运算在密码学内用得比较多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533B6-9329-0044-AF88-079774FE8A4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Rectangle 47"/>
          <p:cNvSpPr>
            <a:spLocks noChangeArrowheads="1"/>
          </p:cNvSpPr>
          <p:nvPr/>
        </p:nvSpPr>
        <p:spPr bwMode="auto">
          <a:xfrm>
            <a:off x="-239460" y="5085184"/>
            <a:ext cx="86264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2" eaLnBrk="1" hangingPunct="1">
              <a:spcBef>
                <a:spcPct val="20000"/>
              </a:spcBef>
              <a:buClr>
                <a:srgbClr val="FF3300"/>
              </a:buClr>
              <a:buFont typeface="Wingdings" charset="2"/>
              <a:buChar char="v"/>
            </a:pPr>
            <a:r>
              <a:rPr lang="zh-CN" altLang="en-US" dirty="0">
                <a:latin typeface="隶书" charset="0"/>
                <a:ea typeface="隶书" charset="0"/>
              </a:rPr>
              <a:t>字符常量的</a:t>
            </a:r>
            <a:r>
              <a:rPr lang="zh-CN" altLang="en-US" dirty="0">
                <a:solidFill>
                  <a:srgbClr val="FF0000"/>
                </a:solidFill>
                <a:latin typeface="隶书" charset="0"/>
                <a:ea typeface="隶书" charset="0"/>
              </a:rPr>
              <a:t>值</a:t>
            </a:r>
            <a:r>
              <a:rPr lang="zh-CN" altLang="en-US" dirty="0">
                <a:latin typeface="隶书" charset="0"/>
                <a:ea typeface="隶书" charset="0"/>
              </a:rPr>
              <a:t>：该字符的</a:t>
            </a:r>
            <a:r>
              <a:rPr lang="en-US" altLang="zh-CN" dirty="0">
                <a:solidFill>
                  <a:srgbClr val="FF0000"/>
                </a:solidFill>
                <a:latin typeface="隶书" charset="0"/>
                <a:ea typeface="隶书" charset="0"/>
              </a:rPr>
              <a:t>ASCII</a:t>
            </a:r>
            <a:r>
              <a:rPr lang="zh-CN" altLang="en-US" dirty="0">
                <a:solidFill>
                  <a:srgbClr val="FF0000"/>
                </a:solidFill>
                <a:latin typeface="隶书" charset="0"/>
                <a:ea typeface="隶书" charset="0"/>
              </a:rPr>
              <a:t>码值</a:t>
            </a:r>
            <a:r>
              <a:rPr lang="en-US" altLang="zh-CN" sz="1200" dirty="0">
                <a:solidFill>
                  <a:schemeClr val="folHlink"/>
                </a:solidFill>
                <a:latin typeface="隶书" charset="0"/>
                <a:ea typeface="隶书" charset="0"/>
              </a:rPr>
              <a:t>(</a:t>
            </a:r>
            <a:r>
              <a:rPr lang="en-US" altLang="zh-CN" sz="1200" dirty="0">
                <a:solidFill>
                  <a:schemeClr val="folHlink"/>
                </a:solidFill>
                <a:ea typeface="隶书" charset="0"/>
              </a:rPr>
              <a:t>America Standard Code for Information Interchange</a:t>
            </a:r>
            <a:r>
              <a:rPr lang="zh-CN" altLang="en-US" sz="1200" dirty="0">
                <a:solidFill>
                  <a:schemeClr val="folHlink"/>
                </a:solidFill>
                <a:ea typeface="隶书" charset="0"/>
              </a:rPr>
              <a:t>，美国信息交换标准码</a:t>
            </a:r>
            <a:r>
              <a:rPr lang="zh-CN" altLang="en-US" sz="1600" dirty="0">
                <a:solidFill>
                  <a:schemeClr val="folHlink"/>
                </a:solidFill>
                <a:ea typeface="隶书" charset="0"/>
              </a:rPr>
              <a:t> </a:t>
            </a:r>
            <a:r>
              <a:rPr lang="en-US" altLang="zh-CN" sz="1600" dirty="0">
                <a:solidFill>
                  <a:schemeClr val="folHlink"/>
                </a:solidFill>
                <a:ea typeface="隶书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3"/>
            <a:ext cx="7772400" cy="822896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字符常数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619251"/>
            <a:ext cx="8820150" cy="4476749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zh-CN" altLang="en-US" dirty="0">
                <a:ea typeface="宋体" charset="0"/>
              </a:rPr>
              <a:t>转义字符</a:t>
            </a:r>
          </a:p>
          <a:p>
            <a:pPr lvl="1">
              <a:lnSpc>
                <a:spcPct val="85000"/>
              </a:lnSpc>
            </a:pPr>
            <a:r>
              <a:rPr lang="zh-CN" altLang="en-US" dirty="0">
                <a:ea typeface="宋体" charset="0"/>
              </a:rPr>
              <a:t>一些特殊字符（无法从键盘输入或者另有它用）用转义字符表示</a:t>
            </a:r>
          </a:p>
          <a:p>
            <a:pPr lvl="1">
              <a:lnSpc>
                <a:spcPct val="85000"/>
              </a:lnSpc>
            </a:pPr>
            <a:endParaRPr lang="zh-CN" altLang="en-US" dirty="0">
              <a:ea typeface="宋体" charset="0"/>
            </a:endParaRPr>
          </a:p>
          <a:p>
            <a:pPr lvl="1">
              <a:lnSpc>
                <a:spcPct val="85000"/>
              </a:lnSpc>
            </a:pPr>
            <a:endParaRPr lang="zh-CN" altLang="en-US" dirty="0">
              <a:ea typeface="宋体" charset="0"/>
            </a:endParaRPr>
          </a:p>
          <a:p>
            <a:pPr lvl="1">
              <a:lnSpc>
                <a:spcPct val="85000"/>
              </a:lnSpc>
            </a:pPr>
            <a:endParaRPr lang="zh-CN" altLang="en-US" dirty="0">
              <a:ea typeface="宋体" charset="0"/>
            </a:endParaRPr>
          </a:p>
          <a:p>
            <a:pPr lvl="1">
              <a:lnSpc>
                <a:spcPct val="85000"/>
              </a:lnSpc>
            </a:pPr>
            <a:endParaRPr lang="zh-CN" altLang="en-US" dirty="0">
              <a:ea typeface="宋体" charset="0"/>
            </a:endParaRPr>
          </a:p>
          <a:p>
            <a:pPr lvl="1">
              <a:lnSpc>
                <a:spcPct val="85000"/>
              </a:lnSpc>
            </a:pPr>
            <a:endParaRPr lang="zh-CN" altLang="en-US" dirty="0">
              <a:ea typeface="宋体" charset="0"/>
            </a:endParaRPr>
          </a:p>
          <a:p>
            <a:pPr lvl="1">
              <a:lnSpc>
                <a:spcPct val="85000"/>
              </a:lnSpc>
            </a:pPr>
            <a:endParaRPr lang="zh-CN" altLang="en-US" dirty="0">
              <a:ea typeface="宋体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endParaRPr lang="zh-CN" altLang="en-US" dirty="0"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0CBE6-CD84-5D47-814F-4CBF0C529BD9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48" name="Group 50"/>
          <p:cNvGrpSpPr>
            <a:grpSpLocks/>
          </p:cNvGrpSpPr>
          <p:nvPr/>
        </p:nvGrpSpPr>
        <p:grpSpPr bwMode="auto">
          <a:xfrm>
            <a:off x="263525" y="2667000"/>
            <a:ext cx="8651875" cy="3294063"/>
            <a:chOff x="324" y="2508"/>
            <a:chExt cx="5414" cy="2075"/>
          </a:xfrm>
        </p:grpSpPr>
        <p:sp>
          <p:nvSpPr>
            <p:cNvPr id="49" name="Oval 2">
              <a:hlinkClick r:id="rId3" action="ppaction://hlinksldjump" highlightClick="1"/>
            </p:cNvPr>
            <p:cNvSpPr>
              <a:spLocks noChangeArrowheads="1"/>
            </p:cNvSpPr>
            <p:nvPr/>
          </p:nvSpPr>
          <p:spPr bwMode="auto">
            <a:xfrm>
              <a:off x="794" y="3612"/>
              <a:ext cx="336" cy="240"/>
            </a:xfrm>
            <a:prstGeom prst="ellipse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AE6800"/>
                </a:gs>
              </a:gsLst>
              <a:path path="shape">
                <a:fillToRect l="50000" t="50000" r="50000" b="50000"/>
              </a:path>
            </a:gradFill>
            <a:ln w="12700" cap="sq">
              <a:solidFill>
                <a:srgbClr val="5EAE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&lt;</a:t>
              </a:r>
            </a:p>
          </p:txBody>
        </p:sp>
        <p:sp>
          <p:nvSpPr>
            <p:cNvPr id="50" name="Rectangle 6"/>
            <p:cNvSpPr>
              <a:spLocks noChangeArrowheads="1"/>
            </p:cNvSpPr>
            <p:nvPr/>
          </p:nvSpPr>
          <p:spPr bwMode="auto">
            <a:xfrm>
              <a:off x="324" y="2508"/>
              <a:ext cx="5414" cy="2075"/>
            </a:xfrm>
            <a:prstGeom prst="rect">
              <a:avLst/>
            </a:prstGeom>
            <a:solidFill>
              <a:sysClr val="window" lastClr="FFFFFF"/>
            </a:solidFill>
            <a:ln w="38100">
              <a:solidFill>
                <a:srgbClr val="5EAE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grpSp>
          <p:nvGrpSpPr>
            <p:cNvPr id="51" name="Group 45"/>
            <p:cNvGrpSpPr>
              <a:grpSpLocks/>
            </p:cNvGrpSpPr>
            <p:nvPr/>
          </p:nvGrpSpPr>
          <p:grpSpPr bwMode="auto">
            <a:xfrm>
              <a:off x="479" y="2564"/>
              <a:ext cx="5097" cy="2019"/>
              <a:chOff x="333" y="1928"/>
              <a:chExt cx="5097" cy="2019"/>
            </a:xfrm>
          </p:grpSpPr>
          <p:sp>
            <p:nvSpPr>
              <p:cNvPr id="61" name="Text Box 16"/>
              <p:cNvSpPr txBox="1">
                <a:spLocks noChangeArrowheads="1"/>
              </p:cNvSpPr>
              <p:nvPr/>
            </p:nvSpPr>
            <p:spPr bwMode="auto">
              <a:xfrm>
                <a:off x="333" y="1928"/>
                <a:ext cx="751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转义字符</a:t>
                </a:r>
                <a:endParaRPr kumimoji="1" lang="zh-CN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62" name="Text Box 17"/>
              <p:cNvSpPr txBox="1">
                <a:spLocks noChangeArrowheads="1"/>
              </p:cNvSpPr>
              <p:nvPr/>
            </p:nvSpPr>
            <p:spPr bwMode="auto">
              <a:xfrm>
                <a:off x="1677" y="1928"/>
                <a:ext cx="433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含义</a:t>
                </a:r>
                <a:endParaRPr kumimoji="1" lang="zh-CN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63" name="Text Box 18"/>
              <p:cNvSpPr txBox="1">
                <a:spLocks noChangeArrowheads="1"/>
              </p:cNvSpPr>
              <p:nvPr/>
            </p:nvSpPr>
            <p:spPr bwMode="auto">
              <a:xfrm>
                <a:off x="419" y="2227"/>
                <a:ext cx="239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\n</a:t>
                </a:r>
                <a:endPara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64" name="Text Box 19"/>
              <p:cNvSpPr txBox="1">
                <a:spLocks noChangeArrowheads="1"/>
              </p:cNvSpPr>
              <p:nvPr/>
            </p:nvSpPr>
            <p:spPr bwMode="auto">
              <a:xfrm>
                <a:off x="410" y="2521"/>
                <a:ext cx="239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\v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65" name="Text Box 20"/>
              <p:cNvSpPr txBox="1">
                <a:spLocks noChangeArrowheads="1"/>
              </p:cNvSpPr>
              <p:nvPr/>
            </p:nvSpPr>
            <p:spPr bwMode="auto">
              <a:xfrm>
                <a:off x="446" y="2815"/>
                <a:ext cx="212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\r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66" name="Text Box 21"/>
              <p:cNvSpPr txBox="1">
                <a:spLocks noChangeArrowheads="1"/>
              </p:cNvSpPr>
              <p:nvPr/>
            </p:nvSpPr>
            <p:spPr bwMode="auto">
              <a:xfrm>
                <a:off x="427" y="3109"/>
                <a:ext cx="230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\a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67" name="Text Box 22"/>
              <p:cNvSpPr txBox="1">
                <a:spLocks noChangeArrowheads="1"/>
              </p:cNvSpPr>
              <p:nvPr/>
            </p:nvSpPr>
            <p:spPr bwMode="auto">
              <a:xfrm>
                <a:off x="446" y="3359"/>
                <a:ext cx="212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\‘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68" name="Text Box 23"/>
              <p:cNvSpPr txBox="1">
                <a:spLocks noChangeArrowheads="1"/>
              </p:cNvSpPr>
              <p:nvPr/>
            </p:nvSpPr>
            <p:spPr bwMode="auto">
              <a:xfrm>
                <a:off x="419" y="3697"/>
                <a:ext cx="399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\ddd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69" name="Text Box 24"/>
              <p:cNvSpPr txBox="1">
                <a:spLocks noChangeArrowheads="1"/>
              </p:cNvSpPr>
              <p:nvPr/>
            </p:nvSpPr>
            <p:spPr bwMode="auto">
              <a:xfrm>
                <a:off x="2941" y="2184"/>
                <a:ext cx="202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\t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70" name="Text Box 25"/>
              <p:cNvSpPr txBox="1">
                <a:spLocks noChangeArrowheads="1"/>
              </p:cNvSpPr>
              <p:nvPr/>
            </p:nvSpPr>
            <p:spPr bwMode="auto">
              <a:xfrm>
                <a:off x="2942" y="2500"/>
                <a:ext cx="238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\b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71" name="Text Box 26"/>
              <p:cNvSpPr txBox="1">
                <a:spLocks noChangeArrowheads="1"/>
              </p:cNvSpPr>
              <p:nvPr/>
            </p:nvSpPr>
            <p:spPr bwMode="auto">
              <a:xfrm>
                <a:off x="2941" y="2815"/>
                <a:ext cx="211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\f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72" name="Text Box 27"/>
              <p:cNvSpPr txBox="1">
                <a:spLocks noChangeArrowheads="1"/>
              </p:cNvSpPr>
              <p:nvPr/>
            </p:nvSpPr>
            <p:spPr bwMode="auto">
              <a:xfrm>
                <a:off x="2977" y="3109"/>
                <a:ext cx="203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\\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73" name="Text Box 28"/>
              <p:cNvSpPr txBox="1">
                <a:spLocks noChangeArrowheads="1"/>
              </p:cNvSpPr>
              <p:nvPr/>
            </p:nvSpPr>
            <p:spPr bwMode="auto">
              <a:xfrm>
                <a:off x="2977" y="3359"/>
                <a:ext cx="230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\“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74" name="Text Box 29"/>
              <p:cNvSpPr txBox="1">
                <a:spLocks noChangeArrowheads="1"/>
              </p:cNvSpPr>
              <p:nvPr/>
            </p:nvSpPr>
            <p:spPr bwMode="auto">
              <a:xfrm>
                <a:off x="2941" y="3697"/>
                <a:ext cx="397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\xhh</a:t>
                </a:r>
                <a:endParaRPr kumimoji="1" lang="en-US" altLang="zh-CN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75" name="Text Box 30"/>
              <p:cNvSpPr txBox="1">
                <a:spLocks noChangeArrowheads="1"/>
              </p:cNvSpPr>
              <p:nvPr/>
            </p:nvSpPr>
            <p:spPr bwMode="auto">
              <a:xfrm>
                <a:off x="2757" y="1928"/>
                <a:ext cx="751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转义字符</a:t>
                </a:r>
                <a:endParaRPr kumimoji="1" lang="zh-CN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76" name="Text Box 31"/>
              <p:cNvSpPr txBox="1">
                <a:spLocks noChangeArrowheads="1"/>
              </p:cNvSpPr>
              <p:nvPr/>
            </p:nvSpPr>
            <p:spPr bwMode="auto">
              <a:xfrm>
                <a:off x="4140" y="1928"/>
                <a:ext cx="433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含义</a:t>
                </a:r>
                <a:endParaRPr kumimoji="1" lang="zh-CN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77" name="Text Box 32"/>
              <p:cNvSpPr txBox="1">
                <a:spLocks noChangeArrowheads="1"/>
              </p:cNvSpPr>
              <p:nvPr/>
            </p:nvSpPr>
            <p:spPr bwMode="auto">
              <a:xfrm>
                <a:off x="1620" y="2227"/>
                <a:ext cx="434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换行</a:t>
                </a:r>
                <a:endParaRPr kumimoji="1" lang="zh-CN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78" name="Text Box 33"/>
              <p:cNvSpPr txBox="1">
                <a:spLocks noChangeArrowheads="1"/>
              </p:cNvSpPr>
              <p:nvPr/>
            </p:nvSpPr>
            <p:spPr bwMode="auto">
              <a:xfrm>
                <a:off x="1444" y="2500"/>
                <a:ext cx="751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垂直制表</a:t>
                </a:r>
                <a:endParaRPr kumimoji="1" lang="zh-CN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79" name="Text Box 34"/>
              <p:cNvSpPr txBox="1">
                <a:spLocks noChangeArrowheads="1"/>
              </p:cNvSpPr>
              <p:nvPr/>
            </p:nvSpPr>
            <p:spPr bwMode="auto">
              <a:xfrm>
                <a:off x="1620" y="2815"/>
                <a:ext cx="434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回车</a:t>
                </a:r>
                <a:endParaRPr kumimoji="1" lang="zh-CN" altLang="en-US" sz="4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80" name="Text Box 35"/>
              <p:cNvSpPr txBox="1">
                <a:spLocks noChangeArrowheads="1"/>
              </p:cNvSpPr>
              <p:nvPr/>
            </p:nvSpPr>
            <p:spPr bwMode="auto">
              <a:xfrm>
                <a:off x="1620" y="3109"/>
                <a:ext cx="434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响铃</a:t>
                </a:r>
                <a:endParaRPr kumimoji="1" lang="zh-CN" altLang="en-US" sz="4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81" name="Text Box 36"/>
              <p:cNvSpPr txBox="1">
                <a:spLocks noChangeArrowheads="1"/>
              </p:cNvSpPr>
              <p:nvPr/>
            </p:nvSpPr>
            <p:spPr bwMode="auto">
              <a:xfrm>
                <a:off x="1518" y="3359"/>
                <a:ext cx="592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单引号</a:t>
                </a:r>
                <a:endParaRPr kumimoji="1" lang="zh-CN" altLang="en-US" sz="4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82" name="Text Box 37"/>
              <p:cNvSpPr txBox="1">
                <a:spLocks noChangeArrowheads="1"/>
              </p:cNvSpPr>
              <p:nvPr/>
            </p:nvSpPr>
            <p:spPr bwMode="auto">
              <a:xfrm>
                <a:off x="1058" y="3697"/>
                <a:ext cx="1705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3</a:t>
                </a: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位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8</a:t>
                </a: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进制数代表的字符</a:t>
                </a:r>
                <a:endParaRPr kumimoji="1" lang="zh-CN" altLang="en-US" sz="4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83" name="Text Box 38"/>
              <p:cNvSpPr txBox="1">
                <a:spLocks noChangeArrowheads="1"/>
              </p:cNvSpPr>
              <p:nvPr/>
            </p:nvSpPr>
            <p:spPr bwMode="auto">
              <a:xfrm>
                <a:off x="4156" y="2227"/>
                <a:ext cx="751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水平制表</a:t>
                </a:r>
                <a:endParaRPr kumimoji="1" lang="zh-CN" altLang="en-US" sz="4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84" name="Text Box 39"/>
              <p:cNvSpPr txBox="1">
                <a:spLocks noChangeArrowheads="1"/>
              </p:cNvSpPr>
              <p:nvPr/>
            </p:nvSpPr>
            <p:spPr bwMode="auto">
              <a:xfrm>
                <a:off x="4315" y="2500"/>
                <a:ext cx="434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退格</a:t>
                </a:r>
                <a:endParaRPr kumimoji="1" lang="zh-CN" altLang="en-US" sz="4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85" name="Text Box 40"/>
              <p:cNvSpPr txBox="1">
                <a:spLocks noChangeArrowheads="1"/>
              </p:cNvSpPr>
              <p:nvPr/>
            </p:nvSpPr>
            <p:spPr bwMode="auto">
              <a:xfrm>
                <a:off x="4315" y="2815"/>
                <a:ext cx="434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换页</a:t>
                </a:r>
                <a:endParaRPr kumimoji="1" lang="zh-CN" altLang="en-US" sz="4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86" name="Text Box 41"/>
              <p:cNvSpPr txBox="1">
                <a:spLocks noChangeArrowheads="1"/>
              </p:cNvSpPr>
              <p:nvPr/>
            </p:nvSpPr>
            <p:spPr bwMode="auto">
              <a:xfrm>
                <a:off x="4315" y="3109"/>
                <a:ext cx="593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反斜线</a:t>
                </a:r>
                <a:endParaRPr kumimoji="1" lang="zh-CN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87" name="Text Box 42"/>
              <p:cNvSpPr txBox="1">
                <a:spLocks noChangeArrowheads="1"/>
              </p:cNvSpPr>
              <p:nvPr/>
            </p:nvSpPr>
            <p:spPr bwMode="auto">
              <a:xfrm>
                <a:off x="4315" y="3403"/>
                <a:ext cx="593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双引号</a:t>
                </a:r>
                <a:endParaRPr kumimoji="1" lang="zh-CN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88" name="Text Box 43"/>
              <p:cNvSpPr txBox="1">
                <a:spLocks noChangeArrowheads="1"/>
              </p:cNvSpPr>
              <p:nvPr/>
            </p:nvSpPr>
            <p:spPr bwMode="auto">
              <a:xfrm>
                <a:off x="3646" y="3653"/>
                <a:ext cx="1784" cy="25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2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位</a:t>
                </a: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16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进制数代表的字符</a:t>
                </a:r>
                <a:endParaRPr kumimoji="1" lang="zh-CN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</p:grpSp>
        <p:sp>
          <p:nvSpPr>
            <p:cNvPr id="52" name="Line 7"/>
            <p:cNvSpPr>
              <a:spLocks noChangeShapeType="1"/>
            </p:cNvSpPr>
            <p:nvPr/>
          </p:nvSpPr>
          <p:spPr bwMode="auto">
            <a:xfrm>
              <a:off x="2903" y="2508"/>
              <a:ext cx="0" cy="2075"/>
            </a:xfrm>
            <a:prstGeom prst="line">
              <a:avLst/>
            </a:prstGeom>
            <a:noFill/>
            <a:ln w="9525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3" name="Line 8"/>
            <p:cNvSpPr>
              <a:spLocks noChangeShapeType="1"/>
            </p:cNvSpPr>
            <p:nvPr/>
          </p:nvSpPr>
          <p:spPr bwMode="auto">
            <a:xfrm>
              <a:off x="1204" y="2508"/>
              <a:ext cx="0" cy="2075"/>
            </a:xfrm>
            <a:prstGeom prst="line">
              <a:avLst/>
            </a:prstGeom>
            <a:noFill/>
            <a:ln w="9525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4" name="Line 9"/>
            <p:cNvSpPr>
              <a:spLocks noChangeShapeType="1"/>
            </p:cNvSpPr>
            <p:nvPr/>
          </p:nvSpPr>
          <p:spPr bwMode="auto">
            <a:xfrm>
              <a:off x="3793" y="2508"/>
              <a:ext cx="0" cy="2075"/>
            </a:xfrm>
            <a:prstGeom prst="line">
              <a:avLst/>
            </a:prstGeom>
            <a:noFill/>
            <a:ln w="9525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5" name="Line 10"/>
            <p:cNvSpPr>
              <a:spLocks noChangeShapeType="1"/>
            </p:cNvSpPr>
            <p:nvPr/>
          </p:nvSpPr>
          <p:spPr bwMode="auto">
            <a:xfrm>
              <a:off x="324" y="2820"/>
              <a:ext cx="5414" cy="0"/>
            </a:xfrm>
            <a:prstGeom prst="line">
              <a:avLst/>
            </a:prstGeom>
            <a:noFill/>
            <a:ln w="9525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6" name="Line 11"/>
            <p:cNvSpPr>
              <a:spLocks noChangeShapeType="1"/>
            </p:cNvSpPr>
            <p:nvPr/>
          </p:nvSpPr>
          <p:spPr bwMode="auto">
            <a:xfrm>
              <a:off x="324" y="3113"/>
              <a:ext cx="5414" cy="0"/>
            </a:xfrm>
            <a:prstGeom prst="line">
              <a:avLst/>
            </a:prstGeom>
            <a:noFill/>
            <a:ln w="9525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7" name="Line 12"/>
            <p:cNvSpPr>
              <a:spLocks noChangeShapeType="1"/>
            </p:cNvSpPr>
            <p:nvPr/>
          </p:nvSpPr>
          <p:spPr bwMode="auto">
            <a:xfrm>
              <a:off x="324" y="3407"/>
              <a:ext cx="5414" cy="0"/>
            </a:xfrm>
            <a:prstGeom prst="line">
              <a:avLst/>
            </a:prstGeom>
            <a:noFill/>
            <a:ln w="9525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8" name="Line 13"/>
            <p:cNvSpPr>
              <a:spLocks noChangeShapeType="1"/>
            </p:cNvSpPr>
            <p:nvPr/>
          </p:nvSpPr>
          <p:spPr bwMode="auto">
            <a:xfrm>
              <a:off x="324" y="3701"/>
              <a:ext cx="5414" cy="0"/>
            </a:xfrm>
            <a:prstGeom prst="line">
              <a:avLst/>
            </a:prstGeom>
            <a:noFill/>
            <a:ln w="9525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9" name="Line 14"/>
            <p:cNvSpPr>
              <a:spLocks noChangeShapeType="1"/>
            </p:cNvSpPr>
            <p:nvPr/>
          </p:nvSpPr>
          <p:spPr bwMode="auto">
            <a:xfrm>
              <a:off x="324" y="3995"/>
              <a:ext cx="5414" cy="0"/>
            </a:xfrm>
            <a:prstGeom prst="line">
              <a:avLst/>
            </a:prstGeom>
            <a:noFill/>
            <a:ln w="9525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0" name="Line 15"/>
            <p:cNvSpPr>
              <a:spLocks noChangeShapeType="1"/>
            </p:cNvSpPr>
            <p:nvPr/>
          </p:nvSpPr>
          <p:spPr bwMode="auto">
            <a:xfrm>
              <a:off x="324" y="4289"/>
              <a:ext cx="5414" cy="0"/>
            </a:xfrm>
            <a:prstGeom prst="line">
              <a:avLst/>
            </a:prstGeom>
            <a:noFill/>
            <a:ln w="9525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0616"/>
            <a:ext cx="7772400" cy="71212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字符串（</a:t>
            </a:r>
            <a:r>
              <a:rPr lang="en-US" altLang="zh-CN" dirty="0"/>
              <a:t>String</a:t>
            </a:r>
            <a:r>
              <a:rPr lang="zh-CN" altLang="en-US" dirty="0"/>
              <a:t>）常数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idx="1"/>
          </p:nvPr>
        </p:nvSpPr>
        <p:spPr>
          <a:xfrm>
            <a:off x="673157" y="5554193"/>
            <a:ext cx="8353053" cy="794792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"</a:t>
            </a:r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x"</a:t>
            </a:r>
            <a:r>
              <a:rPr lang="zh-CN" altLang="en-US" dirty="0">
                <a:ea typeface="宋体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’x’</a:t>
            </a:r>
            <a:r>
              <a:rPr lang="zh-CN" altLang="en-US" dirty="0">
                <a:ea typeface="宋体" charset="0"/>
              </a:rPr>
              <a:t>是不同的</a:t>
            </a:r>
          </a:p>
          <a:p>
            <a:pPr>
              <a:lnSpc>
                <a:spcPct val="85000"/>
              </a:lnSpc>
            </a:pPr>
            <a:r>
              <a:rPr lang="en-US" altLang="zh-CN" dirty="0">
                <a:latin typeface="Courier New" charset="0"/>
                <a:ea typeface="宋体" charset="0"/>
              </a:rPr>
              <a:t>&lt;</a:t>
            </a:r>
            <a:r>
              <a:rPr lang="en-US" altLang="zh-CN" dirty="0" err="1">
                <a:latin typeface="Courier New" charset="0"/>
                <a:ea typeface="宋体" charset="0"/>
              </a:rPr>
              <a:t>string.h</a:t>
            </a:r>
            <a:r>
              <a:rPr lang="en-US" altLang="zh-CN" dirty="0">
                <a:latin typeface="Courier New" charset="0"/>
                <a:ea typeface="宋体" charset="0"/>
              </a:rPr>
              <a:t>&gt;</a:t>
            </a:r>
            <a:r>
              <a:rPr lang="zh-CN" altLang="en-US" dirty="0">
                <a:ea typeface="宋体" charset="0"/>
              </a:rPr>
              <a:t>里定义了一系列专门的字符串处理函数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3D4F1-A7B8-264D-B0B2-7F7E48BA394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158304" y="4300538"/>
            <a:ext cx="80105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2" eaLnBrk="1" hangingPunct="1">
              <a:lnSpc>
                <a:spcPct val="100000"/>
              </a:lnSpc>
              <a:buClr>
                <a:srgbClr val="FF3300"/>
              </a:buClr>
              <a:buSzTx/>
              <a:buFont typeface="Wingdings" charset="2"/>
              <a:buChar char="v"/>
            </a:pPr>
            <a:r>
              <a:rPr lang="zh-CN" altLang="en-US" b="0">
                <a:solidFill>
                  <a:prstClr val="black"/>
                </a:solidFill>
                <a:latin typeface="隶书" charset="0"/>
                <a:ea typeface="隶书" charset="0"/>
              </a:rPr>
              <a:t>字符常量与字符串常量不同</a:t>
            </a: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107504" y="1077913"/>
            <a:ext cx="8010525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1" eaLnBrk="1" hangingPunct="1">
              <a:lnSpc>
                <a:spcPct val="100000"/>
              </a:lnSpc>
              <a:buClr>
                <a:srgbClr val="6699FF"/>
              </a:buClr>
              <a:buSzTx/>
              <a:buFont typeface="Wingdings" charset="2"/>
              <a:buChar char="&amp;"/>
            </a:pPr>
            <a:r>
              <a:rPr lang="zh-CN" altLang="en-US" sz="2800" b="0" dirty="0">
                <a:solidFill>
                  <a:prstClr val="black"/>
                </a:solidFill>
                <a:latin typeface="隶书" charset="0"/>
                <a:ea typeface="隶书" charset="0"/>
              </a:rPr>
              <a:t>字符串常量</a:t>
            </a:r>
          </a:p>
          <a:p>
            <a:pPr lvl="2" eaLnBrk="1" hangingPunct="1">
              <a:lnSpc>
                <a:spcPct val="100000"/>
              </a:lnSpc>
              <a:buClr>
                <a:srgbClr val="FF3300"/>
              </a:buClr>
              <a:buSzTx/>
              <a:buFont typeface="Wingdings" charset="2"/>
              <a:buChar char="v"/>
            </a:pPr>
            <a:r>
              <a:rPr lang="zh-CN" altLang="en-US" b="0" dirty="0">
                <a:solidFill>
                  <a:prstClr val="black"/>
                </a:solidFill>
                <a:latin typeface="隶书" charset="0"/>
                <a:ea typeface="隶书" charset="0"/>
              </a:rPr>
              <a:t>定义：用双引号</a:t>
            </a:r>
            <a:r>
              <a:rPr lang="en-US" altLang="zh-CN" b="0" dirty="0">
                <a:solidFill>
                  <a:prstClr val="black"/>
                </a:solidFill>
                <a:latin typeface="隶书" charset="0"/>
                <a:ea typeface="隶书" charset="0"/>
              </a:rPr>
              <a:t>(</a:t>
            </a:r>
            <a:r>
              <a:rPr lang="en-US" altLang="zh-CN" b="0" dirty="0">
                <a:solidFill>
                  <a:prstClr val="black"/>
                </a:solidFill>
                <a:ea typeface="隶书" charset="0"/>
              </a:rPr>
              <a:t>“”</a:t>
            </a:r>
            <a:r>
              <a:rPr lang="en-US" altLang="zh-CN" b="0" dirty="0">
                <a:solidFill>
                  <a:prstClr val="black"/>
                </a:solidFill>
                <a:latin typeface="隶书" charset="0"/>
                <a:ea typeface="隶书" charset="0"/>
              </a:rPr>
              <a:t>)</a:t>
            </a:r>
            <a:r>
              <a:rPr lang="zh-CN" altLang="en-US" b="0" dirty="0">
                <a:solidFill>
                  <a:prstClr val="black"/>
                </a:solidFill>
                <a:latin typeface="隶书" charset="0"/>
                <a:ea typeface="隶书" charset="0"/>
              </a:rPr>
              <a:t>括起来的字符序列</a:t>
            </a:r>
          </a:p>
          <a:p>
            <a:pPr lvl="2" eaLnBrk="1" hangingPunct="1">
              <a:lnSpc>
                <a:spcPct val="100000"/>
              </a:lnSpc>
              <a:buClr>
                <a:srgbClr val="FF3300"/>
              </a:buClr>
              <a:buSzTx/>
              <a:buFont typeface="Wingdings" charset="2"/>
              <a:buChar char="v"/>
            </a:pPr>
            <a:r>
              <a:rPr lang="zh-CN" altLang="en-US" b="0" dirty="0">
                <a:solidFill>
                  <a:prstClr val="black"/>
                </a:solidFill>
                <a:latin typeface="隶书" charset="0"/>
                <a:ea typeface="隶书" charset="0"/>
              </a:rPr>
              <a:t>存储：每个字符串尾</a:t>
            </a:r>
            <a:r>
              <a:rPr lang="zh-CN" altLang="en-US" dirty="0">
                <a:solidFill>
                  <a:srgbClr val="00B050"/>
                </a:solidFill>
                <a:latin typeface="隶书" charset="0"/>
                <a:ea typeface="隶书" charset="0"/>
              </a:rPr>
              <a:t>自动</a:t>
            </a:r>
            <a:r>
              <a:rPr lang="zh-CN" altLang="en-US" b="0" dirty="0">
                <a:solidFill>
                  <a:prstClr val="black"/>
                </a:solidFill>
                <a:latin typeface="隶书" charset="0"/>
                <a:ea typeface="隶书" charset="0"/>
              </a:rPr>
              <a:t>加一个</a:t>
            </a:r>
            <a:r>
              <a:rPr lang="zh-CN" altLang="zh-CN" b="0" dirty="0">
                <a:solidFill>
                  <a:prstClr val="black"/>
                </a:solidFill>
                <a:latin typeface="隶书" charset="0"/>
                <a:ea typeface="隶书" charset="0"/>
              </a:rPr>
              <a:t> </a:t>
            </a:r>
            <a:r>
              <a:rPr lang="zh-CN" altLang="en-US" b="0" dirty="0">
                <a:solidFill>
                  <a:prstClr val="black"/>
                </a:solidFill>
                <a:ea typeface="隶书" charset="0"/>
              </a:rPr>
              <a:t>‘</a:t>
            </a:r>
            <a:r>
              <a:rPr lang="zh-CN" altLang="zh-CN" b="0" dirty="0">
                <a:solidFill>
                  <a:prstClr val="black"/>
                </a:solidFill>
                <a:latin typeface="隶书" charset="0"/>
                <a:ea typeface="隶书" charset="0"/>
              </a:rPr>
              <a:t>\0</a:t>
            </a:r>
            <a:r>
              <a:rPr lang="zh-CN" altLang="en-US" b="0" dirty="0">
                <a:solidFill>
                  <a:prstClr val="black"/>
                </a:solidFill>
                <a:ea typeface="隶书" charset="0"/>
              </a:rPr>
              <a:t>’</a:t>
            </a:r>
            <a:r>
              <a:rPr lang="zh-CN" altLang="zh-CN" b="0" dirty="0">
                <a:solidFill>
                  <a:prstClr val="black"/>
                </a:solidFill>
                <a:latin typeface="隶书" charset="0"/>
                <a:ea typeface="隶书" charset="0"/>
              </a:rPr>
              <a:t> </a:t>
            </a:r>
            <a:r>
              <a:rPr lang="zh-CN" altLang="en-US" b="0" dirty="0">
                <a:solidFill>
                  <a:prstClr val="black"/>
                </a:solidFill>
                <a:latin typeface="隶书" charset="0"/>
                <a:ea typeface="隶书" charset="0"/>
              </a:rPr>
              <a:t>作为字符串结束标志</a:t>
            </a:r>
            <a:endParaRPr lang="en-US" altLang="zh-CN" b="0" dirty="0">
              <a:solidFill>
                <a:prstClr val="black"/>
              </a:solidFill>
              <a:latin typeface="隶书" charset="0"/>
              <a:ea typeface="隶书" charset="0"/>
            </a:endParaRPr>
          </a:p>
          <a:p>
            <a:pPr lvl="2" eaLnBrk="1" hangingPunct="1">
              <a:lnSpc>
                <a:spcPct val="100000"/>
              </a:lnSpc>
              <a:buClr>
                <a:srgbClr val="FF3300"/>
              </a:buClr>
              <a:buSzTx/>
              <a:buFont typeface="Wingdings" charset="2"/>
              <a:buChar char="v"/>
            </a:pPr>
            <a:r>
              <a:rPr lang="zh-CN" altLang="en-US" b="0" dirty="0">
                <a:solidFill>
                  <a:prstClr val="black"/>
                </a:solidFill>
                <a:latin typeface="隶书" charset="0"/>
                <a:ea typeface="隶书" charset="0"/>
              </a:rPr>
              <a:t>是除注释外唯一可以出现中文的地方</a:t>
            </a:r>
          </a:p>
          <a:p>
            <a:pPr lvl="2" eaLnBrk="1" hangingPunct="1">
              <a:lnSpc>
                <a:spcPct val="100000"/>
              </a:lnSpc>
              <a:buClr>
                <a:srgbClr val="FF3300"/>
              </a:buClr>
              <a:buSzTx/>
              <a:buFont typeface="Wingdings" charset="2"/>
              <a:buChar char="v"/>
            </a:pPr>
            <a:endParaRPr lang="zh-CN" altLang="zh-CN" b="0" dirty="0">
              <a:solidFill>
                <a:prstClr val="black"/>
              </a:solidFill>
              <a:latin typeface="隶书" charset="0"/>
              <a:ea typeface="隶书" charset="0"/>
            </a:endParaRPr>
          </a:p>
        </p:txBody>
      </p:sp>
      <p:grpSp>
        <p:nvGrpSpPr>
          <p:cNvPr id="29" name="Group 5"/>
          <p:cNvGrpSpPr>
            <a:grpSpLocks/>
          </p:cNvGrpSpPr>
          <p:nvPr/>
        </p:nvGrpSpPr>
        <p:grpSpPr bwMode="auto">
          <a:xfrm>
            <a:off x="891729" y="3292475"/>
            <a:ext cx="6823075" cy="415925"/>
            <a:chOff x="912" y="1759"/>
            <a:chExt cx="4298" cy="262"/>
          </a:xfrm>
        </p:grpSpPr>
        <p:grpSp>
          <p:nvGrpSpPr>
            <p:cNvPr id="30" name="Group 6"/>
            <p:cNvGrpSpPr>
              <a:grpSpLocks/>
            </p:cNvGrpSpPr>
            <p:nvPr/>
          </p:nvGrpSpPr>
          <p:grpSpPr bwMode="auto">
            <a:xfrm>
              <a:off x="3587" y="1776"/>
              <a:ext cx="1623" cy="245"/>
              <a:chOff x="3587" y="1584"/>
              <a:chExt cx="1623" cy="245"/>
            </a:xfrm>
          </p:grpSpPr>
          <p:sp>
            <p:nvSpPr>
              <p:cNvPr id="32" name="Rectangle 7"/>
              <p:cNvSpPr>
                <a:spLocks noChangeArrowheads="1"/>
              </p:cNvSpPr>
              <p:nvPr/>
            </p:nvSpPr>
            <p:spPr bwMode="auto">
              <a:xfrm>
                <a:off x="3587" y="1584"/>
                <a:ext cx="1623" cy="245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h   e    l    l     o     </a:t>
                </a: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\0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3" name="Line 8"/>
              <p:cNvSpPr>
                <a:spLocks noChangeShapeType="1"/>
              </p:cNvSpPr>
              <p:nvPr/>
            </p:nvSpPr>
            <p:spPr bwMode="auto">
              <a:xfrm>
                <a:off x="3820" y="1584"/>
                <a:ext cx="0" cy="245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4" name="Line 9"/>
              <p:cNvSpPr>
                <a:spLocks noChangeShapeType="1"/>
              </p:cNvSpPr>
              <p:nvPr/>
            </p:nvSpPr>
            <p:spPr bwMode="auto">
              <a:xfrm>
                <a:off x="4087" y="1584"/>
                <a:ext cx="0" cy="245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5" name="Line 10"/>
              <p:cNvSpPr>
                <a:spLocks noChangeShapeType="1"/>
              </p:cNvSpPr>
              <p:nvPr/>
            </p:nvSpPr>
            <p:spPr bwMode="auto">
              <a:xfrm>
                <a:off x="4365" y="1584"/>
                <a:ext cx="0" cy="245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6" name="Line 11"/>
              <p:cNvSpPr>
                <a:spLocks noChangeShapeType="1"/>
              </p:cNvSpPr>
              <p:nvPr/>
            </p:nvSpPr>
            <p:spPr bwMode="auto">
              <a:xfrm>
                <a:off x="4654" y="1584"/>
                <a:ext cx="0" cy="245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37" name="Line 12"/>
              <p:cNvSpPr>
                <a:spLocks noChangeShapeType="1"/>
              </p:cNvSpPr>
              <p:nvPr/>
            </p:nvSpPr>
            <p:spPr bwMode="auto">
              <a:xfrm>
                <a:off x="4932" y="1584"/>
                <a:ext cx="0" cy="245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31" name="Text Box 13"/>
            <p:cNvSpPr txBox="1">
              <a:spLocks noChangeArrowheads="1"/>
            </p:cNvSpPr>
            <p:nvPr/>
          </p:nvSpPr>
          <p:spPr bwMode="auto">
            <a:xfrm>
              <a:off x="912" y="1759"/>
              <a:ext cx="220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charset="0"/>
                  <a:ea typeface="宋体" charset="0"/>
                </a:rPr>
                <a:t>例  字符串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“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charset="0"/>
                  <a:ea typeface="宋体" charset="0"/>
                </a:rPr>
                <a:t>hello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”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charset="0"/>
                  <a:ea typeface="宋体" charset="0"/>
                </a:rPr>
                <a:t>在内存中</a:t>
              </a: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charset="0"/>
                <a:ea typeface="隶书" charset="0"/>
              </a:endParaRPr>
            </a:p>
          </p:txBody>
        </p:sp>
      </p:grpSp>
      <p:grpSp>
        <p:nvGrpSpPr>
          <p:cNvPr id="38" name="Group 14"/>
          <p:cNvGrpSpPr>
            <a:grpSpLocks/>
          </p:cNvGrpSpPr>
          <p:nvPr/>
        </p:nvGrpSpPr>
        <p:grpSpPr bwMode="auto">
          <a:xfrm>
            <a:off x="1453704" y="4986338"/>
            <a:ext cx="4135438" cy="457200"/>
            <a:chOff x="1248" y="2688"/>
            <a:chExt cx="2605" cy="288"/>
          </a:xfrm>
        </p:grpSpPr>
        <p:sp>
          <p:nvSpPr>
            <p:cNvPr id="39" name="Rectangle 15"/>
            <p:cNvSpPr>
              <a:spLocks noChangeArrowheads="1"/>
            </p:cNvSpPr>
            <p:nvPr/>
          </p:nvSpPr>
          <p:spPr bwMode="auto">
            <a:xfrm>
              <a:off x="1968" y="2736"/>
              <a:ext cx="234" cy="170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a</a:t>
              </a:r>
            </a:p>
          </p:txBody>
        </p:sp>
        <p:grpSp>
          <p:nvGrpSpPr>
            <p:cNvPr id="40" name="Group 16"/>
            <p:cNvGrpSpPr>
              <a:grpSpLocks/>
            </p:cNvGrpSpPr>
            <p:nvPr/>
          </p:nvGrpSpPr>
          <p:grpSpPr bwMode="auto">
            <a:xfrm>
              <a:off x="3264" y="2736"/>
              <a:ext cx="589" cy="192"/>
              <a:chOff x="3264" y="2736"/>
              <a:chExt cx="589" cy="267"/>
            </a:xfrm>
          </p:grpSpPr>
          <p:sp>
            <p:nvSpPr>
              <p:cNvPr id="43" name="Rectangle 17"/>
              <p:cNvSpPr>
                <a:spLocks noChangeArrowheads="1"/>
              </p:cNvSpPr>
              <p:nvPr/>
            </p:nvSpPr>
            <p:spPr bwMode="auto">
              <a:xfrm>
                <a:off x="3264" y="2736"/>
                <a:ext cx="589" cy="267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 a   \0</a:t>
                </a:r>
              </a:p>
            </p:txBody>
          </p:sp>
          <p:sp>
            <p:nvSpPr>
              <p:cNvPr id="44" name="Line 18"/>
              <p:cNvSpPr>
                <a:spLocks noChangeShapeType="1"/>
              </p:cNvSpPr>
              <p:nvPr/>
            </p:nvSpPr>
            <p:spPr bwMode="auto">
              <a:xfrm>
                <a:off x="3552" y="2736"/>
                <a:ext cx="0" cy="267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41" name="Text Box 19"/>
            <p:cNvSpPr txBox="1">
              <a:spLocks noChangeArrowheads="1"/>
            </p:cNvSpPr>
            <p:nvPr/>
          </p:nvSpPr>
          <p:spPr bwMode="auto">
            <a:xfrm>
              <a:off x="1248" y="2688"/>
              <a:ext cx="5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例</a:t>
              </a:r>
              <a:r>
                <a: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 ‘</a:t>
              </a: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a’</a:t>
              </a:r>
            </a:p>
          </p:txBody>
        </p:sp>
        <p:sp>
          <p:nvSpPr>
            <p:cNvPr id="42" name="Text Box 20"/>
            <p:cNvSpPr txBox="1">
              <a:spLocks noChangeArrowheads="1"/>
            </p:cNvSpPr>
            <p:nvPr/>
          </p:nvSpPr>
          <p:spPr bwMode="auto">
            <a:xfrm>
              <a:off x="2688" y="2688"/>
              <a:ext cx="3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“a”</a:t>
              </a:r>
            </a:p>
          </p:txBody>
        </p:sp>
      </p:grpSp>
      <p:grpSp>
        <p:nvGrpSpPr>
          <p:cNvPr id="45" name="Group 22"/>
          <p:cNvGrpSpPr>
            <a:grpSpLocks/>
          </p:cNvGrpSpPr>
          <p:nvPr/>
        </p:nvGrpSpPr>
        <p:grpSpPr bwMode="auto">
          <a:xfrm>
            <a:off x="898079" y="3776663"/>
            <a:ext cx="2808288" cy="434975"/>
            <a:chOff x="1053" y="1915"/>
            <a:chExt cx="1769" cy="274"/>
          </a:xfrm>
        </p:grpSpPr>
        <p:sp>
          <p:nvSpPr>
            <p:cNvPr id="46" name="Text Box 23"/>
            <p:cNvSpPr txBox="1">
              <a:spLocks noChangeArrowheads="1"/>
            </p:cNvSpPr>
            <p:nvPr/>
          </p:nvSpPr>
          <p:spPr bwMode="auto">
            <a:xfrm>
              <a:off x="1053" y="1915"/>
              <a:ext cx="8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rPr>
                <a:t>例  空串</a:t>
              </a:r>
              <a:r>
                <a:rPr kumimoji="1" lang="zh-CN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rPr>
                <a:t>  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rPr>
                <a:t>“”</a:t>
              </a:r>
            </a:p>
          </p:txBody>
        </p:sp>
        <p:sp>
          <p:nvSpPr>
            <p:cNvPr id="47" name="Text Box 24"/>
            <p:cNvSpPr txBox="1">
              <a:spLocks noChangeArrowheads="1"/>
            </p:cNvSpPr>
            <p:nvPr/>
          </p:nvSpPr>
          <p:spPr bwMode="auto">
            <a:xfrm>
              <a:off x="2556" y="1933"/>
              <a:ext cx="266" cy="256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rPr>
                <a:t>\0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000152"/>
          </a:xfrm>
        </p:spPr>
        <p:txBody>
          <a:bodyPr/>
          <a:lstStyle/>
          <a:p>
            <a:pPr marL="838200" indent="-838200">
              <a:defRPr/>
            </a:pPr>
            <a:r>
              <a:rPr lang="zh-CN" altLang="en-US"/>
              <a:t>宏常量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844675"/>
            <a:ext cx="7772400" cy="3744913"/>
          </a:xfrm>
        </p:spPr>
        <p:txBody>
          <a:bodyPr/>
          <a:lstStyle/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zh-CN" sz="2800" dirty="0">
                <a:solidFill>
                  <a:schemeClr val="accent2"/>
                </a:solidFill>
                <a:latin typeface="Courier New" charset="0"/>
                <a:ea typeface="宋体" charset="0"/>
              </a:rPr>
              <a:t>       </a:t>
            </a:r>
            <a:r>
              <a:rPr lang="en-US" altLang="zh-CN" sz="2800" dirty="0">
                <a:solidFill>
                  <a:srgbClr val="333399"/>
                </a:solidFill>
                <a:latin typeface="Courier New" charset="0"/>
                <a:ea typeface="宋体" charset="0"/>
              </a:rPr>
              <a:t>#define</a:t>
            </a:r>
            <a:r>
              <a:rPr lang="en-US" altLang="zh-CN" sz="2800" dirty="0">
                <a:ea typeface="宋体" charset="0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ea typeface="宋体" charset="0"/>
              </a:rPr>
              <a:t>标识符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  字符串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333399"/>
                </a:solidFill>
                <a:ea typeface="宋体" charset="0"/>
              </a:rPr>
              <a:t>宏常量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ea typeface="宋体" charset="0"/>
              </a:rPr>
              <a:t>也称符号常量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ea typeface="宋体" charset="0"/>
              </a:rPr>
              <a:t>一般采用全大写字母表示 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333399"/>
                </a:solidFill>
                <a:ea typeface="宋体" charset="0"/>
              </a:rPr>
              <a:t>宏定义不是语句，而是一种编译预处理命令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zh-CN" altLang="en-US" dirty="0">
              <a:solidFill>
                <a:srgbClr val="333399"/>
              </a:solidFill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8907-59E0-3E49-9588-7C6116A419ED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44450"/>
            <a:ext cx="7797800" cy="839788"/>
          </a:xfrm>
        </p:spPr>
        <p:txBody>
          <a:bodyPr/>
          <a:lstStyle/>
          <a:p>
            <a:pPr marL="838200" indent="-838200"/>
            <a:r>
              <a:rPr lang="zh-CN" altLang="en-US"/>
              <a:t>例</a:t>
            </a:r>
            <a:r>
              <a:rPr lang="en-US" altLang="zh-CN"/>
              <a:t>2.2 </a:t>
            </a:r>
            <a:r>
              <a:rPr lang="zh-CN" altLang="en-US"/>
              <a:t>：计算圆的周长和面积 </a:t>
            </a:r>
          </a:p>
        </p:txBody>
      </p:sp>
      <p:sp>
        <p:nvSpPr>
          <p:cNvPr id="235523" name="Text Box 3"/>
          <p:cNvSpPr txBox="1">
            <a:spLocks noChangeArrowheads="1"/>
          </p:cNvSpPr>
          <p:nvPr/>
        </p:nvSpPr>
        <p:spPr bwMode="auto">
          <a:xfrm>
            <a:off x="107950" y="1114425"/>
            <a:ext cx="8964613" cy="25431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&lt;</a:t>
            </a:r>
            <a:r>
              <a:rPr lang="en-US" altLang="zh-CN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stdio.h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&gt;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define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PI  3.14159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en-US" altLang="zh-CN" sz="20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define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R   5.3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en-US" altLang="zh-CN" sz="2000" dirty="0" err="1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("area = %f\n", PI * R * R);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en-US" altLang="zh-CN" sz="2000" dirty="0" err="1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("circumference = %f\n", 2 * PI * R);</a:t>
            </a:r>
            <a:endParaRPr lang="fr-FR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fr-FR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20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35524" name="Rectangle 4"/>
          <p:cNvSpPr>
            <a:spLocks noChangeArrowheads="1"/>
          </p:cNvSpPr>
          <p:nvPr/>
        </p:nvSpPr>
        <p:spPr bwMode="auto">
          <a:xfrm>
            <a:off x="250825" y="5751513"/>
            <a:ext cx="6408738" cy="9906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7" rIns="92075" bIns="46037" anchor="ctr">
            <a:spAutoFit/>
          </a:bodyPr>
          <a:lstStyle>
            <a:lvl1pPr indent="5143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zh-CN">
                <a:solidFill>
                  <a:schemeClr val="bg1"/>
                </a:solidFill>
                <a:latin typeface="Courier New" charset="0"/>
              </a:rPr>
              <a:t>area = 88.247263</a:t>
            </a:r>
          </a:p>
          <a:p>
            <a:pPr>
              <a:buFont typeface="Monotype Sorts" charset="2"/>
              <a:buNone/>
            </a:pPr>
            <a:r>
              <a:rPr lang="en-US" altLang="zh-CN">
                <a:solidFill>
                  <a:schemeClr val="bg1"/>
                </a:solidFill>
                <a:latin typeface="Courier New" charset="0"/>
              </a:rPr>
              <a:t>circumference = 33.300854</a:t>
            </a:r>
          </a:p>
        </p:txBody>
      </p:sp>
      <p:sp>
        <p:nvSpPr>
          <p:cNvPr id="235525" name="Text Box 5"/>
          <p:cNvSpPr txBox="1">
            <a:spLocks noChangeArrowheads="1"/>
          </p:cNvSpPr>
          <p:nvPr/>
        </p:nvSpPr>
        <p:spPr bwMode="auto">
          <a:xfrm>
            <a:off x="107950" y="3508375"/>
            <a:ext cx="8964613" cy="2238375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相当于执行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#</a:t>
            </a:r>
            <a:r>
              <a:rPr lang="en-US" altLang="zh-CN" sz="20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</a:rPr>
              <a:t>include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  &lt;stdio.h&gt;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</a:rPr>
              <a:t>main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()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	</a:t>
            </a:r>
            <a:r>
              <a:rPr lang="en-US" altLang="zh-CN" sz="20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</a:rPr>
              <a:t>printf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("area = %f\n", 3.14159 * 5.3 * 5.3);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	</a:t>
            </a:r>
            <a:r>
              <a:rPr lang="en-US" altLang="zh-CN" sz="20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</a:rPr>
              <a:t>printf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("circumference = %f\n", 2 * 3.14159</a:t>
            </a:r>
            <a:r>
              <a:rPr lang="en-US" altLang="zh-CN" sz="2000"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</a:rPr>
              <a:t> </a:t>
            </a: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* 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5.3);</a:t>
            </a:r>
            <a:endParaRPr lang="fr-FR" altLang="zh-CN" sz="200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fr-FR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}</a:t>
            </a:r>
            <a:endParaRPr lang="zh-CN" altLang="en-US" sz="200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</a:endParaRPr>
          </a:p>
        </p:txBody>
      </p:sp>
      <p:sp>
        <p:nvSpPr>
          <p:cNvPr id="235526" name="AutoShape 6"/>
          <p:cNvSpPr>
            <a:spLocks noChangeArrowheads="1"/>
          </p:cNvSpPr>
          <p:nvPr/>
        </p:nvSpPr>
        <p:spPr bwMode="auto">
          <a:xfrm>
            <a:off x="5000625" y="928688"/>
            <a:ext cx="2857500" cy="928687"/>
          </a:xfrm>
          <a:prstGeom prst="cloudCallout">
            <a:avLst>
              <a:gd name="adj1" fmla="val -119880"/>
              <a:gd name="adj2" fmla="val 43690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2075" tIns="46037" rIns="92075" bIns="46037"/>
          <a:lstStyle>
            <a:lvl1pPr marL="374650" indent="-3746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zh-CN" altLang="en-US" sz="2000">
                <a:solidFill>
                  <a:srgbClr val="333399"/>
                </a:solidFill>
              </a:rPr>
              <a:t>只需修改一处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214313" y="214313"/>
            <a:ext cx="2160587" cy="936625"/>
          </a:xfrm>
          <a:prstGeom prst="cloudCallout">
            <a:avLst>
              <a:gd name="adj1" fmla="val 16982"/>
              <a:gd name="adj2" fmla="val 89757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lIns="92075" tIns="46037" rIns="92075" bIns="46037"/>
          <a:lstStyle>
            <a:lvl1pPr marL="374650" indent="-3746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zh-CN" altLang="en-US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宏替换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286500" y="3286125"/>
            <a:ext cx="2857500" cy="928688"/>
          </a:xfrm>
          <a:prstGeom prst="cloudCallout">
            <a:avLst>
              <a:gd name="adj1" fmla="val -33435"/>
              <a:gd name="adj2" fmla="val 102509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92075" tIns="46037" rIns="92075" bIns="46037"/>
          <a:lstStyle>
            <a:lvl1pPr marL="374650" indent="-3746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zh-CN" altLang="en-US" sz="2000">
                <a:solidFill>
                  <a:srgbClr val="333399"/>
                </a:solidFill>
              </a:rPr>
              <a:t>换值时，需修改多处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02825-4805-C04B-B82B-330835B46664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4" grpId="0" animBg="1"/>
      <p:bldP spid="235525" grpId="0" animBg="1"/>
      <p:bldP spid="235526" grpId="0" animBg="1"/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7797800" cy="839787"/>
          </a:xfrm>
        </p:spPr>
        <p:txBody>
          <a:bodyPr/>
          <a:lstStyle/>
          <a:p>
            <a:r>
              <a:rPr lang="zh-CN" altLang="en-US"/>
              <a:t>枚举（</a:t>
            </a:r>
            <a:r>
              <a:rPr lang="en-US" altLang="zh-CN"/>
              <a:t>Enumeration</a:t>
            </a:r>
            <a:r>
              <a:rPr lang="zh-CN" altLang="en-US"/>
              <a:t>）常量</a:t>
            </a:r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640763" cy="55435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5000"/>
              </a:lnSpc>
            </a:pPr>
            <a:r>
              <a:rPr lang="zh-CN" altLang="en-US" sz="2400" dirty="0">
                <a:solidFill>
                  <a:srgbClr val="333399"/>
                </a:solidFill>
                <a:ea typeface="宋体" charset="0"/>
              </a:rPr>
              <a:t>当某些量仅由有限个数据值组成时，通常用枚举类型来表示。描述的是一组整型值的集合。</a:t>
            </a:r>
            <a:endParaRPr lang="en-US" altLang="zh-CN" sz="2400" dirty="0">
              <a:solidFill>
                <a:srgbClr val="333399"/>
              </a:solidFill>
              <a:latin typeface="Courier New" charset="0"/>
              <a:ea typeface="宋体" charset="0"/>
            </a:endParaRPr>
          </a:p>
          <a:p>
            <a:pPr>
              <a:lnSpc>
                <a:spcPct val="85000"/>
              </a:lnSpc>
              <a:buFont typeface="Monotype Sorts" charset="2"/>
              <a:buNone/>
            </a:pP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Courier New" charset="0"/>
                <a:ea typeface="宋体" charset="0"/>
                <a:cs typeface="Times New Roman" charset="0"/>
              </a:rPr>
              <a:t>enum</a:t>
            </a: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weeks {SUN, MON, TUE, WED, THU, FRI, SAT};//</a:t>
            </a:r>
            <a:r>
              <a:rPr lang="zh-CN" altLang="en-US" sz="2000" dirty="0">
                <a:solidFill>
                  <a:srgbClr val="880000"/>
                </a:solidFill>
                <a:latin typeface="Courier New" charset="0"/>
                <a:ea typeface="宋体" charset="0"/>
              </a:rPr>
              <a:t>定义              </a:t>
            </a:r>
          </a:p>
          <a:p>
            <a:pPr>
              <a:lnSpc>
                <a:spcPct val="85000"/>
              </a:lnSpc>
              <a:buFont typeface="Monotype Sorts" charset="2"/>
              <a:buNone/>
            </a:pPr>
            <a:r>
              <a:rPr lang="zh-CN" altLang="en-US" sz="2000" dirty="0">
                <a:solidFill>
                  <a:srgbClr val="880000"/>
                </a:solidFill>
                <a:latin typeface="Courier New" charset="0"/>
                <a:ea typeface="宋体" charset="0"/>
              </a:rPr>
              <a:t>                                               数据类型</a:t>
            </a:r>
          </a:p>
          <a:p>
            <a:pPr>
              <a:lnSpc>
                <a:spcPct val="85000"/>
              </a:lnSpc>
              <a:buFont typeface="Monotype Sorts" charset="2"/>
              <a:buNone/>
            </a:pP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enum</a:t>
            </a: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weeks </a:t>
            </a:r>
            <a:r>
              <a:rPr lang="en-US" altLang="zh-CN" sz="2000" dirty="0">
                <a:solidFill>
                  <a:schemeClr val="hlink"/>
                </a:solidFill>
                <a:latin typeface="Courier New" charset="0"/>
                <a:ea typeface="宋体" charset="0"/>
              </a:rPr>
              <a:t>today</a:t>
            </a: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;   //</a:t>
            </a:r>
            <a:r>
              <a:rPr lang="zh-CN" altLang="en-US" sz="2000" dirty="0">
                <a:solidFill>
                  <a:srgbClr val="880000"/>
                </a:solidFill>
                <a:latin typeface="Courier New" charset="0"/>
                <a:ea typeface="宋体" charset="0"/>
              </a:rPr>
              <a:t>用上面定义的数据类型定义了一个变量</a:t>
            </a:r>
          </a:p>
          <a:p>
            <a:pPr>
              <a:lnSpc>
                <a:spcPct val="85000"/>
              </a:lnSpc>
              <a:buFont typeface="Monotype Sorts" charset="2"/>
              <a:buNone/>
            </a:pPr>
            <a:endParaRPr lang="zh-CN" altLang="en-US" sz="2000" dirty="0">
              <a:solidFill>
                <a:srgbClr val="880000"/>
              </a:solidFill>
              <a:latin typeface="Courier New" charset="0"/>
              <a:ea typeface="宋体" charset="0"/>
            </a:endParaRPr>
          </a:p>
          <a:p>
            <a:pPr>
              <a:lnSpc>
                <a:spcPct val="85000"/>
              </a:lnSpc>
              <a:buFont typeface="Monotype Sorts" charset="2"/>
              <a:buNone/>
            </a:pPr>
            <a:r>
              <a:rPr lang="en-US" altLang="zh-CN" sz="2000" dirty="0">
                <a:solidFill>
                  <a:srgbClr val="0033CC"/>
                </a:solidFill>
                <a:latin typeface="Courier New" charset="0"/>
                <a:ea typeface="宋体" charset="0"/>
              </a:rPr>
              <a:t> </a:t>
            </a:r>
            <a:r>
              <a:rPr lang="en-US" altLang="zh-CN" sz="2000" dirty="0" err="1">
                <a:solidFill>
                  <a:srgbClr val="0033CC"/>
                </a:solidFill>
                <a:latin typeface="Courier New" charset="0"/>
                <a:ea typeface="宋体" charset="0"/>
              </a:rPr>
              <a:t>enum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response {no,  yes,  none}; </a:t>
            </a: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};//</a:t>
            </a:r>
            <a:r>
              <a:rPr lang="zh-CN" altLang="en-US" sz="2000" dirty="0">
                <a:solidFill>
                  <a:srgbClr val="880000"/>
                </a:solidFill>
                <a:latin typeface="Courier New" charset="0"/>
                <a:ea typeface="宋体" charset="0"/>
              </a:rPr>
              <a:t>定义数据类型</a:t>
            </a:r>
            <a:endParaRPr lang="en-US" altLang="zh-CN" sz="2000" dirty="0">
              <a:solidFill>
                <a:srgbClr val="880000"/>
              </a:solidFill>
              <a:latin typeface="Courier New" charset="0"/>
              <a:ea typeface="宋体" charset="0"/>
            </a:endParaRPr>
          </a:p>
          <a:p>
            <a:pPr>
              <a:lnSpc>
                <a:spcPct val="85000"/>
              </a:lnSpc>
              <a:buFont typeface="Monotype Sorts" charset="2"/>
              <a:buNone/>
            </a:pPr>
            <a:r>
              <a:rPr lang="en-US" altLang="zh-CN" sz="2000" dirty="0">
                <a:solidFill>
                  <a:srgbClr val="0033CC"/>
                </a:solidFill>
                <a:latin typeface="Courier New" charset="0"/>
                <a:ea typeface="宋体" charset="0"/>
              </a:rPr>
              <a:t> </a:t>
            </a:r>
            <a:r>
              <a:rPr lang="en-US" altLang="zh-CN" sz="2000" dirty="0" err="1">
                <a:solidFill>
                  <a:srgbClr val="0033CC"/>
                </a:solidFill>
                <a:latin typeface="Courier New" charset="0"/>
                <a:ea typeface="宋体" charset="0"/>
              </a:rPr>
              <a:t>enum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response </a:t>
            </a:r>
            <a:r>
              <a:rPr lang="en-US" altLang="zh-CN" sz="2000" dirty="0">
                <a:solidFill>
                  <a:schemeClr val="hlink"/>
                </a:solidFill>
                <a:latin typeface="Courier New" charset="0"/>
                <a:ea typeface="宋体" charset="0"/>
              </a:rPr>
              <a:t>answer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; </a:t>
            </a: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//</a:t>
            </a:r>
            <a:r>
              <a:rPr lang="zh-CN" altLang="en-US" sz="2000" dirty="0">
                <a:solidFill>
                  <a:srgbClr val="880000"/>
                </a:solidFill>
                <a:latin typeface="Courier New" charset="0"/>
                <a:ea typeface="宋体" charset="0"/>
              </a:rPr>
              <a:t>用上面定义的数据类型定义了一个变量</a:t>
            </a:r>
            <a:endParaRPr lang="en-US" altLang="zh-CN" sz="2000" dirty="0">
              <a:solidFill>
                <a:srgbClr val="880000"/>
              </a:solidFill>
              <a:latin typeface="Courier New" charset="0"/>
              <a:ea typeface="宋体" charset="0"/>
            </a:endParaRPr>
          </a:p>
          <a:p>
            <a:pPr>
              <a:lnSpc>
                <a:spcPct val="85000"/>
              </a:lnSpc>
              <a:buFont typeface="Monotype Sorts" charset="2"/>
              <a:buNone/>
            </a:pPr>
            <a:endParaRPr lang="en-US" altLang="zh-CN" sz="200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>
              <a:lnSpc>
                <a:spcPct val="85000"/>
              </a:lnSpc>
              <a:buFont typeface="Monotype Sorts" charset="2"/>
              <a:buNone/>
            </a:pP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 </a:t>
            </a:r>
            <a:r>
              <a:rPr lang="en-US" altLang="zh-CN" sz="2000" dirty="0">
                <a:solidFill>
                  <a:schemeClr val="hlink"/>
                </a:solidFill>
                <a:latin typeface="Courier New" charset="0"/>
                <a:ea typeface="宋体" charset="0"/>
              </a:rPr>
              <a:t>today</a:t>
            </a: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 = TUE;</a:t>
            </a:r>
          </a:p>
          <a:p>
            <a:pPr>
              <a:lnSpc>
                <a:spcPct val="85000"/>
              </a:lnSpc>
              <a:buFont typeface="Monotype Sorts" charset="2"/>
              <a:buNone/>
            </a:pP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 </a:t>
            </a:r>
            <a:r>
              <a:rPr lang="en-US" altLang="zh-CN" sz="2000" dirty="0">
                <a:solidFill>
                  <a:schemeClr val="hlink"/>
                </a:solidFill>
                <a:latin typeface="Courier New" charset="0"/>
                <a:ea typeface="宋体" charset="0"/>
              </a:rPr>
              <a:t>answer</a:t>
            </a: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= yes;</a:t>
            </a:r>
          </a:p>
          <a:p>
            <a:pPr>
              <a:lnSpc>
                <a:spcPct val="85000"/>
              </a:lnSpc>
              <a:buFont typeface="Monotype Sorts" charset="2"/>
              <a:buNone/>
            </a:pPr>
            <a:endParaRPr lang="en-US" altLang="zh-CN" sz="20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>
              <a:lnSpc>
                <a:spcPct val="85000"/>
              </a:lnSpc>
              <a:buFont typeface="Monotype Sorts" charset="2"/>
              <a:buNone/>
            </a:pPr>
            <a:endParaRPr lang="en-US" altLang="zh-CN" sz="2000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>
              <a:lnSpc>
                <a:spcPct val="85000"/>
              </a:lnSpc>
              <a:buFont typeface="Monotype Sorts" charset="2"/>
              <a:buNone/>
            </a:pPr>
            <a:r>
              <a:rPr lang="en-US" altLang="zh-CN" sz="2000" dirty="0">
                <a:solidFill>
                  <a:srgbClr val="0033CC"/>
                </a:solidFill>
                <a:latin typeface="Courier New" charset="0"/>
                <a:ea typeface="宋体" charset="0"/>
              </a:rPr>
              <a:t>  </a:t>
            </a:r>
            <a:r>
              <a:rPr lang="en-US" altLang="zh-CN" sz="2000" dirty="0" err="1">
                <a:solidFill>
                  <a:srgbClr val="0033CC"/>
                </a:solidFill>
                <a:latin typeface="Courier New" charset="0"/>
                <a:ea typeface="宋体" charset="0"/>
              </a:rPr>
              <a:t>enum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response {no = -1,  yes = 1,  none = 0};</a:t>
            </a:r>
          </a:p>
          <a:p>
            <a:pPr>
              <a:lnSpc>
                <a:spcPct val="85000"/>
              </a:lnSpc>
              <a:buFont typeface="Monotype Sorts" charset="2"/>
              <a:buNone/>
            </a:pP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除非特别指定，否则这组常量中的第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个标识符的值为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，以后依次递增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1.        </a:t>
            </a:r>
          </a:p>
        </p:txBody>
      </p:sp>
      <p:sp>
        <p:nvSpPr>
          <p:cNvPr id="238596" name="AutoShape 4"/>
          <p:cNvSpPr>
            <a:spLocks noChangeArrowheads="1"/>
          </p:cNvSpPr>
          <p:nvPr/>
        </p:nvSpPr>
        <p:spPr bwMode="auto">
          <a:xfrm>
            <a:off x="3995738" y="3860800"/>
            <a:ext cx="2303462" cy="504825"/>
          </a:xfrm>
          <a:prstGeom prst="cloudCallout">
            <a:avLst>
              <a:gd name="adj1" fmla="val -102653"/>
              <a:gd name="adj2" fmla="val 6917"/>
            </a:avLst>
          </a:prstGeom>
          <a:solidFill>
            <a:srgbClr val="FFCC99"/>
          </a:solidFill>
          <a:ln w="9525">
            <a:solidFill>
              <a:srgbClr val="000080"/>
            </a:solidFill>
            <a:round/>
            <a:headEnd/>
            <a:tailEnd/>
          </a:ln>
          <a:effectLst/>
        </p:spPr>
        <p:txBody>
          <a:bodyPr lIns="92075" tIns="46037" rIns="92075" bIns="46037"/>
          <a:lstStyle>
            <a:lvl1pPr marL="374650" indent="-3746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zh-CN" altLang="en-US" sz="240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其值为</a:t>
            </a:r>
            <a:r>
              <a:rPr lang="en-US" altLang="zh-CN" sz="240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</a:p>
        </p:txBody>
      </p:sp>
      <p:sp>
        <p:nvSpPr>
          <p:cNvPr id="238597" name="AutoShape 5"/>
          <p:cNvSpPr>
            <a:spLocks noChangeArrowheads="1"/>
          </p:cNvSpPr>
          <p:nvPr/>
        </p:nvSpPr>
        <p:spPr bwMode="auto">
          <a:xfrm>
            <a:off x="3924300" y="4581525"/>
            <a:ext cx="2449513" cy="576263"/>
          </a:xfrm>
          <a:prstGeom prst="cloudCallout">
            <a:avLst>
              <a:gd name="adj1" fmla="val -96273"/>
              <a:gd name="adj2" fmla="val -59366"/>
            </a:avLst>
          </a:prstGeom>
          <a:solidFill>
            <a:srgbClr val="FFCC99"/>
          </a:solidFill>
          <a:ln w="9525">
            <a:solidFill>
              <a:srgbClr val="000080"/>
            </a:solidFill>
            <a:round/>
            <a:headEnd/>
            <a:tailEnd/>
          </a:ln>
          <a:effectLst/>
        </p:spPr>
        <p:txBody>
          <a:bodyPr lIns="92075" tIns="46037" rIns="92075" bIns="46037"/>
          <a:lstStyle>
            <a:lvl1pPr marL="374650" indent="-3746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zh-CN" altLang="en-US" sz="240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其值为</a:t>
            </a:r>
            <a:r>
              <a:rPr lang="en-US" altLang="zh-CN" sz="240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1513B-B10F-6841-86F0-2CF8AF7154E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56810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为什么需要常量？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84313"/>
            <a:ext cx="8569325" cy="461168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333399"/>
                </a:solidFill>
                <a:ea typeface="宋体" charset="0"/>
              </a:rPr>
              <a:t>假如不使用常量，直接使用常数，会有什么影响？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ea typeface="宋体" charset="0"/>
              </a:rPr>
              <a:t>程序的可读性变差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ea typeface="宋体" charset="0"/>
              </a:rPr>
              <a:t>容易发生书写错误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ea typeface="宋体" charset="0"/>
              </a:rPr>
              <a:t>当常数需要改变时，要修改所有使用它的代码，工作量大，还可能有遗漏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333399"/>
                </a:solidFill>
                <a:ea typeface="宋体" charset="0"/>
              </a:rPr>
              <a:t>解决方案：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ea typeface="宋体" charset="0"/>
              </a:rPr>
              <a:t>避免使用幻数（直接使用的常数）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ea typeface="宋体" charset="0"/>
              </a:rPr>
              <a:t>把幻数定义为宏常量、</a:t>
            </a:r>
            <a:r>
              <a:rPr lang="en-US" altLang="zh-CN" dirty="0" err="1">
                <a:solidFill>
                  <a:schemeClr val="accent2"/>
                </a:solidFill>
                <a:latin typeface="Courier New" charset="0"/>
                <a:ea typeface="宋体" charset="0"/>
              </a:rPr>
              <a:t>const</a:t>
            </a:r>
            <a:r>
              <a:rPr lang="zh-CN" altLang="en-US" dirty="0">
                <a:solidFill>
                  <a:schemeClr val="accent2"/>
                </a:solidFill>
                <a:ea typeface="宋体" charset="0"/>
              </a:rPr>
              <a:t>常量</a:t>
            </a:r>
            <a:r>
              <a:rPr lang="zh-CN" altLang="en-US" dirty="0">
                <a:ea typeface="宋体" charset="0"/>
              </a:rPr>
              <a:t>，或</a:t>
            </a:r>
            <a:r>
              <a:rPr lang="zh-CN" altLang="en-US" dirty="0">
                <a:solidFill>
                  <a:schemeClr val="accent2"/>
                </a:solidFill>
                <a:ea typeface="宋体" charset="0"/>
              </a:rPr>
              <a:t>枚举常量</a:t>
            </a:r>
          </a:p>
          <a:p>
            <a:pPr lvl="2">
              <a:lnSpc>
                <a:spcPct val="110000"/>
              </a:lnSpc>
            </a:pPr>
            <a:r>
              <a:rPr lang="zh-CN" altLang="en-US" dirty="0">
                <a:ea typeface="宋体" charset="0"/>
              </a:rPr>
              <a:t>建议使用后两者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4FDF-458D-B047-BEAB-1A51396C08D1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752054"/>
          </a:xfrm>
        </p:spPr>
        <p:txBody>
          <a:bodyPr/>
          <a:lstStyle/>
          <a:p>
            <a:r>
              <a:rPr lang="zh-CN" altLang="en-US" dirty="0"/>
              <a:t>变量</a:t>
            </a:r>
          </a:p>
        </p:txBody>
      </p:sp>
      <p:sp>
        <p:nvSpPr>
          <p:cNvPr id="249859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484784"/>
            <a:ext cx="7871786" cy="4608512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zh-CN" altLang="en-US" sz="6200" b="1" dirty="0">
                <a:ea typeface="宋体" charset="0"/>
              </a:rPr>
              <a:t>什么是变量？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zh-CN" altLang="en-US" sz="6000" dirty="0">
                <a:solidFill>
                  <a:srgbClr val="333399"/>
                </a:solidFill>
                <a:ea typeface="宋体" charset="0"/>
              </a:rPr>
              <a:t>     </a:t>
            </a:r>
            <a:r>
              <a:rPr lang="zh-CN" altLang="en-US" sz="6000" dirty="0">
                <a:solidFill>
                  <a:schemeClr val="hlink"/>
                </a:solidFill>
                <a:ea typeface="宋体" charset="0"/>
              </a:rPr>
              <a:t>一句话，变量是存储数据的值的</a:t>
            </a:r>
            <a:r>
              <a:rPr lang="zh-CN" altLang="en-US" sz="6000" dirty="0">
                <a:solidFill>
                  <a:srgbClr val="FF0000"/>
                </a:solidFill>
                <a:ea typeface="宋体" charset="0"/>
              </a:rPr>
              <a:t>空间</a:t>
            </a:r>
            <a:r>
              <a:rPr lang="en-US" altLang="zh-CN" sz="6000" dirty="0">
                <a:solidFill>
                  <a:srgbClr val="333399"/>
                </a:solidFill>
                <a:ea typeface="宋体" charset="0"/>
              </a:rPr>
              <a:t>.</a:t>
            </a:r>
            <a:r>
              <a:rPr lang="en-US" altLang="zh-CN" sz="3500" dirty="0">
                <a:ea typeface="宋体" charset="0"/>
              </a:rPr>
              <a:t> 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zh-CN" altLang="en-US" sz="5500" dirty="0">
                <a:ea typeface="宋体" charset="0"/>
              </a:rPr>
              <a:t>     变量都会有个名字，这个名字我们叫做</a:t>
            </a:r>
            <a:r>
              <a:rPr lang="zh-CN" altLang="en-US" sz="5500" dirty="0">
                <a:solidFill>
                  <a:srgbClr val="FF0000"/>
                </a:solidFill>
                <a:ea typeface="宋体" charset="0"/>
              </a:rPr>
              <a:t>标识符</a:t>
            </a:r>
            <a:r>
              <a:rPr lang="zh-CN" altLang="en-US" sz="5500" dirty="0">
                <a:ea typeface="宋体" charset="0"/>
              </a:rPr>
              <a:t>。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zh-CN" sz="4900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en-US" altLang="zh-CN" sz="49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  </a:t>
            </a:r>
            <a:r>
              <a:rPr lang="en-US" altLang="zh-CN" sz="4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i</a:t>
            </a:r>
            <a:r>
              <a:rPr lang="en-US" altLang="zh-CN" sz="49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= 1;</a:t>
            </a:r>
            <a:endParaRPr lang="en-US" altLang="zh-CN" sz="9800" dirty="0">
              <a:solidFill>
                <a:srgbClr val="333399"/>
              </a:solidFill>
              <a:ea typeface="宋体" charset="0"/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zh-CN" altLang="en-US" sz="5500" dirty="0">
                <a:solidFill>
                  <a:srgbClr val="CC00CC"/>
                </a:solidFill>
                <a:ea typeface="宋体" charset="0"/>
              </a:rPr>
              <a:t>变量中的“</a:t>
            </a:r>
            <a:r>
              <a:rPr lang="zh-CN" altLang="en-US" sz="5500" dirty="0">
                <a:solidFill>
                  <a:schemeClr val="accent2"/>
                </a:solidFill>
                <a:ea typeface="宋体" charset="0"/>
              </a:rPr>
              <a:t>量</a:t>
            </a:r>
            <a:r>
              <a:rPr lang="zh-CN" altLang="en-US" sz="5500" dirty="0">
                <a:solidFill>
                  <a:srgbClr val="CC00CC"/>
                </a:solidFill>
                <a:ea typeface="宋体" charset="0"/>
              </a:rPr>
              <a:t>”，即变量的</a:t>
            </a:r>
            <a:r>
              <a:rPr lang="zh-CN" altLang="en-US" sz="5500" dirty="0">
                <a:solidFill>
                  <a:schemeClr val="accent2"/>
                </a:solidFill>
                <a:ea typeface="宋体" charset="0"/>
              </a:rPr>
              <a:t>值</a:t>
            </a:r>
            <a:r>
              <a:rPr lang="zh-CN" altLang="en-US" sz="5500" dirty="0">
                <a:solidFill>
                  <a:srgbClr val="CC00CC"/>
                </a:solidFill>
                <a:ea typeface="宋体" charset="0"/>
              </a:rPr>
              <a:t>，是在程序执行过程中可以改变、可以赋值的。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zh-CN" altLang="en-US" sz="4000" dirty="0">
              <a:solidFill>
                <a:srgbClr val="CC00CC"/>
              </a:solidFill>
              <a:ea typeface="宋体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5500" b="1" dirty="0">
                <a:ea typeface="宋体" charset="0"/>
              </a:rPr>
              <a:t>使用变量的基本原则</a:t>
            </a:r>
          </a:p>
          <a:p>
            <a:pPr lvl="1">
              <a:lnSpc>
                <a:spcPct val="120000"/>
              </a:lnSpc>
            </a:pPr>
            <a:r>
              <a:rPr lang="zh-CN" altLang="en-US" sz="4800" dirty="0">
                <a:ea typeface="宋体" charset="0"/>
              </a:rPr>
              <a:t>变量必须</a:t>
            </a:r>
            <a:r>
              <a:rPr lang="zh-CN" altLang="en-US" sz="4800" dirty="0">
                <a:solidFill>
                  <a:schemeClr val="accent2"/>
                </a:solidFill>
                <a:ea typeface="宋体" charset="0"/>
              </a:rPr>
              <a:t>先定义</a:t>
            </a:r>
            <a:r>
              <a:rPr lang="zh-CN" altLang="en-US" sz="4800" dirty="0">
                <a:ea typeface="宋体" charset="0"/>
              </a:rPr>
              <a:t>，后使用。</a:t>
            </a:r>
            <a:r>
              <a:rPr lang="zh-CN" altLang="en-US" sz="55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charset="0"/>
              </a:rPr>
              <a:t>变量定义的形式：</a:t>
            </a:r>
            <a:endParaRPr lang="en-US" altLang="zh-CN" sz="4400" b="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charset="0"/>
            </a:endParaRPr>
          </a:p>
          <a:p>
            <a:pPr lvl="1">
              <a:lnSpc>
                <a:spcPct val="120000"/>
              </a:lnSpc>
              <a:buFontTx/>
              <a:buNone/>
            </a:pPr>
            <a:r>
              <a:rPr lang="zh-CN" altLang="en-US" sz="4800" dirty="0">
                <a:solidFill>
                  <a:srgbClr val="FF0000"/>
                </a:solidFill>
                <a:ea typeface="宋体" charset="0"/>
              </a:rPr>
              <a:t>类型关键字  变量名</a:t>
            </a:r>
            <a:r>
              <a:rPr lang="en-US" altLang="zh-CN" sz="4800" dirty="0">
                <a:solidFill>
                  <a:srgbClr val="FF0000"/>
                </a:solidFill>
                <a:ea typeface="宋体" charset="0"/>
              </a:rPr>
              <a:t>1[,</a:t>
            </a:r>
            <a:r>
              <a:rPr lang="zh-CN" altLang="en-US" sz="4800" dirty="0">
                <a:solidFill>
                  <a:srgbClr val="FF0000"/>
                </a:solidFill>
                <a:ea typeface="宋体" charset="0"/>
              </a:rPr>
              <a:t>变量名</a:t>
            </a:r>
            <a:r>
              <a:rPr lang="en-US" altLang="zh-CN" sz="4800" dirty="0">
                <a:solidFill>
                  <a:srgbClr val="FF0000"/>
                </a:solidFill>
                <a:ea typeface="宋体" charset="0"/>
              </a:rPr>
              <a:t>2</a:t>
            </a:r>
            <a:r>
              <a:rPr lang="zh-CN" altLang="en-US" sz="4800" dirty="0">
                <a:solidFill>
                  <a:srgbClr val="FF0000"/>
                </a:solidFill>
                <a:ea typeface="宋体" charset="0"/>
              </a:rPr>
              <a:t>，</a:t>
            </a:r>
            <a:r>
              <a:rPr lang="en-US" altLang="zh-CN" sz="4800" dirty="0">
                <a:solidFill>
                  <a:srgbClr val="FF0000"/>
                </a:solidFill>
                <a:ea typeface="宋体" charset="0"/>
              </a:rPr>
              <a:t>……]</a:t>
            </a:r>
          </a:p>
          <a:p>
            <a:pPr lvl="1">
              <a:lnSpc>
                <a:spcPct val="120000"/>
              </a:lnSpc>
              <a:buFontTx/>
              <a:buNone/>
            </a:pPr>
            <a:endParaRPr lang="zh-CN" altLang="en-US" sz="4800" dirty="0">
              <a:solidFill>
                <a:srgbClr val="FF0000"/>
              </a:solidFill>
              <a:ea typeface="宋体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4800" dirty="0">
                <a:ea typeface="宋体" charset="0"/>
              </a:rPr>
              <a:t>所有变量必须在第一条可执行语句前定义</a:t>
            </a:r>
          </a:p>
          <a:p>
            <a:pPr>
              <a:lnSpc>
                <a:spcPct val="85000"/>
              </a:lnSpc>
              <a:buFont typeface="Monotype Sorts" charset="2"/>
              <a:buNone/>
            </a:pPr>
            <a:endParaRPr lang="zh-CN" altLang="en-US" sz="3200" dirty="0">
              <a:solidFill>
                <a:srgbClr val="333399"/>
              </a:solidFill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CC0A-A763-9344-B207-273C6CC6D6B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783781"/>
          </a:xfrm>
        </p:spPr>
        <p:txBody>
          <a:bodyPr/>
          <a:lstStyle/>
          <a:p>
            <a:r>
              <a:rPr lang="zh-CN" altLang="en-US" dirty="0"/>
              <a:t>变量声明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484784"/>
            <a:ext cx="8134350" cy="5040858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zh-CN" altLang="en-US" dirty="0">
                <a:ea typeface="宋体" charset="0"/>
              </a:rPr>
              <a:t>声明的顺序无关紧要</a:t>
            </a:r>
          </a:p>
          <a:p>
            <a:pPr>
              <a:lnSpc>
                <a:spcPct val="85000"/>
              </a:lnSpc>
            </a:pPr>
            <a:r>
              <a:rPr lang="zh-CN" altLang="en-US" dirty="0">
                <a:ea typeface="宋体" charset="0"/>
              </a:rPr>
              <a:t>一条声明语句可声明若干个同类型的变量</a:t>
            </a:r>
          </a:p>
          <a:p>
            <a:pPr>
              <a:lnSpc>
                <a:spcPct val="85000"/>
              </a:lnSpc>
            </a:pPr>
            <a:r>
              <a:rPr lang="zh-CN" altLang="en-US" dirty="0">
                <a:ea typeface="宋体" charset="0"/>
              </a:rPr>
              <a:t>声明变量，是初始化变量的</a:t>
            </a: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最好时机</a:t>
            </a:r>
          </a:p>
          <a:p>
            <a:pPr lvl="1">
              <a:lnSpc>
                <a:spcPct val="85000"/>
              </a:lnSpc>
            </a:pPr>
            <a:r>
              <a:rPr lang="zh-CN" altLang="en-US" dirty="0">
                <a:ea typeface="宋体" charset="0"/>
              </a:rPr>
              <a:t>不被初始化的变量，其值为危险的随机数</a:t>
            </a:r>
          </a:p>
          <a:p>
            <a:pPr>
              <a:lnSpc>
                <a:spcPct val="85000"/>
              </a:lnSpc>
              <a:buFont typeface="Monotype Sorts" charset="2"/>
              <a:buNone/>
            </a:pPr>
            <a:endParaRPr lang="en-US" altLang="zh-CN" dirty="0">
              <a:solidFill>
                <a:srgbClr val="0000FF"/>
              </a:solidFill>
              <a:latin typeface="Courier New" charset="0"/>
              <a:ea typeface="宋体" charset="0"/>
            </a:endParaRP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		char</a:t>
            </a:r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 esc = 'a';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		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   </a:t>
            </a:r>
            <a:r>
              <a:rPr lang="en-US" altLang="zh-CN" dirty="0" err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= 1,j,k;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		</a:t>
            </a:r>
            <a:r>
              <a:rPr lang="en-US" altLang="zh-CN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  sum = 0;</a:t>
            </a:r>
          </a:p>
          <a:p>
            <a:pPr>
              <a:lnSpc>
                <a:spcPct val="75000"/>
              </a:lnSpc>
              <a:buFont typeface="Monotype Sorts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Courier New" charset="0"/>
                <a:ea typeface="宋体" charset="0"/>
              </a:rPr>
              <a:t>		float</a:t>
            </a:r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eps = 1.0e-5;</a:t>
            </a:r>
            <a:endParaRPr lang="zh-CN" altLang="en-US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03A4-B919-B746-8AF4-800BD22C2CD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43" name="Group 165"/>
          <p:cNvGrpSpPr>
            <a:grpSpLocks/>
          </p:cNvGrpSpPr>
          <p:nvPr/>
        </p:nvGrpSpPr>
        <p:grpSpPr bwMode="auto">
          <a:xfrm>
            <a:off x="1834256" y="2276872"/>
            <a:ext cx="7634288" cy="4152900"/>
            <a:chOff x="1227" y="1704"/>
            <a:chExt cx="4809" cy="2616"/>
          </a:xfrm>
        </p:grpSpPr>
        <p:sp>
          <p:nvSpPr>
            <p:cNvPr id="44" name="AutoShape 21"/>
            <p:cNvSpPr>
              <a:spLocks noChangeArrowheads="1"/>
            </p:cNvSpPr>
            <p:nvPr/>
          </p:nvSpPr>
          <p:spPr bwMode="auto">
            <a:xfrm>
              <a:off x="1227" y="3500"/>
              <a:ext cx="2192" cy="480"/>
            </a:xfrm>
            <a:prstGeom prst="wedgeRoundRectCallout">
              <a:avLst>
                <a:gd name="adj1" fmla="val 63000"/>
                <a:gd name="adj2" fmla="val -150000"/>
                <a:gd name="adj3" fmla="val 16667"/>
              </a:avLst>
            </a:prstGeom>
            <a:solidFill>
              <a:sysClr val="window" lastClr="FFFFFF"/>
            </a:solidFill>
            <a:ln w="9525">
              <a:solidFill>
                <a:srgbClr val="5EAEFF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编译程序根据变量定义为其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分配指定字节的内存单元</a:t>
              </a:r>
            </a:p>
          </p:txBody>
        </p:sp>
        <p:grpSp>
          <p:nvGrpSpPr>
            <p:cNvPr id="45" name="Group 130"/>
            <p:cNvGrpSpPr>
              <a:grpSpLocks/>
            </p:cNvGrpSpPr>
            <p:nvPr/>
          </p:nvGrpSpPr>
          <p:grpSpPr bwMode="auto">
            <a:xfrm>
              <a:off x="3039" y="1704"/>
              <a:ext cx="2997" cy="2616"/>
              <a:chOff x="1515" y="769"/>
              <a:chExt cx="2997" cy="2616"/>
            </a:xfrm>
          </p:grpSpPr>
          <p:sp>
            <p:nvSpPr>
              <p:cNvPr id="46" name="Rectangle 131"/>
              <p:cNvSpPr>
                <a:spLocks noChangeArrowheads="1"/>
              </p:cNvSpPr>
              <p:nvPr/>
            </p:nvSpPr>
            <p:spPr bwMode="auto">
              <a:xfrm>
                <a:off x="2220" y="1044"/>
                <a:ext cx="1188" cy="2088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rgbClr val="5EAEFF"/>
                </a:solidFill>
                <a:miter lim="800000"/>
                <a:headEnd/>
                <a:tailEnd/>
              </a:ln>
            </p:spPr>
            <p:txBody>
              <a:bodyPr lIns="90000" tIns="46800" rIns="90000" bIns="46800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endParaRPr>
              </a:p>
            </p:txBody>
          </p:sp>
          <p:sp>
            <p:nvSpPr>
              <p:cNvPr id="47" name="Line 132"/>
              <p:cNvSpPr>
                <a:spLocks noChangeShapeType="1"/>
              </p:cNvSpPr>
              <p:nvPr/>
            </p:nvSpPr>
            <p:spPr bwMode="auto">
              <a:xfrm>
                <a:off x="2220" y="1368"/>
                <a:ext cx="1188" cy="0"/>
              </a:xfrm>
              <a:prstGeom prst="line">
                <a:avLst/>
              </a:prstGeom>
              <a:noFill/>
              <a:ln w="9525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8" name="Line 133"/>
              <p:cNvSpPr>
                <a:spLocks noChangeShapeType="1"/>
              </p:cNvSpPr>
              <p:nvPr/>
            </p:nvSpPr>
            <p:spPr bwMode="auto">
              <a:xfrm>
                <a:off x="2220" y="1618"/>
                <a:ext cx="1188" cy="0"/>
              </a:xfrm>
              <a:prstGeom prst="line">
                <a:avLst/>
              </a:prstGeom>
              <a:noFill/>
              <a:ln w="9525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49" name="Line 134"/>
              <p:cNvSpPr>
                <a:spLocks noChangeShapeType="1"/>
              </p:cNvSpPr>
              <p:nvPr/>
            </p:nvSpPr>
            <p:spPr bwMode="auto">
              <a:xfrm>
                <a:off x="2220" y="1868"/>
                <a:ext cx="1188" cy="0"/>
              </a:xfrm>
              <a:prstGeom prst="line">
                <a:avLst/>
              </a:prstGeom>
              <a:noFill/>
              <a:ln w="9525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0" name="Line 135"/>
              <p:cNvSpPr>
                <a:spLocks noChangeShapeType="1"/>
              </p:cNvSpPr>
              <p:nvPr/>
            </p:nvSpPr>
            <p:spPr bwMode="auto">
              <a:xfrm>
                <a:off x="2220" y="2118"/>
                <a:ext cx="1188" cy="0"/>
              </a:xfrm>
              <a:prstGeom prst="line">
                <a:avLst/>
              </a:prstGeom>
              <a:noFill/>
              <a:ln w="9525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1" name="Line 136"/>
              <p:cNvSpPr>
                <a:spLocks noChangeShapeType="1"/>
              </p:cNvSpPr>
              <p:nvPr/>
            </p:nvSpPr>
            <p:spPr bwMode="auto">
              <a:xfrm>
                <a:off x="2220" y="2368"/>
                <a:ext cx="1188" cy="0"/>
              </a:xfrm>
              <a:prstGeom prst="line">
                <a:avLst/>
              </a:prstGeom>
              <a:noFill/>
              <a:ln w="9525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2" name="Line 137"/>
              <p:cNvSpPr>
                <a:spLocks noChangeShapeType="1"/>
              </p:cNvSpPr>
              <p:nvPr/>
            </p:nvSpPr>
            <p:spPr bwMode="auto">
              <a:xfrm>
                <a:off x="2220" y="2618"/>
                <a:ext cx="1188" cy="0"/>
              </a:xfrm>
              <a:prstGeom prst="line">
                <a:avLst/>
              </a:prstGeom>
              <a:noFill/>
              <a:ln w="9525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3" name="Line 138"/>
              <p:cNvSpPr>
                <a:spLocks noChangeShapeType="1"/>
              </p:cNvSpPr>
              <p:nvPr/>
            </p:nvSpPr>
            <p:spPr bwMode="auto">
              <a:xfrm>
                <a:off x="2220" y="2868"/>
                <a:ext cx="1188" cy="0"/>
              </a:xfrm>
              <a:prstGeom prst="line">
                <a:avLst/>
              </a:prstGeom>
              <a:noFill/>
              <a:ln w="9525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54" name="Text Box 139"/>
              <p:cNvSpPr txBox="1">
                <a:spLocks noChangeArrowheads="1"/>
              </p:cNvSpPr>
              <p:nvPr/>
            </p:nvSpPr>
            <p:spPr bwMode="auto">
              <a:xfrm>
                <a:off x="2691" y="2827"/>
                <a:ext cx="306" cy="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…...</a:t>
                </a:r>
              </a:p>
            </p:txBody>
          </p:sp>
          <p:grpSp>
            <p:nvGrpSpPr>
              <p:cNvPr id="55" name="Group 140"/>
              <p:cNvGrpSpPr>
                <a:grpSpLocks/>
              </p:cNvGrpSpPr>
              <p:nvPr/>
            </p:nvGrpSpPr>
            <p:grpSpPr bwMode="auto">
              <a:xfrm>
                <a:off x="1515" y="1210"/>
                <a:ext cx="705" cy="250"/>
                <a:chOff x="1515" y="922"/>
                <a:chExt cx="705" cy="250"/>
              </a:xfrm>
            </p:grpSpPr>
            <p:sp>
              <p:nvSpPr>
                <p:cNvPr id="78" name="Line 141"/>
                <p:cNvSpPr>
                  <a:spLocks noChangeShapeType="1"/>
                </p:cNvSpPr>
                <p:nvPr/>
              </p:nvSpPr>
              <p:spPr bwMode="auto">
                <a:xfrm>
                  <a:off x="1872" y="10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79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1515" y="922"/>
                  <a:ext cx="43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Arial" charset="0"/>
                      <a:ea typeface="隶书" charset="0"/>
                    </a:rPr>
                    <a:t>地址</a:t>
                  </a:r>
                </a:p>
              </p:txBody>
            </p:sp>
          </p:grpSp>
          <p:sp>
            <p:nvSpPr>
              <p:cNvPr id="56" name="Text Box 143"/>
              <p:cNvSpPr txBox="1">
                <a:spLocks noChangeArrowheads="1"/>
              </p:cNvSpPr>
              <p:nvPr/>
            </p:nvSpPr>
            <p:spPr bwMode="auto">
              <a:xfrm>
                <a:off x="2139" y="769"/>
                <a:ext cx="150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int   a=1, b=-3,c;</a:t>
                </a:r>
                <a:endPara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endParaRPr>
              </a:p>
            </p:txBody>
          </p:sp>
          <p:sp>
            <p:nvSpPr>
              <p:cNvPr id="57" name="Text Box 144"/>
              <p:cNvSpPr txBox="1">
                <a:spLocks noChangeArrowheads="1"/>
              </p:cNvSpPr>
              <p:nvPr/>
            </p:nvSpPr>
            <p:spPr bwMode="auto">
              <a:xfrm>
                <a:off x="1971" y="1465"/>
                <a:ext cx="2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a</a:t>
                </a:r>
              </a:p>
            </p:txBody>
          </p:sp>
          <p:sp>
            <p:nvSpPr>
              <p:cNvPr id="58" name="Text Box 145"/>
              <p:cNvSpPr txBox="1">
                <a:spLocks noChangeArrowheads="1"/>
              </p:cNvSpPr>
              <p:nvPr/>
            </p:nvSpPr>
            <p:spPr bwMode="auto">
              <a:xfrm>
                <a:off x="1971" y="1957"/>
                <a:ext cx="2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b</a:t>
                </a:r>
              </a:p>
            </p:txBody>
          </p:sp>
          <p:sp>
            <p:nvSpPr>
              <p:cNvPr id="59" name="Text Box 146"/>
              <p:cNvSpPr txBox="1">
                <a:spLocks noChangeArrowheads="1"/>
              </p:cNvSpPr>
              <p:nvPr/>
            </p:nvSpPr>
            <p:spPr bwMode="auto">
              <a:xfrm>
                <a:off x="1971" y="2485"/>
                <a:ext cx="21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c</a:t>
                </a:r>
              </a:p>
            </p:txBody>
          </p:sp>
          <p:sp>
            <p:nvSpPr>
              <p:cNvPr id="60" name="AutoShape 147"/>
              <p:cNvSpPr>
                <a:spLocks/>
              </p:cNvSpPr>
              <p:nvPr/>
            </p:nvSpPr>
            <p:spPr bwMode="auto">
              <a:xfrm>
                <a:off x="3420" y="1368"/>
                <a:ext cx="60" cy="504"/>
              </a:xfrm>
              <a:prstGeom prst="rightBrace">
                <a:avLst>
                  <a:gd name="adj1" fmla="val 70000"/>
                  <a:gd name="adj2" fmla="val 50000"/>
                </a:avLst>
              </a:prstGeom>
              <a:noFill/>
              <a:ln w="9525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endParaRPr>
              </a:p>
            </p:txBody>
          </p:sp>
          <p:sp>
            <p:nvSpPr>
              <p:cNvPr id="61" name="AutoShape 148"/>
              <p:cNvSpPr>
                <a:spLocks/>
              </p:cNvSpPr>
              <p:nvPr/>
            </p:nvSpPr>
            <p:spPr bwMode="auto">
              <a:xfrm>
                <a:off x="3420" y="1860"/>
                <a:ext cx="60" cy="504"/>
              </a:xfrm>
              <a:prstGeom prst="rightBrace">
                <a:avLst>
                  <a:gd name="adj1" fmla="val 70000"/>
                  <a:gd name="adj2" fmla="val 50000"/>
                </a:avLst>
              </a:prstGeom>
              <a:noFill/>
              <a:ln w="9525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endParaRPr>
              </a:p>
            </p:txBody>
          </p:sp>
          <p:sp>
            <p:nvSpPr>
              <p:cNvPr id="62" name="AutoShape 149"/>
              <p:cNvSpPr>
                <a:spLocks/>
              </p:cNvSpPr>
              <p:nvPr/>
            </p:nvSpPr>
            <p:spPr bwMode="auto">
              <a:xfrm>
                <a:off x="3420" y="2364"/>
                <a:ext cx="60" cy="504"/>
              </a:xfrm>
              <a:prstGeom prst="rightBrace">
                <a:avLst>
                  <a:gd name="adj1" fmla="val 70000"/>
                  <a:gd name="adj2" fmla="val 50000"/>
                </a:avLst>
              </a:prstGeom>
              <a:noFill/>
              <a:ln w="9525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endParaRPr>
              </a:p>
            </p:txBody>
          </p:sp>
          <p:sp>
            <p:nvSpPr>
              <p:cNvPr id="63" name="Text Box 150"/>
              <p:cNvSpPr txBox="1">
                <a:spLocks noChangeArrowheads="1"/>
              </p:cNvSpPr>
              <p:nvPr/>
            </p:nvSpPr>
            <p:spPr bwMode="auto">
              <a:xfrm>
                <a:off x="3471" y="1483"/>
                <a:ext cx="52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4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字节</a:t>
                </a:r>
              </a:p>
            </p:txBody>
          </p:sp>
          <p:sp>
            <p:nvSpPr>
              <p:cNvPr id="64" name="Text Box 151"/>
              <p:cNvSpPr txBox="1">
                <a:spLocks noChangeArrowheads="1"/>
              </p:cNvSpPr>
              <p:nvPr/>
            </p:nvSpPr>
            <p:spPr bwMode="auto">
              <a:xfrm>
                <a:off x="3471" y="1987"/>
                <a:ext cx="52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4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字节</a:t>
                </a:r>
              </a:p>
            </p:txBody>
          </p:sp>
          <p:sp>
            <p:nvSpPr>
              <p:cNvPr id="65" name="Text Box 152"/>
              <p:cNvSpPr txBox="1">
                <a:spLocks noChangeArrowheads="1"/>
              </p:cNvSpPr>
              <p:nvPr/>
            </p:nvSpPr>
            <p:spPr bwMode="auto">
              <a:xfrm>
                <a:off x="3471" y="2491"/>
                <a:ext cx="52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4</a:t>
                </a:r>
                <a:r>
                  <a:rPr kumimoji="1" lang="zh-CN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字节</a:t>
                </a:r>
              </a:p>
            </p:txBody>
          </p:sp>
          <p:grpSp>
            <p:nvGrpSpPr>
              <p:cNvPr id="66" name="Group 153"/>
              <p:cNvGrpSpPr>
                <a:grpSpLocks/>
              </p:cNvGrpSpPr>
              <p:nvPr/>
            </p:nvGrpSpPr>
            <p:grpSpPr bwMode="auto">
              <a:xfrm>
                <a:off x="1515" y="1714"/>
                <a:ext cx="705" cy="250"/>
                <a:chOff x="1515" y="922"/>
                <a:chExt cx="705" cy="250"/>
              </a:xfrm>
            </p:grpSpPr>
            <p:sp>
              <p:nvSpPr>
                <p:cNvPr id="76" name="Line 154"/>
                <p:cNvSpPr>
                  <a:spLocks noChangeShapeType="1"/>
                </p:cNvSpPr>
                <p:nvPr/>
              </p:nvSpPr>
              <p:spPr bwMode="auto">
                <a:xfrm>
                  <a:off x="1872" y="10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77" name="Text Box 155"/>
                <p:cNvSpPr txBox="1">
                  <a:spLocks noChangeArrowheads="1"/>
                </p:cNvSpPr>
                <p:nvPr/>
              </p:nvSpPr>
              <p:spPr bwMode="auto">
                <a:xfrm>
                  <a:off x="1515" y="922"/>
                  <a:ext cx="43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Arial" charset="0"/>
                      <a:ea typeface="隶书" charset="0"/>
                    </a:rPr>
                    <a:t>地址</a:t>
                  </a:r>
                </a:p>
              </p:txBody>
            </p:sp>
          </p:grpSp>
          <p:grpSp>
            <p:nvGrpSpPr>
              <p:cNvPr id="67" name="Group 156"/>
              <p:cNvGrpSpPr>
                <a:grpSpLocks/>
              </p:cNvGrpSpPr>
              <p:nvPr/>
            </p:nvGrpSpPr>
            <p:grpSpPr bwMode="auto">
              <a:xfrm>
                <a:off x="1515" y="2218"/>
                <a:ext cx="705" cy="250"/>
                <a:chOff x="1515" y="922"/>
                <a:chExt cx="705" cy="250"/>
              </a:xfrm>
            </p:grpSpPr>
            <p:sp>
              <p:nvSpPr>
                <p:cNvPr id="74" name="Line 157"/>
                <p:cNvSpPr>
                  <a:spLocks noChangeShapeType="1"/>
                </p:cNvSpPr>
                <p:nvPr/>
              </p:nvSpPr>
              <p:spPr bwMode="auto">
                <a:xfrm>
                  <a:off x="1872" y="10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</a:endParaRPr>
                </a:p>
              </p:txBody>
            </p:sp>
            <p:sp>
              <p:nvSpPr>
                <p:cNvPr id="75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1515" y="922"/>
                  <a:ext cx="43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charset="0"/>
                      <a:ea typeface="宋体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0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FF"/>
                      </a:solidFill>
                      <a:effectLst/>
                      <a:uLnTx/>
                      <a:uFillTx/>
                      <a:latin typeface="Arial" charset="0"/>
                      <a:ea typeface="隶书" charset="0"/>
                    </a:rPr>
                    <a:t>地址</a:t>
                  </a:r>
                </a:p>
              </p:txBody>
            </p:sp>
          </p:grpSp>
          <p:sp>
            <p:nvSpPr>
              <p:cNvPr id="68" name="Text Box 159"/>
              <p:cNvSpPr txBox="1">
                <a:spLocks noChangeArrowheads="1"/>
              </p:cNvSpPr>
              <p:nvPr/>
            </p:nvSpPr>
            <p:spPr bwMode="auto">
              <a:xfrm>
                <a:off x="2667" y="1039"/>
                <a:ext cx="306" cy="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…...</a:t>
                </a:r>
              </a:p>
            </p:txBody>
          </p:sp>
          <p:sp>
            <p:nvSpPr>
              <p:cNvPr id="69" name="Text Box 160"/>
              <p:cNvSpPr txBox="1">
                <a:spLocks noChangeArrowheads="1"/>
              </p:cNvSpPr>
              <p:nvPr/>
            </p:nvSpPr>
            <p:spPr bwMode="auto">
              <a:xfrm>
                <a:off x="2571" y="3097"/>
                <a:ext cx="49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内存</a:t>
                </a: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endParaRPr>
              </a:p>
            </p:txBody>
          </p:sp>
          <p:sp>
            <p:nvSpPr>
              <p:cNvPr id="70" name="Text Box 161"/>
              <p:cNvSpPr txBox="1">
                <a:spLocks noChangeArrowheads="1"/>
              </p:cNvSpPr>
              <p:nvPr/>
            </p:nvSpPr>
            <p:spPr bwMode="auto">
              <a:xfrm>
                <a:off x="2631" y="1453"/>
                <a:ext cx="2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1</a:t>
                </a:r>
              </a:p>
            </p:txBody>
          </p:sp>
          <p:sp>
            <p:nvSpPr>
              <p:cNvPr id="71" name="Text Box 162"/>
              <p:cNvSpPr txBox="1">
                <a:spLocks noChangeArrowheads="1"/>
              </p:cNvSpPr>
              <p:nvPr/>
            </p:nvSpPr>
            <p:spPr bwMode="auto">
              <a:xfrm>
                <a:off x="2631" y="1969"/>
                <a:ext cx="28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CC6600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-3</a:t>
                </a:r>
              </a:p>
            </p:txBody>
          </p:sp>
          <p:sp>
            <p:nvSpPr>
              <p:cNvPr id="72" name="Text Box 163"/>
              <p:cNvSpPr txBox="1">
                <a:spLocks noChangeArrowheads="1"/>
              </p:cNvSpPr>
              <p:nvPr/>
            </p:nvSpPr>
            <p:spPr bwMode="auto">
              <a:xfrm>
                <a:off x="2631" y="2470"/>
                <a:ext cx="3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5EAEFF"/>
                    </a:solidFill>
                    <a:effectLst/>
                    <a:uLnTx/>
                    <a:uFillTx/>
                    <a:latin typeface="Arial" charset="0"/>
                    <a:ea typeface="隶书" charset="0"/>
                    <a:sym typeface="Symbol" charset="2"/>
                  </a:rPr>
                  <a:t></a:t>
                </a:r>
                <a:endPara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CC6600"/>
                  </a:solidFill>
                  <a:effectLst/>
                  <a:uLnTx/>
                  <a:uFillTx/>
                  <a:latin typeface="Arial" charset="0"/>
                  <a:ea typeface="隶书" charset="0"/>
                </a:endParaRPr>
              </a:p>
            </p:txBody>
          </p:sp>
          <p:sp>
            <p:nvSpPr>
              <p:cNvPr id="73" name="AutoShape 164"/>
              <p:cNvSpPr>
                <a:spLocks/>
              </p:cNvSpPr>
              <p:nvPr/>
            </p:nvSpPr>
            <p:spPr bwMode="auto">
              <a:xfrm>
                <a:off x="3576" y="2932"/>
                <a:ext cx="936" cy="294"/>
              </a:xfrm>
              <a:prstGeom prst="callout2">
                <a:avLst>
                  <a:gd name="adj1" fmla="val 24491"/>
                  <a:gd name="adj2" fmla="val -5130"/>
                  <a:gd name="adj3" fmla="val 24491"/>
                  <a:gd name="adj4" fmla="val -24250"/>
                  <a:gd name="adj5" fmla="val -87755"/>
                  <a:gd name="adj6" fmla="val -77778"/>
                </a:avLst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隶书" charset="0"/>
                  </a:rPr>
                  <a:t>随机数</a:t>
                </a: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F20B8-43BF-E54B-A96E-A8CCB83B63F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55588" y="980728"/>
            <a:ext cx="8501062" cy="540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2088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>
              <a:lnSpc>
                <a:spcPct val="100000"/>
              </a:lnSpc>
            </a:pPr>
            <a:r>
              <a:rPr kumimoji="0" lang="zh-CN" altLang="en-US" b="0" dirty="0">
                <a:latin typeface="隶书" charset="0"/>
                <a:ea typeface="宋体" charset="0"/>
              </a:rPr>
              <a:t>常变量</a:t>
            </a:r>
            <a:r>
              <a:rPr kumimoji="0" lang="en-US" altLang="zh-CN" b="0" dirty="0">
                <a:latin typeface="隶书" charset="0"/>
                <a:ea typeface="宋体" charset="0"/>
              </a:rPr>
              <a:t>:</a:t>
            </a:r>
            <a:r>
              <a:rPr kumimoji="0" lang="zh-CN" altLang="en-US" b="0" dirty="0">
                <a:latin typeface="隶书" charset="0"/>
                <a:ea typeface="宋体" charset="0"/>
              </a:rPr>
              <a:t>变量的值在运行期间不能改变。</a:t>
            </a:r>
          </a:p>
          <a:p>
            <a:pPr lvl="2" eaLnBrk="1" hangingPunct="1">
              <a:lnSpc>
                <a:spcPct val="100000"/>
              </a:lnSpc>
            </a:pPr>
            <a:r>
              <a:rPr kumimoji="0" lang="zh-CN" altLang="en-US" b="0" dirty="0">
                <a:latin typeface="隶书" charset="0"/>
                <a:ea typeface="宋体" charset="0"/>
              </a:rPr>
              <a:t>定义形式：</a:t>
            </a:r>
            <a:r>
              <a:rPr kumimoji="0" lang="en-US" altLang="zh-CN" b="0" dirty="0" err="1">
                <a:solidFill>
                  <a:srgbClr val="0000FF"/>
                </a:solidFill>
                <a:latin typeface="隶书" charset="0"/>
                <a:ea typeface="宋体" charset="0"/>
              </a:rPr>
              <a:t>const</a:t>
            </a:r>
            <a:r>
              <a:rPr kumimoji="0" lang="en-US" altLang="zh-CN" b="0" dirty="0">
                <a:solidFill>
                  <a:srgbClr val="0000FF"/>
                </a:solidFill>
                <a:latin typeface="隶书" charset="0"/>
                <a:ea typeface="宋体" charset="0"/>
              </a:rPr>
              <a:t> </a:t>
            </a:r>
            <a:r>
              <a:rPr kumimoji="0" lang="zh-CN" altLang="en-US" b="0" dirty="0">
                <a:solidFill>
                  <a:srgbClr val="0000FF"/>
                </a:solidFill>
                <a:latin typeface="隶书" charset="0"/>
                <a:ea typeface="宋体" charset="0"/>
              </a:rPr>
              <a:t>变量类型 变量名 </a:t>
            </a:r>
            <a:r>
              <a:rPr kumimoji="0" lang="en-US" altLang="zh-CN" b="0" dirty="0">
                <a:solidFill>
                  <a:srgbClr val="0000FF"/>
                </a:solidFill>
                <a:latin typeface="隶书" charset="0"/>
                <a:ea typeface="宋体" charset="0"/>
              </a:rPr>
              <a:t>= </a:t>
            </a:r>
            <a:r>
              <a:rPr kumimoji="0" lang="zh-CN" altLang="en-US" b="0" dirty="0">
                <a:solidFill>
                  <a:srgbClr val="0000FF"/>
                </a:solidFill>
                <a:latin typeface="隶书" charset="0"/>
                <a:ea typeface="宋体" charset="0"/>
              </a:rPr>
              <a:t>变量值</a:t>
            </a:r>
          </a:p>
          <a:p>
            <a:pPr eaLnBrk="1" hangingPunct="1">
              <a:lnSpc>
                <a:spcPct val="100000"/>
              </a:lnSpc>
            </a:pPr>
            <a:endParaRPr kumimoji="0" lang="en-US" altLang="zh-CN" b="0" dirty="0">
              <a:latin typeface="Arial" charset="0"/>
              <a:ea typeface="隶书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534988" y="2276872"/>
            <a:ext cx="7275512" cy="1277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>
                <a:srgbClr val="31B6FD"/>
              </a:buClr>
              <a:buSzTx/>
              <a:buFont typeface="Monotype Sorts" charset="2"/>
              <a:buBlip>
                <a:blip r:embed="rId2"/>
              </a:buBlip>
            </a:pPr>
            <a:r>
              <a:rPr lang="zh-CN" altLang="en-US" sz="2200" b="0">
                <a:solidFill>
                  <a:srgbClr val="073E87"/>
                </a:solidFill>
                <a:latin typeface="隶书" charset="0"/>
              </a:rPr>
              <a:t>常变量在使用前要首先声明；在声明时赋值，在程序中间不能改变其值。</a:t>
            </a:r>
            <a:endParaRPr lang="en-US" altLang="zh-CN" sz="2200" b="0" dirty="0">
              <a:solidFill>
                <a:srgbClr val="073E87"/>
              </a:solidFill>
              <a:latin typeface="隶书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>
                <a:srgbClr val="31B6FD"/>
              </a:buClr>
              <a:buSzTx/>
              <a:buFont typeface="Monotype Sorts" charset="2"/>
              <a:buBlip>
                <a:blip r:embed="rId2"/>
              </a:buBlip>
            </a:pPr>
            <a:r>
              <a:rPr lang="zh-CN" altLang="en-US" sz="2200" b="0" dirty="0">
                <a:solidFill>
                  <a:srgbClr val="073E87"/>
                </a:solidFill>
                <a:latin typeface="隶书" charset="0"/>
              </a:rPr>
              <a:t>注意</a:t>
            </a:r>
            <a:r>
              <a:rPr lang="en-US" altLang="zh-CN" sz="2200" b="0" dirty="0">
                <a:solidFill>
                  <a:srgbClr val="073E87"/>
                </a:solidFill>
                <a:latin typeface="隶书" charset="0"/>
              </a:rPr>
              <a:t>#define</a:t>
            </a:r>
            <a:r>
              <a:rPr lang="zh-CN" altLang="en-US" sz="2200" b="0" dirty="0">
                <a:solidFill>
                  <a:srgbClr val="073E87"/>
                </a:solidFill>
                <a:latin typeface="隶书" charset="0"/>
              </a:rPr>
              <a:t>和</a:t>
            </a:r>
            <a:r>
              <a:rPr lang="en-US" altLang="zh-CN" sz="2200" b="0" dirty="0" err="1">
                <a:solidFill>
                  <a:srgbClr val="0000FF"/>
                </a:solidFill>
                <a:latin typeface="隶书" charset="0"/>
              </a:rPr>
              <a:t>const</a:t>
            </a:r>
            <a:r>
              <a:rPr lang="zh-CN" altLang="en-US" sz="2200" b="0" dirty="0">
                <a:solidFill>
                  <a:srgbClr val="073E87"/>
                </a:solidFill>
                <a:latin typeface="隶书" charset="0"/>
              </a:rPr>
              <a:t>的区别！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192213" y="4240213"/>
            <a:ext cx="4715050" cy="833178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008000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如  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const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float  PI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=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3.14;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     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73E87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PI=3.1415;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     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（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×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）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   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149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44450"/>
            <a:ext cx="7797800" cy="839788"/>
          </a:xfrm>
        </p:spPr>
        <p:txBody>
          <a:bodyPr/>
          <a:lstStyle/>
          <a:p>
            <a:pPr marL="838200" indent="-838200"/>
            <a:r>
              <a:rPr lang="zh-CN" altLang="en-US"/>
              <a:t>例</a:t>
            </a:r>
            <a:r>
              <a:rPr lang="en-US" altLang="zh-CN"/>
              <a:t>2.2 </a:t>
            </a:r>
            <a:r>
              <a:rPr lang="zh-CN" altLang="en-US"/>
              <a:t>：计算圆的周长和面积 </a:t>
            </a:r>
          </a:p>
        </p:txBody>
      </p:sp>
      <p:sp>
        <p:nvSpPr>
          <p:cNvPr id="242692" name="Rectangle 4"/>
          <p:cNvSpPr>
            <a:spLocks noGrp="1" noChangeArrowheads="1"/>
          </p:cNvSpPr>
          <p:nvPr>
            <p:ph idx="1"/>
          </p:nvPr>
        </p:nvSpPr>
        <p:spPr>
          <a:xfrm>
            <a:off x="323850" y="3978275"/>
            <a:ext cx="8424863" cy="287972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rgbClr val="333399"/>
                </a:solidFill>
                <a:latin typeface="Courier New" charset="0"/>
                <a:ea typeface="宋体" charset="0"/>
              </a:rPr>
              <a:t>用</a:t>
            </a:r>
            <a:r>
              <a:rPr lang="en-US" altLang="zh-CN" dirty="0" err="1">
                <a:solidFill>
                  <a:srgbClr val="333399"/>
                </a:solidFill>
                <a:latin typeface="Courier New" charset="0"/>
                <a:ea typeface="宋体" charset="0"/>
              </a:rPr>
              <a:t>const</a:t>
            </a:r>
            <a:r>
              <a:rPr lang="zh-CN" altLang="en-US" dirty="0">
                <a:solidFill>
                  <a:srgbClr val="333399"/>
                </a:solidFill>
                <a:latin typeface="Courier New" charset="0"/>
                <a:ea typeface="宋体" charset="0"/>
              </a:rPr>
              <a:t>修饰定义的标识符是常量。</a:t>
            </a:r>
            <a:r>
              <a:rPr lang="en-US" altLang="zh-CN" dirty="0" err="1">
                <a:solidFill>
                  <a:srgbClr val="333399"/>
                </a:solidFill>
                <a:latin typeface="Courier New" charset="0"/>
                <a:ea typeface="宋体" charset="0"/>
              </a:rPr>
              <a:t>const</a:t>
            </a:r>
            <a:r>
              <a:rPr lang="zh-CN" altLang="en-US" dirty="0">
                <a:solidFill>
                  <a:srgbClr val="333399"/>
                </a:solidFill>
                <a:latin typeface="Courier New" charset="0"/>
                <a:ea typeface="宋体" charset="0"/>
              </a:rPr>
              <a:t>常量只能在定义时赋初值，不能在程序中改变其值。</a:t>
            </a:r>
          </a:p>
          <a:p>
            <a:pPr>
              <a:lnSpc>
                <a:spcPct val="110000"/>
              </a:lnSpc>
            </a:pPr>
            <a:r>
              <a:rPr lang="en-US" altLang="zh-CN" dirty="0" err="1">
                <a:solidFill>
                  <a:srgbClr val="FF0000"/>
                </a:solidFill>
                <a:latin typeface="Courier New" charset="0"/>
                <a:ea typeface="宋体" charset="0"/>
              </a:rPr>
              <a:t>const</a:t>
            </a:r>
            <a:r>
              <a:rPr lang="zh-CN" altLang="en-US" dirty="0">
                <a:solidFill>
                  <a:srgbClr val="FF0000"/>
                </a:solidFill>
                <a:latin typeface="Courier New" charset="0"/>
                <a:ea typeface="宋体" charset="0"/>
              </a:rPr>
              <a:t>常量</a:t>
            </a:r>
            <a:r>
              <a:rPr lang="zh-CN" altLang="en-US" dirty="0">
                <a:solidFill>
                  <a:srgbClr val="333399"/>
                </a:solidFill>
                <a:latin typeface="Courier New" charset="0"/>
                <a:ea typeface="宋体" charset="0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Courier New" charset="0"/>
                <a:ea typeface="宋体" charset="0"/>
              </a:rPr>
              <a:t>宏常量</a:t>
            </a:r>
            <a:r>
              <a:rPr lang="zh-CN" altLang="en-US" dirty="0">
                <a:solidFill>
                  <a:srgbClr val="333399"/>
                </a:solidFill>
                <a:latin typeface="Courier New" charset="0"/>
                <a:ea typeface="宋体" charset="0"/>
              </a:rPr>
              <a:t>相比的优点是什么？</a:t>
            </a:r>
          </a:p>
          <a:p>
            <a:pPr lvl="1">
              <a:lnSpc>
                <a:spcPct val="110000"/>
              </a:lnSpc>
            </a:pPr>
            <a:r>
              <a:rPr lang="en-US" altLang="zh-CN" dirty="0" err="1">
                <a:latin typeface="Courier New" charset="0"/>
                <a:ea typeface="宋体" charset="0"/>
              </a:rPr>
              <a:t>const</a:t>
            </a:r>
            <a:r>
              <a:rPr lang="zh-CN" altLang="en-US" dirty="0">
                <a:latin typeface="Courier New" charset="0"/>
                <a:ea typeface="宋体" charset="0"/>
              </a:rPr>
              <a:t>常量有</a:t>
            </a:r>
            <a:r>
              <a:rPr lang="zh-CN" altLang="en-US" dirty="0">
                <a:solidFill>
                  <a:srgbClr val="333399"/>
                </a:solidFill>
                <a:latin typeface="Courier New" charset="0"/>
                <a:ea typeface="宋体" charset="0"/>
              </a:rPr>
              <a:t>数据类型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Courier New" charset="0"/>
                <a:ea typeface="宋体" charset="0"/>
              </a:rPr>
              <a:t>某些集成化调试工具可以对</a:t>
            </a:r>
            <a:r>
              <a:rPr lang="en-US" altLang="zh-CN" dirty="0" err="1">
                <a:latin typeface="Courier New" charset="0"/>
                <a:ea typeface="宋体" charset="0"/>
              </a:rPr>
              <a:t>const</a:t>
            </a:r>
            <a:r>
              <a:rPr lang="zh-CN" altLang="en-US" dirty="0">
                <a:latin typeface="Courier New" charset="0"/>
                <a:ea typeface="宋体" charset="0"/>
              </a:rPr>
              <a:t>常量进行调试</a:t>
            </a:r>
          </a:p>
        </p:txBody>
      </p:sp>
      <p:sp>
        <p:nvSpPr>
          <p:cNvPr id="242691" name="Text Box 3"/>
          <p:cNvSpPr txBox="1">
            <a:spLocks noChangeArrowheads="1"/>
          </p:cNvSpPr>
          <p:nvPr/>
        </p:nvSpPr>
        <p:spPr bwMode="auto">
          <a:xfrm>
            <a:off x="539750" y="1114425"/>
            <a:ext cx="8280400" cy="28479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en-US" altLang="zh-CN" sz="20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000">
              <a:solidFill>
                <a:srgbClr val="88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  </a:t>
            </a:r>
            <a:r>
              <a:rPr lang="en-US" altLang="zh-CN" sz="200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const float</a:t>
            </a:r>
            <a:r>
              <a:rPr lang="en-US" altLang="zh-CN" sz="200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pi = 3.14259;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    </a:t>
            </a:r>
            <a:r>
              <a:rPr lang="en-US" altLang="zh-CN" sz="200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const float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r = 5.3;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en-US" altLang="zh-CN" sz="20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("area = %f\n", pi * r * r);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en-US" altLang="zh-CN" sz="20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en-US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("circumference = %f\n", 2 * pi * r);</a:t>
            </a:r>
            <a:endParaRPr lang="fr-FR" altLang="zh-CN" sz="200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fr-FR" altLang="zh-CN" sz="20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200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F102A-D295-D84E-BBBE-A4150E17948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2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2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2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v3hs1uzi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363" y="3933825"/>
            <a:ext cx="1671637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2931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892746"/>
          </a:xfrm>
        </p:spPr>
        <p:txBody>
          <a:bodyPr/>
          <a:lstStyle/>
          <a:p>
            <a:r>
              <a:rPr lang="en-US" altLang="zh-CN" b="1" dirty="0" err="1">
                <a:latin typeface="Courier New" charset="0"/>
              </a:rPr>
              <a:t>sizeof</a:t>
            </a:r>
            <a:r>
              <a:rPr lang="zh-CN" altLang="en-US" b="1" dirty="0"/>
              <a:t>到底是什么？</a:t>
            </a:r>
            <a:endParaRPr lang="en-US" altLang="zh-CN" b="1" dirty="0"/>
          </a:p>
        </p:txBody>
      </p:sp>
      <p:sp>
        <p:nvSpPr>
          <p:cNvPr id="252932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1484313"/>
            <a:ext cx="6623050" cy="4611687"/>
          </a:xfrm>
        </p:spPr>
        <p:txBody>
          <a:bodyPr/>
          <a:lstStyle/>
          <a:p>
            <a:r>
              <a:rPr lang="zh-CN" altLang="en-US" dirty="0">
                <a:ea typeface="宋体" charset="0"/>
              </a:rPr>
              <a:t>它是一个</a:t>
            </a:r>
            <a:r>
              <a:rPr lang="en-US" altLang="zh-CN" dirty="0">
                <a:solidFill>
                  <a:srgbClr val="FF0000"/>
                </a:solidFill>
                <a:ea typeface="宋体" charset="0"/>
              </a:rPr>
              <a:t>C</a:t>
            </a:r>
            <a:r>
              <a:rPr lang="zh-CN" altLang="en-US" dirty="0">
                <a:solidFill>
                  <a:srgbClr val="FF0000"/>
                </a:solidFill>
                <a:ea typeface="宋体" charset="0"/>
              </a:rPr>
              <a:t>语言的关键字（运算符），并不是函数</a:t>
            </a:r>
          </a:p>
          <a:p>
            <a:r>
              <a:rPr lang="zh-CN" altLang="en-US" dirty="0">
                <a:ea typeface="宋体" charset="0"/>
              </a:rPr>
              <a:t>可以用两种形式使用</a:t>
            </a:r>
          </a:p>
          <a:p>
            <a:r>
              <a:rPr lang="en-US" altLang="zh-CN" b="1" dirty="0" err="1">
                <a:solidFill>
                  <a:srgbClr val="00B050"/>
                </a:solidFill>
                <a:latin typeface="Courier New" charset="0"/>
                <a:ea typeface="宋体" charset="0"/>
              </a:rPr>
              <a:t>sizeof</a:t>
            </a:r>
            <a:r>
              <a:rPr lang="en-US" altLang="zh-CN" b="1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(</a:t>
            </a:r>
            <a:r>
              <a:rPr lang="zh-CN" altLang="en-US" dirty="0">
                <a:ea typeface="宋体" charset="0"/>
              </a:rPr>
              <a:t>表达式</a:t>
            </a:r>
            <a:r>
              <a:rPr lang="en-US" altLang="zh-CN" b="1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)</a:t>
            </a:r>
          </a:p>
          <a:p>
            <a:pPr lvl="1"/>
            <a:r>
              <a:rPr lang="zh-CN" altLang="en-US" dirty="0">
                <a:ea typeface="宋体" charset="0"/>
              </a:rPr>
              <a:t>一般都使用</a:t>
            </a:r>
            <a:r>
              <a:rPr lang="en-US" altLang="zh-CN" b="1" dirty="0" err="1">
                <a:solidFill>
                  <a:srgbClr val="00B050"/>
                </a:solidFill>
                <a:latin typeface="Courier New" charset="0"/>
                <a:ea typeface="宋体" charset="0"/>
              </a:rPr>
              <a:t>sizeof</a:t>
            </a:r>
            <a:r>
              <a:rPr lang="en-US" altLang="zh-CN" b="1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(</a:t>
            </a:r>
            <a:r>
              <a:rPr lang="zh-CN" altLang="en-US" dirty="0">
                <a:ea typeface="宋体" charset="0"/>
              </a:rPr>
              <a:t>变量名</a:t>
            </a:r>
            <a:r>
              <a:rPr lang="en-US" altLang="zh-CN" b="1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)</a:t>
            </a:r>
          </a:p>
          <a:p>
            <a:r>
              <a:rPr lang="en-US" altLang="zh-CN" b="1" dirty="0" err="1">
                <a:solidFill>
                  <a:srgbClr val="00B050"/>
                </a:solidFill>
                <a:latin typeface="Courier New" charset="0"/>
                <a:ea typeface="宋体" charset="0"/>
              </a:rPr>
              <a:t>sizeof</a:t>
            </a:r>
            <a:r>
              <a:rPr lang="en-US" altLang="zh-CN" b="1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(</a:t>
            </a:r>
            <a:r>
              <a:rPr lang="zh-CN" altLang="en-US" dirty="0">
                <a:ea typeface="宋体" charset="0"/>
              </a:rPr>
              <a:t>类型</a:t>
            </a:r>
            <a:r>
              <a:rPr lang="en-US" altLang="zh-CN" b="1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)</a:t>
            </a:r>
          </a:p>
          <a:p>
            <a:r>
              <a:rPr lang="zh-CN" altLang="en-US" dirty="0">
                <a:ea typeface="宋体" charset="0"/>
              </a:rPr>
              <a:t>求出的结果为</a:t>
            </a:r>
            <a:r>
              <a:rPr lang="zh-CN" altLang="en-US" u="sng" dirty="0">
                <a:solidFill>
                  <a:srgbClr val="880000"/>
                </a:solidFill>
                <a:ea typeface="宋体" charset="0"/>
              </a:rPr>
              <a:t>表达式值所属类型</a:t>
            </a:r>
            <a:r>
              <a:rPr lang="zh-CN" altLang="en-US" dirty="0">
                <a:ea typeface="宋体" charset="0"/>
              </a:rPr>
              <a:t>或者</a:t>
            </a:r>
            <a:r>
              <a:rPr lang="zh-CN" altLang="en-US" u="sng" dirty="0">
                <a:solidFill>
                  <a:srgbClr val="880000"/>
                </a:solidFill>
                <a:ea typeface="宋体" charset="0"/>
              </a:rPr>
              <a:t>类型</a:t>
            </a:r>
            <a:r>
              <a:rPr lang="zh-CN" altLang="en-US" dirty="0">
                <a:ea typeface="宋体" charset="0"/>
              </a:rPr>
              <a:t>占用的</a:t>
            </a:r>
            <a:r>
              <a:rPr lang="zh-CN" altLang="en-US" dirty="0">
                <a:solidFill>
                  <a:schemeClr val="accent2"/>
                </a:solidFill>
                <a:ea typeface="宋体" charset="0"/>
              </a:rPr>
              <a:t>字节数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F9882-7F40-0C47-A3C6-385DEA8C86E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5" y="4637097"/>
            <a:ext cx="6929127" cy="87268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357188"/>
            <a:ext cx="7797800" cy="839787"/>
          </a:xfrm>
        </p:spPr>
        <p:txBody>
          <a:bodyPr>
            <a:noAutofit/>
          </a:bodyPr>
          <a:lstStyle/>
          <a:p>
            <a:r>
              <a:rPr lang="zh-CN" altLang="en-US" sz="3200" b="1" dirty="0">
                <a:latin typeface="黑体" charset="0"/>
              </a:rPr>
              <a:t>为什么要用</a:t>
            </a:r>
            <a:r>
              <a:rPr lang="en-US" altLang="zh-CN" sz="3200" b="1" dirty="0" err="1">
                <a:latin typeface="黑体" charset="0"/>
              </a:rPr>
              <a:t>sizeof</a:t>
            </a:r>
            <a:r>
              <a:rPr lang="zh-CN" altLang="en-US" sz="3200" b="1" dirty="0">
                <a:latin typeface="黑体" charset="0"/>
              </a:rPr>
              <a:t>获得类型或变量的字长？</a:t>
            </a:r>
            <a:endParaRPr lang="zh-CN" altLang="en-US" sz="3200" b="1" dirty="0"/>
          </a:p>
        </p:txBody>
      </p:sp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266825"/>
            <a:ext cx="8497887" cy="5402263"/>
          </a:xfrm>
        </p:spPr>
        <p:txBody>
          <a:bodyPr/>
          <a:lstStyle/>
          <a:p>
            <a:endParaRPr lang="zh-CN" altLang="en-US" dirty="0">
              <a:ea typeface="宋体" charset="0"/>
            </a:endParaRPr>
          </a:p>
          <a:p>
            <a:r>
              <a:rPr lang="zh-CN" altLang="en-US" dirty="0">
                <a:ea typeface="宋体" charset="0"/>
              </a:rPr>
              <a:t>原因</a:t>
            </a:r>
          </a:p>
          <a:p>
            <a:pPr marL="274320" lvl="1" indent="0">
              <a:buNone/>
            </a:pPr>
            <a:r>
              <a:rPr lang="zh-CN" altLang="en-US" sz="2800" dirty="0">
                <a:solidFill>
                  <a:srgbClr val="FF0000"/>
                </a:solidFill>
                <a:ea typeface="宋体" charset="0"/>
              </a:rPr>
              <a:t>同种类型</a:t>
            </a:r>
            <a:r>
              <a:rPr lang="zh-CN" altLang="en-US" sz="2800" dirty="0">
                <a:ea typeface="宋体" charset="0"/>
              </a:rPr>
              <a:t>在</a:t>
            </a:r>
            <a:r>
              <a:rPr lang="zh-CN" altLang="en-US" sz="2800" dirty="0">
                <a:solidFill>
                  <a:srgbClr val="FF0000"/>
                </a:solidFill>
                <a:ea typeface="宋体" charset="0"/>
              </a:rPr>
              <a:t>不同的平台</a:t>
            </a:r>
            <a:r>
              <a:rPr lang="zh-CN" altLang="en-US" sz="2800" dirty="0">
                <a:ea typeface="宋体" charset="0"/>
              </a:rPr>
              <a:t>其占</a:t>
            </a:r>
            <a:r>
              <a:rPr lang="zh-CN" altLang="en-US" sz="2800" dirty="0">
                <a:solidFill>
                  <a:srgbClr val="FF0000"/>
                </a:solidFill>
                <a:ea typeface="宋体" charset="0"/>
              </a:rPr>
              <a:t>字节数不尽相同</a:t>
            </a:r>
            <a:r>
              <a:rPr lang="zh-CN" altLang="en-US" sz="2800" dirty="0">
                <a:ea typeface="宋体" charset="0"/>
              </a:rPr>
              <a:t>。比如</a:t>
            </a:r>
            <a:r>
              <a:rPr lang="en-US" altLang="zh-CN" sz="2800" dirty="0" err="1">
                <a:ea typeface="宋体" charset="0"/>
              </a:rPr>
              <a:t>int</a:t>
            </a:r>
            <a:r>
              <a:rPr lang="zh-CN" altLang="en-US" sz="2800" dirty="0">
                <a:ea typeface="宋体" charset="0"/>
              </a:rPr>
              <a:t>在</a:t>
            </a:r>
            <a:r>
              <a:rPr lang="en-US" altLang="zh-CN" sz="2800" dirty="0">
                <a:ea typeface="宋体" charset="0"/>
              </a:rPr>
              <a:t>16</a:t>
            </a:r>
            <a:r>
              <a:rPr lang="zh-CN" altLang="en-US" sz="2800" dirty="0">
                <a:ea typeface="宋体" charset="0"/>
              </a:rPr>
              <a:t>位、</a:t>
            </a:r>
            <a:r>
              <a:rPr lang="en-US" altLang="zh-CN" sz="2800" dirty="0">
                <a:ea typeface="宋体" charset="0"/>
              </a:rPr>
              <a:t>32</a:t>
            </a:r>
            <a:r>
              <a:rPr lang="zh-CN" altLang="en-US" sz="2800" dirty="0">
                <a:ea typeface="宋体" charset="0"/>
              </a:rPr>
              <a:t>位和</a:t>
            </a:r>
            <a:r>
              <a:rPr lang="en-US" altLang="zh-CN" sz="2800" dirty="0">
                <a:ea typeface="宋体" charset="0"/>
              </a:rPr>
              <a:t>64</a:t>
            </a:r>
            <a:r>
              <a:rPr lang="zh-CN" altLang="en-US" sz="2800" dirty="0">
                <a:ea typeface="宋体" charset="0"/>
              </a:rPr>
              <a:t>位系统分别占</a:t>
            </a:r>
            <a:r>
              <a:rPr lang="en-US" altLang="zh-CN" sz="2800" dirty="0">
                <a:solidFill>
                  <a:srgbClr val="FF0000"/>
                </a:solidFill>
                <a:ea typeface="宋体" charset="0"/>
              </a:rPr>
              <a:t>2</a:t>
            </a:r>
            <a:r>
              <a:rPr lang="zh-CN" altLang="en-US" sz="2800" dirty="0">
                <a:ea typeface="宋体" charset="0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ea typeface="宋体" charset="0"/>
              </a:rPr>
              <a:t>4</a:t>
            </a:r>
            <a:r>
              <a:rPr lang="zh-CN" altLang="en-US" sz="2800" dirty="0">
                <a:ea typeface="宋体" charset="0"/>
              </a:rPr>
              <a:t>和</a:t>
            </a:r>
            <a:r>
              <a:rPr lang="en-US" altLang="zh-CN" sz="2800" dirty="0">
                <a:solidFill>
                  <a:srgbClr val="FF0000"/>
                </a:solidFill>
                <a:ea typeface="宋体" charset="0"/>
              </a:rPr>
              <a:t>8</a:t>
            </a:r>
            <a:r>
              <a:rPr lang="zh-CN" altLang="en-US" sz="2800" dirty="0">
                <a:ea typeface="宋体" charset="0"/>
              </a:rPr>
              <a:t>个字节。</a:t>
            </a:r>
          </a:p>
          <a:p>
            <a:pPr marL="274320" lvl="1" indent="0">
              <a:buNone/>
            </a:pPr>
            <a:endParaRPr lang="zh-CN" altLang="en-US" sz="2800" dirty="0">
              <a:ea typeface="宋体" charset="0"/>
            </a:endParaRPr>
          </a:p>
          <a:p>
            <a:r>
              <a:rPr lang="zh-CN" altLang="en-US" dirty="0">
                <a:ea typeface="宋体" charset="0"/>
              </a:rPr>
              <a:t>现象与危害：</a:t>
            </a:r>
          </a:p>
          <a:p>
            <a:pPr marL="274320" lvl="1" indent="0">
              <a:buNone/>
            </a:pPr>
            <a:r>
              <a:rPr lang="zh-CN" altLang="en-US" sz="2800" dirty="0">
                <a:ea typeface="宋体" charset="0"/>
              </a:rPr>
              <a:t>在平台间移植时会出现问题，导致数据丢失或者溢出。</a:t>
            </a:r>
          </a:p>
          <a:p>
            <a:r>
              <a:rPr lang="zh-CN" altLang="en-US" dirty="0">
                <a:ea typeface="宋体" charset="0"/>
              </a:rPr>
              <a:t>解决方案：</a:t>
            </a:r>
          </a:p>
          <a:p>
            <a:pPr marL="274320" lvl="1" indent="0">
              <a:buNone/>
            </a:pPr>
            <a:r>
              <a:rPr lang="zh-CN" altLang="en-US" sz="2800" dirty="0">
                <a:ea typeface="宋体" charset="0"/>
              </a:rPr>
              <a:t>有且只用</a:t>
            </a:r>
            <a:r>
              <a:rPr lang="en-US" altLang="zh-CN" sz="2800" dirty="0" err="1">
                <a:ea typeface="宋体" charset="0"/>
              </a:rPr>
              <a:t>sizeof</a:t>
            </a:r>
            <a:r>
              <a:rPr lang="zh-CN" altLang="en-US" sz="2800" dirty="0">
                <a:ea typeface="宋体" charset="0"/>
              </a:rPr>
              <a:t>获得字长。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28E4F-B87E-3C47-AC35-B7E99A987A58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822896"/>
          </a:xfrm>
        </p:spPr>
        <p:txBody>
          <a:bodyPr/>
          <a:lstStyle/>
          <a:p>
            <a:r>
              <a:rPr lang="en-US" altLang="zh-CN" b="1" dirty="0">
                <a:ea typeface="宋体" charset="0"/>
              </a:rPr>
              <a:t>2.4</a:t>
            </a:r>
            <a:r>
              <a:rPr lang="zh-CN" altLang="en-US" b="1" dirty="0">
                <a:ea typeface="宋体" charset="0"/>
              </a:rPr>
              <a:t> 常用运算符和表达式</a:t>
            </a:r>
            <a:endParaRPr lang="zh-CN" altLang="en-US" b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563F4-17A4-334D-A3B6-EE779B937308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grpSp>
        <p:nvGrpSpPr>
          <p:cNvPr id="12" name="Group 3"/>
          <p:cNvGrpSpPr>
            <a:grpSpLocks/>
          </p:cNvGrpSpPr>
          <p:nvPr/>
        </p:nvGrpSpPr>
        <p:grpSpPr bwMode="auto">
          <a:xfrm>
            <a:off x="1123950" y="1435373"/>
            <a:ext cx="5984875" cy="5262563"/>
            <a:chOff x="180" y="653"/>
            <a:chExt cx="3770" cy="3315"/>
          </a:xfrm>
        </p:grpSpPr>
        <p:sp>
          <p:nvSpPr>
            <p:cNvPr id="13" name="AutoShape 4"/>
            <p:cNvSpPr>
              <a:spLocks/>
            </p:cNvSpPr>
            <p:nvPr/>
          </p:nvSpPr>
          <p:spPr bwMode="auto">
            <a:xfrm>
              <a:off x="488" y="788"/>
              <a:ext cx="223" cy="2813"/>
            </a:xfrm>
            <a:prstGeom prst="leftBrace">
              <a:avLst>
                <a:gd name="adj1" fmla="val 155869"/>
                <a:gd name="adj2" fmla="val 50000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endParaRPr>
            </a:p>
          </p:txBody>
        </p:sp>
        <p:sp>
          <p:nvSpPr>
            <p:cNvPr id="14" name="Text Box 5"/>
            <p:cNvSpPr txBox="1">
              <a:spLocks noChangeArrowheads="1"/>
            </p:cNvSpPr>
            <p:nvPr/>
          </p:nvSpPr>
          <p:spPr bwMode="auto">
            <a:xfrm>
              <a:off x="180" y="1728"/>
              <a:ext cx="375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隶书" charset="0"/>
                </a:rPr>
                <a:t>运</a:t>
              </a:r>
              <a:endParaRPr kumimoji="1" lang="zh-CN" altLang="zh-CN" sz="3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charset="0"/>
                <a:ea typeface="隶书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隶书" charset="0"/>
                </a:rPr>
                <a:t>算</a:t>
              </a:r>
              <a:endParaRPr kumimoji="1" lang="zh-CN" altLang="zh-CN" sz="3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charset="0"/>
                <a:ea typeface="隶书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charset="0"/>
                  <a:ea typeface="隶书" charset="0"/>
                </a:rPr>
                <a:t>符</a:t>
              </a:r>
            </a:p>
          </p:txBody>
        </p:sp>
        <p:sp>
          <p:nvSpPr>
            <p:cNvPr id="15" name="Text Box 6"/>
            <p:cNvSpPr txBox="1">
              <a:spLocks noChangeArrowheads="1"/>
            </p:cNvSpPr>
            <p:nvPr/>
          </p:nvSpPr>
          <p:spPr bwMode="auto">
            <a:xfrm>
              <a:off x="768" y="653"/>
              <a:ext cx="3182" cy="3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算术运算符：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+  -  *  /  %  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隶书" charset="0"/>
                  <a:ea typeface="隶书" charset="0"/>
                </a:rPr>
                <a:t>++  --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关系运算符：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&lt;  &lt;=   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隶书" charset="0"/>
                  <a:ea typeface="隶书" charset="0"/>
                </a:rPr>
                <a:t>==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   &gt;   &gt;=   !=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逻辑运算符：</a:t>
              </a: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隶书" charset="0"/>
                  <a:ea typeface="隶书" charset="0"/>
                </a:rPr>
                <a:t>！  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隶书" charset="0"/>
                  <a:ea typeface="隶书" charset="0"/>
                </a:rPr>
                <a:t>&amp;&amp;  ||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位运算符  ：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隶书" charset="0"/>
                  <a:ea typeface="隶书" charset="0"/>
                </a:rPr>
                <a:t>&lt;&lt;   &gt;&gt;   ~  |  ^  &amp;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赋值运算符：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= </a:t>
              </a: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及其扩展赋值预算符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条件运算符：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隶书" charset="0"/>
                  <a:ea typeface="隶书" charset="0"/>
                </a:rPr>
                <a:t>?: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逗号运算符：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,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指针运算符：</a:t>
              </a: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隶书" charset="0"/>
                  <a:ea typeface="隶书" charset="0"/>
                </a:rPr>
                <a:t>*  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隶书" charset="0"/>
                  <a:ea typeface="隶书" charset="0"/>
                </a:rPr>
                <a:t>&amp;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求字节数  ：</a:t>
              </a:r>
              <a:r>
                <a:rPr kumimoji="1" lang="en-US" altLang="zh-CN" sz="24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sizeof</a:t>
              </a: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隶书" charset="0"/>
                <a:ea typeface="隶书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强制类型转换：类型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分量运算符：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.  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隶书" charset="0"/>
                  <a:ea typeface="隶书" charset="0"/>
                </a:rPr>
                <a:t>-&gt;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下标运算符： 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[]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其它     ： </a:t>
              </a:r>
              <a:r>
                <a:rPr kumimoji="1" lang="en-US" altLang="zh-CN" sz="24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隶书" charset="0"/>
                  <a:ea typeface="隶书" charset="0"/>
                </a:rPr>
                <a:t>( )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charset="0"/>
                <a:ea typeface="隶书" charset="0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D10-563F-7548-B714-299B4FCD1FA8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698978" y="836712"/>
            <a:ext cx="77724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74320" fontAlgn="auto">
              <a:spcAft>
                <a:spcPts val="0"/>
              </a:spcAft>
              <a:buFont typeface="Symbol" pitchFamily="18" charset="2"/>
              <a:buChar char=""/>
              <a:defRPr/>
            </a:pPr>
            <a:r>
              <a:rPr lang="zh-CN" altLang="en-US" sz="2800" dirty="0">
                <a:latin typeface="隶书" charset="0"/>
                <a:ea typeface="隶书" charset="0"/>
              </a:rPr>
              <a:t>学习运算符应注意：</a:t>
            </a:r>
            <a:endParaRPr lang="en-US" altLang="zh-CN" sz="2800" dirty="0">
              <a:latin typeface="隶书" charset="0"/>
              <a:ea typeface="隶书" charset="0"/>
            </a:endParaRPr>
          </a:p>
          <a:p>
            <a:pPr marL="301943" lvl="1" indent="0" fontAlgn="auto">
              <a:spcAft>
                <a:spcPts val="0"/>
              </a:spcAft>
              <a:buFont typeface="Symbol" pitchFamily="18" charset="2"/>
              <a:buNone/>
              <a:defRPr/>
            </a:pPr>
            <a:endParaRPr lang="zh-CN" sz="3200" b="0" dirty="0">
              <a:latin typeface="宋体" charset="0"/>
              <a:ea typeface="宋体" charset="0"/>
              <a:cs typeface="宋体" charset="0"/>
            </a:endParaRPr>
          </a:p>
          <a:p>
            <a:pPr lvl="2" fontAlgn="auto">
              <a:spcAft>
                <a:spcPts val="0"/>
              </a:spcAft>
              <a:buFont typeface="Symbol" pitchFamily="18" charset="2"/>
              <a:buChar char=""/>
              <a:defRPr/>
            </a:pPr>
            <a:r>
              <a:rPr lang="zh-CN" altLang="en-US" sz="2400" b="0" dirty="0">
                <a:latin typeface="隶书" charset="0"/>
                <a:ea typeface="隶书" charset="0"/>
              </a:rPr>
              <a:t>运算符功能</a:t>
            </a:r>
            <a:endParaRPr lang="zh-CN" sz="2400" b="0" dirty="0">
              <a:latin typeface="隶书" charset="0"/>
              <a:ea typeface="隶书" charset="0"/>
            </a:endParaRPr>
          </a:p>
          <a:p>
            <a:pPr lvl="2" fontAlgn="auto">
              <a:spcAft>
                <a:spcPts val="0"/>
              </a:spcAft>
              <a:buFont typeface="Symbol" pitchFamily="18" charset="2"/>
              <a:buChar char=""/>
              <a:defRPr/>
            </a:pPr>
            <a:r>
              <a:rPr lang="zh-CN" altLang="en-US" sz="2400" b="0" dirty="0">
                <a:latin typeface="隶书" charset="0"/>
                <a:ea typeface="隶书" charset="0"/>
              </a:rPr>
              <a:t>与运算量关系</a:t>
            </a:r>
            <a:endParaRPr lang="zh-CN" sz="2400" b="0" dirty="0">
              <a:latin typeface="隶书" charset="0"/>
              <a:ea typeface="隶书" charset="0"/>
            </a:endParaRPr>
          </a:p>
          <a:p>
            <a:pPr lvl="3" fontAlgn="auto">
              <a:spcAft>
                <a:spcPts val="0"/>
              </a:spcAft>
              <a:buFont typeface="Symbol" pitchFamily="18" charset="2"/>
              <a:buChar char=""/>
              <a:defRPr/>
            </a:pPr>
            <a:r>
              <a:rPr lang="zh-CN" altLang="en-US" sz="2400" b="0" dirty="0">
                <a:latin typeface="隶书" charset="0"/>
                <a:ea typeface="隶书" charset="0"/>
              </a:rPr>
              <a:t>要求运算量个数</a:t>
            </a:r>
            <a:endParaRPr lang="zh-CN" sz="2400" b="0" dirty="0">
              <a:latin typeface="隶书" charset="0"/>
              <a:ea typeface="隶书" charset="0"/>
            </a:endParaRPr>
          </a:p>
          <a:p>
            <a:pPr lvl="3" fontAlgn="auto">
              <a:spcAft>
                <a:spcPts val="0"/>
              </a:spcAft>
              <a:buFont typeface="Symbol" pitchFamily="18" charset="2"/>
              <a:buChar char=""/>
              <a:defRPr/>
            </a:pPr>
            <a:r>
              <a:rPr lang="zh-CN" altLang="en-US" sz="2400" b="0" dirty="0">
                <a:latin typeface="隶书" charset="0"/>
                <a:ea typeface="隶书" charset="0"/>
              </a:rPr>
              <a:t>要求运算量类型</a:t>
            </a:r>
            <a:endParaRPr lang="zh-CN" sz="3600" b="0" dirty="0">
              <a:latin typeface="隶书" charset="0"/>
              <a:ea typeface="隶书" charset="0"/>
            </a:endParaRPr>
          </a:p>
          <a:p>
            <a:pPr lvl="2" fontAlgn="auto">
              <a:spcAft>
                <a:spcPts val="0"/>
              </a:spcAft>
              <a:buFont typeface="Symbol" pitchFamily="18" charset="2"/>
              <a:buChar char=""/>
              <a:defRPr/>
            </a:pPr>
            <a:r>
              <a:rPr lang="zh-CN" altLang="en-US" sz="2400" b="0" dirty="0">
                <a:latin typeface="隶书" charset="0"/>
                <a:ea typeface="隶书" charset="0"/>
              </a:rPr>
              <a:t>运算符优先级别（高、低）</a:t>
            </a:r>
            <a:endParaRPr lang="zh-CN" sz="2400" b="0" dirty="0">
              <a:latin typeface="隶书" charset="0"/>
              <a:ea typeface="隶书" charset="0"/>
            </a:endParaRPr>
          </a:p>
          <a:p>
            <a:pPr lvl="2" fontAlgn="auto">
              <a:spcAft>
                <a:spcPts val="0"/>
              </a:spcAft>
              <a:buFont typeface="Symbol" pitchFamily="18" charset="2"/>
              <a:buChar char=""/>
              <a:defRPr/>
            </a:pPr>
            <a:r>
              <a:rPr lang="zh-CN" altLang="en-US" sz="2400" b="0" dirty="0">
                <a:latin typeface="隶书" charset="0"/>
                <a:ea typeface="隶书" charset="0"/>
              </a:rPr>
              <a:t>结合方向（左、右）</a:t>
            </a:r>
          </a:p>
          <a:p>
            <a:pPr lvl="2" fontAlgn="auto">
              <a:spcAft>
                <a:spcPts val="0"/>
              </a:spcAft>
              <a:buFont typeface="Symbol" pitchFamily="18" charset="2"/>
              <a:buChar char=""/>
              <a:defRPr/>
            </a:pPr>
            <a:r>
              <a:rPr lang="zh-CN" altLang="en-US" sz="2400" b="0" dirty="0">
                <a:latin typeface="隶书" charset="0"/>
                <a:ea typeface="隶书" charset="0"/>
              </a:rPr>
              <a:t>运算对象两侧运算符优先级相同，则按规定的结合方向处理</a:t>
            </a:r>
            <a:endParaRPr lang="zh-CN" sz="2400" b="0" dirty="0">
              <a:latin typeface="隶书" charset="0"/>
              <a:ea typeface="隶书" charset="0"/>
            </a:endParaRPr>
          </a:p>
          <a:p>
            <a:pPr lvl="2" fontAlgn="auto">
              <a:spcAft>
                <a:spcPts val="0"/>
              </a:spcAft>
              <a:buFont typeface="Symbol" pitchFamily="18" charset="2"/>
              <a:buChar char=""/>
              <a:defRPr/>
            </a:pPr>
            <a:r>
              <a:rPr lang="zh-CN" altLang="en-US" sz="2400" b="0" dirty="0">
                <a:latin typeface="隶书" charset="0"/>
                <a:ea typeface="隶书" charset="0"/>
              </a:rPr>
              <a:t>结果的类型</a:t>
            </a:r>
            <a:endParaRPr lang="zh-CN" sz="2800" b="0" dirty="0">
              <a:latin typeface="宋体" charset="0"/>
              <a:ea typeface="宋体" charset="0"/>
              <a:cs typeface="宋体" charset="0"/>
            </a:endParaRPr>
          </a:p>
          <a:p>
            <a:pPr marL="274320" indent="-274320" fontAlgn="auto">
              <a:spcAft>
                <a:spcPts val="0"/>
              </a:spcAft>
              <a:buFont typeface="Symbol" pitchFamily="18" charset="2"/>
              <a:buChar char=""/>
              <a:defRPr/>
            </a:pPr>
            <a:endParaRPr lang="en-US" altLang="zh-CN" b="0" dirty="0">
              <a:latin typeface="宋体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117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7AB1-B89D-E34E-8953-C50E391ED6EC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0"/>
            <a:ext cx="6951280" cy="23898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482939"/>
            <a:ext cx="6768752" cy="367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585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DF465-E6D4-0D47-9670-593E28620653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6632"/>
            <a:ext cx="7092280" cy="337025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07" y="3430256"/>
            <a:ext cx="7094953" cy="284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079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591143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算术运算符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556792"/>
            <a:ext cx="7772400" cy="2292319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+</a:t>
            </a:r>
            <a:r>
              <a:rPr lang="zh-CN" altLang="en-US" dirty="0">
                <a:ea typeface="宋体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-</a:t>
            </a:r>
            <a:r>
              <a:rPr lang="zh-CN" altLang="en-US" dirty="0">
                <a:ea typeface="宋体" charset="0"/>
              </a:rPr>
              <a:t>，</a:t>
            </a:r>
            <a:r>
              <a:rPr lang="zh-CN" alt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*</a:t>
            </a:r>
            <a:r>
              <a:rPr lang="zh-CN" altLang="en-US" dirty="0">
                <a:ea typeface="宋体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/</a:t>
            </a:r>
          </a:p>
          <a:p>
            <a:pPr lvl="1"/>
            <a:r>
              <a:rPr lang="zh-CN" altLang="en-US" dirty="0">
                <a:ea typeface="宋体" charset="0"/>
              </a:rPr>
              <a:t>加、减、乘、除运算</a:t>
            </a:r>
          </a:p>
          <a:p>
            <a:pPr lvl="1"/>
            <a:r>
              <a:rPr lang="zh-CN" altLang="en-US" dirty="0">
                <a:ea typeface="宋体" charset="0"/>
              </a:rPr>
              <a:t>四则混合运算中，先算乘除，后算加减，</a:t>
            </a:r>
            <a:br>
              <a:rPr lang="zh-CN" altLang="en-US" dirty="0">
                <a:ea typeface="宋体" charset="0"/>
              </a:rPr>
            </a:br>
            <a:r>
              <a:rPr lang="zh-CN" altLang="en-US" dirty="0">
                <a:ea typeface="宋体" charset="0"/>
              </a:rPr>
              <a:t>按从左向右的顺序计算，左结合</a:t>
            </a:r>
            <a:endParaRPr lang="zh-CN" altLang="en-US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%</a:t>
            </a:r>
          </a:p>
          <a:p>
            <a:pPr lvl="1"/>
            <a:r>
              <a:rPr lang="zh-CN" altLang="en-US" dirty="0">
                <a:ea typeface="宋体" charset="0"/>
              </a:rPr>
              <a:t>求余运算</a:t>
            </a:r>
          </a:p>
          <a:p>
            <a:pPr lvl="1">
              <a:buFontTx/>
              <a:buNone/>
            </a:pPr>
            <a:endParaRPr lang="zh-CN" altLang="en-US" dirty="0">
              <a:ea typeface="宋体" charset="0"/>
            </a:endParaRPr>
          </a:p>
          <a:p>
            <a:pPr lvl="1">
              <a:buFontTx/>
              <a:buNone/>
            </a:pPr>
            <a:endParaRPr lang="zh-CN" altLang="en-US" dirty="0">
              <a:ea typeface="宋体" charset="0"/>
            </a:endParaRPr>
          </a:p>
          <a:p>
            <a:endParaRPr lang="en-US" altLang="zh-CN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</p:txBody>
      </p:sp>
      <p:pic>
        <p:nvPicPr>
          <p:cNvPr id="45060" name="Picture 5" descr="bt2yphjt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333375"/>
            <a:ext cx="1852612" cy="17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94" name="Rectangle 140"/>
          <p:cNvSpPr>
            <a:spLocks noChangeArrowheads="1"/>
          </p:cNvSpPr>
          <p:nvPr/>
        </p:nvSpPr>
        <p:spPr bwMode="auto">
          <a:xfrm>
            <a:off x="0" y="43275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7" rIns="92075" bIns="46037" anchor="ctr"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00EC-6861-8042-AF80-326280E406B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CF8B-595E-4245-80A5-4AD542D34E47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650875" y="548680"/>
            <a:ext cx="8151813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zh-CN" altLang="en-US" b="0" dirty="0">
                <a:latin typeface="隶书" charset="0"/>
                <a:ea typeface="隶书" charset="0"/>
              </a:rPr>
              <a:t>算术表达式和运算符的优先级与结合性</a:t>
            </a:r>
          </a:p>
          <a:p>
            <a:pPr lvl="2" fontAlgn="auto"/>
            <a:r>
              <a:rPr lang="zh-CN" altLang="en-US" b="0" dirty="0">
                <a:latin typeface="隶书" charset="0"/>
                <a:ea typeface="隶书" charset="0"/>
              </a:rPr>
              <a:t>基本算术运算符：  </a:t>
            </a:r>
            <a:r>
              <a:rPr lang="en-US" altLang="zh-CN" b="0" dirty="0">
                <a:solidFill>
                  <a:srgbClr val="0000FF"/>
                </a:solidFill>
                <a:latin typeface="隶书" charset="0"/>
                <a:ea typeface="隶书" charset="0"/>
              </a:rPr>
              <a:t>+ </a:t>
            </a:r>
            <a:r>
              <a:rPr lang="en-US" altLang="zh-CN" b="0" dirty="0">
                <a:solidFill>
                  <a:srgbClr val="FF0000"/>
                </a:solidFill>
                <a:latin typeface="隶书" charset="0"/>
                <a:ea typeface="隶书" charset="0"/>
              </a:rPr>
              <a:t>-</a:t>
            </a:r>
            <a:r>
              <a:rPr lang="en-US" altLang="zh-CN" b="0" dirty="0">
                <a:solidFill>
                  <a:srgbClr val="0000FF"/>
                </a:solidFill>
                <a:latin typeface="隶书" charset="0"/>
                <a:ea typeface="隶书" charset="0"/>
              </a:rPr>
              <a:t> * / %</a:t>
            </a:r>
            <a:endParaRPr lang="en-US" altLang="zh-CN" b="0" dirty="0">
              <a:latin typeface="隶书" charset="0"/>
              <a:ea typeface="隶书" charset="0"/>
            </a:endParaRPr>
          </a:p>
          <a:p>
            <a:pPr lvl="3" fontAlgn="auto"/>
            <a:r>
              <a:rPr lang="zh-CN" altLang="en-US" b="0" dirty="0">
                <a:latin typeface="隶书" charset="0"/>
                <a:ea typeface="隶书" charset="0"/>
              </a:rPr>
              <a:t>结合方向：从左向右 </a:t>
            </a:r>
            <a:r>
              <a:rPr lang="en-US" altLang="zh-CN" b="0" dirty="0" err="1">
                <a:latin typeface="隶书" charset="0"/>
                <a:ea typeface="隶书" charset="0"/>
              </a:rPr>
              <a:t>a+b</a:t>
            </a:r>
            <a:endParaRPr lang="en-US" altLang="zh-CN" b="0" dirty="0">
              <a:latin typeface="隶书" charset="0"/>
              <a:ea typeface="隶书" charset="0"/>
            </a:endParaRPr>
          </a:p>
          <a:p>
            <a:pPr lvl="3" fontAlgn="auto"/>
            <a:r>
              <a:rPr lang="zh-CN" altLang="en-US" b="0" dirty="0">
                <a:latin typeface="隶书" charset="0"/>
                <a:ea typeface="隶书" charset="0"/>
              </a:rPr>
              <a:t>优先级： </a:t>
            </a:r>
            <a:r>
              <a:rPr lang="en-US" altLang="zh-CN" b="0" dirty="0">
                <a:solidFill>
                  <a:srgbClr val="FF0000"/>
                </a:solidFill>
                <a:latin typeface="隶书" charset="0"/>
                <a:ea typeface="隶书" charset="0"/>
              </a:rPr>
              <a:t>-</a:t>
            </a:r>
            <a:r>
              <a:rPr lang="en-US" altLang="zh-CN" b="0" dirty="0">
                <a:latin typeface="隶书" charset="0"/>
                <a:ea typeface="隶书" charset="0"/>
              </a:rPr>
              <a:t> ----&gt;</a:t>
            </a:r>
            <a:r>
              <a:rPr lang="en-US" altLang="zh-CN" b="0" dirty="0">
                <a:solidFill>
                  <a:srgbClr val="0000FF"/>
                </a:solidFill>
                <a:latin typeface="隶书" charset="0"/>
                <a:ea typeface="隶书" charset="0"/>
              </a:rPr>
              <a:t>* / %</a:t>
            </a:r>
            <a:r>
              <a:rPr lang="en-US" altLang="zh-CN" b="0" dirty="0">
                <a:latin typeface="隶书" charset="0"/>
                <a:ea typeface="隶书" charset="0"/>
              </a:rPr>
              <a:t> -----&gt; </a:t>
            </a:r>
            <a:r>
              <a:rPr lang="en-US" altLang="zh-CN" b="0" dirty="0">
                <a:solidFill>
                  <a:schemeClr val="folHlink"/>
                </a:solidFill>
                <a:latin typeface="隶书" charset="0"/>
                <a:ea typeface="隶书" charset="0"/>
              </a:rPr>
              <a:t>+ -</a:t>
            </a:r>
          </a:p>
          <a:p>
            <a:pPr lvl="3" fontAlgn="auto">
              <a:buFont typeface="Wingdings" charset="2"/>
              <a:buNone/>
            </a:pPr>
            <a:r>
              <a:rPr lang="en-US" altLang="zh-CN" b="0" dirty="0">
                <a:solidFill>
                  <a:schemeClr val="folHlink"/>
                </a:solidFill>
                <a:latin typeface="隶书" charset="0"/>
                <a:ea typeface="隶书" charset="0"/>
              </a:rPr>
              <a:t>          (2)      (3)         (4)</a:t>
            </a:r>
            <a:r>
              <a:rPr lang="en-US" altLang="zh-CN" b="0" dirty="0">
                <a:latin typeface="隶书" charset="0"/>
                <a:ea typeface="隶书" charset="0"/>
              </a:rPr>
              <a:t>	</a:t>
            </a:r>
          </a:p>
          <a:p>
            <a:pPr lvl="2" fontAlgn="auto">
              <a:buFont typeface="Wingdings" charset="2"/>
              <a:buNone/>
            </a:pPr>
            <a:r>
              <a:rPr lang="zh-CN" altLang="en-US" b="0" dirty="0">
                <a:latin typeface="隶书" charset="0"/>
                <a:ea typeface="隶书" charset="0"/>
              </a:rPr>
              <a:t>说明：</a:t>
            </a:r>
          </a:p>
          <a:p>
            <a:pPr lvl="3" fontAlgn="auto"/>
            <a:r>
              <a:rPr lang="zh-CN" altLang="en-US" b="0" dirty="0">
                <a:latin typeface="隶书" charset="0"/>
                <a:ea typeface="隶书" charset="0"/>
              </a:rPr>
              <a:t>优先级相同，按结合方向处理</a:t>
            </a:r>
          </a:p>
          <a:p>
            <a:pPr lvl="3" fontAlgn="auto"/>
            <a:r>
              <a:rPr lang="zh-CN" altLang="en-US" b="0" dirty="0">
                <a:latin typeface="Arial" charset="0"/>
                <a:ea typeface="隶书" charset="0"/>
              </a:rPr>
              <a:t>“</a:t>
            </a:r>
            <a:r>
              <a:rPr lang="zh-CN" altLang="zh-CN" b="0" dirty="0">
                <a:latin typeface="隶书" charset="0"/>
                <a:ea typeface="隶书" charset="0"/>
              </a:rPr>
              <a:t>-</a:t>
            </a:r>
            <a:r>
              <a:rPr lang="zh-CN" altLang="en-US" b="0" dirty="0">
                <a:latin typeface="Arial" charset="0"/>
                <a:ea typeface="隶书" charset="0"/>
              </a:rPr>
              <a:t>”</a:t>
            </a:r>
            <a:r>
              <a:rPr lang="zh-CN" altLang="en-US" b="0" dirty="0">
                <a:latin typeface="隶书" charset="0"/>
                <a:ea typeface="隶书" charset="0"/>
              </a:rPr>
              <a:t>可为</a:t>
            </a:r>
            <a:r>
              <a:rPr lang="zh-CN" altLang="en-US" b="0" dirty="0">
                <a:solidFill>
                  <a:srgbClr val="0000FF"/>
                </a:solidFill>
                <a:latin typeface="隶书" charset="0"/>
                <a:ea typeface="隶书" charset="0"/>
              </a:rPr>
              <a:t>单目</a:t>
            </a:r>
            <a:r>
              <a:rPr lang="zh-CN" altLang="en-US" b="0" dirty="0">
                <a:latin typeface="隶书" charset="0"/>
                <a:ea typeface="隶书" charset="0"/>
              </a:rPr>
              <a:t>运算符时</a:t>
            </a:r>
            <a:r>
              <a:rPr lang="zh-CN" altLang="zh-CN" b="0" dirty="0">
                <a:latin typeface="隶书" charset="0"/>
                <a:ea typeface="隶书" charset="0"/>
              </a:rPr>
              <a:t>,</a:t>
            </a:r>
            <a:r>
              <a:rPr lang="zh-CN" altLang="en-US" b="0" dirty="0">
                <a:solidFill>
                  <a:srgbClr val="FF0000"/>
                </a:solidFill>
                <a:latin typeface="隶书" charset="0"/>
                <a:ea typeface="隶书" charset="0"/>
              </a:rPr>
              <a:t>右结合性 </a:t>
            </a:r>
            <a:r>
              <a:rPr lang="en-US" altLang="zh-CN" b="0" dirty="0">
                <a:solidFill>
                  <a:srgbClr val="FF0000"/>
                </a:solidFill>
                <a:latin typeface="隶书" charset="0"/>
                <a:ea typeface="隶书" charset="0"/>
              </a:rPr>
              <a:t>a+-b</a:t>
            </a:r>
            <a:endParaRPr lang="zh-CN" altLang="zh-CN" b="0" dirty="0">
              <a:latin typeface="隶书" charset="0"/>
              <a:ea typeface="隶书" charset="0"/>
            </a:endParaRPr>
          </a:p>
          <a:p>
            <a:pPr lvl="3" fontAlgn="auto"/>
            <a:r>
              <a:rPr lang="zh-CN" altLang="en-US" b="0" dirty="0">
                <a:latin typeface="隶书" charset="0"/>
                <a:ea typeface="隶书" charset="0"/>
              </a:rPr>
              <a:t>两整数相除，结果为整数</a:t>
            </a:r>
            <a:endParaRPr lang="zh-CN" altLang="zh-CN" b="0" dirty="0">
              <a:latin typeface="隶书" charset="0"/>
              <a:ea typeface="隶书" charset="0"/>
            </a:endParaRPr>
          </a:p>
          <a:p>
            <a:pPr lvl="3" fontAlgn="auto"/>
            <a:r>
              <a:rPr lang="zh-CN" altLang="zh-CN" b="0" dirty="0">
                <a:latin typeface="隶书" charset="0"/>
                <a:ea typeface="隶书" charset="0"/>
              </a:rPr>
              <a:t>%</a:t>
            </a:r>
            <a:r>
              <a:rPr lang="zh-CN" altLang="en-US" b="0" dirty="0">
                <a:latin typeface="隶书" charset="0"/>
                <a:ea typeface="隶书" charset="0"/>
              </a:rPr>
              <a:t>要求两侧均为整型数据</a:t>
            </a:r>
            <a:endParaRPr lang="zh-CN" altLang="zh-CN" b="0" dirty="0">
              <a:latin typeface="隶书" charset="0"/>
              <a:ea typeface="隶书" charset="0"/>
            </a:endParaRPr>
          </a:p>
          <a:p>
            <a:pPr lvl="3" fontAlgn="auto"/>
            <a:endParaRPr lang="en-US" altLang="zh-CN" b="0" dirty="0">
              <a:latin typeface="隶书" charset="0"/>
              <a:ea typeface="隶书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148388" y="1315442"/>
            <a:ext cx="2359025" cy="860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>
                <a:ea typeface="隶书" charset="0"/>
              </a:rPr>
              <a:t>例      </a:t>
            </a:r>
            <a:r>
              <a:rPr lang="en-US" altLang="zh-CN">
                <a:ea typeface="隶书" charset="0"/>
              </a:rPr>
              <a:t>5/2   =</a:t>
            </a:r>
          </a:p>
          <a:p>
            <a:pPr>
              <a:spcBef>
                <a:spcPct val="0"/>
              </a:spcBef>
            </a:pPr>
            <a:r>
              <a:rPr lang="en-US" altLang="zh-CN">
                <a:ea typeface="隶书" charset="0"/>
              </a:rPr>
              <a:t>       -5/2.0  =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6070600" y="2418755"/>
            <a:ext cx="2565400" cy="195580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>
                <a:ea typeface="隶书" charset="0"/>
              </a:rPr>
              <a:t>例      </a:t>
            </a:r>
            <a:r>
              <a:rPr lang="en-US" altLang="zh-CN">
                <a:ea typeface="隶书" charset="0"/>
              </a:rPr>
              <a:t>5%2   =</a:t>
            </a:r>
          </a:p>
          <a:p>
            <a:pPr>
              <a:spcBef>
                <a:spcPct val="0"/>
              </a:spcBef>
            </a:pPr>
            <a:r>
              <a:rPr lang="en-US" altLang="zh-CN">
                <a:ea typeface="隶书" charset="0"/>
              </a:rPr>
              <a:t>       -5%2    =</a:t>
            </a:r>
            <a:endParaRPr lang="en-US" altLang="zh-CN">
              <a:solidFill>
                <a:srgbClr val="FF0000"/>
              </a:solidFill>
              <a:ea typeface="隶书" charset="0"/>
            </a:endParaRPr>
          </a:p>
          <a:p>
            <a:pPr>
              <a:spcBef>
                <a:spcPct val="0"/>
              </a:spcBef>
            </a:pPr>
            <a:r>
              <a:rPr lang="en-US" altLang="zh-CN">
                <a:ea typeface="隶书" charset="0"/>
              </a:rPr>
              <a:t>       1%10   =</a:t>
            </a:r>
            <a:endParaRPr lang="en-US" altLang="zh-CN">
              <a:solidFill>
                <a:srgbClr val="FF0000"/>
              </a:solidFill>
              <a:ea typeface="隶书" charset="0"/>
            </a:endParaRPr>
          </a:p>
          <a:p>
            <a:pPr>
              <a:spcBef>
                <a:spcPct val="0"/>
              </a:spcBef>
            </a:pPr>
            <a:r>
              <a:rPr lang="en-US" altLang="zh-CN">
                <a:solidFill>
                  <a:srgbClr val="FF0000"/>
                </a:solidFill>
                <a:ea typeface="隶书" charset="0"/>
              </a:rPr>
              <a:t>        </a:t>
            </a:r>
            <a:r>
              <a:rPr lang="en-US" altLang="zh-CN">
                <a:ea typeface="隶书" charset="0"/>
              </a:rPr>
              <a:t>5%1    =</a:t>
            </a:r>
            <a:endParaRPr lang="en-US" altLang="zh-CN">
              <a:solidFill>
                <a:srgbClr val="FF0000"/>
              </a:solidFill>
              <a:ea typeface="隶书" charset="0"/>
            </a:endParaRPr>
          </a:p>
          <a:p>
            <a:pPr>
              <a:spcBef>
                <a:spcPct val="0"/>
              </a:spcBef>
            </a:pPr>
            <a:r>
              <a:rPr lang="en-US" altLang="zh-CN">
                <a:ea typeface="隶书" charset="0"/>
              </a:rPr>
              <a:t>      5.5%2</a:t>
            </a:r>
          </a:p>
        </p:txBody>
      </p:sp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6091238" y="1324967"/>
            <a:ext cx="2373063" cy="79624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dirty="0">
                <a:ea typeface="隶书" charset="0"/>
              </a:rPr>
              <a:t>例      </a:t>
            </a:r>
            <a:r>
              <a:rPr lang="en-US" altLang="zh-CN" dirty="0">
                <a:ea typeface="隶书" charset="0"/>
              </a:rPr>
              <a:t>5/2   = 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2</a:t>
            </a:r>
            <a:r>
              <a:rPr lang="en-US" altLang="zh-CN" dirty="0">
                <a:ea typeface="隶书" charset="0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ea typeface="隶书" charset="0"/>
              </a:rPr>
              <a:t>      -5/2.0 = 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-2.5</a:t>
            </a:r>
            <a:endParaRPr lang="en-US" altLang="zh-CN" dirty="0">
              <a:ea typeface="隶书" charset="0"/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6108700" y="2399705"/>
            <a:ext cx="2647176" cy="184884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dirty="0">
                <a:ea typeface="隶书" charset="0"/>
              </a:rPr>
              <a:t>例      </a:t>
            </a:r>
            <a:r>
              <a:rPr lang="en-US" altLang="zh-CN" dirty="0">
                <a:ea typeface="隶书" charset="0"/>
              </a:rPr>
              <a:t>5%2   = 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1  </a:t>
            </a:r>
            <a:r>
              <a:rPr lang="en-US" altLang="zh-CN" dirty="0">
                <a:ea typeface="隶书" charset="0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ea typeface="隶书" charset="0"/>
              </a:rPr>
              <a:t>       -5%2    =  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-1</a:t>
            </a:r>
            <a:endParaRPr lang="en-US" altLang="zh-CN" dirty="0">
              <a:solidFill>
                <a:srgbClr val="FF0000"/>
              </a:solidFill>
              <a:ea typeface="隶书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ea typeface="隶书" charset="0"/>
              </a:rPr>
              <a:t>       1%10   =</a:t>
            </a:r>
            <a:r>
              <a:rPr lang="en-US" altLang="zh-CN" dirty="0">
                <a:solidFill>
                  <a:srgbClr val="FF0000"/>
                </a:solidFill>
                <a:ea typeface="隶书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1</a:t>
            </a:r>
            <a:endParaRPr lang="en-US" altLang="zh-CN" dirty="0">
              <a:solidFill>
                <a:srgbClr val="FF0000"/>
              </a:solidFill>
              <a:ea typeface="隶书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0000"/>
                </a:solidFill>
                <a:ea typeface="隶书" charset="0"/>
              </a:rPr>
              <a:t>        </a:t>
            </a:r>
            <a:r>
              <a:rPr lang="en-US" altLang="zh-CN" dirty="0">
                <a:ea typeface="隶书" charset="0"/>
              </a:rPr>
              <a:t>5%1    =</a:t>
            </a:r>
            <a:r>
              <a:rPr lang="en-US" altLang="zh-CN" dirty="0">
                <a:solidFill>
                  <a:srgbClr val="FF0000"/>
                </a:solidFill>
                <a:ea typeface="隶书" charset="0"/>
              </a:rPr>
              <a:t>  </a:t>
            </a:r>
            <a:r>
              <a:rPr lang="en-US" altLang="zh-CN" dirty="0">
                <a:solidFill>
                  <a:srgbClr val="0000FF"/>
                </a:solidFill>
                <a:ea typeface="隶书" charset="0"/>
              </a:rPr>
              <a:t>0</a:t>
            </a:r>
            <a:endParaRPr lang="en-US" altLang="zh-CN" dirty="0">
              <a:solidFill>
                <a:srgbClr val="FF0000"/>
              </a:solidFill>
              <a:ea typeface="隶书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ea typeface="隶书" charset="0"/>
              </a:rPr>
              <a:t>      5.5%2</a:t>
            </a:r>
            <a:r>
              <a:rPr lang="en-US" altLang="zh-CN" dirty="0">
                <a:solidFill>
                  <a:srgbClr val="FF0000"/>
                </a:solidFill>
                <a:ea typeface="隶书" charset="0"/>
              </a:rPr>
              <a:t>      (</a:t>
            </a:r>
            <a:r>
              <a:rPr lang="en-US" altLang="zh-CN" dirty="0">
                <a:solidFill>
                  <a:srgbClr val="FF0000"/>
                </a:solidFill>
                <a:ea typeface="隶书" charset="0"/>
                <a:sym typeface="Symbol" charset="2"/>
              </a:rPr>
              <a:t>)</a:t>
            </a:r>
            <a:endParaRPr lang="en-US" altLang="zh-CN" dirty="0">
              <a:ea typeface="隶书" charset="0"/>
            </a:endParaRPr>
          </a:p>
        </p:txBody>
      </p:sp>
      <p:graphicFrame>
        <p:nvGraphicFramePr>
          <p:cNvPr id="12" name="Group 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00711"/>
              </p:ext>
            </p:extLst>
          </p:nvPr>
        </p:nvGraphicFramePr>
        <p:xfrm>
          <a:off x="395288" y="4353917"/>
          <a:ext cx="8424862" cy="1682750"/>
        </p:xfrm>
        <a:graphic>
          <a:graphicData uri="http://schemas.openxmlformats.org/drawingml/2006/table">
            <a:tbl>
              <a:tblPr/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1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函数名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功  能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函数名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功  能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  <a:ea typeface="宋体" charset="0"/>
                        </a:rPr>
                        <a:t>sqrt(x)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计算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x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的平方根，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x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应大于等于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0 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  <a:ea typeface="宋体" charset="0"/>
                        </a:rPr>
                        <a:t>exp(x)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计算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e</a:t>
                      </a:r>
                      <a:r>
                        <a:rPr kumimoji="0" lang="en-US" altLang="zh-CN" sz="16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x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的值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  <a:ea typeface="宋体" charset="0"/>
                        </a:rPr>
                        <a:t>fabs(x)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计算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x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的绝对值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  <a:ea typeface="宋体" charset="0"/>
                        </a:rPr>
                        <a:t>pow(x,y)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计算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x</a:t>
                      </a:r>
                      <a:r>
                        <a:rPr kumimoji="0" lang="en-US" altLang="zh-CN" sz="16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y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的值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  <a:ea typeface="宋体" charset="0"/>
                        </a:rPr>
                        <a:t>log(x)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计算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lnx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的值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  <a:ea typeface="宋体" charset="0"/>
                        </a:rPr>
                        <a:t>sin(x)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计算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sinx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的值，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x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为弧度值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  <a:ea typeface="宋体" charset="0"/>
                        </a:rPr>
                        <a:t>log10(x)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计算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lgx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的值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  <a:ea typeface="宋体" charset="0"/>
                        </a:rPr>
                        <a:t>cos(x)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20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6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charset="2"/>
                        <a:defRPr kumimoji="1" sz="1400">
                          <a:solidFill>
                            <a:schemeClr val="tx2"/>
                          </a:solidFill>
                          <a:latin typeface="Candara" charset="0"/>
                          <a:ea typeface="华文楷体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计算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cosx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的值，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x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</a:rPr>
                        <a:t>为弧度值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宋体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1616075" y="6143030"/>
            <a:ext cx="4750018" cy="355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buNone/>
            </a:pPr>
            <a:r>
              <a:rPr lang="zh-CN" altLang="en-US" sz="1800" dirty="0">
                <a:solidFill>
                  <a:srgbClr val="00B050"/>
                </a:solidFill>
              </a:rPr>
              <a:t>使用时需包含头文件，即 </a:t>
            </a:r>
            <a:r>
              <a:rPr lang="en-US" altLang="zh-CN" sz="1800" dirty="0">
                <a:solidFill>
                  <a:srgbClr val="00B050"/>
                </a:solidFill>
              </a:rPr>
              <a:t>#include&lt;</a:t>
            </a:r>
            <a:r>
              <a:rPr lang="en-US" altLang="zh-CN" sz="1800" dirty="0" err="1">
                <a:solidFill>
                  <a:srgbClr val="00B050"/>
                </a:solidFill>
              </a:rPr>
              <a:t>math.h</a:t>
            </a:r>
            <a:r>
              <a:rPr lang="en-US" altLang="zh-CN" sz="1800" dirty="0">
                <a:solidFill>
                  <a:srgbClr val="00B050"/>
                </a:solidFill>
              </a:rPr>
              <a:t>&gt;</a:t>
            </a:r>
            <a:endParaRPr lang="zh-CN" altLang="en-US" sz="1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68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9" grpId="0" animBg="1" autoUpdateAnimBg="0"/>
      <p:bldP spid="10" grpId="0" animBg="1" autoUpdateAnimBg="0"/>
      <p:bldP spid="11" grpId="0" animBg="1" autoUpdateAnimBg="0"/>
      <p:bldP spid="1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95250" y="908720"/>
            <a:ext cx="7772400" cy="3167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zh-CN" altLang="en-US" b="0" dirty="0">
                <a:latin typeface="隶书" charset="0"/>
                <a:ea typeface="隶书" charset="0"/>
              </a:rPr>
              <a:t>赋值运算符和表达式</a:t>
            </a:r>
          </a:p>
          <a:p>
            <a:pPr lvl="2" fontAlgn="auto"/>
            <a:r>
              <a:rPr lang="zh-CN" altLang="en-US" b="0" dirty="0">
                <a:latin typeface="隶书" charset="0"/>
                <a:ea typeface="隶书" charset="0"/>
              </a:rPr>
              <a:t>简单赋值运算符</a:t>
            </a:r>
          </a:p>
          <a:p>
            <a:pPr lvl="3" fontAlgn="auto"/>
            <a:r>
              <a:rPr lang="zh-CN" altLang="en-US" b="0" dirty="0">
                <a:latin typeface="隶书" charset="0"/>
                <a:ea typeface="隶书" charset="0"/>
              </a:rPr>
              <a:t>符号：   </a:t>
            </a:r>
            <a:r>
              <a:rPr lang="en-US" altLang="zh-CN" b="0" dirty="0">
                <a:latin typeface="隶书" charset="0"/>
                <a:ea typeface="隶书" charset="0"/>
              </a:rPr>
              <a:t>=</a:t>
            </a:r>
          </a:p>
          <a:p>
            <a:pPr lvl="3" fontAlgn="auto"/>
            <a:r>
              <a:rPr lang="zh-CN" altLang="en-US" b="0" dirty="0">
                <a:latin typeface="隶书" charset="0"/>
                <a:ea typeface="隶书" charset="0"/>
              </a:rPr>
              <a:t>格式：  </a:t>
            </a:r>
            <a:r>
              <a:rPr lang="zh-CN" altLang="en-US" b="0" dirty="0">
                <a:solidFill>
                  <a:srgbClr val="3333FF"/>
                </a:solidFill>
                <a:latin typeface="隶书" charset="0"/>
                <a:ea typeface="隶书" charset="0"/>
              </a:rPr>
              <a:t>变量标识符</a:t>
            </a:r>
            <a:r>
              <a:rPr lang="en-US" altLang="zh-CN" b="0" dirty="0">
                <a:solidFill>
                  <a:srgbClr val="3333FF"/>
                </a:solidFill>
                <a:latin typeface="隶书" charset="0"/>
                <a:ea typeface="隶书" charset="0"/>
              </a:rPr>
              <a:t>=</a:t>
            </a:r>
            <a:r>
              <a:rPr lang="zh-CN" altLang="en-US" b="0" dirty="0">
                <a:solidFill>
                  <a:srgbClr val="3333FF"/>
                </a:solidFill>
                <a:latin typeface="隶书" charset="0"/>
                <a:ea typeface="隶书" charset="0"/>
              </a:rPr>
              <a:t>表达式</a:t>
            </a:r>
          </a:p>
          <a:p>
            <a:pPr lvl="3" fontAlgn="auto"/>
            <a:r>
              <a:rPr lang="zh-CN" altLang="en-US" b="0" dirty="0">
                <a:latin typeface="隶书" charset="0"/>
                <a:ea typeface="隶书" charset="0"/>
              </a:rPr>
              <a:t>作用：将一个数据（常量或表达式）赋给一个变量</a:t>
            </a:r>
            <a:endParaRPr lang="en-US" altLang="zh-CN" b="0" dirty="0">
              <a:latin typeface="隶书" charset="0"/>
              <a:ea typeface="隶书" charset="0"/>
            </a:endParaRPr>
          </a:p>
          <a:p>
            <a:pPr lvl="1" fontAlgn="auto">
              <a:buClr>
                <a:srgbClr val="FF3300"/>
              </a:buClr>
            </a:pPr>
            <a:r>
              <a:rPr lang="zh-CN" altLang="en-US" sz="2000" b="0" dirty="0">
                <a:latin typeface="隶书" charset="0"/>
                <a:ea typeface="隶书" charset="0"/>
                <a:sym typeface="Wingdings" charset="2"/>
              </a:rPr>
              <a:t>复合赋值运算符</a:t>
            </a:r>
          </a:p>
          <a:p>
            <a:pPr lvl="1" fontAlgn="auto">
              <a:buClr>
                <a:srgbClr val="FF9900"/>
              </a:buClr>
            </a:pPr>
            <a:r>
              <a:rPr lang="zh-CN" altLang="en-US" b="0" dirty="0">
                <a:latin typeface="隶书" charset="0"/>
                <a:ea typeface="隶书" charset="0"/>
                <a:sym typeface="Wingdings" charset="2"/>
              </a:rPr>
              <a:t>种类</a:t>
            </a:r>
            <a:r>
              <a:rPr lang="zh-CN" altLang="en-US" b="0" dirty="0">
                <a:solidFill>
                  <a:srgbClr val="0000FF"/>
                </a:solidFill>
                <a:latin typeface="隶书" charset="0"/>
                <a:ea typeface="隶书" charset="0"/>
                <a:sym typeface="Wingdings" charset="2"/>
              </a:rPr>
              <a:t>：</a:t>
            </a:r>
            <a:r>
              <a:rPr lang="en-US" altLang="zh-CN" b="0" dirty="0">
                <a:solidFill>
                  <a:srgbClr val="0000FF"/>
                </a:solidFill>
                <a:latin typeface="隶书" charset="0"/>
                <a:ea typeface="隶书" charset="0"/>
                <a:sym typeface="Wingdings" charset="2"/>
              </a:rPr>
              <a:t>+=  -=  *=  /=  %=</a:t>
            </a:r>
            <a:endParaRPr lang="en-US" altLang="zh-CN" b="0" dirty="0">
              <a:latin typeface="隶书" charset="0"/>
              <a:ea typeface="隶书" charset="0"/>
              <a:sym typeface="Wingdings" charset="2"/>
            </a:endParaRPr>
          </a:p>
          <a:p>
            <a:pPr lvl="1" fontAlgn="auto">
              <a:buClr>
                <a:srgbClr val="FF9900"/>
              </a:buClr>
            </a:pPr>
            <a:r>
              <a:rPr lang="zh-CN" altLang="en-US" b="0" dirty="0">
                <a:latin typeface="隶书" charset="0"/>
                <a:ea typeface="隶书" charset="0"/>
                <a:sym typeface="Wingdings" charset="2"/>
              </a:rPr>
              <a:t>含义： </a:t>
            </a:r>
            <a:r>
              <a:rPr lang="en-US" altLang="zh-CN" b="0" dirty="0">
                <a:solidFill>
                  <a:schemeClr val="folHlink"/>
                </a:solidFill>
                <a:latin typeface="隶书" charset="0"/>
                <a:ea typeface="隶书" charset="0"/>
                <a:sym typeface="Wingdings" charset="2"/>
              </a:rPr>
              <a:t>exp1 op= exp2</a:t>
            </a:r>
            <a:r>
              <a:rPr lang="en-US" altLang="zh-CN" b="0" dirty="0">
                <a:latin typeface="隶书" charset="0"/>
                <a:ea typeface="隶书" charset="0"/>
                <a:sym typeface="Wingdings" charset="2"/>
              </a:rPr>
              <a:t>  </a:t>
            </a:r>
            <a:r>
              <a:rPr lang="en-US" altLang="zh-CN" b="0" dirty="0">
                <a:solidFill>
                  <a:srgbClr val="FF0000"/>
                </a:solidFill>
                <a:latin typeface="隶书" charset="0"/>
                <a:ea typeface="隶书" charset="0"/>
                <a:sym typeface="Wingdings" charset="2"/>
              </a:rPr>
              <a:t>exp1 = exp1  op  exp2</a:t>
            </a:r>
          </a:p>
          <a:p>
            <a:pPr lvl="1" fontAlgn="auto">
              <a:buClr>
                <a:srgbClr val="FF9900"/>
              </a:buClr>
            </a:pPr>
            <a:r>
              <a:rPr lang="zh-CN" altLang="en-US" b="0" dirty="0">
                <a:latin typeface="隶书" charset="0"/>
                <a:ea typeface="隶书" charset="0"/>
                <a:sym typeface="Wingdings" charset="2"/>
              </a:rPr>
              <a:t>这种形式看起来更直观，而且执行效率一般也能更高一些</a:t>
            </a:r>
          </a:p>
          <a:p>
            <a:pPr lvl="1" fontAlgn="auto">
              <a:buClr>
                <a:srgbClr val="FF9900"/>
              </a:buClr>
            </a:pPr>
            <a:endParaRPr lang="en-US" altLang="zh-CN" b="0" dirty="0">
              <a:ea typeface="隶书" charset="0"/>
            </a:endParaRPr>
          </a:p>
          <a:p>
            <a:pPr lvl="3" fontAlgn="auto"/>
            <a:endParaRPr lang="en-US" altLang="zh-CN" b="0" dirty="0">
              <a:latin typeface="隶书" charset="0"/>
              <a:ea typeface="隶书" charset="0"/>
            </a:endParaRPr>
          </a:p>
          <a:p>
            <a:pPr lvl="3" fontAlgn="auto"/>
            <a:endParaRPr lang="zh-CN" altLang="en-US" b="0" dirty="0">
              <a:latin typeface="隶书" charset="0"/>
              <a:ea typeface="隶书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2938" y="2747045"/>
            <a:ext cx="850106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2" eaLnBrk="1" hangingPunct="1">
              <a:spcBef>
                <a:spcPct val="20000"/>
              </a:spcBef>
              <a:buClr>
                <a:srgbClr val="FF3300"/>
              </a:buClr>
              <a:buFont typeface="Wingdings" charset="2"/>
              <a:buChar char="v"/>
            </a:pPr>
            <a:endParaRPr lang="en-US" altLang="zh-CN" sz="2000">
              <a:ea typeface="隶书" charset="0"/>
            </a:endParaRP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2190750" y="4202787"/>
            <a:ext cx="2900363" cy="442913"/>
            <a:chOff x="1680" y="2561"/>
            <a:chExt cx="1827" cy="279"/>
          </a:xfrm>
        </p:grpSpPr>
        <p:sp>
          <p:nvSpPr>
            <p:cNvPr id="9" name="AutoShape 8"/>
            <p:cNvSpPr>
              <a:spLocks noChangeArrowheads="1"/>
            </p:cNvSpPr>
            <p:nvPr/>
          </p:nvSpPr>
          <p:spPr bwMode="auto">
            <a:xfrm>
              <a:off x="2304" y="2688"/>
              <a:ext cx="422" cy="47"/>
            </a:xfrm>
            <a:prstGeom prst="leftRightArrow">
              <a:avLst>
                <a:gd name="adj1" fmla="val 50000"/>
                <a:gd name="adj2" fmla="val 17957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680" y="2561"/>
              <a:ext cx="530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dirty="0">
                  <a:latin typeface="Times New Roman" charset="0"/>
                </a:rPr>
                <a:t>a+=3</a:t>
              </a: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2880" y="2561"/>
              <a:ext cx="62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dirty="0">
                  <a:latin typeface="Times New Roman" charset="0"/>
                </a:rPr>
                <a:t>a=a+3</a:t>
              </a:r>
            </a:p>
          </p:txBody>
        </p: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2190750" y="4669512"/>
            <a:ext cx="3413125" cy="442913"/>
            <a:chOff x="1680" y="2753"/>
            <a:chExt cx="2150" cy="279"/>
          </a:xfrm>
        </p:grpSpPr>
        <p:sp>
          <p:nvSpPr>
            <p:cNvPr id="13" name="AutoShape 12"/>
            <p:cNvSpPr>
              <a:spLocks noChangeArrowheads="1"/>
            </p:cNvSpPr>
            <p:nvPr/>
          </p:nvSpPr>
          <p:spPr bwMode="auto">
            <a:xfrm>
              <a:off x="2304" y="2880"/>
              <a:ext cx="422" cy="47"/>
            </a:xfrm>
            <a:prstGeom prst="leftRightArrow">
              <a:avLst>
                <a:gd name="adj1" fmla="val 50000"/>
                <a:gd name="adj2" fmla="val 17957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680" y="2753"/>
              <a:ext cx="724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dirty="0">
                  <a:latin typeface="Times New Roman" charset="0"/>
                </a:rPr>
                <a:t>x*=y+8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880" y="2753"/>
              <a:ext cx="950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dirty="0">
                  <a:latin typeface="Times New Roman" charset="0"/>
                </a:rPr>
                <a:t>x=x*(y+8)</a:t>
              </a:r>
            </a:p>
          </p:txBody>
        </p:sp>
      </p:grp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2171700" y="5136237"/>
            <a:ext cx="3033713" cy="442913"/>
            <a:chOff x="1680" y="2945"/>
            <a:chExt cx="1911" cy="279"/>
          </a:xfrm>
        </p:grpSpPr>
        <p:sp>
          <p:nvSpPr>
            <p:cNvPr id="17" name="AutoShape 16"/>
            <p:cNvSpPr>
              <a:spLocks noChangeArrowheads="1"/>
            </p:cNvSpPr>
            <p:nvPr/>
          </p:nvSpPr>
          <p:spPr bwMode="auto">
            <a:xfrm>
              <a:off x="2304" y="3072"/>
              <a:ext cx="422" cy="47"/>
            </a:xfrm>
            <a:prstGeom prst="leftRightArrow">
              <a:avLst>
                <a:gd name="adj1" fmla="val 50000"/>
                <a:gd name="adj2" fmla="val 179574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endParaRPr lang="zh-CN" altLang="en-US" sz="1800"/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1680" y="2945"/>
              <a:ext cx="614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dirty="0">
                  <a:latin typeface="Times New Roman" charset="0"/>
                </a:rPr>
                <a:t>x%=3</a:t>
              </a: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2880" y="2945"/>
              <a:ext cx="711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n-US" altLang="zh-CN" dirty="0">
                  <a:latin typeface="Times New Roman" charset="0"/>
                </a:rPr>
                <a:t>x=x%3</a:t>
              </a: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9CC7-BC4B-D54E-A52A-B1996BEB78F5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28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9"/>
          <p:cNvSpPr txBox="1">
            <a:spLocks noChangeArrowheads="1"/>
          </p:cNvSpPr>
          <p:nvPr/>
        </p:nvSpPr>
        <p:spPr bwMode="auto">
          <a:xfrm>
            <a:off x="2690373" y="2980854"/>
            <a:ext cx="3177771" cy="796245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3">
              <a:spcBef>
                <a:spcPct val="0"/>
              </a:spcBef>
              <a:buNone/>
            </a:pPr>
            <a:r>
              <a:rPr lang="zh-CN" altLang="en-US" dirty="0">
                <a:latin typeface="隶书" charset="0"/>
                <a:ea typeface="隶书" charset="0"/>
              </a:rPr>
              <a:t>例  </a:t>
            </a:r>
            <a:r>
              <a:rPr lang="en-US" altLang="zh-CN" dirty="0">
                <a:solidFill>
                  <a:srgbClr val="FF3300"/>
                </a:solidFill>
                <a:latin typeface="隶书" charset="0"/>
                <a:ea typeface="隶书" charset="0"/>
              </a:rPr>
              <a:t>3=x-2*y;</a:t>
            </a:r>
          </a:p>
          <a:p>
            <a:pPr lvl="3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FF3300"/>
                </a:solidFill>
                <a:latin typeface="隶书" charset="0"/>
                <a:ea typeface="隶书" charset="0"/>
              </a:rPr>
              <a:t>    </a:t>
            </a:r>
            <a:r>
              <a:rPr lang="en-US" altLang="zh-CN" dirty="0" err="1">
                <a:solidFill>
                  <a:srgbClr val="FF3300"/>
                </a:solidFill>
                <a:latin typeface="隶书" charset="0"/>
                <a:ea typeface="隶书" charset="0"/>
              </a:rPr>
              <a:t>a+b</a:t>
            </a:r>
            <a:r>
              <a:rPr lang="en-US" altLang="zh-CN" dirty="0">
                <a:solidFill>
                  <a:srgbClr val="FF3300"/>
                </a:solidFill>
                <a:latin typeface="隶书" charset="0"/>
                <a:ea typeface="隶书" charset="0"/>
              </a:rPr>
              <a:t>=3;</a:t>
            </a:r>
            <a:endParaRPr lang="en-US" altLang="zh-CN" dirty="0">
              <a:solidFill>
                <a:schemeClr val="accent2"/>
              </a:solidFill>
              <a:latin typeface="隶书" charset="0"/>
              <a:ea typeface="隶书" charset="0"/>
            </a:endParaRPr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1104900" y="3980979"/>
            <a:ext cx="7191375" cy="1848840"/>
          </a:xfrm>
          <a:prstGeom prst="rect">
            <a:avLst/>
          </a:prstGeom>
          <a:solidFill>
            <a:schemeClr val="bg1"/>
          </a:solidFill>
          <a:ln w="38100">
            <a:solidFill>
              <a:schemeClr val="folHlink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dirty="0">
                <a:latin typeface="隶书" charset="0"/>
                <a:ea typeface="隶书" charset="0"/>
              </a:rPr>
              <a:t>例</a:t>
            </a:r>
            <a:r>
              <a:rPr lang="en-US" altLang="zh-CN" dirty="0">
                <a:latin typeface="隶书" charset="0"/>
                <a:ea typeface="隶书" charset="0"/>
              </a:rPr>
              <a:t>:   a=b=c=5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隶书" charset="0"/>
                <a:ea typeface="隶书" charset="0"/>
              </a:rPr>
              <a:t>      a=(b=5)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隶书" charset="0"/>
                <a:ea typeface="隶书" charset="0"/>
              </a:rPr>
              <a:t>      a=5+(c=6)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隶书" charset="0"/>
                <a:ea typeface="隶书" charset="0"/>
              </a:rPr>
              <a:t>      a=(b=4)+(c=6)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隶书" charset="0"/>
                <a:ea typeface="隶书" charset="0"/>
              </a:rPr>
              <a:t>      a=(b=10)/(c=2)</a:t>
            </a:r>
          </a:p>
        </p:txBody>
      </p:sp>
      <p:sp>
        <p:nvSpPr>
          <p:cNvPr id="8" name="Text Box 37"/>
          <p:cNvSpPr txBox="1">
            <a:spLocks noChangeArrowheads="1"/>
          </p:cNvSpPr>
          <p:nvPr/>
        </p:nvSpPr>
        <p:spPr bwMode="auto">
          <a:xfrm>
            <a:off x="3890963" y="4000029"/>
            <a:ext cx="3737218" cy="44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隶书" charset="0"/>
                <a:ea typeface="隶书" charset="0"/>
              </a:rPr>
              <a:t>表达式值为</a:t>
            </a:r>
            <a:r>
              <a:rPr lang="zh-CN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5</a:t>
            </a:r>
            <a:r>
              <a:rPr lang="zh-CN" altLang="en-US" dirty="0">
                <a:solidFill>
                  <a:srgbClr val="0000FF"/>
                </a:solidFill>
                <a:latin typeface="隶书" charset="0"/>
                <a:ea typeface="隶书" charset="0"/>
              </a:rPr>
              <a:t>，</a:t>
            </a:r>
            <a:r>
              <a:rPr lang="en-US" altLang="zh-CN" dirty="0" err="1">
                <a:solidFill>
                  <a:srgbClr val="0000FF"/>
                </a:solidFill>
                <a:latin typeface="隶书" charset="0"/>
                <a:ea typeface="隶书" charset="0"/>
              </a:rPr>
              <a:t>a,b,c</a:t>
            </a:r>
            <a:r>
              <a:rPr lang="zh-CN" altLang="en-US" dirty="0">
                <a:solidFill>
                  <a:srgbClr val="0000FF"/>
                </a:solidFill>
                <a:latin typeface="隶书" charset="0"/>
                <a:ea typeface="隶书" charset="0"/>
              </a:rPr>
              <a:t>值为</a:t>
            </a:r>
            <a:r>
              <a:rPr lang="zh-CN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5</a:t>
            </a:r>
            <a:endParaRPr lang="en-US" altLang="zh-CN" dirty="0">
              <a:solidFill>
                <a:srgbClr val="0000FF"/>
              </a:solidFill>
              <a:latin typeface="隶书" charset="0"/>
              <a:ea typeface="隶书" charset="0"/>
            </a:endParaRPr>
          </a:p>
        </p:txBody>
      </p:sp>
      <p:sp>
        <p:nvSpPr>
          <p:cNvPr id="9" name="Text Box 38"/>
          <p:cNvSpPr txBox="1">
            <a:spLocks noChangeArrowheads="1"/>
          </p:cNvSpPr>
          <p:nvPr/>
        </p:nvSpPr>
        <p:spPr bwMode="auto">
          <a:xfrm>
            <a:off x="3833813" y="4285779"/>
            <a:ext cx="1513854" cy="44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// b=5;a=5</a:t>
            </a:r>
          </a:p>
        </p:txBody>
      </p:sp>
      <p:sp>
        <p:nvSpPr>
          <p:cNvPr id="10" name="Text Box 39"/>
          <p:cNvSpPr txBox="1">
            <a:spLocks noChangeArrowheads="1"/>
          </p:cNvSpPr>
          <p:nvPr/>
        </p:nvSpPr>
        <p:spPr bwMode="auto">
          <a:xfrm>
            <a:off x="3833813" y="4609629"/>
            <a:ext cx="3342688" cy="44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隶书" charset="0"/>
                <a:ea typeface="隶书" charset="0"/>
              </a:rPr>
              <a:t>表达式值</a:t>
            </a:r>
            <a:r>
              <a:rPr lang="zh-CN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11</a:t>
            </a:r>
            <a:r>
              <a:rPr lang="zh-CN" altLang="en-US" dirty="0">
                <a:solidFill>
                  <a:srgbClr val="0000FF"/>
                </a:solidFill>
                <a:latin typeface="隶书" charset="0"/>
                <a:ea typeface="隶书" charset="0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c=6,a=11</a:t>
            </a:r>
          </a:p>
        </p:txBody>
      </p:sp>
      <p:sp>
        <p:nvSpPr>
          <p:cNvPr id="11" name="Text Box 40"/>
          <p:cNvSpPr txBox="1">
            <a:spLocks noChangeArrowheads="1"/>
          </p:cNvSpPr>
          <p:nvPr/>
        </p:nvSpPr>
        <p:spPr bwMode="auto">
          <a:xfrm>
            <a:off x="3986213" y="5047779"/>
            <a:ext cx="3953624" cy="44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隶书" charset="0"/>
                <a:ea typeface="隶书" charset="0"/>
              </a:rPr>
              <a:t>表达式值</a:t>
            </a:r>
            <a:r>
              <a:rPr lang="zh-CN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10</a:t>
            </a:r>
            <a:r>
              <a:rPr lang="zh-CN" altLang="en-US" dirty="0">
                <a:solidFill>
                  <a:srgbClr val="0000FF"/>
                </a:solidFill>
                <a:latin typeface="隶书" charset="0"/>
                <a:ea typeface="隶书" charset="0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a=10,b=4,c=6</a:t>
            </a:r>
          </a:p>
        </p:txBody>
      </p:sp>
      <p:sp>
        <p:nvSpPr>
          <p:cNvPr id="12" name="Text Box 41"/>
          <p:cNvSpPr txBox="1">
            <a:spLocks noChangeArrowheads="1"/>
          </p:cNvSpPr>
          <p:nvPr/>
        </p:nvSpPr>
        <p:spPr bwMode="auto">
          <a:xfrm>
            <a:off x="4271963" y="5409729"/>
            <a:ext cx="3799736" cy="44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隶书" charset="0"/>
                <a:ea typeface="隶书" charset="0"/>
              </a:rPr>
              <a:t>表达式值</a:t>
            </a:r>
            <a:r>
              <a:rPr lang="zh-CN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5</a:t>
            </a:r>
            <a:r>
              <a:rPr lang="zh-CN" altLang="en-US" dirty="0">
                <a:solidFill>
                  <a:srgbClr val="0000FF"/>
                </a:solidFill>
                <a:latin typeface="隶书" charset="0"/>
                <a:ea typeface="隶书" charset="0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隶书" charset="0"/>
                <a:ea typeface="隶书" charset="0"/>
              </a:rPr>
              <a:t>a=5,b=10,c=2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36538" y="764704"/>
            <a:ext cx="8653462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576263" indent="-2730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charset="2"/>
              <a:buChar char=""/>
            </a:pPr>
            <a:r>
              <a:rPr lang="zh-CN" altLang="en-US" sz="2200" dirty="0">
                <a:solidFill>
                  <a:schemeClr val="tx2"/>
                </a:solidFill>
                <a:latin typeface="隶书" charset="0"/>
                <a:ea typeface="隶书" charset="0"/>
              </a:rPr>
              <a:t>赋值运算符和表达式</a:t>
            </a:r>
          </a:p>
          <a:p>
            <a:pPr lvl="3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charset="2"/>
              <a:buChar char=""/>
            </a:pPr>
            <a:r>
              <a:rPr lang="zh-CN" altLang="en-US" sz="1800" dirty="0">
                <a:solidFill>
                  <a:schemeClr val="tx2"/>
                </a:solidFill>
                <a:latin typeface="隶书" charset="0"/>
                <a:ea typeface="隶书" charset="0"/>
              </a:rPr>
              <a:t>结合方向：</a:t>
            </a:r>
            <a:r>
              <a:rPr lang="zh-CN" altLang="en-US" sz="1800" dirty="0">
                <a:solidFill>
                  <a:srgbClr val="00B050"/>
                </a:solidFill>
                <a:latin typeface="隶书" charset="0"/>
                <a:ea typeface="隶书" charset="0"/>
              </a:rPr>
              <a:t>自右向左</a:t>
            </a:r>
          </a:p>
          <a:p>
            <a:pPr lvl="3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charset="2"/>
              <a:buChar char=""/>
            </a:pPr>
            <a:r>
              <a:rPr lang="zh-CN" altLang="en-US" sz="1800" dirty="0">
                <a:solidFill>
                  <a:schemeClr val="tx2"/>
                </a:solidFill>
                <a:ea typeface="隶书" charset="0"/>
              </a:rPr>
              <a:t>优先级</a:t>
            </a:r>
            <a:r>
              <a:rPr lang="en-US" altLang="zh-CN" sz="1800" dirty="0">
                <a:solidFill>
                  <a:schemeClr val="tx2"/>
                </a:solidFill>
                <a:ea typeface="隶书" charset="0"/>
              </a:rPr>
              <a:t>:   </a:t>
            </a:r>
            <a:r>
              <a:rPr lang="en-US" altLang="zh-CN" sz="1800" dirty="0">
                <a:solidFill>
                  <a:srgbClr val="00B050"/>
                </a:solidFill>
                <a:ea typeface="隶书" charset="0"/>
              </a:rPr>
              <a:t>15</a:t>
            </a:r>
          </a:p>
          <a:p>
            <a:pPr lvl="3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charset="2"/>
              <a:buChar char=""/>
            </a:pPr>
            <a:r>
              <a:rPr lang="zh-CN" altLang="en-US" sz="1800" dirty="0">
                <a:solidFill>
                  <a:schemeClr val="tx2"/>
                </a:solidFill>
                <a:latin typeface="隶书" charset="0"/>
                <a:ea typeface="隶书" charset="0"/>
              </a:rPr>
              <a:t>左侧必须是变量，不能是常量或表达式</a:t>
            </a:r>
            <a:endParaRPr lang="en-US" altLang="zh-CN" sz="1800" dirty="0">
              <a:solidFill>
                <a:schemeClr val="tx2"/>
              </a:solidFill>
              <a:latin typeface="隶书" charset="0"/>
              <a:ea typeface="隶书" charset="0"/>
            </a:endParaRPr>
          </a:p>
          <a:p>
            <a:pPr lvl="3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charset="2"/>
              <a:buChar char=""/>
            </a:pPr>
            <a:r>
              <a:rPr lang="zh-CN" altLang="en-US" sz="1800" dirty="0">
                <a:solidFill>
                  <a:srgbClr val="00B050"/>
                </a:solidFill>
                <a:latin typeface="隶书" charset="0"/>
                <a:ea typeface="隶书" charset="0"/>
              </a:rPr>
              <a:t>赋值转换</a:t>
            </a:r>
            <a:r>
              <a:rPr lang="zh-CN" altLang="en-US" sz="1800" dirty="0">
                <a:solidFill>
                  <a:schemeClr val="tx2"/>
                </a:solidFill>
                <a:latin typeface="隶书" charset="0"/>
                <a:ea typeface="隶书" charset="0"/>
              </a:rPr>
              <a:t>规则</a:t>
            </a:r>
            <a:r>
              <a:rPr lang="en-US" altLang="zh-CN" sz="1800" dirty="0">
                <a:solidFill>
                  <a:schemeClr val="tx2"/>
                </a:solidFill>
                <a:latin typeface="隶书" charset="0"/>
                <a:ea typeface="隶书" charset="0"/>
              </a:rPr>
              <a:t>:</a:t>
            </a:r>
            <a:r>
              <a:rPr lang="zh-CN" altLang="en-US" sz="1800" dirty="0">
                <a:solidFill>
                  <a:schemeClr val="tx2"/>
                </a:solidFill>
                <a:latin typeface="隶书" charset="0"/>
                <a:ea typeface="隶书" charset="0"/>
              </a:rPr>
              <a:t>使赋值号右边表达式值</a:t>
            </a:r>
            <a:r>
              <a:rPr lang="zh-CN" altLang="en-US" sz="1800" dirty="0">
                <a:solidFill>
                  <a:srgbClr val="00B050"/>
                </a:solidFill>
                <a:latin typeface="隶书" charset="0"/>
                <a:ea typeface="隶书" charset="0"/>
              </a:rPr>
              <a:t>自动</a:t>
            </a:r>
            <a:r>
              <a:rPr lang="zh-CN" altLang="en-US" sz="1800" dirty="0">
                <a:solidFill>
                  <a:schemeClr val="tx2"/>
                </a:solidFill>
                <a:latin typeface="隶书" charset="0"/>
                <a:ea typeface="隶书" charset="0"/>
              </a:rPr>
              <a:t>转换成其左边变量的类型</a:t>
            </a:r>
            <a:endParaRPr lang="en-US" altLang="zh-CN" sz="1800" dirty="0">
              <a:solidFill>
                <a:schemeClr val="tx2"/>
              </a:solidFill>
              <a:latin typeface="隶书" charset="0"/>
              <a:ea typeface="隶书" charset="0"/>
            </a:endParaRPr>
          </a:p>
          <a:p>
            <a:pPr lvl="3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charset="2"/>
              <a:buChar char=""/>
            </a:pPr>
            <a:r>
              <a:rPr lang="zh-CN" altLang="en-US" sz="1800" dirty="0">
                <a:solidFill>
                  <a:schemeClr val="tx2"/>
                </a:solidFill>
                <a:latin typeface="Candara" charset="0"/>
                <a:ea typeface="隶书" charset="0"/>
              </a:rPr>
              <a:t>赋值表达式的值与变量值相等</a:t>
            </a:r>
            <a:r>
              <a:rPr lang="en-US" altLang="zh-CN" sz="1800" dirty="0">
                <a:solidFill>
                  <a:schemeClr val="tx2"/>
                </a:solidFill>
                <a:latin typeface="Candara" charset="0"/>
                <a:ea typeface="隶书" charset="0"/>
              </a:rPr>
              <a:t>,</a:t>
            </a:r>
            <a:r>
              <a:rPr lang="zh-CN" altLang="en-US" sz="1800" dirty="0">
                <a:solidFill>
                  <a:schemeClr val="tx2"/>
                </a:solidFill>
                <a:latin typeface="Candara" charset="0"/>
                <a:ea typeface="隶书" charset="0"/>
              </a:rPr>
              <a:t>且可嵌套</a:t>
            </a:r>
            <a:endParaRPr lang="zh-CN" altLang="en-US" sz="1800" dirty="0">
              <a:solidFill>
                <a:schemeClr val="tx2"/>
              </a:solidFill>
              <a:ea typeface="隶书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ACAB3-5484-2240-8426-46CA582D9424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80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增一和减一运算符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84313"/>
            <a:ext cx="8640763" cy="4824412"/>
          </a:xfrm>
        </p:spPr>
        <p:txBody>
          <a:bodyPr/>
          <a:lstStyle/>
          <a:p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n++</a:t>
            </a:r>
            <a:r>
              <a:rPr lang="zh-CN" altLang="en-US">
                <a:ea typeface="宋体" charset="0"/>
              </a:rPr>
              <a:t>，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n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--</a:t>
            </a:r>
            <a:r>
              <a:rPr lang="zh-CN" altLang="en-US">
                <a:ea typeface="宋体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++n</a:t>
            </a:r>
            <a:r>
              <a:rPr lang="zh-CN" altLang="en-US">
                <a:ea typeface="宋体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--n</a:t>
            </a:r>
          </a:p>
          <a:p>
            <a:pPr lvl="1"/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++</a:t>
            </a:r>
            <a:r>
              <a:rPr lang="zh-CN" altLang="en-US">
                <a:ea typeface="宋体" charset="0"/>
              </a:rPr>
              <a:t>让参与运算的变量加</a:t>
            </a:r>
            <a:r>
              <a:rPr lang="en-US" altLang="zh-CN">
                <a:ea typeface="宋体" charset="0"/>
              </a:rPr>
              <a:t>1</a:t>
            </a:r>
            <a:r>
              <a:rPr lang="zh-CN" altLang="en-US">
                <a:ea typeface="宋体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--</a:t>
            </a:r>
            <a:r>
              <a:rPr lang="zh-CN" altLang="en-US">
                <a:ea typeface="宋体" charset="0"/>
              </a:rPr>
              <a:t>让参与运算的变量减</a:t>
            </a:r>
            <a:r>
              <a:rPr lang="en-US" altLang="zh-CN">
                <a:ea typeface="宋体" charset="0"/>
              </a:rPr>
              <a:t>1</a:t>
            </a:r>
          </a:p>
          <a:p>
            <a:pPr lvl="1"/>
            <a:r>
              <a:rPr lang="zh-CN" altLang="en-US">
                <a:ea typeface="宋体" charset="0"/>
              </a:rPr>
              <a:t>作为后缀运算符时，先取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n</a:t>
            </a:r>
            <a:r>
              <a:rPr lang="zh-CN" altLang="en-US">
                <a:ea typeface="宋体" charset="0"/>
              </a:rPr>
              <a:t>的值，然后加</a:t>
            </a:r>
            <a:r>
              <a:rPr lang="en-US" altLang="zh-CN">
                <a:ea typeface="宋体" charset="0"/>
              </a:rPr>
              <a:t>/</a:t>
            </a:r>
            <a:r>
              <a:rPr lang="zh-CN" altLang="en-US">
                <a:ea typeface="宋体" charset="0"/>
              </a:rPr>
              <a:t>减</a:t>
            </a:r>
            <a:r>
              <a:rPr lang="en-US" altLang="zh-CN">
                <a:ea typeface="宋体" charset="0"/>
              </a:rPr>
              <a:t>1</a:t>
            </a:r>
          </a:p>
          <a:p>
            <a:pPr lvl="1"/>
            <a:r>
              <a:rPr lang="zh-CN" altLang="en-US">
                <a:ea typeface="宋体" charset="0"/>
              </a:rPr>
              <a:t>作为</a:t>
            </a:r>
            <a:r>
              <a:rPr lang="zh-CN" altLang="en-US">
                <a:solidFill>
                  <a:srgbClr val="880000"/>
                </a:solidFill>
                <a:ea typeface="宋体" charset="0"/>
              </a:rPr>
              <a:t>前缀</a:t>
            </a:r>
            <a:r>
              <a:rPr lang="zh-CN" altLang="en-US">
                <a:ea typeface="宋体" charset="0"/>
              </a:rPr>
              <a:t>运算符时，先加</a:t>
            </a:r>
            <a:r>
              <a:rPr lang="en-US" altLang="zh-CN">
                <a:ea typeface="宋体" charset="0"/>
              </a:rPr>
              <a:t>/</a:t>
            </a:r>
            <a:r>
              <a:rPr lang="zh-CN" altLang="en-US">
                <a:ea typeface="宋体" charset="0"/>
              </a:rPr>
              <a:t>减</a:t>
            </a:r>
            <a:r>
              <a:rPr lang="en-US" altLang="zh-CN">
                <a:ea typeface="宋体" charset="0"/>
              </a:rPr>
              <a:t>1</a:t>
            </a:r>
            <a:r>
              <a:rPr lang="zh-CN" altLang="en-US">
                <a:ea typeface="宋体" charset="0"/>
              </a:rPr>
              <a:t>，然后取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n</a:t>
            </a:r>
            <a:r>
              <a:rPr lang="zh-CN" altLang="en-US">
                <a:ea typeface="宋体" charset="0"/>
              </a:rPr>
              <a:t>的值</a:t>
            </a:r>
            <a:endParaRPr lang="en-US" altLang="zh-CN">
              <a:latin typeface="Courier New" charset="0"/>
              <a:ea typeface="宋体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03350" y="4292600"/>
            <a:ext cx="2590800" cy="865188"/>
            <a:chOff x="2064" y="1434"/>
            <a:chExt cx="3129" cy="545"/>
          </a:xfrm>
        </p:grpSpPr>
        <p:sp>
          <p:nvSpPr>
            <p:cNvPr id="196613" name="AutoShape 5"/>
            <p:cNvSpPr>
              <a:spLocks noChangeArrowheads="1"/>
            </p:cNvSpPr>
            <p:nvPr/>
          </p:nvSpPr>
          <p:spPr bwMode="auto">
            <a:xfrm>
              <a:off x="2064" y="1434"/>
              <a:ext cx="3129" cy="545"/>
            </a:xfrm>
            <a:prstGeom prst="foldedCorner">
              <a:avLst>
                <a:gd name="adj" fmla="val 12500"/>
              </a:avLst>
            </a:prstGeom>
            <a:solidFill>
              <a:srgbClr val="FFCC99"/>
            </a:solidFill>
            <a:ln w="19050">
              <a:solidFill>
                <a:srgbClr val="FFFF99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6614" name="Text Box 6"/>
            <p:cNvSpPr txBox="1">
              <a:spLocks noChangeArrowheads="1"/>
            </p:cNvSpPr>
            <p:nvPr/>
          </p:nvSpPr>
          <p:spPr bwMode="auto">
            <a:xfrm>
              <a:off x="2064" y="1525"/>
              <a:ext cx="3129" cy="307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itchFamily="49" charset="0"/>
                  <a:ea typeface="隶书" pitchFamily="49" charset="-122"/>
                </a:rPr>
                <a:t>m = </a:t>
              </a:r>
              <a:r>
                <a:rPr kumimoji="1" lang="en-US" altLang="zh-CN" sz="3200">
                  <a:solidFill>
                    <a:srgbClr val="88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itchFamily="49" charset="0"/>
                  <a:ea typeface="隶书" pitchFamily="49" charset="-122"/>
                </a:rPr>
                <a:t>++</a:t>
              </a:r>
              <a:r>
                <a:rPr kumimoji="1" lang="en-US" altLang="zh-CN" sz="320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itchFamily="49" charset="0"/>
                  <a:ea typeface="隶书" pitchFamily="49" charset="-122"/>
                </a:rPr>
                <a:t>n;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005388" y="3644900"/>
            <a:ext cx="2590800" cy="865188"/>
            <a:chOff x="2064" y="1434"/>
            <a:chExt cx="3129" cy="545"/>
          </a:xfrm>
        </p:grpSpPr>
        <p:sp>
          <p:nvSpPr>
            <p:cNvPr id="196616" name="AutoShape 8"/>
            <p:cNvSpPr>
              <a:spLocks noChangeArrowheads="1"/>
            </p:cNvSpPr>
            <p:nvPr/>
          </p:nvSpPr>
          <p:spPr bwMode="auto">
            <a:xfrm>
              <a:off x="2064" y="1434"/>
              <a:ext cx="3129" cy="545"/>
            </a:xfrm>
            <a:prstGeom prst="foldedCorner">
              <a:avLst>
                <a:gd name="adj" fmla="val 12500"/>
              </a:avLst>
            </a:prstGeom>
            <a:solidFill>
              <a:srgbClr val="FFCC99"/>
            </a:solidFill>
            <a:ln w="19050">
              <a:solidFill>
                <a:srgbClr val="FFFF99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6617" name="Text Box 9"/>
            <p:cNvSpPr txBox="1">
              <a:spLocks noChangeArrowheads="1"/>
            </p:cNvSpPr>
            <p:nvPr/>
          </p:nvSpPr>
          <p:spPr bwMode="auto">
            <a:xfrm>
              <a:off x="2064" y="1525"/>
              <a:ext cx="3129" cy="31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itchFamily="49" charset="0"/>
                  <a:ea typeface="隶书" pitchFamily="49" charset="-122"/>
                </a:rPr>
                <a:t>n=n+1;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5003800" y="4724400"/>
            <a:ext cx="2590800" cy="865188"/>
            <a:chOff x="2064" y="1434"/>
            <a:chExt cx="3129" cy="545"/>
          </a:xfrm>
        </p:grpSpPr>
        <p:sp>
          <p:nvSpPr>
            <p:cNvPr id="196619" name="AutoShape 11"/>
            <p:cNvSpPr>
              <a:spLocks noChangeArrowheads="1"/>
            </p:cNvSpPr>
            <p:nvPr/>
          </p:nvSpPr>
          <p:spPr bwMode="auto">
            <a:xfrm>
              <a:off x="2064" y="1434"/>
              <a:ext cx="3129" cy="545"/>
            </a:xfrm>
            <a:prstGeom prst="foldedCorner">
              <a:avLst>
                <a:gd name="adj" fmla="val 12500"/>
              </a:avLst>
            </a:prstGeom>
            <a:solidFill>
              <a:srgbClr val="FFCC99"/>
            </a:solidFill>
            <a:ln w="19050">
              <a:solidFill>
                <a:srgbClr val="FFFF99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lIns="0" tIns="0" rIns="0" bIns="0" anchor="ctr">
              <a:spAutoFit/>
            </a:bodyPr>
            <a:lstStyle/>
            <a:p>
              <a:pPr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6620" name="Text Box 12"/>
            <p:cNvSpPr txBox="1">
              <a:spLocks noChangeArrowheads="1"/>
            </p:cNvSpPr>
            <p:nvPr/>
          </p:nvSpPr>
          <p:spPr bwMode="auto">
            <a:xfrm>
              <a:off x="2064" y="1525"/>
              <a:ext cx="3129" cy="307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3200">
                  <a:solidFill>
                    <a:srgbClr val="0000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itchFamily="49" charset="0"/>
                  <a:ea typeface="隶书" pitchFamily="49" charset="-122"/>
                </a:rPr>
                <a:t>m = n;</a:t>
              </a:r>
            </a:p>
          </p:txBody>
        </p:sp>
      </p:grpSp>
      <p:sp>
        <p:nvSpPr>
          <p:cNvPr id="196621" name="AutoShape 13"/>
          <p:cNvSpPr>
            <a:spLocks noChangeArrowheads="1"/>
          </p:cNvSpPr>
          <p:nvPr/>
        </p:nvSpPr>
        <p:spPr bwMode="auto">
          <a:xfrm>
            <a:off x="4211638" y="4148138"/>
            <a:ext cx="719137" cy="100647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66CC"/>
          </a:solidFill>
          <a:ln w="19050" algn="ctr">
            <a:solidFill>
              <a:srgbClr val="99CCFF"/>
            </a:solidFill>
            <a:miter lim="800000"/>
            <a:headEnd/>
            <a:tailEnd/>
          </a:ln>
          <a:effectLst>
            <a:outerShdw dist="35921" dir="2700000" algn="ctr" rotWithShape="0">
              <a:srgbClr val="990000"/>
            </a:outerShdw>
          </a:effec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81F3F-B647-8145-81A2-5BC7594110C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6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822896"/>
          </a:xfrm>
        </p:spPr>
        <p:txBody>
          <a:bodyPr/>
          <a:lstStyle/>
          <a:p>
            <a:r>
              <a:rPr lang="zh-CN" altLang="en-US"/>
              <a:t>增一和减一运算符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84313"/>
            <a:ext cx="8640763" cy="46116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ea typeface="宋体" charset="0"/>
              </a:rPr>
              <a:t>良好的程序设计风格提倡：在一行语句中，一个变量只能出现一次加</a:t>
            </a:r>
            <a:r>
              <a:rPr lang="en-US" altLang="zh-CN" sz="2800" dirty="0">
                <a:ea typeface="宋体" charset="0"/>
              </a:rPr>
              <a:t>1</a:t>
            </a:r>
            <a:r>
              <a:rPr lang="zh-CN" altLang="en-US" sz="2800" dirty="0">
                <a:ea typeface="宋体" charset="0"/>
              </a:rPr>
              <a:t>或者减</a:t>
            </a:r>
            <a:r>
              <a:rPr lang="en-US" altLang="zh-CN" sz="2800" dirty="0">
                <a:ea typeface="宋体" charset="0"/>
              </a:rPr>
              <a:t>1</a:t>
            </a:r>
            <a:r>
              <a:rPr lang="zh-CN" altLang="en-US" sz="2800" dirty="0">
                <a:ea typeface="宋体" charset="0"/>
              </a:rPr>
              <a:t>运算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ea typeface="宋体" charset="0"/>
              </a:rPr>
              <a:t>过多的加</a:t>
            </a:r>
            <a:r>
              <a:rPr lang="en-US" altLang="zh-CN" sz="2800" dirty="0">
                <a:ea typeface="宋体" charset="0"/>
              </a:rPr>
              <a:t>1</a:t>
            </a:r>
            <a:r>
              <a:rPr lang="zh-CN" altLang="en-US" sz="2800" dirty="0">
                <a:ea typeface="宋体" charset="0"/>
              </a:rPr>
              <a:t>和减</a:t>
            </a:r>
            <a:r>
              <a:rPr lang="en-US" altLang="zh-CN" sz="2800" dirty="0">
                <a:ea typeface="宋体" charset="0"/>
              </a:rPr>
              <a:t>1</a:t>
            </a:r>
            <a:r>
              <a:rPr lang="zh-CN" altLang="en-US" sz="2800" dirty="0">
                <a:ea typeface="宋体" charset="0"/>
              </a:rPr>
              <a:t>运算混合，不仅可读性差，而且因为编译器实现的方法不同，导致不同编译器产生不同的运行结果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E2F8A-CAC3-D446-BECD-7F29FEC2A2E3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211138" y="692696"/>
            <a:ext cx="777240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-18288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31B6FD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隶书" charset="0"/>
                <a:ea typeface="隶书" charset="0"/>
                <a:cs typeface=""/>
              </a:rPr>
              <a:t>逗号运算符和表达式</a:t>
            </a:r>
          </a:p>
          <a:p>
            <a:pPr marL="731520" marR="0" lvl="2" indent="-18288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31B6FD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形式：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表达式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1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,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表达式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2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,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……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表达式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n</a:t>
            </a:r>
          </a:p>
          <a:p>
            <a:pPr marL="731520" marR="0" lvl="2" indent="-18288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31B6FD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结合性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: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从左向右</a:t>
            </a:r>
          </a:p>
          <a:p>
            <a:pPr marL="731520" marR="0" lvl="2" indent="-18288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31B6FD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优先级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: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EAEFF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15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charset="0"/>
              <a:ea typeface="隶书" charset="0"/>
              <a:cs typeface=""/>
            </a:endParaRPr>
          </a:p>
          <a:p>
            <a:pPr marL="731520" marR="0" lvl="2" indent="-18288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31B6FD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逗号表达式的值：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等于表达式</a:t>
            </a: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n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的值</a:t>
            </a:r>
            <a:endParaRPr kumimoji="0" lang="zh-CN" altLang="zh-CN" sz="160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charset="0"/>
              <a:ea typeface="隶书" charset="0"/>
              <a:cs typeface=""/>
            </a:endParaRPr>
          </a:p>
          <a:p>
            <a:pPr marL="731520" marR="0" lvl="2" indent="-18288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31B6FD">
                  <a:lumMod val="75000"/>
                </a:srgbClr>
              </a:buClr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用途：常用于循环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for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隶书" charset="0"/>
                <a:cs typeface=""/>
              </a:rPr>
              <a:t>语句中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481013" y="3402558"/>
            <a:ext cx="8396287" cy="2990850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例  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a=3*5,a*4</a:t>
            </a:r>
          </a:p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   a=3*5,a*4,a+5</a:t>
            </a:r>
          </a:p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例</a:t>
            </a: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x=(a=3,6*3)</a:t>
            </a:r>
          </a:p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   x=a=3,6*a</a:t>
            </a:r>
          </a:p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例</a:t>
            </a: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a=1;b=2;c=3;</a:t>
            </a:r>
          </a:p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   printf(“%d,%d,%d”,a,b,c);   </a:t>
            </a:r>
          </a:p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   printf(“%d,%d,%d”,(a,b,c),b,c);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隶书" charset="0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5053013" y="3364458"/>
            <a:ext cx="2560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00FF"/>
                </a:solidFill>
                <a:latin typeface="Times New Roman" charset="0"/>
              </a:rPr>
              <a:t>//a=15,</a:t>
            </a:r>
            <a:r>
              <a:rPr lang="zh-CN" altLang="en-US" b="0" dirty="0">
                <a:solidFill>
                  <a:srgbClr val="0000FF"/>
                </a:solidFill>
                <a:latin typeface="Times New Roman" charset="0"/>
              </a:rPr>
              <a:t>表达式值</a:t>
            </a:r>
            <a:r>
              <a:rPr lang="zh-CN" altLang="zh-CN" b="0" dirty="0">
                <a:solidFill>
                  <a:srgbClr val="0000FF"/>
                </a:solidFill>
                <a:latin typeface="Times New Roman" charset="0"/>
              </a:rPr>
              <a:t>60</a:t>
            </a:r>
            <a:endParaRPr lang="en-US" altLang="zh-CN" b="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4995863" y="3707358"/>
            <a:ext cx="2560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00FF"/>
                </a:solidFill>
                <a:latin typeface="Times New Roman" charset="0"/>
              </a:rPr>
              <a:t>//a=15,</a:t>
            </a:r>
            <a:r>
              <a:rPr lang="zh-CN" altLang="en-US" b="0" dirty="0">
                <a:solidFill>
                  <a:srgbClr val="0000FF"/>
                </a:solidFill>
                <a:latin typeface="Times New Roman" charset="0"/>
              </a:rPr>
              <a:t>表达式值</a:t>
            </a:r>
            <a:r>
              <a:rPr lang="zh-CN" altLang="zh-CN" b="0" dirty="0">
                <a:solidFill>
                  <a:srgbClr val="0000FF"/>
                </a:solidFill>
                <a:latin typeface="Times New Roman" charset="0"/>
              </a:rPr>
              <a:t>20</a:t>
            </a:r>
            <a:endParaRPr lang="en-US" altLang="zh-CN" b="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4146550" y="4164558"/>
            <a:ext cx="463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00FF"/>
                </a:solidFill>
                <a:latin typeface="Times New Roman" charset="0"/>
              </a:rPr>
              <a:t>//</a:t>
            </a:r>
            <a:r>
              <a:rPr lang="zh-CN" altLang="en-US" b="0" dirty="0">
                <a:solidFill>
                  <a:srgbClr val="0000FF"/>
                </a:solidFill>
                <a:latin typeface="Times New Roman" charset="0"/>
              </a:rPr>
              <a:t>赋值表达式，表达式值</a:t>
            </a:r>
            <a:r>
              <a:rPr lang="zh-CN" altLang="zh-CN" b="0" dirty="0">
                <a:solidFill>
                  <a:srgbClr val="0000FF"/>
                </a:solidFill>
                <a:latin typeface="Times New Roman" charset="0"/>
              </a:rPr>
              <a:t>18</a:t>
            </a:r>
            <a:r>
              <a:rPr lang="zh-CN" altLang="en-US" b="0" dirty="0">
                <a:solidFill>
                  <a:srgbClr val="0000FF"/>
                </a:solidFill>
                <a:latin typeface="Times New Roman" charset="0"/>
              </a:rPr>
              <a:t>，</a:t>
            </a:r>
            <a:r>
              <a:rPr lang="en-US" altLang="zh-CN" b="0" dirty="0">
                <a:solidFill>
                  <a:srgbClr val="0000FF"/>
                </a:solidFill>
                <a:latin typeface="Times New Roman" charset="0"/>
              </a:rPr>
              <a:t>x=18</a:t>
            </a: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4443413" y="4583658"/>
            <a:ext cx="402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00FF"/>
                </a:solidFill>
                <a:latin typeface="Times New Roman" charset="0"/>
              </a:rPr>
              <a:t>//</a:t>
            </a:r>
            <a:r>
              <a:rPr lang="zh-CN" altLang="en-US" b="0" dirty="0">
                <a:solidFill>
                  <a:srgbClr val="0000FF"/>
                </a:solidFill>
                <a:latin typeface="Times New Roman" charset="0"/>
              </a:rPr>
              <a:t>逗号表达式</a:t>
            </a:r>
            <a:r>
              <a:rPr lang="zh-CN" altLang="zh-CN" b="0" dirty="0">
                <a:solidFill>
                  <a:srgbClr val="0000FF"/>
                </a:solidFill>
                <a:latin typeface="Times New Roman" charset="0"/>
              </a:rPr>
              <a:t>,</a:t>
            </a:r>
            <a:r>
              <a:rPr lang="zh-CN" altLang="en-US" b="0" dirty="0">
                <a:solidFill>
                  <a:srgbClr val="0000FF"/>
                </a:solidFill>
                <a:latin typeface="Times New Roman" charset="0"/>
              </a:rPr>
              <a:t>表达式值</a:t>
            </a:r>
            <a:r>
              <a:rPr lang="zh-CN" altLang="zh-CN" b="0" dirty="0">
                <a:solidFill>
                  <a:srgbClr val="0000FF"/>
                </a:solidFill>
                <a:latin typeface="Times New Roman" charset="0"/>
              </a:rPr>
              <a:t>18,</a:t>
            </a:r>
            <a:r>
              <a:rPr lang="en-US" altLang="zh-CN" b="0" dirty="0">
                <a:solidFill>
                  <a:srgbClr val="0000FF"/>
                </a:solidFill>
                <a:latin typeface="Times New Roman" charset="0"/>
              </a:rPr>
              <a:t>x=3</a:t>
            </a: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6138863" y="5199608"/>
            <a:ext cx="95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00FF"/>
                </a:solidFill>
                <a:latin typeface="Times New Roman" charset="0"/>
              </a:rPr>
              <a:t>//1,2,3</a:t>
            </a: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6573838" y="5607596"/>
            <a:ext cx="95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00FF"/>
                </a:solidFill>
                <a:latin typeface="Times New Roman" charset="0"/>
              </a:rPr>
              <a:t>//3,2,3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702D-AA40-264A-98EF-EABE07FCF80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61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27D-C71F-6644-81E1-A51FBE2038E9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45</a:t>
            </a:fld>
            <a:endParaRPr lang="en-US"/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112713" y="920750"/>
            <a:ext cx="7772400" cy="2020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zh-CN" altLang="en-US" b="0">
                <a:latin typeface="Arial" charset="0"/>
                <a:ea typeface="隶书" charset="0"/>
              </a:rPr>
              <a:t>关系运算符和表达式</a:t>
            </a:r>
          </a:p>
          <a:p>
            <a:pPr lvl="2" fontAlgn="auto"/>
            <a:r>
              <a:rPr lang="zh-CN" altLang="en-US" b="0">
                <a:latin typeface="Arial" charset="0"/>
                <a:ea typeface="隶书" charset="0"/>
              </a:rPr>
              <a:t>关系运算符</a:t>
            </a:r>
          </a:p>
          <a:p>
            <a:pPr lvl="3" fontAlgn="auto"/>
            <a:r>
              <a:rPr lang="zh-CN" altLang="en-US" b="0">
                <a:latin typeface="Arial" charset="0"/>
                <a:ea typeface="隶书" charset="0"/>
              </a:rPr>
              <a:t>种类</a:t>
            </a:r>
            <a:r>
              <a:rPr lang="zh-CN" altLang="en-US" b="0">
                <a:solidFill>
                  <a:srgbClr val="0000FF"/>
                </a:solidFill>
                <a:latin typeface="Arial" charset="0"/>
                <a:ea typeface="隶书" charset="0"/>
              </a:rPr>
              <a:t>：</a:t>
            </a:r>
            <a:r>
              <a:rPr lang="en-US" altLang="zh-CN" b="0">
                <a:solidFill>
                  <a:srgbClr val="0000FF"/>
                </a:solidFill>
                <a:latin typeface="Arial" charset="0"/>
                <a:ea typeface="隶书" charset="0"/>
              </a:rPr>
              <a:t>&lt;  &lt;=   ==   &gt;=   &gt;    !=</a:t>
            </a:r>
            <a:endParaRPr lang="en-US" altLang="zh-CN" b="0">
              <a:latin typeface="Arial" charset="0"/>
              <a:ea typeface="隶书" charset="0"/>
            </a:endParaRPr>
          </a:p>
          <a:p>
            <a:pPr lvl="3" fontAlgn="auto"/>
            <a:r>
              <a:rPr lang="zh-CN" altLang="en-US" b="0">
                <a:latin typeface="Arial" charset="0"/>
                <a:ea typeface="隶书" charset="0"/>
              </a:rPr>
              <a:t>结合方向：自左向右</a:t>
            </a:r>
          </a:p>
          <a:p>
            <a:pPr lvl="3" fontAlgn="auto"/>
            <a:r>
              <a:rPr lang="zh-CN" altLang="en-US" b="0">
                <a:latin typeface="Arial" charset="0"/>
                <a:ea typeface="隶书" charset="0"/>
              </a:rPr>
              <a:t>优先级别：</a:t>
            </a:r>
            <a:endParaRPr lang="en-US" altLang="zh-CN" b="0">
              <a:latin typeface="Arial" charset="0"/>
              <a:ea typeface="隶书" charset="0"/>
            </a:endParaRPr>
          </a:p>
          <a:p>
            <a:pPr lvl="3" fontAlgn="auto"/>
            <a:r>
              <a:rPr lang="zh-CN" altLang="en-US" b="0">
                <a:ea typeface="隶书" charset="0"/>
              </a:rPr>
              <a:t>关系表达式的值：是逻辑值“真”或“假”，</a:t>
            </a:r>
            <a:r>
              <a:rPr lang="en-US" altLang="zh-CN" b="0">
                <a:ea typeface="隶书" charset="0"/>
              </a:rPr>
              <a:t>true</a:t>
            </a:r>
            <a:r>
              <a:rPr lang="zh-CN" altLang="en-US" b="0">
                <a:ea typeface="隶书" charset="0"/>
              </a:rPr>
              <a:t>和</a:t>
            </a:r>
            <a:r>
              <a:rPr lang="en-US" altLang="zh-CN" b="0">
                <a:ea typeface="隶书" charset="0"/>
              </a:rPr>
              <a:t>false</a:t>
            </a:r>
          </a:p>
          <a:p>
            <a:pPr lvl="3" fontAlgn="auto"/>
            <a:endParaRPr lang="zh-CN" altLang="en-US" b="0">
              <a:latin typeface="Arial" charset="0"/>
              <a:ea typeface="隶书" charset="0"/>
            </a:endParaRPr>
          </a:p>
        </p:txBody>
      </p:sp>
      <p:grpSp>
        <p:nvGrpSpPr>
          <p:cNvPr id="24" name="Group 22"/>
          <p:cNvGrpSpPr>
            <a:grpSpLocks/>
          </p:cNvGrpSpPr>
          <p:nvPr/>
        </p:nvGrpSpPr>
        <p:grpSpPr bwMode="auto">
          <a:xfrm>
            <a:off x="5670614" y="286045"/>
            <a:ext cx="3052762" cy="2160587"/>
            <a:chOff x="2208" y="1536"/>
            <a:chExt cx="1923" cy="1361"/>
          </a:xfrm>
        </p:grpSpPr>
        <p:grpSp>
          <p:nvGrpSpPr>
            <p:cNvPr id="25" name="Group 20"/>
            <p:cNvGrpSpPr>
              <a:grpSpLocks/>
            </p:cNvGrpSpPr>
            <p:nvPr/>
          </p:nvGrpSpPr>
          <p:grpSpPr bwMode="auto">
            <a:xfrm>
              <a:off x="2208" y="1536"/>
              <a:ext cx="1923" cy="1361"/>
              <a:chOff x="2208" y="1536"/>
              <a:chExt cx="1923" cy="1361"/>
            </a:xfrm>
          </p:grpSpPr>
          <p:sp>
            <p:nvSpPr>
              <p:cNvPr id="28" name="Rectangle 4"/>
              <p:cNvSpPr>
                <a:spLocks noChangeArrowheads="1"/>
              </p:cNvSpPr>
              <p:nvPr/>
            </p:nvSpPr>
            <p:spPr bwMode="auto">
              <a:xfrm>
                <a:off x="2208" y="1536"/>
                <a:ext cx="1923" cy="1361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4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29" name="Text Box 5"/>
              <p:cNvSpPr txBox="1">
                <a:spLocks noChangeArrowheads="1"/>
              </p:cNvSpPr>
              <p:nvPr/>
            </p:nvSpPr>
            <p:spPr bwMode="auto">
              <a:xfrm>
                <a:off x="2383" y="1603"/>
                <a:ext cx="296" cy="121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&lt;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&lt;=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&gt;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&gt;=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==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charset="0"/>
                    <a:ea typeface="宋体" charset="0"/>
                  </a:rPr>
                  <a:t>!=</a:t>
                </a:r>
                <a:endParaRPr kumimoji="1" lang="en-US" altLang="zh-CN" sz="4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endParaRPr>
              </a:p>
            </p:txBody>
          </p:sp>
          <p:sp>
            <p:nvSpPr>
              <p:cNvPr id="30" name="AutoShape 6"/>
              <p:cNvSpPr>
                <a:spLocks/>
              </p:cNvSpPr>
              <p:nvPr/>
            </p:nvSpPr>
            <p:spPr bwMode="auto">
              <a:xfrm>
                <a:off x="2836" y="1724"/>
                <a:ext cx="47" cy="600"/>
              </a:xfrm>
              <a:prstGeom prst="rightBrace">
                <a:avLst>
                  <a:gd name="adj1" fmla="val 106383"/>
                  <a:gd name="adj2" fmla="val 50000"/>
                </a:avLst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endParaRPr>
              </a:p>
            </p:txBody>
          </p:sp>
          <p:sp>
            <p:nvSpPr>
              <p:cNvPr id="31" name="AutoShape 7"/>
              <p:cNvSpPr>
                <a:spLocks/>
              </p:cNvSpPr>
              <p:nvPr/>
            </p:nvSpPr>
            <p:spPr bwMode="auto">
              <a:xfrm>
                <a:off x="2836" y="2402"/>
                <a:ext cx="47" cy="344"/>
              </a:xfrm>
              <a:prstGeom prst="rightBrace">
                <a:avLst>
                  <a:gd name="adj1" fmla="val 60993"/>
                  <a:gd name="adj2" fmla="val 50000"/>
                </a:avLst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endParaRPr>
              </a:p>
            </p:txBody>
          </p:sp>
        </p:grpSp>
        <p:sp>
          <p:nvSpPr>
            <p:cNvPr id="26" name="Text Box 8"/>
            <p:cNvSpPr txBox="1">
              <a:spLocks noChangeArrowheads="1"/>
            </p:cNvSpPr>
            <p:nvPr/>
          </p:nvSpPr>
          <p:spPr bwMode="auto">
            <a:xfrm>
              <a:off x="2883" y="1825"/>
              <a:ext cx="1166" cy="252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优先级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6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（高）</a:t>
              </a: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27" name="Text Box 9"/>
            <p:cNvSpPr txBox="1">
              <a:spLocks noChangeArrowheads="1"/>
            </p:cNvSpPr>
            <p:nvPr/>
          </p:nvSpPr>
          <p:spPr bwMode="auto">
            <a:xfrm>
              <a:off x="2883" y="2413"/>
              <a:ext cx="1166" cy="252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优先级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7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（低）</a:t>
              </a: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</p:grp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508000" y="3427413"/>
            <a:ext cx="2790825" cy="1633537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charset="0"/>
                <a:ea typeface="隶书" charset="0"/>
              </a:rPr>
              <a:t>例   </a:t>
            </a: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charset="0"/>
                <a:ea typeface="隶书" charset="0"/>
              </a:rPr>
              <a:t>c&gt;a+b    </a:t>
            </a: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隶书" charset="0"/>
                <a:ea typeface="隶书" charset="0"/>
              </a:rPr>
              <a:t>//c&gt;(a+b)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charset="0"/>
                <a:ea typeface="隶书" charset="0"/>
              </a:rPr>
              <a:t>     a&gt;b!=c  </a:t>
            </a: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charset="0"/>
                <a:ea typeface="隶书" charset="0"/>
              </a:rPr>
              <a:t>  </a:t>
            </a: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隶书" charset="0"/>
                <a:ea typeface="隶书" charset="0"/>
              </a:rPr>
              <a:t>//(a&gt;b)!=c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charset="0"/>
                <a:ea typeface="隶书" charset="0"/>
              </a:rPr>
              <a:t>     a==b&lt;c   </a:t>
            </a: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隶书" charset="0"/>
                <a:ea typeface="隶书" charset="0"/>
              </a:rPr>
              <a:t>//a==(b&lt;c)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charset="0"/>
                <a:ea typeface="隶书" charset="0"/>
              </a:rPr>
              <a:t>     a=b&gt;c     </a:t>
            </a: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隶书" charset="0"/>
                <a:ea typeface="隶书" charset="0"/>
              </a:rPr>
              <a:t>//a=(b&gt;c)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charset="0"/>
              <a:ea typeface="隶书" charset="0"/>
            </a:endParaRPr>
          </a:p>
        </p:txBody>
      </p:sp>
      <p:sp>
        <p:nvSpPr>
          <p:cNvPr id="33" name="Rectangle 26"/>
          <p:cNvSpPr>
            <a:spLocks noChangeArrowheads="1"/>
          </p:cNvSpPr>
          <p:nvPr/>
        </p:nvSpPr>
        <p:spPr bwMode="auto">
          <a:xfrm>
            <a:off x="3914775" y="3449638"/>
            <a:ext cx="4606925" cy="2173287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/>
          <a:lstStyle>
            <a:lvl1pPr marL="2286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例   </a:t>
            </a: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int a=3,b=2,c=1,d,f;</a:t>
            </a: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       a&gt;b </a:t>
            </a: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      (a&gt;b)==c</a:t>
            </a: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       b+c&lt;a</a:t>
            </a: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       d=a&gt;b</a:t>
            </a: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       f=a&gt;b&gt;c</a:t>
            </a:r>
          </a:p>
        </p:txBody>
      </p:sp>
      <p:sp>
        <p:nvSpPr>
          <p:cNvPr id="34" name="Text Box 35"/>
          <p:cNvSpPr txBox="1">
            <a:spLocks noChangeArrowheads="1"/>
          </p:cNvSpPr>
          <p:nvPr/>
        </p:nvSpPr>
        <p:spPr bwMode="auto">
          <a:xfrm>
            <a:off x="6926263" y="3717032"/>
            <a:ext cx="1463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solidFill>
                  <a:srgbClr val="0000FF"/>
                </a:solidFill>
                <a:latin typeface="Times New Roman" charset="0"/>
              </a:rPr>
              <a:t>//</a:t>
            </a:r>
            <a:r>
              <a:rPr lang="zh-CN" altLang="en-US" sz="2000" b="0" dirty="0">
                <a:solidFill>
                  <a:srgbClr val="0000FF"/>
                </a:solidFill>
                <a:latin typeface="Times New Roman" charset="0"/>
              </a:rPr>
              <a:t>表达式值</a:t>
            </a:r>
            <a:r>
              <a:rPr lang="zh-CN" altLang="zh-CN" sz="2000" b="0" dirty="0">
                <a:solidFill>
                  <a:srgbClr val="0000FF"/>
                </a:solidFill>
                <a:latin typeface="Times New Roman" charset="0"/>
              </a:rPr>
              <a:t>1</a:t>
            </a:r>
            <a:endParaRPr lang="en-US" altLang="zh-CN" sz="2000" b="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35" name="Text Box 36"/>
          <p:cNvSpPr txBox="1">
            <a:spLocks noChangeArrowheads="1"/>
          </p:cNvSpPr>
          <p:nvPr/>
        </p:nvSpPr>
        <p:spPr bwMode="auto">
          <a:xfrm>
            <a:off x="6907213" y="4077072"/>
            <a:ext cx="1463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00FF"/>
                </a:solidFill>
                <a:latin typeface="Times New Roman" charset="0"/>
              </a:rPr>
              <a:t>//</a:t>
            </a:r>
            <a:r>
              <a:rPr lang="zh-CN" altLang="en-US" sz="2000" b="0" dirty="0">
                <a:solidFill>
                  <a:srgbClr val="0000FF"/>
                </a:solidFill>
                <a:latin typeface="Times New Roman" charset="0"/>
              </a:rPr>
              <a:t>表达式值</a:t>
            </a:r>
            <a:r>
              <a:rPr lang="zh-CN" altLang="zh-CN" sz="2000" b="0" dirty="0">
                <a:solidFill>
                  <a:srgbClr val="0000FF"/>
                </a:solidFill>
                <a:latin typeface="Times New Roman" charset="0"/>
              </a:rPr>
              <a:t>1</a:t>
            </a:r>
            <a:endParaRPr lang="en-US" altLang="zh-CN" sz="2000" b="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36" name="Text Box 37"/>
          <p:cNvSpPr txBox="1">
            <a:spLocks noChangeArrowheads="1"/>
          </p:cNvSpPr>
          <p:nvPr/>
        </p:nvSpPr>
        <p:spPr bwMode="auto">
          <a:xfrm>
            <a:off x="6831013" y="4365104"/>
            <a:ext cx="1463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0000FF"/>
                </a:solidFill>
                <a:latin typeface="Times New Roman" charset="0"/>
              </a:rPr>
              <a:t>//</a:t>
            </a:r>
            <a:r>
              <a:rPr lang="zh-CN" altLang="en-US" sz="2000" b="0" dirty="0">
                <a:solidFill>
                  <a:srgbClr val="0000FF"/>
                </a:solidFill>
                <a:latin typeface="Times New Roman" charset="0"/>
              </a:rPr>
              <a:t>表达式值</a:t>
            </a:r>
            <a:r>
              <a:rPr lang="zh-CN" altLang="zh-CN" sz="2000" b="0" dirty="0">
                <a:solidFill>
                  <a:srgbClr val="0000FF"/>
                </a:solidFill>
                <a:latin typeface="Times New Roman" charset="0"/>
              </a:rPr>
              <a:t>0</a:t>
            </a:r>
            <a:endParaRPr lang="en-US" altLang="zh-CN" sz="2000" b="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37" name="Text Box 38"/>
          <p:cNvSpPr txBox="1">
            <a:spLocks noChangeArrowheads="1"/>
          </p:cNvSpPr>
          <p:nvPr/>
        </p:nvSpPr>
        <p:spPr bwMode="auto">
          <a:xfrm>
            <a:off x="6907213" y="4653136"/>
            <a:ext cx="717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solidFill>
                  <a:srgbClr val="0000FF"/>
                </a:solidFill>
                <a:latin typeface="Times New Roman" charset="0"/>
              </a:rPr>
              <a:t>//d=1</a:t>
            </a:r>
          </a:p>
        </p:txBody>
      </p:sp>
      <p:sp>
        <p:nvSpPr>
          <p:cNvPr id="38" name="Text Box 39"/>
          <p:cNvSpPr txBox="1">
            <a:spLocks noChangeArrowheads="1"/>
          </p:cNvSpPr>
          <p:nvPr/>
        </p:nvSpPr>
        <p:spPr bwMode="auto">
          <a:xfrm>
            <a:off x="7021513" y="4941168"/>
            <a:ext cx="674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solidFill>
                  <a:srgbClr val="0000FF"/>
                </a:solidFill>
                <a:latin typeface="Times New Roman" charset="0"/>
              </a:rPr>
              <a:t>//f=0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3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8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 bldLvl="5" autoUpdateAnimBg="0"/>
      <p:bldP spid="32" grpId="0" animBg="1" autoUpdateAnimBg="0"/>
      <p:bldP spid="33" grpId="0" animBg="1" autoUpdateAnimBg="0"/>
      <p:bldP spid="34" grpId="0" build="p" autoUpdateAnimBg="0"/>
      <p:bldP spid="35" grpId="0" build="p" autoUpdateAnimBg="0"/>
      <p:bldP spid="36" grpId="0" build="p" autoUpdateAnimBg="0"/>
      <p:bldP spid="37" grpId="0" build="p" autoUpdateAnimBg="0"/>
      <p:bldP spid="38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0" y="296863"/>
            <a:ext cx="8501063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2088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eaLnBrk="1" hangingPunct="1">
              <a:lnSpc>
                <a:spcPct val="100000"/>
              </a:lnSpc>
            </a:pPr>
            <a:r>
              <a:rPr kumimoji="0" lang="zh-CN" altLang="en-US" sz="1800" b="0">
                <a:latin typeface="宋体" charset="0"/>
                <a:ea typeface="宋体" charset="0"/>
              </a:rPr>
              <a:t>关系运算注意：</a:t>
            </a:r>
            <a:endParaRPr kumimoji="0" lang="zh-CN" altLang="en-US" sz="1800" b="0">
              <a:latin typeface="宋体" charset="0"/>
              <a:ea typeface="宋体" charset="0"/>
              <a:sym typeface="Symbol" charset="2"/>
            </a:endParaRP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498475" y="889000"/>
            <a:ext cx="3973513" cy="860425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例</a:t>
            </a: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若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a=0; b=0.5; x=0.3;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   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则</a:t>
            </a: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a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&lt;=x&lt;=b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的值为</a:t>
            </a: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 </a:t>
            </a: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宋体" charset="0"/>
              <a:sym typeface="Symbol" charset="2"/>
            </a:endParaRPr>
          </a:p>
        </p:txBody>
      </p:sp>
      <p:sp>
        <p:nvSpPr>
          <p:cNvPr id="19" name="Text Box 12"/>
          <p:cNvSpPr txBox="1">
            <a:spLocks noChangeArrowheads="1"/>
          </p:cNvSpPr>
          <p:nvPr/>
        </p:nvSpPr>
        <p:spPr bwMode="auto">
          <a:xfrm>
            <a:off x="3889697" y="1303933"/>
            <a:ext cx="324426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FF0000"/>
                </a:solidFill>
                <a:ea typeface="隶书" charset="0"/>
              </a:rPr>
              <a:t>0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4694238" y="939800"/>
            <a:ext cx="4278312" cy="833438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例</a:t>
            </a: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5&gt;2&gt;7&gt;8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在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C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中是允许的，值为</a:t>
            </a:r>
          </a:p>
        </p:txBody>
      </p: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5436096" y="13335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solidFill>
                  <a:srgbClr val="FF0000"/>
                </a:solidFill>
                <a:ea typeface="隶书" charset="0"/>
              </a:rPr>
              <a:t>0</a:t>
            </a: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08000" y="2028825"/>
            <a:ext cx="3973513" cy="1225550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例</a:t>
            </a: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int  i=1, j=7,a;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      a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=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i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+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(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j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%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4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!=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0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);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      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则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a=</a:t>
            </a: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1871663" y="2852936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FF0000"/>
                </a:solidFill>
                <a:ea typeface="隶书" charset="0"/>
              </a:rPr>
              <a:t>2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4711700" y="2182813"/>
            <a:ext cx="4178300" cy="860425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例   ‘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a’&gt;0        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结果为</a:t>
            </a:r>
            <a:endParaRPr kumimoji="1" lang="zh-CN" altLang="zh-CN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宋体" charset="0"/>
              <a:sym typeface="Symbol" charset="2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  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‘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A’&gt;100    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结果为</a:t>
            </a:r>
          </a:p>
        </p:txBody>
      </p: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8074025" y="2251075"/>
            <a:ext cx="27622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FF0000"/>
                </a:solidFill>
                <a:ea typeface="隶书" charset="0"/>
              </a:rPr>
              <a:t>1</a:t>
            </a:r>
          </a:p>
        </p:txBody>
      </p:sp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8064500" y="2592388"/>
            <a:ext cx="2778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FF0000"/>
                </a:solidFill>
                <a:ea typeface="隶书" charset="0"/>
              </a:rPr>
              <a:t>0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512763" y="3562350"/>
            <a:ext cx="4830762" cy="2320925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例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注意区分“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=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”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与“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==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”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    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int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a=0,b=1;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      if(a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=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b)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           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printf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(“a  equal  to  b”);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      else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               </a:t>
            </a:r>
            <a:r>
              <a:rPr kumimoji="1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printf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(“a  not  equal  to  b”);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992DD-8B77-4245-AA7B-86F6781422C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92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  <p:bldP spid="25" grpId="0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63"/>
          <p:cNvGrpSpPr>
            <a:grpSpLocks/>
          </p:cNvGrpSpPr>
          <p:nvPr/>
        </p:nvGrpSpPr>
        <p:grpSpPr bwMode="auto">
          <a:xfrm>
            <a:off x="1639888" y="2447925"/>
            <a:ext cx="5867400" cy="2152650"/>
            <a:chOff x="1104" y="1284"/>
            <a:chExt cx="3696" cy="1356"/>
          </a:xfrm>
        </p:grpSpPr>
        <p:grpSp>
          <p:nvGrpSpPr>
            <p:cNvPr id="55" name="Group 22"/>
            <p:cNvGrpSpPr>
              <a:grpSpLocks/>
            </p:cNvGrpSpPr>
            <p:nvPr/>
          </p:nvGrpSpPr>
          <p:grpSpPr bwMode="auto">
            <a:xfrm>
              <a:off x="1104" y="1296"/>
              <a:ext cx="3696" cy="1344"/>
              <a:chOff x="1032" y="2784"/>
              <a:chExt cx="3924" cy="1344"/>
            </a:xfrm>
          </p:grpSpPr>
          <p:sp>
            <p:nvSpPr>
              <p:cNvPr id="75" name="Rectangle 17"/>
              <p:cNvSpPr>
                <a:spLocks noChangeArrowheads="1"/>
              </p:cNvSpPr>
              <p:nvPr/>
            </p:nvSpPr>
            <p:spPr bwMode="auto">
              <a:xfrm>
                <a:off x="1032" y="2784"/>
                <a:ext cx="3924" cy="1344"/>
              </a:xfrm>
              <a:prstGeom prst="rect">
                <a:avLst/>
              </a:prstGeom>
              <a:solidFill>
                <a:sysClr val="window" lastClr="FFFFFF"/>
              </a:solidFill>
              <a:ln w="38100">
                <a:solidFill>
                  <a:srgbClr val="5EAEFF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charset="0"/>
                    <a:ea typeface="宋体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endParaRPr>
              </a:p>
            </p:txBody>
          </p:sp>
          <p:sp>
            <p:nvSpPr>
              <p:cNvPr id="76" name="Line 18"/>
              <p:cNvSpPr>
                <a:spLocks noChangeShapeType="1"/>
              </p:cNvSpPr>
              <p:nvPr/>
            </p:nvSpPr>
            <p:spPr bwMode="auto">
              <a:xfrm>
                <a:off x="1032" y="3036"/>
                <a:ext cx="3924" cy="0"/>
              </a:xfrm>
              <a:prstGeom prst="line">
                <a:avLst/>
              </a:prstGeom>
              <a:noFill/>
              <a:ln w="38100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77" name="Line 19"/>
              <p:cNvSpPr>
                <a:spLocks noChangeShapeType="1"/>
              </p:cNvSpPr>
              <p:nvPr/>
            </p:nvSpPr>
            <p:spPr bwMode="auto">
              <a:xfrm>
                <a:off x="1032" y="3304"/>
                <a:ext cx="3924" cy="0"/>
              </a:xfrm>
              <a:prstGeom prst="line">
                <a:avLst/>
              </a:prstGeom>
              <a:noFill/>
              <a:ln w="38100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78" name="Line 20"/>
              <p:cNvSpPr>
                <a:spLocks noChangeShapeType="1"/>
              </p:cNvSpPr>
              <p:nvPr/>
            </p:nvSpPr>
            <p:spPr bwMode="auto">
              <a:xfrm>
                <a:off x="1032" y="3572"/>
                <a:ext cx="3924" cy="0"/>
              </a:xfrm>
              <a:prstGeom prst="line">
                <a:avLst/>
              </a:prstGeom>
              <a:noFill/>
              <a:ln w="38100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  <p:sp>
            <p:nvSpPr>
              <p:cNvPr id="79" name="Line 21"/>
              <p:cNvSpPr>
                <a:spLocks noChangeShapeType="1"/>
              </p:cNvSpPr>
              <p:nvPr/>
            </p:nvSpPr>
            <p:spPr bwMode="auto">
              <a:xfrm>
                <a:off x="1032" y="3840"/>
                <a:ext cx="3924" cy="0"/>
              </a:xfrm>
              <a:prstGeom prst="line">
                <a:avLst/>
              </a:prstGeom>
              <a:noFill/>
              <a:ln w="38100">
                <a:solidFill>
                  <a:srgbClr val="5EAE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  <p:sp>
          <p:nvSpPr>
            <p:cNvPr id="56" name="Line 23"/>
            <p:cNvSpPr>
              <a:spLocks noChangeShapeType="1"/>
            </p:cNvSpPr>
            <p:nvPr/>
          </p:nvSpPr>
          <p:spPr bwMode="auto">
            <a:xfrm>
              <a:off x="1716" y="1284"/>
              <a:ext cx="1" cy="1344"/>
            </a:xfrm>
            <a:prstGeom prst="line">
              <a:avLst/>
            </a:prstGeom>
            <a:noFill/>
            <a:ln w="38100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7" name="Line 24"/>
            <p:cNvSpPr>
              <a:spLocks noChangeShapeType="1"/>
            </p:cNvSpPr>
            <p:nvPr/>
          </p:nvSpPr>
          <p:spPr bwMode="auto">
            <a:xfrm>
              <a:off x="2331" y="1284"/>
              <a:ext cx="1" cy="1344"/>
            </a:xfrm>
            <a:prstGeom prst="line">
              <a:avLst/>
            </a:prstGeom>
            <a:noFill/>
            <a:ln w="38100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2946" y="1284"/>
              <a:ext cx="1" cy="1344"/>
            </a:xfrm>
            <a:prstGeom prst="line">
              <a:avLst/>
            </a:prstGeom>
            <a:noFill/>
            <a:ln w="38100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9" name="Line 26"/>
            <p:cNvSpPr>
              <a:spLocks noChangeShapeType="1"/>
            </p:cNvSpPr>
            <p:nvPr/>
          </p:nvSpPr>
          <p:spPr bwMode="auto">
            <a:xfrm>
              <a:off x="3561" y="1284"/>
              <a:ext cx="1" cy="1344"/>
            </a:xfrm>
            <a:prstGeom prst="line">
              <a:avLst/>
            </a:prstGeom>
            <a:noFill/>
            <a:ln w="38100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0" name="Line 27"/>
            <p:cNvSpPr>
              <a:spLocks noChangeShapeType="1"/>
            </p:cNvSpPr>
            <p:nvPr/>
          </p:nvSpPr>
          <p:spPr bwMode="auto">
            <a:xfrm>
              <a:off x="4176" y="1284"/>
              <a:ext cx="1" cy="1344"/>
            </a:xfrm>
            <a:prstGeom prst="line">
              <a:avLst/>
            </a:prstGeom>
            <a:noFill/>
            <a:ln w="38100">
              <a:solidFill>
                <a:srgbClr val="5EAE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1" name="Text Box 28"/>
            <p:cNvSpPr txBox="1">
              <a:spLocks noChangeArrowheads="1"/>
            </p:cNvSpPr>
            <p:nvPr/>
          </p:nvSpPr>
          <p:spPr bwMode="auto">
            <a:xfrm>
              <a:off x="1323" y="1291"/>
              <a:ext cx="2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a</a:t>
              </a:r>
            </a:p>
          </p:txBody>
        </p:sp>
        <p:sp>
          <p:nvSpPr>
            <p:cNvPr id="62" name="Text Box 29"/>
            <p:cNvSpPr txBox="1">
              <a:spLocks noChangeArrowheads="1"/>
            </p:cNvSpPr>
            <p:nvPr/>
          </p:nvSpPr>
          <p:spPr bwMode="auto">
            <a:xfrm>
              <a:off x="1930" y="1291"/>
              <a:ext cx="2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b</a:t>
              </a:r>
            </a:p>
          </p:txBody>
        </p:sp>
        <p:sp>
          <p:nvSpPr>
            <p:cNvPr id="63" name="Text Box 30"/>
            <p:cNvSpPr txBox="1">
              <a:spLocks noChangeArrowheads="1"/>
            </p:cNvSpPr>
            <p:nvPr/>
          </p:nvSpPr>
          <p:spPr bwMode="auto">
            <a:xfrm>
              <a:off x="2537" y="1291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!a</a:t>
              </a:r>
            </a:p>
          </p:txBody>
        </p:sp>
        <p:sp>
          <p:nvSpPr>
            <p:cNvPr id="64" name="Text Box 31"/>
            <p:cNvSpPr txBox="1">
              <a:spLocks noChangeArrowheads="1"/>
            </p:cNvSpPr>
            <p:nvPr/>
          </p:nvSpPr>
          <p:spPr bwMode="auto">
            <a:xfrm>
              <a:off x="3144" y="1291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!b</a:t>
              </a:r>
            </a:p>
          </p:txBody>
        </p:sp>
        <p:sp>
          <p:nvSpPr>
            <p:cNvPr id="65" name="Text Box 32"/>
            <p:cNvSpPr txBox="1">
              <a:spLocks noChangeArrowheads="1"/>
            </p:cNvSpPr>
            <p:nvPr/>
          </p:nvSpPr>
          <p:spPr bwMode="auto">
            <a:xfrm>
              <a:off x="3655" y="1291"/>
              <a:ext cx="50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a&amp;&amp;b</a:t>
              </a:r>
            </a:p>
          </p:txBody>
        </p:sp>
        <p:sp>
          <p:nvSpPr>
            <p:cNvPr id="66" name="Text Box 33"/>
            <p:cNvSpPr txBox="1">
              <a:spLocks noChangeArrowheads="1"/>
            </p:cNvSpPr>
            <p:nvPr/>
          </p:nvSpPr>
          <p:spPr bwMode="auto">
            <a:xfrm>
              <a:off x="4299" y="1303"/>
              <a:ext cx="3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a||b</a:t>
              </a:r>
            </a:p>
          </p:txBody>
        </p:sp>
        <p:sp>
          <p:nvSpPr>
            <p:cNvPr id="67" name="Text Box 34"/>
            <p:cNvSpPr txBox="1">
              <a:spLocks noChangeArrowheads="1"/>
            </p:cNvSpPr>
            <p:nvPr/>
          </p:nvSpPr>
          <p:spPr bwMode="auto">
            <a:xfrm>
              <a:off x="1263" y="1510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真</a:t>
              </a:r>
            </a:p>
          </p:txBody>
        </p:sp>
        <p:sp>
          <p:nvSpPr>
            <p:cNvPr id="68" name="Text Box 35"/>
            <p:cNvSpPr txBox="1">
              <a:spLocks noChangeArrowheads="1"/>
            </p:cNvSpPr>
            <p:nvPr/>
          </p:nvSpPr>
          <p:spPr bwMode="auto">
            <a:xfrm>
              <a:off x="1875" y="17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假</a:t>
              </a:r>
            </a:p>
          </p:txBody>
        </p:sp>
        <p:sp>
          <p:nvSpPr>
            <p:cNvPr id="69" name="Text Box 36"/>
            <p:cNvSpPr txBox="1">
              <a:spLocks noChangeArrowheads="1"/>
            </p:cNvSpPr>
            <p:nvPr/>
          </p:nvSpPr>
          <p:spPr bwMode="auto">
            <a:xfrm>
              <a:off x="1875" y="1510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真</a:t>
              </a:r>
            </a:p>
          </p:txBody>
        </p:sp>
        <p:sp>
          <p:nvSpPr>
            <p:cNvPr id="70" name="Text Box 42"/>
            <p:cNvSpPr txBox="1">
              <a:spLocks noChangeArrowheads="1"/>
            </p:cNvSpPr>
            <p:nvPr/>
          </p:nvSpPr>
          <p:spPr bwMode="auto">
            <a:xfrm>
              <a:off x="1275" y="20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假</a:t>
              </a:r>
            </a:p>
          </p:txBody>
        </p:sp>
        <p:sp>
          <p:nvSpPr>
            <p:cNvPr id="71" name="Text Box 45"/>
            <p:cNvSpPr txBox="1">
              <a:spLocks noChangeArrowheads="1"/>
            </p:cNvSpPr>
            <p:nvPr/>
          </p:nvSpPr>
          <p:spPr bwMode="auto">
            <a:xfrm>
              <a:off x="1875" y="232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假</a:t>
              </a:r>
            </a:p>
          </p:txBody>
        </p:sp>
        <p:sp>
          <p:nvSpPr>
            <p:cNvPr id="72" name="Text Box 46"/>
            <p:cNvSpPr txBox="1">
              <a:spLocks noChangeArrowheads="1"/>
            </p:cNvSpPr>
            <p:nvPr/>
          </p:nvSpPr>
          <p:spPr bwMode="auto">
            <a:xfrm>
              <a:off x="1263" y="232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假</a:t>
              </a:r>
            </a:p>
          </p:txBody>
        </p:sp>
        <p:sp>
          <p:nvSpPr>
            <p:cNvPr id="73" name="Text Box 51"/>
            <p:cNvSpPr txBox="1">
              <a:spLocks noChangeArrowheads="1"/>
            </p:cNvSpPr>
            <p:nvPr/>
          </p:nvSpPr>
          <p:spPr bwMode="auto">
            <a:xfrm>
              <a:off x="1263" y="17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真</a:t>
              </a:r>
            </a:p>
          </p:txBody>
        </p:sp>
        <p:sp>
          <p:nvSpPr>
            <p:cNvPr id="74" name="Text Box 52"/>
            <p:cNvSpPr txBox="1">
              <a:spLocks noChangeArrowheads="1"/>
            </p:cNvSpPr>
            <p:nvPr/>
          </p:nvSpPr>
          <p:spPr bwMode="auto">
            <a:xfrm>
              <a:off x="1887" y="20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隶书" charset="0"/>
                </a:rPr>
                <a:t>真</a:t>
              </a:r>
            </a:p>
          </p:txBody>
        </p:sp>
      </p:grpSp>
      <p:sp>
        <p:nvSpPr>
          <p:cNvPr id="80" name="Rectangle 2"/>
          <p:cNvSpPr txBox="1">
            <a:spLocks noChangeArrowheads="1"/>
          </p:cNvSpPr>
          <p:nvPr/>
        </p:nvSpPr>
        <p:spPr bwMode="auto">
          <a:xfrm>
            <a:off x="384175" y="793750"/>
            <a:ext cx="7772400" cy="165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zh-CN" altLang="en-US" b="0">
                <a:latin typeface="Arial" charset="0"/>
                <a:ea typeface="隶书" charset="0"/>
              </a:rPr>
              <a:t>逻辑运算符和表达式</a:t>
            </a:r>
          </a:p>
          <a:p>
            <a:pPr lvl="2" fontAlgn="auto"/>
            <a:r>
              <a:rPr lang="zh-CN" altLang="en-US" b="0">
                <a:latin typeface="Arial" charset="0"/>
                <a:ea typeface="隶书" charset="0"/>
              </a:rPr>
              <a:t>逻辑运算符</a:t>
            </a:r>
            <a:r>
              <a:rPr lang="en-US" altLang="zh-CN" b="0">
                <a:latin typeface="Arial" charset="0"/>
                <a:ea typeface="隶书" charset="0"/>
              </a:rPr>
              <a:t>(</a:t>
            </a:r>
            <a:r>
              <a:rPr lang="zh-CN" altLang="en-US" b="0">
                <a:latin typeface="Arial" charset="0"/>
                <a:ea typeface="隶书" charset="0"/>
              </a:rPr>
              <a:t>逻辑非，逻辑与，逻辑或</a:t>
            </a:r>
            <a:r>
              <a:rPr lang="en-US" altLang="zh-CN" b="0">
                <a:latin typeface="Arial" charset="0"/>
                <a:ea typeface="隶书" charset="0"/>
              </a:rPr>
              <a:t>)</a:t>
            </a:r>
          </a:p>
          <a:p>
            <a:pPr lvl="3" fontAlgn="auto"/>
            <a:r>
              <a:rPr lang="zh-CN" altLang="en-US" b="0">
                <a:latin typeface="Arial" charset="0"/>
                <a:ea typeface="隶书" charset="0"/>
              </a:rPr>
              <a:t>种类：  </a:t>
            </a:r>
            <a:r>
              <a:rPr lang="en-US" altLang="zh-CN" b="0">
                <a:latin typeface="Arial" charset="0"/>
                <a:ea typeface="隶书" charset="0"/>
              </a:rPr>
              <a:t>!  &amp;&amp;   ||</a:t>
            </a:r>
          </a:p>
          <a:p>
            <a:pPr lvl="3" fontAlgn="auto"/>
            <a:r>
              <a:rPr lang="zh-CN" altLang="en-US" b="0">
                <a:latin typeface="Arial" charset="0"/>
                <a:ea typeface="隶书" charset="0"/>
              </a:rPr>
              <a:t>逻辑运算真值表</a:t>
            </a:r>
            <a:endParaRPr lang="zh-CN" altLang="zh-CN" b="0">
              <a:latin typeface="Arial" charset="0"/>
              <a:ea typeface="隶书" charset="0"/>
            </a:endParaRPr>
          </a:p>
        </p:txBody>
      </p:sp>
      <p:sp>
        <p:nvSpPr>
          <p:cNvPr id="81" name="Rectangle 9"/>
          <p:cNvSpPr>
            <a:spLocks noChangeArrowheads="1"/>
          </p:cNvSpPr>
          <p:nvPr/>
        </p:nvSpPr>
        <p:spPr bwMode="auto">
          <a:xfrm>
            <a:off x="868363" y="4757738"/>
            <a:ext cx="75834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Char char="l"/>
              <a:tabLst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运算结果：</a:t>
            </a:r>
            <a:r>
              <a:rPr kumimoji="1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0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表示“假”，非</a:t>
            </a:r>
            <a:r>
              <a:rPr kumimoji="1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0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表示“真”</a:t>
            </a:r>
            <a:r>
              <a:rPr kumimoji="1" lang="zh-CN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,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绝大多数编译器，关系运算得到的非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0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结果为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1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，但是不要利用这个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1</a:t>
            </a:r>
          </a:p>
        </p:txBody>
      </p:sp>
      <p:grpSp>
        <p:nvGrpSpPr>
          <p:cNvPr id="82" name="Group 61"/>
          <p:cNvGrpSpPr>
            <a:grpSpLocks/>
          </p:cNvGrpSpPr>
          <p:nvPr/>
        </p:nvGrpSpPr>
        <p:grpSpPr bwMode="auto">
          <a:xfrm>
            <a:off x="5778500" y="2806700"/>
            <a:ext cx="454025" cy="1692275"/>
            <a:chOff x="3711" y="1510"/>
            <a:chExt cx="286" cy="1066"/>
          </a:xfrm>
        </p:grpSpPr>
        <p:sp>
          <p:nvSpPr>
            <p:cNvPr id="83" name="Text Box 37"/>
            <p:cNvSpPr txBox="1">
              <a:spLocks noChangeArrowheads="1"/>
            </p:cNvSpPr>
            <p:nvPr/>
          </p:nvSpPr>
          <p:spPr bwMode="auto">
            <a:xfrm>
              <a:off x="3711" y="1510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0000FF"/>
                  </a:solidFill>
                  <a:ea typeface="隶书" charset="0"/>
                </a:rPr>
                <a:t>真</a:t>
              </a:r>
            </a:p>
          </p:txBody>
        </p:sp>
        <p:sp>
          <p:nvSpPr>
            <p:cNvPr id="84" name="Text Box 44"/>
            <p:cNvSpPr txBox="1">
              <a:spLocks noChangeArrowheads="1"/>
            </p:cNvSpPr>
            <p:nvPr/>
          </p:nvSpPr>
          <p:spPr bwMode="auto">
            <a:xfrm>
              <a:off x="3711" y="232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0000FF"/>
                  </a:solidFill>
                  <a:ea typeface="隶书" charset="0"/>
                </a:rPr>
                <a:t>假</a:t>
              </a:r>
            </a:p>
          </p:txBody>
        </p:sp>
        <p:sp>
          <p:nvSpPr>
            <p:cNvPr id="85" name="Text Box 48"/>
            <p:cNvSpPr txBox="1">
              <a:spLocks noChangeArrowheads="1"/>
            </p:cNvSpPr>
            <p:nvPr/>
          </p:nvSpPr>
          <p:spPr bwMode="auto">
            <a:xfrm>
              <a:off x="3711" y="17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0000FF"/>
                  </a:solidFill>
                  <a:ea typeface="隶书" charset="0"/>
                </a:rPr>
                <a:t>假</a:t>
              </a: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3723" y="20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0000FF"/>
                  </a:solidFill>
                  <a:ea typeface="隶书" charset="0"/>
                </a:rPr>
                <a:t>假</a:t>
              </a:r>
            </a:p>
          </p:txBody>
        </p:sp>
      </p:grpSp>
      <p:grpSp>
        <p:nvGrpSpPr>
          <p:cNvPr id="87" name="Group 59"/>
          <p:cNvGrpSpPr>
            <a:grpSpLocks/>
          </p:cNvGrpSpPr>
          <p:nvPr/>
        </p:nvGrpSpPr>
        <p:grpSpPr bwMode="auto">
          <a:xfrm>
            <a:off x="3863975" y="2806700"/>
            <a:ext cx="454025" cy="1692275"/>
            <a:chOff x="2505" y="1510"/>
            <a:chExt cx="286" cy="1066"/>
          </a:xfrm>
        </p:grpSpPr>
        <p:sp>
          <p:nvSpPr>
            <p:cNvPr id="88" name="Text Box 40"/>
            <p:cNvSpPr txBox="1">
              <a:spLocks noChangeArrowheads="1"/>
            </p:cNvSpPr>
            <p:nvPr/>
          </p:nvSpPr>
          <p:spPr bwMode="auto">
            <a:xfrm>
              <a:off x="2505" y="1510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5EAEFF"/>
                  </a:solidFill>
                  <a:ea typeface="隶书" charset="0"/>
                </a:rPr>
                <a:t>假</a:t>
              </a:r>
            </a:p>
          </p:txBody>
        </p:sp>
        <p:sp>
          <p:nvSpPr>
            <p:cNvPr id="89" name="Text Box 47"/>
            <p:cNvSpPr txBox="1">
              <a:spLocks noChangeArrowheads="1"/>
            </p:cNvSpPr>
            <p:nvPr/>
          </p:nvSpPr>
          <p:spPr bwMode="auto">
            <a:xfrm>
              <a:off x="2505" y="17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5EAEFF"/>
                  </a:solidFill>
                  <a:ea typeface="隶书" charset="0"/>
                </a:rPr>
                <a:t>假</a:t>
              </a:r>
            </a:p>
          </p:txBody>
        </p:sp>
        <p:sp>
          <p:nvSpPr>
            <p:cNvPr id="90" name="Text Box 53"/>
            <p:cNvSpPr txBox="1">
              <a:spLocks noChangeArrowheads="1"/>
            </p:cNvSpPr>
            <p:nvPr/>
          </p:nvSpPr>
          <p:spPr bwMode="auto">
            <a:xfrm>
              <a:off x="2505" y="232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5EAEFF"/>
                  </a:solidFill>
                  <a:ea typeface="隶书" charset="0"/>
                </a:rPr>
                <a:t>真</a:t>
              </a:r>
            </a:p>
          </p:txBody>
        </p:sp>
        <p:sp>
          <p:nvSpPr>
            <p:cNvPr id="91" name="Text Box 54"/>
            <p:cNvSpPr txBox="1">
              <a:spLocks noChangeArrowheads="1"/>
            </p:cNvSpPr>
            <p:nvPr/>
          </p:nvSpPr>
          <p:spPr bwMode="auto">
            <a:xfrm>
              <a:off x="2517" y="20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5EAEFF"/>
                  </a:solidFill>
                  <a:ea typeface="隶书" charset="0"/>
                </a:rPr>
                <a:t>真</a:t>
              </a:r>
            </a:p>
          </p:txBody>
        </p:sp>
      </p:grpSp>
      <p:grpSp>
        <p:nvGrpSpPr>
          <p:cNvPr id="92" name="Group 60"/>
          <p:cNvGrpSpPr>
            <a:grpSpLocks/>
          </p:cNvGrpSpPr>
          <p:nvPr/>
        </p:nvGrpSpPr>
        <p:grpSpPr bwMode="auto">
          <a:xfrm>
            <a:off x="4797425" y="2806700"/>
            <a:ext cx="454025" cy="1692275"/>
            <a:chOff x="3093" y="1510"/>
            <a:chExt cx="286" cy="1066"/>
          </a:xfrm>
        </p:grpSpPr>
        <p:sp>
          <p:nvSpPr>
            <p:cNvPr id="93" name="Text Box 39"/>
            <p:cNvSpPr txBox="1">
              <a:spLocks noChangeArrowheads="1"/>
            </p:cNvSpPr>
            <p:nvPr/>
          </p:nvSpPr>
          <p:spPr bwMode="auto">
            <a:xfrm>
              <a:off x="3093" y="1510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5EAEFF"/>
                  </a:solidFill>
                  <a:ea typeface="隶书" charset="0"/>
                </a:rPr>
                <a:t>假</a:t>
              </a:r>
            </a:p>
          </p:txBody>
        </p:sp>
        <p:sp>
          <p:nvSpPr>
            <p:cNvPr id="94" name="Text Box 41"/>
            <p:cNvSpPr txBox="1">
              <a:spLocks noChangeArrowheads="1"/>
            </p:cNvSpPr>
            <p:nvPr/>
          </p:nvSpPr>
          <p:spPr bwMode="auto">
            <a:xfrm>
              <a:off x="3105" y="20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5EAEFF"/>
                  </a:solidFill>
                  <a:ea typeface="隶书" charset="0"/>
                </a:rPr>
                <a:t>假</a:t>
              </a:r>
            </a:p>
          </p:txBody>
        </p:sp>
        <p:sp>
          <p:nvSpPr>
            <p:cNvPr id="95" name="Text Box 55"/>
            <p:cNvSpPr txBox="1">
              <a:spLocks noChangeArrowheads="1"/>
            </p:cNvSpPr>
            <p:nvPr/>
          </p:nvSpPr>
          <p:spPr bwMode="auto">
            <a:xfrm>
              <a:off x="3093" y="232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5EAEFF"/>
                  </a:solidFill>
                  <a:ea typeface="隶书" charset="0"/>
                </a:rPr>
                <a:t>真</a:t>
              </a:r>
            </a:p>
          </p:txBody>
        </p:sp>
        <p:sp>
          <p:nvSpPr>
            <p:cNvPr id="96" name="Text Box 56"/>
            <p:cNvSpPr txBox="1">
              <a:spLocks noChangeArrowheads="1"/>
            </p:cNvSpPr>
            <p:nvPr/>
          </p:nvSpPr>
          <p:spPr bwMode="auto">
            <a:xfrm>
              <a:off x="3093" y="17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5EAEFF"/>
                  </a:solidFill>
                  <a:ea typeface="隶书" charset="0"/>
                </a:rPr>
                <a:t>真</a:t>
              </a:r>
            </a:p>
          </p:txBody>
        </p:sp>
      </p:grpSp>
      <p:grpSp>
        <p:nvGrpSpPr>
          <p:cNvPr id="97" name="Group 62"/>
          <p:cNvGrpSpPr>
            <a:grpSpLocks/>
          </p:cNvGrpSpPr>
          <p:nvPr/>
        </p:nvGrpSpPr>
        <p:grpSpPr bwMode="auto">
          <a:xfrm>
            <a:off x="6721475" y="2806700"/>
            <a:ext cx="454025" cy="1692275"/>
            <a:chOff x="4305" y="1510"/>
            <a:chExt cx="286" cy="1066"/>
          </a:xfrm>
        </p:grpSpPr>
        <p:sp>
          <p:nvSpPr>
            <p:cNvPr id="98" name="Text Box 38"/>
            <p:cNvSpPr txBox="1">
              <a:spLocks noChangeArrowheads="1"/>
            </p:cNvSpPr>
            <p:nvPr/>
          </p:nvSpPr>
          <p:spPr bwMode="auto">
            <a:xfrm>
              <a:off x="4305" y="1510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FF0000"/>
                  </a:solidFill>
                  <a:ea typeface="隶书" charset="0"/>
                </a:rPr>
                <a:t>真</a:t>
              </a:r>
            </a:p>
          </p:txBody>
        </p:sp>
        <p:sp>
          <p:nvSpPr>
            <p:cNvPr id="99" name="Text Box 43"/>
            <p:cNvSpPr txBox="1">
              <a:spLocks noChangeArrowheads="1"/>
            </p:cNvSpPr>
            <p:nvPr/>
          </p:nvSpPr>
          <p:spPr bwMode="auto">
            <a:xfrm>
              <a:off x="4305" y="232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FF0000"/>
                  </a:solidFill>
                  <a:ea typeface="隶书" charset="0"/>
                </a:rPr>
                <a:t>假</a:t>
              </a:r>
            </a:p>
          </p:txBody>
        </p:sp>
        <p:sp>
          <p:nvSpPr>
            <p:cNvPr id="100" name="Text Box 57"/>
            <p:cNvSpPr txBox="1">
              <a:spLocks noChangeArrowheads="1"/>
            </p:cNvSpPr>
            <p:nvPr/>
          </p:nvSpPr>
          <p:spPr bwMode="auto">
            <a:xfrm>
              <a:off x="4305" y="17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FF0000"/>
                  </a:solidFill>
                  <a:ea typeface="隶书" charset="0"/>
                </a:rPr>
                <a:t>真</a:t>
              </a:r>
            </a:p>
          </p:txBody>
        </p:sp>
        <p:sp>
          <p:nvSpPr>
            <p:cNvPr id="101" name="Text Box 58"/>
            <p:cNvSpPr txBox="1">
              <a:spLocks noChangeArrowheads="1"/>
            </p:cNvSpPr>
            <p:nvPr/>
          </p:nvSpPr>
          <p:spPr bwMode="auto">
            <a:xfrm>
              <a:off x="4317" y="2086"/>
              <a:ext cx="2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b="0">
                  <a:solidFill>
                    <a:srgbClr val="FF0000"/>
                  </a:solidFill>
                  <a:ea typeface="隶书" charset="0"/>
                </a:rPr>
                <a:t>真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868363" y="5747077"/>
            <a:ext cx="66389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tx1"/>
                </a:solidFill>
                <a:latin typeface="Courier New" charset="0"/>
              </a:rPr>
              <a:t>思考：</a:t>
            </a:r>
            <a:r>
              <a:rPr kumimoji="1" lang="zh-CN" altLang="en-US" dirty="0">
                <a:solidFill>
                  <a:schemeClr val="tx1"/>
                </a:solidFill>
                <a:latin typeface="Courier New" charset="0"/>
              </a:rPr>
              <a:t>如何表示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x</a:t>
            </a:r>
            <a:r>
              <a:rPr kumimoji="1" lang="zh-CN" altLang="en-US" dirty="0">
                <a:solidFill>
                  <a:schemeClr val="tx1"/>
                </a:solidFill>
                <a:latin typeface="Courier New" charset="0"/>
              </a:rPr>
              <a:t>大于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2</a:t>
            </a:r>
            <a:r>
              <a:rPr kumimoji="1" lang="zh-CN" altLang="en-US" dirty="0">
                <a:solidFill>
                  <a:schemeClr val="tx1"/>
                </a:solidFill>
                <a:latin typeface="Courier New" charset="0"/>
              </a:rPr>
              <a:t>，小于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3</a:t>
            </a:r>
            <a:r>
              <a:rPr kumimoji="1" lang="zh-CN" altLang="en-US" dirty="0">
                <a:solidFill>
                  <a:schemeClr val="tx1"/>
                </a:solidFill>
                <a:latin typeface="Courier New" charset="0"/>
              </a:rPr>
              <a:t>的表达式</a:t>
            </a:r>
            <a:endParaRPr kumimoji="1" lang="en-US" altLang="zh-CN" dirty="0">
              <a:solidFill>
                <a:schemeClr val="tx1"/>
              </a:solidFill>
              <a:latin typeface="Courier New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6640B-A3F9-794E-8FB7-E5114F7F46E1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22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51574-3F4E-6D47-8314-23A5E584B72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  <p:grpSp>
        <p:nvGrpSpPr>
          <p:cNvPr id="27" name="Group 27"/>
          <p:cNvGrpSpPr>
            <a:grpSpLocks/>
          </p:cNvGrpSpPr>
          <p:nvPr/>
        </p:nvGrpSpPr>
        <p:grpSpPr bwMode="auto">
          <a:xfrm>
            <a:off x="3136900" y="252413"/>
            <a:ext cx="1924050" cy="2247900"/>
            <a:chOff x="953" y="725"/>
            <a:chExt cx="1212" cy="1416"/>
          </a:xfrm>
        </p:grpSpPr>
        <p:sp>
          <p:nvSpPr>
            <p:cNvPr id="28" name="Rectangle 3"/>
            <p:cNvSpPr>
              <a:spLocks noChangeArrowheads="1"/>
            </p:cNvSpPr>
            <p:nvPr/>
          </p:nvSpPr>
          <p:spPr bwMode="auto">
            <a:xfrm>
              <a:off x="953" y="736"/>
              <a:ext cx="1212" cy="1405"/>
            </a:xfrm>
            <a:prstGeom prst="rect">
              <a:avLst/>
            </a:prstGeom>
            <a:noFill/>
            <a:ln w="38100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29" name="Text Box 4"/>
            <p:cNvSpPr txBox="1">
              <a:spLocks noChangeArrowheads="1"/>
            </p:cNvSpPr>
            <p:nvPr/>
          </p:nvSpPr>
          <p:spPr bwMode="auto">
            <a:xfrm>
              <a:off x="1128" y="725"/>
              <a:ext cx="670" cy="1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!       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5EAEFF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(2)</a:t>
              </a: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&amp;&amp; 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5EAEFF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(11)</a:t>
              </a: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||     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5EAEFF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(12)</a:t>
              </a:r>
              <a:endParaRPr kumimoji="1" lang="en-US" altLang="zh-CN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30" name="Text Box 7"/>
            <p:cNvSpPr txBox="1">
              <a:spLocks noChangeArrowheads="1"/>
            </p:cNvSpPr>
            <p:nvPr/>
          </p:nvSpPr>
          <p:spPr bwMode="auto">
            <a:xfrm>
              <a:off x="1784" y="1050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高</a:t>
              </a: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31" name="Text Box 8"/>
            <p:cNvSpPr txBox="1">
              <a:spLocks noChangeArrowheads="1"/>
            </p:cNvSpPr>
            <p:nvPr/>
          </p:nvSpPr>
          <p:spPr bwMode="auto">
            <a:xfrm>
              <a:off x="1784" y="1638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低</a:t>
              </a: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32" name="Line 16"/>
            <p:cNvSpPr>
              <a:spLocks noChangeShapeType="1"/>
            </p:cNvSpPr>
            <p:nvPr/>
          </p:nvSpPr>
          <p:spPr bwMode="auto">
            <a:xfrm flipV="1">
              <a:off x="1778" y="991"/>
              <a:ext cx="0" cy="889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33" name="Text Box 21"/>
          <p:cNvSpPr txBox="1">
            <a:spLocks noChangeArrowheads="1"/>
          </p:cNvSpPr>
          <p:nvPr/>
        </p:nvSpPr>
        <p:spPr bwMode="auto">
          <a:xfrm>
            <a:off x="931863" y="2851150"/>
            <a:ext cx="6843712" cy="1571625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742950" marR="0" lvl="1" indent="-28575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charset="0"/>
                <a:ea typeface="隶书" charset="0"/>
              </a:rPr>
              <a:t>例  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  <a:sym typeface="Symbol" charset="2"/>
              </a:rPr>
              <a:t>a&lt;=x &amp;&amp; x&lt;=b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charset="0"/>
              <a:ea typeface="隶书" charset="0"/>
            </a:endParaRPr>
          </a:p>
          <a:p>
            <a:pPr marL="742950" marR="0" lvl="1" indent="-28575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隶书" charset="0"/>
                <a:ea typeface="隶书" charset="0"/>
              </a:rPr>
              <a:t>     </a:t>
            </a: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隶书" charset="0"/>
              </a:rPr>
              <a:t>a&gt;b&amp;&amp;x&gt;y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charset="0"/>
              <a:ea typeface="隶书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隶书" charset="0"/>
              </a:rPr>
              <a:t>          a==b||x==y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charset="0"/>
              <a:ea typeface="隶书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隶书" charset="0"/>
              </a:rPr>
              <a:t>          !a||a&gt;b</a:t>
            </a:r>
            <a:r>
              <a: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隶书" charset="0"/>
              </a:rPr>
              <a:t> </a:t>
            </a:r>
            <a:endParaRPr kumimoji="1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隶书" charset="0"/>
              <a:ea typeface="隶书" charset="0"/>
            </a:endParaRPr>
          </a:p>
        </p:txBody>
      </p:sp>
      <p:sp>
        <p:nvSpPr>
          <p:cNvPr id="34" name="Text Box 22"/>
          <p:cNvSpPr txBox="1">
            <a:spLocks noChangeArrowheads="1"/>
          </p:cNvSpPr>
          <p:nvPr/>
        </p:nvSpPr>
        <p:spPr bwMode="auto">
          <a:xfrm>
            <a:off x="1071563" y="663575"/>
            <a:ext cx="1389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FF9933"/>
              </a:buClr>
              <a:buSzTx/>
              <a:buFont typeface="Wingdings" charset="2"/>
              <a:buChar char="l"/>
            </a:pPr>
            <a:r>
              <a:rPr lang="zh-CN" altLang="en-US" sz="2000" b="0">
                <a:solidFill>
                  <a:prstClr val="black"/>
                </a:solidFill>
                <a:ea typeface="隶书" charset="0"/>
              </a:rPr>
              <a:t>优先级：</a:t>
            </a:r>
          </a:p>
        </p:txBody>
      </p:sp>
      <p:sp>
        <p:nvSpPr>
          <p:cNvPr id="35" name="Text Box 28"/>
          <p:cNvSpPr txBox="1">
            <a:spLocks noChangeArrowheads="1"/>
          </p:cNvSpPr>
          <p:nvPr/>
        </p:nvSpPr>
        <p:spPr bwMode="auto">
          <a:xfrm>
            <a:off x="1090613" y="1387475"/>
            <a:ext cx="1643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FF9933"/>
              </a:buClr>
              <a:buSzTx/>
              <a:buFont typeface="Wingdings" charset="2"/>
              <a:buChar char="l"/>
            </a:pPr>
            <a:r>
              <a:rPr lang="zh-CN" altLang="en-US" sz="2000" b="0">
                <a:solidFill>
                  <a:prstClr val="black"/>
                </a:solidFill>
                <a:ea typeface="隶书" charset="0"/>
              </a:rPr>
              <a:t>结合方向：</a:t>
            </a:r>
          </a:p>
        </p:txBody>
      </p: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5634038" y="252413"/>
            <a:ext cx="2114550" cy="2247900"/>
            <a:chOff x="3833" y="257"/>
            <a:chExt cx="1332" cy="1416"/>
          </a:xfrm>
        </p:grpSpPr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3833" y="268"/>
              <a:ext cx="1332" cy="1405"/>
            </a:xfrm>
            <a:prstGeom prst="rect">
              <a:avLst/>
            </a:prstGeom>
            <a:noFill/>
            <a:ln w="38100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38" name="Text Box 31"/>
            <p:cNvSpPr txBox="1">
              <a:spLocks noChangeArrowheads="1"/>
            </p:cNvSpPr>
            <p:nvPr/>
          </p:nvSpPr>
          <p:spPr bwMode="auto">
            <a:xfrm>
              <a:off x="4008" y="257"/>
              <a:ext cx="1133" cy="1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!       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: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从右向左</a:t>
              </a:r>
              <a:endPara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&amp;&amp;  :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从左向右</a:t>
              </a:r>
              <a:endPara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||      :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从左向右</a:t>
              </a:r>
              <a:endPara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5EAEFF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</p:grpSp>
      <p:sp>
        <p:nvSpPr>
          <p:cNvPr id="39" name="Text Box 48"/>
          <p:cNvSpPr txBox="1">
            <a:spLocks noChangeArrowheads="1"/>
          </p:cNvSpPr>
          <p:nvPr/>
        </p:nvSpPr>
        <p:spPr bwMode="auto">
          <a:xfrm>
            <a:off x="4805363" y="2822575"/>
            <a:ext cx="2887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0000FF"/>
                </a:solidFill>
                <a:latin typeface="Times New Roman" charset="0"/>
                <a:sym typeface="Symbol" charset="2"/>
              </a:rPr>
              <a:t>// (a&lt;=x) &amp;&amp; (x&lt;=b)  </a:t>
            </a:r>
          </a:p>
        </p:txBody>
      </p:sp>
      <p:sp>
        <p:nvSpPr>
          <p:cNvPr id="40" name="Text Box 49"/>
          <p:cNvSpPr txBox="1">
            <a:spLocks noChangeArrowheads="1"/>
          </p:cNvSpPr>
          <p:nvPr/>
        </p:nvSpPr>
        <p:spPr bwMode="auto">
          <a:xfrm>
            <a:off x="4138613" y="3203575"/>
            <a:ext cx="2163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0000FF"/>
                </a:solidFill>
                <a:latin typeface="Times New Roman" charset="0"/>
                <a:ea typeface="隶书" charset="0"/>
              </a:rPr>
              <a:t>//(a&gt;b)&amp;&amp;(x&gt;y)</a:t>
            </a:r>
          </a:p>
        </p:txBody>
      </p:sp>
      <p:sp>
        <p:nvSpPr>
          <p:cNvPr id="41" name="Text Box 50"/>
          <p:cNvSpPr txBox="1">
            <a:spLocks noChangeArrowheads="1"/>
          </p:cNvSpPr>
          <p:nvPr/>
        </p:nvSpPr>
        <p:spPr bwMode="auto">
          <a:xfrm>
            <a:off x="4062413" y="3622675"/>
            <a:ext cx="2154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0000FF"/>
                </a:solidFill>
                <a:latin typeface="Times New Roman" charset="0"/>
                <a:ea typeface="隶书" charset="0"/>
              </a:rPr>
              <a:t>//(a==b)||(x==y)</a:t>
            </a:r>
          </a:p>
        </p:txBody>
      </p:sp>
      <p:sp>
        <p:nvSpPr>
          <p:cNvPr id="42" name="Text Box 51"/>
          <p:cNvSpPr txBox="1">
            <a:spLocks noChangeArrowheads="1"/>
          </p:cNvSpPr>
          <p:nvPr/>
        </p:nvSpPr>
        <p:spPr bwMode="auto">
          <a:xfrm>
            <a:off x="4029075" y="4017963"/>
            <a:ext cx="157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0000FF"/>
                </a:solidFill>
                <a:latin typeface="Times New Roman" charset="0"/>
                <a:ea typeface="隶书" charset="0"/>
              </a:rPr>
              <a:t>//(!a)||(a&gt;b)</a:t>
            </a: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957263" y="4603750"/>
            <a:ext cx="6888162" cy="2043113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lIns="90000" tIns="46800" rIns="90000" bIns="46800"/>
          <a:lstStyle>
            <a:lvl1pPr marL="2286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6858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例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a=4;b=5;</a:t>
            </a:r>
          </a:p>
          <a:p>
            <a:pPr marL="685800" marR="0" lvl="1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!a||b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隶书" charset="0"/>
            </a:endParaRP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     4&amp;&amp;0||2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隶书" charset="0"/>
            </a:endParaRP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     5&gt;3&amp;&amp;2||8&lt;4-!0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隶书" charset="0"/>
            </a:endParaRPr>
          </a:p>
          <a:p>
            <a:pPr marL="228600" marR="0" lvl="0" indent="-2286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Tx/>
              <a:buFont typeface="Wingdings" charset="2"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隶书" charset="0"/>
              </a:rPr>
              <a:t>     ‘c’&amp;&amp;‘d’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隶书" charset="0"/>
            </a:endParaRPr>
          </a:p>
        </p:txBody>
      </p:sp>
      <p:sp>
        <p:nvSpPr>
          <p:cNvPr id="44" name="Text Box 24"/>
          <p:cNvSpPr txBox="1">
            <a:spLocks noChangeArrowheads="1"/>
          </p:cNvSpPr>
          <p:nvPr/>
        </p:nvSpPr>
        <p:spPr bwMode="auto">
          <a:xfrm>
            <a:off x="2576513" y="4869160"/>
            <a:ext cx="815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>
                <a:solidFill>
                  <a:srgbClr val="0000FF"/>
                </a:solidFill>
                <a:latin typeface="Times New Roman" charset="0"/>
              </a:rPr>
              <a:t>值为</a:t>
            </a:r>
            <a:r>
              <a:rPr lang="zh-CN" altLang="zh-CN" sz="2000" b="0">
                <a:solidFill>
                  <a:srgbClr val="0000FF"/>
                </a:solidFill>
                <a:latin typeface="Times New Roman" charset="0"/>
              </a:rPr>
              <a:t>1</a:t>
            </a:r>
            <a:endParaRPr lang="en-US" altLang="zh-CN" sz="2000" b="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45" name="Text Box 25"/>
          <p:cNvSpPr txBox="1">
            <a:spLocks noChangeArrowheads="1"/>
          </p:cNvSpPr>
          <p:nvPr/>
        </p:nvSpPr>
        <p:spPr bwMode="auto">
          <a:xfrm>
            <a:off x="2608263" y="5192365"/>
            <a:ext cx="815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00FF"/>
                </a:solidFill>
                <a:latin typeface="Times New Roman" charset="0"/>
              </a:rPr>
              <a:t>值为</a:t>
            </a:r>
            <a:r>
              <a:rPr lang="zh-CN" altLang="zh-CN" sz="2000" b="0" dirty="0">
                <a:solidFill>
                  <a:srgbClr val="0000FF"/>
                </a:solidFill>
                <a:latin typeface="Times New Roman" charset="0"/>
              </a:rPr>
              <a:t>1</a:t>
            </a:r>
            <a:endParaRPr lang="en-US" altLang="zh-CN" sz="2000" b="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46" name="Text Box 26"/>
          <p:cNvSpPr txBox="1">
            <a:spLocks noChangeArrowheads="1"/>
          </p:cNvSpPr>
          <p:nvPr/>
        </p:nvSpPr>
        <p:spPr bwMode="auto">
          <a:xfrm>
            <a:off x="2603897" y="5805264"/>
            <a:ext cx="815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>
                <a:solidFill>
                  <a:srgbClr val="0000FF"/>
                </a:solidFill>
                <a:latin typeface="Times New Roman" charset="0"/>
              </a:rPr>
              <a:t>值为</a:t>
            </a:r>
            <a:r>
              <a:rPr lang="zh-CN" altLang="zh-CN" sz="2000" b="0">
                <a:solidFill>
                  <a:srgbClr val="0000FF"/>
                </a:solidFill>
                <a:latin typeface="Times New Roman" charset="0"/>
              </a:rPr>
              <a:t>1</a:t>
            </a:r>
            <a:endParaRPr lang="en-US" altLang="zh-CN" sz="2000" b="0" dirty="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47" name="Text Box 28"/>
          <p:cNvSpPr txBox="1">
            <a:spLocks noChangeArrowheads="1"/>
          </p:cNvSpPr>
          <p:nvPr/>
        </p:nvSpPr>
        <p:spPr bwMode="auto">
          <a:xfrm>
            <a:off x="3275013" y="5445224"/>
            <a:ext cx="353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000" b="0">
                <a:solidFill>
                  <a:srgbClr val="0000FF"/>
                </a:solidFill>
                <a:latin typeface="Times New Roman" charset="0"/>
              </a:rPr>
              <a:t>//(5&gt;3)&amp;&amp;2||(8&lt;(4-(!0)))   </a:t>
            </a:r>
            <a:r>
              <a:rPr lang="zh-CN" altLang="en-US" sz="2000" b="0">
                <a:solidFill>
                  <a:srgbClr val="0000FF"/>
                </a:solidFill>
                <a:latin typeface="Times New Roman" charset="0"/>
              </a:rPr>
              <a:t>值为</a:t>
            </a:r>
            <a:r>
              <a:rPr lang="zh-CN" altLang="zh-CN" sz="2000" b="0">
                <a:solidFill>
                  <a:srgbClr val="0000FF"/>
                </a:solidFill>
                <a:latin typeface="Times New Roman" charset="0"/>
              </a:rPr>
              <a:t>1</a:t>
            </a:r>
            <a:endParaRPr lang="en-US" altLang="zh-CN" sz="2000" b="0" dirty="0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33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0AC07-5683-3144-8D5A-F2B4A9F7AC57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467544" y="1231900"/>
            <a:ext cx="77724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FF9900"/>
              </a:buClr>
              <a:buSzTx/>
              <a:buFont typeface="Wingdings" charset="2"/>
              <a:buChar char="l"/>
            </a:pPr>
            <a:r>
              <a:rPr lang="zh-CN" altLang="en-US" sz="2000" b="0" dirty="0">
                <a:solidFill>
                  <a:srgbClr val="FF0000"/>
                </a:solidFill>
                <a:ea typeface="隶书" charset="0"/>
              </a:rPr>
              <a:t>短路特性</a:t>
            </a:r>
            <a:r>
              <a:rPr lang="zh-CN" altLang="en-US" sz="2000" b="0" dirty="0">
                <a:solidFill>
                  <a:prstClr val="black"/>
                </a:solidFill>
                <a:ea typeface="隶书" charset="0"/>
              </a:rPr>
              <a:t>：逻辑表达式求解时，并非所有的逻辑运算符都被执行，只是在必须执行下一个逻辑运算符才能求出表达式的解时，才执行该运算符</a:t>
            </a: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28972" y="2541588"/>
            <a:ext cx="6720109" cy="2246769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例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a&amp;&amp;b&amp;&amp;c     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//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只在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a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为真时，才判别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b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的值；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charset="0"/>
              <a:ea typeface="宋体" charset="0"/>
            </a:endParaRPr>
          </a:p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只在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a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、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b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都为真时，才判别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c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的值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宋体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例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a||b||c               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//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只在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a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为假时，才判别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b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的值；</a:t>
            </a:r>
            <a:endParaRPr kumimoji="1" lang="zh-CN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charset="0"/>
              <a:ea typeface="宋体" charset="0"/>
            </a:endParaRPr>
          </a:p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       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只在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a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、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b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都为假时，才判别</a:t>
            </a:r>
            <a:r>
              <a:rPr kumimoji="1" lang="zh-CN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c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的值</a:t>
            </a:r>
          </a:p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宋体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6390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5D41-CF24-1E41-88F3-4B936A93055E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07950" y="1484313"/>
            <a:ext cx="8964613" cy="4611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2088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kumimoji="0" lang="en-US" altLang="zh-CN" b="0" dirty="0" err="1">
                <a:latin typeface="Arial" charset="0"/>
                <a:ea typeface="宋体" charset="0"/>
              </a:rPr>
              <a:t>ch</a:t>
            </a:r>
            <a:r>
              <a:rPr kumimoji="0" lang="zh-CN" altLang="en-US" b="0" dirty="0">
                <a:latin typeface="Arial" charset="0"/>
                <a:ea typeface="宋体" charset="0"/>
              </a:rPr>
              <a:t>是英文大写字母 </a:t>
            </a:r>
          </a:p>
          <a:p>
            <a:pPr lvl="1" eaLnBrk="1" hangingPunct="1">
              <a:lnSpc>
                <a:spcPct val="100000"/>
              </a:lnSpc>
              <a:buFontTx/>
              <a:buNone/>
            </a:pPr>
            <a:r>
              <a:rPr kumimoji="0" lang="pl-PL" altLang="zh-CN" sz="2400" b="0" dirty="0">
                <a:latin typeface="Arial" charset="0"/>
                <a:ea typeface="HGPHeiseiMinchotaiW3" charset="0"/>
              </a:rPr>
              <a:t>(</a:t>
            </a:r>
            <a:r>
              <a:rPr kumimoji="0" lang="pl-PL" altLang="zh-CN" sz="2400" b="0" dirty="0" err="1">
                <a:latin typeface="Arial" charset="0"/>
                <a:ea typeface="HGPHeiseiMinchotaiW3" charset="0"/>
              </a:rPr>
              <a:t>ch</a:t>
            </a:r>
            <a:r>
              <a:rPr kumimoji="0" lang="pl-PL" altLang="zh-CN" sz="2400" b="0" dirty="0">
                <a:latin typeface="Arial" charset="0"/>
                <a:ea typeface="HGPHeiseiMinchotaiW3" charset="0"/>
              </a:rPr>
              <a:t> &gt;= 'A')  &amp;&amp;  (</a:t>
            </a:r>
            <a:r>
              <a:rPr kumimoji="0" lang="pl-PL" altLang="zh-CN" sz="2400" b="0" dirty="0" err="1">
                <a:latin typeface="Arial" charset="0"/>
                <a:ea typeface="HGPHeiseiMinchotaiW3" charset="0"/>
              </a:rPr>
              <a:t>ch</a:t>
            </a:r>
            <a:r>
              <a:rPr kumimoji="0" lang="pl-PL" altLang="zh-CN" sz="2400" b="0" dirty="0">
                <a:latin typeface="Arial" charset="0"/>
                <a:ea typeface="HGPHeiseiMinchotaiW3" charset="0"/>
              </a:rPr>
              <a:t> &lt;= 'Z')</a:t>
            </a:r>
            <a:endParaRPr kumimoji="0" lang="zh-CN" altLang="en-US" sz="2400" b="0" dirty="0">
              <a:latin typeface="Arial" charset="0"/>
              <a:ea typeface="HGPHeiseiMinchotaiW3" charset="0"/>
            </a:endParaRPr>
          </a:p>
          <a:p>
            <a:pPr eaLnBrk="1" hangingPunct="1">
              <a:lnSpc>
                <a:spcPct val="100000"/>
              </a:lnSpc>
            </a:pPr>
            <a:r>
              <a:rPr kumimoji="0" lang="zh-CN" altLang="en-US" b="0" dirty="0">
                <a:latin typeface="Arial" charset="0"/>
                <a:ea typeface="宋体" charset="0"/>
              </a:rPr>
              <a:t>判断某一年</a:t>
            </a:r>
            <a:r>
              <a:rPr kumimoji="0" lang="en-US" altLang="zh-CN" b="0" dirty="0">
                <a:latin typeface="Arial" charset="0"/>
                <a:ea typeface="宋体" charset="0"/>
              </a:rPr>
              <a:t>year</a:t>
            </a:r>
            <a:r>
              <a:rPr kumimoji="0" lang="zh-CN" altLang="en-US" b="0" dirty="0">
                <a:latin typeface="Arial" charset="0"/>
                <a:ea typeface="宋体" charset="0"/>
              </a:rPr>
              <a:t>是否是闰年的条件是满足下列两个条件之一：</a:t>
            </a:r>
          </a:p>
          <a:p>
            <a:pPr lvl="1" eaLnBrk="1" hangingPunct="1">
              <a:lnSpc>
                <a:spcPct val="100000"/>
              </a:lnSpc>
            </a:pPr>
            <a:r>
              <a:rPr kumimoji="0" lang="zh-CN" altLang="en-US" b="0" dirty="0">
                <a:latin typeface="宋体" charset="0"/>
                <a:ea typeface="宋体" charset="0"/>
              </a:rPr>
              <a:t>能被</a:t>
            </a:r>
            <a:r>
              <a:rPr kumimoji="0" lang="en-US" altLang="zh-CN" b="0" dirty="0">
                <a:latin typeface="宋体" charset="0"/>
                <a:ea typeface="宋体" charset="0"/>
              </a:rPr>
              <a:t>4</a:t>
            </a:r>
            <a:r>
              <a:rPr kumimoji="0" lang="zh-CN" altLang="en-US" b="0" dirty="0">
                <a:latin typeface="宋体" charset="0"/>
                <a:ea typeface="宋体" charset="0"/>
              </a:rPr>
              <a:t>整除，但不能被</a:t>
            </a:r>
            <a:r>
              <a:rPr kumimoji="0" lang="en-US" altLang="zh-CN" b="0" dirty="0">
                <a:latin typeface="宋体" charset="0"/>
                <a:ea typeface="宋体" charset="0"/>
              </a:rPr>
              <a:t>100</a:t>
            </a:r>
            <a:r>
              <a:rPr kumimoji="0" lang="zh-CN" altLang="en-US" b="0" dirty="0">
                <a:latin typeface="宋体" charset="0"/>
                <a:ea typeface="宋体" charset="0"/>
              </a:rPr>
              <a:t>整除；</a:t>
            </a:r>
          </a:p>
          <a:p>
            <a:pPr lvl="1" eaLnBrk="1" hangingPunct="1">
              <a:lnSpc>
                <a:spcPct val="100000"/>
              </a:lnSpc>
            </a:pPr>
            <a:r>
              <a:rPr kumimoji="0" lang="zh-CN" altLang="en-US" b="0" dirty="0">
                <a:latin typeface="宋体" charset="0"/>
                <a:ea typeface="宋体" charset="0"/>
              </a:rPr>
              <a:t>能被</a:t>
            </a:r>
            <a:r>
              <a:rPr kumimoji="0" lang="en-US" altLang="zh-CN" b="0" dirty="0">
                <a:latin typeface="宋体" charset="0"/>
                <a:ea typeface="宋体" charset="0"/>
              </a:rPr>
              <a:t>400</a:t>
            </a:r>
            <a:r>
              <a:rPr kumimoji="0" lang="zh-CN" altLang="en-US" b="0" dirty="0">
                <a:latin typeface="宋体" charset="0"/>
                <a:ea typeface="宋体" charset="0"/>
              </a:rPr>
              <a:t>整除；</a:t>
            </a:r>
          </a:p>
          <a:p>
            <a:pPr lvl="1" eaLnBrk="1" hangingPunct="1">
              <a:lnSpc>
                <a:spcPct val="100000"/>
              </a:lnSpc>
              <a:buFontTx/>
              <a:buNone/>
            </a:pPr>
            <a:endParaRPr kumimoji="0" lang="zh-CN" altLang="en-US" b="0" dirty="0">
              <a:latin typeface="宋体" charset="0"/>
              <a:ea typeface="宋体" charset="0"/>
            </a:endParaRPr>
          </a:p>
          <a:p>
            <a:pPr eaLnBrk="1" hangingPunct="1">
              <a:lnSpc>
                <a:spcPct val="100000"/>
              </a:lnSpc>
              <a:buFont typeface="Monotype Sorts" charset="2"/>
              <a:buNone/>
            </a:pPr>
            <a:r>
              <a:rPr kumimoji="0" lang="en-US" altLang="zh-CN" b="0" dirty="0">
                <a:latin typeface="Arial" charset="0"/>
                <a:ea typeface="HGPHeiseiMinchotaiW3" charset="0"/>
              </a:rPr>
              <a:t>   ((year % 4 == 0) &amp;&amp; (year % 100 != 0)) || (year % 400 == 0)</a:t>
            </a:r>
            <a:endParaRPr kumimoji="0" lang="zh-CN" altLang="en-US" b="0" dirty="0">
              <a:latin typeface="Arial" charset="0"/>
              <a:ea typeface="HGPHeiseiMinchotaiW3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457200" y="338139"/>
            <a:ext cx="8229600" cy="858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b="0" dirty="0">
                <a:solidFill>
                  <a:schemeClr val="tx1"/>
                </a:solidFill>
                <a:latin typeface="Arial" charset="0"/>
                <a:ea typeface="隶书" charset="0"/>
              </a:rPr>
              <a:t>实例</a:t>
            </a:r>
          </a:p>
        </p:txBody>
      </p:sp>
    </p:spTree>
    <p:extLst>
      <p:ext uri="{BB962C8B-B14F-4D97-AF65-F5344CB8AC3E}">
        <p14:creationId xmlns:p14="http://schemas.microsoft.com/office/powerpoint/2010/main" val="190575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561D6-40E0-C04C-8C6F-41542A96615E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458788" y="476672"/>
            <a:ext cx="8501062" cy="197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2088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>
              <a:lnSpc>
                <a:spcPct val="100000"/>
              </a:lnSpc>
            </a:pPr>
            <a:r>
              <a:rPr kumimoji="0" lang="zh-CN" altLang="en-US" b="0" dirty="0">
                <a:latin typeface="宋体" charset="0"/>
                <a:ea typeface="宋体" charset="0"/>
              </a:rPr>
              <a:t>条件运算符与表达式</a:t>
            </a:r>
          </a:p>
          <a:p>
            <a:pPr lvl="2" eaLnBrk="1" hangingPunct="1">
              <a:lnSpc>
                <a:spcPct val="100000"/>
              </a:lnSpc>
            </a:pPr>
            <a:r>
              <a:rPr kumimoji="0" lang="zh-CN" altLang="en-US" b="0" dirty="0">
                <a:latin typeface="宋体" charset="0"/>
                <a:ea typeface="宋体" charset="0"/>
              </a:rPr>
              <a:t>一般形式：  </a:t>
            </a:r>
            <a:r>
              <a:rPr kumimoji="0" lang="en-US" altLang="zh-CN" b="0" dirty="0">
                <a:solidFill>
                  <a:srgbClr val="3333FF"/>
                </a:solidFill>
                <a:latin typeface="宋体" charset="0"/>
                <a:ea typeface="宋体" charset="0"/>
              </a:rPr>
              <a:t>expr1 </a:t>
            </a:r>
            <a:r>
              <a:rPr kumimoji="0" lang="en-US" altLang="zh-CN" b="0" dirty="0">
                <a:solidFill>
                  <a:srgbClr val="FF0000"/>
                </a:solidFill>
                <a:latin typeface="宋体" charset="0"/>
                <a:ea typeface="宋体" charset="0"/>
              </a:rPr>
              <a:t> ?</a:t>
            </a:r>
            <a:r>
              <a:rPr kumimoji="0" lang="en-US" altLang="zh-CN" b="0" dirty="0">
                <a:solidFill>
                  <a:srgbClr val="3333FF"/>
                </a:solidFill>
                <a:latin typeface="宋体" charset="0"/>
                <a:ea typeface="宋体" charset="0"/>
              </a:rPr>
              <a:t>  expr2</a:t>
            </a:r>
            <a:r>
              <a:rPr kumimoji="0" lang="en-US" altLang="zh-CN" b="0" dirty="0">
                <a:solidFill>
                  <a:srgbClr val="FF0000"/>
                </a:solidFill>
                <a:latin typeface="宋体" charset="0"/>
                <a:ea typeface="宋体" charset="0"/>
              </a:rPr>
              <a:t>  :</a:t>
            </a:r>
            <a:r>
              <a:rPr kumimoji="0" lang="en-US" altLang="zh-CN" b="0" dirty="0">
                <a:solidFill>
                  <a:srgbClr val="3333FF"/>
                </a:solidFill>
                <a:latin typeface="宋体" charset="0"/>
                <a:ea typeface="宋体" charset="0"/>
              </a:rPr>
              <a:t>  expr3</a:t>
            </a:r>
          </a:p>
          <a:p>
            <a:pPr lvl="2" eaLnBrk="1" hangingPunct="1">
              <a:lnSpc>
                <a:spcPct val="100000"/>
              </a:lnSpc>
            </a:pPr>
            <a:r>
              <a:rPr kumimoji="0" lang="zh-CN" altLang="en-US" b="0" dirty="0">
                <a:latin typeface="宋体" charset="0"/>
                <a:ea typeface="宋体" charset="0"/>
              </a:rPr>
              <a:t>执行过程</a:t>
            </a:r>
          </a:p>
          <a:p>
            <a:pPr lvl="2" eaLnBrk="1" hangingPunct="1">
              <a:lnSpc>
                <a:spcPct val="100000"/>
              </a:lnSpc>
            </a:pPr>
            <a:r>
              <a:rPr kumimoji="0" lang="zh-CN" altLang="en-US" b="0" dirty="0">
                <a:latin typeface="宋体" charset="0"/>
                <a:ea typeface="宋体" charset="0"/>
              </a:rPr>
              <a:t>功能：相当于条件语句，但不能取代一般</a:t>
            </a:r>
            <a:r>
              <a:rPr kumimoji="0" lang="en-US" altLang="zh-CN" b="0" dirty="0">
                <a:latin typeface="宋体" charset="0"/>
                <a:ea typeface="宋体" charset="0"/>
              </a:rPr>
              <a:t>if</a:t>
            </a:r>
            <a:r>
              <a:rPr kumimoji="0" lang="zh-CN" altLang="en-US" b="0" dirty="0">
                <a:latin typeface="宋体" charset="0"/>
                <a:ea typeface="宋体" charset="0"/>
              </a:rPr>
              <a:t>语句</a:t>
            </a:r>
          </a:p>
        </p:txBody>
      </p:sp>
      <p:grpSp>
        <p:nvGrpSpPr>
          <p:cNvPr id="31" name="Group 7"/>
          <p:cNvGrpSpPr>
            <a:grpSpLocks/>
          </p:cNvGrpSpPr>
          <p:nvPr/>
        </p:nvGrpSpPr>
        <p:grpSpPr bwMode="auto">
          <a:xfrm>
            <a:off x="1511300" y="3313535"/>
            <a:ext cx="6042025" cy="1323975"/>
            <a:chOff x="806" y="2023"/>
            <a:chExt cx="3806" cy="834"/>
          </a:xfrm>
        </p:grpSpPr>
        <p:sp>
          <p:nvSpPr>
            <p:cNvPr id="32" name="Text Box 4"/>
            <p:cNvSpPr txBox="1">
              <a:spLocks noChangeArrowheads="1"/>
            </p:cNvSpPr>
            <p:nvPr/>
          </p:nvSpPr>
          <p:spPr bwMode="auto">
            <a:xfrm>
              <a:off x="806" y="2023"/>
              <a:ext cx="1590" cy="834"/>
            </a:xfrm>
            <a:prstGeom prst="rect">
              <a:avLst/>
            </a:prstGeom>
            <a:solidFill>
              <a:sysClr val="window" lastClr="FFFFFF"/>
            </a:solidFill>
            <a:ln w="38100">
              <a:solidFill>
                <a:srgbClr val="5EAEFF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rPr>
                <a:t>例   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rPr>
                <a:t>if (a&gt;b)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rPr>
                <a:t>           printf(“%d”,a);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rPr>
                <a:t>       else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rPr>
                <a:t>           printf(“%d”,b);</a:t>
              </a:r>
            </a:p>
          </p:txBody>
        </p:sp>
        <p:sp>
          <p:nvSpPr>
            <p:cNvPr id="33" name="AutoShape 5"/>
            <p:cNvSpPr>
              <a:spLocks noChangeArrowheads="1"/>
            </p:cNvSpPr>
            <p:nvPr/>
          </p:nvSpPr>
          <p:spPr bwMode="auto">
            <a:xfrm>
              <a:off x="2448" y="2352"/>
              <a:ext cx="500" cy="136"/>
            </a:xfrm>
            <a:prstGeom prst="leftRightArrow">
              <a:avLst>
                <a:gd name="adj1" fmla="val 50000"/>
                <a:gd name="adj2" fmla="val 126668"/>
              </a:avLst>
            </a:prstGeom>
            <a:solidFill>
              <a:sysClr val="window" lastClr="FFFFFF"/>
            </a:solidFill>
            <a:ln w="38100">
              <a:solidFill>
                <a:srgbClr val="5EAE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endParaRPr>
            </a:p>
          </p:txBody>
        </p:sp>
        <p:sp>
          <p:nvSpPr>
            <p:cNvPr id="34" name="Text Box 6"/>
            <p:cNvSpPr txBox="1">
              <a:spLocks noChangeArrowheads="1"/>
            </p:cNvSpPr>
            <p:nvPr/>
          </p:nvSpPr>
          <p:spPr bwMode="auto">
            <a:xfrm>
              <a:off x="3013" y="2313"/>
              <a:ext cx="1599" cy="252"/>
            </a:xfrm>
            <a:prstGeom prst="rect">
              <a:avLst/>
            </a:prstGeom>
            <a:solidFill>
              <a:sysClr val="window" lastClr="FFFFFF"/>
            </a:solidFill>
            <a:ln w="38100">
              <a:solidFill>
                <a:srgbClr val="5EAEFF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宋体" charset="0"/>
                </a:rPr>
                <a:t>printf(“%d”,a&gt;b?a:b);</a:t>
              </a:r>
            </a:p>
          </p:txBody>
        </p:sp>
      </p:grpSp>
      <p:sp>
        <p:nvSpPr>
          <p:cNvPr id="35" name="Text Box 8"/>
          <p:cNvSpPr txBox="1">
            <a:spLocks noChangeArrowheads="1"/>
          </p:cNvSpPr>
          <p:nvPr/>
        </p:nvSpPr>
        <p:spPr bwMode="auto">
          <a:xfrm>
            <a:off x="1497013" y="2076872"/>
            <a:ext cx="2060575" cy="708025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例 求 </a:t>
            </a: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a+|b|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     b&gt;0?a+b:a-b;</a:t>
            </a:r>
          </a:p>
        </p:txBody>
      </p:sp>
      <p:grpSp>
        <p:nvGrpSpPr>
          <p:cNvPr id="36" name="Group 27"/>
          <p:cNvGrpSpPr>
            <a:grpSpLocks/>
          </p:cNvGrpSpPr>
          <p:nvPr/>
        </p:nvGrpSpPr>
        <p:grpSpPr bwMode="auto">
          <a:xfrm>
            <a:off x="5384800" y="1600622"/>
            <a:ext cx="3638550" cy="2362200"/>
            <a:chOff x="3312" y="1584"/>
            <a:chExt cx="2292" cy="1488"/>
          </a:xfrm>
        </p:grpSpPr>
        <p:sp>
          <p:nvSpPr>
            <p:cNvPr id="37" name="AutoShape 10"/>
            <p:cNvSpPr>
              <a:spLocks noChangeArrowheads="1"/>
            </p:cNvSpPr>
            <p:nvPr/>
          </p:nvSpPr>
          <p:spPr bwMode="auto">
            <a:xfrm>
              <a:off x="3953" y="1884"/>
              <a:ext cx="967" cy="367"/>
            </a:xfrm>
            <a:prstGeom prst="flowChartDecision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expr1</a:t>
              </a:r>
              <a:endParaRPr kumimoji="1" lang="en-US" altLang="zh-CN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38" name="Text Box 11"/>
            <p:cNvSpPr txBox="1">
              <a:spLocks noChangeArrowheads="1"/>
            </p:cNvSpPr>
            <p:nvPr/>
          </p:nvSpPr>
          <p:spPr bwMode="auto">
            <a:xfrm>
              <a:off x="3312" y="2352"/>
              <a:ext cx="864" cy="256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取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expr2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值</a:t>
              </a:r>
              <a:endParaRPr kumimoji="1" lang="zh-CN" altLang="en-US" sz="4000" b="0" i="0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39" name="Text Box 12"/>
            <p:cNvSpPr txBox="1">
              <a:spLocks noChangeArrowheads="1"/>
            </p:cNvSpPr>
            <p:nvPr/>
          </p:nvSpPr>
          <p:spPr bwMode="auto">
            <a:xfrm>
              <a:off x="4704" y="2352"/>
              <a:ext cx="900" cy="256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取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expr3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值</a:t>
              </a:r>
              <a:endParaRPr kumimoji="1" lang="zh-CN" altLang="en-US" sz="4000" b="0" i="0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40" name="Line 13"/>
            <p:cNvSpPr>
              <a:spLocks noChangeShapeType="1"/>
            </p:cNvSpPr>
            <p:nvPr/>
          </p:nvSpPr>
          <p:spPr bwMode="auto">
            <a:xfrm>
              <a:off x="4441" y="1584"/>
              <a:ext cx="0" cy="30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1" name="Line 14"/>
            <p:cNvSpPr>
              <a:spLocks noChangeShapeType="1"/>
            </p:cNvSpPr>
            <p:nvPr/>
          </p:nvSpPr>
          <p:spPr bwMode="auto">
            <a:xfrm flipH="1">
              <a:off x="3731" y="2073"/>
              <a:ext cx="222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2" name="Line 15"/>
            <p:cNvSpPr>
              <a:spLocks noChangeShapeType="1"/>
            </p:cNvSpPr>
            <p:nvPr/>
          </p:nvSpPr>
          <p:spPr bwMode="auto">
            <a:xfrm>
              <a:off x="3731" y="2073"/>
              <a:ext cx="0" cy="289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3" name="Line 16"/>
            <p:cNvSpPr>
              <a:spLocks noChangeShapeType="1"/>
            </p:cNvSpPr>
            <p:nvPr/>
          </p:nvSpPr>
          <p:spPr bwMode="auto">
            <a:xfrm>
              <a:off x="4920" y="2073"/>
              <a:ext cx="244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4" name="Line 17"/>
            <p:cNvSpPr>
              <a:spLocks noChangeShapeType="1"/>
            </p:cNvSpPr>
            <p:nvPr/>
          </p:nvSpPr>
          <p:spPr bwMode="auto">
            <a:xfrm>
              <a:off x="5164" y="2073"/>
              <a:ext cx="0" cy="289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5" name="Line 18"/>
            <p:cNvSpPr>
              <a:spLocks noChangeShapeType="1"/>
            </p:cNvSpPr>
            <p:nvPr/>
          </p:nvSpPr>
          <p:spPr bwMode="auto">
            <a:xfrm>
              <a:off x="3731" y="2618"/>
              <a:ext cx="0" cy="24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6" name="Line 19"/>
            <p:cNvSpPr>
              <a:spLocks noChangeShapeType="1"/>
            </p:cNvSpPr>
            <p:nvPr/>
          </p:nvSpPr>
          <p:spPr bwMode="auto">
            <a:xfrm>
              <a:off x="5149" y="2618"/>
              <a:ext cx="0" cy="24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>
              <a:off x="3731" y="2862"/>
              <a:ext cx="710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 flipH="1">
              <a:off x="4441" y="2862"/>
              <a:ext cx="708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9" name="Text Box 22"/>
            <p:cNvSpPr txBox="1">
              <a:spLocks noChangeArrowheads="1"/>
            </p:cNvSpPr>
            <p:nvPr/>
          </p:nvSpPr>
          <p:spPr bwMode="auto">
            <a:xfrm>
              <a:off x="3691" y="1823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非</a:t>
              </a: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0</a:t>
              </a:r>
              <a:endParaRPr kumimoji="1" lang="en-US" altLang="zh-CN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50" name="Text Box 23"/>
            <p:cNvSpPr txBox="1">
              <a:spLocks noChangeArrowheads="1"/>
            </p:cNvSpPr>
            <p:nvPr/>
          </p:nvSpPr>
          <p:spPr bwMode="auto">
            <a:xfrm>
              <a:off x="4915" y="1823"/>
              <a:ext cx="28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宋体" charset="0"/>
                </a:rPr>
                <a:t>=0</a:t>
              </a:r>
              <a:endParaRPr kumimoji="1" lang="en-US" altLang="zh-CN" sz="4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endParaRPr>
            </a:p>
          </p:txBody>
        </p:sp>
        <p:sp>
          <p:nvSpPr>
            <p:cNvPr id="51" name="Line 26"/>
            <p:cNvSpPr>
              <a:spLocks noChangeShapeType="1"/>
            </p:cNvSpPr>
            <p:nvPr/>
          </p:nvSpPr>
          <p:spPr bwMode="auto">
            <a:xfrm>
              <a:off x="4449" y="2880"/>
              <a:ext cx="0" cy="19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52" name="Text Box 28"/>
          <p:cNvSpPr txBox="1">
            <a:spLocks noChangeArrowheads="1"/>
          </p:cNvSpPr>
          <p:nvPr/>
        </p:nvSpPr>
        <p:spPr bwMode="auto">
          <a:xfrm>
            <a:off x="1514475" y="4788322"/>
            <a:ext cx="3867150" cy="1349375"/>
          </a:xfrm>
          <a:prstGeom prst="rect">
            <a:avLst/>
          </a:prstGeom>
          <a:solidFill>
            <a:sysClr val="window" lastClr="FFFFFF"/>
          </a:solidFill>
          <a:ln w="38100">
            <a:solidFill>
              <a:srgbClr val="5EAE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例  </a:t>
            </a: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(a==b)?’Y’:’N’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      (x%2==1)?1:0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      (x&gt;=0)?x:-x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charset="0"/>
              </a:rPr>
              <a:t>      (c&gt;=‘a’ &amp;&amp; c&lt;=‘z’)?c-’a’+’A’:c</a:t>
            </a:r>
          </a:p>
        </p:txBody>
      </p:sp>
      <p:sp>
        <p:nvSpPr>
          <p:cNvPr id="53" name="矩形 32"/>
          <p:cNvSpPr>
            <a:spLocks noChangeArrowheads="1"/>
          </p:cNvSpPr>
          <p:nvPr/>
        </p:nvSpPr>
        <p:spPr bwMode="auto">
          <a:xfrm>
            <a:off x="1638300" y="5805910"/>
            <a:ext cx="184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zh-CN" altLang="en-US" b="0">
              <a:solidFill>
                <a:prstClr val="black"/>
              </a:solidFill>
              <a:ea typeface="隶书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3061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09613" y="1527175"/>
            <a:ext cx="7772400" cy="384968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1"/>
            <a:r>
              <a:rPr kumimoji="0" lang="zh-CN" altLang="en-US" sz="2800" dirty="0">
                <a:latin typeface="隶书" charset="0"/>
                <a:ea typeface="隶书" charset="0"/>
              </a:rPr>
              <a:t>隐式转换</a:t>
            </a:r>
          </a:p>
          <a:p>
            <a:pPr lvl="2"/>
            <a:r>
              <a:rPr kumimoji="0" lang="zh-CN" altLang="en-US" sz="2400" dirty="0">
                <a:latin typeface="隶书" charset="0"/>
                <a:ea typeface="隶书" charset="0"/>
              </a:rPr>
              <a:t>运算转换规则</a:t>
            </a:r>
            <a:r>
              <a:rPr kumimoji="0" lang="en-US" altLang="zh-CN" sz="2400" dirty="0">
                <a:latin typeface="隶书" charset="0"/>
                <a:ea typeface="隶书" charset="0"/>
              </a:rPr>
              <a:t>:</a:t>
            </a:r>
            <a:r>
              <a:rPr kumimoji="0" lang="zh-CN" altLang="en-US" sz="2400" dirty="0">
                <a:latin typeface="隶书" charset="0"/>
                <a:ea typeface="隶书" charset="0"/>
              </a:rPr>
              <a:t>不同类型数据运算时先</a:t>
            </a:r>
            <a:r>
              <a:rPr kumimoji="0" lang="zh-CN" altLang="en-US" sz="2400" dirty="0">
                <a:solidFill>
                  <a:srgbClr val="0000FF"/>
                </a:solidFill>
                <a:latin typeface="隶书" charset="0"/>
                <a:ea typeface="隶书" charset="0"/>
              </a:rPr>
              <a:t>自动</a:t>
            </a:r>
            <a:r>
              <a:rPr kumimoji="0" lang="zh-CN" altLang="en-US" sz="2400" dirty="0">
                <a:latin typeface="隶书" charset="0"/>
                <a:ea typeface="隶书" charset="0"/>
              </a:rPr>
              <a:t>转换成同一类型</a:t>
            </a:r>
            <a:endParaRPr kumimoji="0" lang="en-US" altLang="zh-CN" sz="2400" dirty="0">
              <a:latin typeface="隶书" charset="0"/>
              <a:ea typeface="隶书" charset="0"/>
            </a:endParaRPr>
          </a:p>
          <a:p>
            <a:pPr lvl="2"/>
            <a:r>
              <a:rPr kumimoji="0" lang="zh-CN" altLang="en-US" sz="2400" dirty="0">
                <a:latin typeface="隶书" charset="0"/>
                <a:ea typeface="隶书" charset="0"/>
              </a:rPr>
              <a:t>同种数据类型的运算结果，还是该类型</a:t>
            </a:r>
            <a:endParaRPr kumimoji="0" lang="en-US" altLang="zh-CN" sz="2400" dirty="0">
              <a:latin typeface="隶书" charset="0"/>
              <a:ea typeface="隶书" charset="0"/>
            </a:endParaRPr>
          </a:p>
          <a:p>
            <a:pPr lvl="2"/>
            <a:r>
              <a:rPr kumimoji="0" lang="zh-CN" altLang="en-US" sz="2400" dirty="0">
                <a:latin typeface="隶书" charset="0"/>
                <a:ea typeface="隶书" charset="0"/>
              </a:rPr>
              <a:t>不同种数据类型的运算结果，是两种类型中取值范围更大的那种</a:t>
            </a:r>
          </a:p>
          <a:p>
            <a:pPr lvl="1">
              <a:buFont typeface="Symbol" charset="2"/>
              <a:buNone/>
            </a:pPr>
            <a:r>
              <a:rPr kumimoji="0" lang="en-US" altLang="zh-CN" sz="2800" dirty="0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r>
              <a:rPr kumimoji="0" lang="en-US" altLang="zh-CN" sz="2800" dirty="0">
                <a:solidFill>
                  <a:srgbClr val="000000"/>
                </a:solidFill>
                <a:latin typeface="Courier New" charset="0"/>
                <a:ea typeface="宋体" charset="0"/>
              </a:rPr>
              <a:t> </a:t>
            </a:r>
            <a:r>
              <a:rPr kumimoji="0" lang="en-US" altLang="zh-CN" sz="2800" dirty="0">
                <a:solidFill>
                  <a:srgbClr val="0000FF"/>
                </a:solidFill>
                <a:latin typeface="Courier New" charset="0"/>
                <a:ea typeface="宋体" charset="0"/>
              </a:rPr>
              <a:t>double</a:t>
            </a:r>
            <a:r>
              <a:rPr kumimoji="0" lang="en-US" altLang="zh-CN" sz="2800" dirty="0">
                <a:solidFill>
                  <a:srgbClr val="000000"/>
                </a:solidFill>
                <a:latin typeface="Courier New" charset="0"/>
                <a:ea typeface="宋体" charset="0"/>
              </a:rPr>
              <a:t> &gt; </a:t>
            </a:r>
            <a:r>
              <a:rPr kumimoji="0" lang="en-US" altLang="zh-CN" sz="2800" dirty="0">
                <a:solidFill>
                  <a:srgbClr val="0000FF"/>
                </a:solidFill>
                <a:latin typeface="Courier New" charset="0"/>
                <a:ea typeface="宋体" charset="0"/>
              </a:rPr>
              <a:t>double</a:t>
            </a:r>
            <a:r>
              <a:rPr kumimoji="0" lang="en-US" altLang="zh-CN" sz="2800" dirty="0">
                <a:solidFill>
                  <a:srgbClr val="000000"/>
                </a:solidFill>
                <a:latin typeface="Courier New" charset="0"/>
                <a:ea typeface="宋体" charset="0"/>
              </a:rPr>
              <a:t> &gt; </a:t>
            </a:r>
            <a:r>
              <a:rPr kumimoji="0" lang="en-US" altLang="zh-CN" sz="2800" dirty="0">
                <a:solidFill>
                  <a:srgbClr val="0000FF"/>
                </a:solidFill>
                <a:latin typeface="Courier New" charset="0"/>
                <a:ea typeface="宋体" charset="0"/>
              </a:rPr>
              <a:t>float</a:t>
            </a:r>
            <a:r>
              <a:rPr kumimoji="0" lang="en-US" altLang="zh-CN" sz="2800" dirty="0">
                <a:solidFill>
                  <a:srgbClr val="000000"/>
                </a:solidFill>
                <a:latin typeface="Courier New" charset="0"/>
                <a:ea typeface="宋体" charset="0"/>
              </a:rPr>
              <a:t> &gt; </a:t>
            </a:r>
            <a:r>
              <a:rPr kumimoji="0" lang="en-US" altLang="zh-CN" sz="2800" dirty="0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r>
              <a:rPr kumimoji="0" lang="en-US" altLang="zh-CN" sz="2800" dirty="0">
                <a:solidFill>
                  <a:srgbClr val="000000"/>
                </a:solidFill>
                <a:latin typeface="Courier New" charset="0"/>
                <a:ea typeface="宋体" charset="0"/>
              </a:rPr>
              <a:t> &gt; </a:t>
            </a:r>
            <a:r>
              <a:rPr kumimoji="0" lang="en-US" altLang="zh-CN" sz="2800" dirty="0" err="1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kumimoji="0" lang="en-US" altLang="zh-CN" sz="2800" dirty="0">
                <a:solidFill>
                  <a:srgbClr val="000000"/>
                </a:solidFill>
                <a:latin typeface="Courier New" charset="0"/>
                <a:ea typeface="宋体" charset="0"/>
              </a:rPr>
              <a:t> &gt; </a:t>
            </a:r>
            <a:r>
              <a:rPr kumimoji="0" lang="en-US" altLang="zh-CN" sz="2800" dirty="0">
                <a:solidFill>
                  <a:srgbClr val="0000FF"/>
                </a:solidFill>
                <a:latin typeface="Courier New" charset="0"/>
                <a:ea typeface="宋体" charset="0"/>
              </a:rPr>
              <a:t>short</a:t>
            </a:r>
            <a:r>
              <a:rPr kumimoji="0" lang="en-US" altLang="zh-CN" sz="2800" dirty="0">
                <a:solidFill>
                  <a:srgbClr val="000000"/>
                </a:solidFill>
                <a:latin typeface="Courier New" charset="0"/>
                <a:ea typeface="宋体" charset="0"/>
              </a:rPr>
              <a:t> &gt; </a:t>
            </a:r>
            <a:r>
              <a:rPr kumimoji="0" lang="en-US" altLang="zh-CN" sz="2800" dirty="0">
                <a:solidFill>
                  <a:srgbClr val="0000FF"/>
                </a:solidFill>
                <a:latin typeface="Courier New" charset="0"/>
                <a:ea typeface="宋体" charset="0"/>
              </a:rPr>
              <a:t>char</a:t>
            </a:r>
          </a:p>
          <a:p>
            <a:pPr lvl="2"/>
            <a:r>
              <a:rPr kumimoji="0" lang="zh-CN" altLang="en-US" sz="2400" dirty="0">
                <a:latin typeface="隶书" charset="0"/>
                <a:ea typeface="隶书" charset="0"/>
              </a:rPr>
              <a:t>将取值范围小的类型转为取值范围大的类型是安全的，反之是不安全的</a:t>
            </a:r>
            <a:endParaRPr kumimoji="0" lang="en-US" altLang="zh-CN" sz="2400" dirty="0">
              <a:latin typeface="隶书" charset="0"/>
              <a:ea typeface="隶书" charset="0"/>
            </a:endParaRPr>
          </a:p>
          <a:p>
            <a:pPr lvl="1"/>
            <a:endParaRPr kumimoji="0" lang="en-US" altLang="zh-CN" dirty="0">
              <a:solidFill>
                <a:srgbClr val="000000"/>
              </a:solidFill>
              <a:latin typeface="Courier New" charset="0"/>
              <a:ea typeface="宋体" charset="0"/>
            </a:endParaRPr>
          </a:p>
          <a:p>
            <a:pPr lvl="2"/>
            <a:endParaRPr kumimoji="0" lang="en-US" altLang="zh-CN" dirty="0">
              <a:latin typeface="隶书" charset="0"/>
              <a:ea typeface="隶书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57200" y="338139"/>
            <a:ext cx="8229600" cy="858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kumimoji="0" lang="zh-CN" altLang="en-US" b="0" dirty="0">
                <a:solidFill>
                  <a:schemeClr val="tx1"/>
                </a:solidFill>
                <a:latin typeface="Arial" charset="0"/>
                <a:ea typeface="隶书" charset="0"/>
              </a:rPr>
              <a:t>不同类型数据间的转换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3561-E5BF-C849-B472-D0CCC54B9C1D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359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67544" y="1700808"/>
            <a:ext cx="7772400" cy="376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lvl="2">
              <a:lnSpc>
                <a:spcPct val="90000"/>
              </a:lnSpc>
            </a:pPr>
            <a:r>
              <a:rPr kumimoji="0" lang="zh-CN" altLang="en-US" sz="2800" dirty="0">
                <a:latin typeface="隶书" charset="0"/>
                <a:ea typeface="隶书" charset="0"/>
              </a:rPr>
              <a:t>一般形式：</a:t>
            </a:r>
            <a:r>
              <a:rPr kumimoji="0" lang="zh-CN" altLang="en-US" sz="2800" dirty="0">
                <a:solidFill>
                  <a:srgbClr val="FF0000"/>
                </a:solidFill>
                <a:latin typeface="隶书" charset="0"/>
                <a:ea typeface="隶书" charset="0"/>
              </a:rPr>
              <a:t>（</a:t>
            </a:r>
            <a:r>
              <a:rPr kumimoji="0" lang="zh-CN" altLang="en-US" sz="2800" dirty="0">
                <a:solidFill>
                  <a:schemeClr val="folHlink"/>
                </a:solidFill>
                <a:latin typeface="隶书" charset="0"/>
                <a:ea typeface="隶书" charset="0"/>
              </a:rPr>
              <a:t>类型名</a:t>
            </a:r>
            <a:r>
              <a:rPr kumimoji="0" lang="zh-CN" altLang="en-US" sz="2800" dirty="0">
                <a:solidFill>
                  <a:srgbClr val="FF0000"/>
                </a:solidFill>
                <a:latin typeface="隶书" charset="0"/>
                <a:ea typeface="隶书" charset="0"/>
              </a:rPr>
              <a:t>）</a:t>
            </a:r>
            <a:r>
              <a:rPr kumimoji="0" lang="zh-CN" altLang="en-US" sz="2800" dirty="0">
                <a:solidFill>
                  <a:srgbClr val="0000FF"/>
                </a:solidFill>
                <a:latin typeface="隶书" charset="0"/>
                <a:ea typeface="隶书" charset="0"/>
              </a:rPr>
              <a:t>（</a:t>
            </a:r>
            <a:r>
              <a:rPr kumimoji="0" lang="zh-CN" altLang="en-US" sz="2800" dirty="0">
                <a:solidFill>
                  <a:srgbClr val="3333FF"/>
                </a:solidFill>
                <a:latin typeface="隶书" charset="0"/>
                <a:ea typeface="隶书" charset="0"/>
              </a:rPr>
              <a:t>表达式）</a:t>
            </a:r>
          </a:p>
          <a:p>
            <a:pPr lvl="2">
              <a:lnSpc>
                <a:spcPct val="90000"/>
              </a:lnSpc>
              <a:buFont typeface="Wingdings" charset="2"/>
              <a:buNone/>
            </a:pPr>
            <a:r>
              <a:rPr kumimoji="0" lang="zh-CN" altLang="en-US" sz="2800" dirty="0">
                <a:solidFill>
                  <a:srgbClr val="3333FF"/>
                </a:solidFill>
                <a:latin typeface="隶书" charset="0"/>
                <a:ea typeface="隶书" charset="0"/>
              </a:rPr>
              <a:t>       或：   </a:t>
            </a:r>
            <a:r>
              <a:rPr kumimoji="0" lang="zh-CN" altLang="en-US" sz="2800" dirty="0">
                <a:solidFill>
                  <a:schemeClr val="folHlink"/>
                </a:solidFill>
                <a:latin typeface="隶书" charset="0"/>
                <a:ea typeface="隶书" charset="0"/>
              </a:rPr>
              <a:t>类型名  </a:t>
            </a:r>
            <a:r>
              <a:rPr kumimoji="0" lang="zh-CN" altLang="en-US" sz="2800" dirty="0">
                <a:solidFill>
                  <a:srgbClr val="0000FF"/>
                </a:solidFill>
                <a:latin typeface="隶书" charset="0"/>
                <a:ea typeface="隶书" charset="0"/>
              </a:rPr>
              <a:t>（</a:t>
            </a:r>
            <a:r>
              <a:rPr kumimoji="0" lang="zh-CN" altLang="en-US" sz="2800" dirty="0">
                <a:solidFill>
                  <a:srgbClr val="3333FF"/>
                </a:solidFill>
                <a:latin typeface="隶书" charset="0"/>
                <a:ea typeface="隶书" charset="0"/>
              </a:rPr>
              <a:t>表达式）</a:t>
            </a:r>
          </a:p>
          <a:p>
            <a:pPr lvl="2">
              <a:lnSpc>
                <a:spcPct val="90000"/>
              </a:lnSpc>
              <a:buFont typeface="Wingdings" charset="2"/>
              <a:buNone/>
            </a:pPr>
            <a:r>
              <a:rPr kumimoji="0" lang="zh-CN" altLang="en-US" sz="2800" dirty="0">
                <a:latin typeface="隶书" charset="0"/>
                <a:ea typeface="隶书" charset="0"/>
              </a:rPr>
              <a:t>例    </a:t>
            </a:r>
            <a:r>
              <a:rPr kumimoji="0" lang="en-US" altLang="zh-CN" sz="2800" dirty="0">
                <a:latin typeface="隶书" charset="0"/>
                <a:ea typeface="隶书" charset="0"/>
              </a:rPr>
              <a:t>(</a:t>
            </a:r>
            <a:r>
              <a:rPr kumimoji="0" lang="en-US" altLang="zh-CN" sz="2800" dirty="0" err="1">
                <a:latin typeface="隶书" charset="0"/>
                <a:ea typeface="隶书" charset="0"/>
              </a:rPr>
              <a:t>int</a:t>
            </a:r>
            <a:r>
              <a:rPr kumimoji="0" lang="en-US" altLang="zh-CN" sz="2800" dirty="0">
                <a:latin typeface="隶书" charset="0"/>
                <a:ea typeface="隶书" charset="0"/>
              </a:rPr>
              <a:t>)(</a:t>
            </a:r>
            <a:r>
              <a:rPr kumimoji="0" lang="en-US" altLang="zh-CN" sz="2800" dirty="0" err="1">
                <a:latin typeface="隶书" charset="0"/>
                <a:ea typeface="隶书" charset="0"/>
              </a:rPr>
              <a:t>x+y</a:t>
            </a:r>
            <a:r>
              <a:rPr kumimoji="0" lang="en-US" altLang="zh-CN" sz="2800" dirty="0">
                <a:latin typeface="隶书" charset="0"/>
                <a:ea typeface="隶书" charset="0"/>
              </a:rPr>
              <a:t>)</a:t>
            </a:r>
          </a:p>
          <a:p>
            <a:pPr lvl="2">
              <a:lnSpc>
                <a:spcPct val="90000"/>
              </a:lnSpc>
              <a:buFont typeface="Wingdings" charset="2"/>
              <a:buNone/>
            </a:pPr>
            <a:r>
              <a:rPr kumimoji="0" lang="en-US" altLang="zh-CN" sz="2800" dirty="0">
                <a:latin typeface="隶书" charset="0"/>
                <a:ea typeface="隶书" charset="0"/>
              </a:rPr>
              <a:t> 		</a:t>
            </a:r>
            <a:r>
              <a:rPr kumimoji="0" lang="zh-CN" altLang="en-US" sz="2800" dirty="0">
                <a:latin typeface="隶书" charset="0"/>
                <a:ea typeface="隶书" charset="0"/>
              </a:rPr>
              <a:t>   </a:t>
            </a:r>
            <a:r>
              <a:rPr kumimoji="0" lang="en-US" altLang="zh-CN" sz="2800" dirty="0">
                <a:latin typeface="隶书" charset="0"/>
                <a:ea typeface="隶书" charset="0"/>
              </a:rPr>
              <a:t>(</a:t>
            </a:r>
            <a:r>
              <a:rPr kumimoji="0" lang="en-US" altLang="zh-CN" sz="2800" dirty="0" err="1">
                <a:latin typeface="隶书" charset="0"/>
                <a:ea typeface="隶书" charset="0"/>
              </a:rPr>
              <a:t>int</a:t>
            </a:r>
            <a:r>
              <a:rPr kumimoji="0" lang="en-US" altLang="zh-CN" sz="2800" dirty="0">
                <a:latin typeface="隶书" charset="0"/>
                <a:ea typeface="隶书" charset="0"/>
              </a:rPr>
              <a:t>)3.6</a:t>
            </a:r>
          </a:p>
          <a:p>
            <a:pPr lvl="2">
              <a:lnSpc>
                <a:spcPct val="90000"/>
              </a:lnSpc>
              <a:buFont typeface="Wingdings" charset="2"/>
              <a:buNone/>
            </a:pPr>
            <a:r>
              <a:rPr kumimoji="0" lang="en-US" altLang="zh-CN" sz="2800" dirty="0">
                <a:latin typeface="隶书" charset="0"/>
                <a:ea typeface="隶书" charset="0"/>
              </a:rPr>
              <a:t>		</a:t>
            </a:r>
            <a:r>
              <a:rPr kumimoji="0" lang="zh-CN" altLang="en-US" sz="2800" dirty="0">
                <a:latin typeface="隶书" charset="0"/>
                <a:ea typeface="隶书" charset="0"/>
              </a:rPr>
              <a:t>  </a:t>
            </a:r>
            <a:r>
              <a:rPr kumimoji="0" lang="en-US" altLang="zh-CN" sz="2800" b="1" dirty="0">
                <a:solidFill>
                  <a:srgbClr val="FF0000"/>
                </a:solidFill>
                <a:latin typeface="隶书" charset="0"/>
                <a:ea typeface="隶书" charset="0"/>
              </a:rPr>
              <a:t>(double)(3/2)</a:t>
            </a:r>
            <a:r>
              <a:rPr kumimoji="0" lang="en-US" altLang="zh-CN" sz="2800" dirty="0">
                <a:latin typeface="隶书" charset="0"/>
                <a:ea typeface="隶书" charset="0"/>
              </a:rPr>
              <a:t>   </a:t>
            </a:r>
          </a:p>
          <a:p>
            <a:pPr lvl="2">
              <a:lnSpc>
                <a:spcPct val="90000"/>
              </a:lnSpc>
            </a:pPr>
            <a:r>
              <a:rPr kumimoji="0" lang="zh-CN" altLang="en-US" sz="2800" dirty="0">
                <a:latin typeface="隶书" charset="0"/>
                <a:ea typeface="隶书" charset="0"/>
              </a:rPr>
              <a:t>说明：强制转换得到所需类型的中间变量，原变量类型不变</a:t>
            </a:r>
            <a:r>
              <a:rPr kumimoji="0" lang="zh-CN" altLang="zh-CN" sz="2800" dirty="0">
                <a:latin typeface="隶书" charset="0"/>
                <a:ea typeface="隶书" charset="0"/>
              </a:rPr>
              <a:t> </a:t>
            </a:r>
            <a:endParaRPr kumimoji="0" lang="zh-CN" altLang="en-US" sz="2800" dirty="0">
              <a:latin typeface="隶书" charset="0"/>
              <a:ea typeface="隶书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9512" y="404664"/>
            <a:ext cx="712879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4400" b="0" dirty="0">
                <a:solidFill>
                  <a:schemeClr val="tx1"/>
                </a:solidFill>
                <a:latin typeface="Arial" charset="0"/>
                <a:ea typeface="隶书" charset="0"/>
                <a:cs typeface="+mj-cs"/>
              </a:rPr>
              <a:t>强制类型转换（显式转换）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AD267-AF18-BA4A-ABEF-DCE9FEC7F1E6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518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20C98-33C7-4E49-83B6-96DD4E8F6C9F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539552" y="1556206"/>
            <a:ext cx="7720012" cy="43449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kumimoji="0" lang="zh-CN" altLang="en-US" sz="2800" dirty="0">
                <a:latin typeface="Arial" charset="0"/>
                <a:ea typeface="宋体" charset="0"/>
              </a:rPr>
              <a:t>能背下优先级表的人凤毛麟角</a:t>
            </a:r>
          </a:p>
          <a:p>
            <a:pPr lvl="1"/>
            <a:r>
              <a:rPr kumimoji="0" lang="zh-CN" altLang="en-US" sz="2400" dirty="0">
                <a:latin typeface="宋体" charset="0"/>
                <a:ea typeface="宋体" charset="0"/>
              </a:rPr>
              <a:t>脑细胞太宝贵了，不能用来死记硬背</a:t>
            </a:r>
            <a:endParaRPr kumimoji="0" lang="en-US" altLang="zh-CN" sz="2400" dirty="0">
              <a:latin typeface="宋体" charset="0"/>
              <a:ea typeface="宋体" charset="0"/>
            </a:endParaRPr>
          </a:p>
          <a:p>
            <a:r>
              <a:rPr kumimoji="0" lang="zh-CN" altLang="en-US" sz="2800" dirty="0">
                <a:latin typeface="Arial" charset="0"/>
                <a:ea typeface="宋体" charset="0"/>
              </a:rPr>
              <a:t>用括号来控制运算顺序更直观、方便，并减少出错的概率</a:t>
            </a:r>
          </a:p>
          <a:p>
            <a:pPr lvl="1"/>
            <a:r>
              <a:rPr kumimoji="0" lang="zh-CN" altLang="en-US" sz="2400" dirty="0">
                <a:latin typeface="宋体" charset="0"/>
                <a:ea typeface="宋体" charset="0"/>
              </a:rPr>
              <a:t>先算乘除，后算加减，有括号就先算括号里的</a:t>
            </a:r>
          </a:p>
          <a:p>
            <a:pPr lvl="1"/>
            <a:r>
              <a:rPr kumimoji="0" lang="zh-CN" altLang="en-US" sz="2400" dirty="0">
                <a:latin typeface="宋体" charset="0"/>
                <a:ea typeface="宋体" charset="0"/>
              </a:rPr>
              <a:t>括号太多，有时候不清晰</a:t>
            </a:r>
          </a:p>
          <a:p>
            <a:pPr lvl="2"/>
            <a:r>
              <a:rPr kumimoji="0" lang="zh-CN" altLang="en-US" sz="2000" dirty="0">
                <a:latin typeface="宋体" charset="0"/>
                <a:ea typeface="宋体" charset="0"/>
              </a:rPr>
              <a:t>注意用</a:t>
            </a:r>
            <a:r>
              <a:rPr kumimoji="0" lang="zh-CN" altLang="en-US" sz="2000" dirty="0">
                <a:solidFill>
                  <a:srgbClr val="FF0000"/>
                </a:solidFill>
                <a:latin typeface="宋体" charset="0"/>
                <a:ea typeface="宋体" charset="0"/>
              </a:rPr>
              <a:t>空格</a:t>
            </a:r>
            <a:r>
              <a:rPr kumimoji="0" lang="zh-CN" altLang="en-US" sz="2000" dirty="0">
                <a:latin typeface="宋体" charset="0"/>
                <a:ea typeface="宋体" charset="0"/>
              </a:rPr>
              <a:t>做好分隔</a:t>
            </a:r>
          </a:p>
          <a:p>
            <a:pPr lvl="2"/>
            <a:r>
              <a:rPr kumimoji="0" lang="zh-CN" altLang="en-US" sz="2000" dirty="0">
                <a:latin typeface="宋体" charset="0"/>
                <a:ea typeface="宋体" charset="0"/>
              </a:rPr>
              <a:t>实在不行就拆分表达式</a:t>
            </a:r>
            <a:endParaRPr kumimoji="0" lang="en-US" altLang="zh-CN" sz="2000" dirty="0">
              <a:latin typeface="宋体" charset="0"/>
              <a:ea typeface="宋体" charset="0"/>
            </a:endParaRPr>
          </a:p>
          <a:p>
            <a:r>
              <a:rPr kumimoji="0" lang="zh-CN" altLang="en-US" sz="2800" dirty="0">
                <a:latin typeface="Arial" charset="0"/>
                <a:ea typeface="宋体" charset="0"/>
              </a:rPr>
              <a:t>多数运算符为左结合</a:t>
            </a:r>
          </a:p>
          <a:p>
            <a:r>
              <a:rPr kumimoji="0" lang="zh-CN" altLang="en-US" sz="2800" dirty="0">
                <a:latin typeface="Arial" charset="0"/>
                <a:ea typeface="宋体" charset="0"/>
              </a:rPr>
              <a:t>少数为右结合：</a:t>
            </a:r>
            <a:r>
              <a:rPr kumimoji="0" lang="zh-CN" altLang="en-US" sz="2800" dirty="0">
                <a:latin typeface="Arial" charset="0"/>
                <a:ea typeface="隶书" charset="0"/>
              </a:rPr>
              <a:t>赋值运算符、条件运算符</a:t>
            </a:r>
            <a:endParaRPr kumimoji="0" lang="en-US" altLang="zh-CN" sz="2800" dirty="0">
              <a:latin typeface="Arial" charset="0"/>
              <a:ea typeface="隶书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8138"/>
            <a:ext cx="8229600" cy="1252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kumimoji="0" lang="zh-CN" altLang="en-US">
                <a:solidFill>
                  <a:srgbClr val="660066"/>
                </a:solidFill>
                <a:latin typeface="Arial" charset="0"/>
                <a:ea typeface="隶书" charset="0"/>
              </a:rPr>
              <a:t>优先级与结合性</a:t>
            </a:r>
          </a:p>
        </p:txBody>
      </p:sp>
    </p:spTree>
    <p:extLst>
      <p:ext uri="{BB962C8B-B14F-4D97-AF65-F5344CB8AC3E}">
        <p14:creationId xmlns:p14="http://schemas.microsoft.com/office/powerpoint/2010/main" val="2614351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814959"/>
          </a:xfrm>
        </p:spPr>
        <p:txBody>
          <a:bodyPr/>
          <a:lstStyle/>
          <a:p>
            <a:r>
              <a:rPr lang="zh-CN" altLang="en-US" dirty="0"/>
              <a:t>这一章我们学到了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idx="1"/>
          </p:nvPr>
        </p:nvSpPr>
        <p:spPr>
          <a:xfrm>
            <a:off x="323850" y="1484313"/>
            <a:ext cx="8458200" cy="4968875"/>
          </a:xfrm>
        </p:spPr>
        <p:txBody>
          <a:bodyPr>
            <a:normAutofit lnSpcReduction="10000"/>
          </a:bodyPr>
          <a:lstStyle/>
          <a:p>
            <a:pPr>
              <a:lnSpc>
                <a:spcPct val="85000"/>
              </a:lnSpc>
            </a:pPr>
            <a:r>
              <a:rPr lang="zh-CN" altLang="en-US" sz="2400">
                <a:ea typeface="宋体" charset="0"/>
              </a:rPr>
              <a:t>变量的命名规则</a:t>
            </a:r>
          </a:p>
          <a:p>
            <a:pPr>
              <a:lnSpc>
                <a:spcPct val="85000"/>
              </a:lnSpc>
            </a:pPr>
            <a:r>
              <a:rPr lang="zh-CN" altLang="en-US" sz="2400">
                <a:ea typeface="宋体" charset="0"/>
              </a:rPr>
              <a:t>数据类型</a:t>
            </a:r>
          </a:p>
          <a:p>
            <a:pPr lvl="1">
              <a:lnSpc>
                <a:spcPct val="85000"/>
              </a:lnSpc>
            </a:pP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char</a:t>
            </a:r>
            <a:r>
              <a:rPr lang="zh-CN" altLang="en-US" sz="2000">
                <a:ea typeface="宋体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short</a:t>
            </a:r>
            <a:r>
              <a:rPr lang="zh-CN" altLang="en-US" sz="2000">
                <a:ea typeface="宋体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zh-CN" altLang="en-US" sz="2000">
                <a:ea typeface="宋体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r>
              <a:rPr lang="zh-CN" altLang="en-US" sz="2000">
                <a:ea typeface="宋体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float</a:t>
            </a:r>
            <a:r>
              <a:rPr lang="zh-CN" altLang="en-US" sz="2000">
                <a:ea typeface="宋体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double</a:t>
            </a:r>
            <a:r>
              <a:rPr lang="zh-CN" altLang="en-US" sz="2000">
                <a:ea typeface="宋体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r>
              <a:rPr lang="en-US" altLang="zh-CN" sz="2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</a:t>
            </a: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double</a:t>
            </a:r>
            <a:endParaRPr lang="en-US" altLang="zh-CN" sz="20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>
              <a:lnSpc>
                <a:spcPct val="85000"/>
              </a:lnSpc>
            </a:pP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signed</a:t>
            </a:r>
            <a:r>
              <a:rPr lang="zh-CN" altLang="en-US" sz="2000">
                <a:ea typeface="宋体" charset="0"/>
              </a:rPr>
              <a:t>，</a:t>
            </a: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unsigned</a:t>
            </a:r>
            <a:endParaRPr lang="en-US" altLang="zh-CN" sz="20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 lvl="1">
              <a:lnSpc>
                <a:spcPct val="85000"/>
              </a:lnSpc>
            </a:pP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enum</a:t>
            </a:r>
            <a:endParaRPr lang="en-US" altLang="zh-CN" sz="20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>
              <a:lnSpc>
                <a:spcPct val="85000"/>
              </a:lnSpc>
            </a:pPr>
            <a:r>
              <a:rPr lang="zh-CN" altLang="en-US" sz="2400">
                <a:ea typeface="宋体" charset="0"/>
              </a:rPr>
              <a:t>常数、转义字符</a:t>
            </a:r>
          </a:p>
          <a:p>
            <a:pPr>
              <a:lnSpc>
                <a:spcPct val="85000"/>
              </a:lnSpc>
              <a:buFont typeface="Monotype Sorts" charset="2"/>
              <a:buNone/>
            </a:pPr>
            <a:endParaRPr lang="zh-CN" altLang="en-US" sz="2400">
              <a:ea typeface="宋体" charset="0"/>
            </a:endParaRPr>
          </a:p>
          <a:p>
            <a:pPr>
              <a:lnSpc>
                <a:spcPct val="85000"/>
              </a:lnSpc>
            </a:pPr>
            <a:r>
              <a:rPr lang="zh-CN" altLang="en-US" sz="2400">
                <a:ea typeface="宋体" charset="0"/>
              </a:rPr>
              <a:t>运算符</a:t>
            </a:r>
          </a:p>
          <a:p>
            <a:pPr lvl="1">
              <a:lnSpc>
                <a:spcPct val="85000"/>
              </a:lnSpc>
            </a:pPr>
            <a:r>
              <a:rPr lang="zh-CN" altLang="en-US" sz="2000">
                <a:ea typeface="宋体" charset="0"/>
              </a:rPr>
              <a:t>算术运算符、关系运算符、逻辑运算符、增一</a:t>
            </a:r>
            <a:r>
              <a:rPr lang="en-US" altLang="zh-CN" sz="2000">
                <a:ea typeface="宋体" charset="0"/>
              </a:rPr>
              <a:t>/</a:t>
            </a:r>
            <a:r>
              <a:rPr lang="zh-CN" altLang="en-US" sz="2000">
                <a:ea typeface="宋体" charset="0"/>
              </a:rPr>
              <a:t>减一运算符、位运算符、赋值运算符、类型强转运算符、逗号运算符、条件运算符（？ </a:t>
            </a:r>
            <a:r>
              <a:rPr lang="en-US" altLang="zh-CN" sz="2000">
                <a:ea typeface="宋体" charset="0"/>
              </a:rPr>
              <a:t>:</a:t>
            </a:r>
            <a:r>
              <a:rPr lang="zh-CN" altLang="en-US" sz="2000">
                <a:ea typeface="宋体" charset="0"/>
              </a:rPr>
              <a:t>）、</a:t>
            </a:r>
            <a:r>
              <a:rPr lang="en-US" altLang="zh-CN" sz="2000">
                <a:ea typeface="宋体" charset="0"/>
              </a:rPr>
              <a:t>  </a:t>
            </a:r>
            <a:r>
              <a:rPr lang="en-US" altLang="zh-CN" sz="2000">
                <a:solidFill>
                  <a:srgbClr val="0000FF"/>
                </a:solidFill>
                <a:latin typeface="Courier New" charset="0"/>
                <a:ea typeface="宋体" charset="0"/>
              </a:rPr>
              <a:t>sizeof</a:t>
            </a:r>
            <a:endParaRPr lang="zh-CN" altLang="en-US" sz="2000">
              <a:ea typeface="宋体" charset="0"/>
            </a:endParaRPr>
          </a:p>
          <a:p>
            <a:pPr lvl="1">
              <a:lnSpc>
                <a:spcPct val="85000"/>
              </a:lnSpc>
              <a:buFontTx/>
              <a:buNone/>
            </a:pPr>
            <a:endParaRPr lang="zh-CN" altLang="en-US" sz="2000">
              <a:ea typeface="宋体" charset="0"/>
            </a:endParaRPr>
          </a:p>
          <a:p>
            <a:pPr>
              <a:lnSpc>
                <a:spcPct val="85000"/>
              </a:lnSpc>
            </a:pPr>
            <a:r>
              <a:rPr lang="zh-CN" altLang="en-US" sz="2400">
                <a:ea typeface="宋体" charset="0"/>
              </a:rPr>
              <a:t>类型转换</a:t>
            </a:r>
            <a:endParaRPr lang="en-US" altLang="zh-CN" sz="24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  <a:p>
            <a:pPr>
              <a:lnSpc>
                <a:spcPct val="85000"/>
              </a:lnSpc>
            </a:pPr>
            <a:r>
              <a:rPr lang="zh-CN" altLang="en-US" sz="2400">
                <a:ea typeface="宋体" charset="0"/>
              </a:rPr>
              <a:t>优先级和结合性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255D9-628C-A647-B024-B5207CF4F524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5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5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55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5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55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55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7EDD-39E9-154A-944E-330450C7512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457200" y="1484784"/>
            <a:ext cx="7870825" cy="3981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30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2088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charset="2"/>
              <a:buChar char="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eaLnBrk="1" hangingPunct="1">
              <a:lnSpc>
                <a:spcPct val="90000"/>
              </a:lnSpc>
              <a:buFont typeface="Impact" charset="0"/>
              <a:buAutoNum type="arabicPeriod"/>
            </a:pPr>
            <a:r>
              <a:rPr kumimoji="0" lang="zh-CN" altLang="en-US" sz="1900" b="0" dirty="0">
                <a:latin typeface="宋体" charset="0"/>
                <a:ea typeface="宋体" charset="0"/>
              </a:rPr>
              <a:t>字符编码有哪些，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ASCII,UTF-8……</a:t>
            </a:r>
            <a:r>
              <a:rPr kumimoji="0" lang="zh-CN" altLang="en-US" sz="1900" b="0" dirty="0">
                <a:latin typeface="宋体" charset="0"/>
                <a:ea typeface="宋体" charset="0"/>
              </a:rPr>
              <a:t>？</a:t>
            </a:r>
            <a:endParaRPr kumimoji="0" lang="en-US" altLang="zh-CN" sz="1900" b="0" dirty="0">
              <a:latin typeface="宋体" charset="0"/>
              <a:ea typeface="宋体" charset="0"/>
            </a:endParaRPr>
          </a:p>
          <a:p>
            <a:pPr marL="514350" indent="-514350" eaLnBrk="1" hangingPunct="1">
              <a:lnSpc>
                <a:spcPct val="90000"/>
              </a:lnSpc>
              <a:buFont typeface="Impact" charset="0"/>
              <a:buAutoNum type="arabicPeriod"/>
            </a:pPr>
            <a:r>
              <a:rPr kumimoji="0" lang="zh-CN" altLang="en-US" sz="1900" b="0" dirty="0">
                <a:latin typeface="宋体" charset="0"/>
                <a:ea typeface="宋体" charset="0"/>
              </a:rPr>
              <a:t>什么是补码？设有如下定义，分析运行结果。</a:t>
            </a:r>
            <a:endParaRPr kumimoji="0" lang="en-US" altLang="zh-CN" sz="1900" b="0" dirty="0">
              <a:latin typeface="宋体" charset="0"/>
              <a:ea typeface="宋体" charset="0"/>
            </a:endParaRPr>
          </a:p>
          <a:p>
            <a:pPr marL="914400" lvl="1" indent="-514350" eaLnBrk="1" hangingPunct="1">
              <a:lnSpc>
                <a:spcPct val="90000"/>
              </a:lnSpc>
              <a:buFont typeface="Wingdings" charset="2"/>
              <a:buNone/>
            </a:pPr>
            <a:r>
              <a:rPr kumimoji="0" lang="en-US" altLang="zh-CN" sz="1900" b="0" dirty="0">
                <a:latin typeface="宋体" charset="0"/>
                <a:ea typeface="宋体" charset="0"/>
              </a:rPr>
              <a:t>char a = -129;</a:t>
            </a:r>
          </a:p>
          <a:p>
            <a:pPr marL="914400" lvl="1" indent="-514350" eaLnBrk="1" hangingPunct="1">
              <a:lnSpc>
                <a:spcPct val="90000"/>
              </a:lnSpc>
              <a:buFont typeface="Wingdings" charset="2"/>
              <a:buNone/>
            </a:pPr>
            <a:r>
              <a:rPr kumimoji="0" lang="en-US" altLang="zh-CN" sz="1900" b="0" dirty="0" err="1">
                <a:latin typeface="宋体" charset="0"/>
                <a:ea typeface="宋体" charset="0"/>
              </a:rPr>
              <a:t>printf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(“%</a:t>
            </a:r>
            <a:r>
              <a:rPr kumimoji="0" lang="en-US" altLang="zh-CN" sz="1900" b="0" dirty="0" err="1">
                <a:latin typeface="宋体" charset="0"/>
                <a:ea typeface="宋体" charset="0"/>
              </a:rPr>
              <a:t>d”,a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);</a:t>
            </a:r>
          </a:p>
          <a:p>
            <a:pPr marL="514350" indent="-514350" eaLnBrk="1" hangingPunct="1">
              <a:lnSpc>
                <a:spcPct val="90000"/>
              </a:lnSpc>
              <a:buFont typeface="Impact" charset="0"/>
              <a:buAutoNum type="arabicPeriod"/>
            </a:pPr>
            <a:r>
              <a:rPr kumimoji="0" lang="zh-CN" altLang="en-US" sz="1900" b="0" dirty="0">
                <a:latin typeface="宋体" charset="0"/>
                <a:ea typeface="宋体" charset="0"/>
              </a:rPr>
              <a:t>分析 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-3%10 </a:t>
            </a:r>
            <a:r>
              <a:rPr kumimoji="0" lang="zh-CN" altLang="en-US" sz="1900" b="0" dirty="0">
                <a:latin typeface="宋体" charset="0"/>
                <a:ea typeface="宋体" charset="0"/>
              </a:rPr>
              <a:t>及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3%-10</a:t>
            </a:r>
            <a:r>
              <a:rPr kumimoji="0" lang="zh-CN" altLang="en-US" sz="1900" b="0" dirty="0">
                <a:latin typeface="宋体" charset="0"/>
                <a:ea typeface="宋体" charset="0"/>
              </a:rPr>
              <a:t>的结果，并编程测试。</a:t>
            </a:r>
            <a:endParaRPr kumimoji="0" lang="en-US" altLang="zh-CN" sz="1900" b="0" dirty="0">
              <a:latin typeface="宋体" charset="0"/>
              <a:ea typeface="宋体" charset="0"/>
            </a:endParaRPr>
          </a:p>
          <a:p>
            <a:pPr marL="514350" indent="-514350" eaLnBrk="1" hangingPunct="1">
              <a:lnSpc>
                <a:spcPct val="90000"/>
              </a:lnSpc>
              <a:buFont typeface="Impact" charset="0"/>
              <a:buAutoNum type="arabicPeriod"/>
            </a:pPr>
            <a:r>
              <a:rPr kumimoji="0" lang="en-US" altLang="zh-CN" sz="1900" b="0" dirty="0" err="1">
                <a:latin typeface="宋体" charset="0"/>
                <a:ea typeface="宋体" charset="0"/>
              </a:rPr>
              <a:t>sizeof</a:t>
            </a:r>
            <a:r>
              <a:rPr kumimoji="0" lang="zh-CN" altLang="en-US" sz="1900" b="0" dirty="0">
                <a:latin typeface="宋体" charset="0"/>
                <a:ea typeface="宋体" charset="0"/>
              </a:rPr>
              <a:t>是否为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c</a:t>
            </a:r>
            <a:r>
              <a:rPr kumimoji="0" lang="zh-CN" altLang="en-US" sz="1900" b="0" dirty="0">
                <a:latin typeface="宋体" charset="0"/>
                <a:ea typeface="宋体" charset="0"/>
              </a:rPr>
              <a:t>语言关键字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?</a:t>
            </a:r>
            <a:r>
              <a:rPr kumimoji="0" lang="zh-CN" altLang="en-US" sz="1900" b="0" dirty="0">
                <a:latin typeface="宋体" charset="0"/>
                <a:ea typeface="宋体" charset="0"/>
              </a:rPr>
              <a:t>编程测试以下例子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,</a:t>
            </a:r>
            <a:r>
              <a:rPr kumimoji="0" lang="zh-CN" altLang="en-US" sz="1900" b="0" dirty="0">
                <a:latin typeface="宋体" charset="0"/>
                <a:ea typeface="宋体" charset="0"/>
              </a:rPr>
              <a:t>哪些合法，值为多少。假设已定义</a:t>
            </a:r>
            <a:r>
              <a:rPr kumimoji="0" lang="en-US" altLang="zh-CN" sz="1900" b="0" dirty="0" err="1">
                <a:latin typeface="宋体" charset="0"/>
                <a:ea typeface="宋体" charset="0"/>
              </a:rPr>
              <a:t>i</a:t>
            </a:r>
            <a:r>
              <a:rPr kumimoji="0" lang="zh-CN" altLang="en-US" sz="1900" b="0" dirty="0">
                <a:latin typeface="宋体" charset="0"/>
                <a:ea typeface="宋体" charset="0"/>
              </a:rPr>
              <a:t>为整型。</a:t>
            </a:r>
            <a:endParaRPr kumimoji="0" lang="en-US" altLang="zh-CN" sz="1900" b="0" dirty="0">
              <a:latin typeface="宋体" charset="0"/>
              <a:ea typeface="宋体" charset="0"/>
            </a:endParaRPr>
          </a:p>
          <a:p>
            <a:pPr marL="914400" lvl="1" indent="-514350" eaLnBrk="1" hangingPunct="1">
              <a:lnSpc>
                <a:spcPct val="90000"/>
              </a:lnSpc>
              <a:buFont typeface="隶书" charset="0"/>
              <a:buAutoNum type="circleNumDbPlain"/>
            </a:pPr>
            <a:r>
              <a:rPr kumimoji="0" lang="en-US" altLang="zh-CN" sz="1900" b="0" dirty="0" err="1">
                <a:latin typeface="宋体" charset="0"/>
                <a:ea typeface="宋体" charset="0"/>
              </a:rPr>
              <a:t>sizeof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(</a:t>
            </a:r>
            <a:r>
              <a:rPr kumimoji="0" lang="en-US" altLang="zh-CN" sz="1900" b="0" dirty="0" err="1">
                <a:latin typeface="宋体" charset="0"/>
                <a:ea typeface="宋体" charset="0"/>
              </a:rPr>
              <a:t>int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)</a:t>
            </a:r>
          </a:p>
          <a:p>
            <a:pPr marL="914400" lvl="1" indent="-514350" eaLnBrk="1" hangingPunct="1">
              <a:lnSpc>
                <a:spcPct val="90000"/>
              </a:lnSpc>
              <a:buFont typeface="Impact" charset="0"/>
              <a:buAutoNum type="circleNumDbPlain"/>
            </a:pPr>
            <a:r>
              <a:rPr kumimoji="0" lang="en-US" altLang="zh-CN" sz="1900" b="0" dirty="0" err="1">
                <a:latin typeface="宋体" charset="0"/>
                <a:ea typeface="宋体" charset="0"/>
              </a:rPr>
              <a:t>sizeof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(</a:t>
            </a:r>
            <a:r>
              <a:rPr kumimoji="0" lang="en-US" altLang="zh-CN" sz="1900" b="0" dirty="0" err="1">
                <a:latin typeface="宋体" charset="0"/>
                <a:ea typeface="宋体" charset="0"/>
              </a:rPr>
              <a:t>i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)</a:t>
            </a:r>
          </a:p>
          <a:p>
            <a:pPr marL="914400" lvl="1" indent="-514350" eaLnBrk="1" hangingPunct="1">
              <a:lnSpc>
                <a:spcPct val="90000"/>
              </a:lnSpc>
              <a:buFont typeface="Impact" charset="0"/>
              <a:buAutoNum type="circleNumDbPlain"/>
            </a:pPr>
            <a:r>
              <a:rPr kumimoji="0" lang="en-US" altLang="zh-CN" sz="1900" b="0" dirty="0" err="1">
                <a:latin typeface="宋体" charset="0"/>
                <a:ea typeface="宋体" charset="0"/>
              </a:rPr>
              <a:t>sizeof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  </a:t>
            </a:r>
            <a:r>
              <a:rPr kumimoji="0" lang="en-US" altLang="zh-CN" sz="1900" b="0" dirty="0" err="1">
                <a:latin typeface="宋体" charset="0"/>
                <a:ea typeface="宋体" charset="0"/>
              </a:rPr>
              <a:t>i</a:t>
            </a:r>
            <a:endParaRPr kumimoji="0" lang="en-US" altLang="zh-CN" sz="1900" b="0" dirty="0">
              <a:latin typeface="宋体" charset="0"/>
              <a:ea typeface="宋体" charset="0"/>
            </a:endParaRPr>
          </a:p>
          <a:p>
            <a:pPr marL="914400" lvl="1" indent="-514350" eaLnBrk="1" hangingPunct="1">
              <a:lnSpc>
                <a:spcPct val="90000"/>
              </a:lnSpc>
              <a:buFont typeface="Impact" charset="0"/>
              <a:buAutoNum type="circleNumDbPlain"/>
            </a:pPr>
            <a:r>
              <a:rPr kumimoji="0" lang="en-US" altLang="zh-CN" sz="1900" b="0" dirty="0" err="1">
                <a:latin typeface="宋体" charset="0"/>
                <a:ea typeface="宋体" charset="0"/>
              </a:rPr>
              <a:t>sizeof</a:t>
            </a:r>
            <a:r>
              <a:rPr kumimoji="0" lang="en-US" altLang="zh-CN" sz="1900" b="0" dirty="0">
                <a:latin typeface="宋体" charset="0"/>
                <a:ea typeface="宋体" charset="0"/>
              </a:rPr>
              <a:t> </a:t>
            </a:r>
            <a:r>
              <a:rPr kumimoji="0" lang="en-US" altLang="zh-CN" sz="1900" b="0" dirty="0" err="1">
                <a:latin typeface="宋体" charset="0"/>
                <a:ea typeface="宋体" charset="0"/>
              </a:rPr>
              <a:t>int</a:t>
            </a:r>
            <a:endParaRPr kumimoji="0" lang="en-US" altLang="zh-CN" sz="1900" b="0" dirty="0">
              <a:latin typeface="宋体" charset="0"/>
              <a:ea typeface="宋体" charset="0"/>
            </a:endParaRPr>
          </a:p>
          <a:p>
            <a:pPr marL="514350" indent="-514350" eaLnBrk="1" hangingPunct="1">
              <a:lnSpc>
                <a:spcPct val="90000"/>
              </a:lnSpc>
              <a:buFont typeface="Impact" charset="0"/>
              <a:buAutoNum type="arabicPeriod"/>
            </a:pPr>
            <a:r>
              <a:rPr kumimoji="0" lang="en-US" altLang="zh-CN" sz="2200" b="0" dirty="0">
                <a:latin typeface="宋体" charset="0"/>
                <a:ea typeface="宋体" charset="0"/>
              </a:rPr>
              <a:t>define</a:t>
            </a:r>
            <a:r>
              <a:rPr kumimoji="0" lang="zh-CN" altLang="en-US" sz="2200" b="0" dirty="0">
                <a:latin typeface="宋体" charset="0"/>
                <a:ea typeface="宋体" charset="0"/>
              </a:rPr>
              <a:t>与</a:t>
            </a:r>
            <a:r>
              <a:rPr kumimoji="0" lang="en-US" altLang="zh-CN" sz="2200" b="0" dirty="0" err="1">
                <a:latin typeface="宋体" charset="0"/>
                <a:ea typeface="宋体" charset="0"/>
              </a:rPr>
              <a:t>const</a:t>
            </a:r>
            <a:r>
              <a:rPr kumimoji="0" lang="zh-CN" altLang="en-US" sz="2200" b="0" dirty="0">
                <a:latin typeface="宋体" charset="0"/>
                <a:ea typeface="宋体" charset="0"/>
              </a:rPr>
              <a:t>区别？</a:t>
            </a:r>
            <a:endParaRPr kumimoji="0" lang="en-US" altLang="zh-CN" sz="2200" b="0" dirty="0">
              <a:latin typeface="宋体" charset="0"/>
              <a:ea typeface="宋体" charset="0"/>
            </a:endParaRPr>
          </a:p>
          <a:p>
            <a:pPr marL="514350" indent="-514350" eaLnBrk="1" hangingPunct="1">
              <a:lnSpc>
                <a:spcPct val="90000"/>
              </a:lnSpc>
              <a:buFont typeface="Impact" charset="0"/>
              <a:buAutoNum type="arabicPeriod"/>
            </a:pPr>
            <a:endParaRPr kumimoji="0" lang="zh-CN" altLang="en-US" sz="1900" b="0" dirty="0">
              <a:latin typeface="Arial" charset="0"/>
              <a:ea typeface="隶书" charset="0"/>
            </a:endParaRPr>
          </a:p>
        </p:txBody>
      </p:sp>
      <p:sp>
        <p:nvSpPr>
          <p:cNvPr id="9" name="标题 1"/>
          <p:cNvSpPr txBox="1">
            <a:spLocks/>
          </p:cNvSpPr>
          <p:nvPr/>
        </p:nvSpPr>
        <p:spPr bwMode="auto">
          <a:xfrm>
            <a:off x="457200" y="338138"/>
            <a:ext cx="8229600" cy="125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rgbClr val="FFFFFF"/>
                </a:solidFill>
                <a:latin typeface="Candara" charset="0"/>
                <a:ea typeface="华文新魏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 eaLnBrk="1" hangingPunct="1">
              <a:lnSpc>
                <a:spcPct val="90000"/>
              </a:lnSpc>
              <a:buClrTx/>
              <a:buSzTx/>
              <a:buNone/>
            </a:pPr>
            <a:r>
              <a:rPr lang="zh-CN" altLang="en-US" sz="4200" b="0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课后查阅资料</a:t>
            </a:r>
          </a:p>
        </p:txBody>
      </p:sp>
    </p:spTree>
    <p:extLst>
      <p:ext uri="{BB962C8B-B14F-4D97-AF65-F5344CB8AC3E}">
        <p14:creationId xmlns:p14="http://schemas.microsoft.com/office/powerpoint/2010/main" val="3544146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467728"/>
            <a:ext cx="7772400" cy="1609344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8000" dirty="0"/>
              <a:t>谢谢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050E-A189-B141-92F4-E8A5864563A1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6831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58851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类型转换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484313"/>
            <a:ext cx="8569325" cy="4611687"/>
          </a:xfrm>
        </p:spPr>
        <p:txBody>
          <a:bodyPr/>
          <a:lstStyle/>
          <a:p>
            <a:r>
              <a:rPr lang="zh-CN" altLang="en-US">
                <a:ea typeface="宋体" charset="0"/>
              </a:rPr>
              <a:t>同种数据类型的运算结果，还是该类型</a:t>
            </a:r>
          </a:p>
          <a:p>
            <a:r>
              <a:rPr lang="zh-CN" altLang="en-US">
                <a:solidFill>
                  <a:srgbClr val="FF0000"/>
                </a:solidFill>
                <a:ea typeface="宋体" charset="0"/>
              </a:rPr>
              <a:t>不同种数据类型</a:t>
            </a:r>
            <a:r>
              <a:rPr lang="zh-CN" altLang="en-US">
                <a:ea typeface="宋体" charset="0"/>
              </a:rPr>
              <a:t>的运算结果，是两种类型中</a:t>
            </a:r>
            <a:r>
              <a:rPr lang="zh-CN" altLang="en-US">
                <a:solidFill>
                  <a:srgbClr val="FF0000"/>
                </a:solidFill>
                <a:ea typeface="宋体" charset="0"/>
              </a:rPr>
              <a:t>取值范围更大的那种</a:t>
            </a:r>
          </a:p>
          <a:p>
            <a:pPr lvl="1"/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double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&gt; </a:t>
            </a: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double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&gt; </a:t>
            </a: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float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&gt; </a:t>
            </a: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long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&gt; </a:t>
            </a: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int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&gt; </a:t>
            </a: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short</a:t>
            </a:r>
            <a:r>
              <a:rPr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  <a:ea typeface="宋体" charset="0"/>
              </a:rPr>
              <a:t> &gt; </a:t>
            </a:r>
            <a:r>
              <a:rPr lang="en-US" altLang="zh-CN">
                <a:solidFill>
                  <a:srgbClr val="0000FF"/>
                </a:solidFill>
                <a:latin typeface="Courier New" charset="0"/>
                <a:ea typeface="宋体" charset="0"/>
              </a:rPr>
              <a:t>char</a:t>
            </a:r>
            <a:endParaRPr lang="en-US" altLang="zh-CN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charset="0"/>
              <a:ea typeface="宋体" charset="0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763713" y="3930650"/>
            <a:ext cx="1295400" cy="469900"/>
          </a:xfrm>
          <a:prstGeom prst="rect">
            <a:avLst/>
          </a:prstGeom>
          <a:solidFill>
            <a:srgbClr val="0000FF"/>
          </a:solidFill>
          <a:ln w="12700" cap="sq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</a:rPr>
              <a:t>double</a:t>
            </a:r>
            <a:endParaRPr kumimoji="1" lang="en-US" altLang="zh-CN" sz="2400" b="0">
              <a:solidFill>
                <a:schemeClr val="tx1"/>
              </a:solidFill>
            </a:endParaRPr>
          </a:p>
        </p:txBody>
      </p:sp>
      <p:sp>
        <p:nvSpPr>
          <p:cNvPr id="46085" name="Text Box 5"/>
          <p:cNvSpPr txBox="1">
            <a:spLocks noChangeArrowheads="1"/>
          </p:cNvSpPr>
          <p:nvPr/>
        </p:nvSpPr>
        <p:spPr bwMode="auto">
          <a:xfrm>
            <a:off x="3668713" y="3930650"/>
            <a:ext cx="1295400" cy="469900"/>
          </a:xfrm>
          <a:prstGeom prst="rect">
            <a:avLst/>
          </a:prstGeom>
          <a:solidFill>
            <a:srgbClr val="0000FF"/>
          </a:solidFill>
          <a:ln w="12700" cap="sq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</a:rPr>
              <a:t>float</a:t>
            </a:r>
            <a:endParaRPr kumimoji="1" lang="en-US" altLang="zh-CN" sz="2400" b="0">
              <a:solidFill>
                <a:schemeClr val="tx1"/>
              </a:solidFill>
            </a:endParaRPr>
          </a:p>
        </p:txBody>
      </p:sp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1763713" y="4921250"/>
            <a:ext cx="1295400" cy="469900"/>
          </a:xfrm>
          <a:prstGeom prst="rect">
            <a:avLst/>
          </a:prstGeom>
          <a:solidFill>
            <a:srgbClr val="0000FF"/>
          </a:solidFill>
          <a:ln w="12700" cap="sq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</a:rPr>
              <a:t>long</a:t>
            </a:r>
            <a:endParaRPr kumimoji="1" lang="en-US" altLang="zh-CN" sz="2400" b="0">
              <a:solidFill>
                <a:schemeClr val="tx1"/>
              </a:solidFill>
            </a:endParaRPr>
          </a:p>
        </p:txBody>
      </p:sp>
      <p:sp>
        <p:nvSpPr>
          <p:cNvPr id="46087" name="Text Box 7"/>
          <p:cNvSpPr txBox="1">
            <a:spLocks noChangeArrowheads="1"/>
          </p:cNvSpPr>
          <p:nvPr/>
        </p:nvSpPr>
        <p:spPr bwMode="auto">
          <a:xfrm>
            <a:off x="1763713" y="5911850"/>
            <a:ext cx="1371600" cy="469900"/>
          </a:xfrm>
          <a:prstGeom prst="rect">
            <a:avLst/>
          </a:prstGeom>
          <a:solidFill>
            <a:srgbClr val="0000FF"/>
          </a:solidFill>
          <a:ln w="12700" cap="sq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</a:rPr>
              <a:t>unsigned</a:t>
            </a:r>
            <a:endParaRPr kumimoji="1" lang="en-US" altLang="zh-CN" sz="2400" b="0">
              <a:solidFill>
                <a:schemeClr val="tx1"/>
              </a:solidFill>
            </a:endParaRPr>
          </a:p>
        </p:txBody>
      </p:sp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3668713" y="5911850"/>
            <a:ext cx="1295400" cy="469900"/>
          </a:xfrm>
          <a:prstGeom prst="rect">
            <a:avLst/>
          </a:prstGeom>
          <a:solidFill>
            <a:srgbClr val="0000FF"/>
          </a:solidFill>
          <a:ln w="12700" cap="sq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</a:rPr>
              <a:t>int</a:t>
            </a:r>
            <a:endParaRPr kumimoji="1" lang="en-US" altLang="zh-CN" sz="2400" b="0">
              <a:solidFill>
                <a:schemeClr val="tx1"/>
              </a:solidFill>
            </a:endParaRPr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5726113" y="5911850"/>
            <a:ext cx="2133600" cy="469900"/>
          </a:xfrm>
          <a:prstGeom prst="rect">
            <a:avLst/>
          </a:prstGeom>
          <a:solidFill>
            <a:srgbClr val="0000FF"/>
          </a:solidFill>
          <a:ln w="12700" cap="sq">
            <a:solidFill>
              <a:srgbClr val="00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solidFill>
                  <a:schemeClr val="bg1"/>
                </a:solidFill>
              </a:rPr>
              <a:t>char</a:t>
            </a:r>
            <a:r>
              <a:rPr kumimoji="1" lang="zh-CN" altLang="en-US" sz="2400" b="0">
                <a:solidFill>
                  <a:schemeClr val="bg1"/>
                </a:solidFill>
              </a:rPr>
              <a:t>，</a:t>
            </a:r>
            <a:r>
              <a:rPr kumimoji="1" lang="en-US" altLang="zh-CN" sz="2400" b="0">
                <a:solidFill>
                  <a:schemeClr val="bg1"/>
                </a:solidFill>
              </a:rPr>
              <a:t>short</a:t>
            </a:r>
            <a:endParaRPr kumimoji="1" lang="en-US" altLang="zh-CN" sz="2400" b="0">
              <a:solidFill>
                <a:schemeClr val="tx1"/>
              </a:solidFill>
            </a:endParaRPr>
          </a:p>
        </p:txBody>
      </p:sp>
      <p:sp>
        <p:nvSpPr>
          <p:cNvPr id="114698" name="Line 10"/>
          <p:cNvSpPr>
            <a:spLocks noChangeShapeType="1"/>
          </p:cNvSpPr>
          <p:nvPr/>
        </p:nvSpPr>
        <p:spPr bwMode="auto">
          <a:xfrm flipV="1">
            <a:off x="2449513" y="4387850"/>
            <a:ext cx="0" cy="533400"/>
          </a:xfrm>
          <a:prstGeom prst="line">
            <a:avLst/>
          </a:prstGeom>
          <a:noFill/>
          <a:ln w="12700" cap="sq">
            <a:solidFill>
              <a:srgbClr val="00CC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4699" name="Line 11"/>
          <p:cNvSpPr>
            <a:spLocks noChangeShapeType="1"/>
          </p:cNvSpPr>
          <p:nvPr/>
        </p:nvSpPr>
        <p:spPr bwMode="auto">
          <a:xfrm flipV="1">
            <a:off x="2449513" y="5378450"/>
            <a:ext cx="0" cy="533400"/>
          </a:xfrm>
          <a:prstGeom prst="line">
            <a:avLst/>
          </a:prstGeom>
          <a:noFill/>
          <a:ln w="12700" cap="sq">
            <a:solidFill>
              <a:srgbClr val="00CC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4700" name="Line 12"/>
          <p:cNvSpPr>
            <a:spLocks noChangeShapeType="1"/>
          </p:cNvSpPr>
          <p:nvPr/>
        </p:nvSpPr>
        <p:spPr bwMode="auto">
          <a:xfrm flipH="1">
            <a:off x="3135313" y="6140450"/>
            <a:ext cx="533400" cy="0"/>
          </a:xfrm>
          <a:prstGeom prst="line">
            <a:avLst/>
          </a:prstGeom>
          <a:noFill/>
          <a:ln w="12700" cap="sq">
            <a:solidFill>
              <a:srgbClr val="00CC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4701" name="Line 13"/>
          <p:cNvSpPr>
            <a:spLocks noChangeShapeType="1"/>
          </p:cNvSpPr>
          <p:nvPr/>
        </p:nvSpPr>
        <p:spPr bwMode="auto">
          <a:xfrm flipH="1">
            <a:off x="4964113" y="6140450"/>
            <a:ext cx="762000" cy="0"/>
          </a:xfrm>
          <a:prstGeom prst="line">
            <a:avLst/>
          </a:prstGeom>
          <a:noFill/>
          <a:ln w="12700" cap="sq">
            <a:solidFill>
              <a:srgbClr val="00CC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4702" name="Line 14"/>
          <p:cNvSpPr>
            <a:spLocks noChangeShapeType="1"/>
          </p:cNvSpPr>
          <p:nvPr/>
        </p:nvSpPr>
        <p:spPr bwMode="auto">
          <a:xfrm flipH="1">
            <a:off x="3059113" y="4159250"/>
            <a:ext cx="609600" cy="0"/>
          </a:xfrm>
          <a:prstGeom prst="line">
            <a:avLst/>
          </a:prstGeom>
          <a:noFill/>
          <a:ln w="12700" cap="sq">
            <a:solidFill>
              <a:srgbClr val="00CC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4703" name="Line 15"/>
          <p:cNvSpPr>
            <a:spLocks noChangeShapeType="1"/>
          </p:cNvSpPr>
          <p:nvPr/>
        </p:nvSpPr>
        <p:spPr bwMode="auto">
          <a:xfrm flipH="1">
            <a:off x="3516313" y="5607050"/>
            <a:ext cx="4038600" cy="0"/>
          </a:xfrm>
          <a:prstGeom prst="line">
            <a:avLst/>
          </a:prstGeom>
          <a:noFill/>
          <a:ln w="50800" cap="sq">
            <a:solidFill>
              <a:srgbClr val="00CCFF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4704" name="Line 16"/>
          <p:cNvSpPr>
            <a:spLocks noChangeShapeType="1"/>
          </p:cNvSpPr>
          <p:nvPr/>
        </p:nvSpPr>
        <p:spPr bwMode="auto">
          <a:xfrm flipV="1">
            <a:off x="3516313" y="4616450"/>
            <a:ext cx="0" cy="990600"/>
          </a:xfrm>
          <a:prstGeom prst="line">
            <a:avLst/>
          </a:prstGeom>
          <a:noFill/>
          <a:ln w="50800" cap="sq">
            <a:solidFill>
              <a:srgbClr val="00CC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6097" name="Text Box 17"/>
          <p:cNvSpPr txBox="1">
            <a:spLocks noChangeArrowheads="1"/>
          </p:cNvSpPr>
          <p:nvPr/>
        </p:nvSpPr>
        <p:spPr bwMode="auto">
          <a:xfrm>
            <a:off x="6716713" y="5103813"/>
            <a:ext cx="1371600" cy="3968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000" b="0">
                <a:solidFill>
                  <a:schemeClr val="tx1"/>
                </a:solidFill>
              </a:rPr>
              <a:t>精度低</a:t>
            </a:r>
            <a:endParaRPr kumimoji="1" lang="zh-CN" altLang="en-US" sz="2400" b="0">
              <a:solidFill>
                <a:schemeClr val="tx1"/>
              </a:solidFill>
            </a:endParaRPr>
          </a:p>
        </p:txBody>
      </p:sp>
      <p:sp>
        <p:nvSpPr>
          <p:cNvPr id="46098" name="Text Box 18"/>
          <p:cNvSpPr txBox="1">
            <a:spLocks noChangeArrowheads="1"/>
          </p:cNvSpPr>
          <p:nvPr/>
        </p:nvSpPr>
        <p:spPr bwMode="auto">
          <a:xfrm>
            <a:off x="3592513" y="4540250"/>
            <a:ext cx="1143000" cy="3968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000" b="0">
                <a:solidFill>
                  <a:schemeClr val="tx1"/>
                </a:solidFill>
              </a:rPr>
              <a:t>精度高</a:t>
            </a:r>
          </a:p>
        </p:txBody>
      </p:sp>
      <p:sp>
        <p:nvSpPr>
          <p:cNvPr id="114707" name="Line 19"/>
          <p:cNvSpPr>
            <a:spLocks noChangeShapeType="1"/>
          </p:cNvSpPr>
          <p:nvPr/>
        </p:nvSpPr>
        <p:spPr bwMode="auto">
          <a:xfrm flipH="1">
            <a:off x="2220913" y="3702050"/>
            <a:ext cx="2286000" cy="0"/>
          </a:xfrm>
          <a:prstGeom prst="line">
            <a:avLst/>
          </a:prstGeom>
          <a:noFill/>
          <a:ln w="50800">
            <a:solidFill>
              <a:srgbClr val="00CCFF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57526-4BEC-B745-87C9-FA859A23822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4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4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0616"/>
            <a:ext cx="7772400" cy="640112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tx1"/>
                </a:solidFill>
              </a:rPr>
              <a:t>安全性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147638" y="1484313"/>
            <a:ext cx="8745537" cy="4611687"/>
          </a:xfrm>
        </p:spPr>
        <p:txBody>
          <a:bodyPr>
            <a:noAutofit/>
          </a:bodyPr>
          <a:lstStyle/>
          <a:p>
            <a:r>
              <a:rPr lang="zh-CN" altLang="en-US" sz="2800" dirty="0">
                <a:ea typeface="宋体" charset="0"/>
              </a:rPr>
              <a:t>在进行赋值操作时，会发生类型转换</a:t>
            </a:r>
          </a:p>
          <a:p>
            <a:r>
              <a:rPr lang="zh-CN" altLang="en-US" sz="2800" dirty="0">
                <a:ea typeface="宋体" charset="0"/>
              </a:rPr>
              <a:t>将取值范围小的类型转为取值范围大的类型是安全的</a:t>
            </a:r>
          </a:p>
          <a:p>
            <a:r>
              <a:rPr lang="zh-CN" altLang="en-US" sz="2800" dirty="0">
                <a:ea typeface="宋体" charset="0"/>
              </a:rPr>
              <a:t>反之是不安全的</a:t>
            </a:r>
          </a:p>
          <a:p>
            <a:pPr marL="274320" lvl="1" indent="0">
              <a:buNone/>
            </a:pPr>
            <a:r>
              <a:rPr lang="zh-CN" altLang="en-US" sz="2400" dirty="0">
                <a:ea typeface="宋体" charset="0"/>
              </a:rPr>
              <a:t>  如果大类型的值在小类型能容纳的范围之内，则平安无事</a:t>
            </a:r>
          </a:p>
          <a:p>
            <a:pPr marL="274320" lvl="1" indent="0">
              <a:buNone/>
            </a:pPr>
            <a:r>
              <a:rPr lang="zh-CN" altLang="en-US" sz="2400" dirty="0">
                <a:ea typeface="宋体" charset="0"/>
              </a:rPr>
              <a:t>  但是，浮点数转为整数，会丢失小数部分，非四舍五入。</a:t>
            </a:r>
            <a:endParaRPr lang="en-US" altLang="zh-CN" sz="2400" dirty="0">
              <a:ea typeface="宋体" charset="0"/>
            </a:endParaRPr>
          </a:p>
          <a:p>
            <a:pPr marL="274320" lvl="1" indent="0">
              <a:buNone/>
            </a:pPr>
            <a:r>
              <a:rPr lang="zh-CN" altLang="en-US" sz="2400" dirty="0">
                <a:ea typeface="宋体" charset="0"/>
              </a:rPr>
              <a:t>  反之，转换后的结果必然是错误的，具体结果与机器和实现方式有关。</a:t>
            </a:r>
          </a:p>
          <a:p>
            <a:pPr marL="274320" lvl="1" indent="0">
              <a:buNone/>
            </a:pPr>
            <a:endParaRPr lang="zh-CN" altLang="en-US" sz="2400" dirty="0">
              <a:ea typeface="宋体" charset="0"/>
            </a:endParaRPr>
          </a:p>
          <a:p>
            <a:pPr marL="274320" lvl="1" indent="0"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宋体" charset="0"/>
              </a:rPr>
              <a:t>     避免如此使用，好的编译器会发出警告</a:t>
            </a:r>
            <a:endParaRPr lang="en-US" altLang="zh-CN" sz="2400" b="1" dirty="0">
              <a:solidFill>
                <a:srgbClr val="FF0000"/>
              </a:solidFill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3380F-521A-C549-A988-7DD5D39C6CBD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59</a:t>
            </a:fld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184150" y="200025"/>
            <a:ext cx="8783638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 sz="3200" u="sng" dirty="0">
                <a:solidFill>
                  <a:srgbClr val="FF0000"/>
                </a:solidFill>
              </a:rPr>
              <a:t>混合</a:t>
            </a:r>
            <a:r>
              <a:rPr kumimoji="1" lang="zh-CN" altLang="en-US" sz="3200" u="sng" dirty="0">
                <a:solidFill>
                  <a:schemeClr val="tx1"/>
                </a:solidFill>
              </a:rPr>
              <a:t>类型计算和类型转换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</a:rPr>
              <a:t>运算对象类型不同时形成混合类型计算：</a:t>
            </a:r>
          </a:p>
          <a:p>
            <a:pPr algn="just">
              <a:lnSpc>
                <a:spcPct val="10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</a:rPr>
              <a:t>　　　　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3.27 + 2</a:t>
            </a:r>
          </a:p>
          <a:p>
            <a:pPr algn="just">
              <a:lnSpc>
                <a:spcPct val="10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</a:rPr>
              <a:t>各算术类型的加法都用 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+</a:t>
            </a:r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表示，编译程序根据运算</a:t>
            </a:r>
            <a:r>
              <a:rPr kumimoji="1" lang="zh-CN" altLang="en-US" dirty="0">
                <a:solidFill>
                  <a:srgbClr val="FF0000"/>
                </a:solidFill>
              </a:rPr>
              <a:t>对象类型</a:t>
            </a:r>
            <a:r>
              <a:rPr kumimoji="1" lang="zh-CN" altLang="en-US" dirty="0">
                <a:solidFill>
                  <a:schemeClr val="tx1"/>
                </a:solidFill>
              </a:rPr>
              <a:t>确定怎样做：</a:t>
            </a:r>
          </a:p>
          <a:p>
            <a:pPr>
              <a:lnSpc>
                <a:spcPct val="10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3 + 2		</a:t>
            </a:r>
            <a:r>
              <a:rPr kumimoji="1" lang="zh-CN" altLang="en-US" dirty="0">
                <a:solidFill>
                  <a:schemeClr val="tx1"/>
                </a:solidFill>
              </a:rPr>
              <a:t>用 </a:t>
            </a:r>
            <a:r>
              <a:rPr kumimoji="1" lang="en-US" altLang="zh-CN" dirty="0" err="1">
                <a:solidFill>
                  <a:srgbClr val="FF0000"/>
                </a:solidFill>
                <a:latin typeface="Courier New" charset="0"/>
              </a:rPr>
              <a:t>int</a:t>
            </a:r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类型的加法运算	</a:t>
            </a:r>
          </a:p>
          <a:p>
            <a:pPr>
              <a:lnSpc>
                <a:spcPct val="10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3.27 + 2.0	</a:t>
            </a:r>
            <a:r>
              <a:rPr kumimoji="1" lang="zh-CN" altLang="en-US" dirty="0">
                <a:solidFill>
                  <a:schemeClr val="tx1"/>
                </a:solidFill>
              </a:rPr>
              <a:t>用 </a:t>
            </a:r>
            <a:r>
              <a:rPr kumimoji="1" lang="en-US" altLang="zh-CN" dirty="0">
                <a:solidFill>
                  <a:srgbClr val="FF0000"/>
                </a:solidFill>
                <a:latin typeface="Courier New" charset="0"/>
              </a:rPr>
              <a:t>double</a:t>
            </a:r>
            <a:r>
              <a:rPr kumimoji="1" lang="en-US" altLang="zh-CN" dirty="0">
                <a:solidFill>
                  <a:srgbClr val="FF0000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类型的加法运算</a:t>
            </a:r>
          </a:p>
        </p:txBody>
      </p:sp>
      <p:sp>
        <p:nvSpPr>
          <p:cNvPr id="200707" name="Text Box 3"/>
          <p:cNvSpPr txBox="1">
            <a:spLocks noChangeArrowheads="1"/>
          </p:cNvSpPr>
          <p:nvPr/>
        </p:nvSpPr>
        <p:spPr bwMode="auto">
          <a:xfrm>
            <a:off x="212725" y="4364038"/>
            <a:ext cx="8748713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0513" indent="-290513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30000"/>
              </a:spcBef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chemeClr val="tx1"/>
                </a:solidFill>
              </a:rPr>
              <a:t>出现混合类型计算，程序</a:t>
            </a:r>
            <a:r>
              <a:rPr kumimoji="1" lang="zh-CN" altLang="en-US" dirty="0">
                <a:solidFill>
                  <a:srgbClr val="FF0000"/>
                </a:solidFill>
              </a:rPr>
              <a:t>自动将运算对象</a:t>
            </a:r>
            <a:r>
              <a:rPr kumimoji="1" lang="zh-CN" altLang="en-US" u="sng" dirty="0">
                <a:solidFill>
                  <a:srgbClr val="FF0000"/>
                </a:solidFill>
              </a:rPr>
              <a:t>转换</a:t>
            </a:r>
            <a:r>
              <a:rPr kumimoji="1" lang="zh-CN" altLang="en-US" dirty="0">
                <a:solidFill>
                  <a:srgbClr val="FF0000"/>
                </a:solidFill>
              </a:rPr>
              <a:t>到相同类型的值，而后计算</a:t>
            </a:r>
          </a:p>
          <a:p>
            <a:pPr>
              <a:lnSpc>
                <a:spcPct val="100000"/>
              </a:lnSpc>
              <a:spcBef>
                <a:spcPct val="30000"/>
              </a:spcBef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chemeClr val="tx1"/>
                </a:solidFill>
              </a:rPr>
              <a:t>是</a:t>
            </a:r>
            <a:r>
              <a:rPr kumimoji="1" lang="zh-CN" altLang="en-US" u="sng" dirty="0">
                <a:solidFill>
                  <a:schemeClr val="tx1"/>
                </a:solidFill>
              </a:rPr>
              <a:t>自动类型转换</a:t>
            </a:r>
            <a:r>
              <a:rPr kumimoji="1" lang="zh-CN" altLang="en-US" dirty="0">
                <a:solidFill>
                  <a:schemeClr val="tx1"/>
                </a:solidFill>
              </a:rPr>
              <a:t>。不需要在程序里明确写出</a:t>
            </a:r>
            <a:endParaRPr kumimoji="1"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36BD0-3D67-384C-A19F-C76F8F20E9DD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0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85738" y="198438"/>
            <a:ext cx="879157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u="sng">
                <a:solidFill>
                  <a:srgbClr val="FF0000"/>
                </a:solidFill>
              </a:rPr>
              <a:t>自动类型转换原则</a:t>
            </a:r>
            <a:r>
              <a:rPr kumimoji="1" lang="zh-CN" altLang="en-US">
                <a:solidFill>
                  <a:schemeClr val="tx1"/>
                </a:solidFill>
              </a:rPr>
              <a:t>：把表示范围小的类型的值转换为表示范围大的类型的值。从小到大是：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>
                <a:solidFill>
                  <a:schemeClr val="tx1"/>
                </a:solidFill>
                <a:latin typeface="Courier New" charset="0"/>
              </a:rPr>
              <a:t>int  long   float   double   long double</a:t>
            </a:r>
            <a:endParaRPr kumimoji="1" lang="en-US" altLang="zh-CN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solidFill>
                  <a:schemeClr val="tx1"/>
                </a:solidFill>
              </a:rPr>
              <a:t>例：	</a:t>
            </a:r>
            <a:r>
              <a:rPr kumimoji="1" lang="zh-CN" altLang="en-US">
                <a:solidFill>
                  <a:schemeClr val="tx1"/>
                </a:solidFill>
                <a:latin typeface="Courier New" charset="0"/>
              </a:rPr>
              <a:t>	</a:t>
            </a:r>
            <a:r>
              <a:rPr kumimoji="1" lang="en-US" altLang="zh-CN">
                <a:solidFill>
                  <a:schemeClr val="tx1"/>
                </a:solidFill>
                <a:latin typeface="Courier New" charset="0"/>
              </a:rPr>
              <a:t>32767 + 2L</a:t>
            </a:r>
          </a:p>
        </p:txBody>
      </p:sp>
      <p:sp>
        <p:nvSpPr>
          <p:cNvPr id="201731" name="Line 3"/>
          <p:cNvSpPr>
            <a:spLocks noChangeShapeType="1"/>
          </p:cNvSpPr>
          <p:nvPr/>
        </p:nvSpPr>
        <p:spPr bwMode="auto">
          <a:xfrm flipV="1">
            <a:off x="355600" y="1265238"/>
            <a:ext cx="80406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227013" y="2687638"/>
            <a:ext cx="8672512" cy="351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</a:rPr>
              <a:t>混合类型计算中自动插入数值转换动作，由原类型的值产生出新值后参与计算。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</a:rPr>
              <a:t>写程序或读程序都应注意：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chemeClr val="tx1"/>
                </a:solidFill>
              </a:rPr>
              <a:t>  </a:t>
            </a:r>
            <a:r>
              <a:rPr kumimoji="1" lang="zh-CN" altLang="en-US" dirty="0">
                <a:solidFill>
                  <a:srgbClr val="00B050"/>
                </a:solidFill>
              </a:rPr>
              <a:t>表达式中计算对象的类型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rgbClr val="00B050"/>
                </a:solidFill>
              </a:rPr>
              <a:t>  子表达式计算结果的类型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rgbClr val="00B050"/>
                </a:solidFill>
              </a:rPr>
              <a:t>  哪些地方会发生类型转换，怎么转换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B60FE-0BE1-AE4A-8793-2376D47D03C2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0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692275" y="260350"/>
          <a:ext cx="5257800" cy="626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2206800" imgH="2408400" progId="Word.Picture.8">
                  <p:embed/>
                </p:oleObj>
              </mc:Choice>
              <mc:Fallback>
                <p:oleObj name="图片" r:id="rId2" imgW="2206800" imgH="240840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60350"/>
                        <a:ext cx="5257800" cy="626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5" name="Oval 3"/>
          <p:cNvSpPr>
            <a:spLocks noChangeArrowheads="1"/>
          </p:cNvSpPr>
          <p:nvPr/>
        </p:nvSpPr>
        <p:spPr bwMode="auto">
          <a:xfrm>
            <a:off x="4356100" y="1052513"/>
            <a:ext cx="360363" cy="360362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  <a:effectLst/>
        </p:spPr>
        <p:txBody>
          <a:bodyPr wrap="none" lIns="92075" tIns="46037" rIns="92075" bIns="46037" anchor="ctr"/>
          <a:lstStyle/>
          <a:p>
            <a:pPr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2756" name="AutoShape 4"/>
          <p:cNvSpPr>
            <a:spLocks noChangeArrowheads="1"/>
          </p:cNvSpPr>
          <p:nvPr/>
        </p:nvSpPr>
        <p:spPr bwMode="auto">
          <a:xfrm flipH="1">
            <a:off x="4284663" y="1052513"/>
            <a:ext cx="1511300" cy="360362"/>
          </a:xfrm>
          <a:prstGeom prst="flowChartMagneticTape">
            <a:avLst/>
          </a:prstGeom>
          <a:solidFill>
            <a:srgbClr val="00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>
            <a:lvl1pPr marL="374650" indent="-3746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en-US" altLang="zh-CN" sz="2400" b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b="0">
                <a:effectLst>
                  <a:outerShdw blurRad="38100" dist="38100" dir="2700000" algn="tl">
                    <a:srgbClr val="000000"/>
                  </a:outerShdw>
                </a:effectLst>
              </a:rPr>
              <a:t>次转换</a:t>
            </a:r>
          </a:p>
        </p:txBody>
      </p:sp>
      <p:sp>
        <p:nvSpPr>
          <p:cNvPr id="202757" name="AutoShape 5"/>
          <p:cNvSpPr>
            <a:spLocks noChangeArrowheads="1"/>
          </p:cNvSpPr>
          <p:nvPr/>
        </p:nvSpPr>
        <p:spPr bwMode="auto">
          <a:xfrm flipH="1">
            <a:off x="2484438" y="1773238"/>
            <a:ext cx="1295400" cy="360362"/>
          </a:xfrm>
          <a:prstGeom prst="flowChartMagneticTape">
            <a:avLst/>
          </a:prstGeom>
          <a:solidFill>
            <a:srgbClr val="00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2075" tIns="46037" rIns="92075" bIns="46037" anchor="ctr"/>
          <a:lstStyle>
            <a:lvl1pPr marL="374650" indent="-3746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en-US" altLang="zh-CN" sz="2400" b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 b="0">
                <a:effectLst>
                  <a:outerShdw blurRad="38100" dist="38100" dir="2700000" algn="tl">
                    <a:srgbClr val="000000"/>
                  </a:outerShdw>
                </a:effectLst>
              </a:rPr>
              <a:t>次转换</a:t>
            </a:r>
            <a:endParaRPr lang="en-US" altLang="zh-CN" sz="2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C8A6E-9DA3-874C-8747-C101192F57B7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2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0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6" grpId="0" animBg="1"/>
      <p:bldP spid="20275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255588" y="198438"/>
            <a:ext cx="868680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 u="sng" dirty="0">
                <a:solidFill>
                  <a:schemeClr val="tx1"/>
                </a:solidFill>
              </a:rPr>
              <a:t>显式类型转换</a:t>
            </a:r>
            <a:endParaRPr kumimoji="1" lang="zh-CN" altLang="en-US" dirty="0">
              <a:solidFill>
                <a:schemeClr val="tx1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</a:rPr>
              <a:t>如果自动转换不符合需要，可要求做特定类型转换，称为</a:t>
            </a:r>
            <a:r>
              <a:rPr kumimoji="1" lang="zh-CN" altLang="en-US" u="sng" dirty="0">
                <a:solidFill>
                  <a:srgbClr val="00B050"/>
                </a:solidFill>
              </a:rPr>
              <a:t>强制转换</a:t>
            </a:r>
            <a:r>
              <a:rPr kumimoji="1" lang="zh-CN" altLang="en-US" dirty="0">
                <a:solidFill>
                  <a:schemeClr val="tx1"/>
                </a:solidFill>
              </a:rPr>
              <a:t>或</a:t>
            </a:r>
            <a:r>
              <a:rPr kumimoji="1" lang="zh-CN" altLang="en-US" u="sng" dirty="0">
                <a:solidFill>
                  <a:srgbClr val="00B050"/>
                </a:solidFill>
              </a:rPr>
              <a:t>类型强制</a:t>
            </a:r>
            <a:endParaRPr kumimoji="1" lang="zh-CN" altLang="en-US" dirty="0">
              <a:solidFill>
                <a:srgbClr val="00B05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u="sng" dirty="0">
                <a:solidFill>
                  <a:schemeClr val="tx1"/>
                </a:solidFill>
              </a:rPr>
              <a:t>写法</a:t>
            </a:r>
            <a:r>
              <a:rPr kumimoji="1" lang="zh-CN" altLang="en-US" dirty="0">
                <a:solidFill>
                  <a:schemeClr val="tx1"/>
                </a:solidFill>
              </a:rPr>
              <a:t>：表达式前写括起的类型名。例：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tx1"/>
                </a:solidFill>
              </a:rPr>
              <a:t>　　　　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(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</a:rPr>
              <a:t>)(3.6 * 15.8) + 4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dirty="0">
                <a:solidFill>
                  <a:schemeClr val="accent2"/>
                </a:solidFill>
              </a:rPr>
              <a:t>实数类型转为整型时丢掉小数部分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47EF3-4E4E-2A45-AED6-8F9019872DA6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类型强转（</a:t>
            </a:r>
            <a:r>
              <a:rPr lang="en-US" altLang="zh-CN"/>
              <a:t>Casting</a:t>
            </a:r>
            <a:r>
              <a:rPr lang="zh-CN" altLang="en-US"/>
              <a:t>） 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4725143"/>
            <a:ext cx="7772400" cy="1299633"/>
          </a:xfrm>
        </p:spPr>
        <p:txBody>
          <a:bodyPr>
            <a:noAutofit/>
          </a:bodyPr>
          <a:lstStyle/>
          <a:p>
            <a:r>
              <a:rPr lang="zh-CN" altLang="en-US" sz="2000" dirty="0">
                <a:ea typeface="宋体" charset="0"/>
              </a:rPr>
              <a:t>强转时，</a:t>
            </a:r>
            <a:r>
              <a:rPr lang="zh-CN" altLang="en-US" sz="2000" b="1" dirty="0">
                <a:solidFill>
                  <a:srgbClr val="00B050"/>
                </a:solidFill>
                <a:ea typeface="宋体" charset="0"/>
              </a:rPr>
              <a:t>你必须知道你在做什么</a:t>
            </a:r>
          </a:p>
          <a:p>
            <a:pPr marL="274320" lvl="1" indent="0">
              <a:buNone/>
            </a:pPr>
            <a:r>
              <a:rPr lang="en-US" altLang="zh-CN" sz="2000" dirty="0">
                <a:ea typeface="宋体" charset="0"/>
              </a:rPr>
              <a:t>   </a:t>
            </a:r>
            <a:r>
              <a:rPr lang="zh-CN" altLang="en-US" sz="2000" dirty="0">
                <a:ea typeface="宋体" charset="0"/>
              </a:rPr>
              <a:t>强转与指针，并称</a:t>
            </a:r>
            <a:r>
              <a:rPr lang="en-US" altLang="zh-CN" sz="2000" dirty="0">
                <a:ea typeface="宋体" charset="0"/>
              </a:rPr>
              <a:t>C</a:t>
            </a:r>
            <a:r>
              <a:rPr lang="zh-CN" altLang="en-US" sz="2000" dirty="0">
                <a:ea typeface="宋体" charset="0"/>
              </a:rPr>
              <a:t>语言两大神器，用好了可以呼风唤雨，用坏了就损兵折将</a:t>
            </a:r>
            <a:endParaRPr lang="en-US" altLang="zh-CN" sz="2000" dirty="0"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8F50-186A-0741-959F-DADCC959B542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669906" y="1912183"/>
            <a:ext cx="7370098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chemeClr val="tx1"/>
                </a:solidFill>
              </a:rPr>
              <a:t>如果自动转换不符合需要，可要求做特定类型转换，称为</a:t>
            </a:r>
            <a:r>
              <a:rPr kumimoji="1" lang="zh-CN" altLang="en-US" sz="2000" u="sng" dirty="0">
                <a:solidFill>
                  <a:srgbClr val="00B050"/>
                </a:solidFill>
              </a:rPr>
              <a:t>强制转换</a:t>
            </a:r>
            <a:r>
              <a:rPr kumimoji="1" lang="zh-CN" altLang="en-US" sz="2000" dirty="0">
                <a:solidFill>
                  <a:schemeClr val="tx1"/>
                </a:solidFill>
              </a:rPr>
              <a:t>或</a:t>
            </a:r>
            <a:r>
              <a:rPr kumimoji="1" lang="zh-CN" altLang="en-US" sz="2000" u="sng" dirty="0">
                <a:solidFill>
                  <a:srgbClr val="00B050"/>
                </a:solidFill>
              </a:rPr>
              <a:t>类型强转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000" dirty="0"/>
              <a:t>可以通过“</a:t>
            </a:r>
            <a:r>
              <a:rPr lang="en-US" altLang="zh-CN" sz="20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类型</a:t>
            </a:r>
            <a:r>
              <a:rPr lang="en-US" altLang="zh-CN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charset="0"/>
              </a:rPr>
              <a:t>)</a:t>
            </a:r>
            <a:r>
              <a:rPr lang="zh-CN" alt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表达式</a:t>
            </a:r>
            <a:r>
              <a:rPr lang="zh-CN" altLang="en-US" sz="2000" dirty="0"/>
              <a:t>”的方式把表达式的值转为任意类型</a:t>
            </a:r>
            <a:endParaRPr kumimoji="1" lang="zh-CN" altLang="en-US" sz="2000" dirty="0">
              <a:solidFill>
                <a:srgbClr val="00B050"/>
              </a:solidFill>
            </a:endParaRP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000" u="sng" dirty="0">
                <a:solidFill>
                  <a:schemeClr val="tx1"/>
                </a:solidFill>
              </a:rPr>
              <a:t>写法</a:t>
            </a:r>
            <a:r>
              <a:rPr kumimoji="1" lang="zh-CN" altLang="en-US" sz="2000" dirty="0">
                <a:solidFill>
                  <a:schemeClr val="tx1"/>
                </a:solidFill>
              </a:rPr>
              <a:t>：表达式前写括起的类型名。例：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chemeClr val="tx1"/>
                </a:solidFill>
              </a:rPr>
              <a:t>　　　　</a:t>
            </a:r>
            <a:r>
              <a:rPr kumimoji="1" lang="en-US" altLang="zh-CN" sz="2000" dirty="0">
                <a:solidFill>
                  <a:schemeClr val="tx1"/>
                </a:solidFill>
                <a:latin typeface="Courier New" charset="0"/>
              </a:rPr>
              <a:t>(</a:t>
            </a:r>
            <a:r>
              <a:rPr kumimoji="1" lang="en-US" altLang="zh-CN" sz="20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kumimoji="1" lang="en-US" altLang="zh-CN" sz="2000" dirty="0">
                <a:solidFill>
                  <a:schemeClr val="tx1"/>
                </a:solidFill>
                <a:latin typeface="Courier New" charset="0"/>
              </a:rPr>
              <a:t>)(3.6 * 15.8) + 4</a:t>
            </a:r>
          </a:p>
          <a:p>
            <a:pPr algn="just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chemeClr val="accent2"/>
                </a:solidFill>
              </a:rPr>
              <a:t>实数类型转为整型时丢掉小数部分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4240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/>
              <a:t>例</a:t>
            </a: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179388" y="1268413"/>
            <a:ext cx="8964612" cy="4076700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en-US" altLang="zh-CN" sz="24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</a:t>
            </a: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buFont typeface="Monotype Sorts" charset="2"/>
              <a:buNone/>
              <a:defRPr/>
            </a:pPr>
            <a:r>
              <a:rPr lang="fr-FR" altLang="zh-CN" sz="2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     </a:t>
            </a:r>
            <a:r>
              <a:rPr lang="fr-FR" altLang="zh-CN" sz="240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m = 5;</a:t>
            </a:r>
          </a:p>
          <a:p>
            <a:pPr>
              <a:buFont typeface="Monotype Sorts" charset="2"/>
              <a:buNone/>
              <a:defRPr/>
            </a:pPr>
            <a:endParaRPr lang="fr-FR" altLang="zh-CN" sz="240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>
              <a:buFont typeface="Monotype Sorts" charset="2"/>
              <a:buNone/>
              <a:defRPr/>
            </a:pP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 </a:t>
            </a:r>
            <a:r>
              <a:rPr lang="fr-FR" altLang="zh-CN" sz="24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("m / 2=%d\n", m/2);</a:t>
            </a:r>
          </a:p>
          <a:p>
            <a:pPr>
              <a:buFont typeface="Monotype Sorts" charset="2"/>
              <a:buNone/>
              <a:defRPr/>
            </a:pP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 </a:t>
            </a:r>
            <a:r>
              <a:rPr lang="fr-FR" altLang="zh-CN" sz="24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("(float)(m/2) = %f\n", (float)(m/2));</a:t>
            </a:r>
          </a:p>
          <a:p>
            <a:pPr>
              <a:buFont typeface="Monotype Sorts" charset="2"/>
              <a:buNone/>
              <a:defRPr/>
            </a:pP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 </a:t>
            </a:r>
            <a:r>
              <a:rPr lang="fr-FR" altLang="zh-CN" sz="24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("(float)m/2 = %f\n", (float)m/2);</a:t>
            </a:r>
          </a:p>
          <a:p>
            <a:pPr>
              <a:buFont typeface="Monotype Sorts" charset="2"/>
              <a:buNone/>
              <a:defRPr/>
            </a:pP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  </a:t>
            </a:r>
            <a:r>
              <a:rPr lang="fr-FR" altLang="zh-CN" sz="2400">
                <a:solidFill>
                  <a:srgbClr val="8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("m = %d\n", m);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fr-FR" altLang="zh-CN" sz="240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zh-CN" altLang="en-US" sz="240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73062" name="Rectangle 6"/>
          <p:cNvSpPr>
            <a:spLocks noChangeArrowheads="1"/>
          </p:cNvSpPr>
          <p:nvPr/>
        </p:nvSpPr>
        <p:spPr bwMode="auto">
          <a:xfrm>
            <a:off x="3059113" y="5040313"/>
            <a:ext cx="5040312" cy="17018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7" rIns="92075" bIns="46037" anchor="ctr">
            <a:spAutoFit/>
          </a:bodyPr>
          <a:lstStyle>
            <a:lvl1pPr indent="457200">
              <a:tabLst>
                <a:tab pos="342900" algn="l"/>
                <a:tab pos="457200" algn="l"/>
                <a:tab pos="692150" algn="l"/>
              </a:tabLst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tabLst>
                <a:tab pos="342900" algn="l"/>
                <a:tab pos="457200" algn="l"/>
                <a:tab pos="692150" algn="l"/>
              </a:tabLst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tabLst>
                <a:tab pos="342900" algn="l"/>
                <a:tab pos="457200" algn="l"/>
                <a:tab pos="692150" algn="l"/>
              </a:tabLst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tabLst>
                <a:tab pos="342900" algn="l"/>
                <a:tab pos="457200" algn="l"/>
                <a:tab pos="692150" algn="l"/>
              </a:tabLst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tabLst>
                <a:tab pos="342900" algn="l"/>
                <a:tab pos="457200" algn="l"/>
                <a:tab pos="692150" algn="l"/>
              </a:tabLst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tabLst>
                <a:tab pos="342900" algn="l"/>
                <a:tab pos="457200" algn="l"/>
                <a:tab pos="692150" algn="l"/>
              </a:tabLst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tabLst>
                <a:tab pos="342900" algn="l"/>
                <a:tab pos="457200" algn="l"/>
                <a:tab pos="692150" algn="l"/>
              </a:tabLst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tabLst>
                <a:tab pos="342900" algn="l"/>
                <a:tab pos="457200" algn="l"/>
                <a:tab pos="692150" algn="l"/>
              </a:tabLst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tabLst>
                <a:tab pos="342900" algn="l"/>
                <a:tab pos="457200" algn="l"/>
                <a:tab pos="692150" algn="l"/>
              </a:tabLst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urier New" charset="0"/>
              </a:rPr>
              <a:t>m/2 = 2</a:t>
            </a:r>
          </a:p>
          <a:p>
            <a:pPr>
              <a:buFont typeface="Monotype Sorts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urier New" charset="0"/>
              </a:rPr>
              <a:t>(float)(m/2) = 2.000000</a:t>
            </a:r>
          </a:p>
          <a:p>
            <a:pPr>
              <a:buFont typeface="Monotype Sorts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urier New" charset="0"/>
              </a:rPr>
              <a:t>(float)m/2 = 2.500000</a:t>
            </a:r>
          </a:p>
          <a:p>
            <a:pPr>
              <a:buFont typeface="Monotype Sorts" charset="2"/>
              <a:buNone/>
            </a:pPr>
            <a:r>
              <a:rPr lang="en-US" altLang="zh-CN" sz="2400" dirty="0">
                <a:solidFill>
                  <a:schemeClr val="bg1"/>
                </a:solidFill>
                <a:latin typeface="Courier New" charset="0"/>
              </a:rPr>
              <a:t>m = 5</a:t>
            </a:r>
          </a:p>
        </p:txBody>
      </p:sp>
      <p:sp>
        <p:nvSpPr>
          <p:cNvPr id="173063" name="AutoShape 7"/>
          <p:cNvSpPr>
            <a:spLocks noChangeArrowheads="1"/>
          </p:cNvSpPr>
          <p:nvPr/>
        </p:nvSpPr>
        <p:spPr bwMode="auto">
          <a:xfrm>
            <a:off x="4932363" y="1196975"/>
            <a:ext cx="4211637" cy="1368425"/>
          </a:xfrm>
          <a:prstGeom prst="cloudCallout">
            <a:avLst>
              <a:gd name="adj1" fmla="val -44986"/>
              <a:gd name="adj2" fmla="val 98144"/>
            </a:avLst>
          </a:prstGeom>
          <a:solidFill>
            <a:srgbClr val="FFCC99"/>
          </a:solidFill>
          <a:ln w="9525">
            <a:solidFill>
              <a:srgbClr val="000080"/>
            </a:solidFill>
            <a:round/>
            <a:headEnd/>
            <a:tailEnd/>
          </a:ln>
          <a:effectLst/>
        </p:spPr>
        <p:txBody>
          <a:bodyPr lIns="92075" tIns="46037" rIns="92075" bIns="46037"/>
          <a:lstStyle>
            <a:lvl1pPr marL="374650" indent="-3746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ctr">
              <a:buFont typeface="Monotype Sorts" charset="2"/>
              <a:buNone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两个整数运算的结果</a:t>
            </a:r>
          </a:p>
          <a:p>
            <a:pPr algn="ctr">
              <a:buFont typeface="Monotype Sorts" charset="2"/>
              <a:buNone/>
            </a:pPr>
            <a:r>
              <a:rPr lang="zh-CN" altLang="en-US" sz="2000">
                <a:effectLst>
                  <a:outerShdw blurRad="38100" dist="38100" dir="2700000" algn="tl">
                    <a:srgbClr val="000000"/>
                  </a:outerShdw>
                </a:effectLst>
              </a:rPr>
              <a:t>还是整数，不是浮点数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3ABC-B5C1-9A43-9A2C-DE0D3106806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2" grpId="0" animBg="1"/>
      <p:bldP spid="17306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269875" y="284163"/>
            <a:ext cx="8559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3200" u="sng">
                <a:solidFill>
                  <a:schemeClr val="tx1"/>
                </a:solidFill>
              </a:rPr>
              <a:t>与类型转换有关的问题</a:t>
            </a:r>
            <a:r>
              <a:rPr kumimoji="1" lang="zh-CN" altLang="en-US" sz="320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204803" name="Text Box 3"/>
          <p:cNvSpPr txBox="1">
            <a:spLocks noChangeArrowheads="1"/>
          </p:cNvSpPr>
          <p:nvPr/>
        </p:nvSpPr>
        <p:spPr bwMode="auto">
          <a:xfrm>
            <a:off x="212725" y="1143000"/>
            <a:ext cx="8702675" cy="436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90513" indent="-290513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CC66"/>
              </a:buClr>
              <a:buSzPct val="80000"/>
              <a:buFont typeface="Monotype Sorts" charset="2"/>
              <a:buChar char=""/>
              <a:defRPr sz="2800" b="1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chemeClr val="tx1"/>
                </a:solidFill>
              </a:rPr>
              <a:t>类型转换可能丢失信息</a:t>
            </a:r>
            <a:endParaRPr kumimoji="1" lang="zh-CN" altLang="en-US" sz="2400" dirty="0">
              <a:solidFill>
                <a:schemeClr val="tx1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chemeClr val="tx1"/>
                </a:solidFill>
              </a:rPr>
              <a:t>若被转换值在结果类型里无法表示，结果无法预计。写强制转换时必须注意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chemeClr val="tx1"/>
                </a:solidFill>
              </a:rPr>
              <a:t>显式类型转换看作一元运算符，与其他一元运算符有同样优先级和结合方式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chemeClr val="tx1"/>
                </a:solidFill>
              </a:rPr>
              <a:t>类型转换是值转换，从一个数据值出发，</a:t>
            </a:r>
            <a:r>
              <a:rPr kumimoji="1" lang="zh-CN" altLang="en-US" dirty="0">
                <a:solidFill>
                  <a:srgbClr val="00B050"/>
                </a:solidFill>
              </a:rPr>
              <a:t>产生另一类型的新值</a:t>
            </a:r>
            <a:r>
              <a:rPr kumimoji="1" lang="zh-CN" altLang="en-US" dirty="0">
                <a:solidFill>
                  <a:schemeClr val="tx1"/>
                </a:solidFill>
              </a:rPr>
              <a:t>，</a:t>
            </a:r>
            <a:r>
              <a:rPr kumimoji="1" lang="zh-CN" altLang="en-US" dirty="0">
                <a:solidFill>
                  <a:srgbClr val="00B050"/>
                </a:solidFill>
              </a:rPr>
              <a:t>原值不变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chemeClr val="tx1"/>
                </a:solidFill>
              </a:rPr>
              <a:t>数值类型间都可以转换。其他转换后面讨论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4AB8-641A-754A-82BB-B194BDEEFBEC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5" descr="ascii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355725"/>
            <a:ext cx="7489825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782193"/>
          </a:xfrm>
        </p:spPr>
        <p:txBody>
          <a:bodyPr/>
          <a:lstStyle/>
          <a:p>
            <a:pPr>
              <a:defRPr/>
            </a:pPr>
            <a:r>
              <a:rPr lang="en-US" altLang="zh-CN"/>
              <a:t>ASCII</a:t>
            </a:r>
            <a:r>
              <a:rPr lang="zh-CN" altLang="en-US"/>
              <a:t>字符表</a:t>
            </a:r>
            <a:r>
              <a:rPr lang="en-US" altLang="zh-CN"/>
              <a:t>1</a:t>
            </a:r>
          </a:p>
        </p:txBody>
      </p:sp>
      <p:pic>
        <p:nvPicPr>
          <p:cNvPr id="10035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1355725"/>
            <a:ext cx="769938" cy="17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0035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1355725"/>
            <a:ext cx="2630488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00362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88" y="3962400"/>
            <a:ext cx="3181350" cy="235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00361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962400"/>
            <a:ext cx="2511425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0036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988" y="1355725"/>
            <a:ext cx="3851275" cy="251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594AC-35BB-304C-9B7A-10B73C88E600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3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100358"/>
                                        </p:tgtEl>
                                      </p:cBhvr>
                                      <p:by x="180000" y="18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7.51445E-7 L 0.28108 0.1921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45" y="95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8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00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 nodeType="clickPar">
                      <p:stCondLst>
                        <p:cond delay="0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000" fill="hold"/>
                                        <p:tgtEl>
                                          <p:spTgt spid="100359"/>
                                        </p:tgtEl>
                                      </p:cBhvr>
                                      <p:by x="180000" y="1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00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" dur="2000" fill="hold"/>
                                        <p:tgtEl>
                                          <p:spTgt spid="100360"/>
                                        </p:tgtEl>
                                      </p:cBhvr>
                                      <p:by x="180000" y="18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7.51445E-7 L -0.18385 0.19214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01" y="95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0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00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 nodeType="clickPar">
                      <p:stCondLst>
                        <p:cond delay="0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2" dur="1000" fill="hold"/>
                                        <p:tgtEl>
                                          <p:spTgt spid="100361"/>
                                        </p:tgtEl>
                                      </p:cBhvr>
                                      <p:by x="180000" y="18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12139E-6 L 0.28802 -0.17503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92" y="-87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00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00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8" dur="1000" fill="hold"/>
                                        <p:tgtEl>
                                          <p:spTgt spid="100362"/>
                                        </p:tgtEl>
                                      </p:cBhvr>
                                      <p:by x="180000" y="18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1.90751E-6 L -0.01024 -0.1752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1" y="-87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2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830</TotalTime>
  <Words>6592</Words>
  <Application>Microsoft Macintosh PowerPoint</Application>
  <PresentationFormat>全屏显示(4:3)</PresentationFormat>
  <Paragraphs>1015</Paragraphs>
  <Slides>67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85" baseType="lpstr">
      <vt:lpstr>黑体</vt:lpstr>
      <vt:lpstr>隶书</vt:lpstr>
      <vt:lpstr>宋体</vt:lpstr>
      <vt:lpstr>Arial</vt:lpstr>
      <vt:lpstr>Calibri</vt:lpstr>
      <vt:lpstr>Candara</vt:lpstr>
      <vt:lpstr>Courier New</vt:lpstr>
      <vt:lpstr>Impact</vt:lpstr>
      <vt:lpstr>Monotype Sorts</vt:lpstr>
      <vt:lpstr>Rockwell</vt:lpstr>
      <vt:lpstr>Rockwell Condensed</vt:lpstr>
      <vt:lpstr>Rockwell Extra Bold</vt:lpstr>
      <vt:lpstr>Symbol</vt:lpstr>
      <vt:lpstr>Times</vt:lpstr>
      <vt:lpstr>Times New Roman</vt:lpstr>
      <vt:lpstr>Wingdings</vt:lpstr>
      <vt:lpstr>木活字</vt:lpstr>
      <vt:lpstr>图片</vt:lpstr>
      <vt:lpstr>PowerPoint 演示文稿</vt:lpstr>
      <vt:lpstr>内容提要</vt:lpstr>
      <vt:lpstr>例2.1：一个简单的C程序例子 </vt:lpstr>
      <vt:lpstr>C程序常见符号分类 </vt:lpstr>
      <vt:lpstr>2.1 标识符命名 </vt:lpstr>
      <vt:lpstr>PowerPoint 演示文稿</vt:lpstr>
      <vt:lpstr>PowerPoint 演示文稿</vt:lpstr>
      <vt:lpstr>2.2 数据类型（Data Type）</vt:lpstr>
      <vt:lpstr>数据类型（Data Type）</vt:lpstr>
      <vt:lpstr>b, B, KB, MB, GB, TB</vt:lpstr>
      <vt:lpstr>b, B, KB, MB, GB, TB</vt:lpstr>
      <vt:lpstr>基本数据类型</vt:lpstr>
      <vt:lpstr>数据类型修饰符</vt:lpstr>
      <vt:lpstr>PowerPoint 演示文稿</vt:lpstr>
      <vt:lpstr>何谓类型溢出（Overflow）？</vt:lpstr>
      <vt:lpstr>PowerPoint 演示文稿</vt:lpstr>
      <vt:lpstr>类型溢出的解决方案？</vt:lpstr>
      <vt:lpstr>2.3 常量与变量</vt:lpstr>
      <vt:lpstr>PowerPoint 演示文稿</vt:lpstr>
      <vt:lpstr>PowerPoint 演示文稿</vt:lpstr>
      <vt:lpstr>字符（Character）常数</vt:lpstr>
      <vt:lpstr>字符常数</vt:lpstr>
      <vt:lpstr>字符串（String）常数</vt:lpstr>
      <vt:lpstr>宏常量</vt:lpstr>
      <vt:lpstr>例2.2 ：计算圆的周长和面积 </vt:lpstr>
      <vt:lpstr>枚举（Enumeration）常量</vt:lpstr>
      <vt:lpstr>为什么需要常量？</vt:lpstr>
      <vt:lpstr>变量</vt:lpstr>
      <vt:lpstr>变量声明</vt:lpstr>
      <vt:lpstr>PowerPoint 演示文稿</vt:lpstr>
      <vt:lpstr>例2.2 ：计算圆的周长和面积 </vt:lpstr>
      <vt:lpstr>sizeof到底是什么？</vt:lpstr>
      <vt:lpstr>为什么要用sizeof获得类型或变量的字长？</vt:lpstr>
      <vt:lpstr>2.4 常用运算符和表达式</vt:lpstr>
      <vt:lpstr>PowerPoint 演示文稿</vt:lpstr>
      <vt:lpstr>PowerPoint 演示文稿</vt:lpstr>
      <vt:lpstr>PowerPoint 演示文稿</vt:lpstr>
      <vt:lpstr>算术运算符</vt:lpstr>
      <vt:lpstr>PowerPoint 演示文稿</vt:lpstr>
      <vt:lpstr>PowerPoint 演示文稿</vt:lpstr>
      <vt:lpstr>PowerPoint 演示文稿</vt:lpstr>
      <vt:lpstr>增一和减一运算符</vt:lpstr>
      <vt:lpstr>增一和减一运算符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优先级与结合性</vt:lpstr>
      <vt:lpstr>这一章我们学到了</vt:lpstr>
      <vt:lpstr>PowerPoint 演示文稿</vt:lpstr>
      <vt:lpstr>谢谢</vt:lpstr>
      <vt:lpstr>类型转换</vt:lpstr>
      <vt:lpstr>安全性</vt:lpstr>
      <vt:lpstr>PowerPoint 演示文稿</vt:lpstr>
      <vt:lpstr>PowerPoint 演示文稿</vt:lpstr>
      <vt:lpstr>PowerPoint 演示文稿</vt:lpstr>
      <vt:lpstr>PowerPoint 演示文稿</vt:lpstr>
      <vt:lpstr>类型强转（Casting） </vt:lpstr>
      <vt:lpstr>例</vt:lpstr>
      <vt:lpstr>PowerPoint 演示文稿</vt:lpstr>
      <vt:lpstr>ASCII字符表1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LPLS82</cp:lastModifiedBy>
  <cp:revision>302</cp:revision>
  <dcterms:created xsi:type="dcterms:W3CDTF">2016-09-19T16:50:16Z</dcterms:created>
  <dcterms:modified xsi:type="dcterms:W3CDTF">2022-09-10T11:07:52Z</dcterms:modified>
</cp:coreProperties>
</file>

<file path=[Content_Types].xml><?xml version="1.0" encoding="utf-8"?>
<Types xmlns="http://schemas.openxmlformats.org/package/2006/content-types">
  <Default Extension="bin" ContentType="audio/unknown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3" r:id="rId1"/>
  </p:sldMasterIdLst>
  <p:notesMasterIdLst>
    <p:notesMasterId r:id="rId60"/>
  </p:notesMasterIdLst>
  <p:handoutMasterIdLst>
    <p:handoutMasterId r:id="rId61"/>
  </p:handoutMasterIdLst>
  <p:sldIdLst>
    <p:sldId id="451" r:id="rId2"/>
    <p:sldId id="377" r:id="rId3"/>
    <p:sldId id="425" r:id="rId4"/>
    <p:sldId id="426" r:id="rId5"/>
    <p:sldId id="427" r:id="rId6"/>
    <p:sldId id="384" r:id="rId7"/>
    <p:sldId id="385" r:id="rId8"/>
    <p:sldId id="428" r:id="rId9"/>
    <p:sldId id="389" r:id="rId10"/>
    <p:sldId id="429" r:id="rId11"/>
    <p:sldId id="448" r:id="rId12"/>
    <p:sldId id="452" r:id="rId13"/>
    <p:sldId id="449" r:id="rId14"/>
    <p:sldId id="395" r:id="rId15"/>
    <p:sldId id="396" r:id="rId16"/>
    <p:sldId id="453" r:id="rId17"/>
    <p:sldId id="454" r:id="rId18"/>
    <p:sldId id="455" r:id="rId19"/>
    <p:sldId id="456" r:id="rId20"/>
    <p:sldId id="457" r:id="rId21"/>
    <p:sldId id="458" r:id="rId22"/>
    <p:sldId id="459" r:id="rId23"/>
    <p:sldId id="460" r:id="rId24"/>
    <p:sldId id="461" r:id="rId25"/>
    <p:sldId id="462" r:id="rId26"/>
    <p:sldId id="463" r:id="rId27"/>
    <p:sldId id="465" r:id="rId28"/>
    <p:sldId id="467" r:id="rId29"/>
    <p:sldId id="430" r:id="rId30"/>
    <p:sldId id="469" r:id="rId31"/>
    <p:sldId id="431" r:id="rId32"/>
    <p:sldId id="401" r:id="rId33"/>
    <p:sldId id="402" r:id="rId34"/>
    <p:sldId id="450" r:id="rId35"/>
    <p:sldId id="437" r:id="rId36"/>
    <p:sldId id="439" r:id="rId37"/>
    <p:sldId id="440" r:id="rId38"/>
    <p:sldId id="441" r:id="rId39"/>
    <p:sldId id="438" r:id="rId40"/>
    <p:sldId id="403" r:id="rId41"/>
    <p:sldId id="408" r:id="rId42"/>
    <p:sldId id="409" r:id="rId43"/>
    <p:sldId id="410" r:id="rId44"/>
    <p:sldId id="411" r:id="rId45"/>
    <p:sldId id="412" r:id="rId46"/>
    <p:sldId id="413" r:id="rId47"/>
    <p:sldId id="414" r:id="rId48"/>
    <p:sldId id="415" r:id="rId49"/>
    <p:sldId id="416" r:id="rId50"/>
    <p:sldId id="442" r:id="rId51"/>
    <p:sldId id="443" r:id="rId52"/>
    <p:sldId id="444" r:id="rId53"/>
    <p:sldId id="445" r:id="rId54"/>
    <p:sldId id="446" r:id="rId55"/>
    <p:sldId id="421" r:id="rId56"/>
    <p:sldId id="434" r:id="rId57"/>
    <p:sldId id="435" r:id="rId58"/>
    <p:sldId id="468" r:id="rId59"/>
  </p:sldIdLst>
  <p:sldSz cx="9144000" cy="6858000" type="screen4x3"/>
  <p:notesSz cx="6670675" cy="99298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880000"/>
    <a:srgbClr val="996600"/>
    <a:srgbClr val="FF9900"/>
    <a:srgbClr val="669900"/>
    <a:srgbClr val="FF99FF"/>
    <a:srgbClr val="3366FF"/>
    <a:srgbClr val="33A7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98" autoAdjust="0"/>
    <p:restoredTop sz="96654" autoAdjust="0"/>
  </p:normalViewPr>
  <p:slideViewPr>
    <p:cSldViewPr>
      <p:cViewPr varScale="1">
        <p:scale>
          <a:sx n="142" d="100"/>
          <a:sy n="142" d="100"/>
        </p:scale>
        <p:origin x="1320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825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89083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8250" y="9431338"/>
            <a:ext cx="2890838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</a:defRPr>
            </a:lvl1pPr>
          </a:lstStyle>
          <a:p>
            <a:fld id="{D7B94B42-861E-AA41-AC16-D94BD92C659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697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0597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52488" y="744538"/>
            <a:ext cx="4965700" cy="3724275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68338" y="4716463"/>
            <a:ext cx="5335587" cy="44688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939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01725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66750" y="4778375"/>
            <a:ext cx="5337175" cy="3910013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391665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01725" y="1241425"/>
            <a:ext cx="4467225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66750" y="4778375"/>
            <a:ext cx="5337175" cy="3910013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76516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854075" y="746125"/>
            <a:ext cx="4962525" cy="37226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73731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66750" y="4716463"/>
            <a:ext cx="5337175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87563" tIns="43781" rIns="87563" bIns="43781"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7120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854075" y="746125"/>
            <a:ext cx="4962525" cy="37226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76803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66750" y="4716463"/>
            <a:ext cx="5337175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87563" tIns="43781" rIns="87563" bIns="43781"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137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854075" y="746125"/>
            <a:ext cx="4962525" cy="37226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7782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66750" y="4716463"/>
            <a:ext cx="5337175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87563" tIns="43781" rIns="87563" bIns="43781"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244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854075" y="746125"/>
            <a:ext cx="4962525" cy="37226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78851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66750" y="4716463"/>
            <a:ext cx="5337175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87563" tIns="43781" rIns="87563" bIns="43781"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1310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854075" y="746125"/>
            <a:ext cx="4962525" cy="37226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79875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66750" y="4716463"/>
            <a:ext cx="5337175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87563" tIns="43781" rIns="87563" bIns="43781"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2877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854075" y="746125"/>
            <a:ext cx="4962525" cy="37226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089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66750" y="4716463"/>
            <a:ext cx="5337175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87563" tIns="43781" rIns="87563" bIns="43781"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16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854075" y="746125"/>
            <a:ext cx="4962525" cy="37226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1923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66750" y="4716463"/>
            <a:ext cx="5337175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87563" tIns="43781" rIns="87563" bIns="43781"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4551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854075" y="746125"/>
            <a:ext cx="4962525" cy="37226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294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66750" y="4716463"/>
            <a:ext cx="5337175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87563" tIns="43781" rIns="87563" bIns="43781"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8670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854075" y="746125"/>
            <a:ext cx="4962525" cy="37226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3971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66750" y="4716463"/>
            <a:ext cx="5337175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87563" tIns="43781" rIns="87563" bIns="43781"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2613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854075" y="746125"/>
            <a:ext cx="4962525" cy="37226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4995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66750" y="4716463"/>
            <a:ext cx="5337175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87563" tIns="43781" rIns="87563" bIns="43781"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1338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854075" y="746125"/>
            <a:ext cx="4962525" cy="37226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601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66750" y="4716463"/>
            <a:ext cx="5337175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87563" tIns="43781" rIns="87563" bIns="43781"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5894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854075" y="746125"/>
            <a:ext cx="4962525" cy="37226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7043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66750" y="4716463"/>
            <a:ext cx="5337175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87563" tIns="43781" rIns="87563" bIns="43781"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6136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854075" y="746125"/>
            <a:ext cx="4962525" cy="37226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89091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66750" y="4716463"/>
            <a:ext cx="5337175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87563" tIns="43781" rIns="87563" bIns="43781"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35884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854075" y="746125"/>
            <a:ext cx="4962525" cy="37226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113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66750" y="4716463"/>
            <a:ext cx="5337175" cy="44672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lIns="87563" tIns="43781" rIns="87563" bIns="43781"/>
          <a:lstStyle/>
          <a:p>
            <a:endParaRPr lang="zh-CN" altLang="en-US">
              <a:latin typeface="Times New Roman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58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4070D5-6950-7445-8965-DB186BD57498}" type="datetime1">
              <a:rPr lang="zh-CN" altLang="en-US" smtClean="0"/>
              <a:t>2022/9/10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09BC9CEC-CD12-0D45-B2CA-BA2A1C48E20C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528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E55A0-F3F0-3C4B-8830-CC7175E1CFBD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0483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C87DDEA-876A-6B4F-BBE4-C5C4B28B7559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6192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55D50-FC11-E64A-9611-27850D73F2B9}" type="datetime1">
              <a:rPr lang="zh-CN" altLang="en-US" smtClean="0"/>
              <a:t>2022/9/10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4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50E33-BC27-3A47-95AD-7BC3450EB41B}" type="datetime1">
              <a:rPr lang="zh-CN" altLang="en-US" smtClean="0"/>
              <a:t>2022/9/10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28078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9F2AA64-7FB5-ED4B-A782-BD619E4BF73C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936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D0F314-2E9E-5E46-888F-D23E3C03FFB7}" type="datetime1">
              <a:rPr lang="zh-CN" altLang="en-US" smtClean="0"/>
              <a:t>2022/9/10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423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3F06E-3FFF-E84D-B6D3-C523918047B5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9894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DCB4B9-01F2-B243-A719-1C3F674AAA41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68330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3996D-DBF7-664B-B734-A22C656D02F8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259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377EB-AF19-1649-8FDD-7EC49224B5F9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1543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11CB2E3-0BAA-9B49-AE44-B5297C2F5310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071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leizhang@cuc.edu.c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4" name="WordArt 6"/>
          <p:cNvSpPr>
            <a:spLocks noChangeArrowheads="1" noChangeShapeType="1" noTextEdit="1"/>
          </p:cNvSpPr>
          <p:nvPr/>
        </p:nvSpPr>
        <p:spPr bwMode="auto">
          <a:xfrm>
            <a:off x="827584" y="1855789"/>
            <a:ext cx="7561262" cy="12239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zh-CN" altLang="en-US" sz="4400" cap="all" dirty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</a:rPr>
              <a:t>第</a:t>
            </a:r>
            <a:r>
              <a:rPr lang="en-US" altLang="zh-CN" sz="4400" cap="all" dirty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</a:rPr>
              <a:t>3</a:t>
            </a:r>
            <a:r>
              <a:rPr lang="zh-CN" altLang="en-US" sz="4400" cap="all" dirty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</a:rPr>
              <a:t>章 格式化输入输出</a:t>
            </a:r>
          </a:p>
        </p:txBody>
      </p:sp>
      <p:sp>
        <p:nvSpPr>
          <p:cNvPr id="2" name="矩形 1"/>
          <p:cNvSpPr/>
          <p:nvPr/>
        </p:nvSpPr>
        <p:spPr>
          <a:xfrm>
            <a:off x="1763688" y="3356992"/>
            <a:ext cx="61206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zh-CN" altLang="en-US" sz="4000" cap="all" dirty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</a:rPr>
              <a:t>程序设计与编程方法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2421037" y="4797152"/>
            <a:ext cx="4374356" cy="2185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隶书" charset="0"/>
                <a:ea typeface="隶书" charset="0"/>
              </a:rPr>
              <a:t>张雷</a:t>
            </a:r>
            <a:br>
              <a:rPr lang="zh-CN" altLang="en-US" sz="2000" b="1" dirty="0">
                <a:solidFill>
                  <a:srgbClr val="000000"/>
                </a:solidFill>
                <a:latin typeface="隶书" charset="0"/>
                <a:ea typeface="隶书" charset="0"/>
              </a:rPr>
            </a:br>
            <a:r>
              <a:rPr lang="en-US" altLang="zh-CN" sz="2000" b="1" dirty="0">
                <a:latin typeface="Times New Roman" charset="0"/>
                <a:ea typeface="隶书" charset="0"/>
                <a:hlinkClick r:id="rId4"/>
              </a:rPr>
              <a:t>leizhang</a:t>
            </a:r>
            <a:r>
              <a:rPr lang="en-US" altLang="zh-CN" sz="2000" b="1" dirty="0">
                <a:latin typeface="Times New Roman" charset="0"/>
                <a:hlinkClick r:id="rId4"/>
              </a:rPr>
              <a:t>@cuc.edu.cn</a:t>
            </a:r>
            <a:endParaRPr lang="zh-CN" altLang="en-US" sz="2000" b="1" dirty="0">
              <a:latin typeface="Times New Roman" charset="0"/>
            </a:endParaRPr>
          </a:p>
          <a:p>
            <a:pPr algn="ctr" eaLnBrk="0" hangingPunct="0">
              <a:spcBef>
                <a:spcPct val="50000"/>
              </a:spcBef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Times New Roman" charset="0"/>
              </a:rPr>
              <a:t>中国传媒大学</a:t>
            </a:r>
          </a:p>
          <a:p>
            <a:pPr algn="ctr">
              <a:spcBef>
                <a:spcPct val="50000"/>
              </a:spcBef>
            </a:pPr>
            <a:r>
              <a:rPr lang="zh-CN" altLang="en-US" sz="2000" b="1" dirty="0">
                <a:latin typeface="Times New Roman" charset="0"/>
              </a:rPr>
              <a:t>计算机与网络空间安全学院</a:t>
            </a:r>
          </a:p>
          <a:p>
            <a:pPr algn="ctr" eaLnBrk="0" hangingPunct="0">
              <a:spcBef>
                <a:spcPct val="50000"/>
              </a:spcBef>
            </a:pPr>
            <a:endParaRPr lang="en-US" altLang="zh-CN" sz="2400" b="1" dirty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91513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28818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sz="4800" dirty="0"/>
              <a:t>内容提要</a:t>
            </a:r>
          </a:p>
        </p:txBody>
      </p:sp>
      <p:sp>
        <p:nvSpPr>
          <p:cNvPr id="22937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988840"/>
            <a:ext cx="8278812" cy="4107160"/>
          </a:xfrm>
        </p:spPr>
        <p:txBody>
          <a:bodyPr>
            <a:normAutofit/>
          </a:bodyPr>
          <a:lstStyle/>
          <a:p>
            <a:pPr marL="533400" indent="-533400"/>
            <a:r>
              <a:rPr lang="zh-CN" altLang="en-US" sz="2800" dirty="0">
                <a:ea typeface="宋体" charset="0"/>
              </a:rPr>
              <a:t>字符输入输出函数</a:t>
            </a:r>
          </a:p>
          <a:p>
            <a:pPr marL="533400" indent="-533400"/>
            <a:r>
              <a:rPr lang="zh-CN" altLang="en-US" sz="2800" dirty="0">
                <a:ea typeface="宋体" charset="0"/>
              </a:rPr>
              <a:t>格式输入输出函数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B9262-95C5-8340-80BA-C73AA45B2A8B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1000152"/>
          </a:xfrm>
        </p:spPr>
        <p:txBody>
          <a:bodyPr/>
          <a:lstStyle/>
          <a:p>
            <a:r>
              <a:rPr kumimoji="1" lang="en-US" altLang="zh-CN" dirty="0">
                <a:solidFill>
                  <a:schemeClr val="accent2"/>
                </a:solidFill>
              </a:rPr>
              <a:t>C</a:t>
            </a:r>
            <a:r>
              <a:rPr kumimoji="1" lang="zh-CN" altLang="en-US" dirty="0">
                <a:solidFill>
                  <a:schemeClr val="accent2"/>
                </a:solidFill>
              </a:rPr>
              <a:t>语言中的语句</a:t>
            </a:r>
          </a:p>
        </p:txBody>
      </p:sp>
      <p:sp>
        <p:nvSpPr>
          <p:cNvPr id="3112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84784"/>
            <a:ext cx="8229600" cy="4530725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accent2"/>
                </a:solidFill>
                <a:ea typeface="宋体" charset="0"/>
              </a:rPr>
              <a:t>变量声明语句</a:t>
            </a:r>
          </a:p>
          <a:p>
            <a:pPr marL="274320" lvl="1" indent="0">
              <a:buNone/>
            </a:pPr>
            <a:r>
              <a:rPr kumimoji="1" lang="zh-CN" altLang="en-US" dirty="0">
                <a:solidFill>
                  <a:schemeClr val="hlink"/>
                </a:solidFill>
                <a:latin typeface="Courier New" charset="0"/>
                <a:ea typeface="宋体" charset="0"/>
              </a:rPr>
              <a:t>  </a:t>
            </a:r>
            <a:r>
              <a:rPr kumimoji="1" lang="en-US" altLang="zh-CN" dirty="0" err="1">
                <a:solidFill>
                  <a:schemeClr val="hlink"/>
                </a:solidFill>
                <a:latin typeface="Courier New" charset="0"/>
                <a:ea typeface="宋体" charset="0"/>
              </a:rPr>
              <a:t>int</a:t>
            </a:r>
            <a:r>
              <a:rPr kumimoji="1" lang="en-US" altLang="zh-CN" dirty="0">
                <a:solidFill>
                  <a:schemeClr val="hlink"/>
                </a:solidFill>
                <a:latin typeface="Courier New" charset="0"/>
                <a:ea typeface="宋体" charset="0"/>
              </a:rPr>
              <a:t> x, y;</a:t>
            </a:r>
          </a:p>
          <a:p>
            <a:r>
              <a:rPr kumimoji="1" lang="zh-CN" altLang="en-US" dirty="0">
                <a:solidFill>
                  <a:schemeClr val="accent2"/>
                </a:solidFill>
                <a:ea typeface="宋体" charset="0"/>
              </a:rPr>
              <a:t>表达式语句</a:t>
            </a:r>
          </a:p>
          <a:p>
            <a:pPr marL="274320" lvl="1" indent="0">
              <a:buNone/>
            </a:pPr>
            <a:r>
              <a:rPr kumimoji="1" lang="zh-CN" altLang="en-US" dirty="0">
                <a:solidFill>
                  <a:schemeClr val="hlink"/>
                </a:solidFill>
                <a:latin typeface="Courier New" charset="0"/>
                <a:ea typeface="宋体" charset="0"/>
              </a:rPr>
              <a:t>  </a:t>
            </a:r>
            <a:r>
              <a:rPr kumimoji="1" lang="en-US" altLang="zh-CN" dirty="0" err="1">
                <a:solidFill>
                  <a:schemeClr val="hlink"/>
                </a:solidFill>
                <a:latin typeface="Courier New" charset="0"/>
                <a:ea typeface="宋体" charset="0"/>
              </a:rPr>
              <a:t>i</a:t>
            </a:r>
            <a:r>
              <a:rPr kumimoji="1" lang="en-US" altLang="zh-CN" dirty="0">
                <a:solidFill>
                  <a:schemeClr val="hlink"/>
                </a:solidFill>
                <a:latin typeface="Courier New" charset="0"/>
                <a:ea typeface="宋体" charset="0"/>
              </a:rPr>
              <a:t>++;</a:t>
            </a:r>
          </a:p>
          <a:p>
            <a:pPr marL="274320" lvl="1" indent="0">
              <a:buNone/>
            </a:pPr>
            <a:r>
              <a:rPr kumimoji="1" lang="zh-CN" altLang="en-US" dirty="0">
                <a:solidFill>
                  <a:schemeClr val="hlink"/>
                </a:solidFill>
                <a:latin typeface="Courier New" charset="0"/>
                <a:ea typeface="宋体" charset="0"/>
              </a:rPr>
              <a:t>  </a:t>
            </a:r>
            <a:r>
              <a:rPr kumimoji="1" lang="en-US" altLang="zh-CN" dirty="0" err="1">
                <a:solidFill>
                  <a:schemeClr val="hlink"/>
                </a:solidFill>
                <a:latin typeface="Courier New" charset="0"/>
                <a:ea typeface="宋体" charset="0"/>
              </a:rPr>
              <a:t>i</a:t>
            </a:r>
            <a:r>
              <a:rPr kumimoji="1" lang="en-US" altLang="zh-CN" dirty="0">
                <a:solidFill>
                  <a:schemeClr val="hlink"/>
                </a:solidFill>
                <a:latin typeface="Courier New" charset="0"/>
                <a:ea typeface="宋体" charset="0"/>
              </a:rPr>
              <a:t> = </a:t>
            </a:r>
            <a:r>
              <a:rPr kumimoji="1" lang="en-US" altLang="zh-CN" dirty="0" err="1">
                <a:solidFill>
                  <a:schemeClr val="hlink"/>
                </a:solidFill>
                <a:latin typeface="Courier New" charset="0"/>
                <a:ea typeface="宋体" charset="0"/>
              </a:rPr>
              <a:t>i</a:t>
            </a:r>
            <a:r>
              <a:rPr kumimoji="1" lang="en-US" altLang="zh-CN" dirty="0">
                <a:solidFill>
                  <a:schemeClr val="hlink"/>
                </a:solidFill>
                <a:latin typeface="Courier New" charset="0"/>
                <a:ea typeface="宋体" charset="0"/>
              </a:rPr>
              <a:t> + 1;</a:t>
            </a:r>
          </a:p>
          <a:p>
            <a:r>
              <a:rPr kumimoji="1" lang="zh-CN" altLang="en-US" dirty="0">
                <a:solidFill>
                  <a:schemeClr val="accent2"/>
                </a:solidFill>
                <a:ea typeface="宋体" charset="0"/>
              </a:rPr>
              <a:t>空语句</a:t>
            </a:r>
          </a:p>
          <a:p>
            <a:pPr marL="274320" lvl="1" indent="0">
              <a:buNone/>
            </a:pPr>
            <a:r>
              <a:rPr kumimoji="1" lang="zh-CN" altLang="en-US" dirty="0">
                <a:solidFill>
                  <a:schemeClr val="hlink"/>
                </a:solidFill>
                <a:latin typeface="Courier New" charset="0"/>
                <a:ea typeface="宋体" charset="0"/>
              </a:rPr>
              <a:t>  </a:t>
            </a:r>
            <a:r>
              <a:rPr kumimoji="1" lang="en-US" altLang="zh-CN" dirty="0">
                <a:solidFill>
                  <a:schemeClr val="hlink"/>
                </a:solidFill>
                <a:latin typeface="Courier New" charset="0"/>
                <a:ea typeface="宋体" charset="0"/>
              </a:rPr>
              <a:t>;</a:t>
            </a:r>
          </a:p>
          <a:p>
            <a:r>
              <a:rPr kumimoji="1" lang="zh-CN" altLang="en-US" dirty="0">
                <a:solidFill>
                  <a:schemeClr val="accent2"/>
                </a:solidFill>
                <a:ea typeface="宋体" charset="0"/>
              </a:rPr>
              <a:t>复合语句</a:t>
            </a:r>
          </a:p>
          <a:p>
            <a:pPr marL="274320" lvl="1" indent="0">
              <a:buNone/>
            </a:pPr>
            <a:r>
              <a:rPr kumimoji="1" lang="zh-CN" altLang="en-US" dirty="0">
                <a:solidFill>
                  <a:schemeClr val="hlink"/>
                </a:solidFill>
                <a:latin typeface="Courier New" charset="0"/>
                <a:ea typeface="宋体" charset="0"/>
              </a:rPr>
              <a:t>  </a:t>
            </a:r>
            <a:r>
              <a:rPr kumimoji="1" lang="en-US" altLang="zh-CN" dirty="0">
                <a:solidFill>
                  <a:schemeClr val="hlink"/>
                </a:solidFill>
                <a:latin typeface="Courier New" charset="0"/>
                <a:ea typeface="宋体" charset="0"/>
              </a:rPr>
              <a:t>{t = x; x = y; y = t;}</a:t>
            </a:r>
          </a:p>
          <a:p>
            <a:r>
              <a:rPr kumimoji="1" lang="zh-CN" altLang="en-US" dirty="0">
                <a:solidFill>
                  <a:schemeClr val="accent2"/>
                </a:solidFill>
                <a:ea typeface="宋体" charset="0"/>
              </a:rPr>
              <a:t>控制语句</a:t>
            </a:r>
          </a:p>
          <a:p>
            <a:pPr marL="0" lvl="1" indent="0">
              <a:spcBef>
                <a:spcPts val="1200"/>
              </a:spcBef>
              <a:spcAft>
                <a:spcPts val="0"/>
              </a:spcAft>
              <a:buNone/>
            </a:pPr>
            <a:r>
              <a:rPr kumimoji="1" lang="zh-CN" altLang="en-US" dirty="0">
                <a:solidFill>
                  <a:schemeClr val="accent2"/>
                </a:solidFill>
                <a:ea typeface="宋体" charset="0"/>
              </a:rPr>
              <a:t>         </a:t>
            </a:r>
            <a:r>
              <a:rPr kumimoji="1" lang="en-US" altLang="zh-CN" dirty="0">
                <a:solidFill>
                  <a:schemeClr val="hlink"/>
                </a:solidFill>
                <a:latin typeface="Courier New" charset="0"/>
                <a:ea typeface="宋体" charset="0"/>
              </a:rPr>
              <a:t>if</a:t>
            </a:r>
            <a:r>
              <a:rPr kumimoji="1" lang="zh-CN" altLang="en-US" dirty="0">
                <a:solidFill>
                  <a:schemeClr val="hlink"/>
                </a:solidFill>
                <a:latin typeface="Courier New" charset="0"/>
                <a:ea typeface="宋体" charset="0"/>
              </a:rPr>
              <a:t> </a:t>
            </a:r>
            <a:r>
              <a:rPr kumimoji="1" lang="mr-IN" altLang="zh-CN" dirty="0">
                <a:solidFill>
                  <a:schemeClr val="hlink"/>
                </a:solidFill>
                <a:latin typeface="Courier New" charset="0"/>
                <a:ea typeface="宋体" charset="0"/>
              </a:rPr>
              <a:t>…</a:t>
            </a:r>
            <a:r>
              <a:rPr kumimoji="1" lang="zh-CN" altLang="en-US" dirty="0">
                <a:solidFill>
                  <a:schemeClr val="hlink"/>
                </a:solidFill>
                <a:latin typeface="Courier New" charset="0"/>
                <a:ea typeface="宋体" charset="0"/>
              </a:rPr>
              <a:t> </a:t>
            </a:r>
            <a:r>
              <a:rPr kumimoji="1" lang="en-US" altLang="zh-CN" dirty="0">
                <a:solidFill>
                  <a:schemeClr val="hlink"/>
                </a:solidFill>
                <a:latin typeface="Courier New" charset="0"/>
                <a:ea typeface="宋体" charset="0"/>
              </a:rPr>
              <a:t>else</a:t>
            </a:r>
            <a:r>
              <a:rPr kumimoji="1" lang="mr-IN" altLang="zh-CN" dirty="0">
                <a:solidFill>
                  <a:schemeClr val="hlink"/>
                </a:solidFill>
                <a:latin typeface="Courier New" charset="0"/>
                <a:ea typeface="宋体" charset="0"/>
              </a:rPr>
              <a:t>…</a:t>
            </a:r>
            <a:endParaRPr kumimoji="1" lang="zh-CN" altLang="en-US" dirty="0">
              <a:solidFill>
                <a:schemeClr val="accent2"/>
              </a:solidFill>
              <a:effectLst/>
              <a:ea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6B8BD-14FE-274E-A872-5F0975E89C64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743521"/>
          </a:xfrm>
        </p:spPr>
        <p:txBody>
          <a:bodyPr/>
          <a:lstStyle/>
          <a:p>
            <a:r>
              <a:rPr lang="zh-CN" altLang="en-US"/>
              <a:t>顺序结构程序的基本操作</a:t>
            </a:r>
          </a:p>
        </p:txBody>
      </p:sp>
      <p:sp>
        <p:nvSpPr>
          <p:cNvPr id="31232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11883"/>
            <a:ext cx="7772400" cy="4897437"/>
          </a:xfrm>
        </p:spPr>
        <p:txBody>
          <a:bodyPr/>
          <a:lstStyle/>
          <a:p>
            <a:pPr>
              <a:lnSpc>
                <a:spcPct val="85000"/>
              </a:lnSpc>
            </a:pPr>
            <a:r>
              <a:rPr lang="zh-CN" altLang="en-US">
                <a:ea typeface="宋体" charset="0"/>
              </a:rPr>
              <a:t>如何在程序中给变量赋值？</a:t>
            </a:r>
          </a:p>
          <a:p>
            <a:pPr lvl="1">
              <a:lnSpc>
                <a:spcPct val="85000"/>
              </a:lnSpc>
            </a:pPr>
            <a:r>
              <a:rPr kumimoji="1" lang="zh-CN" altLang="en-US" dirty="0">
                <a:solidFill>
                  <a:schemeClr val="hlink"/>
                </a:solidFill>
                <a:latin typeface="Courier New" charset="0"/>
                <a:ea typeface="宋体" charset="0"/>
              </a:rPr>
              <a:t>赋值表达式语句</a:t>
            </a:r>
          </a:p>
          <a:p>
            <a:pPr lvl="1">
              <a:lnSpc>
                <a:spcPct val="85000"/>
              </a:lnSpc>
            </a:pPr>
            <a:r>
              <a:rPr kumimoji="1" lang="zh-CN" altLang="en-US" dirty="0">
                <a:solidFill>
                  <a:schemeClr val="hlink"/>
                </a:solidFill>
                <a:latin typeface="Courier New" charset="0"/>
                <a:ea typeface="宋体" charset="0"/>
              </a:rPr>
              <a:t>赋值表达式；</a:t>
            </a:r>
          </a:p>
          <a:p>
            <a:pPr lvl="1">
              <a:lnSpc>
                <a:spcPct val="85000"/>
              </a:lnSpc>
            </a:pPr>
            <a:r>
              <a:rPr kumimoji="1" lang="en-US" altLang="zh-CN" dirty="0">
                <a:solidFill>
                  <a:schemeClr val="hlink"/>
                </a:solidFill>
                <a:latin typeface="Courier New" charset="0"/>
                <a:ea typeface="宋体" charset="0"/>
              </a:rPr>
              <a:t>Total = m * pow(1+r, n);</a:t>
            </a:r>
            <a:endParaRPr lang="zh-CN" altLang="en-US" dirty="0">
              <a:solidFill>
                <a:schemeClr val="hlink"/>
              </a:solidFill>
              <a:latin typeface="Courier New" charset="0"/>
              <a:ea typeface="宋体" charset="0"/>
            </a:endParaRPr>
          </a:p>
          <a:p>
            <a:pPr>
              <a:lnSpc>
                <a:spcPct val="85000"/>
              </a:lnSpc>
            </a:pPr>
            <a:r>
              <a:rPr lang="zh-CN" altLang="en-US" dirty="0">
                <a:ea typeface="宋体" charset="0"/>
              </a:rPr>
              <a:t>如何进行数据的输入输出？</a:t>
            </a:r>
          </a:p>
          <a:p>
            <a:pPr lvl="1">
              <a:lnSpc>
                <a:spcPct val="85000"/>
              </a:lnSpc>
            </a:pPr>
            <a:r>
              <a:rPr kumimoji="1" lang="zh-CN" altLang="en-US" dirty="0">
                <a:solidFill>
                  <a:schemeClr val="hlink"/>
                </a:solidFill>
                <a:ea typeface="宋体" charset="0"/>
              </a:rPr>
              <a:t>输入：从标准输入设备上输入数据到计算机内存</a:t>
            </a:r>
          </a:p>
          <a:p>
            <a:pPr lvl="1">
              <a:lnSpc>
                <a:spcPct val="85000"/>
              </a:lnSpc>
            </a:pPr>
            <a:r>
              <a:rPr kumimoji="1" lang="zh-CN" altLang="en-US" dirty="0">
                <a:solidFill>
                  <a:schemeClr val="hlink"/>
                </a:solidFill>
                <a:ea typeface="宋体" charset="0"/>
              </a:rPr>
              <a:t>输出：将计算机内存中的数据送到标准输出设备</a:t>
            </a:r>
          </a:p>
          <a:p>
            <a:pPr lvl="1">
              <a:lnSpc>
                <a:spcPct val="85000"/>
              </a:lnSpc>
            </a:pPr>
            <a:r>
              <a:rPr kumimoji="1" lang="en-US" altLang="zh-CN" dirty="0">
                <a:solidFill>
                  <a:schemeClr val="hlink"/>
                </a:solidFill>
                <a:ea typeface="宋体" charset="0"/>
              </a:rPr>
              <a:t>C</a:t>
            </a:r>
            <a:r>
              <a:rPr kumimoji="1" lang="zh-CN" altLang="en-US" dirty="0">
                <a:solidFill>
                  <a:schemeClr val="hlink"/>
                </a:solidFill>
                <a:ea typeface="宋体" charset="0"/>
              </a:rPr>
              <a:t>语言中输入输出操作通过调用标准库函数来实现</a:t>
            </a:r>
          </a:p>
          <a:p>
            <a:pPr>
              <a:lnSpc>
                <a:spcPct val="85000"/>
              </a:lnSpc>
            </a:pPr>
            <a:r>
              <a:rPr kumimoji="1" lang="en-US" altLang="zh-CN" dirty="0">
                <a:solidFill>
                  <a:schemeClr val="tx1"/>
                </a:solidFill>
                <a:latin typeface="Courier New" charset="0"/>
                <a:ea typeface="宋体" charset="0"/>
              </a:rPr>
              <a:t>#</a:t>
            </a:r>
            <a:r>
              <a:rPr kumimoji="1" lang="en-US" altLang="zh-CN" dirty="0">
                <a:solidFill>
                  <a:schemeClr val="accent2"/>
                </a:solidFill>
                <a:latin typeface="Courier New" charset="0"/>
                <a:ea typeface="宋体" charset="0"/>
              </a:rPr>
              <a:t>include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  <a:ea typeface="宋体" charset="0"/>
              </a:rPr>
              <a:t>  "</a:t>
            </a:r>
            <a:r>
              <a:rPr kumimoji="1" lang="en-US" altLang="zh-CN" dirty="0" err="1">
                <a:solidFill>
                  <a:schemeClr val="tx1"/>
                </a:solidFill>
                <a:latin typeface="Courier New" charset="0"/>
                <a:ea typeface="宋体" charset="0"/>
              </a:rPr>
              <a:t>stdio.h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  <a:ea typeface="宋体" charset="0"/>
              </a:rPr>
              <a:t>"</a:t>
            </a:r>
            <a:r>
              <a:rPr kumimoji="1" lang="en-US" altLang="zh-CN" dirty="0">
                <a:solidFill>
                  <a:schemeClr val="hlink"/>
                </a:solidFill>
                <a:latin typeface="Courier New" charset="0"/>
                <a:ea typeface="宋体" charset="0"/>
              </a:rPr>
              <a:t>  </a:t>
            </a:r>
          </a:p>
          <a:p>
            <a:pPr lvl="1">
              <a:lnSpc>
                <a:spcPct val="85000"/>
              </a:lnSpc>
            </a:pPr>
            <a:r>
              <a:rPr kumimoji="1" lang="zh-CN" altLang="en-US" dirty="0">
                <a:solidFill>
                  <a:schemeClr val="hlink"/>
                </a:solidFill>
                <a:latin typeface="Courier New" charset="0"/>
                <a:ea typeface="宋体" charset="0"/>
              </a:rPr>
              <a:t>在当前目录和</a:t>
            </a:r>
            <a:r>
              <a:rPr kumimoji="1" lang="en-US" altLang="zh-CN" dirty="0">
                <a:solidFill>
                  <a:schemeClr val="hlink"/>
                </a:solidFill>
                <a:latin typeface="Courier New" charset="0"/>
                <a:ea typeface="宋体" charset="0"/>
              </a:rPr>
              <a:t>TC</a:t>
            </a:r>
            <a:r>
              <a:rPr kumimoji="1" lang="zh-CN" altLang="en-US" dirty="0">
                <a:solidFill>
                  <a:schemeClr val="hlink"/>
                </a:solidFill>
                <a:latin typeface="Courier New" charset="0"/>
                <a:ea typeface="宋体" charset="0"/>
              </a:rPr>
              <a:t>指定的目录中找该文件</a:t>
            </a:r>
          </a:p>
          <a:p>
            <a:pPr>
              <a:lnSpc>
                <a:spcPct val="85000"/>
              </a:lnSpc>
            </a:pPr>
            <a:r>
              <a:rPr kumimoji="1" lang="en-US" altLang="zh-CN" dirty="0">
                <a:solidFill>
                  <a:schemeClr val="tx1"/>
                </a:solidFill>
                <a:latin typeface="Courier New" charset="0"/>
                <a:ea typeface="宋体" charset="0"/>
              </a:rPr>
              <a:t>#</a:t>
            </a:r>
            <a:r>
              <a:rPr kumimoji="1" lang="en-US" altLang="zh-CN" dirty="0">
                <a:solidFill>
                  <a:schemeClr val="accent2"/>
                </a:solidFill>
                <a:latin typeface="Courier New" charset="0"/>
                <a:ea typeface="宋体" charset="0"/>
              </a:rPr>
              <a:t>include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  <a:ea typeface="宋体" charset="0"/>
              </a:rPr>
              <a:t>  &lt;</a:t>
            </a:r>
            <a:r>
              <a:rPr kumimoji="1" lang="en-US" altLang="zh-CN" dirty="0" err="1">
                <a:solidFill>
                  <a:schemeClr val="tx1"/>
                </a:solidFill>
                <a:latin typeface="Courier New" charset="0"/>
                <a:ea typeface="宋体" charset="0"/>
              </a:rPr>
              <a:t>stdio.h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  <a:ea typeface="宋体" charset="0"/>
              </a:rPr>
              <a:t>&gt; </a:t>
            </a:r>
          </a:p>
          <a:p>
            <a:pPr lvl="1">
              <a:lnSpc>
                <a:spcPct val="85000"/>
              </a:lnSpc>
            </a:pPr>
            <a:r>
              <a:rPr kumimoji="1" lang="zh-CN" altLang="en-US" dirty="0">
                <a:solidFill>
                  <a:schemeClr val="hlink"/>
                </a:solidFill>
                <a:latin typeface="Courier New" charset="0"/>
                <a:ea typeface="宋体" charset="0"/>
              </a:rPr>
              <a:t>在由</a:t>
            </a:r>
            <a:r>
              <a:rPr kumimoji="1" lang="en-US" altLang="zh-CN" dirty="0">
                <a:solidFill>
                  <a:schemeClr val="hlink"/>
                </a:solidFill>
                <a:latin typeface="Courier New" charset="0"/>
                <a:ea typeface="宋体" charset="0"/>
              </a:rPr>
              <a:t>TC</a:t>
            </a:r>
            <a:r>
              <a:rPr kumimoji="1" lang="zh-CN" altLang="en-US" dirty="0">
                <a:solidFill>
                  <a:schemeClr val="hlink"/>
                </a:solidFill>
                <a:latin typeface="Courier New" charset="0"/>
                <a:ea typeface="宋体" charset="0"/>
              </a:rPr>
              <a:t>指定的文件目录中找该文件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FEF07-8AAA-0248-8A65-331EE403929B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928144"/>
          </a:xfrm>
        </p:spPr>
        <p:txBody>
          <a:bodyPr/>
          <a:lstStyle/>
          <a:p>
            <a:r>
              <a:rPr lang="zh-CN" altLang="en-US"/>
              <a:t>复合语句</a:t>
            </a:r>
          </a:p>
        </p:txBody>
      </p:sp>
      <p:sp>
        <p:nvSpPr>
          <p:cNvPr id="313347" name="Rectangle 3"/>
          <p:cNvSpPr>
            <a:spLocks noGrp="1" noChangeArrowheads="1"/>
          </p:cNvSpPr>
          <p:nvPr>
            <p:ph idx="1"/>
          </p:nvPr>
        </p:nvSpPr>
        <p:spPr>
          <a:xfrm>
            <a:off x="686520" y="1835404"/>
            <a:ext cx="7772400" cy="4050792"/>
          </a:xfrm>
        </p:spPr>
        <p:txBody>
          <a:bodyPr/>
          <a:lstStyle/>
          <a:p>
            <a:r>
              <a:rPr lang="zh-CN" altLang="en-US" dirty="0">
                <a:ea typeface="宋体" charset="0"/>
              </a:rPr>
              <a:t>在什么情况下使用复合语句？</a:t>
            </a:r>
          </a:p>
          <a:p>
            <a:pPr lvl="1">
              <a:lnSpc>
                <a:spcPct val="80000"/>
              </a:lnSpc>
            </a:pPr>
            <a:r>
              <a:rPr lang="zh-CN" altLang="en-US" dirty="0">
                <a:solidFill>
                  <a:schemeClr val="hlink"/>
                </a:solidFill>
                <a:ea typeface="宋体" charset="0"/>
              </a:rPr>
              <a:t>条件语句和循环语句在语法上只允许带一条语句（一个整体）</a:t>
            </a:r>
          </a:p>
          <a:p>
            <a:pPr lvl="1">
              <a:lnSpc>
                <a:spcPct val="80000"/>
              </a:lnSpc>
            </a:pPr>
            <a:r>
              <a:rPr lang="zh-CN" altLang="en-US" dirty="0">
                <a:solidFill>
                  <a:schemeClr val="hlink"/>
                </a:solidFill>
                <a:ea typeface="宋体" charset="0"/>
              </a:rPr>
              <a:t>当分支和循环中需要进行多项操作时</a:t>
            </a:r>
          </a:p>
        </p:txBody>
      </p:sp>
      <p:sp>
        <p:nvSpPr>
          <p:cNvPr id="313348" name="Text Box 4"/>
          <p:cNvSpPr txBox="1">
            <a:spLocks noChangeArrowheads="1"/>
          </p:cNvSpPr>
          <p:nvPr/>
        </p:nvSpPr>
        <p:spPr bwMode="auto">
          <a:xfrm>
            <a:off x="1116013" y="3284538"/>
            <a:ext cx="2159000" cy="292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{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   </a:t>
            </a:r>
            <a:r>
              <a:rPr kumimoji="1" lang="en-US" altLang="zh-CN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t=x;</a:t>
            </a:r>
          </a:p>
          <a:p>
            <a:pPr>
              <a:spcBef>
                <a:spcPct val="50000"/>
              </a:spcBef>
            </a:pPr>
            <a:r>
              <a:rPr kumimoji="1" lang="en-US" altLang="zh-CN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   x=y;</a:t>
            </a:r>
          </a:p>
          <a:p>
            <a:pPr>
              <a:spcBef>
                <a:spcPct val="50000"/>
              </a:spcBef>
            </a:pPr>
            <a:r>
              <a:rPr kumimoji="1" lang="en-US" altLang="zh-CN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   y=t;</a:t>
            </a:r>
          </a:p>
          <a:p>
            <a:pPr>
              <a:spcBef>
                <a:spcPct val="50000"/>
              </a:spcBef>
            </a:pPr>
            <a:r>
              <a:rPr kumimoji="1" lang="en-US" altLang="zh-CN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}</a:t>
            </a:r>
          </a:p>
        </p:txBody>
      </p:sp>
      <p:sp>
        <p:nvSpPr>
          <p:cNvPr id="313349" name="AutoShape 5"/>
          <p:cNvSpPr>
            <a:spLocks noChangeArrowheads="1"/>
          </p:cNvSpPr>
          <p:nvPr/>
        </p:nvSpPr>
        <p:spPr bwMode="auto">
          <a:xfrm>
            <a:off x="5651500" y="3284538"/>
            <a:ext cx="2448892" cy="1152574"/>
          </a:xfrm>
          <a:prstGeom prst="cloudCallout">
            <a:avLst>
              <a:gd name="adj1" fmla="val -121472"/>
              <a:gd name="adj2" fmla="val 101241"/>
            </a:avLst>
          </a:prstGeom>
          <a:solidFill>
            <a:srgbClr val="FFCC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kumimoji="1" lang="zh-CN" altLang="en-US" sz="1600" b="1" dirty="0">
                <a:latin typeface="Times New Roman" charset="0"/>
                <a:ea typeface="宋体" charset="0"/>
              </a:rPr>
              <a:t>相对“独立运行空间”</a:t>
            </a:r>
          </a:p>
        </p:txBody>
      </p:sp>
      <p:sp>
        <p:nvSpPr>
          <p:cNvPr id="313350" name="Rectangle 6"/>
          <p:cNvSpPr>
            <a:spLocks noChangeArrowheads="1"/>
          </p:cNvSpPr>
          <p:nvPr/>
        </p:nvSpPr>
        <p:spPr bwMode="auto">
          <a:xfrm>
            <a:off x="1042988" y="3357563"/>
            <a:ext cx="2089150" cy="2951162"/>
          </a:xfrm>
          <a:prstGeom prst="rect">
            <a:avLst/>
          </a:prstGeom>
          <a:solidFill>
            <a:srgbClr val="FF9966">
              <a:alpha val="27843"/>
            </a:srgbClr>
          </a:solidFill>
          <a:ln w="38100">
            <a:solidFill>
              <a:srgbClr val="FFFF99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zh-CN" altLang="en-US">
              <a:ea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08B35-8C6A-414F-9E79-C9E0228C7879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2"/>
          <p:cNvSpPr>
            <a:spLocks noGrp="1" noChangeArrowheads="1"/>
          </p:cNvSpPr>
          <p:nvPr>
            <p:ph type="title"/>
          </p:nvPr>
        </p:nvSpPr>
        <p:spPr>
          <a:xfrm>
            <a:off x="796925" y="377825"/>
            <a:ext cx="7566025" cy="790575"/>
          </a:xfrm>
          <a:effectLst>
            <a:outerShdw blurRad="63500" dist="35921" dir="2700000" algn="ctr" rotWithShape="0">
              <a:schemeClr val="bg2"/>
            </a:outerShdw>
          </a:effectLst>
        </p:spPr>
        <p:txBody>
          <a:bodyPr/>
          <a:lstStyle/>
          <a:p>
            <a:pPr>
              <a:defRPr/>
            </a:pPr>
            <a:r>
              <a:rPr lang="zh-CN" altLang="en-US">
                <a:solidFill>
                  <a:schemeClr val="accent2"/>
                </a:solidFill>
              </a:rPr>
              <a:t>例</a:t>
            </a:r>
            <a:r>
              <a:rPr lang="en-US" altLang="zh-CN">
                <a:solidFill>
                  <a:schemeClr val="accent2"/>
                </a:solidFill>
              </a:rPr>
              <a:t>3.1</a:t>
            </a:r>
          </a:p>
        </p:txBody>
      </p:sp>
      <p:sp>
        <p:nvSpPr>
          <p:cNvPr id="269315" name="Rectangle 3"/>
          <p:cNvSpPr>
            <a:spLocks noGrp="1" noChangeArrowheads="1"/>
          </p:cNvSpPr>
          <p:nvPr>
            <p:ph idx="1"/>
          </p:nvPr>
        </p:nvSpPr>
        <p:spPr>
          <a:xfrm>
            <a:off x="600075" y="1484313"/>
            <a:ext cx="7859713" cy="3457575"/>
          </a:xfrm>
          <a:solidFill>
            <a:srgbClr val="000080"/>
          </a:solidFill>
        </p:spPr>
        <p:txBody>
          <a:bodyPr>
            <a:normAutofit fontScale="92500" lnSpcReduction="10000"/>
          </a:bodyPr>
          <a:lstStyle/>
          <a:p>
            <a:pPr marL="342900" indent="-342900">
              <a:lnSpc>
                <a:spcPct val="8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main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()</a:t>
            </a:r>
          </a:p>
          <a:p>
            <a:pPr marL="342900" indent="-342900">
              <a:lnSpc>
                <a:spcPct val="8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{</a:t>
            </a:r>
          </a:p>
          <a:p>
            <a:pPr marL="342900" indent="-342900">
              <a:lnSpc>
                <a:spcPct val="8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</a:t>
            </a:r>
            <a:r>
              <a:rPr lang="fr-FR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a = 0;</a:t>
            </a:r>
          </a:p>
          <a:p>
            <a:pPr marL="342900" indent="-342900">
              <a:lnSpc>
                <a:spcPct val="8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{</a:t>
            </a:r>
          </a:p>
          <a:p>
            <a:pPr marL="342900" indent="-342900">
              <a:lnSpc>
                <a:spcPct val="8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	    </a:t>
            </a:r>
            <a:r>
              <a:rPr lang="fr-FR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a = 1;</a:t>
            </a:r>
          </a:p>
          <a:p>
            <a:pPr marL="342900" indent="-342900">
              <a:lnSpc>
                <a:spcPct val="8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	    </a:t>
            </a:r>
            <a:r>
              <a:rPr lang="fr-FR" altLang="zh-CN" sz="240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printf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("In: a = %d\n", a);</a:t>
            </a:r>
          </a:p>
          <a:p>
            <a:pPr marL="342900" indent="-342900">
              <a:lnSpc>
                <a:spcPct val="8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}</a:t>
            </a:r>
          </a:p>
          <a:p>
            <a:pPr marL="342900" indent="-342900">
              <a:lnSpc>
                <a:spcPct val="8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</a:t>
            </a:r>
            <a:r>
              <a:rPr lang="fr-FR" altLang="zh-CN" sz="240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printf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("Out: a = %d\n", a);</a:t>
            </a:r>
          </a:p>
          <a:p>
            <a:pPr marL="342900" indent="-342900">
              <a:lnSpc>
                <a:spcPct val="8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} </a:t>
            </a:r>
            <a:endParaRPr lang="en-US" altLang="zh-CN" sz="240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69316" name="Rectangle 4"/>
          <p:cNvSpPr>
            <a:spLocks noChangeArrowheads="1"/>
          </p:cNvSpPr>
          <p:nvPr/>
        </p:nvSpPr>
        <p:spPr bwMode="auto">
          <a:xfrm>
            <a:off x="684213" y="5229225"/>
            <a:ext cx="2951162" cy="82232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457200">
              <a:tabLst>
                <a:tab pos="692150" algn="l"/>
                <a:tab pos="754063" algn="l"/>
              </a:tabLst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tabLst>
                <a:tab pos="692150" algn="l"/>
                <a:tab pos="754063" algn="l"/>
              </a:tabLst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tabLst>
                <a:tab pos="692150" algn="l"/>
                <a:tab pos="754063" algn="l"/>
              </a:tabLst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tabLst>
                <a:tab pos="692150" algn="l"/>
                <a:tab pos="754063" algn="l"/>
              </a:tabLst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tabLst>
                <a:tab pos="692150" algn="l"/>
                <a:tab pos="754063" algn="l"/>
              </a:tabLst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92150" algn="l"/>
                <a:tab pos="754063" algn="l"/>
              </a:tabLs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92150" algn="l"/>
                <a:tab pos="754063" algn="l"/>
              </a:tabLs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92150" algn="l"/>
                <a:tab pos="754063" algn="l"/>
              </a:tabLs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692150" algn="l"/>
                <a:tab pos="754063" algn="l"/>
              </a:tabLs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kumimoji="1" lang="en-US" altLang="zh-CN" sz="2400" b="1">
                <a:solidFill>
                  <a:schemeClr val="bg1"/>
                </a:solidFill>
                <a:latin typeface="Courier New" charset="0"/>
                <a:ea typeface="宋体" charset="0"/>
              </a:rPr>
              <a:t>In: a = 1</a:t>
            </a:r>
          </a:p>
          <a:p>
            <a:r>
              <a:rPr kumimoji="1" lang="en-US" altLang="zh-CN" sz="2400" b="1">
                <a:solidFill>
                  <a:schemeClr val="bg1"/>
                </a:solidFill>
                <a:latin typeface="Courier New" charset="0"/>
                <a:ea typeface="宋体" charset="0"/>
              </a:rPr>
              <a:t>Out: a = 0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6F8AE-DC86-EE46-878E-115AADA07C4A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9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93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1143000"/>
          </a:xfrm>
          <a:effectLst>
            <a:outerShdw blurRad="63500" dist="35921" dir="2700000" algn="ctr" rotWithShape="0">
              <a:schemeClr val="bg2"/>
            </a:outerShdw>
          </a:effectLst>
        </p:spPr>
        <p:txBody>
          <a:bodyPr/>
          <a:lstStyle/>
          <a:p>
            <a:r>
              <a:rPr lang="zh-CN" altLang="en-US">
                <a:solidFill>
                  <a:schemeClr val="accent2"/>
                </a:solidFill>
              </a:rPr>
              <a:t>空语句</a:t>
            </a:r>
          </a:p>
        </p:txBody>
      </p:sp>
      <p:sp>
        <p:nvSpPr>
          <p:cNvPr id="2703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2875"/>
            <a:ext cx="8229600" cy="4968875"/>
          </a:xfrm>
        </p:spPr>
        <p:txBody>
          <a:bodyPr/>
          <a:lstStyle/>
          <a:p>
            <a:pPr marL="342900" indent="-342900"/>
            <a:r>
              <a:rPr lang="zh-CN" altLang="en-US" dirty="0">
                <a:solidFill>
                  <a:schemeClr val="accent2"/>
                </a:solidFill>
                <a:ea typeface="宋体" charset="0"/>
              </a:rPr>
              <a:t>空语句有什么作用？</a:t>
            </a:r>
          </a:p>
          <a:p>
            <a:pPr marL="742950" lvl="1"/>
            <a:r>
              <a:rPr lang="zh-CN" altLang="en-US" dirty="0">
                <a:solidFill>
                  <a:schemeClr val="hlink"/>
                </a:solidFill>
                <a:ea typeface="宋体" charset="0"/>
              </a:rPr>
              <a:t>什么也不做，只表示语句的存在</a:t>
            </a:r>
          </a:p>
          <a:p>
            <a:pPr marL="742950" lvl="1"/>
            <a:r>
              <a:rPr lang="zh-CN" altLang="en-US" dirty="0">
                <a:solidFill>
                  <a:schemeClr val="hlink"/>
                </a:solidFill>
                <a:ea typeface="宋体" charset="0"/>
              </a:rPr>
              <a:t>自顶向下程序设计时用在那些未完成的模块中</a:t>
            </a:r>
          </a:p>
          <a:p>
            <a:pPr marL="742950" lvl="1"/>
            <a:r>
              <a:rPr lang="zh-CN" altLang="en-US" dirty="0">
                <a:solidFill>
                  <a:schemeClr val="hlink"/>
                </a:solidFill>
                <a:ea typeface="宋体" charset="0"/>
              </a:rPr>
              <a:t>延时用的空循环</a:t>
            </a:r>
          </a:p>
        </p:txBody>
      </p:sp>
      <p:sp>
        <p:nvSpPr>
          <p:cNvPr id="270340" name="Text Box 4"/>
          <p:cNvSpPr txBox="1">
            <a:spLocks noChangeArrowheads="1"/>
          </p:cNvSpPr>
          <p:nvPr/>
        </p:nvSpPr>
        <p:spPr bwMode="auto">
          <a:xfrm>
            <a:off x="1187624" y="3429000"/>
            <a:ext cx="3816350" cy="21236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main()</a:t>
            </a:r>
          </a:p>
          <a:p>
            <a:pPr>
              <a:spcBef>
                <a:spcPct val="50000"/>
              </a:spcBef>
              <a:defRPr/>
            </a:pPr>
            <a:r>
              <a:rPr kumimoji="1" lang="en-US" altLang="zh-CN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{</a:t>
            </a:r>
          </a:p>
          <a:p>
            <a:pPr>
              <a:spcBef>
                <a:spcPct val="50000"/>
              </a:spcBef>
              <a:defRPr/>
            </a:pPr>
            <a:r>
              <a:rPr kumimoji="1" lang="en-US" altLang="zh-CN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  </a:t>
            </a:r>
            <a:r>
              <a:rPr kumimoji="1" lang="zh-CN" altLang="en-US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；</a:t>
            </a:r>
            <a:endParaRPr kumimoji="1" lang="en-US" altLang="zh-CN" sz="2400" b="1" dirty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pitchFamily="49" charset="0"/>
              <a:ea typeface="宋体" pitchFamily="2" charset="-122"/>
            </a:endParaRPr>
          </a:p>
          <a:p>
            <a:pPr>
              <a:spcBef>
                <a:spcPct val="50000"/>
              </a:spcBef>
              <a:defRPr/>
            </a:pPr>
            <a:r>
              <a:rPr kumimoji="1" lang="en-US" altLang="zh-CN" sz="24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3281E-9CE4-B549-A3E7-8366D1B7E01A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字符输入输出函数</a:t>
            </a:r>
          </a:p>
        </p:txBody>
      </p:sp>
      <p:sp>
        <p:nvSpPr>
          <p:cNvPr id="314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ea typeface="宋体" charset="0"/>
              </a:rPr>
              <a:t>字符输出函数</a:t>
            </a:r>
          </a:p>
          <a:p>
            <a:pPr lvl="1"/>
            <a:r>
              <a:rPr kumimoji="1" lang="en-US" altLang="zh-CN" dirty="0" err="1">
                <a:solidFill>
                  <a:schemeClr val="tx1"/>
                </a:solidFill>
                <a:latin typeface="Courier New" charset="0"/>
                <a:ea typeface="宋体" charset="0"/>
              </a:rPr>
              <a:t>putchar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  <a:ea typeface="宋体" charset="0"/>
              </a:rPr>
              <a:t>(</a:t>
            </a:r>
            <a:r>
              <a:rPr kumimoji="1" lang="en-US" altLang="zh-CN" dirty="0" err="1">
                <a:solidFill>
                  <a:schemeClr val="tx1"/>
                </a:solidFill>
                <a:latin typeface="Courier New" charset="0"/>
                <a:ea typeface="宋体" charset="0"/>
              </a:rPr>
              <a:t>ch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  <a:ea typeface="宋体" charset="0"/>
              </a:rPr>
              <a:t>)</a:t>
            </a:r>
          </a:p>
          <a:p>
            <a:pPr lvl="1"/>
            <a:r>
              <a:rPr kumimoji="1" lang="zh-CN" altLang="en-US" dirty="0">
                <a:solidFill>
                  <a:schemeClr val="hlink"/>
                </a:solidFill>
                <a:latin typeface="Courier New" charset="0"/>
                <a:ea typeface="宋体" charset="0"/>
              </a:rPr>
              <a:t>输出</a:t>
            </a:r>
            <a:r>
              <a:rPr kumimoji="1" lang="zh-CN" altLang="en-US" u="sng" dirty="0">
                <a:solidFill>
                  <a:srgbClr val="FF3300"/>
                </a:solidFill>
                <a:latin typeface="Courier New" charset="0"/>
                <a:ea typeface="宋体" charset="0"/>
              </a:rPr>
              <a:t>一个</a:t>
            </a:r>
            <a:r>
              <a:rPr kumimoji="1" lang="zh-CN" altLang="en-US" dirty="0">
                <a:solidFill>
                  <a:schemeClr val="hlink"/>
                </a:solidFill>
                <a:latin typeface="Courier New" charset="0"/>
                <a:ea typeface="宋体" charset="0"/>
              </a:rPr>
              <a:t>字符</a:t>
            </a:r>
            <a:r>
              <a:rPr kumimoji="1" lang="en-US" altLang="zh-CN" dirty="0" err="1">
                <a:solidFill>
                  <a:schemeClr val="tx1"/>
                </a:solidFill>
                <a:latin typeface="Courier New" charset="0"/>
                <a:ea typeface="宋体" charset="0"/>
              </a:rPr>
              <a:t>ch</a:t>
            </a:r>
            <a:endParaRPr kumimoji="1" lang="zh-CN" altLang="en-US" dirty="0">
              <a:solidFill>
                <a:schemeClr val="tx1"/>
              </a:solidFill>
              <a:latin typeface="Courier New" charset="0"/>
              <a:ea typeface="宋体" charset="0"/>
            </a:endParaRPr>
          </a:p>
          <a:p>
            <a:pPr lvl="1"/>
            <a:endParaRPr kumimoji="1" lang="zh-CN" altLang="en-US" dirty="0">
              <a:latin typeface="Courier New" charset="0"/>
              <a:ea typeface="宋体" charset="0"/>
            </a:endParaRPr>
          </a:p>
          <a:p>
            <a:pPr lvl="1"/>
            <a:endParaRPr lang="en-US" altLang="zh-CN" dirty="0">
              <a:solidFill>
                <a:schemeClr val="tx1"/>
              </a:solidFill>
              <a:latin typeface="Courier New" charset="0"/>
              <a:ea typeface="宋体" charset="0"/>
            </a:endParaRPr>
          </a:p>
          <a:p>
            <a:r>
              <a:rPr lang="zh-CN" altLang="en-US" dirty="0">
                <a:ea typeface="宋体" charset="0"/>
              </a:rPr>
              <a:t>字符输入函数</a:t>
            </a:r>
          </a:p>
          <a:p>
            <a:pPr lvl="1"/>
            <a:r>
              <a:rPr kumimoji="1" lang="en-US" altLang="zh-CN" dirty="0" err="1">
                <a:solidFill>
                  <a:schemeClr val="tx1"/>
                </a:solidFill>
                <a:latin typeface="Courier New" charset="0"/>
                <a:ea typeface="宋体" charset="0"/>
              </a:rPr>
              <a:t>getchar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  <a:ea typeface="宋体" charset="0"/>
              </a:rPr>
              <a:t>()</a:t>
            </a:r>
          </a:p>
          <a:p>
            <a:pPr lvl="1"/>
            <a:r>
              <a:rPr kumimoji="1" lang="zh-CN" altLang="en-US" dirty="0">
                <a:solidFill>
                  <a:schemeClr val="hlink"/>
                </a:solidFill>
                <a:latin typeface="Courier New" charset="0"/>
                <a:ea typeface="宋体" charset="0"/>
              </a:rPr>
              <a:t>无参数</a:t>
            </a:r>
          </a:p>
          <a:p>
            <a:pPr lvl="1"/>
            <a:r>
              <a:rPr kumimoji="1" lang="zh-CN" altLang="en-US" dirty="0">
                <a:solidFill>
                  <a:schemeClr val="hlink"/>
                </a:solidFill>
                <a:latin typeface="Courier New" charset="0"/>
                <a:ea typeface="宋体" charset="0"/>
              </a:rPr>
              <a:t>函数值为从输入设备接收的字符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D6C06-162B-1B42-8ADD-E2D409BD91C7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Text Box 2"/>
          <p:cNvSpPr txBox="1">
            <a:spLocks noChangeArrowheads="1"/>
          </p:cNvSpPr>
          <p:nvPr/>
        </p:nvSpPr>
        <p:spPr bwMode="auto">
          <a:xfrm>
            <a:off x="107950" y="1412875"/>
            <a:ext cx="9036050" cy="4473575"/>
          </a:xfrm>
          <a:prstGeom prst="rect">
            <a:avLst/>
          </a:prstGeom>
          <a:solidFill>
            <a:srgbClr val="00008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fr-FR" altLang="zh-CN" sz="2400" b="1">
                <a:solidFill>
                  <a:srgbClr val="FFFF99"/>
                </a:solidFill>
                <a:latin typeface="Courier New" pitchFamily="49" charset="0"/>
                <a:ea typeface="宋体" pitchFamily="2" charset="-122"/>
              </a:rPr>
              <a:t>#</a:t>
            </a:r>
            <a:r>
              <a:rPr kumimoji="1" lang="fr-FR" altLang="zh-CN" sz="2400" b="1">
                <a:solidFill>
                  <a:schemeClr val="bg1"/>
                </a:solidFill>
                <a:latin typeface="Courier New" pitchFamily="49" charset="0"/>
                <a:ea typeface="宋体" pitchFamily="2" charset="-122"/>
              </a:rPr>
              <a:t>include</a:t>
            </a:r>
            <a:r>
              <a:rPr kumimoji="1" lang="fr-FR" altLang="zh-CN" sz="2400" b="1">
                <a:solidFill>
                  <a:srgbClr val="FFFF99"/>
                </a:solidFill>
                <a:latin typeface="Courier New" pitchFamily="49" charset="0"/>
                <a:ea typeface="宋体" pitchFamily="2" charset="-122"/>
              </a:rPr>
              <a:t>  &lt;stdio.h&gt;</a:t>
            </a:r>
          </a:p>
          <a:p>
            <a:pPr>
              <a:defRPr/>
            </a:pPr>
            <a:r>
              <a:rPr kumimoji="1" lang="fr-FR" altLang="zh-CN" sz="2400" b="1">
                <a:solidFill>
                  <a:srgbClr val="FFFF66"/>
                </a:solidFill>
                <a:latin typeface="Courier New" pitchFamily="49" charset="0"/>
                <a:ea typeface="宋体" pitchFamily="2" charset="-122"/>
              </a:rPr>
              <a:t>main</a:t>
            </a:r>
            <a:r>
              <a:rPr kumimoji="1" lang="fr-FR" altLang="zh-CN" sz="2400" b="1">
                <a:solidFill>
                  <a:srgbClr val="FFFF99"/>
                </a:solidFill>
                <a:latin typeface="Courier New" pitchFamily="49" charset="0"/>
                <a:ea typeface="宋体" pitchFamily="2" charset="-122"/>
              </a:rPr>
              <a:t>()</a:t>
            </a:r>
          </a:p>
          <a:p>
            <a:pPr>
              <a:defRPr/>
            </a:pPr>
            <a:r>
              <a:rPr kumimoji="1" lang="fr-FR" altLang="zh-CN" sz="2400" b="1">
                <a:solidFill>
                  <a:srgbClr val="FFFF99"/>
                </a:solidFill>
                <a:latin typeface="Courier New" pitchFamily="49" charset="0"/>
                <a:ea typeface="宋体" pitchFamily="2" charset="-122"/>
              </a:rPr>
              <a:t>{</a:t>
            </a:r>
          </a:p>
          <a:p>
            <a:pPr>
              <a:defRPr/>
            </a:pPr>
            <a:r>
              <a:rPr kumimoji="1" lang="fr-FR" altLang="zh-CN" sz="2400" b="1">
                <a:solidFill>
                  <a:srgbClr val="FFFF99"/>
                </a:solidFill>
                <a:latin typeface="Courier New" pitchFamily="49" charset="0"/>
                <a:ea typeface="宋体" pitchFamily="2" charset="-122"/>
              </a:rPr>
              <a:t>    </a:t>
            </a:r>
            <a:r>
              <a:rPr kumimoji="1" lang="fr-FR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char</a:t>
            </a:r>
            <a:r>
              <a:rPr kumimoji="1" lang="fr-FR" altLang="zh-CN" sz="2400" b="1">
                <a:solidFill>
                  <a:srgbClr val="FFFF99"/>
                </a:solidFill>
                <a:latin typeface="Courier New" pitchFamily="49" charset="0"/>
                <a:ea typeface="宋体" pitchFamily="2" charset="-122"/>
              </a:rPr>
              <a:t>  ch;</a:t>
            </a:r>
          </a:p>
          <a:p>
            <a:pPr>
              <a:defRPr/>
            </a:pPr>
            <a:r>
              <a:rPr kumimoji="1" lang="fr-FR" altLang="zh-CN" sz="2400" b="1">
                <a:solidFill>
                  <a:srgbClr val="FFFF99"/>
                </a:solidFill>
                <a:latin typeface="Courier New" pitchFamily="49" charset="0"/>
                <a:ea typeface="宋体" pitchFamily="2" charset="-122"/>
              </a:rPr>
              <a:t>                         </a:t>
            </a:r>
          </a:p>
          <a:p>
            <a:pPr>
              <a:defRPr/>
            </a:pPr>
            <a:r>
              <a:rPr kumimoji="1" lang="fr-FR" altLang="zh-CN" sz="2400" b="1">
                <a:solidFill>
                  <a:srgbClr val="FFFF99"/>
                </a:solidFill>
                <a:latin typeface="Courier New" pitchFamily="49" charset="0"/>
                <a:ea typeface="宋体" pitchFamily="2" charset="-122"/>
              </a:rPr>
              <a:t>    </a:t>
            </a:r>
            <a:r>
              <a:rPr kumimoji="1" lang="fr-FR" altLang="zh-CN" sz="2400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printf</a:t>
            </a:r>
            <a:r>
              <a:rPr kumimoji="1" lang="fr-FR" altLang="zh-CN" sz="2400" b="1">
                <a:solidFill>
                  <a:srgbClr val="FFFF99"/>
                </a:solidFill>
                <a:latin typeface="Courier New" pitchFamily="49" charset="0"/>
                <a:ea typeface="宋体" pitchFamily="2" charset="-122"/>
              </a:rPr>
              <a:t>("Press a key and then press Enter:");	</a:t>
            </a:r>
          </a:p>
          <a:p>
            <a:pPr>
              <a:defRPr/>
            </a:pPr>
            <a:r>
              <a:rPr kumimoji="1" lang="fr-FR" altLang="zh-CN" sz="2400" b="1">
                <a:solidFill>
                  <a:srgbClr val="FFFF99"/>
                </a:solidFill>
                <a:latin typeface="Courier New" pitchFamily="49" charset="0"/>
                <a:ea typeface="宋体" pitchFamily="2" charset="-122"/>
              </a:rPr>
              <a:t>    ch = </a:t>
            </a:r>
            <a:r>
              <a:rPr kumimoji="1" lang="fr-FR" altLang="zh-CN" sz="2400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getchar</a:t>
            </a:r>
            <a:r>
              <a:rPr kumimoji="1" lang="fr-FR" altLang="zh-CN" sz="2400" b="1">
                <a:solidFill>
                  <a:srgbClr val="FFFF99"/>
                </a:solidFill>
                <a:latin typeface="Courier New" pitchFamily="49" charset="0"/>
                <a:ea typeface="宋体" pitchFamily="2" charset="-122"/>
              </a:rPr>
              <a:t>(); 	</a:t>
            </a:r>
          </a:p>
          <a:p>
            <a:pPr>
              <a:defRPr/>
            </a:pPr>
            <a:r>
              <a:rPr kumimoji="1" lang="fr-FR" altLang="zh-CN" sz="2400" b="1">
                <a:solidFill>
                  <a:srgbClr val="FFFF99"/>
                </a:solidFill>
                <a:latin typeface="Courier New" pitchFamily="49" charset="0"/>
                <a:ea typeface="宋体" pitchFamily="2" charset="-122"/>
              </a:rPr>
              <a:t>    </a:t>
            </a:r>
            <a:r>
              <a:rPr kumimoji="1" lang="fr-FR" altLang="zh-CN" sz="2400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printf</a:t>
            </a:r>
            <a:r>
              <a:rPr kumimoji="1" lang="fr-FR" altLang="zh-CN" sz="2400" b="1">
                <a:solidFill>
                  <a:srgbClr val="FFFF99"/>
                </a:solidFill>
                <a:latin typeface="Courier New" pitchFamily="49" charset="0"/>
                <a:ea typeface="宋体" pitchFamily="2" charset="-122"/>
              </a:rPr>
              <a:t>("You pressed ");</a:t>
            </a:r>
          </a:p>
          <a:p>
            <a:pPr>
              <a:defRPr/>
            </a:pPr>
            <a:r>
              <a:rPr kumimoji="1" lang="fr-FR" altLang="zh-CN" sz="2400" b="1">
                <a:solidFill>
                  <a:srgbClr val="FFFF99"/>
                </a:solidFill>
                <a:latin typeface="Courier New" pitchFamily="49" charset="0"/>
                <a:ea typeface="宋体" pitchFamily="2" charset="-122"/>
              </a:rPr>
              <a:t>    </a:t>
            </a:r>
            <a:r>
              <a:rPr kumimoji="1" lang="fr-FR" altLang="zh-CN" sz="2400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putchar</a:t>
            </a:r>
            <a:r>
              <a:rPr kumimoji="1" lang="fr-FR" altLang="zh-CN" sz="2400" b="1">
                <a:solidFill>
                  <a:srgbClr val="FFFF99"/>
                </a:solidFill>
                <a:latin typeface="Courier New" pitchFamily="49" charset="0"/>
                <a:ea typeface="宋体" pitchFamily="2" charset="-122"/>
              </a:rPr>
              <a:t>(ch);          </a:t>
            </a:r>
          </a:p>
          <a:p>
            <a:pPr>
              <a:defRPr/>
            </a:pPr>
            <a:r>
              <a:rPr kumimoji="1" lang="fr-FR" altLang="zh-CN" sz="2400" b="1">
                <a:solidFill>
                  <a:srgbClr val="FFFF99"/>
                </a:solidFill>
                <a:latin typeface="Courier New" pitchFamily="49" charset="0"/>
                <a:ea typeface="宋体" pitchFamily="2" charset="-122"/>
              </a:rPr>
              <a:t>    </a:t>
            </a:r>
            <a:r>
              <a:rPr kumimoji="1" lang="fr-FR" altLang="zh-CN" sz="2400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putchar</a:t>
            </a:r>
            <a:r>
              <a:rPr kumimoji="1" lang="fr-FR" altLang="zh-CN" sz="2400" b="1">
                <a:solidFill>
                  <a:srgbClr val="FFFF99"/>
                </a:solidFill>
                <a:latin typeface="Courier New" pitchFamily="49" charset="0"/>
                <a:ea typeface="宋体" pitchFamily="2" charset="-122"/>
              </a:rPr>
              <a:t>('\n');</a:t>
            </a:r>
          </a:p>
          <a:p>
            <a:pPr>
              <a:defRPr/>
            </a:pPr>
            <a:r>
              <a:rPr kumimoji="1" lang="fr-FR" altLang="zh-CN" sz="2400" b="1">
                <a:solidFill>
                  <a:srgbClr val="FFFF99"/>
                </a:solidFill>
                <a:latin typeface="Courier New" pitchFamily="49" charset="0"/>
                <a:ea typeface="宋体" pitchFamily="2" charset="-122"/>
              </a:rPr>
              <a:t>}</a:t>
            </a:r>
            <a:endParaRPr kumimoji="1" lang="en-US" altLang="zh-CN" sz="2800" b="1">
              <a:solidFill>
                <a:srgbClr val="FFFF99"/>
              </a:solidFill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11267" name="Rectangle 4"/>
          <p:cNvSpPr>
            <a:spLocks noChangeArrowheads="1"/>
          </p:cNvSpPr>
          <p:nvPr/>
        </p:nvSpPr>
        <p:spPr bwMode="auto">
          <a:xfrm>
            <a:off x="5867400" y="728663"/>
            <a:ext cx="20193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kumimoji="1" lang="zh-CN" altLang="en-US" sz="3600" b="1">
                <a:solidFill>
                  <a:schemeClr val="bg1"/>
                </a:solidFill>
                <a:latin typeface="Comic Sans MS" charset="0"/>
                <a:ea typeface="宋体" charset="0"/>
              </a:rPr>
              <a:t>运行程序</a:t>
            </a:r>
          </a:p>
        </p:txBody>
      </p:sp>
      <p:sp>
        <p:nvSpPr>
          <p:cNvPr id="274437" name="Rectangle 5"/>
          <p:cNvSpPr>
            <a:spLocks noChangeArrowheads="1"/>
          </p:cNvSpPr>
          <p:nvPr/>
        </p:nvSpPr>
        <p:spPr bwMode="auto">
          <a:xfrm>
            <a:off x="3851275" y="1546225"/>
            <a:ext cx="5292725" cy="36671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kumimoji="1" lang="fr-FR" altLang="zh-CN" b="1">
                <a:solidFill>
                  <a:schemeClr val="bg1"/>
                </a:solidFill>
                <a:latin typeface="Courier New" charset="0"/>
                <a:ea typeface="宋体" charset="0"/>
              </a:rPr>
              <a:t>Press a key and then press Enter:</a:t>
            </a:r>
            <a:endParaRPr kumimoji="1" lang="en-US" altLang="zh-CN" b="1">
              <a:solidFill>
                <a:schemeClr val="bg1"/>
              </a:solidFill>
              <a:latin typeface="Courier New" charset="0"/>
              <a:ea typeface="宋体" charset="0"/>
            </a:endParaRPr>
          </a:p>
        </p:txBody>
      </p:sp>
      <p:sp>
        <p:nvSpPr>
          <p:cNvPr id="11269" name="Text Box 6"/>
          <p:cNvSpPr txBox="1">
            <a:spLocks noChangeArrowheads="1"/>
          </p:cNvSpPr>
          <p:nvPr/>
        </p:nvSpPr>
        <p:spPr bwMode="auto">
          <a:xfrm>
            <a:off x="8366125" y="6518275"/>
            <a:ext cx="641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kumimoji="1" lang="en-US" altLang="zh-CN" sz="2400">
                <a:solidFill>
                  <a:srgbClr val="D60093"/>
                </a:solidFill>
                <a:latin typeface="Times New Roman" charset="0"/>
                <a:ea typeface="宋体" charset="0"/>
              </a:rPr>
              <a:t>311</a:t>
            </a:r>
          </a:p>
        </p:txBody>
      </p:sp>
      <p:sp>
        <p:nvSpPr>
          <p:cNvPr id="274440" name="Rectangle 8"/>
          <p:cNvSpPr>
            <a:spLocks noChangeArrowheads="1"/>
          </p:cNvSpPr>
          <p:nvPr/>
        </p:nvSpPr>
        <p:spPr bwMode="auto">
          <a:xfrm>
            <a:off x="107950" y="1854200"/>
            <a:ext cx="3743325" cy="360363"/>
          </a:xfrm>
          <a:prstGeom prst="rect">
            <a:avLst/>
          </a:prstGeom>
          <a:gradFill rotWithShape="1">
            <a:gsLst>
              <a:gs pos="0">
                <a:srgbClr val="FFFF99">
                  <a:alpha val="39998"/>
                </a:srgbClr>
              </a:gs>
              <a:gs pos="100000">
                <a:srgbClr val="767647">
                  <a:alpha val="39998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zh-CN" altLang="en-US">
              <a:ea typeface="宋体" charset="0"/>
            </a:endParaRPr>
          </a:p>
        </p:txBody>
      </p:sp>
      <p:sp>
        <p:nvSpPr>
          <p:cNvPr id="274442" name="Rectangle 10"/>
          <p:cNvSpPr>
            <a:spLocks noChangeArrowheads="1"/>
          </p:cNvSpPr>
          <p:nvPr/>
        </p:nvSpPr>
        <p:spPr bwMode="auto">
          <a:xfrm>
            <a:off x="107950" y="3294063"/>
            <a:ext cx="8856663" cy="360362"/>
          </a:xfrm>
          <a:prstGeom prst="rect">
            <a:avLst/>
          </a:prstGeom>
          <a:gradFill rotWithShape="1">
            <a:gsLst>
              <a:gs pos="0">
                <a:srgbClr val="FFFF99">
                  <a:alpha val="39998"/>
                </a:srgbClr>
              </a:gs>
              <a:gs pos="100000">
                <a:srgbClr val="767647">
                  <a:alpha val="39998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zh-CN" altLang="en-US">
              <a:ea typeface="宋体" charset="0"/>
            </a:endParaRPr>
          </a:p>
        </p:txBody>
      </p:sp>
      <p:sp>
        <p:nvSpPr>
          <p:cNvPr id="274443" name="Rectangle 11"/>
          <p:cNvSpPr>
            <a:spLocks noChangeArrowheads="1"/>
          </p:cNvSpPr>
          <p:nvPr/>
        </p:nvSpPr>
        <p:spPr bwMode="auto">
          <a:xfrm>
            <a:off x="107950" y="4041775"/>
            <a:ext cx="3600450" cy="360363"/>
          </a:xfrm>
          <a:prstGeom prst="rect">
            <a:avLst/>
          </a:prstGeom>
          <a:gradFill rotWithShape="1">
            <a:gsLst>
              <a:gs pos="0">
                <a:srgbClr val="FFFF99">
                  <a:alpha val="39998"/>
                </a:srgbClr>
              </a:gs>
              <a:gs pos="100000">
                <a:srgbClr val="767647">
                  <a:alpha val="39998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zh-CN" altLang="en-US">
              <a:ea typeface="宋体" charset="0"/>
            </a:endParaRPr>
          </a:p>
        </p:txBody>
      </p:sp>
      <p:sp>
        <p:nvSpPr>
          <p:cNvPr id="274444" name="Rectangle 12"/>
          <p:cNvSpPr>
            <a:spLocks noChangeArrowheads="1"/>
          </p:cNvSpPr>
          <p:nvPr/>
        </p:nvSpPr>
        <p:spPr bwMode="auto">
          <a:xfrm>
            <a:off x="107950" y="4432300"/>
            <a:ext cx="5040313" cy="360363"/>
          </a:xfrm>
          <a:prstGeom prst="rect">
            <a:avLst/>
          </a:prstGeom>
          <a:gradFill rotWithShape="1">
            <a:gsLst>
              <a:gs pos="0">
                <a:srgbClr val="FFFF99">
                  <a:alpha val="39998"/>
                </a:srgbClr>
              </a:gs>
              <a:gs pos="100000">
                <a:srgbClr val="767647">
                  <a:alpha val="39998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zh-CN" altLang="en-US">
              <a:ea typeface="宋体" charset="0"/>
            </a:endParaRPr>
          </a:p>
        </p:txBody>
      </p:sp>
      <p:sp>
        <p:nvSpPr>
          <p:cNvPr id="274445" name="Rectangle 13"/>
          <p:cNvSpPr>
            <a:spLocks noChangeArrowheads="1"/>
          </p:cNvSpPr>
          <p:nvPr/>
        </p:nvSpPr>
        <p:spPr bwMode="auto">
          <a:xfrm>
            <a:off x="107950" y="4805363"/>
            <a:ext cx="5040313" cy="360362"/>
          </a:xfrm>
          <a:prstGeom prst="rect">
            <a:avLst/>
          </a:prstGeom>
          <a:gradFill rotWithShape="1">
            <a:gsLst>
              <a:gs pos="0">
                <a:srgbClr val="FFFF99">
                  <a:alpha val="39998"/>
                </a:srgbClr>
              </a:gs>
              <a:gs pos="100000">
                <a:srgbClr val="767647">
                  <a:alpha val="39998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zh-CN" altLang="en-US">
              <a:ea typeface="宋体" charset="0"/>
            </a:endParaRPr>
          </a:p>
        </p:txBody>
      </p:sp>
      <p:sp>
        <p:nvSpPr>
          <p:cNvPr id="274446" name="Rectangle 14"/>
          <p:cNvSpPr>
            <a:spLocks noChangeArrowheads="1"/>
          </p:cNvSpPr>
          <p:nvPr/>
        </p:nvSpPr>
        <p:spPr bwMode="auto">
          <a:xfrm>
            <a:off x="107950" y="5165725"/>
            <a:ext cx="5040313" cy="360363"/>
          </a:xfrm>
          <a:prstGeom prst="rect">
            <a:avLst/>
          </a:prstGeom>
          <a:gradFill rotWithShape="1">
            <a:gsLst>
              <a:gs pos="0">
                <a:srgbClr val="FFFF99">
                  <a:alpha val="39998"/>
                </a:srgbClr>
              </a:gs>
              <a:gs pos="100000">
                <a:srgbClr val="767647">
                  <a:alpha val="39998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zh-CN" altLang="en-US">
              <a:ea typeface="宋体" charset="0"/>
            </a:endParaRPr>
          </a:p>
        </p:txBody>
      </p:sp>
      <p:sp>
        <p:nvSpPr>
          <p:cNvPr id="274447" name="Rectangle 15"/>
          <p:cNvSpPr>
            <a:spLocks noChangeArrowheads="1"/>
          </p:cNvSpPr>
          <p:nvPr/>
        </p:nvSpPr>
        <p:spPr bwMode="auto">
          <a:xfrm>
            <a:off x="106363" y="5511800"/>
            <a:ext cx="5041900" cy="360363"/>
          </a:xfrm>
          <a:prstGeom prst="rect">
            <a:avLst/>
          </a:prstGeom>
          <a:gradFill rotWithShape="1">
            <a:gsLst>
              <a:gs pos="0">
                <a:srgbClr val="FFFF99">
                  <a:alpha val="39998"/>
                </a:srgbClr>
              </a:gs>
              <a:gs pos="100000">
                <a:srgbClr val="767647">
                  <a:alpha val="39998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endParaRPr lang="zh-CN" altLang="en-US">
              <a:ea typeface="宋体" charset="0"/>
            </a:endParaRPr>
          </a:p>
        </p:txBody>
      </p:sp>
      <p:sp>
        <p:nvSpPr>
          <p:cNvPr id="274448" name="Rectangle 16"/>
          <p:cNvSpPr>
            <a:spLocks noChangeArrowheads="1"/>
          </p:cNvSpPr>
          <p:nvPr/>
        </p:nvSpPr>
        <p:spPr bwMode="auto">
          <a:xfrm>
            <a:off x="8459788" y="1535113"/>
            <a:ext cx="550862" cy="36671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kumimoji="1" lang="en-US" altLang="zh-CN" b="1">
                <a:solidFill>
                  <a:schemeClr val="bg1"/>
                </a:solidFill>
                <a:latin typeface="Courier New" charset="0"/>
                <a:ea typeface="宋体" charset="0"/>
              </a:rPr>
              <a:t>A↙</a:t>
            </a:r>
          </a:p>
        </p:txBody>
      </p:sp>
      <p:sp>
        <p:nvSpPr>
          <p:cNvPr id="274449" name="Rectangle 17"/>
          <p:cNvSpPr>
            <a:spLocks noChangeArrowheads="1"/>
          </p:cNvSpPr>
          <p:nvPr/>
        </p:nvSpPr>
        <p:spPr bwMode="auto">
          <a:xfrm>
            <a:off x="3851275" y="1844675"/>
            <a:ext cx="5292725" cy="36671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kumimoji="1" lang="fr-FR" altLang="zh-CN" b="1">
                <a:solidFill>
                  <a:schemeClr val="bg1"/>
                </a:solidFill>
                <a:latin typeface="Courier New" charset="0"/>
                <a:ea typeface="宋体" charset="0"/>
              </a:rPr>
              <a:t>You pressed</a:t>
            </a:r>
            <a:endParaRPr kumimoji="1" lang="en-US" altLang="zh-CN" b="1">
              <a:solidFill>
                <a:schemeClr val="bg1"/>
              </a:solidFill>
              <a:latin typeface="Courier New" charset="0"/>
              <a:ea typeface="宋体" charset="0"/>
            </a:endParaRPr>
          </a:p>
        </p:txBody>
      </p:sp>
      <p:sp>
        <p:nvSpPr>
          <p:cNvPr id="274450" name="Rectangle 18"/>
          <p:cNvSpPr>
            <a:spLocks noChangeArrowheads="1"/>
          </p:cNvSpPr>
          <p:nvPr/>
        </p:nvSpPr>
        <p:spPr bwMode="auto">
          <a:xfrm>
            <a:off x="5570538" y="1844675"/>
            <a:ext cx="320675" cy="36671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kumimoji="1" lang="en-US" altLang="zh-CN" b="1">
                <a:solidFill>
                  <a:schemeClr val="bg1"/>
                </a:solidFill>
                <a:latin typeface="Courier New" charset="0"/>
                <a:ea typeface="宋体" charset="0"/>
              </a:rPr>
              <a:t>A</a:t>
            </a:r>
          </a:p>
        </p:txBody>
      </p:sp>
      <p:sp>
        <p:nvSpPr>
          <p:cNvPr id="274451" name="Rectangle 19"/>
          <p:cNvSpPr>
            <a:spLocks noChangeArrowheads="1"/>
          </p:cNvSpPr>
          <p:nvPr/>
        </p:nvSpPr>
        <p:spPr bwMode="auto">
          <a:xfrm>
            <a:off x="681038" y="333375"/>
            <a:ext cx="7797800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/>
          <a:p>
            <a:pPr algn="ctr">
              <a:lnSpc>
                <a:spcPct val="85000"/>
              </a:lnSpc>
              <a:defRPr/>
            </a:pP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例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3.2</a:t>
            </a:r>
            <a:endParaRPr kumimoji="1" lang="zh-CN" altLang="en-US" sz="4400" b="1" i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74453" name="AutoShape 21"/>
          <p:cNvSpPr>
            <a:spLocks/>
          </p:cNvSpPr>
          <p:nvPr/>
        </p:nvSpPr>
        <p:spPr bwMode="auto">
          <a:xfrm>
            <a:off x="773113" y="6092825"/>
            <a:ext cx="3294062" cy="609600"/>
          </a:xfrm>
          <a:prstGeom prst="borderCallout3">
            <a:avLst>
              <a:gd name="adj1" fmla="val 18750"/>
              <a:gd name="adj2" fmla="val 102315"/>
              <a:gd name="adj3" fmla="val 18750"/>
              <a:gd name="adj4" fmla="val 102940"/>
              <a:gd name="adj5" fmla="val -50000"/>
              <a:gd name="adj6" fmla="val 102940"/>
              <a:gd name="adj7" fmla="val -119009"/>
              <a:gd name="adj8" fmla="val 31713"/>
            </a:avLst>
          </a:prstGeom>
          <a:solidFill>
            <a:srgbClr val="FFCC99"/>
          </a:solidFill>
          <a:ln w="9525" algn="ctr">
            <a:solidFill>
              <a:srgbClr val="FF0000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</a:pPr>
            <a:r>
              <a:rPr lang="zh-CN" altLang="en-US" sz="2400" b="1">
                <a:solidFill>
                  <a:srgbClr val="3366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</a:rPr>
              <a:t>该语句的作用是什么？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6C910-CFD7-C448-AA2A-B8C2AA611C54}" type="datetime1">
              <a:rPr lang="zh-CN" altLang="en-US" smtClean="0"/>
              <a:t>2022/9/10</a:t>
            </a:fld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74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274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74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74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274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74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274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274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27443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500"/>
                                        <p:tgtEl>
                                          <p:spTgt spid="27443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27443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74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4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74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74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27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4" grpId="0" build="allAtOnce" autoUpdateAnimBg="0"/>
      <p:bldP spid="274437" grpId="0" animBg="1" autoUpdateAnimBg="0"/>
      <p:bldP spid="274440" grpId="0" animBg="1"/>
      <p:bldP spid="274440" grpId="1" animBg="1"/>
      <p:bldP spid="274442" grpId="0" animBg="1"/>
      <p:bldP spid="274442" grpId="1" animBg="1"/>
      <p:bldP spid="274443" grpId="0" animBg="1"/>
      <p:bldP spid="274443" grpId="1" animBg="1"/>
      <p:bldP spid="274444" grpId="0" animBg="1"/>
      <p:bldP spid="274444" grpId="1" animBg="1"/>
      <p:bldP spid="274445" grpId="0" animBg="1"/>
      <p:bldP spid="274445" grpId="1" animBg="1"/>
      <p:bldP spid="274446" grpId="0" animBg="1"/>
      <p:bldP spid="274446" grpId="1" animBg="1"/>
      <p:bldP spid="274447" grpId="0" animBg="1"/>
      <p:bldP spid="274447" grpId="1" animBg="1"/>
      <p:bldP spid="274448" grpId="0" animBg="1" autoUpdateAnimBg="0"/>
      <p:bldP spid="274449" grpId="0" animBg="1" autoUpdateAnimBg="0"/>
      <p:bldP spid="274450" grpId="0" animBg="1" autoUpdateAnimBg="0"/>
      <p:bldP spid="27445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84632"/>
            <a:ext cx="7772400" cy="807021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accent2"/>
                </a:solidFill>
              </a:rPr>
              <a:t>格式输出函数</a:t>
            </a:r>
          </a:p>
        </p:txBody>
      </p:sp>
      <p:sp>
        <p:nvSpPr>
          <p:cNvPr id="31539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84313"/>
            <a:ext cx="8458200" cy="4611687"/>
          </a:xfrm>
        </p:spPr>
        <p:txBody>
          <a:bodyPr/>
          <a:lstStyle/>
          <a:p>
            <a:r>
              <a:rPr kumimoji="1" lang="zh-CN" altLang="en-US" dirty="0">
                <a:solidFill>
                  <a:schemeClr val="accent2"/>
                </a:solidFill>
                <a:latin typeface="Courier New" charset="0"/>
                <a:ea typeface="宋体" charset="0"/>
              </a:rPr>
              <a:t>格式输出函数</a:t>
            </a:r>
          </a:p>
          <a:p>
            <a:pPr lvl="1"/>
            <a:r>
              <a:rPr kumimoji="1" lang="en-US" altLang="zh-CN" dirty="0" err="1">
                <a:solidFill>
                  <a:schemeClr val="accent2"/>
                </a:solidFill>
                <a:latin typeface="Courier New" charset="0"/>
                <a:ea typeface="宋体" charset="0"/>
              </a:rPr>
              <a:t>Printf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  <a:ea typeface="宋体" charset="0"/>
              </a:rPr>
              <a:t>(</a:t>
            </a:r>
            <a:r>
              <a:rPr kumimoji="1" lang="zh-CN" altLang="en-US" dirty="0">
                <a:solidFill>
                  <a:schemeClr val="tx1"/>
                </a:solidFill>
                <a:latin typeface="Courier New" charset="0"/>
                <a:ea typeface="宋体" charset="0"/>
              </a:rPr>
              <a:t>格式控制字符串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  <a:ea typeface="宋体" charset="0"/>
              </a:rPr>
              <a:t>, </a:t>
            </a:r>
            <a:r>
              <a:rPr kumimoji="1" lang="zh-CN" altLang="en-US" dirty="0">
                <a:solidFill>
                  <a:schemeClr val="tx1"/>
                </a:solidFill>
                <a:latin typeface="Courier New" charset="0"/>
                <a:ea typeface="宋体" charset="0"/>
              </a:rPr>
              <a:t>输出项表列</a:t>
            </a:r>
            <a:r>
              <a:rPr kumimoji="1" lang="en-US" altLang="zh-CN" dirty="0">
                <a:solidFill>
                  <a:schemeClr val="tx1"/>
                </a:solidFill>
                <a:latin typeface="Courier New" charset="0"/>
                <a:ea typeface="宋体" charset="0"/>
              </a:rPr>
              <a:t>);</a:t>
            </a:r>
          </a:p>
          <a:p>
            <a:pPr lvl="1"/>
            <a:r>
              <a:rPr kumimoji="1" lang="zh-CN" altLang="en-US" dirty="0">
                <a:solidFill>
                  <a:schemeClr val="hlink"/>
                </a:solidFill>
                <a:ea typeface="宋体" charset="0"/>
              </a:rPr>
              <a:t>输出若干个任意类型的数据</a:t>
            </a:r>
          </a:p>
          <a:p>
            <a:r>
              <a:rPr kumimoji="1" lang="en-US" altLang="zh-CN" sz="3600" u="sng" dirty="0" err="1">
                <a:solidFill>
                  <a:schemeClr val="accent2"/>
                </a:solidFill>
                <a:effectLst/>
                <a:latin typeface="Courier New" charset="0"/>
                <a:ea typeface="宋体" charset="0"/>
              </a:rPr>
              <a:t>printf</a:t>
            </a:r>
            <a:r>
              <a:rPr kumimoji="1" lang="en-US" altLang="zh-CN" sz="3600" dirty="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(</a:t>
            </a:r>
            <a:r>
              <a:rPr kumimoji="1" lang="fr-FR" altLang="zh-CN" sz="3600" dirty="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"</a:t>
            </a:r>
            <a:r>
              <a:rPr kumimoji="1" lang="en-US" altLang="zh-CN" sz="3600" dirty="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a=</a:t>
            </a:r>
            <a:r>
              <a:rPr kumimoji="1" lang="en-US" altLang="zh-CN" sz="3600" u="sng" dirty="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%d</a:t>
            </a:r>
            <a:r>
              <a:rPr kumimoji="1" lang="en-US" altLang="zh-CN" sz="3600" dirty="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 b=</a:t>
            </a:r>
            <a:r>
              <a:rPr kumimoji="1" lang="en-US" altLang="zh-CN" sz="3600" u="sng" dirty="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%f</a:t>
            </a:r>
            <a:r>
              <a:rPr kumimoji="1" lang="fr-FR" altLang="zh-CN" sz="3600" dirty="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"</a:t>
            </a:r>
            <a:r>
              <a:rPr kumimoji="1" lang="en-US" altLang="zh-CN" sz="3600" dirty="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, </a:t>
            </a:r>
            <a:r>
              <a:rPr kumimoji="1" lang="en-US" altLang="zh-CN" sz="3600" u="sng" dirty="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a, b</a:t>
            </a:r>
            <a:r>
              <a:rPr kumimoji="1" lang="en-US" altLang="zh-CN" sz="3600" dirty="0">
                <a:solidFill>
                  <a:schemeClr val="tx1"/>
                </a:solidFill>
                <a:effectLst/>
                <a:latin typeface="Courier New" charset="0"/>
                <a:ea typeface="宋体" charset="0"/>
              </a:rPr>
              <a:t>);</a:t>
            </a:r>
            <a:endParaRPr kumimoji="1" lang="zh-CN" altLang="en-US" sz="3600" dirty="0">
              <a:solidFill>
                <a:schemeClr val="tx1"/>
              </a:solidFill>
              <a:effectLst/>
              <a:latin typeface="Courier New" charset="0"/>
              <a:ea typeface="宋体" charset="0"/>
            </a:endParaRPr>
          </a:p>
        </p:txBody>
      </p:sp>
      <p:sp>
        <p:nvSpPr>
          <p:cNvPr id="315397" name="AutoShape 5"/>
          <p:cNvSpPr>
            <a:spLocks/>
          </p:cNvSpPr>
          <p:nvPr/>
        </p:nvSpPr>
        <p:spPr bwMode="auto">
          <a:xfrm>
            <a:off x="381000" y="4114800"/>
            <a:ext cx="1562100" cy="617538"/>
          </a:xfrm>
          <a:prstGeom prst="accentCallout2">
            <a:avLst>
              <a:gd name="adj1" fmla="val 18509"/>
              <a:gd name="adj2" fmla="val 104880"/>
              <a:gd name="adj3" fmla="val 18509"/>
              <a:gd name="adj4" fmla="val 106403"/>
              <a:gd name="adj5" fmla="val -117995"/>
              <a:gd name="adj6" fmla="val 107926"/>
            </a:avLst>
          </a:prstGeom>
          <a:solidFill>
            <a:srgbClr val="FFCC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kumimoji="1" lang="zh-CN" altLang="en-US" sz="3200">
                <a:latin typeface="Times New Roman" charset="0"/>
                <a:ea typeface="宋体" charset="0"/>
              </a:rPr>
              <a:t> 函数名</a:t>
            </a:r>
          </a:p>
        </p:txBody>
      </p:sp>
      <p:sp>
        <p:nvSpPr>
          <p:cNvPr id="315399" name="AutoShape 7"/>
          <p:cNvSpPr>
            <a:spLocks/>
          </p:cNvSpPr>
          <p:nvPr/>
        </p:nvSpPr>
        <p:spPr bwMode="auto">
          <a:xfrm>
            <a:off x="8027988" y="4365625"/>
            <a:ext cx="647700" cy="2079625"/>
          </a:xfrm>
          <a:prstGeom prst="accentCallout2">
            <a:avLst>
              <a:gd name="adj1" fmla="val 5495"/>
              <a:gd name="adj2" fmla="val -11764"/>
              <a:gd name="adj3" fmla="val 5495"/>
              <a:gd name="adj4" fmla="val -59069"/>
              <a:gd name="adj5" fmla="val -40380"/>
              <a:gd name="adj6" fmla="val -107843"/>
            </a:avLst>
          </a:prstGeom>
          <a:solidFill>
            <a:srgbClr val="FFCC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kumimoji="1" lang="zh-CN" altLang="en-US" sz="3200">
                <a:latin typeface="Times New Roman" charset="0"/>
                <a:ea typeface="宋体" charset="0"/>
              </a:rPr>
              <a:t>输</a:t>
            </a:r>
          </a:p>
          <a:p>
            <a:pPr eaLnBrk="1" hangingPunct="1"/>
            <a:r>
              <a:rPr kumimoji="1" lang="zh-CN" altLang="en-US" sz="3200">
                <a:latin typeface="Times New Roman" charset="0"/>
                <a:ea typeface="宋体" charset="0"/>
              </a:rPr>
              <a:t>出</a:t>
            </a:r>
          </a:p>
          <a:p>
            <a:pPr eaLnBrk="1" hangingPunct="1"/>
            <a:r>
              <a:rPr kumimoji="1" lang="zh-CN" altLang="en-US" sz="3200">
                <a:latin typeface="Times New Roman" charset="0"/>
                <a:ea typeface="宋体" charset="0"/>
              </a:rPr>
              <a:t>表</a:t>
            </a:r>
          </a:p>
          <a:p>
            <a:pPr eaLnBrk="1" hangingPunct="1"/>
            <a:r>
              <a:rPr kumimoji="1" lang="zh-CN" altLang="en-US" sz="3200">
                <a:latin typeface="Times New Roman" charset="0"/>
                <a:ea typeface="宋体" charset="0"/>
              </a:rPr>
              <a:t>列</a:t>
            </a:r>
          </a:p>
        </p:txBody>
      </p:sp>
      <p:sp>
        <p:nvSpPr>
          <p:cNvPr id="315400" name="AutoShape 8"/>
          <p:cNvSpPr>
            <a:spLocks/>
          </p:cNvSpPr>
          <p:nvPr/>
        </p:nvSpPr>
        <p:spPr bwMode="auto">
          <a:xfrm>
            <a:off x="1752600" y="4953000"/>
            <a:ext cx="1066800" cy="1104900"/>
          </a:xfrm>
          <a:prstGeom prst="accentCallout2">
            <a:avLst>
              <a:gd name="adj1" fmla="val 10343"/>
              <a:gd name="adj2" fmla="val 107144"/>
              <a:gd name="adj3" fmla="val 10343"/>
              <a:gd name="adj4" fmla="val 107144"/>
              <a:gd name="adj5" fmla="val -137356"/>
              <a:gd name="adj6" fmla="val 169194"/>
            </a:avLst>
          </a:prstGeom>
          <a:solidFill>
            <a:srgbClr val="FFCC99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kumimoji="1" lang="zh-CN" altLang="en-US" sz="3200">
                <a:latin typeface="Times New Roman" charset="0"/>
                <a:ea typeface="宋体" charset="0"/>
              </a:rPr>
              <a:t>普通字符</a:t>
            </a:r>
          </a:p>
        </p:txBody>
      </p:sp>
      <p:sp>
        <p:nvSpPr>
          <p:cNvPr id="315403" name="Line 11"/>
          <p:cNvSpPr>
            <a:spLocks noChangeShapeType="1"/>
          </p:cNvSpPr>
          <p:nvPr/>
        </p:nvSpPr>
        <p:spPr bwMode="auto">
          <a:xfrm>
            <a:off x="3403600" y="3373438"/>
            <a:ext cx="520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5404" name="Line 12"/>
          <p:cNvSpPr>
            <a:spLocks noChangeShapeType="1"/>
          </p:cNvSpPr>
          <p:nvPr/>
        </p:nvSpPr>
        <p:spPr bwMode="auto">
          <a:xfrm>
            <a:off x="4748213" y="3360738"/>
            <a:ext cx="5286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5405" name="Line 13"/>
          <p:cNvSpPr>
            <a:spLocks noChangeShapeType="1"/>
          </p:cNvSpPr>
          <p:nvPr/>
        </p:nvSpPr>
        <p:spPr bwMode="auto">
          <a:xfrm flipH="1">
            <a:off x="3276600" y="3429000"/>
            <a:ext cx="1582738" cy="7207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20"/>
          <p:cNvGrpSpPr>
            <a:grpSpLocks/>
          </p:cNvGrpSpPr>
          <p:nvPr/>
        </p:nvGrpSpPr>
        <p:grpSpPr bwMode="auto">
          <a:xfrm>
            <a:off x="4067175" y="3429000"/>
            <a:ext cx="3324225" cy="1966913"/>
            <a:chOff x="2562" y="2160"/>
            <a:chExt cx="2094" cy="1239"/>
          </a:xfrm>
        </p:grpSpPr>
        <p:sp>
          <p:nvSpPr>
            <p:cNvPr id="12299" name="AutoShape 6"/>
            <p:cNvSpPr>
              <a:spLocks/>
            </p:cNvSpPr>
            <p:nvPr/>
          </p:nvSpPr>
          <p:spPr bwMode="auto">
            <a:xfrm>
              <a:off x="3360" y="3010"/>
              <a:ext cx="1296" cy="389"/>
            </a:xfrm>
            <a:prstGeom prst="accentCallout2">
              <a:avLst>
                <a:gd name="adj1" fmla="val 18509"/>
                <a:gd name="adj2" fmla="val -3704"/>
                <a:gd name="adj3" fmla="val 18509"/>
                <a:gd name="adj4" fmla="val -24616"/>
                <a:gd name="adj5" fmla="val -152444"/>
                <a:gd name="adj6" fmla="val -39042"/>
              </a:avLst>
            </a:prstGeom>
            <a:solidFill>
              <a:srgbClr val="FFCC99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kumimoji="1" lang="zh-CN" altLang="en-US" sz="3200">
                  <a:latin typeface="Times New Roman" charset="0"/>
                  <a:ea typeface="宋体" charset="0"/>
                </a:rPr>
                <a:t>格式说明</a:t>
              </a:r>
              <a:endParaRPr kumimoji="1" lang="zh-CN" altLang="en-US" sz="3200">
                <a:solidFill>
                  <a:schemeClr val="accent2"/>
                </a:solidFill>
                <a:latin typeface="Times New Roman" charset="0"/>
                <a:ea typeface="宋体" charset="0"/>
              </a:endParaRPr>
            </a:p>
          </p:txBody>
        </p:sp>
        <p:grpSp>
          <p:nvGrpSpPr>
            <p:cNvPr id="12300" name="Group 14"/>
            <p:cNvGrpSpPr>
              <a:grpSpLocks/>
            </p:cNvGrpSpPr>
            <p:nvPr/>
          </p:nvGrpSpPr>
          <p:grpSpPr bwMode="auto">
            <a:xfrm>
              <a:off x="2562" y="2163"/>
              <a:ext cx="432" cy="240"/>
              <a:chOff x="2496" y="2160"/>
              <a:chExt cx="432" cy="240"/>
            </a:xfrm>
          </p:grpSpPr>
          <p:sp>
            <p:nvSpPr>
              <p:cNvPr id="12304" name="Line 15"/>
              <p:cNvSpPr>
                <a:spLocks noChangeShapeType="1"/>
              </p:cNvSpPr>
              <p:nvPr/>
            </p:nvSpPr>
            <p:spPr bwMode="auto">
              <a:xfrm>
                <a:off x="2496" y="2160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05" name="Line 16"/>
              <p:cNvSpPr>
                <a:spLocks noChangeShapeType="1"/>
              </p:cNvSpPr>
              <p:nvPr/>
            </p:nvSpPr>
            <p:spPr bwMode="auto">
              <a:xfrm>
                <a:off x="2496" y="2400"/>
                <a:ext cx="43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2301" name="Group 17"/>
            <p:cNvGrpSpPr>
              <a:grpSpLocks/>
            </p:cNvGrpSpPr>
            <p:nvPr/>
          </p:nvGrpSpPr>
          <p:grpSpPr bwMode="auto">
            <a:xfrm>
              <a:off x="2982" y="2160"/>
              <a:ext cx="695" cy="240"/>
              <a:chOff x="2916" y="2160"/>
              <a:chExt cx="816" cy="240"/>
            </a:xfrm>
          </p:grpSpPr>
          <p:sp>
            <p:nvSpPr>
              <p:cNvPr id="12302" name="Line 18"/>
              <p:cNvSpPr>
                <a:spLocks noChangeShapeType="1"/>
              </p:cNvSpPr>
              <p:nvPr/>
            </p:nvSpPr>
            <p:spPr bwMode="auto">
              <a:xfrm>
                <a:off x="3732" y="2160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03" name="Line 19"/>
              <p:cNvSpPr>
                <a:spLocks noChangeShapeType="1"/>
              </p:cNvSpPr>
              <p:nvPr/>
            </p:nvSpPr>
            <p:spPr bwMode="auto">
              <a:xfrm flipH="1">
                <a:off x="2916" y="2400"/>
                <a:ext cx="81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CBBD80-09ED-3A4E-9259-90D293D42F8B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1539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叮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5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31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31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31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1539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叮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5397" grpId="0" animBg="1" autoUpdateAnimBg="0"/>
      <p:bldP spid="315399" grpId="0" animBg="1" autoUpdateAnimBg="0"/>
      <p:bldP spid="315400" grpId="0" animBg="1" autoUpdateAnimBg="0"/>
      <p:bldP spid="315403" grpId="0" animBg="1"/>
      <p:bldP spid="315404" grpId="0" animBg="1"/>
      <p:bldP spid="31540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228600" y="228600"/>
            <a:ext cx="8686800" cy="287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 err="1">
                <a:latin typeface="Courier New" charset="0"/>
                <a:ea typeface="宋体" charset="0"/>
              </a:rPr>
              <a:t>printf</a:t>
            </a:r>
            <a:r>
              <a:rPr kumimoji="1" lang="zh-CN" altLang="en-US" sz="2800" b="1" dirty="0">
                <a:latin typeface="Courier New" charset="0"/>
                <a:ea typeface="宋体" charset="0"/>
              </a:rPr>
              <a:t>的功能：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Courier New" charset="0"/>
                <a:ea typeface="宋体" charset="0"/>
              </a:rPr>
              <a:t>   </a:t>
            </a:r>
            <a:r>
              <a:rPr kumimoji="1" lang="en-US" altLang="zh-CN" sz="2800" b="1" dirty="0" err="1">
                <a:latin typeface="Courier New" charset="0"/>
                <a:ea typeface="宋体" charset="0"/>
              </a:rPr>
              <a:t>printf</a:t>
            </a:r>
            <a:r>
              <a:rPr kumimoji="1" lang="en-US" altLang="zh-CN" sz="2800" b="1" dirty="0">
                <a:latin typeface="Courier New" charset="0"/>
                <a:ea typeface="宋体" charset="0"/>
              </a:rPr>
              <a:t>(</a:t>
            </a:r>
            <a:r>
              <a:rPr kumimoji="1" lang="zh-CN" altLang="en-US" sz="2800" b="1" dirty="0">
                <a:solidFill>
                  <a:schemeClr val="accent2"/>
                </a:solidFill>
                <a:latin typeface="Times New Roman" charset="0"/>
                <a:ea typeface="楷体_GB2312" charset="0"/>
              </a:rPr>
              <a:t>格式描述串</a:t>
            </a:r>
            <a:r>
              <a:rPr kumimoji="1" lang="en-US" altLang="zh-CN" sz="2800" b="1" dirty="0">
                <a:latin typeface="Courier New" charset="0"/>
                <a:ea typeface="宋体" charset="0"/>
              </a:rPr>
              <a:t>, </a:t>
            </a:r>
            <a:r>
              <a:rPr kumimoji="1" lang="zh-CN" altLang="en-US" sz="2800" b="1" dirty="0">
                <a:solidFill>
                  <a:schemeClr val="accent2"/>
                </a:solidFill>
                <a:latin typeface="Times New Roman" charset="0"/>
                <a:ea typeface="楷体_GB2312" charset="0"/>
              </a:rPr>
              <a:t>其他参数</a:t>
            </a:r>
            <a:r>
              <a:rPr kumimoji="1" lang="en-US" altLang="zh-CN" sz="2800" b="1" dirty="0">
                <a:latin typeface="Courier New" charset="0"/>
                <a:ea typeface="宋体" charset="0"/>
              </a:rPr>
              <a:t>)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Courier New" charset="0"/>
                <a:ea typeface="宋体" charset="0"/>
              </a:rPr>
              <a:t>第一个参数应</a:t>
            </a:r>
            <a:r>
              <a:rPr kumimoji="1" lang="zh-CN" altLang="en-US" sz="2800" b="1" dirty="0">
                <a:latin typeface="Times New Roman" charset="0"/>
                <a:ea typeface="宋体" charset="0"/>
              </a:rPr>
              <a:t>是字符串，可以有其他参数。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Times New Roman" charset="0"/>
                <a:ea typeface="宋体" charset="0"/>
              </a:rPr>
              <a:t>如果“格式描述串”里没有 </a:t>
            </a:r>
            <a:r>
              <a:rPr kumimoji="1" lang="en-US" altLang="zh-CN" sz="2800" b="1" dirty="0">
                <a:latin typeface="Courier New" charset="0"/>
                <a:ea typeface="宋体" charset="0"/>
              </a:rPr>
              <a:t>%</a:t>
            </a:r>
            <a:r>
              <a:rPr kumimoji="1" lang="zh-CN" altLang="en-US" sz="2800" b="1" dirty="0">
                <a:latin typeface="Times New Roman" charset="0"/>
                <a:ea typeface="宋体" charset="0"/>
              </a:rPr>
              <a:t>，也没有</a:t>
            </a:r>
            <a:r>
              <a:rPr kumimoji="1" lang="zh-CN" altLang="en-US" sz="2800" b="1" dirty="0">
                <a:solidFill>
                  <a:schemeClr val="accent2"/>
                </a:solidFill>
                <a:latin typeface="Times New Roman" charset="0"/>
                <a:ea typeface="楷体_GB2312" charset="0"/>
              </a:rPr>
              <a:t>其他参数</a:t>
            </a:r>
            <a:r>
              <a:rPr kumimoji="1" lang="zh-CN" altLang="en-US" sz="2800" b="1" dirty="0">
                <a:latin typeface="Times New Roman" charset="0"/>
                <a:ea typeface="宋体" charset="0"/>
              </a:rPr>
              <a:t>，</a:t>
            </a:r>
            <a:r>
              <a:rPr kumimoji="1" lang="en-US" altLang="zh-CN" sz="2800" b="1" dirty="0" err="1">
                <a:latin typeface="Courier New" charset="0"/>
                <a:ea typeface="宋体" charset="0"/>
              </a:rPr>
              <a:t>printf</a:t>
            </a:r>
            <a:r>
              <a:rPr kumimoji="1" lang="zh-CN" altLang="en-US" sz="2800" b="1" dirty="0">
                <a:latin typeface="Times New Roman" charset="0"/>
                <a:ea typeface="宋体" charset="0"/>
              </a:rPr>
              <a:t>输出</a:t>
            </a:r>
            <a:r>
              <a:rPr kumimoji="1" lang="zh-CN" altLang="en-US" sz="2800" b="1" dirty="0">
                <a:solidFill>
                  <a:schemeClr val="accent2"/>
                </a:solidFill>
                <a:latin typeface="Times New Roman" charset="0"/>
                <a:ea typeface="楷体_GB2312" charset="0"/>
              </a:rPr>
              <a:t>格式描述串</a:t>
            </a:r>
            <a:r>
              <a:rPr kumimoji="1" lang="zh-CN" altLang="en-US" sz="2800" b="1" dirty="0">
                <a:latin typeface="Times New Roman" charset="0"/>
                <a:ea typeface="宋体" charset="0"/>
              </a:rPr>
              <a:t>。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225425" y="3313113"/>
            <a:ext cx="8732838" cy="265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800" b="1" dirty="0" err="1">
                <a:latin typeface="Courier New" charset="0"/>
                <a:ea typeface="宋体" charset="0"/>
              </a:rPr>
              <a:t>printf</a:t>
            </a:r>
            <a:r>
              <a:rPr kumimoji="1" lang="en-US" altLang="zh-CN" sz="2800" b="1" dirty="0">
                <a:latin typeface="Courier New" charset="0"/>
                <a:ea typeface="宋体" charset="0"/>
              </a:rPr>
              <a:t>("Welcome\</a:t>
            </a:r>
            <a:r>
              <a:rPr kumimoji="1" lang="en-US" altLang="zh-CN" sz="2800" b="1" dirty="0" err="1">
                <a:latin typeface="Courier New" charset="0"/>
                <a:ea typeface="宋体" charset="0"/>
              </a:rPr>
              <a:t>nto</a:t>
            </a:r>
            <a:r>
              <a:rPr kumimoji="1" lang="en-US" altLang="zh-CN" sz="2800" b="1" dirty="0">
                <a:latin typeface="Courier New" charset="0"/>
                <a:ea typeface="宋体" charset="0"/>
              </a:rPr>
              <a:t>\</a:t>
            </a:r>
            <a:r>
              <a:rPr kumimoji="1" lang="en-US" altLang="zh-CN" sz="2800" b="1" dirty="0" err="1">
                <a:latin typeface="Courier New" charset="0"/>
                <a:ea typeface="宋体" charset="0"/>
              </a:rPr>
              <a:t>nBeijing</a:t>
            </a:r>
            <a:r>
              <a:rPr kumimoji="1" lang="en-US" altLang="zh-CN" sz="2800" b="1" dirty="0">
                <a:latin typeface="Courier New" charset="0"/>
                <a:ea typeface="宋体" charset="0"/>
              </a:rPr>
              <a:t>!\n");</a:t>
            </a:r>
            <a:endParaRPr kumimoji="1" lang="en-US" altLang="zh-CN" sz="2800" b="1" dirty="0">
              <a:latin typeface="Times New Roman" charset="0"/>
              <a:ea typeface="宋体" charset="0"/>
            </a:endParaRPr>
          </a:p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charset="0"/>
                <a:ea typeface="宋体" charset="0"/>
              </a:rPr>
              <a:t>输出三行字符：</a:t>
            </a:r>
          </a:p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Courier New" charset="0"/>
                <a:ea typeface="宋体" charset="0"/>
              </a:rPr>
              <a:t>Welcome</a:t>
            </a:r>
          </a:p>
          <a:p>
            <a:r>
              <a:rPr kumimoji="1" lang="en-US" altLang="zh-CN" sz="2800" b="1" dirty="0">
                <a:latin typeface="Courier New" charset="0"/>
                <a:ea typeface="宋体" charset="0"/>
              </a:rPr>
              <a:t>to</a:t>
            </a:r>
          </a:p>
          <a:p>
            <a:r>
              <a:rPr kumimoji="1" lang="en-US" altLang="zh-CN" sz="2800" b="1" dirty="0">
                <a:latin typeface="Courier New" charset="0"/>
                <a:ea typeface="宋体" charset="0"/>
              </a:rPr>
              <a:t>Beijing!</a:t>
            </a:r>
            <a:endParaRPr kumimoji="1" lang="en-US" altLang="zh-CN" sz="2800" b="1" dirty="0">
              <a:latin typeface="Times New Roman" charset="0"/>
              <a:ea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4DC62-F4CE-8F49-8DA3-A630C62BE648}" type="datetime1">
              <a:rPr lang="zh-CN" altLang="en-US" smtClean="0"/>
              <a:t>2022/9/10</a:t>
            </a:fld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365125" y="350838"/>
            <a:ext cx="14049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FF0000"/>
                </a:solidFill>
              </a:rPr>
              <a:t>说明：</a:t>
            </a:r>
          </a:p>
        </p:txBody>
      </p:sp>
      <p:sp>
        <p:nvSpPr>
          <p:cNvPr id="299011" name="Text Box 3"/>
          <p:cNvSpPr txBox="1">
            <a:spLocks noChangeArrowheads="1"/>
          </p:cNvSpPr>
          <p:nvPr/>
        </p:nvSpPr>
        <p:spPr bwMode="auto">
          <a:xfrm>
            <a:off x="393700" y="968375"/>
            <a:ext cx="654538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/>
              <a:t>（1）</a:t>
            </a:r>
            <a:r>
              <a:rPr lang="zh-CN" altLang="en-US" b="1" dirty="0">
                <a:solidFill>
                  <a:schemeClr val="accent2"/>
                </a:solidFill>
                <a:ea typeface="楷体_GB2312" charset="0"/>
              </a:rPr>
              <a:t>格式描述串</a:t>
            </a:r>
            <a:r>
              <a:rPr lang="zh-CN" altLang="en-US" b="1" dirty="0">
                <a:solidFill>
                  <a:schemeClr val="accent2"/>
                </a:solidFill>
              </a:rPr>
              <a:t>用双引号括起来。</a:t>
            </a:r>
          </a:p>
        </p:txBody>
      </p:sp>
      <p:sp>
        <p:nvSpPr>
          <p:cNvPr id="299012" name="Text Box 4"/>
          <p:cNvSpPr txBox="1">
            <a:spLocks noChangeArrowheads="1"/>
          </p:cNvSpPr>
          <p:nvPr/>
        </p:nvSpPr>
        <p:spPr bwMode="auto">
          <a:xfrm>
            <a:off x="1495425" y="1625600"/>
            <a:ext cx="22240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/>
              <a:t>三种字符：</a:t>
            </a:r>
          </a:p>
        </p:txBody>
      </p:sp>
      <p:sp>
        <p:nvSpPr>
          <p:cNvPr id="299014" name="Text Box 6"/>
          <p:cNvSpPr txBox="1">
            <a:spLocks noChangeArrowheads="1"/>
          </p:cNvSpPr>
          <p:nvPr/>
        </p:nvSpPr>
        <p:spPr bwMode="auto">
          <a:xfrm>
            <a:off x="3511550" y="1708150"/>
            <a:ext cx="45942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/>
              <a:t>格式说明     </a:t>
            </a:r>
            <a:r>
              <a:rPr lang="zh-CN" altLang="en-US" b="1" dirty="0">
                <a:solidFill>
                  <a:srgbClr val="FF0000"/>
                </a:solidFill>
              </a:rPr>
              <a:t>%</a:t>
            </a:r>
            <a:r>
              <a:rPr lang="zh-CN" altLang="en-US" b="1" dirty="0"/>
              <a:t>+格式字符</a:t>
            </a:r>
          </a:p>
        </p:txBody>
      </p:sp>
      <p:sp>
        <p:nvSpPr>
          <p:cNvPr id="299015" name="Text Box 7"/>
          <p:cNvSpPr txBox="1">
            <a:spLocks noChangeArrowheads="1"/>
          </p:cNvSpPr>
          <p:nvPr/>
        </p:nvSpPr>
        <p:spPr bwMode="auto">
          <a:xfrm>
            <a:off x="3576638" y="2446338"/>
            <a:ext cx="34845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/>
              <a:t>转义字符     </a:t>
            </a:r>
            <a:r>
              <a:rPr lang="zh-CN" altLang="en-US" b="1" dirty="0">
                <a:solidFill>
                  <a:srgbClr val="FF0000"/>
                </a:solidFill>
              </a:rPr>
              <a:t>\</a:t>
            </a:r>
            <a:r>
              <a:rPr lang="zh-CN" altLang="en-US" b="1" dirty="0"/>
              <a:t>+字符</a:t>
            </a:r>
          </a:p>
        </p:txBody>
      </p:sp>
      <p:sp>
        <p:nvSpPr>
          <p:cNvPr id="299016" name="Text Box 8"/>
          <p:cNvSpPr txBox="1">
            <a:spLocks noChangeArrowheads="1"/>
          </p:cNvSpPr>
          <p:nvPr/>
        </p:nvSpPr>
        <p:spPr bwMode="auto">
          <a:xfrm>
            <a:off x="3573463" y="3284538"/>
            <a:ext cx="51800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/>
              <a:t>普通字符     原样输出的字符</a:t>
            </a:r>
          </a:p>
        </p:txBody>
      </p:sp>
      <p:sp>
        <p:nvSpPr>
          <p:cNvPr id="299017" name="Text Box 9"/>
          <p:cNvSpPr txBox="1">
            <a:spLocks noChangeArrowheads="1"/>
          </p:cNvSpPr>
          <p:nvPr/>
        </p:nvSpPr>
        <p:spPr bwMode="auto">
          <a:xfrm>
            <a:off x="341313" y="4022725"/>
            <a:ext cx="8412162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047750" indent="-1047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/>
              <a:t>（2）</a:t>
            </a:r>
            <a:r>
              <a:rPr lang="zh-CN" altLang="en-US" b="1" dirty="0">
                <a:solidFill>
                  <a:schemeClr val="accent2"/>
                </a:solidFill>
              </a:rPr>
              <a:t>输出表列中各量用逗号分开，常量、变量、表达式均可。</a:t>
            </a:r>
          </a:p>
        </p:txBody>
      </p:sp>
    </p:spTree>
    <p:extLst>
      <p:ext uri="{BB962C8B-B14F-4D97-AF65-F5344CB8AC3E}">
        <p14:creationId xmlns:p14="http://schemas.microsoft.com/office/powerpoint/2010/main" val="319644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79388" y="188913"/>
            <a:ext cx="8650287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 u="sng" dirty="0">
                <a:latin typeface="Times New Roman" charset="0"/>
                <a:ea typeface="宋体" charset="0"/>
              </a:rPr>
              <a:t>转换描述</a:t>
            </a:r>
            <a:r>
              <a:rPr kumimoji="1" lang="zh-CN" altLang="en-US" sz="2800" b="1" dirty="0">
                <a:latin typeface="Times New Roman" charset="0"/>
                <a:ea typeface="宋体" charset="0"/>
              </a:rPr>
              <a:t>（描述数据的输出转换方式）</a:t>
            </a:r>
            <a:endParaRPr kumimoji="1" lang="zh-CN" altLang="en-US" sz="2800" dirty="0">
              <a:latin typeface="Times New Roman" charset="0"/>
              <a:ea typeface="宋体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400" u="sng" dirty="0">
                <a:latin typeface="Times New Roman" charset="0"/>
                <a:ea typeface="宋体" charset="0"/>
              </a:rPr>
              <a:t>格式串</a:t>
            </a:r>
            <a:r>
              <a:rPr kumimoji="1" lang="zh-CN" altLang="en-US" sz="2400" dirty="0">
                <a:latin typeface="Times New Roman" charset="0"/>
                <a:ea typeface="宋体" charset="0"/>
              </a:rPr>
              <a:t>中</a:t>
            </a:r>
            <a:r>
              <a:rPr kumimoji="1" lang="en-US" altLang="zh-CN" sz="2400" dirty="0">
                <a:latin typeface="Courier New" charset="0"/>
                <a:ea typeface="宋体" charset="0"/>
              </a:rPr>
              <a:t>%</a:t>
            </a:r>
            <a:r>
              <a:rPr kumimoji="1" lang="zh-CN" altLang="en-US" sz="2400" dirty="0">
                <a:latin typeface="Times New Roman" charset="0"/>
                <a:ea typeface="宋体" charset="0"/>
              </a:rPr>
              <a:t>开始的段意义特殊（ “转换描述”）</a:t>
            </a:r>
          </a:p>
          <a:p>
            <a:pPr algn="just">
              <a:spcBef>
                <a:spcPct val="50000"/>
              </a:spcBef>
            </a:pPr>
            <a:r>
              <a:rPr kumimoji="1" lang="zh-CN" altLang="en-US" sz="2400" dirty="0">
                <a:latin typeface="Times New Roman" charset="0"/>
                <a:ea typeface="宋体" charset="0"/>
              </a:rPr>
              <a:t>每个转换描述说明一参数的输出形式（转换方式）。</a:t>
            </a:r>
          </a:p>
          <a:p>
            <a:r>
              <a:rPr kumimoji="1" lang="zh-CN" altLang="en-US" sz="2400" u="sng" dirty="0">
                <a:solidFill>
                  <a:srgbClr val="FF0000"/>
                </a:solidFill>
                <a:ea typeface="宋体" charset="0"/>
              </a:rPr>
              <a:t>特别注意（</a:t>
            </a:r>
            <a:r>
              <a:rPr kumimoji="1" lang="en-US" altLang="zh-CN" sz="2400" u="sng" dirty="0">
                <a:solidFill>
                  <a:srgbClr val="FF0000"/>
                </a:solidFill>
                <a:ea typeface="宋体" charset="0"/>
              </a:rPr>
              <a:t>!!</a:t>
            </a:r>
            <a:r>
              <a:rPr kumimoji="1" lang="zh-CN" altLang="en-US" sz="2400" u="sng" dirty="0">
                <a:solidFill>
                  <a:srgbClr val="FF0000"/>
                </a:solidFill>
                <a:ea typeface="宋体" charset="0"/>
              </a:rPr>
              <a:t>）</a:t>
            </a:r>
            <a:r>
              <a:rPr kumimoji="1" lang="zh-CN" altLang="en-US" sz="2400" dirty="0">
                <a:ea typeface="宋体" charset="0"/>
              </a:rPr>
              <a:t>：</a:t>
            </a:r>
          </a:p>
          <a:p>
            <a:r>
              <a:rPr kumimoji="1" lang="zh-CN" altLang="en-US" sz="2400" b="1" dirty="0">
                <a:solidFill>
                  <a:srgbClr val="FF0000"/>
                </a:solidFill>
                <a:ea typeface="宋体" charset="0"/>
              </a:rPr>
              <a:t>转换描述和“其他参数”个数一致。</a:t>
            </a:r>
          </a:p>
          <a:p>
            <a:r>
              <a:rPr kumimoji="1" lang="zh-CN" altLang="en-US" sz="2400" b="1" dirty="0">
                <a:solidFill>
                  <a:srgbClr val="FF0000"/>
                </a:solidFill>
                <a:ea typeface="宋体" charset="0"/>
              </a:rPr>
              <a:t>转换描述和对应参数的类型必须一致。</a:t>
            </a:r>
            <a:endParaRPr kumimoji="1" lang="zh-CN" altLang="en-US" sz="2400" b="1" dirty="0">
              <a:solidFill>
                <a:srgbClr val="FF0000"/>
              </a:solidFill>
              <a:latin typeface="Times New Roman" charset="0"/>
              <a:ea typeface="宋体" charset="0"/>
            </a:endParaRPr>
          </a:p>
        </p:txBody>
      </p:sp>
      <p:sp>
        <p:nvSpPr>
          <p:cNvPr id="461827" name="Text Box 3"/>
          <p:cNvSpPr txBox="1">
            <a:spLocks noChangeArrowheads="1"/>
          </p:cNvSpPr>
          <p:nvPr/>
        </p:nvSpPr>
        <p:spPr bwMode="auto">
          <a:xfrm>
            <a:off x="179388" y="3573463"/>
            <a:ext cx="8748712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charset="0"/>
                <a:ea typeface="宋体" charset="0"/>
              </a:rPr>
              <a:t>输出整数：</a:t>
            </a:r>
          </a:p>
          <a:p>
            <a:pPr>
              <a:spcBef>
                <a:spcPct val="50000"/>
              </a:spcBef>
            </a:pPr>
            <a:r>
              <a:rPr kumimoji="1" lang="en-US" altLang="zh-CN" sz="2800" dirty="0" err="1">
                <a:latin typeface="Courier New" charset="0"/>
                <a:ea typeface="宋体" charset="0"/>
              </a:rPr>
              <a:t>printf</a:t>
            </a:r>
            <a:r>
              <a:rPr kumimoji="1" lang="en-US" altLang="zh-CN" sz="2800" dirty="0">
                <a:latin typeface="Courier New" charset="0"/>
                <a:ea typeface="宋体" charset="0"/>
              </a:rPr>
              <a:t>(”Test: %d + %d = %d\n", 2, 3, 5);</a:t>
            </a:r>
            <a:endParaRPr kumimoji="1" lang="en-US" altLang="zh-CN" sz="2800" dirty="0">
              <a:latin typeface="Times New Roman" charset="0"/>
              <a:ea typeface="宋体" charset="0"/>
            </a:endParaRPr>
          </a:p>
        </p:txBody>
      </p:sp>
      <p:sp>
        <p:nvSpPr>
          <p:cNvPr id="461828" name="Text Box 4"/>
          <p:cNvSpPr txBox="1">
            <a:spLocks noChangeArrowheads="1"/>
          </p:cNvSpPr>
          <p:nvPr/>
        </p:nvSpPr>
        <p:spPr bwMode="auto">
          <a:xfrm>
            <a:off x="179388" y="5084763"/>
            <a:ext cx="8748712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charset="0"/>
                <a:ea typeface="宋体" charset="0"/>
              </a:rPr>
              <a:t>输出长整数：</a:t>
            </a:r>
          </a:p>
          <a:p>
            <a:pPr>
              <a:spcBef>
                <a:spcPct val="50000"/>
              </a:spcBef>
            </a:pPr>
            <a:r>
              <a:rPr kumimoji="1" lang="en-US" altLang="zh-CN" sz="2800" dirty="0" err="1">
                <a:latin typeface="Courier New" charset="0"/>
                <a:ea typeface="宋体" charset="0"/>
              </a:rPr>
              <a:t>printf</a:t>
            </a:r>
            <a:r>
              <a:rPr kumimoji="1" lang="en-US" altLang="zh-CN" sz="2800" dirty="0">
                <a:latin typeface="Courier New" charset="0"/>
                <a:ea typeface="宋体" charset="0"/>
              </a:rPr>
              <a:t>(”Test: %</a:t>
            </a:r>
            <a:r>
              <a:rPr kumimoji="1" lang="en-US" altLang="zh-CN" sz="2800" dirty="0" err="1">
                <a:latin typeface="Courier New" charset="0"/>
                <a:ea typeface="宋体" charset="0"/>
              </a:rPr>
              <a:t>ld</a:t>
            </a:r>
            <a:r>
              <a:rPr kumimoji="1" lang="en-US" altLang="zh-CN" sz="2800" dirty="0">
                <a:latin typeface="Courier New" charset="0"/>
                <a:ea typeface="宋体" charset="0"/>
              </a:rPr>
              <a:t> + %d", 3L, 5);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4151B-D626-5946-BDB5-A2D10A15B298}" type="datetime1">
              <a:rPr lang="zh-CN" altLang="en-US" smtClean="0"/>
              <a:t>2022/9/10</a:t>
            </a:fld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61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61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827" grpId="0" autoUpdateAnimBg="0"/>
      <p:bldP spid="461828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80" name="Text Box 4"/>
          <p:cNvSpPr txBox="1">
            <a:spLocks noChangeArrowheads="1"/>
          </p:cNvSpPr>
          <p:nvPr/>
        </p:nvSpPr>
        <p:spPr bwMode="auto">
          <a:xfrm>
            <a:off x="533400" y="1631950"/>
            <a:ext cx="8097838" cy="447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kumimoji="1" lang="en-US" altLang="zh-CN" sz="3200" b="1" dirty="0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d </a:t>
            </a:r>
            <a:r>
              <a:rPr kumimoji="1" lang="zh-CN" altLang="en-US" sz="3200" b="1" dirty="0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以带符号十进制整数输出</a:t>
            </a:r>
          </a:p>
          <a:p>
            <a:pPr eaLnBrk="1" hangingPunct="1"/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o 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以八进制无符号整数输出（无前导</a:t>
            </a:r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0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）</a:t>
            </a:r>
          </a:p>
          <a:p>
            <a:pPr eaLnBrk="1" hangingPunct="1"/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x 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以十六进制无符号整数输出（无前导</a:t>
            </a:r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0x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）</a:t>
            </a:r>
          </a:p>
          <a:p>
            <a:pPr eaLnBrk="1" hangingPunct="1"/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u 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以十进制无符号整数输出</a:t>
            </a:r>
          </a:p>
          <a:p>
            <a:pPr eaLnBrk="1" hangingPunct="1"/>
            <a:r>
              <a:rPr kumimoji="1" lang="en-US" altLang="zh-CN" sz="3200" b="1" dirty="0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c </a:t>
            </a:r>
            <a:r>
              <a:rPr kumimoji="1" lang="zh-CN" altLang="en-US" sz="3200" b="1" dirty="0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以字符形式输出单个字符</a:t>
            </a:r>
          </a:p>
          <a:p>
            <a:pPr eaLnBrk="1" hangingPunct="1"/>
            <a:r>
              <a:rPr kumimoji="1" lang="en-US" altLang="zh-CN" sz="3200" b="1" dirty="0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s </a:t>
            </a:r>
            <a:r>
              <a:rPr kumimoji="1" lang="zh-CN" altLang="en-US" sz="3200" b="1" dirty="0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输出一个字符串</a:t>
            </a:r>
          </a:p>
          <a:p>
            <a:pPr eaLnBrk="1" hangingPunct="1"/>
            <a:r>
              <a:rPr kumimoji="1" lang="en-US" altLang="zh-CN" sz="3200" b="1" dirty="0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f </a:t>
            </a:r>
            <a:r>
              <a:rPr kumimoji="1" lang="zh-CN" altLang="en-US" sz="3200" b="1" dirty="0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以小数形式输出浮点数（</a:t>
            </a:r>
            <a:r>
              <a:rPr kumimoji="1" lang="en-US" altLang="zh-CN" sz="3200" b="1" dirty="0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6</a:t>
            </a:r>
            <a:r>
              <a:rPr kumimoji="1" lang="zh-CN" altLang="en-US" sz="3200" b="1" dirty="0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位小数）</a:t>
            </a:r>
          </a:p>
          <a:p>
            <a:pPr eaLnBrk="1" hangingPunct="1"/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e 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以标准指数形式输出（</a:t>
            </a:r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6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位小数）</a:t>
            </a:r>
          </a:p>
          <a:p>
            <a:pPr eaLnBrk="1" hangingPunct="1"/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g 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选用</a:t>
            </a:r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%f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，</a:t>
            </a:r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%e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中输出宽度较小的一种格式</a:t>
            </a:r>
          </a:p>
        </p:txBody>
      </p:sp>
      <p:sp>
        <p:nvSpPr>
          <p:cNvPr id="280582" name="Rectangle 6"/>
          <p:cNvSpPr>
            <a:spLocks noChangeArrowheads="1"/>
          </p:cNvSpPr>
          <p:nvPr/>
        </p:nvSpPr>
        <p:spPr bwMode="auto">
          <a:xfrm>
            <a:off x="681038" y="333375"/>
            <a:ext cx="7797800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/>
          <a:p>
            <a:pPr algn="ctr">
              <a:lnSpc>
                <a:spcPct val="85000"/>
              </a:lnSpc>
              <a:defRPr/>
            </a:pP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黑体" pitchFamily="2" charset="-122"/>
              </a:rPr>
              <a:t>printf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格式字符</a:t>
            </a:r>
            <a:endParaRPr kumimoji="1" lang="en-US" altLang="zh-CN" sz="4400" b="1" i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97FE1-35D6-D846-B46A-B92704FDDF88}" type="datetime1">
              <a:rPr lang="zh-CN" altLang="en-US" smtClean="0"/>
              <a:t>2022/9/10</a:t>
            </a:fld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3" name="Text Box 3"/>
          <p:cNvSpPr txBox="1">
            <a:spLocks noChangeArrowheads="1"/>
          </p:cNvSpPr>
          <p:nvPr/>
        </p:nvSpPr>
        <p:spPr bwMode="auto">
          <a:xfrm>
            <a:off x="685800" y="1684338"/>
            <a:ext cx="78486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kumimoji="1" lang="en-US" altLang="zh-CN" sz="3200" b="1" dirty="0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l</a:t>
            </a:r>
            <a:r>
              <a:rPr kumimoji="1" lang="en-US" altLang="zh-CN" sz="3200" b="1" dirty="0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       </a:t>
            </a:r>
            <a:r>
              <a:rPr kumimoji="1" lang="zh-CN" altLang="en-US" sz="3200" b="1" dirty="0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长整型整数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，加在</a:t>
            </a:r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d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、</a:t>
            </a:r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o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、</a:t>
            </a:r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x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、</a:t>
            </a:r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u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前</a:t>
            </a:r>
          </a:p>
          <a:p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L   long double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型数，加在</a:t>
            </a:r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f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、</a:t>
            </a:r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e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、</a:t>
            </a:r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g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前</a:t>
            </a:r>
          </a:p>
          <a:p>
            <a:pPr eaLnBrk="1" hangingPunct="1"/>
            <a:r>
              <a:rPr kumimoji="1" lang="en-US" altLang="zh-CN" sz="3200" b="1" dirty="0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m   </a:t>
            </a:r>
            <a:r>
              <a:rPr kumimoji="1" lang="zh-CN" altLang="en-US" sz="3200" b="1" dirty="0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表示数据占用的最小宽度</a:t>
            </a:r>
          </a:p>
          <a:p>
            <a:pPr eaLnBrk="1" hangingPunct="1"/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    数据宽度大于</a:t>
            </a:r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m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，按实际宽度输出</a:t>
            </a:r>
          </a:p>
          <a:p>
            <a:pPr eaLnBrk="1" hangingPunct="1"/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    数据宽度小于</a:t>
            </a:r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m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时，补空格</a:t>
            </a:r>
            <a:endParaRPr kumimoji="1" lang="en-US" altLang="zh-CN" sz="3200" b="1" dirty="0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charset="0"/>
              <a:ea typeface="宋体" charset="0"/>
            </a:endParaRPr>
          </a:p>
          <a:p>
            <a:pPr eaLnBrk="1" hangingPunct="1"/>
            <a:r>
              <a:rPr kumimoji="1" lang="en-US" altLang="zh-CN" sz="3200" b="1" dirty="0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.n   </a:t>
            </a:r>
            <a:r>
              <a:rPr kumimoji="1" lang="zh-CN" altLang="en-US" sz="3200" b="1" dirty="0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对实数表示输出</a:t>
            </a:r>
            <a:r>
              <a:rPr kumimoji="1" lang="en-US" altLang="zh-CN" sz="3200" b="1" dirty="0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n</a:t>
            </a:r>
            <a:r>
              <a:rPr kumimoji="1" lang="zh-CN" altLang="en-US" sz="3200" b="1" dirty="0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位小数</a:t>
            </a:r>
          </a:p>
          <a:p>
            <a:pPr eaLnBrk="1" hangingPunct="1"/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    对字符串表示最多输出的字符个数</a:t>
            </a:r>
          </a:p>
          <a:p>
            <a:pPr eaLnBrk="1" hangingPunct="1"/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-   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改变输出内容的对齐方式</a:t>
            </a:r>
          </a:p>
          <a:p>
            <a:pPr eaLnBrk="1" hangingPunct="1"/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    缺省为右对齐</a:t>
            </a:r>
          </a:p>
        </p:txBody>
      </p:sp>
      <p:sp>
        <p:nvSpPr>
          <p:cNvPr id="281605" name="Rectangle 5"/>
          <p:cNvSpPr>
            <a:spLocks noChangeArrowheads="1"/>
          </p:cNvSpPr>
          <p:nvPr/>
        </p:nvSpPr>
        <p:spPr bwMode="auto">
          <a:xfrm>
            <a:off x="681038" y="333375"/>
            <a:ext cx="7797800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黑体" charset="0"/>
              </a:rPr>
              <a:t>printf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黑体" charset="0"/>
              </a:rPr>
              <a:t>附加格式说明符</a:t>
            </a:r>
            <a:endParaRPr kumimoji="1" lang="en-US" altLang="zh-CN" sz="4400" b="1" i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charset="0"/>
              <a:ea typeface="黑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31EA3-3777-2341-B266-61473824DE84}" type="datetime1">
              <a:rPr lang="zh-CN" altLang="en-US" smtClean="0"/>
              <a:t>2022/9/10</a:t>
            </a:fld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609600" y="1889125"/>
            <a:ext cx="3733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>
                <a:solidFill>
                  <a:srgbClr val="0000CC"/>
                </a:solidFill>
                <a:latin typeface="宋体" charset="0"/>
              </a:rPr>
              <a:t>关于格式控制字符 </a:t>
            </a:r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342900" y="2895600"/>
            <a:ext cx="8001000" cy="248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lnSpc>
                <a:spcPct val="85000"/>
              </a:lnSpc>
              <a:spcBef>
                <a:spcPct val="50000"/>
              </a:spcBef>
              <a:buFontTx/>
              <a:buAutoNum type="arabicPeriod"/>
            </a:pPr>
            <a:r>
              <a:rPr lang="zh-CN" altLang="en-US" b="1">
                <a:latin typeface="宋体" charset="0"/>
              </a:rPr>
              <a:t>一般形式：</a:t>
            </a:r>
            <a:r>
              <a:rPr lang="zh-CN" altLang="en-US"/>
              <a:t> </a:t>
            </a:r>
          </a:p>
          <a:p>
            <a:pPr algn="l" eaLnBrk="1" hangingPunct="1">
              <a:lnSpc>
                <a:spcPct val="85000"/>
              </a:lnSpc>
              <a:spcBef>
                <a:spcPct val="50000"/>
              </a:spcBef>
            </a:pPr>
            <a:r>
              <a:rPr lang="zh-CN" altLang="en-US" b="1"/>
              <a:t> </a:t>
            </a:r>
            <a:r>
              <a:rPr lang="zh-CN" altLang="en-US" b="1">
                <a:solidFill>
                  <a:srgbClr val="FF3300"/>
                </a:solidFill>
                <a:latin typeface="宋体" charset="0"/>
              </a:rPr>
              <a:t>%</a:t>
            </a:r>
            <a:r>
              <a:rPr lang="zh-CN" altLang="en-US" b="1"/>
              <a:t> </a:t>
            </a:r>
            <a:r>
              <a:rPr lang="zh-CN" altLang="en-US" b="1">
                <a:solidFill>
                  <a:srgbClr val="FF3300"/>
                </a:solidFill>
              </a:rPr>
              <a:t>[标志][输出最小宽度][.精度][长度]&lt;类型&gt;</a:t>
            </a:r>
          </a:p>
          <a:p>
            <a:pPr algn="l" eaLnBrk="1" hangingPunct="1">
              <a:lnSpc>
                <a:spcPct val="85000"/>
              </a:lnSpc>
              <a:spcBef>
                <a:spcPct val="50000"/>
              </a:spcBef>
            </a:pPr>
            <a:r>
              <a:rPr lang="zh-CN" altLang="en-US" b="1"/>
              <a:t>说明：</a:t>
            </a:r>
          </a:p>
          <a:p>
            <a:pPr algn="l" eaLnBrk="1" hangingPunct="1">
              <a:lnSpc>
                <a:spcPct val="85000"/>
              </a:lnSpc>
              <a:spcBef>
                <a:spcPct val="50000"/>
              </a:spcBef>
            </a:pPr>
            <a:r>
              <a:rPr lang="zh-CN" altLang="en-US" b="1">
                <a:solidFill>
                  <a:schemeClr val="accent2"/>
                </a:solidFill>
              </a:rPr>
              <a:t>（1）[  ]中的内容为可选项</a:t>
            </a:r>
            <a:endParaRPr lang="zh-CN" altLang="en-US">
              <a:solidFill>
                <a:schemeClr val="accent2"/>
              </a:solidFill>
            </a:endParaRPr>
          </a:p>
        </p:txBody>
      </p:sp>
      <p:sp>
        <p:nvSpPr>
          <p:cNvPr id="300036" name="Text Box 4"/>
          <p:cNvSpPr txBox="1">
            <a:spLocks noChangeArrowheads="1"/>
          </p:cNvSpPr>
          <p:nvPr/>
        </p:nvSpPr>
        <p:spPr bwMode="auto">
          <a:xfrm>
            <a:off x="304800" y="725488"/>
            <a:ext cx="8001000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marL="342900" indent="-3429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lvl="1" algn="l" eaLnBrk="1" hangingPunct="1">
              <a:lnSpc>
                <a:spcPct val="95000"/>
              </a:lnSpc>
              <a:spcBef>
                <a:spcPct val="20000"/>
              </a:spcBef>
              <a:buClr>
                <a:srgbClr val="FF6600"/>
              </a:buClr>
            </a:pPr>
            <a:r>
              <a:rPr lang="en-US" altLang="zh-CN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</a:rPr>
              <a:t>printf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</a:rPr>
              <a:t>(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</a:rPr>
              <a:t>格式控制字符串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</a:rPr>
              <a:t>, </a:t>
            </a:r>
            <a:r>
              <a:rPr lang="zh-CN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</a:rPr>
              <a:t>输出项表列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</a:rPr>
              <a:t>);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678121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Text Box 2"/>
          <p:cNvSpPr txBox="1">
            <a:spLocks noChangeArrowheads="1"/>
          </p:cNvSpPr>
          <p:nvPr/>
        </p:nvSpPr>
        <p:spPr bwMode="auto">
          <a:xfrm>
            <a:off x="609600" y="1752600"/>
            <a:ext cx="7848600" cy="474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lnSpc>
                <a:spcPct val="85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accent2"/>
                </a:solidFill>
              </a:rPr>
              <a:t>2）标志：</a:t>
            </a:r>
            <a:r>
              <a:rPr lang="zh-CN" altLang="en-US" b="1" dirty="0">
                <a:solidFill>
                  <a:schemeClr val="accent2"/>
                </a:solidFill>
                <a:latin typeface="宋体" charset="0"/>
              </a:rPr>
              <a:t>为</a:t>
            </a:r>
            <a:r>
              <a:rPr lang="zh-CN" altLang="en-US" b="1" dirty="0">
                <a:solidFill>
                  <a:schemeClr val="accent2"/>
                </a:solidFill>
              </a:rPr>
              <a:t>+</a:t>
            </a:r>
            <a:r>
              <a:rPr lang="zh-CN" altLang="en-US" b="1" dirty="0">
                <a:solidFill>
                  <a:schemeClr val="accent2"/>
                </a:solidFill>
                <a:latin typeface="宋体" charset="0"/>
              </a:rPr>
              <a:t>、</a:t>
            </a:r>
            <a:r>
              <a:rPr lang="zh-CN" altLang="en-US" b="1" dirty="0">
                <a:solidFill>
                  <a:schemeClr val="accent2"/>
                </a:solidFill>
              </a:rPr>
              <a:t># </a:t>
            </a:r>
            <a:r>
              <a:rPr lang="zh-CN" altLang="en-US" b="1" dirty="0">
                <a:solidFill>
                  <a:schemeClr val="accent2"/>
                </a:solidFill>
                <a:latin typeface="宋体" charset="0"/>
              </a:rPr>
              <a:t>等，</a:t>
            </a:r>
            <a:r>
              <a:rPr lang="zh-CN" altLang="en-US" b="1" dirty="0">
                <a:latin typeface="宋体" charset="0"/>
              </a:rPr>
              <a:t>含义如下：</a:t>
            </a:r>
          </a:p>
          <a:p>
            <a:pPr algn="l" eaLnBrk="1" hangingPunct="1">
              <a:lnSpc>
                <a:spcPct val="85000"/>
              </a:lnSpc>
              <a:spcBef>
                <a:spcPct val="50000"/>
              </a:spcBef>
            </a:pPr>
            <a:r>
              <a:rPr lang="zh-CN" altLang="en-US" sz="2800" b="1" dirty="0"/>
              <a:t> </a:t>
            </a:r>
            <a:r>
              <a:rPr lang="zh-CN" altLang="en-US" sz="2800" b="1" dirty="0">
                <a:solidFill>
                  <a:srgbClr val="0000CC"/>
                </a:solidFill>
              </a:rPr>
              <a:t>+</a:t>
            </a:r>
            <a:r>
              <a:rPr lang="zh-CN" altLang="en-US" sz="2800" b="1" dirty="0"/>
              <a:t>       输出符号（+、-）   </a:t>
            </a:r>
          </a:p>
          <a:p>
            <a:pPr algn="l" eaLnBrk="1" hangingPunct="1">
              <a:lnSpc>
                <a:spcPct val="85000"/>
              </a:lnSpc>
              <a:spcBef>
                <a:spcPct val="50000"/>
              </a:spcBef>
            </a:pPr>
            <a:r>
              <a:rPr lang="zh-CN" altLang="en-US" sz="2800" b="1" dirty="0"/>
              <a:t>                    </a:t>
            </a:r>
            <a:r>
              <a:rPr lang="zh-CN" altLang="en-US" sz="2800" b="1" dirty="0">
                <a:solidFill>
                  <a:srgbClr val="006600"/>
                </a:solidFill>
              </a:rPr>
              <a:t>如</a:t>
            </a:r>
            <a:r>
              <a:rPr lang="en-US" altLang="zh-CN" sz="2800" b="1" dirty="0" err="1">
                <a:solidFill>
                  <a:srgbClr val="006600"/>
                </a:solidFill>
              </a:rPr>
              <a:t>i</a:t>
            </a:r>
            <a:r>
              <a:rPr lang="en-US" altLang="zh-CN" sz="2800" b="1" dirty="0">
                <a:solidFill>
                  <a:srgbClr val="006600"/>
                </a:solidFill>
              </a:rPr>
              <a:t>=3;printf(“%+d\n”,</a:t>
            </a:r>
            <a:r>
              <a:rPr lang="en-US" altLang="zh-CN" sz="2800" b="1" dirty="0" err="1">
                <a:solidFill>
                  <a:srgbClr val="006600"/>
                </a:solidFill>
              </a:rPr>
              <a:t>i</a:t>
            </a:r>
            <a:r>
              <a:rPr lang="en-US" altLang="zh-CN" sz="2800" b="1" dirty="0">
                <a:solidFill>
                  <a:srgbClr val="006600"/>
                </a:solidFill>
              </a:rPr>
              <a:t>);</a:t>
            </a:r>
          </a:p>
          <a:p>
            <a:pPr algn="l" eaLnBrk="1" hangingPunct="1">
              <a:lnSpc>
                <a:spcPct val="85000"/>
              </a:lnSpc>
              <a:spcBef>
                <a:spcPct val="50000"/>
              </a:spcBef>
            </a:pPr>
            <a:r>
              <a:rPr lang="en-US" altLang="zh-CN" sz="2800" b="1" dirty="0"/>
              <a:t> </a:t>
            </a:r>
            <a:r>
              <a:rPr lang="en-US" altLang="zh-CN" sz="2800" b="1" dirty="0">
                <a:solidFill>
                  <a:srgbClr val="0000CC"/>
                </a:solidFill>
              </a:rPr>
              <a:t>#</a:t>
            </a:r>
            <a:r>
              <a:rPr lang="en-US" altLang="zh-CN" sz="2800" b="1" dirty="0"/>
              <a:t>       </a:t>
            </a:r>
            <a:r>
              <a:rPr lang="zh-CN" altLang="en-US" sz="2800" b="1" dirty="0"/>
              <a:t>对</a:t>
            </a:r>
            <a:r>
              <a:rPr lang="en-US" altLang="zh-CN" sz="2800" b="1" dirty="0" err="1"/>
              <a:t>c、s、d、u</a:t>
            </a:r>
            <a:r>
              <a:rPr lang="zh-CN" altLang="en-US" sz="2800" b="1" dirty="0"/>
              <a:t>无影响，对</a:t>
            </a:r>
            <a:r>
              <a:rPr lang="en-US" altLang="zh-CN" sz="2800" b="1" dirty="0"/>
              <a:t>o</a:t>
            </a:r>
            <a:r>
              <a:rPr lang="zh-CN" altLang="en-US" sz="2800" b="1" dirty="0"/>
              <a:t>类输出时加前缀0</a:t>
            </a:r>
          </a:p>
          <a:p>
            <a:pPr algn="l" eaLnBrk="1" hangingPunct="1">
              <a:lnSpc>
                <a:spcPct val="85000"/>
              </a:lnSpc>
              <a:spcBef>
                <a:spcPct val="50000"/>
              </a:spcBef>
            </a:pPr>
            <a:r>
              <a:rPr lang="zh-CN" altLang="en-US" sz="2800" b="1" dirty="0"/>
              <a:t>         对</a:t>
            </a:r>
            <a:r>
              <a:rPr lang="en-US" altLang="zh-CN" sz="2800" b="1" dirty="0"/>
              <a:t>x</a:t>
            </a:r>
            <a:r>
              <a:rPr lang="zh-CN" altLang="en-US" sz="2800" b="1" dirty="0"/>
              <a:t>类输出时加前缀0</a:t>
            </a:r>
            <a:r>
              <a:rPr lang="en-US" altLang="zh-CN" sz="2800" b="1" dirty="0"/>
              <a:t>x，</a:t>
            </a:r>
            <a:r>
              <a:rPr lang="zh-CN" altLang="en-US" sz="2800" b="1" dirty="0"/>
              <a:t>对</a:t>
            </a:r>
            <a:r>
              <a:rPr lang="en-US" altLang="zh-CN" sz="2800" b="1" dirty="0" err="1"/>
              <a:t>e、g、f</a:t>
            </a:r>
            <a:r>
              <a:rPr lang="zh-CN" altLang="en-US" sz="2800" b="1" dirty="0"/>
              <a:t>类当结果</a:t>
            </a:r>
          </a:p>
          <a:p>
            <a:pPr algn="l" eaLnBrk="1" hangingPunct="1">
              <a:lnSpc>
                <a:spcPct val="85000"/>
              </a:lnSpc>
              <a:spcBef>
                <a:spcPct val="50000"/>
              </a:spcBef>
            </a:pPr>
            <a:r>
              <a:rPr lang="zh-CN" altLang="en-US" sz="2800" b="1" dirty="0"/>
              <a:t>         有小数时才给出小数点。</a:t>
            </a:r>
          </a:p>
          <a:p>
            <a:pPr algn="l" eaLnBrk="1" hangingPunct="1">
              <a:lnSpc>
                <a:spcPct val="85000"/>
              </a:lnSpc>
              <a:spcBef>
                <a:spcPct val="50000"/>
              </a:spcBef>
            </a:pPr>
            <a:r>
              <a:rPr lang="zh-CN" altLang="en-US" sz="2800" b="1" dirty="0">
                <a:solidFill>
                  <a:srgbClr val="006600"/>
                </a:solidFill>
              </a:rPr>
              <a:t>                     如：</a:t>
            </a:r>
            <a:r>
              <a:rPr lang="en-US" altLang="zh-CN" sz="2800" b="1" dirty="0" err="1">
                <a:solidFill>
                  <a:srgbClr val="006600"/>
                </a:solidFill>
              </a:rPr>
              <a:t>i</a:t>
            </a:r>
            <a:r>
              <a:rPr lang="en-US" altLang="zh-CN" sz="2800" b="1" dirty="0">
                <a:solidFill>
                  <a:srgbClr val="006600"/>
                </a:solidFill>
              </a:rPr>
              <a:t>=3;printf(“%#x\n”,</a:t>
            </a:r>
            <a:r>
              <a:rPr lang="en-US" altLang="zh-CN" sz="2800" b="1" dirty="0" err="1">
                <a:solidFill>
                  <a:srgbClr val="006600"/>
                </a:solidFill>
              </a:rPr>
              <a:t>i</a:t>
            </a:r>
            <a:r>
              <a:rPr lang="en-US" altLang="zh-CN" sz="2800" b="1" dirty="0">
                <a:solidFill>
                  <a:srgbClr val="006600"/>
                </a:solidFill>
              </a:rPr>
              <a:t>);</a:t>
            </a:r>
          </a:p>
          <a:p>
            <a:pPr algn="l" eaLnBrk="1" hangingPunct="1">
              <a:spcBef>
                <a:spcPct val="50000"/>
              </a:spcBef>
            </a:pPr>
            <a:endParaRPr lang="zh-CN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533400" y="457200"/>
            <a:ext cx="8229600" cy="62671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  <a:latin typeface="宋体" charset="0"/>
              </a:rPr>
              <a:t>%</a:t>
            </a:r>
            <a:r>
              <a:rPr lang="zh-CN" altLang="en-US" b="1"/>
              <a:t> </a:t>
            </a:r>
            <a:r>
              <a:rPr lang="zh-CN" altLang="en-US" b="1">
                <a:solidFill>
                  <a:srgbClr val="00B050"/>
                </a:solidFill>
              </a:rPr>
              <a:t>[标志]</a:t>
            </a:r>
            <a:r>
              <a:rPr lang="zh-CN" altLang="en-US" b="1">
                <a:solidFill>
                  <a:srgbClr val="FF0000"/>
                </a:solidFill>
              </a:rPr>
              <a:t>[</a:t>
            </a:r>
            <a:r>
              <a:rPr lang="zh-CN" altLang="en-US" b="1">
                <a:solidFill>
                  <a:srgbClr val="FF3300"/>
                </a:solidFill>
              </a:rPr>
              <a:t>输出最小宽度][.精度][长度]&lt;类型&gt;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6786563" y="2786063"/>
            <a:ext cx="939800" cy="46196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108000" anchor="ctr">
            <a:spAutoFit/>
          </a:bodyPr>
          <a:lstStyle>
            <a:lvl1pPr indent="457200" eaLnBrk="0" hangingPunct="0"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/>
            <a:r>
              <a:rPr lang="en-US" altLang="zh-CN" sz="2400" b="1">
                <a:solidFill>
                  <a:schemeClr val="bg1"/>
                </a:solidFill>
                <a:latin typeface="Courier New" charset="0"/>
              </a:rPr>
              <a:t>+3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000875" y="5286375"/>
            <a:ext cx="1123950" cy="46196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108000" anchor="ctr">
            <a:spAutoFit/>
          </a:bodyPr>
          <a:lstStyle>
            <a:lvl1pPr indent="457200" eaLnBrk="0" hangingPunct="0"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/>
            <a:r>
              <a:rPr lang="en-US" altLang="zh-CN" sz="2400" b="1">
                <a:solidFill>
                  <a:schemeClr val="bg1"/>
                </a:solidFill>
                <a:latin typeface="Courier New" charset="0"/>
              </a:rPr>
              <a:t>0x3</a:t>
            </a:r>
          </a:p>
        </p:txBody>
      </p:sp>
    </p:spTree>
    <p:extLst>
      <p:ext uri="{BB962C8B-B14F-4D97-AF65-F5344CB8AC3E}">
        <p14:creationId xmlns:p14="http://schemas.microsoft.com/office/powerpoint/2010/main" val="1667014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342900" y="1060450"/>
            <a:ext cx="739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>
                <a:solidFill>
                  <a:schemeClr val="accent2"/>
                </a:solidFill>
              </a:rPr>
              <a:t>（3）</a:t>
            </a:r>
            <a:r>
              <a:rPr lang="zh-CN" altLang="en-US" b="1">
                <a:solidFill>
                  <a:schemeClr val="accent2"/>
                </a:solidFill>
                <a:latin typeface="宋体" charset="0"/>
              </a:rPr>
              <a:t>输出最小宽度(域宽</a:t>
            </a:r>
            <a:r>
              <a:rPr lang="en-US" altLang="zh-CN" b="1">
                <a:solidFill>
                  <a:schemeClr val="accent2"/>
                </a:solidFill>
                <a:latin typeface="宋体" charset="0"/>
              </a:rPr>
              <a:t>m,m</a:t>
            </a:r>
            <a:r>
              <a:rPr lang="zh-CN" altLang="en-US" b="1">
                <a:solidFill>
                  <a:schemeClr val="accent2"/>
                </a:solidFill>
                <a:latin typeface="宋体" charset="0"/>
              </a:rPr>
              <a:t>必须是整数)</a:t>
            </a:r>
            <a:r>
              <a:rPr lang="zh-CN" altLang="en-US" b="1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342900" y="1639888"/>
            <a:ext cx="8534400" cy="3668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>
                <a:latin typeface="宋体" charset="0"/>
              </a:rPr>
              <a:t>域宽</a:t>
            </a:r>
            <a:r>
              <a:rPr lang="en-US" altLang="zh-CN" b="1">
                <a:latin typeface="宋体" charset="0"/>
              </a:rPr>
              <a:t>m</a:t>
            </a:r>
            <a:r>
              <a:rPr lang="zh-CN" altLang="en-US" b="1">
                <a:latin typeface="宋体" charset="0"/>
              </a:rPr>
              <a:t>是输出项在输出设备上所占的列数。</a:t>
            </a:r>
          </a:p>
          <a:p>
            <a:pPr algn="l"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zh-CN" altLang="en-US" sz="2800" b="1">
                <a:latin typeface="宋体" charset="0"/>
              </a:rPr>
              <a:t>若</a:t>
            </a:r>
            <a:r>
              <a:rPr lang="en-US" altLang="zh-CN" sz="2800" b="1">
                <a:latin typeface="宋体" charset="0"/>
              </a:rPr>
              <a:t>m</a:t>
            </a:r>
            <a:r>
              <a:rPr lang="zh-CN" altLang="en-US" sz="2800" b="1">
                <a:latin typeface="宋体" charset="0"/>
              </a:rPr>
              <a:t>是正整数</a:t>
            </a:r>
            <a:r>
              <a:rPr lang="zh-CN" altLang="en-US" sz="2800" b="1"/>
              <a:t>——</a:t>
            </a:r>
            <a:r>
              <a:rPr lang="zh-CN" altLang="en-US" sz="2800" b="1">
                <a:latin typeface="宋体" charset="0"/>
              </a:rPr>
              <a:t>当实际位数多于定义宽度</a:t>
            </a:r>
            <a:r>
              <a:rPr lang="en-US" altLang="zh-CN" sz="2800" b="1">
                <a:latin typeface="宋体" charset="0"/>
              </a:rPr>
              <a:t>m，</a:t>
            </a:r>
            <a:r>
              <a:rPr lang="zh-CN" altLang="en-US" sz="2800" b="1">
                <a:latin typeface="宋体" charset="0"/>
              </a:rPr>
              <a:t>则按实际位数输出；若实际位数少于定义宽度，则在域内向</a:t>
            </a:r>
            <a:r>
              <a:rPr lang="zh-CN" altLang="en-US" sz="2800" b="1">
                <a:solidFill>
                  <a:srgbClr val="FF3300"/>
                </a:solidFill>
                <a:latin typeface="宋体" charset="0"/>
              </a:rPr>
              <a:t>右</a:t>
            </a:r>
            <a:r>
              <a:rPr lang="zh-CN" altLang="en-US" sz="2800" b="1">
                <a:latin typeface="宋体" charset="0"/>
              </a:rPr>
              <a:t>对齐，左边多余位补以空格；若</a:t>
            </a:r>
            <a:r>
              <a:rPr lang="en-US" altLang="zh-CN" sz="2800" b="1">
                <a:latin typeface="宋体" charset="0"/>
              </a:rPr>
              <a:t>m</a:t>
            </a:r>
            <a:r>
              <a:rPr lang="zh-CN" altLang="en-US" sz="2800" b="1">
                <a:latin typeface="宋体" charset="0"/>
              </a:rPr>
              <a:t>有前导0，则左边多余位补</a:t>
            </a:r>
            <a:r>
              <a:rPr lang="zh-CN" altLang="en-US" sz="2800" b="1"/>
              <a:t>0</a:t>
            </a:r>
            <a:r>
              <a:rPr lang="zh-CN" altLang="en-US" sz="2800" b="1">
                <a:latin typeface="宋体" charset="0"/>
              </a:rPr>
              <a:t>。</a:t>
            </a:r>
            <a:r>
              <a:rPr lang="zh-CN" altLang="en-US" sz="2800"/>
              <a:t> </a:t>
            </a:r>
          </a:p>
          <a:p>
            <a:pPr algn="l" eaLnBrk="1" hangingPunct="1">
              <a:lnSpc>
                <a:spcPct val="120000"/>
              </a:lnSpc>
              <a:spcBef>
                <a:spcPct val="50000"/>
              </a:spcBef>
              <a:buFontTx/>
              <a:buChar char="•"/>
            </a:pPr>
            <a:r>
              <a:rPr lang="zh-CN" altLang="en-US" sz="2800" b="1">
                <a:latin typeface="宋体" charset="0"/>
              </a:rPr>
              <a:t>若</a:t>
            </a:r>
            <a:r>
              <a:rPr lang="en-US" altLang="zh-CN" sz="2800" b="1">
                <a:latin typeface="宋体" charset="0"/>
              </a:rPr>
              <a:t>m</a:t>
            </a:r>
            <a:r>
              <a:rPr lang="zh-CN" altLang="en-US" sz="2800" b="1">
                <a:latin typeface="宋体" charset="0"/>
              </a:rPr>
              <a:t>是</a:t>
            </a:r>
            <a:r>
              <a:rPr lang="zh-CN" altLang="en-US" sz="2800" b="1">
                <a:solidFill>
                  <a:srgbClr val="FF0000"/>
                </a:solidFill>
                <a:latin typeface="宋体" charset="0"/>
              </a:rPr>
              <a:t>负整数</a:t>
            </a:r>
            <a:r>
              <a:rPr lang="zh-CN" altLang="en-US" sz="2800" b="1"/>
              <a:t>——</a:t>
            </a:r>
            <a:r>
              <a:rPr lang="zh-CN" altLang="en-US" sz="2800" b="1">
                <a:latin typeface="宋体" charset="0"/>
              </a:rPr>
              <a:t>则输出数据在域内向</a:t>
            </a:r>
            <a:r>
              <a:rPr lang="zh-CN" altLang="en-US" sz="2800" b="1">
                <a:solidFill>
                  <a:srgbClr val="FF3300"/>
                </a:solidFill>
                <a:latin typeface="宋体" charset="0"/>
              </a:rPr>
              <a:t>左</a:t>
            </a:r>
            <a:r>
              <a:rPr lang="zh-CN" altLang="en-US" sz="2800" b="1">
                <a:latin typeface="宋体" charset="0"/>
              </a:rPr>
              <a:t>对齐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1257300" y="5410200"/>
            <a:ext cx="64770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/>
              <a:t>如：</a:t>
            </a:r>
            <a:r>
              <a:rPr lang="en-US" altLang="zh-CN" sz="2800" b="1"/>
              <a:t>int  a=23, b=4 ;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2800" b="1"/>
              <a:t>        printf(</a:t>
            </a:r>
            <a:r>
              <a:rPr lang="fr-FR" altLang="zh-CN" sz="2800" b="1">
                <a:latin typeface="Courier New" charset="0"/>
              </a:rPr>
              <a:t>"</a:t>
            </a:r>
            <a:r>
              <a:rPr lang="en-US" altLang="zh-CN" sz="2800" b="1"/>
              <a:t> %5d,%－5d </a:t>
            </a:r>
            <a:r>
              <a:rPr lang="fr-FR" altLang="zh-CN" sz="2800" b="1">
                <a:latin typeface="Courier New" charset="0"/>
              </a:rPr>
              <a:t>"</a:t>
            </a:r>
            <a:r>
              <a:rPr lang="en-US" altLang="zh-CN" sz="2800" b="1"/>
              <a:t>,a,b);</a:t>
            </a:r>
          </a:p>
        </p:txBody>
      </p:sp>
      <p:sp>
        <p:nvSpPr>
          <p:cNvPr id="301061" name="Text Box 5"/>
          <p:cNvSpPr txBox="1">
            <a:spLocks noChangeArrowheads="1"/>
          </p:cNvSpPr>
          <p:nvPr/>
        </p:nvSpPr>
        <p:spPr bwMode="auto">
          <a:xfrm>
            <a:off x="533400" y="228600"/>
            <a:ext cx="8229600" cy="62671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  <a:latin typeface="宋体" charset="0"/>
              </a:rPr>
              <a:t>%</a:t>
            </a:r>
            <a:r>
              <a:rPr lang="zh-CN" altLang="en-US" b="1"/>
              <a:t> </a:t>
            </a:r>
            <a:r>
              <a:rPr lang="zh-CN" altLang="en-US" b="1">
                <a:solidFill>
                  <a:srgbClr val="FF3300"/>
                </a:solidFill>
              </a:rPr>
              <a:t>[标志]</a:t>
            </a:r>
            <a:r>
              <a:rPr lang="zh-CN" altLang="en-US" b="1">
                <a:solidFill>
                  <a:srgbClr val="00B050"/>
                </a:solidFill>
              </a:rPr>
              <a:t>[输出最小宽度]</a:t>
            </a:r>
            <a:r>
              <a:rPr lang="zh-CN" altLang="en-US" b="1">
                <a:solidFill>
                  <a:srgbClr val="FF0000"/>
                </a:solidFill>
              </a:rPr>
              <a:t>[.</a:t>
            </a:r>
            <a:r>
              <a:rPr lang="zh-CN" altLang="en-US" b="1">
                <a:solidFill>
                  <a:srgbClr val="FF3300"/>
                </a:solidFill>
              </a:rPr>
              <a:t>精度][长度]&lt;类型&gt;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000750" y="5572125"/>
            <a:ext cx="2354263" cy="461963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108000" anchor="ctr">
            <a:spAutoFit/>
          </a:bodyPr>
          <a:lstStyle>
            <a:lvl1pPr indent="457200" eaLnBrk="0" hangingPunct="0"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692150" algn="l"/>
                <a:tab pos="754063" algn="l"/>
              </a:tabLs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/>
            <a:r>
              <a:rPr lang="en-US" altLang="zh-CN" sz="2400" b="1">
                <a:solidFill>
                  <a:schemeClr val="bg1"/>
                </a:solidFill>
                <a:latin typeface="Courier New" charset="0"/>
              </a:rPr>
              <a:t> 23</a:t>
            </a:r>
            <a:r>
              <a:rPr lang="zh-CN" altLang="en-US" sz="2400" b="1">
                <a:solidFill>
                  <a:schemeClr val="bg1"/>
                </a:solidFill>
                <a:latin typeface="Courier New" charset="0"/>
              </a:rPr>
              <a:t>，</a:t>
            </a:r>
            <a:r>
              <a:rPr lang="en-US" altLang="zh-CN" sz="2400" b="1">
                <a:solidFill>
                  <a:schemeClr val="bg1"/>
                </a:solidFill>
                <a:latin typeface="Courier New" charset="0"/>
              </a:rPr>
              <a:t>4    </a:t>
            </a:r>
          </a:p>
        </p:txBody>
      </p:sp>
    </p:spTree>
    <p:extLst>
      <p:ext uri="{BB962C8B-B14F-4D97-AF65-F5344CB8AC3E}">
        <p14:creationId xmlns:p14="http://schemas.microsoft.com/office/powerpoint/2010/main" val="245002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381000" y="1096963"/>
            <a:ext cx="58197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accent2"/>
                </a:solidFill>
                <a:latin typeface="宋体" charset="0"/>
              </a:rPr>
              <a:t>（4）精度 .</a:t>
            </a:r>
            <a:r>
              <a:rPr lang="en-US" altLang="zh-CN" b="1" dirty="0">
                <a:solidFill>
                  <a:schemeClr val="accent2"/>
                </a:solidFill>
                <a:latin typeface="宋体" charset="0"/>
              </a:rPr>
              <a:t>n(n</a:t>
            </a:r>
            <a:r>
              <a:rPr lang="zh-CN" altLang="en-US" b="1" dirty="0">
                <a:solidFill>
                  <a:schemeClr val="accent2"/>
                </a:solidFill>
                <a:latin typeface="宋体" charset="0"/>
              </a:rPr>
              <a:t>为正整数）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381000" y="1900238"/>
            <a:ext cx="8458200" cy="244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dirty="0"/>
              <a:t>对于浮点数，表示输出的小数的位数；</a:t>
            </a:r>
          </a:p>
          <a:p>
            <a:pPr algn="l" eaLnBrk="1" hangingPunct="1">
              <a:spcBef>
                <a:spcPct val="50000"/>
              </a:spcBef>
            </a:pPr>
            <a:r>
              <a:rPr lang="zh-CN" altLang="en-US" sz="2800" b="1" dirty="0"/>
              <a:t>对于字符串，指定从字符串左侧所截取的子串字</a:t>
            </a:r>
          </a:p>
          <a:p>
            <a:pPr algn="l" eaLnBrk="1" hangingPunct="1">
              <a:spcBef>
                <a:spcPct val="50000"/>
              </a:spcBef>
            </a:pPr>
            <a:r>
              <a:rPr lang="zh-CN" altLang="en-US" sz="2800" b="1" dirty="0"/>
              <a:t>符的个数；</a:t>
            </a:r>
          </a:p>
          <a:p>
            <a:pPr algn="l" eaLnBrk="1" hangingPunct="1">
              <a:spcBef>
                <a:spcPct val="50000"/>
              </a:spcBef>
            </a:pPr>
            <a:r>
              <a:rPr lang="zh-CN" altLang="en-US" sz="2800" b="1" dirty="0"/>
              <a:t>若实际位数大于所定义的精度数，则截去超过的部分。</a:t>
            </a:r>
            <a:endParaRPr lang="zh-CN" altLang="en-US" sz="2800" dirty="0"/>
          </a:p>
        </p:txBody>
      </p:sp>
      <p:sp>
        <p:nvSpPr>
          <p:cNvPr id="302084" name="Text Box 4"/>
          <p:cNvSpPr txBox="1">
            <a:spLocks noChangeArrowheads="1"/>
          </p:cNvSpPr>
          <p:nvPr/>
        </p:nvSpPr>
        <p:spPr bwMode="auto">
          <a:xfrm>
            <a:off x="1544638" y="4584700"/>
            <a:ext cx="5902325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/>
              <a:t>如： </a:t>
            </a:r>
            <a:r>
              <a:rPr lang="en-US" altLang="zh-CN" sz="2800" b="1"/>
              <a:t>float  k=65.678;  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2800" b="1"/>
              <a:t>          printf(</a:t>
            </a:r>
            <a:r>
              <a:rPr lang="fr-FR" altLang="zh-CN" sz="2800" b="1">
                <a:latin typeface="Courier New" charset="0"/>
              </a:rPr>
              <a:t>"</a:t>
            </a:r>
            <a:r>
              <a:rPr lang="en-US" altLang="zh-CN" sz="2800" b="1"/>
              <a:t>%.2f</a:t>
            </a:r>
            <a:r>
              <a:rPr lang="fr-FR" altLang="zh-CN" sz="2800" b="1">
                <a:latin typeface="Courier New" charset="0"/>
              </a:rPr>
              <a:t>"</a:t>
            </a:r>
            <a:r>
              <a:rPr lang="en-US" altLang="zh-CN" sz="2800" b="1"/>
              <a:t>,  k);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2800" b="1"/>
              <a:t>    </a:t>
            </a:r>
            <a:r>
              <a:rPr lang="zh-CN" altLang="en-US" sz="2800" b="1"/>
              <a:t>输出结果为    65.68</a:t>
            </a:r>
          </a:p>
        </p:txBody>
      </p:sp>
      <p:sp>
        <p:nvSpPr>
          <p:cNvPr id="302085" name="Text Box 5"/>
          <p:cNvSpPr txBox="1">
            <a:spLocks noChangeArrowheads="1"/>
          </p:cNvSpPr>
          <p:nvPr/>
        </p:nvSpPr>
        <p:spPr bwMode="auto">
          <a:xfrm>
            <a:off x="533400" y="228600"/>
            <a:ext cx="8229600" cy="62671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  <a:latin typeface="宋体" charset="0"/>
              </a:rPr>
              <a:t>%</a:t>
            </a:r>
            <a:r>
              <a:rPr lang="zh-CN" altLang="en-US" b="1"/>
              <a:t> </a:t>
            </a:r>
            <a:r>
              <a:rPr lang="zh-CN" altLang="en-US" b="1">
                <a:solidFill>
                  <a:srgbClr val="FF3300"/>
                </a:solidFill>
              </a:rPr>
              <a:t>[标志][输出最小宽度]</a:t>
            </a:r>
            <a:r>
              <a:rPr lang="zh-CN" altLang="en-US" b="1">
                <a:solidFill>
                  <a:srgbClr val="00B050"/>
                </a:solidFill>
              </a:rPr>
              <a:t>[.精度]</a:t>
            </a:r>
            <a:r>
              <a:rPr lang="zh-CN" altLang="en-US" b="1">
                <a:solidFill>
                  <a:srgbClr val="FF3300"/>
                </a:solidFill>
              </a:rPr>
              <a:t>[长度]&lt;类型&gt;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44082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4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Text Box 2"/>
          <p:cNvSpPr txBox="1">
            <a:spLocks noChangeArrowheads="1"/>
          </p:cNvSpPr>
          <p:nvPr/>
        </p:nvSpPr>
        <p:spPr bwMode="auto">
          <a:xfrm>
            <a:off x="571500" y="1798638"/>
            <a:ext cx="49530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>
                <a:latin typeface="宋体" charset="0"/>
              </a:rPr>
              <a:t>( 5 )长度</a:t>
            </a:r>
            <a:r>
              <a:rPr lang="zh-CN" altLang="en-US">
                <a:latin typeface="宋体" charset="0"/>
              </a:rPr>
              <a:t> </a:t>
            </a:r>
          </a:p>
        </p:txBody>
      </p:sp>
      <p:sp>
        <p:nvSpPr>
          <p:cNvPr id="303107" name="Text Box 3"/>
          <p:cNvSpPr txBox="1">
            <a:spLocks noChangeArrowheads="1"/>
          </p:cNvSpPr>
          <p:nvPr/>
        </p:nvSpPr>
        <p:spPr bwMode="auto">
          <a:xfrm>
            <a:off x="533400" y="2636838"/>
            <a:ext cx="78486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>
                <a:latin typeface="宋体" charset="0"/>
              </a:rPr>
              <a:t>长度格式符为</a:t>
            </a:r>
            <a:r>
              <a:rPr lang="en-US" altLang="zh-CN" b="1" dirty="0" err="1">
                <a:latin typeface="宋体" charset="0"/>
              </a:rPr>
              <a:t>h、l</a:t>
            </a:r>
            <a:r>
              <a:rPr lang="zh-CN" altLang="en-US" b="1" dirty="0">
                <a:latin typeface="宋体" charset="0"/>
              </a:rPr>
              <a:t>两种，</a:t>
            </a:r>
            <a:r>
              <a:rPr lang="en-US" altLang="zh-CN" b="1" dirty="0">
                <a:latin typeface="宋体" charset="0"/>
              </a:rPr>
              <a:t>h</a:t>
            </a:r>
            <a:r>
              <a:rPr lang="zh-CN" altLang="en-US" b="1" dirty="0">
                <a:latin typeface="宋体" charset="0"/>
              </a:rPr>
              <a:t>表示按短整型量输出，</a:t>
            </a:r>
            <a:r>
              <a:rPr lang="en-US" altLang="zh-CN" b="1" dirty="0">
                <a:latin typeface="宋体" charset="0"/>
              </a:rPr>
              <a:t>l</a:t>
            </a:r>
            <a:r>
              <a:rPr lang="zh-CN" altLang="en-US" b="1" dirty="0">
                <a:latin typeface="宋体" charset="0"/>
              </a:rPr>
              <a:t>表示按长整型量输出</a:t>
            </a:r>
            <a:r>
              <a:rPr lang="zh-CN" altLang="en-US" dirty="0">
                <a:latin typeface="宋体" charset="0"/>
              </a:rPr>
              <a:t> </a:t>
            </a:r>
          </a:p>
        </p:txBody>
      </p:sp>
      <p:sp>
        <p:nvSpPr>
          <p:cNvPr id="303108" name="Text Box 4"/>
          <p:cNvSpPr txBox="1">
            <a:spLocks noChangeArrowheads="1"/>
          </p:cNvSpPr>
          <p:nvPr/>
        </p:nvSpPr>
        <p:spPr bwMode="auto">
          <a:xfrm>
            <a:off x="647700" y="4556125"/>
            <a:ext cx="7010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/>
              <a:t>( 6 ) 类型是指输出数据的类型.</a:t>
            </a:r>
            <a:endParaRPr lang="zh-CN" altLang="en-US" dirty="0"/>
          </a:p>
        </p:txBody>
      </p:sp>
      <p:sp>
        <p:nvSpPr>
          <p:cNvPr id="303109" name="Text Box 5"/>
          <p:cNvSpPr txBox="1">
            <a:spLocks noChangeArrowheads="1"/>
          </p:cNvSpPr>
          <p:nvPr/>
        </p:nvSpPr>
        <p:spPr bwMode="auto">
          <a:xfrm>
            <a:off x="533400" y="438150"/>
            <a:ext cx="8229600" cy="626710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>
                <a:solidFill>
                  <a:srgbClr val="FF3300"/>
                </a:solidFill>
                <a:latin typeface="宋体" charset="0"/>
              </a:rPr>
              <a:t>%</a:t>
            </a:r>
            <a:r>
              <a:rPr lang="zh-CN" altLang="en-US" b="1"/>
              <a:t> </a:t>
            </a:r>
            <a:r>
              <a:rPr lang="zh-CN" altLang="en-US" b="1">
                <a:solidFill>
                  <a:srgbClr val="FF3300"/>
                </a:solidFill>
              </a:rPr>
              <a:t>[标志][输出最小宽度][.精度]</a:t>
            </a:r>
            <a:r>
              <a:rPr lang="zh-CN" altLang="en-US" b="1">
                <a:solidFill>
                  <a:srgbClr val="00B050"/>
                </a:solidFill>
              </a:rPr>
              <a:t>[长度]</a:t>
            </a:r>
            <a:r>
              <a:rPr lang="zh-CN" altLang="en-US" b="1">
                <a:solidFill>
                  <a:srgbClr val="FF3300"/>
                </a:solidFill>
              </a:rPr>
              <a:t>&lt;类型&gt;</a:t>
            </a:r>
            <a:endParaRPr lang="zh-CN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672268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457200" y="142875"/>
            <a:ext cx="739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b="1" dirty="0" err="1">
                <a:solidFill>
                  <a:srgbClr val="0000CC"/>
                </a:solidFill>
              </a:rPr>
              <a:t>Printf</a:t>
            </a:r>
            <a:r>
              <a:rPr lang="en-US" altLang="zh-CN" b="1" dirty="0">
                <a:solidFill>
                  <a:srgbClr val="0000CC"/>
                </a:solidFill>
              </a:rPr>
              <a:t> </a:t>
            </a:r>
            <a:r>
              <a:rPr lang="zh-CN" altLang="en-US" b="1" dirty="0">
                <a:solidFill>
                  <a:srgbClr val="0000CC"/>
                </a:solidFill>
              </a:rPr>
              <a:t>函数中主要的格式字符：</a:t>
            </a:r>
          </a:p>
        </p:txBody>
      </p:sp>
      <p:sp>
        <p:nvSpPr>
          <p:cNvPr id="304131" name="Text Box 3"/>
          <p:cNvSpPr txBox="1">
            <a:spLocks noChangeArrowheads="1"/>
          </p:cNvSpPr>
          <p:nvPr/>
        </p:nvSpPr>
        <p:spPr bwMode="auto">
          <a:xfrm>
            <a:off x="495300" y="914400"/>
            <a:ext cx="80010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/>
              <a:t>（1）</a:t>
            </a:r>
            <a:r>
              <a:rPr lang="en-US" altLang="zh-CN" sz="2800" b="1">
                <a:solidFill>
                  <a:schemeClr val="accent2"/>
                </a:solidFill>
              </a:rPr>
              <a:t>d </a:t>
            </a:r>
            <a:r>
              <a:rPr lang="zh-CN" altLang="en-US" sz="2800" b="1">
                <a:solidFill>
                  <a:schemeClr val="accent2"/>
                </a:solidFill>
              </a:rPr>
              <a:t>格式符</a:t>
            </a:r>
            <a:r>
              <a:rPr lang="zh-CN" altLang="en-US" sz="2800" b="1"/>
              <a:t>：输出带符号的十进制整数，正数</a:t>
            </a:r>
          </a:p>
          <a:p>
            <a:pPr algn="l" eaLnBrk="1" hangingPunct="1">
              <a:spcBef>
                <a:spcPct val="50000"/>
              </a:spcBef>
            </a:pPr>
            <a:r>
              <a:rPr lang="zh-CN" altLang="en-US" sz="2800" b="1"/>
              <a:t>                              的符号省略</a:t>
            </a:r>
          </a:p>
        </p:txBody>
      </p:sp>
      <p:sp>
        <p:nvSpPr>
          <p:cNvPr id="304132" name="Text Box 4"/>
          <p:cNvSpPr txBox="1">
            <a:spLocks noChangeArrowheads="1"/>
          </p:cNvSpPr>
          <p:nvPr/>
        </p:nvSpPr>
        <p:spPr bwMode="auto">
          <a:xfrm>
            <a:off x="381000" y="2362200"/>
            <a:ext cx="8458200" cy="366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50000"/>
              </a:spcBef>
              <a:buFont typeface="Wingdings" charset="2"/>
              <a:buChar char="§"/>
            </a:pPr>
            <a:r>
              <a:rPr lang="zh-CN" altLang="en-US" sz="2800" b="1"/>
              <a:t>   </a:t>
            </a:r>
            <a:r>
              <a:rPr lang="zh-CN" altLang="en-US" sz="2800" b="1">
                <a:solidFill>
                  <a:srgbClr val="FF3300"/>
                </a:solidFill>
              </a:rPr>
              <a:t>%</a:t>
            </a:r>
            <a:r>
              <a:rPr lang="en-US" altLang="zh-CN" sz="2800" b="1">
                <a:solidFill>
                  <a:srgbClr val="FF3300"/>
                </a:solidFill>
              </a:rPr>
              <a:t>d</a:t>
            </a:r>
            <a:r>
              <a:rPr lang="en-US" altLang="zh-CN" sz="2800" b="1"/>
              <a:t> ，</a:t>
            </a:r>
            <a:r>
              <a:rPr lang="zh-CN" altLang="en-US" sz="2800" b="1"/>
              <a:t>按整型数据的实际长度输出</a:t>
            </a:r>
          </a:p>
          <a:p>
            <a:pPr algn="l" eaLnBrk="1" hangingPunct="1">
              <a:lnSpc>
                <a:spcPct val="90000"/>
              </a:lnSpc>
              <a:spcBef>
                <a:spcPct val="50000"/>
              </a:spcBef>
              <a:buFont typeface="Wingdings" charset="2"/>
              <a:buChar char="§"/>
            </a:pPr>
            <a:r>
              <a:rPr lang="zh-CN" altLang="en-US" sz="2800" b="1"/>
              <a:t>   </a:t>
            </a:r>
            <a:r>
              <a:rPr lang="zh-CN" altLang="en-US" sz="2800" b="1">
                <a:solidFill>
                  <a:srgbClr val="FF3300"/>
                </a:solidFill>
              </a:rPr>
              <a:t>%</a:t>
            </a:r>
            <a:r>
              <a:rPr lang="en-US" altLang="zh-CN" sz="2800" b="1">
                <a:solidFill>
                  <a:srgbClr val="FF3300"/>
                </a:solidFill>
              </a:rPr>
              <a:t>md</a:t>
            </a:r>
            <a:r>
              <a:rPr lang="en-US" altLang="zh-CN" sz="2800" b="1"/>
              <a:t> , m</a:t>
            </a:r>
            <a:r>
              <a:rPr lang="zh-CN" altLang="en-US" sz="2800" b="1"/>
              <a:t>为指定的输出字段的宽度，若实际位数多于定义宽度</a:t>
            </a:r>
            <a:r>
              <a:rPr lang="en-US" altLang="zh-CN" sz="2800" b="1"/>
              <a:t>m ，</a:t>
            </a:r>
            <a:r>
              <a:rPr lang="zh-CN" altLang="en-US" sz="2800" b="1"/>
              <a:t>则按实际位数输出；若实际位数少于定义宽度</a:t>
            </a:r>
            <a:r>
              <a:rPr lang="en-US" altLang="zh-CN" sz="2800" b="1"/>
              <a:t>m ，</a:t>
            </a:r>
            <a:r>
              <a:rPr lang="zh-CN" altLang="en-US" sz="2800" b="1"/>
              <a:t>则左端补以空格。</a:t>
            </a:r>
          </a:p>
          <a:p>
            <a:pPr algn="l" eaLnBrk="1" hangingPunct="1">
              <a:lnSpc>
                <a:spcPct val="90000"/>
              </a:lnSpc>
              <a:spcBef>
                <a:spcPct val="50000"/>
              </a:spcBef>
              <a:buFont typeface="Wingdings" charset="2"/>
              <a:buNone/>
            </a:pPr>
            <a:r>
              <a:rPr lang="zh-CN" altLang="en-US" sz="2800" b="1"/>
              <a:t>      如：   </a:t>
            </a:r>
            <a:r>
              <a:rPr lang="en-US" altLang="zh-CN" sz="2800" b="1"/>
              <a:t>printf(“%4d,%4d”,a,b);</a:t>
            </a:r>
          </a:p>
          <a:p>
            <a:pPr algn="l" eaLnBrk="1" hangingPunct="1">
              <a:lnSpc>
                <a:spcPct val="90000"/>
              </a:lnSpc>
              <a:spcBef>
                <a:spcPct val="50000"/>
              </a:spcBef>
              <a:buFont typeface="Wingdings" charset="2"/>
              <a:buNone/>
            </a:pPr>
            <a:r>
              <a:rPr lang="en-US" altLang="zh-CN" sz="2800" b="1"/>
              <a:t>       </a:t>
            </a:r>
            <a:r>
              <a:rPr lang="zh-CN" altLang="en-US" sz="2800" b="1"/>
              <a:t>若 </a:t>
            </a:r>
            <a:r>
              <a:rPr lang="en-US" altLang="zh-CN" sz="2800" b="1"/>
              <a:t>a=123, b=12345  </a:t>
            </a:r>
            <a:r>
              <a:rPr lang="zh-CN" altLang="en-US" sz="2800" b="1"/>
              <a:t>则输出为：</a:t>
            </a:r>
            <a:r>
              <a:rPr lang="zh-CN" altLang="en-US" sz="2800" b="1" u="sng"/>
              <a:t>   123 </a:t>
            </a:r>
            <a:r>
              <a:rPr lang="zh-CN" altLang="en-US" sz="2800" b="1"/>
              <a:t>，12345</a:t>
            </a:r>
          </a:p>
          <a:p>
            <a:pPr algn="l" eaLnBrk="1" hangingPunct="1">
              <a:lnSpc>
                <a:spcPct val="90000"/>
              </a:lnSpc>
              <a:spcBef>
                <a:spcPct val="50000"/>
              </a:spcBef>
              <a:buFont typeface="Wingdings" charset="2"/>
              <a:buChar char="§"/>
            </a:pPr>
            <a:r>
              <a:rPr lang="zh-CN" altLang="en-US" sz="2800" b="1"/>
              <a:t>  </a:t>
            </a:r>
            <a:r>
              <a:rPr lang="zh-CN" altLang="en-US" sz="2800" b="1">
                <a:solidFill>
                  <a:srgbClr val="FF3300"/>
                </a:solidFill>
              </a:rPr>
              <a:t>%</a:t>
            </a:r>
            <a:r>
              <a:rPr lang="en-US" altLang="zh-CN" sz="2800" b="1">
                <a:solidFill>
                  <a:srgbClr val="FF3300"/>
                </a:solidFill>
              </a:rPr>
              <a:t>ld  </a:t>
            </a:r>
            <a:r>
              <a:rPr lang="en-US" altLang="zh-CN" sz="2800" b="1"/>
              <a:t>,</a:t>
            </a:r>
            <a:r>
              <a:rPr lang="zh-CN" altLang="en-US" sz="2800" b="1"/>
              <a:t>输出长整型数据</a:t>
            </a:r>
          </a:p>
        </p:txBody>
      </p:sp>
    </p:spTree>
    <p:extLst>
      <p:ext uri="{BB962C8B-B14F-4D97-AF65-F5344CB8AC3E}">
        <p14:creationId xmlns:p14="http://schemas.microsoft.com/office/powerpoint/2010/main" val="6243629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Text Box 2"/>
          <p:cNvSpPr txBox="1">
            <a:spLocks noChangeArrowheads="1"/>
          </p:cNvSpPr>
          <p:nvPr/>
        </p:nvSpPr>
        <p:spPr bwMode="auto">
          <a:xfrm>
            <a:off x="495300" y="3429000"/>
            <a:ext cx="800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/>
              <a:t>（3）</a:t>
            </a:r>
            <a:r>
              <a:rPr lang="en-US" altLang="zh-CN" sz="2800" b="1">
                <a:solidFill>
                  <a:schemeClr val="accent2"/>
                </a:solidFill>
              </a:rPr>
              <a:t>o</a:t>
            </a:r>
            <a:r>
              <a:rPr lang="zh-CN" altLang="en-US" sz="2800" b="1">
                <a:solidFill>
                  <a:schemeClr val="accent2"/>
                </a:solidFill>
              </a:rPr>
              <a:t>格式符</a:t>
            </a:r>
            <a:r>
              <a:rPr lang="zh-CN" altLang="en-US" sz="2800" b="1"/>
              <a:t>：以无符号八进制形式输出整数</a:t>
            </a:r>
          </a:p>
        </p:txBody>
      </p:sp>
      <p:sp>
        <p:nvSpPr>
          <p:cNvPr id="305155" name="Text Box 3"/>
          <p:cNvSpPr txBox="1">
            <a:spLocks noChangeArrowheads="1"/>
          </p:cNvSpPr>
          <p:nvPr/>
        </p:nvSpPr>
        <p:spPr bwMode="auto">
          <a:xfrm>
            <a:off x="495300" y="430213"/>
            <a:ext cx="800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/>
              <a:t>（2）</a:t>
            </a:r>
            <a:r>
              <a:rPr lang="en-US" altLang="zh-CN" sz="2800" b="1">
                <a:solidFill>
                  <a:schemeClr val="accent2"/>
                </a:solidFill>
              </a:rPr>
              <a:t>u </a:t>
            </a:r>
            <a:r>
              <a:rPr lang="zh-CN" altLang="en-US" sz="2800" b="1">
                <a:solidFill>
                  <a:schemeClr val="accent2"/>
                </a:solidFill>
              </a:rPr>
              <a:t>格式符</a:t>
            </a:r>
            <a:r>
              <a:rPr lang="zh-CN" altLang="en-US" sz="2800" b="1"/>
              <a:t>：以十进制形式输出无符号整数</a:t>
            </a:r>
          </a:p>
        </p:txBody>
      </p:sp>
      <p:sp>
        <p:nvSpPr>
          <p:cNvPr id="305156" name="Text Box 4"/>
          <p:cNvSpPr txBox="1">
            <a:spLocks noChangeArrowheads="1"/>
          </p:cNvSpPr>
          <p:nvPr/>
        </p:nvSpPr>
        <p:spPr bwMode="auto">
          <a:xfrm>
            <a:off x="2057400" y="1219200"/>
            <a:ext cx="5486400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/>
              <a:t>如： </a:t>
            </a:r>
            <a:r>
              <a:rPr lang="en-US" altLang="zh-CN" sz="2800" b="1"/>
              <a:t>int  k = -455;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2800" b="1"/>
              <a:t>         printf(</a:t>
            </a:r>
            <a:r>
              <a:rPr lang="fr-FR" altLang="zh-CN" sz="2800" b="1">
                <a:latin typeface="Courier New" charset="0"/>
              </a:rPr>
              <a:t>"</a:t>
            </a:r>
            <a:r>
              <a:rPr lang="en-US" altLang="zh-CN" sz="2800" b="1"/>
              <a:t>%d，%u</a:t>
            </a:r>
            <a:r>
              <a:rPr lang="fr-FR" altLang="zh-CN" sz="2800" b="1">
                <a:latin typeface="Courier New" charset="0"/>
              </a:rPr>
              <a:t>"</a:t>
            </a:r>
            <a:r>
              <a:rPr lang="en-US" altLang="zh-CN" sz="2800" b="1"/>
              <a:t>, k , k);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2800" b="1"/>
              <a:t>    </a:t>
            </a:r>
            <a:r>
              <a:rPr lang="zh-CN" altLang="en-US" sz="2800" b="1"/>
              <a:t>输出结果为 </a:t>
            </a:r>
            <a:r>
              <a:rPr lang="en-US" altLang="zh-CN" sz="2800" b="1"/>
              <a:t>-455</a:t>
            </a:r>
            <a:r>
              <a:rPr lang="zh-CN" altLang="en-US" sz="2800" b="1"/>
              <a:t>,</a:t>
            </a:r>
            <a:r>
              <a:rPr lang="en-US" altLang="zh-CN" sz="2800" b="1"/>
              <a:t>4294966841</a:t>
            </a:r>
            <a:endParaRPr lang="zh-CN" altLang="en-US" sz="2800" b="1"/>
          </a:p>
        </p:txBody>
      </p:sp>
      <p:sp>
        <p:nvSpPr>
          <p:cNvPr id="305157" name="Text Box 5"/>
          <p:cNvSpPr txBox="1">
            <a:spLocks noChangeArrowheads="1"/>
          </p:cNvSpPr>
          <p:nvPr/>
        </p:nvSpPr>
        <p:spPr bwMode="auto">
          <a:xfrm>
            <a:off x="1752600" y="4343400"/>
            <a:ext cx="5486400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/>
              <a:t>如： </a:t>
            </a:r>
            <a:r>
              <a:rPr lang="en-US" altLang="zh-CN" sz="2800" b="1"/>
              <a:t>int  k=455;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2800" b="1"/>
              <a:t>         printf(</a:t>
            </a:r>
            <a:r>
              <a:rPr lang="fr-FR" altLang="zh-CN" sz="2800" b="1">
                <a:latin typeface="Courier New" charset="0"/>
              </a:rPr>
              <a:t>"</a:t>
            </a:r>
            <a:r>
              <a:rPr lang="en-US" altLang="zh-CN" sz="2800" b="1"/>
              <a:t>%o</a:t>
            </a:r>
            <a:r>
              <a:rPr lang="fr-FR" altLang="zh-CN" sz="2800" b="1">
                <a:latin typeface="Courier New" charset="0"/>
              </a:rPr>
              <a:t>"</a:t>
            </a:r>
            <a:r>
              <a:rPr lang="en-US" altLang="zh-CN" sz="2800" b="1"/>
              <a:t>, k );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2800" b="1"/>
              <a:t>    </a:t>
            </a:r>
            <a:r>
              <a:rPr lang="zh-CN" altLang="en-US" sz="2800" b="1"/>
              <a:t>输出结果为 </a:t>
            </a:r>
            <a:r>
              <a:rPr lang="en-US" altLang="zh-CN" sz="2800" b="1"/>
              <a:t>707</a:t>
            </a:r>
            <a:endParaRPr lang="zh-CN" altLang="en-US" sz="2800" b="1"/>
          </a:p>
        </p:txBody>
      </p:sp>
    </p:spTree>
    <p:extLst>
      <p:ext uri="{BB962C8B-B14F-4D97-AF65-F5344CB8AC3E}">
        <p14:creationId xmlns:p14="http://schemas.microsoft.com/office/powerpoint/2010/main" val="21325856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Text Box 2"/>
          <p:cNvSpPr txBox="1">
            <a:spLocks noChangeArrowheads="1"/>
          </p:cNvSpPr>
          <p:nvPr/>
        </p:nvSpPr>
        <p:spPr bwMode="auto">
          <a:xfrm>
            <a:off x="495300" y="457200"/>
            <a:ext cx="800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/>
              <a:t>（4）</a:t>
            </a:r>
            <a:r>
              <a:rPr lang="en-US" altLang="zh-CN" sz="2800" b="1">
                <a:solidFill>
                  <a:schemeClr val="accent2"/>
                </a:solidFill>
              </a:rPr>
              <a:t>x </a:t>
            </a:r>
            <a:r>
              <a:rPr lang="zh-CN" altLang="en-US" sz="2800" b="1">
                <a:solidFill>
                  <a:schemeClr val="accent2"/>
                </a:solidFill>
              </a:rPr>
              <a:t>格式符</a:t>
            </a:r>
            <a:r>
              <a:rPr lang="zh-CN" altLang="en-US" sz="2800" b="1"/>
              <a:t>：以无符号十六进制形式输出整数</a:t>
            </a:r>
          </a:p>
        </p:txBody>
      </p:sp>
      <p:sp>
        <p:nvSpPr>
          <p:cNvPr id="306179" name="Text Box 3"/>
          <p:cNvSpPr txBox="1">
            <a:spLocks noChangeArrowheads="1"/>
          </p:cNvSpPr>
          <p:nvPr/>
        </p:nvSpPr>
        <p:spPr bwMode="auto">
          <a:xfrm>
            <a:off x="1752600" y="1219200"/>
            <a:ext cx="5486400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 dirty="0"/>
              <a:t>如： </a:t>
            </a:r>
            <a:r>
              <a:rPr lang="en-US" altLang="zh-CN" sz="2800" b="1" dirty="0" err="1"/>
              <a:t>int</a:t>
            </a:r>
            <a:r>
              <a:rPr lang="en-US" altLang="zh-CN" sz="2800" b="1" dirty="0"/>
              <a:t>  k＝455;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2800" b="1" dirty="0"/>
              <a:t>         </a:t>
            </a:r>
            <a:r>
              <a:rPr lang="en-US" altLang="zh-CN" sz="2800" b="1" dirty="0" err="1"/>
              <a:t>printf</a:t>
            </a:r>
            <a:r>
              <a:rPr lang="en-US" altLang="zh-CN" sz="2800" b="1" dirty="0"/>
              <a:t>(</a:t>
            </a:r>
            <a:r>
              <a:rPr lang="fr-FR" altLang="zh-CN" sz="2800" b="1" dirty="0">
                <a:latin typeface="Courier New" charset="0"/>
              </a:rPr>
              <a:t>"</a:t>
            </a:r>
            <a:r>
              <a:rPr lang="en-US" altLang="zh-CN" sz="2800" b="1" dirty="0"/>
              <a:t>%x</a:t>
            </a:r>
            <a:r>
              <a:rPr lang="fr-FR" altLang="zh-CN" sz="2800" b="1" dirty="0">
                <a:latin typeface="Courier New" charset="0"/>
              </a:rPr>
              <a:t>"</a:t>
            </a:r>
            <a:r>
              <a:rPr lang="en-US" altLang="zh-CN" sz="2800" b="1" dirty="0"/>
              <a:t>,  k);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2800" b="1" dirty="0"/>
              <a:t>    </a:t>
            </a:r>
            <a:r>
              <a:rPr lang="zh-CN" altLang="en-US" sz="2800" b="1" dirty="0"/>
              <a:t>输出结果为 </a:t>
            </a:r>
            <a:r>
              <a:rPr lang="en-US" altLang="zh-CN" sz="2800" b="1" dirty="0"/>
              <a:t>1c7</a:t>
            </a:r>
          </a:p>
        </p:txBody>
      </p:sp>
      <p:sp>
        <p:nvSpPr>
          <p:cNvPr id="306180" name="Text Box 4"/>
          <p:cNvSpPr txBox="1">
            <a:spLocks noChangeArrowheads="1"/>
          </p:cNvSpPr>
          <p:nvPr/>
        </p:nvSpPr>
        <p:spPr bwMode="auto">
          <a:xfrm>
            <a:off x="495300" y="3429000"/>
            <a:ext cx="800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/>
              <a:t>（5）</a:t>
            </a:r>
            <a:r>
              <a:rPr lang="en-US" altLang="zh-CN" sz="2800" b="1">
                <a:solidFill>
                  <a:schemeClr val="accent2"/>
                </a:solidFill>
              </a:rPr>
              <a:t>c</a:t>
            </a:r>
            <a:r>
              <a:rPr lang="zh-CN" altLang="en-US" sz="2800" b="1">
                <a:solidFill>
                  <a:schemeClr val="accent2"/>
                </a:solidFill>
              </a:rPr>
              <a:t>格式符</a:t>
            </a:r>
            <a:r>
              <a:rPr lang="zh-CN" altLang="en-US" sz="2800" b="1"/>
              <a:t>：用来输出一个字符</a:t>
            </a:r>
          </a:p>
        </p:txBody>
      </p:sp>
      <p:sp>
        <p:nvSpPr>
          <p:cNvPr id="306181" name="Text Box 5"/>
          <p:cNvSpPr txBox="1">
            <a:spLocks noChangeArrowheads="1"/>
          </p:cNvSpPr>
          <p:nvPr/>
        </p:nvSpPr>
        <p:spPr bwMode="auto">
          <a:xfrm>
            <a:off x="1752600" y="4267200"/>
            <a:ext cx="5486400" cy="180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/>
              <a:t>如： </a:t>
            </a:r>
            <a:r>
              <a:rPr lang="en-US" altLang="zh-CN" sz="2800" b="1"/>
              <a:t>char  c＝’a’;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2800" b="1"/>
              <a:t>         printf(</a:t>
            </a:r>
            <a:r>
              <a:rPr lang="fr-FR" altLang="zh-CN" sz="2800" b="1">
                <a:latin typeface="Courier New" charset="0"/>
              </a:rPr>
              <a:t>"</a:t>
            </a:r>
            <a:r>
              <a:rPr lang="en-US" altLang="zh-CN" sz="2800" b="1"/>
              <a:t>%c</a:t>
            </a:r>
            <a:r>
              <a:rPr lang="fr-FR" altLang="zh-CN" sz="2800" b="1">
                <a:latin typeface="Courier New" charset="0"/>
              </a:rPr>
              <a:t>"</a:t>
            </a:r>
            <a:r>
              <a:rPr lang="en-US" altLang="zh-CN" sz="2800" b="1"/>
              <a:t>,  c);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2800" b="1"/>
              <a:t>    </a:t>
            </a:r>
            <a:r>
              <a:rPr lang="zh-CN" altLang="en-US" sz="2800" b="1"/>
              <a:t>输出字符</a:t>
            </a:r>
            <a:r>
              <a:rPr lang="en-US" altLang="zh-CN" sz="2800" b="1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651774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Text Box 2"/>
          <p:cNvSpPr txBox="1">
            <a:spLocks noChangeArrowheads="1"/>
          </p:cNvSpPr>
          <p:nvPr/>
        </p:nvSpPr>
        <p:spPr bwMode="auto">
          <a:xfrm>
            <a:off x="495300" y="304800"/>
            <a:ext cx="800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/>
              <a:t>（6）</a:t>
            </a:r>
            <a:r>
              <a:rPr lang="en-US" altLang="zh-CN" sz="2800" b="1">
                <a:solidFill>
                  <a:schemeClr val="accent2"/>
                </a:solidFill>
              </a:rPr>
              <a:t>f </a:t>
            </a:r>
            <a:r>
              <a:rPr lang="zh-CN" altLang="en-US" sz="2800" b="1">
                <a:solidFill>
                  <a:schemeClr val="accent2"/>
                </a:solidFill>
              </a:rPr>
              <a:t>格式符</a:t>
            </a:r>
            <a:r>
              <a:rPr lang="zh-CN" altLang="en-US" sz="2800" b="1"/>
              <a:t>：以小数形式输出单、双精度实数</a:t>
            </a:r>
          </a:p>
        </p:txBody>
      </p:sp>
      <p:sp>
        <p:nvSpPr>
          <p:cNvPr id="307203" name="Text Box 3"/>
          <p:cNvSpPr txBox="1">
            <a:spLocks noChangeArrowheads="1"/>
          </p:cNvSpPr>
          <p:nvPr/>
        </p:nvSpPr>
        <p:spPr bwMode="auto">
          <a:xfrm>
            <a:off x="304800" y="990600"/>
            <a:ext cx="8382000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800" b="1"/>
              <a:t> </a:t>
            </a:r>
            <a:r>
              <a:rPr lang="zh-CN" altLang="en-US" sz="2800" b="1">
                <a:solidFill>
                  <a:srgbClr val="FF3300"/>
                </a:solidFill>
              </a:rPr>
              <a:t> %</a:t>
            </a:r>
            <a:r>
              <a:rPr lang="en-US" altLang="zh-CN" sz="2800" b="1">
                <a:solidFill>
                  <a:srgbClr val="FF3300"/>
                </a:solidFill>
              </a:rPr>
              <a:t>f</a:t>
            </a:r>
            <a:r>
              <a:rPr lang="en-US" altLang="zh-CN" sz="2800" b="1"/>
              <a:t>  </a:t>
            </a:r>
            <a:r>
              <a:rPr lang="zh-CN" altLang="en-US" sz="2800" b="1"/>
              <a:t>不指定字段宽度，由系统自动指定，整数部分全部输出，小数部分输出6位。单精度实数的有效位数是7位，双精度实数的有效位数是16位</a:t>
            </a:r>
          </a:p>
          <a:p>
            <a:pPr algn="l"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800" b="1"/>
              <a:t> </a:t>
            </a:r>
            <a:r>
              <a:rPr lang="zh-CN" altLang="en-US" sz="2800" b="1">
                <a:solidFill>
                  <a:srgbClr val="FF3300"/>
                </a:solidFill>
              </a:rPr>
              <a:t>%</a:t>
            </a:r>
            <a:r>
              <a:rPr lang="en-US" altLang="zh-CN" sz="2800" b="1">
                <a:solidFill>
                  <a:srgbClr val="FF3300"/>
                </a:solidFill>
              </a:rPr>
              <a:t>m.nf  </a:t>
            </a:r>
            <a:r>
              <a:rPr lang="zh-CN" altLang="en-US" sz="2800" b="1"/>
              <a:t>指定输出的数据共占</a:t>
            </a:r>
            <a:r>
              <a:rPr lang="en-US" altLang="zh-CN" sz="2800" b="1"/>
              <a:t>m</a:t>
            </a:r>
            <a:r>
              <a:rPr lang="zh-CN" altLang="en-US" sz="2800" b="1"/>
              <a:t>列，其中有</a:t>
            </a:r>
            <a:r>
              <a:rPr lang="en-US" altLang="zh-CN" sz="2800" b="1"/>
              <a:t>n</a:t>
            </a:r>
            <a:r>
              <a:rPr lang="zh-CN" altLang="en-US" sz="2800" b="1"/>
              <a:t>位小数，若实际位数少于定义宽度</a:t>
            </a:r>
            <a:r>
              <a:rPr lang="en-US" altLang="zh-CN" sz="2800" b="1"/>
              <a:t>m ，</a:t>
            </a:r>
            <a:r>
              <a:rPr lang="zh-CN" altLang="en-US" sz="2800" b="1"/>
              <a:t>则左端补以空格。</a:t>
            </a:r>
            <a:endParaRPr lang="zh-CN" altLang="en-US" sz="2800" b="1">
              <a:solidFill>
                <a:srgbClr val="FF3300"/>
              </a:solidFill>
            </a:endParaRPr>
          </a:p>
        </p:txBody>
      </p:sp>
      <p:sp>
        <p:nvSpPr>
          <p:cNvPr id="307204" name="Text Box 4"/>
          <p:cNvSpPr txBox="1">
            <a:spLocks noChangeArrowheads="1"/>
          </p:cNvSpPr>
          <p:nvPr/>
        </p:nvSpPr>
        <p:spPr bwMode="auto">
          <a:xfrm>
            <a:off x="1143000" y="4038600"/>
            <a:ext cx="5486400" cy="244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/>
              <a:t>如： </a:t>
            </a:r>
            <a:r>
              <a:rPr lang="en-US" altLang="zh-CN" sz="2800" b="1"/>
              <a:t>float x , y ;  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2800" b="1"/>
              <a:t>         x=11111.111; y=22222.222</a:t>
            </a:r>
            <a:r>
              <a:rPr lang="zh-CN" altLang="en-US" sz="2800" b="1"/>
              <a:t>；</a:t>
            </a:r>
            <a:endParaRPr lang="en-US" altLang="zh-CN" sz="2800" b="1"/>
          </a:p>
          <a:p>
            <a:pPr algn="l" eaLnBrk="1" hangingPunct="1">
              <a:spcBef>
                <a:spcPct val="50000"/>
              </a:spcBef>
            </a:pPr>
            <a:r>
              <a:rPr lang="en-US" altLang="zh-CN" sz="2800" b="1"/>
              <a:t>         printf(</a:t>
            </a:r>
            <a:r>
              <a:rPr lang="fr-FR" altLang="zh-CN" sz="2800" b="1">
                <a:latin typeface="Courier New" charset="0"/>
              </a:rPr>
              <a:t>"</a:t>
            </a:r>
            <a:r>
              <a:rPr lang="en-US" altLang="zh-CN" sz="2800" b="1"/>
              <a:t>%f</a:t>
            </a:r>
            <a:r>
              <a:rPr lang="fr-FR" altLang="zh-CN" sz="2800" b="1">
                <a:latin typeface="Courier New" charset="0"/>
              </a:rPr>
              <a:t>"</a:t>
            </a:r>
            <a:r>
              <a:rPr lang="en-US" altLang="zh-CN" sz="2800" b="1"/>
              <a:t>,  x+y);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2800" b="1"/>
              <a:t>    </a:t>
            </a:r>
            <a:r>
              <a:rPr lang="zh-CN" altLang="en-US" sz="2800" b="1"/>
              <a:t>输出结果为    </a:t>
            </a:r>
            <a:r>
              <a:rPr lang="zh-CN" altLang="en-US" sz="2800" b="1" u="sng"/>
              <a:t>33333.33</a:t>
            </a:r>
            <a:r>
              <a:rPr lang="zh-CN" altLang="en-US" sz="2800" b="1"/>
              <a:t>3984</a:t>
            </a:r>
          </a:p>
        </p:txBody>
      </p:sp>
      <p:sp>
        <p:nvSpPr>
          <p:cNvPr id="307205" name="AutoShape 5"/>
          <p:cNvSpPr>
            <a:spLocks noChangeArrowheads="1"/>
          </p:cNvSpPr>
          <p:nvPr/>
        </p:nvSpPr>
        <p:spPr bwMode="auto">
          <a:xfrm>
            <a:off x="6477000" y="5562600"/>
            <a:ext cx="2667000" cy="990600"/>
          </a:xfrm>
          <a:prstGeom prst="wedgeRectCallout">
            <a:avLst>
              <a:gd name="adj1" fmla="val -68870"/>
              <a:gd name="adj2" fmla="val 17949"/>
            </a:avLst>
          </a:prstGeom>
          <a:solidFill>
            <a:srgbClr val="FFFF99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/>
            <a:r>
              <a:rPr lang="zh-CN" altLang="en-US" sz="2800" b="1"/>
              <a:t>只有前7位是有效数字</a:t>
            </a:r>
          </a:p>
        </p:txBody>
      </p:sp>
    </p:spTree>
    <p:extLst>
      <p:ext uri="{BB962C8B-B14F-4D97-AF65-F5344CB8AC3E}">
        <p14:creationId xmlns:p14="http://schemas.microsoft.com/office/powerpoint/2010/main" val="8961539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Text Box 2"/>
          <p:cNvSpPr txBox="1">
            <a:spLocks noChangeArrowheads="1"/>
          </p:cNvSpPr>
          <p:nvPr/>
        </p:nvSpPr>
        <p:spPr bwMode="auto">
          <a:xfrm>
            <a:off x="76200" y="171450"/>
            <a:ext cx="8839200" cy="325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/>
              <a:t>（7）</a:t>
            </a:r>
            <a:r>
              <a:rPr lang="en-US" altLang="zh-CN" b="1">
                <a:solidFill>
                  <a:schemeClr val="accent2"/>
                </a:solidFill>
              </a:rPr>
              <a:t>e </a:t>
            </a:r>
            <a:r>
              <a:rPr lang="zh-CN" altLang="en-US" b="1">
                <a:solidFill>
                  <a:schemeClr val="accent2"/>
                </a:solidFill>
              </a:rPr>
              <a:t>格式符</a:t>
            </a:r>
            <a:r>
              <a:rPr lang="zh-CN" altLang="en-US" b="1"/>
              <a:t>：以指数形式输出单、双精度实数</a:t>
            </a:r>
          </a:p>
          <a:p>
            <a:pPr lvl="1"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b="1"/>
              <a:t>要求小数点前必须有且只有一个非0数字，不指定域宽</a:t>
            </a:r>
            <a:r>
              <a:rPr lang="en-US" altLang="zh-CN" b="1"/>
              <a:t>m</a:t>
            </a:r>
            <a:r>
              <a:rPr lang="zh-CN" altLang="en-US" b="1"/>
              <a:t>和精度.</a:t>
            </a:r>
            <a:r>
              <a:rPr lang="en-US" altLang="zh-CN" b="1"/>
              <a:t>n</a:t>
            </a:r>
            <a:r>
              <a:rPr lang="zh-CN" altLang="en-US" b="1"/>
              <a:t>时，系统自动给出6位小数，指数部分占5位，其中</a:t>
            </a:r>
            <a:r>
              <a:rPr lang="en-US" altLang="zh-CN" b="1"/>
              <a:t>e</a:t>
            </a:r>
            <a:r>
              <a:rPr lang="zh-CN" altLang="en-US" b="1"/>
              <a:t>占1位。指数符号占1位，指数占3位。</a:t>
            </a:r>
          </a:p>
        </p:txBody>
      </p:sp>
      <p:sp>
        <p:nvSpPr>
          <p:cNvPr id="308227" name="Text Box 3"/>
          <p:cNvSpPr txBox="1">
            <a:spLocks noChangeArrowheads="1"/>
          </p:cNvSpPr>
          <p:nvPr/>
        </p:nvSpPr>
        <p:spPr bwMode="auto">
          <a:xfrm>
            <a:off x="1447800" y="3962400"/>
            <a:ext cx="6324600" cy="2043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/>
              <a:t>如： </a:t>
            </a:r>
            <a:r>
              <a:rPr lang="en-US" altLang="zh-CN" b="1" dirty="0"/>
              <a:t>float   x ＝123.4 ;  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b="1" dirty="0"/>
              <a:t>          </a:t>
            </a:r>
            <a:r>
              <a:rPr lang="en-US" altLang="zh-CN" b="1" dirty="0" err="1"/>
              <a:t>printf</a:t>
            </a:r>
            <a:r>
              <a:rPr lang="en-US" altLang="zh-CN" b="1" dirty="0"/>
              <a:t>(</a:t>
            </a:r>
            <a:r>
              <a:rPr lang="fr-FR" altLang="zh-CN" sz="2800" b="1" dirty="0">
                <a:latin typeface="Courier New" charset="0"/>
              </a:rPr>
              <a:t>"</a:t>
            </a:r>
            <a:r>
              <a:rPr lang="en-US" altLang="zh-CN" b="1" dirty="0"/>
              <a:t>%e</a:t>
            </a:r>
            <a:r>
              <a:rPr lang="fr-FR" altLang="zh-CN" sz="2800" b="1" dirty="0">
                <a:latin typeface="Courier New" charset="0"/>
              </a:rPr>
              <a:t>"</a:t>
            </a:r>
            <a:r>
              <a:rPr lang="en-US" altLang="zh-CN" b="1" dirty="0"/>
              <a:t>,  x);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b="1" dirty="0"/>
              <a:t>    </a:t>
            </a:r>
            <a:r>
              <a:rPr lang="zh-CN" altLang="en-US" b="1" dirty="0"/>
              <a:t>输出结果为    1.2340</a:t>
            </a:r>
            <a:r>
              <a:rPr lang="en-US" altLang="zh-CN" b="1" dirty="0"/>
              <a:t>0</a:t>
            </a:r>
            <a:r>
              <a:rPr lang="zh-CN" altLang="en-US" b="1" dirty="0"/>
              <a:t>0</a:t>
            </a:r>
            <a:r>
              <a:rPr lang="en-US" altLang="zh-CN" b="1" dirty="0"/>
              <a:t>e+002</a:t>
            </a:r>
          </a:p>
        </p:txBody>
      </p:sp>
    </p:spTree>
    <p:extLst>
      <p:ext uri="{BB962C8B-B14F-4D97-AF65-F5344CB8AC3E}">
        <p14:creationId xmlns:p14="http://schemas.microsoft.com/office/powerpoint/2010/main" val="1297436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Text Box 2"/>
          <p:cNvSpPr txBox="1">
            <a:spLocks noChangeArrowheads="1"/>
          </p:cNvSpPr>
          <p:nvPr/>
        </p:nvSpPr>
        <p:spPr bwMode="auto">
          <a:xfrm>
            <a:off x="495300" y="304800"/>
            <a:ext cx="8001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/>
              <a:t>（8）</a:t>
            </a:r>
            <a:r>
              <a:rPr lang="en-US" altLang="zh-CN" b="1">
                <a:solidFill>
                  <a:schemeClr val="accent2"/>
                </a:solidFill>
              </a:rPr>
              <a:t>s</a:t>
            </a:r>
            <a:r>
              <a:rPr lang="zh-CN" altLang="en-US" b="1">
                <a:solidFill>
                  <a:schemeClr val="accent2"/>
                </a:solidFill>
              </a:rPr>
              <a:t>格式符</a:t>
            </a:r>
            <a:r>
              <a:rPr lang="zh-CN" altLang="en-US" b="1"/>
              <a:t>：用来输出字符串</a:t>
            </a:r>
          </a:p>
        </p:txBody>
      </p:sp>
      <p:sp>
        <p:nvSpPr>
          <p:cNvPr id="309251" name="Text Box 3"/>
          <p:cNvSpPr txBox="1">
            <a:spLocks noChangeArrowheads="1"/>
          </p:cNvSpPr>
          <p:nvPr/>
        </p:nvSpPr>
        <p:spPr bwMode="auto">
          <a:xfrm>
            <a:off x="1676400" y="1066800"/>
            <a:ext cx="54864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/>
              <a:t>如： </a:t>
            </a:r>
            <a:r>
              <a:rPr lang="en-US" altLang="zh-CN" sz="2800" b="1"/>
              <a:t>printf(</a:t>
            </a:r>
            <a:r>
              <a:rPr lang="fr-FR" altLang="zh-CN" sz="2800" b="1">
                <a:latin typeface="Courier New" charset="0"/>
              </a:rPr>
              <a:t>"</a:t>
            </a:r>
            <a:r>
              <a:rPr lang="en-US" altLang="zh-CN" sz="2800" b="1"/>
              <a:t>%s</a:t>
            </a:r>
            <a:r>
              <a:rPr lang="fr-FR" altLang="zh-CN" sz="2800" b="1">
                <a:latin typeface="Courier New" charset="0"/>
              </a:rPr>
              <a:t>"</a:t>
            </a:r>
            <a:r>
              <a:rPr lang="en-US" altLang="zh-CN" sz="2800" b="1"/>
              <a:t>, </a:t>
            </a:r>
            <a:r>
              <a:rPr lang="fr-FR" altLang="zh-CN" sz="2800" b="1">
                <a:latin typeface="Courier New" charset="0"/>
              </a:rPr>
              <a:t>"</a:t>
            </a:r>
            <a:r>
              <a:rPr lang="en-US" altLang="zh-CN" sz="2800" b="1"/>
              <a:t>abc</a:t>
            </a:r>
            <a:r>
              <a:rPr lang="fr-FR" altLang="zh-CN" sz="2800" b="1">
                <a:latin typeface="Courier New" charset="0"/>
              </a:rPr>
              <a:t>"</a:t>
            </a:r>
            <a:r>
              <a:rPr lang="en-US" altLang="zh-CN" sz="2800" b="1"/>
              <a:t> );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2800" b="1"/>
              <a:t>         </a:t>
            </a:r>
            <a:r>
              <a:rPr lang="zh-CN" altLang="en-US" sz="2800" b="1"/>
              <a:t>输出字符串 </a:t>
            </a:r>
            <a:r>
              <a:rPr lang="fr-FR" altLang="zh-CN" sz="2800" b="1">
                <a:latin typeface="Courier New" charset="0"/>
              </a:rPr>
              <a:t>"</a:t>
            </a:r>
            <a:r>
              <a:rPr lang="en-US" altLang="zh-CN" sz="2800" b="1"/>
              <a:t>abc</a:t>
            </a:r>
            <a:r>
              <a:rPr lang="fr-FR" altLang="zh-CN" sz="2800" b="1">
                <a:latin typeface="Courier New" charset="0"/>
              </a:rPr>
              <a:t>"</a:t>
            </a:r>
            <a:r>
              <a:rPr lang="en-US" altLang="zh-CN" sz="2800" b="1"/>
              <a:t> </a:t>
            </a:r>
          </a:p>
        </p:txBody>
      </p:sp>
      <p:sp>
        <p:nvSpPr>
          <p:cNvPr id="309252" name="Text Box 4"/>
          <p:cNvSpPr txBox="1">
            <a:spLocks noChangeArrowheads="1"/>
          </p:cNvSpPr>
          <p:nvPr/>
        </p:nvSpPr>
        <p:spPr bwMode="auto">
          <a:xfrm>
            <a:off x="457200" y="2514600"/>
            <a:ext cx="8039100" cy="155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52500" indent="-9525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/>
              <a:t>（9）</a:t>
            </a:r>
            <a:r>
              <a:rPr lang="en-US" altLang="zh-CN" b="1" dirty="0">
                <a:solidFill>
                  <a:schemeClr val="accent2"/>
                </a:solidFill>
              </a:rPr>
              <a:t>g</a:t>
            </a:r>
            <a:r>
              <a:rPr lang="zh-CN" altLang="en-US" b="1" dirty="0">
                <a:solidFill>
                  <a:schemeClr val="accent2"/>
                </a:solidFill>
              </a:rPr>
              <a:t>格式符</a:t>
            </a:r>
            <a:r>
              <a:rPr lang="zh-CN" altLang="en-US" b="1" dirty="0"/>
              <a:t>：用来输出实数，并根据数值的大小，自动选取</a:t>
            </a:r>
            <a:r>
              <a:rPr lang="en-US" altLang="zh-CN" b="1" dirty="0"/>
              <a:t>f</a:t>
            </a:r>
            <a:r>
              <a:rPr lang="zh-CN" altLang="en-US" b="1" dirty="0"/>
              <a:t>格式或</a:t>
            </a:r>
            <a:r>
              <a:rPr lang="en-US" altLang="zh-CN" b="1" dirty="0"/>
              <a:t>e</a:t>
            </a:r>
            <a:r>
              <a:rPr lang="zh-CN" altLang="en-US" b="1" dirty="0"/>
              <a:t>格式中输出宽度较小的一种，且不输出无意义的0。</a:t>
            </a:r>
          </a:p>
        </p:txBody>
      </p:sp>
      <p:sp>
        <p:nvSpPr>
          <p:cNvPr id="309253" name="Text Box 5"/>
          <p:cNvSpPr txBox="1">
            <a:spLocks noChangeArrowheads="1"/>
          </p:cNvSpPr>
          <p:nvPr/>
        </p:nvSpPr>
        <p:spPr bwMode="auto">
          <a:xfrm>
            <a:off x="1447800" y="4414838"/>
            <a:ext cx="5486400" cy="1801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b="1"/>
              <a:t>如： </a:t>
            </a:r>
            <a:r>
              <a:rPr lang="en-US" altLang="zh-CN" sz="2800" b="1"/>
              <a:t>float   x＝123.40 ;  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2800" b="1"/>
              <a:t>          printf(</a:t>
            </a:r>
            <a:r>
              <a:rPr lang="fr-FR" altLang="zh-CN" sz="2800" b="1">
                <a:latin typeface="Courier New" charset="0"/>
              </a:rPr>
              <a:t>"</a:t>
            </a:r>
            <a:r>
              <a:rPr lang="en-US" altLang="zh-CN" sz="2800" b="1"/>
              <a:t>%g</a:t>
            </a:r>
            <a:r>
              <a:rPr lang="fr-FR" altLang="zh-CN" sz="2800" b="1">
                <a:latin typeface="Courier New" charset="0"/>
              </a:rPr>
              <a:t>"</a:t>
            </a:r>
            <a:r>
              <a:rPr lang="en-US" altLang="zh-CN" sz="2800" b="1"/>
              <a:t>,  x);</a:t>
            </a:r>
          </a:p>
          <a:p>
            <a:pPr algn="l" eaLnBrk="1" hangingPunct="1">
              <a:spcBef>
                <a:spcPct val="50000"/>
              </a:spcBef>
            </a:pPr>
            <a:r>
              <a:rPr lang="en-US" altLang="zh-CN" sz="2800" b="1"/>
              <a:t>    </a:t>
            </a:r>
            <a:r>
              <a:rPr lang="zh-CN" altLang="en-US" sz="2800" b="1"/>
              <a:t>输出结果为    123.4</a:t>
            </a:r>
          </a:p>
        </p:txBody>
      </p:sp>
    </p:spTree>
    <p:extLst>
      <p:ext uri="{BB962C8B-B14F-4D97-AF65-F5344CB8AC3E}">
        <p14:creationId xmlns:p14="http://schemas.microsoft.com/office/powerpoint/2010/main" val="1940602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838200" y="304800"/>
            <a:ext cx="7467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600" b="1">
                <a:solidFill>
                  <a:srgbClr val="FF3300"/>
                </a:solidFill>
                <a:latin typeface="宋体" charset="0"/>
              </a:rPr>
              <a:t>使用</a:t>
            </a:r>
            <a:r>
              <a:rPr lang="en-US" altLang="zh-CN" sz="3600" b="1">
                <a:solidFill>
                  <a:srgbClr val="FF3300"/>
                </a:solidFill>
              </a:rPr>
              <a:t>printf( )</a:t>
            </a:r>
            <a:r>
              <a:rPr lang="zh-CN" altLang="en-US" sz="3600" b="1">
                <a:solidFill>
                  <a:srgbClr val="FF3300"/>
                </a:solidFill>
                <a:latin typeface="宋体" charset="0"/>
              </a:rPr>
              <a:t>函数的几点说明：</a:t>
            </a:r>
            <a:r>
              <a:rPr lang="zh-CN" altLang="en-US" sz="3600">
                <a:solidFill>
                  <a:srgbClr val="FF3300"/>
                </a:solidFill>
              </a:rPr>
              <a:t> </a:t>
            </a:r>
          </a:p>
        </p:txBody>
      </p:sp>
      <p:sp>
        <p:nvSpPr>
          <p:cNvPr id="312323" name="Text Box 3"/>
          <p:cNvSpPr txBox="1">
            <a:spLocks noChangeArrowheads="1"/>
          </p:cNvSpPr>
          <p:nvPr/>
        </p:nvSpPr>
        <p:spPr bwMode="auto">
          <a:xfrm>
            <a:off x="457200" y="1143000"/>
            <a:ext cx="8305800" cy="3694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600" b="1"/>
              <a:t>1、格式字符要小写。</a:t>
            </a:r>
            <a:endParaRPr lang="zh-CN" altLang="en-US" sz="3600"/>
          </a:p>
          <a:p>
            <a:pPr algn="l" eaLnBrk="1" hangingPunct="1">
              <a:spcBef>
                <a:spcPct val="50000"/>
              </a:spcBef>
            </a:pPr>
            <a:r>
              <a:rPr lang="zh-CN" altLang="en-US" sz="3600" b="1"/>
              <a:t>2、可在格式控制字符串中包含转义字符</a:t>
            </a:r>
            <a:endParaRPr lang="zh-CN" altLang="en-US" sz="3600"/>
          </a:p>
          <a:p>
            <a:pPr algn="l" eaLnBrk="1" hangingPunct="1">
              <a:spcBef>
                <a:spcPct val="50000"/>
              </a:spcBef>
            </a:pPr>
            <a:r>
              <a:rPr lang="zh-CN" altLang="en-US" sz="3600" b="1"/>
              <a:t>3、格式控制字符串中可插入附加字符。</a:t>
            </a:r>
            <a:endParaRPr lang="zh-CN" altLang="en-US" sz="3600"/>
          </a:p>
          <a:p>
            <a:pPr algn="l" eaLnBrk="1" hangingPunct="1">
              <a:spcBef>
                <a:spcPct val="50000"/>
              </a:spcBef>
            </a:pPr>
            <a:r>
              <a:rPr lang="zh-CN" altLang="en-US" sz="3600" b="1"/>
              <a:t>4</a:t>
            </a:r>
            <a:r>
              <a:rPr lang="zh-CN" altLang="en-US" sz="3600" b="1">
                <a:latin typeface="宋体" charset="0"/>
              </a:rPr>
              <a:t>、若输出字符</a:t>
            </a:r>
            <a:r>
              <a:rPr lang="zh-CN" altLang="en-US" sz="3600" b="1"/>
              <a:t>“%”</a:t>
            </a:r>
            <a:r>
              <a:rPr lang="zh-CN" altLang="en-US" sz="3600" b="1">
                <a:latin typeface="宋体" charset="0"/>
              </a:rPr>
              <a:t>，则应在字符串中连续两个</a:t>
            </a:r>
            <a:r>
              <a:rPr lang="zh-CN" altLang="en-US" sz="3600" b="1"/>
              <a:t>“%”</a:t>
            </a:r>
            <a:r>
              <a:rPr lang="zh-CN" altLang="en-US" sz="3600" b="1">
                <a:latin typeface="宋体" charset="0"/>
              </a:rPr>
              <a:t>号。</a:t>
            </a:r>
            <a:r>
              <a:rPr lang="zh-CN" altLang="en-US" sz="36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255734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457200" y="381000"/>
            <a:ext cx="6477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3600" b="1">
                <a:solidFill>
                  <a:srgbClr val="0000CC"/>
                </a:solidFill>
                <a:latin typeface="宋体" charset="0"/>
              </a:rPr>
              <a:t>2、格式输入函数</a:t>
            </a:r>
            <a:r>
              <a:rPr lang="zh-CN" altLang="en-US" sz="3600" b="1">
                <a:solidFill>
                  <a:srgbClr val="0000CC"/>
                </a:solidFill>
              </a:rPr>
              <a:t>——</a:t>
            </a:r>
            <a:r>
              <a:rPr lang="en-US" altLang="zh-CN" sz="3600" b="1">
                <a:solidFill>
                  <a:srgbClr val="0000CC"/>
                </a:solidFill>
              </a:rPr>
              <a:t>scanf( )</a:t>
            </a:r>
            <a:r>
              <a:rPr lang="en-US" altLang="zh-CN" sz="3600">
                <a:solidFill>
                  <a:srgbClr val="0000CC"/>
                </a:solidFill>
              </a:rPr>
              <a:t> </a:t>
            </a:r>
          </a:p>
        </p:txBody>
      </p:sp>
      <p:sp>
        <p:nvSpPr>
          <p:cNvPr id="212995" name="Text Box 3"/>
          <p:cNvSpPr txBox="1">
            <a:spLocks noChangeArrowheads="1"/>
          </p:cNvSpPr>
          <p:nvPr/>
        </p:nvSpPr>
        <p:spPr bwMode="auto">
          <a:xfrm>
            <a:off x="457200" y="1676400"/>
            <a:ext cx="8077200" cy="366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1pPr>
            <a:lvl2pPr marL="742950" indent="-28575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2pPr>
            <a:lvl3pPr marL="11430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3pPr>
            <a:lvl4pPr marL="16002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4pPr>
            <a:lvl5pPr marL="2057400" indent="-228600" eaLnBrk="0" hangingPunct="0"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3200">
                <a:solidFill>
                  <a:srgbClr val="3366FF"/>
                </a:solidFill>
                <a:latin typeface="Times New Roman" charset="0"/>
                <a:ea typeface="宋体" charset="0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3600" b="1"/>
              <a:t>scanf()——</a:t>
            </a:r>
            <a:r>
              <a:rPr lang="zh-CN" altLang="en-US" sz="3600" b="1">
                <a:latin typeface="宋体" charset="0"/>
              </a:rPr>
              <a:t>称为格式输入函数。是一个标准的库函数，函数原形在</a:t>
            </a:r>
            <a:r>
              <a:rPr lang="zh-CN" altLang="en-US" sz="3600" b="1"/>
              <a:t>“</a:t>
            </a:r>
            <a:r>
              <a:rPr lang="en-US" altLang="zh-CN" sz="3600" b="1"/>
              <a:t>stdio.h”</a:t>
            </a:r>
            <a:r>
              <a:rPr lang="zh-CN" altLang="en-US" sz="3600" b="1">
                <a:latin typeface="宋体" charset="0"/>
              </a:rPr>
              <a:t>文件中。</a:t>
            </a:r>
          </a:p>
          <a:p>
            <a:pPr algn="l"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3600" b="1">
                <a:latin typeface="宋体" charset="0"/>
              </a:rPr>
              <a:t>其作用是由终端输入若干个任意类型的数据，送给相应的变量。</a:t>
            </a:r>
            <a:r>
              <a:rPr lang="zh-CN" altLang="en-US" sz="36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884703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olidFill>
                  <a:schemeClr val="accent2"/>
                </a:solidFill>
              </a:rPr>
              <a:t>格式输入函数</a:t>
            </a:r>
          </a:p>
        </p:txBody>
      </p:sp>
      <p:sp>
        <p:nvSpPr>
          <p:cNvPr id="316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>
                <a:ea typeface="宋体" charset="0"/>
              </a:rPr>
              <a:t>格式输入函数</a:t>
            </a:r>
          </a:p>
          <a:p>
            <a:pPr lvl="1"/>
            <a:r>
              <a:rPr kumimoji="1" lang="en-US" altLang="zh-CN">
                <a:solidFill>
                  <a:srgbClr val="0033CC"/>
                </a:solidFill>
                <a:latin typeface="Courier New" charset="0"/>
                <a:ea typeface="宋体" charset="0"/>
              </a:rPr>
              <a:t>scanf</a:t>
            </a:r>
            <a:r>
              <a:rPr kumimoji="1" lang="en-US" altLang="zh-CN">
                <a:solidFill>
                  <a:schemeClr val="tx1"/>
                </a:solidFill>
                <a:latin typeface="Courier New" charset="0"/>
                <a:ea typeface="宋体" charset="0"/>
              </a:rPr>
              <a:t>(</a:t>
            </a:r>
            <a:r>
              <a:rPr kumimoji="1" lang="zh-CN" altLang="en-US">
                <a:solidFill>
                  <a:schemeClr val="tx1"/>
                </a:solidFill>
                <a:latin typeface="Courier New" charset="0"/>
                <a:ea typeface="宋体" charset="0"/>
              </a:rPr>
              <a:t>格式控制字符串</a:t>
            </a:r>
            <a:r>
              <a:rPr kumimoji="1" lang="en-US" altLang="zh-CN">
                <a:solidFill>
                  <a:schemeClr val="tx1"/>
                </a:solidFill>
                <a:latin typeface="Courier New" charset="0"/>
                <a:ea typeface="宋体" charset="0"/>
              </a:rPr>
              <a:t>, </a:t>
            </a:r>
            <a:r>
              <a:rPr kumimoji="1" lang="zh-CN" altLang="en-US">
                <a:solidFill>
                  <a:schemeClr val="tx1"/>
                </a:solidFill>
                <a:latin typeface="Courier New" charset="0"/>
                <a:ea typeface="宋体" charset="0"/>
              </a:rPr>
              <a:t>地址表列</a:t>
            </a:r>
            <a:r>
              <a:rPr kumimoji="1" lang="en-US" altLang="zh-CN">
                <a:solidFill>
                  <a:schemeClr val="tx1"/>
                </a:solidFill>
                <a:latin typeface="Courier New" charset="0"/>
                <a:ea typeface="宋体" charset="0"/>
              </a:rPr>
              <a:t>);</a:t>
            </a:r>
          </a:p>
          <a:p>
            <a:r>
              <a:rPr kumimoji="1" lang="en-US" altLang="zh-CN" sz="4000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scanf(</a:t>
            </a:r>
            <a:r>
              <a:rPr kumimoji="1" lang="fr-FR" altLang="zh-CN" sz="4000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"</a:t>
            </a:r>
            <a:r>
              <a:rPr kumimoji="1" lang="en-US" altLang="zh-CN" sz="4000" u="sng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%d</a:t>
            </a:r>
            <a:r>
              <a:rPr kumimoji="1" lang="en-US" altLang="zh-CN" sz="4000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,</a:t>
            </a:r>
            <a:r>
              <a:rPr kumimoji="1" lang="en-US" altLang="zh-CN" sz="4000" u="sng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%f</a:t>
            </a:r>
            <a:r>
              <a:rPr kumimoji="1" lang="en-US" altLang="zh-CN" sz="4000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”, </a:t>
            </a:r>
            <a:r>
              <a:rPr kumimoji="1" lang="en-US" altLang="zh-CN" sz="4000" u="sng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&amp;a,&amp;b</a:t>
            </a:r>
            <a:r>
              <a:rPr kumimoji="1" lang="en-US" altLang="zh-CN" sz="4000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);</a:t>
            </a:r>
            <a:endParaRPr kumimoji="1" lang="zh-CN" altLang="en-US" sz="4000">
              <a:solidFill>
                <a:srgbClr val="0033CC"/>
              </a:solidFill>
              <a:effectLst/>
              <a:latin typeface="Courier New" charset="0"/>
              <a:ea typeface="宋体" charset="0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635105" y="3130550"/>
            <a:ext cx="3097480" cy="2314575"/>
            <a:chOff x="2449" y="2076"/>
            <a:chExt cx="1582" cy="1427"/>
          </a:xfrm>
        </p:grpSpPr>
        <p:sp>
          <p:nvSpPr>
            <p:cNvPr id="19473" name="Line 5"/>
            <p:cNvSpPr>
              <a:spLocks noChangeShapeType="1"/>
            </p:cNvSpPr>
            <p:nvPr/>
          </p:nvSpPr>
          <p:spPr bwMode="auto">
            <a:xfrm>
              <a:off x="2449" y="2076"/>
              <a:ext cx="240" cy="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4" name="AutoShape 6"/>
            <p:cNvSpPr>
              <a:spLocks noChangeArrowheads="1"/>
            </p:cNvSpPr>
            <p:nvPr/>
          </p:nvSpPr>
          <p:spPr bwMode="auto">
            <a:xfrm rot="5400000">
              <a:off x="3128" y="2599"/>
              <a:ext cx="700" cy="1107"/>
            </a:xfrm>
            <a:prstGeom prst="cloudCallout">
              <a:avLst>
                <a:gd name="adj1" fmla="val -151523"/>
                <a:gd name="adj2" fmla="val 70514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r>
                <a:rPr kumimoji="1" lang="zh-CN" altLang="en-US" sz="2400" b="1">
                  <a:solidFill>
                    <a:srgbClr val="0033CC"/>
                  </a:solidFill>
                  <a:latin typeface="Times New Roman" charset="0"/>
                  <a:ea typeface="宋体" charset="0"/>
                </a:rPr>
                <a:t>非格式字符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1258888" y="4149725"/>
            <a:ext cx="1905000" cy="1150938"/>
            <a:chOff x="1104" y="2539"/>
            <a:chExt cx="1149" cy="662"/>
          </a:xfrm>
        </p:grpSpPr>
        <p:sp>
          <p:nvSpPr>
            <p:cNvPr id="19471" name="AutoShape 8"/>
            <p:cNvSpPr>
              <a:spLocks noChangeArrowheads="1"/>
            </p:cNvSpPr>
            <p:nvPr/>
          </p:nvSpPr>
          <p:spPr bwMode="auto">
            <a:xfrm rot="-10747893">
              <a:off x="1104" y="2539"/>
              <a:ext cx="1092" cy="662"/>
            </a:xfrm>
            <a:prstGeom prst="cloudCallout">
              <a:avLst>
                <a:gd name="adj1" fmla="val -68495"/>
                <a:gd name="adj2" fmla="val 97421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endParaRPr kumimoji="1" lang="zh-CN" altLang="en-US" sz="2800" b="1">
                <a:solidFill>
                  <a:srgbClr val="D60093"/>
                </a:solidFill>
                <a:latin typeface="Times New Roman" charset="0"/>
                <a:ea typeface="宋体" charset="0"/>
              </a:endParaRPr>
            </a:p>
          </p:txBody>
        </p:sp>
        <p:sp>
          <p:nvSpPr>
            <p:cNvPr id="19472" name="Text Box 9"/>
            <p:cNvSpPr txBox="1">
              <a:spLocks noChangeArrowheads="1"/>
            </p:cNvSpPr>
            <p:nvPr/>
          </p:nvSpPr>
          <p:spPr bwMode="auto">
            <a:xfrm rot="-100161">
              <a:off x="1224" y="2686"/>
              <a:ext cx="1029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kumimoji="1" lang="zh-CN" altLang="en-US" sz="2400" b="1">
                  <a:solidFill>
                    <a:srgbClr val="0033CC"/>
                  </a:solidFill>
                  <a:latin typeface="Comic Sans MS" charset="0"/>
                  <a:ea typeface="宋体" charset="0"/>
                </a:rPr>
                <a:t>格式说明</a:t>
              </a:r>
              <a:endParaRPr kumimoji="1" lang="zh-CN" altLang="en-US" sz="2400" b="1">
                <a:solidFill>
                  <a:srgbClr val="0033CC"/>
                </a:solidFill>
                <a:latin typeface="Times New Roman" charset="0"/>
                <a:ea typeface="宋体" charset="0"/>
              </a:endParaRP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3319463" y="3130550"/>
            <a:ext cx="762000" cy="381000"/>
            <a:chOff x="1968" y="1968"/>
            <a:chExt cx="480" cy="240"/>
          </a:xfrm>
        </p:grpSpPr>
        <p:sp>
          <p:nvSpPr>
            <p:cNvPr id="19469" name="Line 11"/>
            <p:cNvSpPr>
              <a:spLocks noChangeShapeType="1"/>
            </p:cNvSpPr>
            <p:nvPr/>
          </p:nvSpPr>
          <p:spPr bwMode="auto">
            <a:xfrm>
              <a:off x="1968" y="1968"/>
              <a:ext cx="0" cy="24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0" name="Line 12"/>
            <p:cNvSpPr>
              <a:spLocks noChangeShapeType="1"/>
            </p:cNvSpPr>
            <p:nvPr/>
          </p:nvSpPr>
          <p:spPr bwMode="auto">
            <a:xfrm>
              <a:off x="1968" y="2196"/>
              <a:ext cx="480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6804025" y="4292600"/>
            <a:ext cx="1828800" cy="1008063"/>
            <a:chOff x="4224" y="2736"/>
            <a:chExt cx="1152" cy="624"/>
          </a:xfrm>
        </p:grpSpPr>
        <p:sp>
          <p:nvSpPr>
            <p:cNvPr id="19467" name="AutoShape 14"/>
            <p:cNvSpPr>
              <a:spLocks noChangeArrowheads="1"/>
            </p:cNvSpPr>
            <p:nvPr/>
          </p:nvSpPr>
          <p:spPr bwMode="auto">
            <a:xfrm>
              <a:off x="4224" y="2736"/>
              <a:ext cx="1152" cy="624"/>
            </a:xfrm>
            <a:prstGeom prst="cloudCallout">
              <a:avLst>
                <a:gd name="adj1" fmla="val -43208"/>
                <a:gd name="adj2" fmla="val -166185"/>
              </a:avLst>
            </a:prstGeom>
            <a:solidFill>
              <a:srgbClr val="FFCC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/>
              <a:endParaRPr kumimoji="1" lang="zh-CN" altLang="en-US" sz="2800" b="1">
                <a:solidFill>
                  <a:srgbClr val="D60093"/>
                </a:solidFill>
                <a:latin typeface="Times New Roman" charset="0"/>
                <a:ea typeface="宋体" charset="0"/>
              </a:endParaRPr>
            </a:p>
          </p:txBody>
        </p:sp>
        <p:sp>
          <p:nvSpPr>
            <p:cNvPr id="19468" name="Text Box 15"/>
            <p:cNvSpPr txBox="1">
              <a:spLocks noChangeArrowheads="1"/>
            </p:cNvSpPr>
            <p:nvPr/>
          </p:nvSpPr>
          <p:spPr bwMode="auto">
            <a:xfrm rot="33719">
              <a:off x="4374" y="2973"/>
              <a:ext cx="888" cy="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kumimoji="1" lang="zh-CN" altLang="en-US" sz="2400" b="1">
                  <a:solidFill>
                    <a:srgbClr val="0033CC"/>
                  </a:solidFill>
                  <a:latin typeface="Times New Roman" charset="0"/>
                  <a:ea typeface="宋体" charset="0"/>
                </a:rPr>
                <a:t>地址表列</a:t>
              </a:r>
            </a:p>
          </p:txBody>
        </p:sp>
      </p:grpSp>
      <p:grpSp>
        <p:nvGrpSpPr>
          <p:cNvPr id="6" name="Group 16"/>
          <p:cNvGrpSpPr>
            <a:grpSpLocks/>
          </p:cNvGrpSpPr>
          <p:nvPr/>
        </p:nvGrpSpPr>
        <p:grpSpPr bwMode="auto">
          <a:xfrm>
            <a:off x="4076700" y="3133725"/>
            <a:ext cx="762000" cy="381000"/>
            <a:chOff x="2448" y="1968"/>
            <a:chExt cx="480" cy="240"/>
          </a:xfrm>
        </p:grpSpPr>
        <p:sp>
          <p:nvSpPr>
            <p:cNvPr id="19465" name="Line 17"/>
            <p:cNvSpPr>
              <a:spLocks noChangeShapeType="1"/>
            </p:cNvSpPr>
            <p:nvPr/>
          </p:nvSpPr>
          <p:spPr bwMode="auto">
            <a:xfrm>
              <a:off x="2928" y="1968"/>
              <a:ext cx="0" cy="24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6" name="Line 18"/>
            <p:cNvSpPr>
              <a:spLocks noChangeShapeType="1"/>
            </p:cNvSpPr>
            <p:nvPr/>
          </p:nvSpPr>
          <p:spPr bwMode="auto">
            <a:xfrm>
              <a:off x="2448" y="2196"/>
              <a:ext cx="480" cy="0"/>
            </a:xfrm>
            <a:prstGeom prst="line">
              <a:avLst/>
            </a:prstGeom>
            <a:noFill/>
            <a:ln w="571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1F8734-F945-6441-A7E6-D32A59635742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9" name="幻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29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8D0B30-C06D-7E45-8313-727A8305D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>
                <a:solidFill>
                  <a:schemeClr val="accent2"/>
                </a:solidFill>
              </a:rPr>
              <a:t>读入数据方式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2CC919-AC69-2948-8490-AD6BBF09C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" altLang="zh-CN"/>
              <a:t>scanf</a:t>
            </a:r>
            <a:r>
              <a:rPr lang="zh-CN" altLang="en-US"/>
              <a:t>以删除的方式从缓冲区读入数据</a:t>
            </a:r>
            <a:r>
              <a:rPr lang="en-US" altLang="zh-CN"/>
              <a:t>(</a:t>
            </a:r>
            <a:r>
              <a:rPr lang="zh-CN" altLang="en-US"/>
              <a:t>来自标准输入设备的数据存储在缓冲区</a:t>
            </a:r>
            <a:r>
              <a:rPr lang="en-US" altLang="zh-CN"/>
              <a:t>)</a:t>
            </a:r>
            <a:r>
              <a:rPr lang="zh-CN" altLang="en-US"/>
              <a:t>，也就是说，</a:t>
            </a:r>
            <a:r>
              <a:rPr lang="en" altLang="zh-CN"/>
              <a:t>scanf</a:t>
            </a:r>
            <a:r>
              <a:rPr lang="zh-CN" altLang="en-US"/>
              <a:t>从缓冲区读入一个数据项，该数据项在缓冲区中就被清除掉了。而如果</a:t>
            </a:r>
            <a:r>
              <a:rPr lang="en" altLang="zh-CN"/>
              <a:t>scanf</a:t>
            </a:r>
            <a:r>
              <a:rPr lang="zh-CN" altLang="en-US"/>
              <a:t>需要读取一个数据项，发现缓冲区当前是空的，那么程序就会在</a:t>
            </a:r>
            <a:r>
              <a:rPr lang="en" altLang="zh-CN"/>
              <a:t>scanf</a:t>
            </a:r>
            <a:r>
              <a:rPr lang="zh-CN" altLang="en-US"/>
              <a:t>代码处阻塞，等待用户输入，</a:t>
            </a:r>
            <a:r>
              <a:rPr lang="en" altLang="zh-CN"/>
              <a:t>scanf</a:t>
            </a:r>
            <a:r>
              <a:rPr lang="zh-CN" altLang="en-US"/>
              <a:t>函数接收到相应的数据项之后，在缓冲区中将这一数据项清除，</a:t>
            </a:r>
            <a:r>
              <a:rPr lang="en" altLang="zh-CN"/>
              <a:t>scanf</a:t>
            </a:r>
            <a:r>
              <a:rPr lang="zh-CN" altLang="en-US"/>
              <a:t>函数返回，程序继续执行。</a:t>
            </a:r>
            <a:endParaRPr kumimoji="1" lang="zh-CN" alt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627494-8390-9541-9E96-85FA6B451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E55A0-F3F0-3C4B-8830-CC7175E1CFBD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8487AD-2F15-DD4B-B31C-1333607F4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72854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solidFill>
                  <a:schemeClr val="accent2"/>
                </a:solidFill>
              </a:rPr>
              <a:t>格式输入函数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4000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常见错误</a:t>
            </a:r>
          </a:p>
          <a:p>
            <a:pPr lvl="1"/>
            <a:r>
              <a:rPr kumimoji="1" lang="en-US" altLang="zh-CN" sz="3600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scanf(</a:t>
            </a:r>
            <a:r>
              <a:rPr kumimoji="1" lang="fr-FR" altLang="zh-CN" sz="3600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"</a:t>
            </a:r>
            <a:r>
              <a:rPr kumimoji="1" lang="en-US" altLang="zh-CN" sz="3600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%d,%f</a:t>
            </a:r>
            <a:r>
              <a:rPr kumimoji="1" lang="en-US" altLang="zh-CN" sz="3600">
                <a:solidFill>
                  <a:schemeClr val="hlink"/>
                </a:solidFill>
                <a:effectLst/>
                <a:latin typeface="Courier New" charset="0"/>
                <a:ea typeface="宋体" charset="0"/>
              </a:rPr>
              <a:t>\n</a:t>
            </a:r>
            <a:r>
              <a:rPr kumimoji="1" lang="en-US" altLang="zh-CN" sz="3600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”,&amp;a,&amp;b);</a:t>
            </a:r>
          </a:p>
          <a:p>
            <a:pPr lvl="1"/>
            <a:r>
              <a:rPr kumimoji="1" lang="en-US" altLang="zh-CN" sz="3600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scanf(</a:t>
            </a:r>
            <a:r>
              <a:rPr kumimoji="1" lang="fr-FR" altLang="zh-CN" sz="3600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"</a:t>
            </a:r>
            <a:r>
              <a:rPr kumimoji="1" lang="en-US" altLang="zh-CN" sz="3600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%d,%f”,</a:t>
            </a:r>
            <a:r>
              <a:rPr kumimoji="1" lang="en-US" altLang="zh-CN" sz="3600">
                <a:solidFill>
                  <a:schemeClr val="hlink"/>
                </a:solidFill>
                <a:effectLst/>
                <a:latin typeface="Courier New" charset="0"/>
                <a:ea typeface="宋体" charset="0"/>
              </a:rPr>
              <a:t>a,b</a:t>
            </a:r>
            <a:r>
              <a:rPr kumimoji="1" lang="en-US" altLang="zh-CN" sz="3600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);</a:t>
            </a:r>
          </a:p>
          <a:p>
            <a:pPr lvl="1"/>
            <a:r>
              <a:rPr kumimoji="1" lang="en-US" altLang="zh-CN" sz="3600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scanf(</a:t>
            </a:r>
            <a:r>
              <a:rPr kumimoji="1" lang="fr-FR" altLang="zh-CN" sz="3600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"</a:t>
            </a:r>
            <a:r>
              <a:rPr kumimoji="1" lang="en-US" altLang="zh-CN" sz="3600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%7</a:t>
            </a:r>
            <a:r>
              <a:rPr kumimoji="1" lang="en-US" altLang="zh-CN" sz="3600">
                <a:solidFill>
                  <a:schemeClr val="hlink"/>
                </a:solidFill>
                <a:effectLst/>
                <a:latin typeface="Courier New" charset="0"/>
                <a:ea typeface="宋体" charset="0"/>
              </a:rPr>
              <a:t>.2f</a:t>
            </a:r>
            <a:r>
              <a:rPr kumimoji="1" lang="fr-FR" altLang="zh-CN" sz="3600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"</a:t>
            </a:r>
            <a:r>
              <a:rPr kumimoji="1" lang="en-US" altLang="zh-CN" sz="3600">
                <a:solidFill>
                  <a:srgbClr val="0033CC"/>
                </a:solidFill>
                <a:effectLst/>
                <a:latin typeface="Courier New" charset="0"/>
                <a:ea typeface="宋体" charset="0"/>
              </a:rPr>
              <a:t>,&amp;a);</a:t>
            </a:r>
            <a:endParaRPr kumimoji="1" lang="zh-CN" altLang="en-US" sz="3600">
              <a:solidFill>
                <a:srgbClr val="0033CC"/>
              </a:solidFill>
              <a:effectLst/>
              <a:latin typeface="Courier New" charset="0"/>
              <a:ea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79BF18-941B-DC40-BD7F-D6975EAB6F36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4" name="Text Box 4"/>
          <p:cNvSpPr txBox="1">
            <a:spLocks noChangeArrowheads="1"/>
          </p:cNvSpPr>
          <p:nvPr/>
        </p:nvSpPr>
        <p:spPr bwMode="auto">
          <a:xfrm>
            <a:off x="533400" y="1903413"/>
            <a:ext cx="8610600" cy="4478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d  </a:t>
            </a:r>
            <a:r>
              <a:rPr kumimoji="1" lang="zh-CN" altLang="en-US" sz="3200" b="1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以带符号十进制形式输入整型数据</a:t>
            </a:r>
          </a:p>
          <a:p>
            <a:pPr eaLnBrk="1" hangingPunct="1"/>
            <a:r>
              <a:rPr kumimoji="1" lang="en-US" altLang="zh-CN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o  </a:t>
            </a:r>
            <a:r>
              <a:rPr kumimoji="1" lang="zh-CN" altLang="en-US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以八进制无符号形式输入（无前导</a:t>
            </a:r>
            <a:r>
              <a:rPr kumimoji="1" lang="en-US" altLang="zh-CN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0</a:t>
            </a:r>
            <a:r>
              <a:rPr kumimoji="1" lang="zh-CN" altLang="en-US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）</a:t>
            </a:r>
          </a:p>
          <a:p>
            <a:pPr eaLnBrk="1" hangingPunct="1"/>
            <a:r>
              <a:rPr kumimoji="1" lang="en-US" altLang="zh-CN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x  </a:t>
            </a:r>
            <a:r>
              <a:rPr kumimoji="1" lang="zh-CN" altLang="en-US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以十六进制无符号形式输入（无前导</a:t>
            </a:r>
            <a:r>
              <a:rPr kumimoji="1" lang="en-US" altLang="zh-CN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0x</a:t>
            </a:r>
            <a:r>
              <a:rPr kumimoji="1" lang="zh-CN" altLang="en-US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）</a:t>
            </a:r>
          </a:p>
          <a:p>
            <a:pPr eaLnBrk="1" hangingPunct="1"/>
            <a:r>
              <a:rPr kumimoji="1" lang="en-US" altLang="zh-CN" sz="3200" b="1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c  </a:t>
            </a:r>
            <a:r>
              <a:rPr kumimoji="1" lang="zh-CN" altLang="en-US" sz="3200" b="1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以字符形式输入单个字符</a:t>
            </a:r>
          </a:p>
          <a:p>
            <a:pPr eaLnBrk="1" hangingPunct="1"/>
            <a:r>
              <a:rPr kumimoji="1" lang="en-US" altLang="zh-CN" sz="3200" b="1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s  </a:t>
            </a:r>
            <a:r>
              <a:rPr kumimoji="1" lang="zh-CN" altLang="en-US" sz="3200" b="1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输入字符串</a:t>
            </a:r>
            <a:r>
              <a:rPr kumimoji="1" lang="en-US" altLang="zh-CN" sz="3200" b="1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,</a:t>
            </a:r>
            <a:r>
              <a:rPr kumimoji="1" lang="zh-CN" altLang="en-US" sz="3200" b="1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以非空字符开始</a:t>
            </a:r>
            <a:r>
              <a:rPr kumimoji="1" lang="en-US" altLang="zh-CN" sz="3200" b="1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,</a:t>
            </a:r>
            <a:r>
              <a:rPr kumimoji="1" lang="zh-CN" altLang="en-US" sz="3200" b="1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遇第一个</a:t>
            </a:r>
          </a:p>
          <a:p>
            <a:pPr eaLnBrk="1" hangingPunct="1"/>
            <a:r>
              <a:rPr kumimoji="1" lang="zh-CN" altLang="en-US" sz="3200" b="1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   空白字符结束</a:t>
            </a:r>
          </a:p>
          <a:p>
            <a:pPr eaLnBrk="1" hangingPunct="1"/>
            <a:r>
              <a:rPr kumimoji="1" lang="en-US" altLang="zh-CN" sz="3200" b="1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f  </a:t>
            </a:r>
            <a:r>
              <a:rPr kumimoji="1" lang="zh-CN" altLang="en-US" sz="3200" b="1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以小数形式输入浮点数</a:t>
            </a:r>
          </a:p>
          <a:p>
            <a:pPr eaLnBrk="1" hangingPunct="1"/>
            <a:r>
              <a:rPr kumimoji="1" lang="en-US" altLang="zh-CN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e  </a:t>
            </a:r>
            <a:r>
              <a:rPr kumimoji="1" lang="zh-CN" altLang="en-US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以标准指数形式输入</a:t>
            </a:r>
          </a:p>
          <a:p>
            <a:pPr eaLnBrk="1" hangingPunct="1"/>
            <a:endParaRPr kumimoji="1" lang="zh-CN" altLang="en-US" sz="3200" b="1">
              <a:solidFill>
                <a:srgbClr val="0033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Courier New" charset="0"/>
              <a:ea typeface="宋体" charset="0"/>
            </a:endParaRPr>
          </a:p>
        </p:txBody>
      </p:sp>
      <p:sp>
        <p:nvSpPr>
          <p:cNvPr id="286726" name="Rectangle 6"/>
          <p:cNvSpPr>
            <a:spLocks noChangeArrowheads="1"/>
          </p:cNvSpPr>
          <p:nvPr/>
        </p:nvSpPr>
        <p:spPr bwMode="auto">
          <a:xfrm>
            <a:off x="681038" y="333375"/>
            <a:ext cx="7797800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/>
          <a:p>
            <a:pPr algn="ctr">
              <a:lnSpc>
                <a:spcPct val="85000"/>
              </a:lnSpc>
              <a:defRPr/>
            </a:pP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pitchFamily="49" charset="0"/>
                <a:ea typeface="黑体" pitchFamily="2" charset="-122"/>
              </a:rPr>
              <a:t>scanf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格式字符</a:t>
            </a:r>
            <a:endParaRPr kumimoji="1" lang="en-US" altLang="zh-CN" sz="4400" b="1" i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A007E-BE22-7F44-A24C-174B54DCC1D0}" type="datetime1">
              <a:rPr lang="zh-CN" altLang="en-US" smtClean="0"/>
              <a:t>2022/9/10</a:t>
            </a:fld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7" name="Text Box 3"/>
          <p:cNvSpPr txBox="1">
            <a:spLocks noChangeArrowheads="1"/>
          </p:cNvSpPr>
          <p:nvPr/>
        </p:nvSpPr>
        <p:spPr bwMode="auto">
          <a:xfrm>
            <a:off x="685800" y="1676400"/>
            <a:ext cx="8001000" cy="301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kumimoji="1" lang="en-US" altLang="zh-CN" sz="3200" b="1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l </a:t>
            </a:r>
            <a:r>
              <a:rPr kumimoji="1" lang="en-US" altLang="zh-CN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 </a:t>
            </a:r>
            <a:r>
              <a:rPr kumimoji="1" lang="zh-CN" altLang="en-US" sz="3200" b="1">
                <a:solidFill>
                  <a:srgbClr val="99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加在</a:t>
            </a:r>
            <a:r>
              <a:rPr kumimoji="1" lang="en-US" altLang="zh-CN" sz="3200" b="1">
                <a:solidFill>
                  <a:srgbClr val="99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d</a:t>
            </a:r>
            <a:r>
              <a:rPr kumimoji="1" lang="zh-CN" altLang="en-US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、</a:t>
            </a:r>
            <a:r>
              <a:rPr kumimoji="1" lang="en-US" altLang="zh-CN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o</a:t>
            </a:r>
            <a:r>
              <a:rPr kumimoji="1" lang="zh-CN" altLang="en-US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、</a:t>
            </a:r>
            <a:r>
              <a:rPr kumimoji="1" lang="en-US" altLang="zh-CN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x</a:t>
            </a:r>
            <a:r>
              <a:rPr kumimoji="1" lang="zh-CN" altLang="en-US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、</a:t>
            </a:r>
            <a:r>
              <a:rPr kumimoji="1" lang="en-US" altLang="zh-CN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u</a:t>
            </a:r>
            <a:r>
              <a:rPr kumimoji="1" lang="zh-CN" altLang="en-US" sz="3200" b="1">
                <a:solidFill>
                  <a:srgbClr val="99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前：</a:t>
            </a:r>
            <a:r>
              <a:rPr kumimoji="1" lang="zh-CN" altLang="en-US" sz="3200" b="1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输入长整型</a:t>
            </a:r>
          </a:p>
          <a:p>
            <a:pPr eaLnBrk="1" hangingPunct="1"/>
            <a:r>
              <a:rPr kumimoji="1" lang="zh-CN" altLang="en-US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   </a:t>
            </a:r>
            <a:r>
              <a:rPr kumimoji="1" lang="zh-CN" altLang="en-US" sz="3200" b="1">
                <a:solidFill>
                  <a:srgbClr val="99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加在</a:t>
            </a:r>
            <a:r>
              <a:rPr kumimoji="1" lang="en-US" altLang="zh-CN" sz="3200" b="1">
                <a:solidFill>
                  <a:srgbClr val="99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f</a:t>
            </a:r>
            <a:r>
              <a:rPr kumimoji="1" lang="zh-CN" altLang="en-US" sz="3200" b="1">
                <a:solidFill>
                  <a:srgbClr val="99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、</a:t>
            </a:r>
            <a:r>
              <a:rPr kumimoji="1" lang="en-US" altLang="zh-CN" sz="3200" b="1">
                <a:solidFill>
                  <a:srgbClr val="99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e </a:t>
            </a:r>
            <a:r>
              <a:rPr kumimoji="1" lang="zh-CN" altLang="en-US" sz="3200" b="1">
                <a:solidFill>
                  <a:srgbClr val="99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前：</a:t>
            </a:r>
            <a:r>
              <a:rPr kumimoji="1" lang="zh-CN" altLang="en-US" sz="3200" b="1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输入双精度型</a:t>
            </a:r>
          </a:p>
          <a:p>
            <a:r>
              <a:rPr kumimoji="1" lang="en-US" altLang="zh-CN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L  </a:t>
            </a:r>
            <a:r>
              <a:rPr kumimoji="1" lang="zh-CN" altLang="en-US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加在</a:t>
            </a:r>
            <a:r>
              <a:rPr kumimoji="1" lang="en-US" altLang="zh-CN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f</a:t>
            </a:r>
            <a:r>
              <a:rPr kumimoji="1" lang="zh-CN" altLang="en-US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、</a:t>
            </a:r>
            <a:r>
              <a:rPr kumimoji="1" lang="en-US" altLang="zh-CN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e </a:t>
            </a:r>
            <a:r>
              <a:rPr kumimoji="1" lang="zh-CN" altLang="en-US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前：输入</a:t>
            </a:r>
            <a:r>
              <a:rPr kumimoji="1" lang="en-US" altLang="zh-CN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long double</a:t>
            </a:r>
            <a:r>
              <a:rPr kumimoji="1" lang="zh-CN" altLang="en-US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型</a:t>
            </a:r>
          </a:p>
          <a:p>
            <a:r>
              <a:rPr kumimoji="1" lang="en-US" altLang="zh-CN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h  </a:t>
            </a:r>
            <a:r>
              <a:rPr kumimoji="1" lang="zh-CN" altLang="en-US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加在</a:t>
            </a:r>
            <a:r>
              <a:rPr kumimoji="1" lang="en-US" altLang="zh-CN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d</a:t>
            </a:r>
            <a:r>
              <a:rPr kumimoji="1" lang="zh-CN" altLang="en-US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、</a:t>
            </a:r>
            <a:r>
              <a:rPr kumimoji="1" lang="en-US" altLang="zh-CN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o</a:t>
            </a:r>
            <a:r>
              <a:rPr kumimoji="1" lang="zh-CN" altLang="en-US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、</a:t>
            </a:r>
            <a:r>
              <a:rPr kumimoji="1" lang="en-US" altLang="zh-CN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x </a:t>
            </a:r>
            <a:r>
              <a:rPr kumimoji="1" lang="zh-CN" altLang="en-US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前</a:t>
            </a:r>
            <a:r>
              <a:rPr kumimoji="1" lang="en-US" altLang="zh-CN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:</a:t>
            </a:r>
            <a:r>
              <a:rPr kumimoji="1" lang="zh-CN" altLang="en-US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输入短整型</a:t>
            </a:r>
          </a:p>
          <a:p>
            <a:pPr eaLnBrk="1" hangingPunct="1"/>
            <a:r>
              <a:rPr kumimoji="1" lang="en-US" altLang="zh-CN" sz="3200" b="1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m  </a:t>
            </a:r>
            <a:r>
              <a:rPr kumimoji="1" lang="zh-CN" altLang="en-US" sz="3200" b="1">
                <a:solidFill>
                  <a:srgbClr val="88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表示数据占用的宽度</a:t>
            </a:r>
          </a:p>
          <a:p>
            <a:pPr eaLnBrk="1" hangingPunct="1"/>
            <a:r>
              <a:rPr kumimoji="1" lang="zh-CN" altLang="en-US" sz="3200" b="1">
                <a:solidFill>
                  <a:srgbClr val="00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*  本输入项在读入后不赋给相应的变量</a:t>
            </a:r>
          </a:p>
        </p:txBody>
      </p:sp>
      <p:sp>
        <p:nvSpPr>
          <p:cNvPr id="287749" name="Rectangle 5"/>
          <p:cNvSpPr>
            <a:spLocks noChangeArrowheads="1"/>
          </p:cNvSpPr>
          <p:nvPr/>
        </p:nvSpPr>
        <p:spPr bwMode="auto">
          <a:xfrm>
            <a:off x="681038" y="333375"/>
            <a:ext cx="7797800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黑体" charset="0"/>
              </a:rPr>
              <a:t>scanf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黑体" charset="0"/>
              </a:rPr>
              <a:t>附加格式说明符</a:t>
            </a:r>
            <a:endParaRPr kumimoji="1" lang="en-US" altLang="zh-CN" sz="4400" b="1" i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charset="0"/>
              <a:ea typeface="黑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64854-5F4F-6241-994B-514E1885AD89}" type="datetime1">
              <a:rPr lang="zh-CN" altLang="en-US" smtClean="0"/>
              <a:t>2022/9/10</a:t>
            </a:fld>
            <a:endParaRPr 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1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333375"/>
            <a:ext cx="7772400" cy="5975350"/>
          </a:xfrm>
        </p:spPr>
        <p:txBody>
          <a:bodyPr/>
          <a:lstStyle/>
          <a:p>
            <a:pPr>
              <a:buFont typeface="Monotype Sorts" charset="2"/>
              <a:buNone/>
            </a:pPr>
            <a:r>
              <a:rPr lang="zh-CN" altLang="en-US" sz="2400">
                <a:solidFill>
                  <a:schemeClr val="accent2"/>
                </a:solidFill>
                <a:ea typeface="宋体" charset="0"/>
              </a:rPr>
              <a:t>注：</a:t>
            </a:r>
          </a:p>
          <a:p>
            <a:pPr>
              <a:buFont typeface="Monotype Sorts" charset="2"/>
              <a:buNone/>
            </a:pPr>
            <a:r>
              <a:rPr lang="zh-CN" altLang="en-US" sz="2400">
                <a:ea typeface="宋体" charset="0"/>
              </a:rPr>
              <a:t>            </a:t>
            </a:r>
            <a:r>
              <a:rPr kumimoji="1" lang="zh-CN" altLang="en-US">
                <a:solidFill>
                  <a:srgbClr val="0033CC"/>
                </a:solidFill>
                <a:latin typeface="Courier New" charset="0"/>
                <a:ea typeface="宋体" charset="0"/>
              </a:rPr>
              <a:t>调用函数</a:t>
            </a:r>
            <a:r>
              <a:rPr kumimoji="1" lang="en-US" altLang="zh-CN">
                <a:solidFill>
                  <a:srgbClr val="33A762"/>
                </a:solidFill>
                <a:latin typeface="Courier New" charset="0"/>
                <a:ea typeface="宋体" charset="0"/>
              </a:rPr>
              <a:t>printf()</a:t>
            </a:r>
            <a:r>
              <a:rPr kumimoji="1" lang="zh-CN" altLang="en-US">
                <a:solidFill>
                  <a:srgbClr val="0033CC"/>
                </a:solidFill>
                <a:latin typeface="Courier New" charset="0"/>
                <a:ea typeface="宋体" charset="0"/>
              </a:rPr>
              <a:t>时，</a:t>
            </a:r>
            <a:r>
              <a:rPr kumimoji="1" lang="en-US" altLang="zh-CN">
                <a:solidFill>
                  <a:srgbClr val="0033CC"/>
                </a:solidFill>
                <a:latin typeface="Courier New" charset="0"/>
                <a:ea typeface="宋体" charset="0"/>
              </a:rPr>
              <a:t>float</a:t>
            </a:r>
            <a:r>
              <a:rPr kumimoji="1" lang="zh-CN" altLang="en-US">
                <a:solidFill>
                  <a:srgbClr val="0033CC"/>
                </a:solidFill>
                <a:latin typeface="Courier New" charset="0"/>
                <a:ea typeface="宋体" charset="0"/>
              </a:rPr>
              <a:t>类型的参数都是转化为</a:t>
            </a:r>
            <a:r>
              <a:rPr kumimoji="1" lang="en-US" altLang="zh-CN">
                <a:solidFill>
                  <a:srgbClr val="0033CC"/>
                </a:solidFill>
                <a:latin typeface="Courier New" charset="0"/>
                <a:ea typeface="宋体" charset="0"/>
              </a:rPr>
              <a:t>double</a:t>
            </a:r>
            <a:r>
              <a:rPr kumimoji="1" lang="zh-CN" altLang="en-US">
                <a:solidFill>
                  <a:srgbClr val="0033CC"/>
                </a:solidFill>
                <a:latin typeface="Courier New" charset="0"/>
                <a:ea typeface="宋体" charset="0"/>
              </a:rPr>
              <a:t>类型后再传递的，</a:t>
            </a:r>
            <a:r>
              <a:rPr kumimoji="1" lang="zh-CN" altLang="en-US">
                <a:solidFill>
                  <a:schemeClr val="hlink"/>
                </a:solidFill>
                <a:latin typeface="Courier New" charset="0"/>
                <a:ea typeface="宋体" charset="0"/>
              </a:rPr>
              <a:t>所以</a:t>
            </a:r>
            <a:r>
              <a:rPr kumimoji="1" lang="en-US" altLang="zh-CN">
                <a:solidFill>
                  <a:srgbClr val="FF0000"/>
                </a:solidFill>
                <a:latin typeface="Courier New" charset="0"/>
                <a:ea typeface="宋体" charset="0"/>
              </a:rPr>
              <a:t>%f</a:t>
            </a:r>
            <a:r>
              <a:rPr kumimoji="1" lang="zh-CN" altLang="en-US">
                <a:solidFill>
                  <a:schemeClr val="hlink"/>
                </a:solidFill>
                <a:latin typeface="Courier New" charset="0"/>
                <a:ea typeface="宋体" charset="0"/>
              </a:rPr>
              <a:t>可以输出</a:t>
            </a:r>
            <a:r>
              <a:rPr kumimoji="1" lang="en-US" altLang="zh-CN">
                <a:solidFill>
                  <a:schemeClr val="hlink"/>
                </a:solidFill>
                <a:latin typeface="Courier New" charset="0"/>
                <a:ea typeface="宋体" charset="0"/>
              </a:rPr>
              <a:t>double</a:t>
            </a:r>
            <a:r>
              <a:rPr kumimoji="1" lang="zh-CN" altLang="en-US">
                <a:solidFill>
                  <a:schemeClr val="hlink"/>
                </a:solidFill>
                <a:latin typeface="Courier New" charset="0"/>
                <a:ea typeface="宋体" charset="0"/>
              </a:rPr>
              <a:t>和</a:t>
            </a:r>
            <a:r>
              <a:rPr kumimoji="1" lang="en-US" altLang="zh-CN">
                <a:solidFill>
                  <a:schemeClr val="hlink"/>
                </a:solidFill>
                <a:latin typeface="Courier New" charset="0"/>
                <a:ea typeface="宋体" charset="0"/>
              </a:rPr>
              <a:t>float</a:t>
            </a:r>
            <a:r>
              <a:rPr kumimoji="1" lang="zh-CN" altLang="en-US">
                <a:solidFill>
                  <a:schemeClr val="hlink"/>
                </a:solidFill>
                <a:latin typeface="Courier New" charset="0"/>
                <a:ea typeface="宋体" charset="0"/>
              </a:rPr>
              <a:t>两种类型的数据</a:t>
            </a:r>
            <a:r>
              <a:rPr kumimoji="1" lang="zh-CN" altLang="en-US">
                <a:solidFill>
                  <a:srgbClr val="0033CC"/>
                </a:solidFill>
                <a:latin typeface="Courier New" charset="0"/>
                <a:ea typeface="宋体" charset="0"/>
              </a:rPr>
              <a:t>，不必用</a:t>
            </a:r>
            <a:r>
              <a:rPr kumimoji="1" lang="en-US" altLang="zh-CN">
                <a:solidFill>
                  <a:srgbClr val="0033CC"/>
                </a:solidFill>
                <a:latin typeface="Courier New" charset="0"/>
                <a:ea typeface="宋体" charset="0"/>
              </a:rPr>
              <a:t>%lf</a:t>
            </a:r>
            <a:r>
              <a:rPr kumimoji="1" lang="zh-CN" altLang="en-US">
                <a:solidFill>
                  <a:srgbClr val="0033CC"/>
                </a:solidFill>
                <a:latin typeface="Courier New" charset="0"/>
                <a:ea typeface="宋体" charset="0"/>
              </a:rPr>
              <a:t>输出</a:t>
            </a:r>
            <a:r>
              <a:rPr kumimoji="1" lang="en-US" altLang="zh-CN">
                <a:solidFill>
                  <a:srgbClr val="0033CC"/>
                </a:solidFill>
                <a:latin typeface="Courier New" charset="0"/>
                <a:ea typeface="宋体" charset="0"/>
              </a:rPr>
              <a:t>double</a:t>
            </a:r>
            <a:r>
              <a:rPr kumimoji="1" lang="zh-CN" altLang="en-US">
                <a:solidFill>
                  <a:srgbClr val="0033CC"/>
                </a:solidFill>
                <a:latin typeface="Courier New" charset="0"/>
                <a:ea typeface="宋体" charset="0"/>
              </a:rPr>
              <a:t>型数据。</a:t>
            </a:r>
          </a:p>
          <a:p>
            <a:pPr>
              <a:buFont typeface="Monotype Sorts" charset="2"/>
              <a:buNone/>
            </a:pPr>
            <a:r>
              <a:rPr kumimoji="1" lang="zh-CN" altLang="en-US">
                <a:solidFill>
                  <a:srgbClr val="0033CC"/>
                </a:solidFill>
                <a:latin typeface="Courier New" charset="0"/>
                <a:ea typeface="宋体" charset="0"/>
              </a:rPr>
              <a:t>     调用函数</a:t>
            </a:r>
            <a:r>
              <a:rPr kumimoji="1" lang="en-US" altLang="zh-CN">
                <a:solidFill>
                  <a:srgbClr val="33A762"/>
                </a:solidFill>
                <a:latin typeface="Courier New" charset="0"/>
                <a:ea typeface="宋体" charset="0"/>
              </a:rPr>
              <a:t>scanf()</a:t>
            </a:r>
            <a:r>
              <a:rPr kumimoji="1" lang="zh-CN" altLang="en-US">
                <a:solidFill>
                  <a:srgbClr val="0033CC"/>
                </a:solidFill>
                <a:latin typeface="Courier New" charset="0"/>
                <a:ea typeface="宋体" charset="0"/>
              </a:rPr>
              <a:t>时， 如果是</a:t>
            </a:r>
            <a:r>
              <a:rPr kumimoji="1" lang="en-US" altLang="zh-CN">
                <a:solidFill>
                  <a:srgbClr val="0033CC"/>
                </a:solidFill>
                <a:latin typeface="Courier New" charset="0"/>
                <a:ea typeface="宋体" charset="0"/>
              </a:rPr>
              <a:t>float</a:t>
            </a:r>
            <a:r>
              <a:rPr kumimoji="1" lang="zh-CN" altLang="en-US">
                <a:solidFill>
                  <a:srgbClr val="0033CC"/>
                </a:solidFill>
                <a:latin typeface="Courier New" charset="0"/>
                <a:ea typeface="宋体" charset="0"/>
              </a:rPr>
              <a:t>类型则对应输入转换符为</a:t>
            </a:r>
            <a:r>
              <a:rPr kumimoji="1" lang="en-US" altLang="zh-CN">
                <a:solidFill>
                  <a:srgbClr val="0033CC"/>
                </a:solidFill>
                <a:latin typeface="Courier New" charset="0"/>
                <a:ea typeface="宋体" charset="0"/>
              </a:rPr>
              <a:t>%f</a:t>
            </a:r>
            <a:r>
              <a:rPr kumimoji="1" lang="zh-CN" altLang="en-US">
                <a:solidFill>
                  <a:srgbClr val="0033CC"/>
                </a:solidFill>
                <a:latin typeface="Courier New" charset="0"/>
                <a:ea typeface="宋体" charset="0"/>
              </a:rPr>
              <a:t>，而</a:t>
            </a:r>
            <a:r>
              <a:rPr kumimoji="1" lang="en-US" altLang="zh-CN">
                <a:solidFill>
                  <a:srgbClr val="0033CC"/>
                </a:solidFill>
                <a:latin typeface="Courier New" charset="0"/>
                <a:ea typeface="宋体" charset="0"/>
              </a:rPr>
              <a:t>double</a:t>
            </a:r>
            <a:r>
              <a:rPr kumimoji="1" lang="zh-CN" altLang="en-US">
                <a:solidFill>
                  <a:srgbClr val="0033CC"/>
                </a:solidFill>
                <a:latin typeface="Courier New" charset="0"/>
                <a:ea typeface="宋体" charset="0"/>
              </a:rPr>
              <a:t>类型的输入转换符为</a:t>
            </a:r>
            <a:r>
              <a:rPr kumimoji="1" lang="en-US" altLang="zh-CN">
                <a:solidFill>
                  <a:srgbClr val="0033CC"/>
                </a:solidFill>
                <a:latin typeface="Courier New" charset="0"/>
                <a:ea typeface="宋体" charset="0"/>
              </a:rPr>
              <a:t>%lf</a:t>
            </a:r>
            <a:r>
              <a:rPr kumimoji="1" lang="zh-CN" altLang="en-US">
                <a:solidFill>
                  <a:srgbClr val="0033CC"/>
                </a:solidFill>
                <a:latin typeface="Courier New" charset="0"/>
                <a:ea typeface="宋体" charset="0"/>
              </a:rPr>
              <a:t>。</a:t>
            </a:r>
          </a:p>
          <a:p>
            <a:pPr>
              <a:buFont typeface="Monotype Sorts" charset="2"/>
              <a:buNone/>
            </a:pPr>
            <a:r>
              <a:rPr kumimoji="1" lang="zh-CN" altLang="en-US">
                <a:solidFill>
                  <a:srgbClr val="0033CC"/>
                </a:solidFill>
                <a:latin typeface="Courier New" charset="0"/>
                <a:ea typeface="宋体" charset="0"/>
              </a:rPr>
              <a:t>例：   </a:t>
            </a:r>
          </a:p>
          <a:p>
            <a:pPr>
              <a:buFont typeface="Monotype Sorts" charset="2"/>
              <a:buNone/>
            </a:pPr>
            <a:r>
              <a:rPr kumimoji="1" lang="en-US" altLang="zh-CN">
                <a:latin typeface="Courier New" charset="0"/>
                <a:ea typeface="宋体" charset="0"/>
              </a:rPr>
              <a:t>      float x;</a:t>
            </a:r>
          </a:p>
          <a:p>
            <a:pPr>
              <a:buFont typeface="Monotype Sorts" charset="2"/>
              <a:buNone/>
            </a:pPr>
            <a:r>
              <a:rPr kumimoji="1" lang="zh-CN" altLang="en-US">
                <a:latin typeface="Courier New" charset="0"/>
                <a:ea typeface="宋体" charset="0"/>
              </a:rPr>
              <a:t>      </a:t>
            </a:r>
            <a:r>
              <a:rPr kumimoji="1" lang="en-US" altLang="zh-CN">
                <a:latin typeface="Courier New" charset="0"/>
                <a:ea typeface="宋体" charset="0"/>
              </a:rPr>
              <a:t>double y;</a:t>
            </a:r>
          </a:p>
          <a:p>
            <a:pPr>
              <a:buFont typeface="Monotype Sorts" charset="2"/>
              <a:buNone/>
            </a:pPr>
            <a:r>
              <a:rPr kumimoji="1" lang="en-US" altLang="zh-CN">
                <a:latin typeface="Courier New" charset="0"/>
                <a:ea typeface="宋体" charset="0"/>
              </a:rPr>
              <a:t>   scanf(“%f %lf”,&amp;x,&amp;y);</a:t>
            </a:r>
          </a:p>
          <a:p>
            <a:pPr>
              <a:buFont typeface="Monotype Sorts" charset="2"/>
              <a:buNone/>
            </a:pPr>
            <a:r>
              <a:rPr kumimoji="1" lang="zh-CN" altLang="en-US">
                <a:latin typeface="Courier New" charset="0"/>
                <a:ea typeface="宋体" charset="0"/>
              </a:rPr>
              <a:t>   </a:t>
            </a:r>
            <a:r>
              <a:rPr kumimoji="1" lang="en-US" altLang="zh-CN">
                <a:latin typeface="Courier New" charset="0"/>
                <a:ea typeface="宋体" charset="0"/>
              </a:rPr>
              <a:t>printf(“x=%f,y=%f”,x,y);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00195-7425-4747-ACA8-9A4A3205B516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34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idx="1"/>
          </p:nvPr>
        </p:nvSpPr>
        <p:spPr>
          <a:xfrm>
            <a:off x="468313" y="1270000"/>
            <a:ext cx="8351837" cy="3671888"/>
          </a:xfrm>
          <a:solidFill>
            <a:srgbClr val="000080"/>
          </a:solidFill>
        </p:spPr>
        <p:txBody>
          <a:bodyPr>
            <a:normAutofit fontScale="92500" lnSpcReduction="20000"/>
          </a:bodyPr>
          <a:lstStyle/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2400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&lt;</a:t>
            </a:r>
            <a:r>
              <a:rPr lang="fr-FR" altLang="zh-CN" sz="2400" dirty="0" err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stdio.h</a:t>
            </a:r>
            <a:r>
              <a:rPr lang="fr-FR" altLang="zh-CN" sz="2400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&gt;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main()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{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</a:t>
            </a:r>
            <a:r>
              <a:rPr lang="fr-FR" altLang="zh-CN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2400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a, b;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endParaRPr lang="fr-FR" altLang="zh-CN" sz="2400" dirty="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</a:t>
            </a:r>
            <a:r>
              <a:rPr lang="fr-FR" altLang="zh-CN" sz="2400" dirty="0" err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printf</a:t>
            </a:r>
            <a:r>
              <a:rPr lang="fr-FR" altLang="zh-CN" sz="2400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("</a:t>
            </a:r>
            <a:r>
              <a:rPr lang="fr-FR" altLang="zh-CN" sz="2400" dirty="0" err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Please</a:t>
            </a:r>
            <a:r>
              <a:rPr lang="fr-FR" altLang="zh-CN" sz="2400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input a and b:");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</a:t>
            </a:r>
            <a:r>
              <a:rPr lang="fr-FR" altLang="zh-CN" sz="2400" dirty="0" err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scanf</a:t>
            </a:r>
            <a:r>
              <a:rPr lang="fr-FR" altLang="zh-CN" sz="2400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("%</a:t>
            </a:r>
            <a:r>
              <a:rPr lang="fr-FR" altLang="zh-CN" sz="2400" dirty="0" err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d%d</a:t>
            </a:r>
            <a:r>
              <a:rPr lang="fr-FR" altLang="zh-CN" sz="2400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", &amp;a, &amp;b);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</a:t>
            </a:r>
            <a:r>
              <a:rPr lang="fr-FR" altLang="zh-CN" sz="2400" dirty="0" err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printf</a:t>
            </a:r>
            <a:r>
              <a:rPr lang="fr-FR" altLang="zh-CN" sz="2400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("a=%d, b=%d, </a:t>
            </a:r>
            <a:r>
              <a:rPr lang="fr-FR" altLang="zh-CN" sz="2400" dirty="0" err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a+b</a:t>
            </a:r>
            <a:r>
              <a:rPr lang="fr-FR" altLang="zh-CN" sz="2400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=%d\n",</a:t>
            </a:r>
            <a:r>
              <a:rPr lang="fr-FR" altLang="zh-CN" sz="2400" dirty="0" err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a,b,a+b</a:t>
            </a:r>
            <a:r>
              <a:rPr lang="fr-FR" altLang="zh-CN" sz="2400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lang="en-US" altLang="zh-CN" sz="2400" dirty="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23587" name="Text Box 3"/>
          <p:cNvSpPr txBox="1">
            <a:spLocks noChangeArrowheads="1"/>
          </p:cNvSpPr>
          <p:nvPr/>
        </p:nvSpPr>
        <p:spPr bwMode="auto">
          <a:xfrm>
            <a:off x="539750" y="5373688"/>
            <a:ext cx="5618163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kumimoji="1" lang="en-US" altLang="zh-CN" sz="2400" b="1">
                <a:solidFill>
                  <a:schemeClr val="bg1"/>
                </a:solidFill>
                <a:latin typeface="Courier New" charset="0"/>
                <a:ea typeface="宋体" charset="0"/>
              </a:rPr>
              <a:t>Please input a and b:</a:t>
            </a:r>
          </a:p>
        </p:txBody>
      </p:sp>
      <p:sp>
        <p:nvSpPr>
          <p:cNvPr id="323588" name="Text Box 4"/>
          <p:cNvSpPr txBox="1">
            <a:spLocks noChangeArrowheads="1"/>
          </p:cNvSpPr>
          <p:nvPr/>
        </p:nvSpPr>
        <p:spPr bwMode="auto">
          <a:xfrm>
            <a:off x="539750" y="5832475"/>
            <a:ext cx="5618163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kumimoji="1" lang="en-US" altLang="zh-CN" sz="2400" b="1">
                <a:solidFill>
                  <a:schemeClr val="bg1"/>
                </a:solidFill>
                <a:latin typeface="Courier New" charset="0"/>
                <a:ea typeface="宋体" charset="0"/>
              </a:rPr>
              <a:t>a=12, b=34, a+b = 46</a:t>
            </a:r>
          </a:p>
        </p:txBody>
      </p:sp>
      <p:sp>
        <p:nvSpPr>
          <p:cNvPr id="323589" name="Text Box 5"/>
          <p:cNvSpPr txBox="1">
            <a:spLocks noChangeArrowheads="1"/>
          </p:cNvSpPr>
          <p:nvPr/>
        </p:nvSpPr>
        <p:spPr bwMode="auto">
          <a:xfrm>
            <a:off x="4500563" y="5373688"/>
            <a:ext cx="1657350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kumimoji="1" lang="en-US" altLang="zh-CN" sz="2400" b="1">
                <a:solidFill>
                  <a:schemeClr val="bg1"/>
                </a:solidFill>
                <a:latin typeface="Courier New" charset="0"/>
                <a:ea typeface="宋体" charset="0"/>
              </a:rPr>
              <a:t>12 34↙</a:t>
            </a:r>
          </a:p>
        </p:txBody>
      </p:sp>
      <p:sp>
        <p:nvSpPr>
          <p:cNvPr id="323590" name="Rectangle 6"/>
          <p:cNvSpPr>
            <a:spLocks noChangeArrowheads="1"/>
          </p:cNvSpPr>
          <p:nvPr/>
        </p:nvSpPr>
        <p:spPr bwMode="auto">
          <a:xfrm>
            <a:off x="681038" y="333375"/>
            <a:ext cx="7797800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/>
          <a:p>
            <a:pPr algn="ctr">
              <a:lnSpc>
                <a:spcPct val="85000"/>
              </a:lnSpc>
              <a:defRPr/>
            </a:pP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例</a:t>
            </a:r>
          </a:p>
        </p:txBody>
      </p:sp>
      <p:sp>
        <p:nvSpPr>
          <p:cNvPr id="323591" name="Rectangle 7"/>
          <p:cNvSpPr>
            <a:spLocks noChangeArrowheads="1"/>
          </p:cNvSpPr>
          <p:nvPr/>
        </p:nvSpPr>
        <p:spPr bwMode="auto">
          <a:xfrm>
            <a:off x="3751263" y="1871663"/>
            <a:ext cx="4373562" cy="579437"/>
          </a:xfrm>
          <a:prstGeom prst="rect">
            <a:avLst/>
          </a:prstGeom>
          <a:solidFill>
            <a:srgbClr val="000080"/>
          </a:solidFill>
          <a:ln w="381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kumimoji="1" lang="zh-CN" altLang="en-US" sz="3200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</a:rPr>
              <a:t>遇空格、</a:t>
            </a:r>
            <a:r>
              <a:rPr kumimoji="1" lang="en-US" altLang="zh-CN" sz="3200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</a:rPr>
              <a:t>TAB </a:t>
            </a:r>
            <a:r>
              <a:rPr kumimoji="1" lang="zh-CN" altLang="en-US" sz="3200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</a:rPr>
              <a:t>键时结束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E2EA5-BE82-F744-B849-9D462E215FB0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35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2359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3587" grpId="0" animBg="1"/>
      <p:bldP spid="323588" grpId="0" animBg="1"/>
      <p:bldP spid="323589" grpId="0" animBg="1"/>
      <p:bldP spid="32359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idx="1"/>
          </p:nvPr>
        </p:nvSpPr>
        <p:spPr>
          <a:xfrm>
            <a:off x="468313" y="1270000"/>
            <a:ext cx="8351837" cy="3671888"/>
          </a:xfrm>
          <a:solidFill>
            <a:srgbClr val="000080"/>
          </a:solidFill>
        </p:spPr>
        <p:txBody>
          <a:bodyPr>
            <a:normAutofit fontScale="92500" lnSpcReduction="20000"/>
          </a:bodyPr>
          <a:lstStyle/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&lt;stdio.h&gt;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main()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{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</a:t>
            </a:r>
            <a:r>
              <a:rPr lang="fr-FR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a, b;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endParaRPr lang="fr-FR" altLang="zh-CN" sz="240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printf("Please input a and b:");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scanf("%d%d", &amp;a, &amp;b);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printf("a=%d, b=%d, a+b=%d\n",a,b,a+b);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lang="en-US" altLang="zh-CN" sz="240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25635" name="Text Box 3"/>
          <p:cNvSpPr txBox="1">
            <a:spLocks noChangeArrowheads="1"/>
          </p:cNvSpPr>
          <p:nvPr/>
        </p:nvSpPr>
        <p:spPr bwMode="auto">
          <a:xfrm>
            <a:off x="539750" y="5373688"/>
            <a:ext cx="5618163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kumimoji="1" lang="en-US" altLang="zh-CN" sz="2400" b="1">
                <a:solidFill>
                  <a:schemeClr val="bg1"/>
                </a:solidFill>
                <a:latin typeface="Courier New" charset="0"/>
                <a:ea typeface="宋体" charset="0"/>
              </a:rPr>
              <a:t>Please input a and b:</a:t>
            </a:r>
          </a:p>
        </p:txBody>
      </p:sp>
      <p:sp>
        <p:nvSpPr>
          <p:cNvPr id="325636" name="Text Box 4"/>
          <p:cNvSpPr txBox="1">
            <a:spLocks noChangeArrowheads="1"/>
          </p:cNvSpPr>
          <p:nvPr/>
        </p:nvSpPr>
        <p:spPr bwMode="auto">
          <a:xfrm>
            <a:off x="539750" y="6165850"/>
            <a:ext cx="5618163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kumimoji="1" lang="en-US" altLang="zh-CN" sz="2400" b="1">
                <a:solidFill>
                  <a:schemeClr val="bg1"/>
                </a:solidFill>
                <a:latin typeface="Courier New" charset="0"/>
                <a:ea typeface="宋体" charset="0"/>
              </a:rPr>
              <a:t>a=12, b=34, a+b = 46</a:t>
            </a:r>
          </a:p>
        </p:txBody>
      </p:sp>
      <p:sp>
        <p:nvSpPr>
          <p:cNvPr id="325637" name="Text Box 5"/>
          <p:cNvSpPr txBox="1">
            <a:spLocks noChangeArrowheads="1"/>
          </p:cNvSpPr>
          <p:nvPr/>
        </p:nvSpPr>
        <p:spPr bwMode="auto">
          <a:xfrm>
            <a:off x="4500563" y="5373688"/>
            <a:ext cx="1584325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kumimoji="1" lang="en-US" altLang="zh-CN" sz="2400" b="1">
                <a:solidFill>
                  <a:schemeClr val="bg1"/>
                </a:solidFill>
                <a:latin typeface="Courier New" charset="0"/>
                <a:ea typeface="宋体" charset="0"/>
              </a:rPr>
              <a:t>12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charset="0"/>
                <a:ea typeface="宋体" charset="0"/>
              </a:rPr>
              <a:t>↙</a:t>
            </a:r>
            <a:endParaRPr kumimoji="1" lang="en-US" altLang="zh-CN" sz="2400" b="1">
              <a:solidFill>
                <a:schemeClr val="bg1"/>
              </a:solidFill>
              <a:latin typeface="Courier New" charset="0"/>
              <a:ea typeface="宋体" charset="0"/>
            </a:endParaRPr>
          </a:p>
        </p:txBody>
      </p:sp>
      <p:sp>
        <p:nvSpPr>
          <p:cNvPr id="325638" name="Rectangle 6"/>
          <p:cNvSpPr>
            <a:spLocks noChangeArrowheads="1"/>
          </p:cNvSpPr>
          <p:nvPr/>
        </p:nvSpPr>
        <p:spPr bwMode="auto">
          <a:xfrm>
            <a:off x="681038" y="333375"/>
            <a:ext cx="7797800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/>
          <a:p>
            <a:pPr algn="ctr">
              <a:lnSpc>
                <a:spcPct val="85000"/>
              </a:lnSpc>
              <a:defRPr/>
            </a:pP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例</a:t>
            </a:r>
          </a:p>
        </p:txBody>
      </p:sp>
      <p:sp>
        <p:nvSpPr>
          <p:cNvPr id="325639" name="Rectangle 7"/>
          <p:cNvSpPr>
            <a:spLocks noChangeArrowheads="1"/>
          </p:cNvSpPr>
          <p:nvPr/>
        </p:nvSpPr>
        <p:spPr bwMode="auto">
          <a:xfrm>
            <a:off x="4421188" y="1844675"/>
            <a:ext cx="3028950" cy="579438"/>
          </a:xfrm>
          <a:prstGeom prst="rect">
            <a:avLst/>
          </a:prstGeom>
          <a:solidFill>
            <a:srgbClr val="000080"/>
          </a:solidFill>
          <a:ln w="381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kumimoji="1" lang="zh-CN" altLang="en-US" sz="3200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</a:rPr>
              <a:t>遇回车键时结束</a:t>
            </a:r>
          </a:p>
        </p:txBody>
      </p:sp>
      <p:sp>
        <p:nvSpPr>
          <p:cNvPr id="325640" name="Text Box 8"/>
          <p:cNvSpPr txBox="1">
            <a:spLocks noChangeArrowheads="1"/>
          </p:cNvSpPr>
          <p:nvPr/>
        </p:nvSpPr>
        <p:spPr bwMode="auto">
          <a:xfrm>
            <a:off x="539750" y="5722938"/>
            <a:ext cx="2159000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kumimoji="1" lang="en-US" altLang="zh-CN" sz="2400" b="1">
                <a:solidFill>
                  <a:schemeClr val="bg1"/>
                </a:solidFill>
                <a:latin typeface="Courier New" charset="0"/>
                <a:ea typeface="宋体" charset="0"/>
              </a:rPr>
              <a:t>34↙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1B29A-E81B-E947-A255-7DCDFB9526F6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36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2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5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25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25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25639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5635" grpId="0" animBg="1"/>
      <p:bldP spid="325636" grpId="0" animBg="1"/>
      <p:bldP spid="325637" grpId="0" animBg="1"/>
      <p:bldP spid="325639" grpId="0" animBg="1"/>
      <p:bldP spid="32564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idx="1"/>
          </p:nvPr>
        </p:nvSpPr>
        <p:spPr>
          <a:xfrm>
            <a:off x="468313" y="1270000"/>
            <a:ext cx="8351837" cy="3671888"/>
          </a:xfrm>
          <a:solidFill>
            <a:srgbClr val="000080"/>
          </a:solidFill>
        </p:spPr>
        <p:txBody>
          <a:bodyPr>
            <a:normAutofit fontScale="92500" lnSpcReduction="20000"/>
          </a:bodyPr>
          <a:lstStyle/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&lt;stdio.h&gt;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main()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{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</a:t>
            </a:r>
            <a:r>
              <a:rPr lang="fr-FR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a, b;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endParaRPr lang="fr-FR" altLang="zh-CN" sz="240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printf("Please input a and b:");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scanf("%2d%2d", &amp;a, &amp;b);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printf("a=%d, b=%d, a+b=%d\n",a,b,a+b);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lang="en-US" altLang="zh-CN" sz="240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26659" name="Text Box 3"/>
          <p:cNvSpPr txBox="1">
            <a:spLocks noChangeArrowheads="1"/>
          </p:cNvSpPr>
          <p:nvPr/>
        </p:nvSpPr>
        <p:spPr bwMode="auto">
          <a:xfrm>
            <a:off x="539750" y="5373688"/>
            <a:ext cx="5618163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kumimoji="1" lang="en-US" altLang="zh-CN" sz="2400" b="1">
                <a:solidFill>
                  <a:schemeClr val="bg1"/>
                </a:solidFill>
                <a:latin typeface="Courier New" charset="0"/>
                <a:ea typeface="宋体" charset="0"/>
              </a:rPr>
              <a:t>Please input a and b:</a:t>
            </a:r>
          </a:p>
        </p:txBody>
      </p:sp>
      <p:sp>
        <p:nvSpPr>
          <p:cNvPr id="326660" name="Text Box 4"/>
          <p:cNvSpPr txBox="1">
            <a:spLocks noChangeArrowheads="1"/>
          </p:cNvSpPr>
          <p:nvPr/>
        </p:nvSpPr>
        <p:spPr bwMode="auto">
          <a:xfrm>
            <a:off x="539750" y="5832475"/>
            <a:ext cx="5618163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kumimoji="1" lang="en-US" altLang="zh-CN" sz="2400" b="1">
                <a:solidFill>
                  <a:schemeClr val="bg1"/>
                </a:solidFill>
                <a:latin typeface="Courier New" charset="0"/>
                <a:ea typeface="宋体" charset="0"/>
              </a:rPr>
              <a:t>a=12, b=34, a+b = 46</a:t>
            </a:r>
          </a:p>
        </p:txBody>
      </p:sp>
      <p:sp>
        <p:nvSpPr>
          <p:cNvPr id="326661" name="Text Box 5"/>
          <p:cNvSpPr txBox="1">
            <a:spLocks noChangeArrowheads="1"/>
          </p:cNvSpPr>
          <p:nvPr/>
        </p:nvSpPr>
        <p:spPr bwMode="auto">
          <a:xfrm>
            <a:off x="4500563" y="5373688"/>
            <a:ext cx="1657350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kumimoji="1" lang="en-US" altLang="zh-CN" sz="2400" b="1">
                <a:solidFill>
                  <a:schemeClr val="bg1"/>
                </a:solidFill>
                <a:latin typeface="Courier New" charset="0"/>
                <a:ea typeface="宋体" charset="0"/>
              </a:rPr>
              <a:t>1234↙</a:t>
            </a:r>
          </a:p>
        </p:txBody>
      </p:sp>
      <p:sp>
        <p:nvSpPr>
          <p:cNvPr id="326662" name="Rectangle 6"/>
          <p:cNvSpPr>
            <a:spLocks noChangeArrowheads="1"/>
          </p:cNvSpPr>
          <p:nvPr/>
        </p:nvSpPr>
        <p:spPr bwMode="auto">
          <a:xfrm>
            <a:off x="681038" y="333375"/>
            <a:ext cx="7797800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/>
          <a:p>
            <a:pPr algn="ctr">
              <a:lnSpc>
                <a:spcPct val="85000"/>
              </a:lnSpc>
              <a:defRPr/>
            </a:pP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例</a:t>
            </a:r>
          </a:p>
        </p:txBody>
      </p:sp>
      <p:sp>
        <p:nvSpPr>
          <p:cNvPr id="326663" name="Rectangle 7"/>
          <p:cNvSpPr>
            <a:spLocks noChangeArrowheads="1"/>
          </p:cNvSpPr>
          <p:nvPr/>
        </p:nvSpPr>
        <p:spPr bwMode="auto">
          <a:xfrm>
            <a:off x="4625975" y="1844675"/>
            <a:ext cx="2622550" cy="579438"/>
          </a:xfrm>
          <a:prstGeom prst="rect">
            <a:avLst/>
          </a:prstGeom>
          <a:solidFill>
            <a:srgbClr val="000080"/>
          </a:solidFill>
          <a:ln w="381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kumimoji="1" lang="zh-CN" altLang="en-US" sz="3200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</a:rPr>
              <a:t>遇宽度时结束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2CD35-4EAF-9241-A67B-7C81FEC444BB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37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26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6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26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2666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659" grpId="0" animBg="1"/>
      <p:bldP spid="326660" grpId="0" animBg="1"/>
      <p:bldP spid="326661" grpId="0" animBg="1"/>
      <p:bldP spid="32666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idx="1"/>
          </p:nvPr>
        </p:nvSpPr>
        <p:spPr>
          <a:xfrm>
            <a:off x="468313" y="1270000"/>
            <a:ext cx="8351837" cy="3671888"/>
          </a:xfrm>
          <a:solidFill>
            <a:srgbClr val="000080"/>
          </a:solidFill>
        </p:spPr>
        <p:txBody>
          <a:bodyPr>
            <a:normAutofit fontScale="92500" lnSpcReduction="20000"/>
          </a:bodyPr>
          <a:lstStyle/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&lt;stdio.h&gt;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main()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{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</a:t>
            </a:r>
            <a:r>
              <a:rPr lang="fr-FR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a, b;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endParaRPr lang="fr-FR" altLang="zh-CN" sz="240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printf("Please input a and b:");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scanf("%2d%2d", &amp;a, &amp;b);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printf("a=%d, b=%d, a+b=%d\n",a,b,a+b);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lang="en-US" altLang="zh-CN" sz="240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27683" name="Text Box 3"/>
          <p:cNvSpPr txBox="1">
            <a:spLocks noChangeArrowheads="1"/>
          </p:cNvSpPr>
          <p:nvPr/>
        </p:nvSpPr>
        <p:spPr bwMode="auto">
          <a:xfrm>
            <a:off x="539750" y="5373688"/>
            <a:ext cx="5618163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kumimoji="1" lang="en-US" altLang="zh-CN" sz="2400" b="1">
                <a:solidFill>
                  <a:schemeClr val="bg1"/>
                </a:solidFill>
                <a:latin typeface="Courier New" charset="0"/>
                <a:ea typeface="宋体" charset="0"/>
              </a:rPr>
              <a:t>Please input a and b:</a:t>
            </a:r>
          </a:p>
        </p:txBody>
      </p:sp>
      <p:sp>
        <p:nvSpPr>
          <p:cNvPr id="327684" name="Text Box 4"/>
          <p:cNvSpPr txBox="1">
            <a:spLocks noChangeArrowheads="1"/>
          </p:cNvSpPr>
          <p:nvPr/>
        </p:nvSpPr>
        <p:spPr bwMode="auto">
          <a:xfrm>
            <a:off x="539750" y="5832475"/>
            <a:ext cx="5618163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kumimoji="1" lang="en-US" altLang="zh-CN" sz="2400" b="1">
                <a:solidFill>
                  <a:schemeClr val="bg1"/>
                </a:solidFill>
                <a:latin typeface="Courier New" charset="0"/>
                <a:ea typeface="宋体" charset="0"/>
              </a:rPr>
              <a:t>a=12, </a:t>
            </a:r>
            <a:r>
              <a:rPr kumimoji="1" lang="en-US" altLang="zh-CN" sz="2400" b="1">
                <a:solidFill>
                  <a:srgbClr val="FFFF99"/>
                </a:solidFill>
                <a:latin typeface="Courier New" charset="0"/>
                <a:ea typeface="宋体" charset="0"/>
              </a:rPr>
              <a:t>b=3, a+b = 15</a:t>
            </a:r>
          </a:p>
        </p:txBody>
      </p:sp>
      <p:sp>
        <p:nvSpPr>
          <p:cNvPr id="327685" name="Text Box 5"/>
          <p:cNvSpPr txBox="1">
            <a:spLocks noChangeArrowheads="1"/>
          </p:cNvSpPr>
          <p:nvPr/>
        </p:nvSpPr>
        <p:spPr bwMode="auto">
          <a:xfrm>
            <a:off x="4500563" y="5373688"/>
            <a:ext cx="1657350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kumimoji="1" lang="en-US" altLang="zh-CN" sz="2400" b="1">
                <a:solidFill>
                  <a:srgbClr val="FFFF99"/>
                </a:solidFill>
                <a:latin typeface="Courier New" charset="0"/>
                <a:ea typeface="宋体" charset="0"/>
              </a:rPr>
              <a:t>123</a:t>
            </a:r>
            <a:r>
              <a:rPr kumimoji="1" lang="en-US" altLang="zh-CN" sz="2400" b="1">
                <a:solidFill>
                  <a:schemeClr val="hlink"/>
                </a:solidFill>
                <a:latin typeface="Courier New" charset="0"/>
                <a:ea typeface="宋体" charset="0"/>
              </a:rPr>
              <a:t>a</a:t>
            </a:r>
            <a:r>
              <a:rPr kumimoji="1" lang="en-US" altLang="zh-CN" sz="2400" b="1">
                <a:solidFill>
                  <a:srgbClr val="FFFF99"/>
                </a:solidFill>
                <a:latin typeface="Courier New" charset="0"/>
                <a:ea typeface="宋体" charset="0"/>
              </a:rPr>
              <a:t>↙</a:t>
            </a:r>
          </a:p>
        </p:txBody>
      </p:sp>
      <p:sp>
        <p:nvSpPr>
          <p:cNvPr id="327686" name="Rectangle 6"/>
          <p:cNvSpPr>
            <a:spLocks noChangeArrowheads="1"/>
          </p:cNvSpPr>
          <p:nvPr/>
        </p:nvSpPr>
        <p:spPr bwMode="auto">
          <a:xfrm>
            <a:off x="681038" y="333375"/>
            <a:ext cx="7797800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/>
          <a:p>
            <a:pPr algn="ctr">
              <a:lnSpc>
                <a:spcPct val="85000"/>
              </a:lnSpc>
              <a:defRPr/>
            </a:pP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例</a:t>
            </a:r>
          </a:p>
        </p:txBody>
      </p:sp>
      <p:sp>
        <p:nvSpPr>
          <p:cNvPr id="327687" name="Rectangle 7"/>
          <p:cNvSpPr>
            <a:spLocks noChangeArrowheads="1"/>
          </p:cNvSpPr>
          <p:nvPr/>
        </p:nvSpPr>
        <p:spPr bwMode="auto">
          <a:xfrm>
            <a:off x="4219575" y="1844675"/>
            <a:ext cx="3435350" cy="579438"/>
          </a:xfrm>
          <a:prstGeom prst="rect">
            <a:avLst/>
          </a:prstGeom>
          <a:solidFill>
            <a:srgbClr val="000080"/>
          </a:solidFill>
          <a:ln w="381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kumimoji="1" lang="zh-CN" altLang="en-US" sz="3200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</a:rPr>
              <a:t>遇非法输入时结束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DF062-444C-7141-8B6D-DCAC194D043A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38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27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7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27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27687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683" grpId="0" animBg="1"/>
      <p:bldP spid="327684" grpId="0" animBg="1"/>
      <p:bldP spid="327685" grpId="0" animBg="1"/>
      <p:bldP spid="32768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idx="1"/>
          </p:nvPr>
        </p:nvSpPr>
        <p:spPr>
          <a:xfrm>
            <a:off x="468313" y="1270000"/>
            <a:ext cx="8351837" cy="3671888"/>
          </a:xfrm>
          <a:solidFill>
            <a:srgbClr val="000080"/>
          </a:solidFill>
        </p:spPr>
        <p:txBody>
          <a:bodyPr>
            <a:normAutofit fontScale="92500" lnSpcReduction="20000"/>
          </a:bodyPr>
          <a:lstStyle/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&lt;stdio.h&gt;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main()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{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</a:t>
            </a:r>
            <a:r>
              <a:rPr lang="fr-FR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a, b;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endParaRPr lang="fr-FR" altLang="zh-CN" sz="240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printf("Please input a and b:");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scanf("%d</a:t>
            </a:r>
            <a:r>
              <a:rPr lang="fr-FR" altLang="zh-CN" sz="2400">
                <a:solidFill>
                  <a:srgbClr val="FF99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,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%d", &amp;a, &amp;b);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printf("a=%d, b=%d, a+b=%d\n",a,b,a+b);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lang="en-US" altLang="zh-CN" sz="240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24611" name="Text Box 3"/>
          <p:cNvSpPr txBox="1">
            <a:spLocks noChangeArrowheads="1"/>
          </p:cNvSpPr>
          <p:nvPr/>
        </p:nvSpPr>
        <p:spPr bwMode="auto">
          <a:xfrm>
            <a:off x="539750" y="5373688"/>
            <a:ext cx="5618163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kumimoji="1" lang="en-US" altLang="zh-CN" sz="2400" b="1">
                <a:solidFill>
                  <a:schemeClr val="bg1"/>
                </a:solidFill>
                <a:latin typeface="Courier New" charset="0"/>
                <a:ea typeface="宋体" charset="0"/>
              </a:rPr>
              <a:t>Please input a and b:</a:t>
            </a:r>
          </a:p>
        </p:txBody>
      </p:sp>
      <p:sp>
        <p:nvSpPr>
          <p:cNvPr id="324612" name="Text Box 4"/>
          <p:cNvSpPr txBox="1">
            <a:spLocks noChangeArrowheads="1"/>
          </p:cNvSpPr>
          <p:nvPr/>
        </p:nvSpPr>
        <p:spPr bwMode="auto">
          <a:xfrm>
            <a:off x="539750" y="5832475"/>
            <a:ext cx="5618163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kumimoji="1" lang="en-US" altLang="zh-CN" sz="2400" b="1">
                <a:solidFill>
                  <a:schemeClr val="bg1"/>
                </a:solidFill>
                <a:latin typeface="Courier New" charset="0"/>
                <a:ea typeface="宋体" charset="0"/>
              </a:rPr>
              <a:t>a=12, b=34, a+b = 46</a:t>
            </a:r>
          </a:p>
        </p:txBody>
      </p:sp>
      <p:sp>
        <p:nvSpPr>
          <p:cNvPr id="324613" name="Text Box 5"/>
          <p:cNvSpPr txBox="1">
            <a:spLocks noChangeArrowheads="1"/>
          </p:cNvSpPr>
          <p:nvPr/>
        </p:nvSpPr>
        <p:spPr bwMode="auto">
          <a:xfrm>
            <a:off x="4500563" y="5373688"/>
            <a:ext cx="1657350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kumimoji="1" lang="en-US" altLang="zh-CN" sz="2400" b="1">
                <a:solidFill>
                  <a:schemeClr val="bg1"/>
                </a:solidFill>
                <a:latin typeface="Courier New" charset="0"/>
                <a:ea typeface="宋体" charset="0"/>
              </a:rPr>
              <a:t>12,34↙</a:t>
            </a:r>
          </a:p>
        </p:txBody>
      </p:sp>
      <p:sp>
        <p:nvSpPr>
          <p:cNvPr id="324614" name="Rectangle 6"/>
          <p:cNvSpPr>
            <a:spLocks noChangeArrowheads="1"/>
          </p:cNvSpPr>
          <p:nvPr/>
        </p:nvSpPr>
        <p:spPr bwMode="auto">
          <a:xfrm>
            <a:off x="681038" y="333375"/>
            <a:ext cx="7797800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/>
          <a:p>
            <a:pPr algn="ctr">
              <a:lnSpc>
                <a:spcPct val="85000"/>
              </a:lnSpc>
              <a:defRPr/>
            </a:pP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例</a:t>
            </a:r>
          </a:p>
        </p:txBody>
      </p:sp>
      <p:sp>
        <p:nvSpPr>
          <p:cNvPr id="324616" name="Rectangle 8"/>
          <p:cNvSpPr>
            <a:spLocks noChangeArrowheads="1"/>
          </p:cNvSpPr>
          <p:nvPr/>
        </p:nvSpPr>
        <p:spPr bwMode="auto">
          <a:xfrm>
            <a:off x="3813175" y="1844675"/>
            <a:ext cx="4248150" cy="579438"/>
          </a:xfrm>
          <a:prstGeom prst="rect">
            <a:avLst/>
          </a:prstGeom>
          <a:solidFill>
            <a:srgbClr val="000080"/>
          </a:solidFill>
          <a:ln w="381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kumimoji="1" lang="zh-CN" altLang="en-US" sz="3200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</a:rPr>
              <a:t>这里逗号需要原样输入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19BA-326B-0442-9FE3-3E54EFF6C7C7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39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24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24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246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11" grpId="0" animBg="1"/>
      <p:bldP spid="324612" grpId="0" animBg="1"/>
      <p:bldP spid="324613" grpId="0" animBg="1"/>
      <p:bldP spid="32461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270000"/>
            <a:ext cx="8351837" cy="3671888"/>
          </a:xfrm>
          <a:solidFill>
            <a:srgbClr val="000080"/>
          </a:solidFill>
        </p:spPr>
        <p:txBody>
          <a:bodyPr>
            <a:normAutofit fontScale="92500" lnSpcReduction="20000"/>
          </a:bodyPr>
          <a:lstStyle/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&lt;stdio.h&gt;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main()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{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</a:t>
            </a:r>
            <a:r>
              <a:rPr lang="fr-FR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a, b;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endParaRPr lang="fr-FR" altLang="zh-CN" sz="240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printf("Please input a and b:");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scanf("%2d</a:t>
            </a:r>
            <a:r>
              <a:rPr lang="fr-FR" altLang="zh-CN" sz="24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%*2d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%2d", &amp;a, &amp;b);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  printf("a=%d, b=%d, a+b=%d\n",a,b,a+b);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lang="en-US" altLang="zh-CN" sz="240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88773" name="Text Box 5"/>
          <p:cNvSpPr txBox="1">
            <a:spLocks noChangeArrowheads="1"/>
          </p:cNvSpPr>
          <p:nvPr/>
        </p:nvSpPr>
        <p:spPr bwMode="auto">
          <a:xfrm>
            <a:off x="539750" y="5373688"/>
            <a:ext cx="5618163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kumimoji="1" lang="en-US" altLang="zh-CN" sz="2400" b="1">
                <a:solidFill>
                  <a:schemeClr val="bg1"/>
                </a:solidFill>
                <a:latin typeface="Courier New" charset="0"/>
                <a:ea typeface="宋体" charset="0"/>
              </a:rPr>
              <a:t>Please input a and b:</a:t>
            </a:r>
          </a:p>
        </p:txBody>
      </p:sp>
      <p:sp>
        <p:nvSpPr>
          <p:cNvPr id="288774" name="Text Box 6"/>
          <p:cNvSpPr txBox="1">
            <a:spLocks noChangeArrowheads="1"/>
          </p:cNvSpPr>
          <p:nvPr/>
        </p:nvSpPr>
        <p:spPr bwMode="auto">
          <a:xfrm>
            <a:off x="539750" y="5832475"/>
            <a:ext cx="5618163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kumimoji="1" lang="en-US" altLang="zh-CN" sz="2400" b="1">
                <a:solidFill>
                  <a:schemeClr val="bg1"/>
                </a:solidFill>
                <a:latin typeface="Courier New" charset="0"/>
                <a:ea typeface="宋体" charset="0"/>
              </a:rPr>
              <a:t>a=12, b=56, a+b = 68</a:t>
            </a:r>
          </a:p>
        </p:txBody>
      </p:sp>
      <p:sp>
        <p:nvSpPr>
          <p:cNvPr id="288775" name="Text Box 7"/>
          <p:cNvSpPr txBox="1">
            <a:spLocks noChangeArrowheads="1"/>
          </p:cNvSpPr>
          <p:nvPr/>
        </p:nvSpPr>
        <p:spPr bwMode="auto">
          <a:xfrm>
            <a:off x="4500563" y="5373688"/>
            <a:ext cx="1657350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kumimoji="1" lang="en-US" altLang="zh-CN" sz="2400" b="1">
                <a:solidFill>
                  <a:schemeClr val="bg1"/>
                </a:solidFill>
                <a:latin typeface="Courier New" charset="0"/>
                <a:ea typeface="宋体" charset="0"/>
              </a:rPr>
              <a:t>12</a:t>
            </a:r>
            <a:r>
              <a:rPr kumimoji="1" lang="en-US" altLang="zh-CN" sz="2400" b="1">
                <a:solidFill>
                  <a:schemeClr val="hlink"/>
                </a:solidFill>
                <a:latin typeface="Courier New" charset="0"/>
                <a:ea typeface="宋体" charset="0"/>
              </a:rPr>
              <a:t>34</a:t>
            </a:r>
            <a:r>
              <a:rPr kumimoji="1" lang="en-US" altLang="zh-CN" sz="2400" b="1">
                <a:solidFill>
                  <a:schemeClr val="bg1"/>
                </a:solidFill>
                <a:latin typeface="Courier New" charset="0"/>
                <a:ea typeface="宋体" charset="0"/>
              </a:rPr>
              <a:t>56↙</a:t>
            </a:r>
          </a:p>
        </p:txBody>
      </p:sp>
      <p:sp>
        <p:nvSpPr>
          <p:cNvPr id="288776" name="Rectangle 8"/>
          <p:cNvSpPr>
            <a:spLocks noChangeArrowheads="1"/>
          </p:cNvSpPr>
          <p:nvPr/>
        </p:nvSpPr>
        <p:spPr bwMode="auto">
          <a:xfrm>
            <a:off x="681038" y="333375"/>
            <a:ext cx="7797800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/>
          <a:p>
            <a:pPr algn="ctr">
              <a:lnSpc>
                <a:spcPct val="85000"/>
              </a:lnSpc>
              <a:defRPr/>
            </a:pP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例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3.9</a:t>
            </a:r>
            <a:endParaRPr kumimoji="1" lang="zh-CN" altLang="en-US" sz="4400" b="1" i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88778" name="Rectangle 10"/>
          <p:cNvSpPr>
            <a:spLocks noChangeArrowheads="1"/>
          </p:cNvSpPr>
          <p:nvPr/>
        </p:nvSpPr>
        <p:spPr bwMode="auto">
          <a:xfrm>
            <a:off x="4422775" y="1844675"/>
            <a:ext cx="3028950" cy="579438"/>
          </a:xfrm>
          <a:prstGeom prst="rect">
            <a:avLst/>
          </a:prstGeom>
          <a:solidFill>
            <a:srgbClr val="000080"/>
          </a:solidFill>
          <a:ln w="38100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kumimoji="1" lang="zh-CN" altLang="en-US" sz="3200" b="1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</a:rPr>
              <a:t>跳过一个输入项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D5F8D-991C-7844-A313-11C8C6811521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40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8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88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88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88778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3" grpId="0" animBg="1"/>
      <p:bldP spid="288774" grpId="0" animBg="1"/>
      <p:bldP spid="288775" grpId="0" animBg="1"/>
      <p:bldP spid="28877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484313"/>
            <a:ext cx="7991475" cy="3384550"/>
          </a:xfrm>
          <a:solidFill>
            <a:srgbClr val="000080"/>
          </a:solidFill>
        </p:spPr>
        <p:txBody>
          <a:bodyPr>
            <a:normAutofit fontScale="92500" lnSpcReduction="10000"/>
          </a:bodyPr>
          <a:lstStyle/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&lt;stdio.h&gt;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main() 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{								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a, b;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endParaRPr lang="fr-FR" altLang="zh-CN" sz="240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scanf("%d %d", &amp;a, &amp;b);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printf("a = %d, b = %d\n", a, b);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lang="en-US" altLang="zh-CN" sz="240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93892" name="Rectangle 4"/>
          <p:cNvSpPr>
            <a:spLocks noChangeArrowheads="1"/>
          </p:cNvSpPr>
          <p:nvPr/>
        </p:nvSpPr>
        <p:spPr bwMode="auto">
          <a:xfrm>
            <a:off x="468313" y="4860925"/>
            <a:ext cx="7920037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5000"/>
              </a:lnSpc>
              <a:buClr>
                <a:srgbClr val="D60093"/>
              </a:buClr>
              <a:buSzPct val="80000"/>
              <a:buFont typeface="Monotype Sorts" charset="2"/>
              <a:buNone/>
            </a:pPr>
            <a:r>
              <a:rPr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问题</a:t>
            </a:r>
            <a:r>
              <a:rPr lang="en-US" altLang="zh-CN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1</a:t>
            </a:r>
            <a:r>
              <a:rPr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：当要求程序输出结果为</a:t>
            </a:r>
          </a:p>
          <a:p>
            <a:pPr>
              <a:lnSpc>
                <a:spcPct val="95000"/>
              </a:lnSpc>
              <a:buClr>
                <a:srgbClr val="D60093"/>
              </a:buClr>
              <a:buSzPct val="80000"/>
              <a:buFont typeface="Monotype Sorts" charset="2"/>
              <a:buNone/>
            </a:pPr>
            <a:r>
              <a:rPr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                   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a = 12, b = 34</a:t>
            </a:r>
          </a:p>
          <a:p>
            <a:pPr>
              <a:lnSpc>
                <a:spcPct val="95000"/>
              </a:lnSpc>
              <a:buClr>
                <a:srgbClr val="D60093"/>
              </a:buClr>
              <a:buSzPct val="80000"/>
              <a:buFont typeface="Monotype Sorts" charset="2"/>
              <a:buNone/>
            </a:pPr>
            <a:r>
              <a:rPr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时，用户应该如何输入数据？</a:t>
            </a:r>
            <a:r>
              <a:rPr lang="zh-CN" altLang="en-US" sz="2800" b="1">
                <a:solidFill>
                  <a:srgbClr val="33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 </a:t>
            </a:r>
          </a:p>
        </p:txBody>
      </p:sp>
      <p:sp>
        <p:nvSpPr>
          <p:cNvPr id="293893" name="Text Box 5"/>
          <p:cNvSpPr txBox="1">
            <a:spLocks noChangeArrowheads="1"/>
          </p:cNvSpPr>
          <p:nvPr/>
        </p:nvSpPr>
        <p:spPr bwMode="auto">
          <a:xfrm>
            <a:off x="6011863" y="1916113"/>
            <a:ext cx="1944687" cy="579437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32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Courier New" pitchFamily="49" charset="0"/>
                <a:ea typeface="宋体" pitchFamily="2" charset="-122"/>
              </a:rPr>
              <a:t>12 34↙</a:t>
            </a:r>
          </a:p>
        </p:txBody>
      </p:sp>
      <p:sp>
        <p:nvSpPr>
          <p:cNvPr id="293894" name="Rectangle 6"/>
          <p:cNvSpPr>
            <a:spLocks noChangeArrowheads="1"/>
          </p:cNvSpPr>
          <p:nvPr/>
        </p:nvSpPr>
        <p:spPr bwMode="auto">
          <a:xfrm>
            <a:off x="539750" y="333375"/>
            <a:ext cx="8067675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输入数据的格式控制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黑体" charset="0"/>
              </a:rPr>
              <a:t>——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例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3.10</a:t>
            </a:r>
            <a:endParaRPr kumimoji="1" lang="zh-CN" altLang="en-US" sz="4400" b="1" i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charset="0"/>
              <a:ea typeface="黑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00B1F-AB9A-974F-B484-2C091282A71B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41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3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389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5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484313"/>
            <a:ext cx="7848600" cy="3384550"/>
          </a:xfrm>
          <a:solidFill>
            <a:srgbClr val="000080"/>
          </a:solidFill>
        </p:spPr>
        <p:txBody>
          <a:bodyPr>
            <a:normAutofit fontScale="92500" lnSpcReduction="10000"/>
          </a:bodyPr>
          <a:lstStyle/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&lt;stdio.h&gt;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main() 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{								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a, b;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endParaRPr lang="fr-FR" altLang="zh-CN" sz="240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scanf("%d %d", &amp;a, &amp;b);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printf("a = %d, b = %d\n", a, b);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lang="en-US" altLang="zh-CN" sz="240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94916" name="Rectangle 4"/>
          <p:cNvSpPr>
            <a:spLocks noChangeArrowheads="1"/>
          </p:cNvSpPr>
          <p:nvPr/>
        </p:nvSpPr>
        <p:spPr bwMode="auto">
          <a:xfrm>
            <a:off x="466725" y="4868863"/>
            <a:ext cx="8137525" cy="165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5000"/>
              </a:lnSpc>
              <a:buClr>
                <a:srgbClr val="D60093"/>
              </a:buClr>
              <a:buSzPct val="80000"/>
              <a:buFont typeface="Monotype Sorts" charset="2"/>
              <a:buNone/>
            </a:pPr>
            <a:r>
              <a:rPr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问题</a:t>
            </a:r>
            <a:r>
              <a:rPr lang="en-US" altLang="zh-CN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2</a:t>
            </a:r>
            <a:r>
              <a:rPr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：当限定用户输入数据以逗号为分隔符，即输入数据格式为：       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12,34↙</a:t>
            </a:r>
          </a:p>
          <a:p>
            <a:pPr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</a:pPr>
            <a:r>
              <a:rPr lang="zh-CN" altLang="en-US" sz="28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时，应修改程序中的哪条语句？怎样修改？ </a:t>
            </a:r>
          </a:p>
        </p:txBody>
      </p:sp>
      <p:sp>
        <p:nvSpPr>
          <p:cNvPr id="294917" name="Text Box 5"/>
          <p:cNvSpPr txBox="1">
            <a:spLocks noChangeArrowheads="1"/>
          </p:cNvSpPr>
          <p:nvPr/>
        </p:nvSpPr>
        <p:spPr bwMode="auto">
          <a:xfrm>
            <a:off x="827088" y="3414713"/>
            <a:ext cx="5545137" cy="519112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scanf</a:t>
            </a:r>
            <a:r>
              <a:rPr kumimoji="1" lang="en-US" altLang="zh-CN" sz="2800" b="1">
                <a:solidFill>
                  <a:srgbClr val="CC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("%d,%d", &amp;a, &amp;b);</a:t>
            </a:r>
            <a:r>
              <a:rPr kumimoji="1" lang="en-US" altLang="zh-CN" sz="2800">
                <a:solidFill>
                  <a:srgbClr val="CCFFFF"/>
                </a:solidFill>
                <a:latin typeface="Courier New" pitchFamily="49" charset="0"/>
                <a:ea typeface="宋体" pitchFamily="2" charset="-122"/>
              </a:rPr>
              <a:t> </a:t>
            </a:r>
          </a:p>
        </p:txBody>
      </p:sp>
      <p:sp>
        <p:nvSpPr>
          <p:cNvPr id="294918" name="Rectangle 6"/>
          <p:cNvSpPr>
            <a:spLocks noChangeArrowheads="1"/>
          </p:cNvSpPr>
          <p:nvPr/>
        </p:nvSpPr>
        <p:spPr bwMode="auto">
          <a:xfrm>
            <a:off x="539750" y="333375"/>
            <a:ext cx="8067675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输入数据的格式控制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黑体" charset="0"/>
              </a:rPr>
              <a:t>——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例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3.10</a:t>
            </a:r>
            <a:endParaRPr kumimoji="1" lang="zh-CN" altLang="en-US" sz="4400" b="1" i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charset="0"/>
              <a:ea typeface="黑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DD345B-61D4-9346-95BC-20465497380A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42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4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49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4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916" grpId="0" build="p"/>
      <p:bldP spid="29491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9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484313"/>
            <a:ext cx="7848600" cy="3384550"/>
          </a:xfrm>
          <a:solidFill>
            <a:srgbClr val="000080"/>
          </a:solidFill>
        </p:spPr>
        <p:txBody>
          <a:bodyPr>
            <a:normAutofit fontScale="92500" lnSpcReduction="10000"/>
          </a:bodyPr>
          <a:lstStyle/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&lt;stdio.h&gt;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main() 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{								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a, b;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endParaRPr lang="fr-FR" altLang="zh-CN" sz="240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scanf("%d %d", &amp;a, &amp;b);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printf("a = %d, b = %d\n", a, b);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lang="en-US" altLang="zh-CN" sz="240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95940" name="Rectangle 4"/>
          <p:cNvSpPr>
            <a:spLocks noChangeArrowheads="1"/>
          </p:cNvSpPr>
          <p:nvPr/>
        </p:nvSpPr>
        <p:spPr bwMode="auto">
          <a:xfrm>
            <a:off x="395288" y="4860925"/>
            <a:ext cx="7993062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5000"/>
              </a:lnSpc>
              <a:buClr>
                <a:srgbClr val="D60093"/>
              </a:buClr>
              <a:buSzPct val="80000"/>
              <a:buFont typeface="Monotype Sorts" charset="2"/>
              <a:buNone/>
            </a:pPr>
            <a:r>
              <a:rPr lang="zh-CN" alt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问题</a:t>
            </a:r>
            <a:r>
              <a:rPr lang="en-US" altLang="zh-CN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3</a:t>
            </a:r>
            <a:r>
              <a:rPr lang="zh-CN" alt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：语句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scanf("%d %d", &amp;a, &amp;b);</a:t>
            </a:r>
            <a:r>
              <a:rPr lang="zh-CN" alt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修改为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scanf("a = %d, b = %d", &amp;a, &amp;b);</a:t>
            </a:r>
          </a:p>
          <a:p>
            <a:pPr>
              <a:lnSpc>
                <a:spcPct val="95000"/>
              </a:lnSpc>
              <a:buClr>
                <a:srgbClr val="D60093"/>
              </a:buClr>
              <a:buSzPct val="80000"/>
              <a:buFont typeface="Monotype Sorts" charset="2"/>
              <a:buNone/>
            </a:pPr>
            <a:r>
              <a:rPr lang="zh-CN" alt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时，用户应该如何输入数据？</a:t>
            </a:r>
          </a:p>
        </p:txBody>
      </p:sp>
      <p:sp>
        <p:nvSpPr>
          <p:cNvPr id="295941" name="Text Box 5"/>
          <p:cNvSpPr txBox="1">
            <a:spLocks noChangeArrowheads="1"/>
          </p:cNvSpPr>
          <p:nvPr/>
        </p:nvSpPr>
        <p:spPr bwMode="auto">
          <a:xfrm>
            <a:off x="4643438" y="2349500"/>
            <a:ext cx="3527425" cy="5191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Courier New" pitchFamily="49" charset="0"/>
                <a:ea typeface="宋体" pitchFamily="2" charset="-122"/>
              </a:rPr>
              <a:t>a = 12, b = 34↙</a:t>
            </a:r>
          </a:p>
        </p:txBody>
      </p:sp>
      <p:sp>
        <p:nvSpPr>
          <p:cNvPr id="295942" name="Rectangle 6"/>
          <p:cNvSpPr>
            <a:spLocks noChangeArrowheads="1"/>
          </p:cNvSpPr>
          <p:nvPr/>
        </p:nvSpPr>
        <p:spPr bwMode="auto">
          <a:xfrm>
            <a:off x="539750" y="333375"/>
            <a:ext cx="8067675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输入数据的格式控制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黑体" charset="0"/>
              </a:rPr>
              <a:t>——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例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3.10</a:t>
            </a:r>
            <a:endParaRPr kumimoji="1" lang="zh-CN" altLang="en-US" sz="4400" b="1" i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charset="0"/>
              <a:ea typeface="黑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FD4E7-C619-3B42-9223-0DBF48DE7BCA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43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59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59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95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40" grpId="0" build="p"/>
      <p:bldP spid="295941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3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484313"/>
            <a:ext cx="7848600" cy="3384550"/>
          </a:xfrm>
          <a:solidFill>
            <a:srgbClr val="000080"/>
          </a:solidFill>
        </p:spPr>
        <p:txBody>
          <a:bodyPr>
            <a:normAutofit fontScale="92500" lnSpcReduction="10000"/>
          </a:bodyPr>
          <a:lstStyle/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&lt;stdio.h&gt;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main() 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{								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a, b;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endParaRPr lang="fr-FR" altLang="zh-CN" sz="240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scanf("%d %d", &amp;a, &amp;b);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printf("a = %d, b = %d\n", a, b);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lang="en-US" altLang="zh-CN" sz="240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96964" name="Rectangle 4"/>
          <p:cNvSpPr>
            <a:spLocks noChangeArrowheads="1"/>
          </p:cNvSpPr>
          <p:nvPr/>
        </p:nvSpPr>
        <p:spPr bwMode="auto">
          <a:xfrm>
            <a:off x="179388" y="4797425"/>
            <a:ext cx="83058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5000"/>
              </a:lnSpc>
              <a:buClr>
                <a:srgbClr val="D60093"/>
              </a:buClr>
              <a:buSzPct val="80000"/>
              <a:buFont typeface="Monotype Sorts" charset="2"/>
              <a:buNone/>
            </a:pPr>
            <a:r>
              <a:rPr lang="zh-CN" altLang="en-US" sz="2400">
                <a:solidFill>
                  <a:srgbClr val="FFFF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   </a:t>
            </a:r>
            <a:r>
              <a:rPr lang="zh-CN" alt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问题</a:t>
            </a:r>
            <a:r>
              <a:rPr lang="en-US" altLang="zh-CN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4</a:t>
            </a:r>
            <a:r>
              <a:rPr lang="zh-CN" alt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：限定用户输入数据为以下格式为  </a:t>
            </a:r>
          </a:p>
          <a:p>
            <a:pPr algn="ctr">
              <a:lnSpc>
                <a:spcPct val="95000"/>
              </a:lnSpc>
              <a:buClr>
                <a:srgbClr val="D60093"/>
              </a:buClr>
              <a:buSzPct val="80000"/>
              <a:buFont typeface="Monotype Sorts" charset="2"/>
              <a:buNone/>
            </a:pPr>
            <a:r>
              <a:rPr lang="zh-CN" alt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 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1234↙ </a:t>
            </a:r>
          </a:p>
          <a:p>
            <a:pPr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</a:pPr>
            <a:r>
              <a:rPr lang="en-US" altLang="zh-CN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    </a:t>
            </a:r>
            <a:r>
              <a:rPr lang="zh-CN" alt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同时要求程序输出结果为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a = 12, b = 34</a:t>
            </a:r>
          </a:p>
        </p:txBody>
      </p:sp>
      <p:sp>
        <p:nvSpPr>
          <p:cNvPr id="296965" name="Text Box 5"/>
          <p:cNvSpPr txBox="1">
            <a:spLocks noChangeArrowheads="1"/>
          </p:cNvSpPr>
          <p:nvPr/>
        </p:nvSpPr>
        <p:spPr bwMode="auto">
          <a:xfrm>
            <a:off x="812800" y="3414713"/>
            <a:ext cx="5616575" cy="519112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scanf</a:t>
            </a:r>
            <a:r>
              <a:rPr kumimoji="1" lang="en-US" altLang="zh-CN" sz="2800" b="1">
                <a:solidFill>
                  <a:srgbClr val="CCE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("%2d%2d", &amp;a, &amp;b); </a:t>
            </a:r>
          </a:p>
        </p:txBody>
      </p:sp>
      <p:sp>
        <p:nvSpPr>
          <p:cNvPr id="296966" name="Rectangle 6"/>
          <p:cNvSpPr>
            <a:spLocks noChangeArrowheads="1"/>
          </p:cNvSpPr>
          <p:nvPr/>
        </p:nvSpPr>
        <p:spPr bwMode="auto">
          <a:xfrm>
            <a:off x="539750" y="333375"/>
            <a:ext cx="8067675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输入数据的格式控制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黑体" charset="0"/>
              </a:rPr>
              <a:t>——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例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3.10</a:t>
            </a:r>
            <a:endParaRPr kumimoji="1" lang="zh-CN" altLang="en-US" sz="4400" b="1" i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charset="0"/>
              <a:ea typeface="黑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2CB31-5947-A14B-9168-9A4982404483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44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69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69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96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4" grpId="0" build="p"/>
      <p:bldP spid="29696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7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384300"/>
            <a:ext cx="8207375" cy="3384550"/>
          </a:xfrm>
          <a:solidFill>
            <a:srgbClr val="000080"/>
          </a:solidFill>
        </p:spPr>
        <p:txBody>
          <a:bodyPr>
            <a:normAutofit fontScale="92500" lnSpcReduction="10000"/>
          </a:bodyPr>
          <a:lstStyle/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&lt;stdio.h&gt;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main() 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{								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a, b;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endParaRPr lang="fr-FR" altLang="zh-CN" sz="240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scanf("%d %d", &amp;a, &amp;b);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printf("a = %d, b = %d\n", a, b);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lang="en-US" altLang="zh-CN" sz="240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97988" name="Rectangle 4"/>
          <p:cNvSpPr>
            <a:spLocks noChangeArrowheads="1"/>
          </p:cNvSpPr>
          <p:nvPr/>
        </p:nvSpPr>
        <p:spPr bwMode="auto">
          <a:xfrm>
            <a:off x="250825" y="4724400"/>
            <a:ext cx="83058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5000"/>
              </a:lnSpc>
              <a:buClr>
                <a:srgbClr val="D60093"/>
              </a:buClr>
              <a:buSzPct val="80000"/>
              <a:buFont typeface="Monotype Sorts" charset="2"/>
              <a:buNone/>
            </a:pPr>
            <a:r>
              <a:rPr lang="zh-CN" altLang="en-US" sz="2000">
                <a:solidFill>
                  <a:srgbClr val="FFFF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   </a:t>
            </a:r>
            <a:r>
              <a:rPr lang="zh-CN" alt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问题</a:t>
            </a:r>
            <a:r>
              <a:rPr lang="en-US" altLang="zh-CN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5</a:t>
            </a:r>
            <a:r>
              <a:rPr lang="zh-CN" alt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：限定用户输入数据为以下格式为</a:t>
            </a:r>
          </a:p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</a:pP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12↙</a:t>
            </a:r>
          </a:p>
          <a:p>
            <a:pPr algn="ctr">
              <a:lnSpc>
                <a:spcPct val="8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</a:pP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34↙</a:t>
            </a:r>
          </a:p>
          <a:p>
            <a:pPr>
              <a:lnSpc>
                <a:spcPct val="95000"/>
              </a:lnSpc>
              <a:spcBef>
                <a:spcPct val="20000"/>
              </a:spcBef>
              <a:buClr>
                <a:srgbClr val="FFCC66"/>
              </a:buClr>
              <a:buSzPct val="80000"/>
              <a:buFont typeface="Monotype Sorts" charset="2"/>
              <a:buNone/>
            </a:pPr>
            <a:r>
              <a:rPr lang="en-US" altLang="zh-CN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   </a:t>
            </a:r>
            <a:r>
              <a:rPr lang="zh-CN" alt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同时要求程序输出结果为</a:t>
            </a:r>
            <a:r>
              <a:rPr lang="en-US" altLang="zh-CN" sz="2400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0"/>
              </a:rPr>
              <a:t>a = "12", b = "34"</a:t>
            </a:r>
          </a:p>
        </p:txBody>
      </p:sp>
      <p:sp>
        <p:nvSpPr>
          <p:cNvPr id="297989" name="Text Box 5"/>
          <p:cNvSpPr txBox="1">
            <a:spLocks noChangeArrowheads="1"/>
          </p:cNvSpPr>
          <p:nvPr/>
        </p:nvSpPr>
        <p:spPr bwMode="auto">
          <a:xfrm>
            <a:off x="827088" y="3357563"/>
            <a:ext cx="7848600" cy="822325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fr-FR" altLang="zh-CN" sz="2400" b="1">
                <a:solidFill>
                  <a:srgbClr val="CCE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scanf("%d%d", &amp;a, &amp;b);</a:t>
            </a:r>
          </a:p>
          <a:p>
            <a:pPr>
              <a:defRPr/>
            </a:pPr>
            <a:r>
              <a:rPr kumimoji="1" lang="fr-FR" altLang="zh-CN" sz="2400" b="1">
                <a:solidFill>
                  <a:srgbClr val="CCEC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printf("a = \"%d\", b = \"%d\"\n", a, b);</a:t>
            </a:r>
            <a:endParaRPr kumimoji="1" lang="en-US" altLang="zh-CN" sz="2400" b="1">
              <a:solidFill>
                <a:srgbClr val="CCEC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97990" name="Rectangle 6"/>
          <p:cNvSpPr>
            <a:spLocks noChangeArrowheads="1"/>
          </p:cNvSpPr>
          <p:nvPr/>
        </p:nvSpPr>
        <p:spPr bwMode="auto">
          <a:xfrm>
            <a:off x="539750" y="333375"/>
            <a:ext cx="8067675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输入数据的格式控制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黑体" charset="0"/>
              </a:rPr>
              <a:t>——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例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3.10</a:t>
            </a:r>
            <a:endParaRPr kumimoji="1" lang="zh-CN" altLang="en-US" sz="4400" b="1" i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charset="0"/>
              <a:ea typeface="黑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25B9-A86F-DA4F-B059-820414D986B3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45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9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79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79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79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97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8" grpId="0" build="p"/>
      <p:bldP spid="297989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1" name="Rectangle 3"/>
          <p:cNvSpPr>
            <a:spLocks noGrp="1" noChangeArrowheads="1"/>
          </p:cNvSpPr>
          <p:nvPr>
            <p:ph idx="1"/>
          </p:nvPr>
        </p:nvSpPr>
        <p:spPr>
          <a:xfrm>
            <a:off x="468313" y="1484313"/>
            <a:ext cx="7991475" cy="3384550"/>
          </a:xfrm>
          <a:solidFill>
            <a:srgbClr val="000080"/>
          </a:solidFill>
        </p:spPr>
        <p:txBody>
          <a:bodyPr>
            <a:normAutofit fontScale="92500" lnSpcReduction="10000"/>
          </a:bodyPr>
          <a:lstStyle/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lang="fr-FR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include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&lt;stdio.h&gt;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main() 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{								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lang="fr-FR" altLang="zh-CN" sz="24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a, b;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endParaRPr lang="fr-FR" altLang="zh-CN" sz="240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scanf("%d %d", &amp;a, &amp;b);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printf("a = %d, b = %d\n", a, b);</a:t>
            </a:r>
          </a:p>
          <a:p>
            <a:pPr marL="342900" indent="-342900">
              <a:lnSpc>
                <a:spcPct val="90000"/>
              </a:lnSpc>
              <a:buFont typeface="Monotype Sorts" charset="2"/>
              <a:buNone/>
              <a:defRPr/>
            </a:pPr>
            <a:r>
              <a:rPr lang="fr-FR" altLang="zh-CN" sz="240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lang="en-US" altLang="zh-CN" sz="240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299012" name="Rectangle 4"/>
          <p:cNvSpPr>
            <a:spLocks noChangeArrowheads="1"/>
          </p:cNvSpPr>
          <p:nvPr/>
        </p:nvSpPr>
        <p:spPr bwMode="auto">
          <a:xfrm>
            <a:off x="514350" y="5005388"/>
            <a:ext cx="8018463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lnSpc>
                <a:spcPct val="95000"/>
              </a:lnSpc>
              <a:buClr>
                <a:srgbClr val="D60093"/>
              </a:buClr>
              <a:buSzPct val="80000"/>
              <a:buFont typeface="Monotype Sorts" charset="2"/>
              <a:buNone/>
            </a:pPr>
            <a:r>
              <a:rPr lang="zh-CN" alt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问题</a:t>
            </a:r>
            <a:r>
              <a:rPr lang="en-US" altLang="zh-CN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6</a:t>
            </a:r>
            <a:r>
              <a:rPr lang="zh-CN" alt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：设计程序使得用户可以以任意字符（回车、空格、制表符、逗号、其它）作为分隔符进行数据的输入</a:t>
            </a:r>
          </a:p>
        </p:txBody>
      </p:sp>
      <p:sp>
        <p:nvSpPr>
          <p:cNvPr id="299013" name="Text Box 5"/>
          <p:cNvSpPr txBox="1">
            <a:spLocks noChangeArrowheads="1"/>
          </p:cNvSpPr>
          <p:nvPr/>
        </p:nvSpPr>
        <p:spPr bwMode="auto">
          <a:xfrm>
            <a:off x="827088" y="3327400"/>
            <a:ext cx="5616575" cy="519113"/>
          </a:xfrm>
          <a:prstGeom prst="rect">
            <a:avLst/>
          </a:prstGeom>
          <a:solidFill>
            <a:srgbClr val="00800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800" b="1">
                <a:solidFill>
                  <a:srgbClr val="CC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scanf("%d%*c%d", &amp;a, &amp;b);</a:t>
            </a:r>
            <a:r>
              <a:rPr kumimoji="1" lang="en-US" altLang="zh-CN" sz="2400">
                <a:latin typeface="Times New Roman" pitchFamily="18" charset="0"/>
                <a:ea typeface="宋体" pitchFamily="2" charset="-122"/>
              </a:rPr>
              <a:t> </a:t>
            </a:r>
          </a:p>
        </p:txBody>
      </p:sp>
      <p:sp>
        <p:nvSpPr>
          <p:cNvPr id="299014" name="Rectangle 6"/>
          <p:cNvSpPr>
            <a:spLocks noChangeArrowheads="1"/>
          </p:cNvSpPr>
          <p:nvPr/>
        </p:nvSpPr>
        <p:spPr bwMode="auto">
          <a:xfrm>
            <a:off x="539750" y="333375"/>
            <a:ext cx="8067675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输入数据的格式控制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黑体" charset="0"/>
              </a:rPr>
              <a:t>——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例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3.10</a:t>
            </a:r>
            <a:endParaRPr kumimoji="1" lang="zh-CN" altLang="en-US" sz="4400" b="1" i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charset="0"/>
              <a:ea typeface="黑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205D-2A9B-E340-8501-CDE78E10C449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46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90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9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2" grpId="0" build="p"/>
      <p:bldP spid="29901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5" name="Text Box 3"/>
          <p:cNvSpPr txBox="1">
            <a:spLocks noChangeArrowheads="1"/>
          </p:cNvSpPr>
          <p:nvPr/>
        </p:nvSpPr>
        <p:spPr bwMode="auto">
          <a:xfrm>
            <a:off x="611188" y="1484313"/>
            <a:ext cx="8137525" cy="3749675"/>
          </a:xfrm>
          <a:prstGeom prst="rect">
            <a:avLst/>
          </a:prstGeom>
          <a:solidFill>
            <a:srgbClr val="00008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include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&lt;stdio.h&gt;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main()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{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data1, data2, sum;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char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op;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 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printf("Please enter the expression 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	  data1 + data2\n");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scanf("%d%c%d",&amp;data1, &amp;op, &amp;data2);	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printf("%d%c%d = %d\n", 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          data1, op, data2, data1+data2);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kumimoji="1" lang="en-US" altLang="zh-CN" sz="2000" b="1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00036" name="Text Box 4"/>
          <p:cNvSpPr txBox="1">
            <a:spLocks noChangeArrowheads="1"/>
          </p:cNvSpPr>
          <p:nvPr/>
        </p:nvSpPr>
        <p:spPr bwMode="auto">
          <a:xfrm>
            <a:off x="1979613" y="5218113"/>
            <a:ext cx="6769100" cy="396875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Courier New" pitchFamily="49" charset="0"/>
                <a:ea typeface="宋体" pitchFamily="2" charset="-122"/>
              </a:rPr>
              <a:t>Please enter the expression data1 + data2</a:t>
            </a:r>
            <a:r>
              <a:rPr kumimoji="1"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</a:t>
            </a:r>
          </a:p>
        </p:txBody>
      </p:sp>
      <p:sp>
        <p:nvSpPr>
          <p:cNvPr id="300037" name="Text Box 5"/>
          <p:cNvSpPr txBox="1">
            <a:spLocks noChangeArrowheads="1"/>
          </p:cNvSpPr>
          <p:nvPr/>
        </p:nvSpPr>
        <p:spPr bwMode="auto">
          <a:xfrm>
            <a:off x="466725" y="5189538"/>
            <a:ext cx="19446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第</a:t>
            </a:r>
            <a:r>
              <a:rPr kumimoji="1" lang="en-US" altLang="zh-CN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1</a:t>
            </a:r>
            <a:r>
              <a:rPr kumimoji="1" lang="zh-CN" alt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次测试</a:t>
            </a:r>
          </a:p>
        </p:txBody>
      </p:sp>
      <p:sp>
        <p:nvSpPr>
          <p:cNvPr id="300038" name="Text Box 6"/>
          <p:cNvSpPr txBox="1">
            <a:spLocks noChangeArrowheads="1"/>
          </p:cNvSpPr>
          <p:nvPr/>
        </p:nvSpPr>
        <p:spPr bwMode="auto">
          <a:xfrm>
            <a:off x="1979613" y="5589588"/>
            <a:ext cx="1727200" cy="396875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Courier New" pitchFamily="49" charset="0"/>
                <a:ea typeface="宋体" pitchFamily="2" charset="-122"/>
              </a:rPr>
              <a:t>12 + 3↙</a:t>
            </a:r>
          </a:p>
        </p:txBody>
      </p:sp>
      <p:sp>
        <p:nvSpPr>
          <p:cNvPr id="300039" name="Text Box 7"/>
          <p:cNvSpPr txBox="1">
            <a:spLocks noChangeArrowheads="1"/>
          </p:cNvSpPr>
          <p:nvPr/>
        </p:nvSpPr>
        <p:spPr bwMode="auto">
          <a:xfrm>
            <a:off x="1979613" y="5949950"/>
            <a:ext cx="2808287" cy="396875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Courier New" pitchFamily="49" charset="0"/>
                <a:ea typeface="宋体" pitchFamily="2" charset="-122"/>
              </a:rPr>
              <a:t>12 3129 = 3141 </a:t>
            </a:r>
          </a:p>
        </p:txBody>
      </p:sp>
      <p:sp>
        <p:nvSpPr>
          <p:cNvPr id="300040" name="Line 8"/>
          <p:cNvSpPr>
            <a:spLocks noChangeShapeType="1"/>
          </p:cNvSpPr>
          <p:nvPr/>
        </p:nvSpPr>
        <p:spPr bwMode="auto">
          <a:xfrm>
            <a:off x="2195513" y="5949950"/>
            <a:ext cx="1727200" cy="2873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0041" name="Line 9"/>
          <p:cNvSpPr>
            <a:spLocks noChangeShapeType="1"/>
          </p:cNvSpPr>
          <p:nvPr/>
        </p:nvSpPr>
        <p:spPr bwMode="auto">
          <a:xfrm flipH="1">
            <a:off x="2195513" y="5949950"/>
            <a:ext cx="1727200" cy="2873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0042" name="Rectangle 10"/>
          <p:cNvSpPr>
            <a:spLocks noChangeArrowheads="1"/>
          </p:cNvSpPr>
          <p:nvPr/>
        </p:nvSpPr>
        <p:spPr bwMode="auto">
          <a:xfrm>
            <a:off x="539750" y="333375"/>
            <a:ext cx="8067675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C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格式符存在的问题及其解决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黑体" charset="0"/>
              </a:rPr>
              <a:t>—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例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3.11</a:t>
            </a:r>
            <a:endParaRPr kumimoji="1" lang="zh-CN" altLang="en-US" sz="4400" b="1" i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charset="0"/>
              <a:ea typeface="黑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71407-122D-894B-BFEF-B6A6A9DEC31E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47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0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00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300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036" grpId="0" animBg="1"/>
      <p:bldP spid="300037" grpId="0"/>
      <p:bldP spid="300038" grpId="0" animBg="1"/>
      <p:bldP spid="300039" grpId="0" animBg="1"/>
      <p:bldP spid="300040" grpId="0" animBg="1"/>
      <p:bldP spid="30004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9" name="Text Box 3"/>
          <p:cNvSpPr txBox="1">
            <a:spLocks noChangeArrowheads="1"/>
          </p:cNvSpPr>
          <p:nvPr/>
        </p:nvSpPr>
        <p:spPr bwMode="auto">
          <a:xfrm>
            <a:off x="611188" y="1484313"/>
            <a:ext cx="8137525" cy="3749675"/>
          </a:xfrm>
          <a:prstGeom prst="rect">
            <a:avLst/>
          </a:prstGeom>
          <a:solidFill>
            <a:srgbClr val="00008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include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&lt;stdio.h&gt;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main()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{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data1, data2, sum;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char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op;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 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printf("Please enter the expression 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	  data1 + data2\n");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scanf("%d%c%d",&amp;data1, &amp;op, &amp;data2);	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printf("%d%c%d = %d\n", 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          data1, op, data2, data1+data2);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kumimoji="1" lang="en-US" altLang="zh-CN" sz="2000" b="1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01060" name="Text Box 4"/>
          <p:cNvSpPr txBox="1">
            <a:spLocks noChangeArrowheads="1"/>
          </p:cNvSpPr>
          <p:nvPr/>
        </p:nvSpPr>
        <p:spPr bwMode="auto">
          <a:xfrm>
            <a:off x="1979613" y="5218113"/>
            <a:ext cx="6769100" cy="3968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Courier New" pitchFamily="49" charset="0"/>
                <a:ea typeface="宋体" pitchFamily="2" charset="-122"/>
              </a:rPr>
              <a:t>Please enter the expression data1 + data2</a:t>
            </a:r>
            <a:r>
              <a:rPr kumimoji="1"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</a:t>
            </a:r>
          </a:p>
        </p:txBody>
      </p:sp>
      <p:sp>
        <p:nvSpPr>
          <p:cNvPr id="301061" name="Text Box 5"/>
          <p:cNvSpPr txBox="1">
            <a:spLocks noChangeArrowheads="1"/>
          </p:cNvSpPr>
          <p:nvPr/>
        </p:nvSpPr>
        <p:spPr bwMode="auto">
          <a:xfrm>
            <a:off x="466725" y="5157788"/>
            <a:ext cx="19446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第</a:t>
            </a:r>
            <a:r>
              <a:rPr kumimoji="1" lang="en-US" altLang="zh-CN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2</a:t>
            </a:r>
            <a:r>
              <a:rPr kumimoji="1" lang="zh-CN" alt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次测试</a:t>
            </a:r>
          </a:p>
        </p:txBody>
      </p:sp>
      <p:sp>
        <p:nvSpPr>
          <p:cNvPr id="301062" name="Text Box 6"/>
          <p:cNvSpPr txBox="1">
            <a:spLocks noChangeArrowheads="1"/>
          </p:cNvSpPr>
          <p:nvPr/>
        </p:nvSpPr>
        <p:spPr bwMode="auto">
          <a:xfrm>
            <a:off x="1979613" y="5589588"/>
            <a:ext cx="1727200" cy="3968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Courier New" pitchFamily="49" charset="0"/>
                <a:ea typeface="宋体" pitchFamily="2" charset="-122"/>
              </a:rPr>
              <a:t>12  3↙</a:t>
            </a:r>
          </a:p>
        </p:txBody>
      </p:sp>
      <p:sp>
        <p:nvSpPr>
          <p:cNvPr id="301063" name="Text Box 7"/>
          <p:cNvSpPr txBox="1">
            <a:spLocks noChangeArrowheads="1"/>
          </p:cNvSpPr>
          <p:nvPr/>
        </p:nvSpPr>
        <p:spPr bwMode="auto">
          <a:xfrm>
            <a:off x="1979613" y="5949950"/>
            <a:ext cx="2808287" cy="3968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Courier New" pitchFamily="49" charset="0"/>
                <a:ea typeface="宋体" pitchFamily="2" charset="-122"/>
              </a:rPr>
              <a:t>12  3 = 15 </a:t>
            </a:r>
          </a:p>
        </p:txBody>
      </p:sp>
      <p:sp>
        <p:nvSpPr>
          <p:cNvPr id="301064" name="Rectangle 8"/>
          <p:cNvSpPr>
            <a:spLocks noChangeArrowheads="1"/>
          </p:cNvSpPr>
          <p:nvPr/>
        </p:nvSpPr>
        <p:spPr bwMode="auto">
          <a:xfrm>
            <a:off x="539750" y="333375"/>
            <a:ext cx="8067675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C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格式符存在的问题及其解决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黑体" charset="0"/>
              </a:rPr>
              <a:t>—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例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3.11</a:t>
            </a:r>
            <a:endParaRPr kumimoji="1" lang="zh-CN" altLang="en-US" sz="4400" b="1" i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charset="0"/>
              <a:ea typeface="黑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8B3D4-25D5-3C49-A311-538A6F1CFE8F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48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60" grpId="0" animBg="1"/>
      <p:bldP spid="301061" grpId="0"/>
      <p:bldP spid="301062" grpId="0" animBg="1"/>
      <p:bldP spid="30106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3" name="Text Box 3"/>
          <p:cNvSpPr txBox="1">
            <a:spLocks noChangeArrowheads="1"/>
          </p:cNvSpPr>
          <p:nvPr/>
        </p:nvSpPr>
        <p:spPr bwMode="auto">
          <a:xfrm>
            <a:off x="611188" y="1484313"/>
            <a:ext cx="8137525" cy="3749675"/>
          </a:xfrm>
          <a:prstGeom prst="rect">
            <a:avLst/>
          </a:prstGeom>
          <a:solidFill>
            <a:srgbClr val="00008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include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&lt;stdio.h&gt;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main()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{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data1, data2, sum;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char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op;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 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printf("Please enter the expression 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	  data1 + data2\n");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scanf("%d%c%d",&amp;data1, &amp;op, &amp;data2);	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printf("%d%c%d = %d\n", 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          data1, op, data2, data1+data2);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kumimoji="1" lang="en-US" altLang="zh-CN" sz="2000" b="1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02084" name="Text Box 4"/>
          <p:cNvSpPr txBox="1">
            <a:spLocks noChangeArrowheads="1"/>
          </p:cNvSpPr>
          <p:nvPr/>
        </p:nvSpPr>
        <p:spPr bwMode="auto">
          <a:xfrm>
            <a:off x="1979613" y="5218113"/>
            <a:ext cx="6769100" cy="3968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Courier New" pitchFamily="49" charset="0"/>
                <a:ea typeface="宋体" pitchFamily="2" charset="-122"/>
              </a:rPr>
              <a:t>Please enter the expression data1 + data2</a:t>
            </a:r>
            <a:r>
              <a:rPr kumimoji="1" lang="en-US" altLang="zh-CN" sz="2000" b="1">
                <a:effectLst>
                  <a:outerShdw blurRad="38100" dist="38100" dir="2700000" algn="tl">
                    <a:srgbClr val="FFFFFF"/>
                  </a:outerShdw>
                </a:effectLst>
                <a:latin typeface="Courier New" pitchFamily="49" charset="0"/>
                <a:ea typeface="宋体" pitchFamily="2" charset="-122"/>
              </a:rPr>
              <a:t> </a:t>
            </a:r>
          </a:p>
        </p:txBody>
      </p:sp>
      <p:sp>
        <p:nvSpPr>
          <p:cNvPr id="302085" name="Text Box 5"/>
          <p:cNvSpPr txBox="1">
            <a:spLocks noChangeArrowheads="1"/>
          </p:cNvSpPr>
          <p:nvPr/>
        </p:nvSpPr>
        <p:spPr bwMode="auto">
          <a:xfrm>
            <a:off x="466725" y="5157788"/>
            <a:ext cx="19446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第</a:t>
            </a:r>
            <a:r>
              <a:rPr kumimoji="1" lang="en-US" altLang="zh-CN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3</a:t>
            </a:r>
            <a:r>
              <a:rPr kumimoji="1" lang="zh-CN" altLang="en-US" sz="2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宋体" charset="0"/>
              </a:rPr>
              <a:t>次测试</a:t>
            </a:r>
            <a:endParaRPr kumimoji="1" lang="zh-CN" altLang="en-US" sz="240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charset="0"/>
              <a:ea typeface="宋体" charset="0"/>
            </a:endParaRPr>
          </a:p>
        </p:txBody>
      </p:sp>
      <p:sp>
        <p:nvSpPr>
          <p:cNvPr id="302086" name="Text Box 6"/>
          <p:cNvSpPr txBox="1">
            <a:spLocks noChangeArrowheads="1"/>
          </p:cNvSpPr>
          <p:nvPr/>
        </p:nvSpPr>
        <p:spPr bwMode="auto">
          <a:xfrm>
            <a:off x="1979613" y="5589588"/>
            <a:ext cx="1727200" cy="3968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Courier New" pitchFamily="49" charset="0"/>
                <a:ea typeface="宋体" pitchFamily="2" charset="-122"/>
              </a:rPr>
              <a:t>12+3↙</a:t>
            </a:r>
          </a:p>
        </p:txBody>
      </p:sp>
      <p:sp>
        <p:nvSpPr>
          <p:cNvPr id="302087" name="Text Box 7"/>
          <p:cNvSpPr txBox="1">
            <a:spLocks noChangeArrowheads="1"/>
          </p:cNvSpPr>
          <p:nvPr/>
        </p:nvSpPr>
        <p:spPr bwMode="auto">
          <a:xfrm>
            <a:off x="1979613" y="5949950"/>
            <a:ext cx="2808287" cy="3968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Courier New" pitchFamily="49" charset="0"/>
                <a:ea typeface="宋体" pitchFamily="2" charset="-122"/>
              </a:rPr>
              <a:t>12+3 = 15 </a:t>
            </a:r>
          </a:p>
        </p:txBody>
      </p:sp>
      <p:sp>
        <p:nvSpPr>
          <p:cNvPr id="302088" name="Rectangle 8"/>
          <p:cNvSpPr>
            <a:spLocks noChangeArrowheads="1"/>
          </p:cNvSpPr>
          <p:nvPr/>
        </p:nvSpPr>
        <p:spPr bwMode="auto">
          <a:xfrm>
            <a:off x="539750" y="333375"/>
            <a:ext cx="8067675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C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格式符存在的问题及其解决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黑体" charset="0"/>
              </a:rPr>
              <a:t>—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例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3.11</a:t>
            </a:r>
            <a:endParaRPr kumimoji="1" lang="zh-CN" altLang="en-US" sz="4400" b="1" i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charset="0"/>
              <a:ea typeface="黑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EE52E-39B7-3545-9046-0EC588DB3E51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49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2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2084" grpId="0" animBg="1"/>
      <p:bldP spid="302085" grpId="0"/>
      <p:bldP spid="302086" grpId="0" animBg="1"/>
      <p:bldP spid="30208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Text Box 2"/>
          <p:cNvSpPr txBox="1">
            <a:spLocks noChangeArrowheads="1"/>
          </p:cNvSpPr>
          <p:nvPr/>
        </p:nvSpPr>
        <p:spPr bwMode="auto">
          <a:xfrm>
            <a:off x="36513" y="1484313"/>
            <a:ext cx="9144000" cy="4968875"/>
          </a:xfrm>
          <a:prstGeom prst="rect">
            <a:avLst/>
          </a:prstGeom>
          <a:solidFill>
            <a:srgbClr val="00008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include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&lt;stdio.h&gt;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main()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{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a;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char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b;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float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c;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printf("Please input an integer:");    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scanf("%d", &amp;a);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printf("integer: %d\n", a);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printf("Please input a character:");    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scanf("%c", &amp;b);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printf("character: %c\n", b);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printf("Please input a float number:");    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scanf("%f", &amp;c);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printf("float: %f\n", c);	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kumimoji="1" lang="en-US" altLang="zh-CN" sz="2000" b="1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31779" name="Text Box 3"/>
          <p:cNvSpPr txBox="1">
            <a:spLocks noChangeArrowheads="1"/>
          </p:cNvSpPr>
          <p:nvPr/>
        </p:nvSpPr>
        <p:spPr bwMode="auto">
          <a:xfrm>
            <a:off x="3706813" y="1989138"/>
            <a:ext cx="5437187" cy="3968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fr-FR" altLang="zh-CN" sz="2000" b="1">
                <a:solidFill>
                  <a:srgbClr val="FFFFCC"/>
                </a:solidFill>
                <a:latin typeface="Courier New" charset="0"/>
                <a:ea typeface="宋体" charset="0"/>
              </a:rPr>
              <a:t>Please input an integer:</a:t>
            </a:r>
            <a:endParaRPr kumimoji="1" lang="en-US" altLang="zh-CN" sz="2000" b="1">
              <a:solidFill>
                <a:srgbClr val="FFFFCC"/>
              </a:solidFill>
              <a:latin typeface="Courier New" charset="0"/>
              <a:ea typeface="宋体" charset="0"/>
            </a:endParaRPr>
          </a:p>
        </p:txBody>
      </p:sp>
      <p:sp>
        <p:nvSpPr>
          <p:cNvPr id="331780" name="Text Box 4"/>
          <p:cNvSpPr txBox="1">
            <a:spLocks noChangeArrowheads="1"/>
          </p:cNvSpPr>
          <p:nvPr/>
        </p:nvSpPr>
        <p:spPr bwMode="auto">
          <a:xfrm>
            <a:off x="3708400" y="1531938"/>
            <a:ext cx="5435600" cy="4572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Times New Roman" charset="0"/>
                <a:ea typeface="宋体" charset="0"/>
              </a:rPr>
              <a:t>希望得到的运行结果</a:t>
            </a:r>
          </a:p>
        </p:txBody>
      </p:sp>
      <p:sp>
        <p:nvSpPr>
          <p:cNvPr id="331781" name="Text Box 5"/>
          <p:cNvSpPr txBox="1">
            <a:spLocks noChangeArrowheads="1"/>
          </p:cNvSpPr>
          <p:nvPr/>
        </p:nvSpPr>
        <p:spPr bwMode="auto">
          <a:xfrm>
            <a:off x="7451725" y="2009775"/>
            <a:ext cx="792163" cy="3968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Courier New" charset="0"/>
                <a:ea typeface="宋体" charset="0"/>
              </a:rPr>
              <a:t>12↙</a:t>
            </a:r>
          </a:p>
        </p:txBody>
      </p:sp>
      <p:sp>
        <p:nvSpPr>
          <p:cNvPr id="331782" name="Text Box 6"/>
          <p:cNvSpPr txBox="1">
            <a:spLocks noChangeArrowheads="1"/>
          </p:cNvSpPr>
          <p:nvPr/>
        </p:nvSpPr>
        <p:spPr bwMode="auto">
          <a:xfrm>
            <a:off x="3706813" y="2767013"/>
            <a:ext cx="5437187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fr-FR" altLang="zh-CN" sz="2000" b="1">
                <a:solidFill>
                  <a:srgbClr val="FFFFCC"/>
                </a:solidFill>
                <a:latin typeface="Courier New" charset="0"/>
                <a:ea typeface="宋体" charset="0"/>
              </a:rPr>
              <a:t>Please input an character</a:t>
            </a:r>
            <a:r>
              <a:rPr kumimoji="1" lang="fr-FR" altLang="zh-CN" sz="2400">
                <a:latin typeface="Times New Roman" charset="0"/>
                <a:ea typeface="宋体" charset="0"/>
              </a:rPr>
              <a:t> </a:t>
            </a:r>
            <a:r>
              <a:rPr kumimoji="1" lang="fr-FR" altLang="zh-CN" sz="2000" b="1">
                <a:solidFill>
                  <a:srgbClr val="FFFFCC"/>
                </a:solidFill>
                <a:latin typeface="Courier New" charset="0"/>
                <a:ea typeface="宋体" charset="0"/>
              </a:rPr>
              <a:t>:</a:t>
            </a:r>
            <a:endParaRPr kumimoji="1" lang="en-US" altLang="zh-CN" sz="2000" b="1">
              <a:solidFill>
                <a:srgbClr val="FFFFCC"/>
              </a:solidFill>
              <a:latin typeface="Courier New" charset="0"/>
              <a:ea typeface="宋体" charset="0"/>
            </a:endParaRPr>
          </a:p>
        </p:txBody>
      </p:sp>
      <p:sp>
        <p:nvSpPr>
          <p:cNvPr id="331783" name="Text Box 7"/>
          <p:cNvSpPr txBox="1">
            <a:spLocks noChangeArrowheads="1"/>
          </p:cNvSpPr>
          <p:nvPr/>
        </p:nvSpPr>
        <p:spPr bwMode="auto">
          <a:xfrm>
            <a:off x="7883525" y="2844800"/>
            <a:ext cx="792163" cy="3968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Courier New" charset="0"/>
                <a:ea typeface="宋体" charset="0"/>
              </a:rPr>
              <a:t>a↙</a:t>
            </a:r>
          </a:p>
        </p:txBody>
      </p:sp>
      <p:sp>
        <p:nvSpPr>
          <p:cNvPr id="331784" name="Text Box 8"/>
          <p:cNvSpPr txBox="1">
            <a:spLocks noChangeArrowheads="1"/>
          </p:cNvSpPr>
          <p:nvPr/>
        </p:nvSpPr>
        <p:spPr bwMode="auto">
          <a:xfrm>
            <a:off x="3708400" y="3594100"/>
            <a:ext cx="4752975" cy="3968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fr-FR" altLang="zh-CN" sz="2000" b="1">
                <a:solidFill>
                  <a:srgbClr val="FFFFCC"/>
                </a:solidFill>
                <a:latin typeface="Courier New" charset="0"/>
                <a:ea typeface="宋体" charset="0"/>
              </a:rPr>
              <a:t>Please input a float number:</a:t>
            </a:r>
            <a:endParaRPr kumimoji="1" lang="en-US" altLang="zh-CN" sz="2000" b="1">
              <a:solidFill>
                <a:srgbClr val="FFFFCC"/>
              </a:solidFill>
              <a:latin typeface="Courier New" charset="0"/>
              <a:ea typeface="宋体" charset="0"/>
            </a:endParaRPr>
          </a:p>
        </p:txBody>
      </p:sp>
      <p:sp>
        <p:nvSpPr>
          <p:cNvPr id="331785" name="Text Box 9"/>
          <p:cNvSpPr txBox="1">
            <a:spLocks noChangeArrowheads="1"/>
          </p:cNvSpPr>
          <p:nvPr/>
        </p:nvSpPr>
        <p:spPr bwMode="auto">
          <a:xfrm>
            <a:off x="8086725" y="3608388"/>
            <a:ext cx="1057275" cy="3968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Courier New" charset="0"/>
                <a:ea typeface="宋体" charset="0"/>
              </a:rPr>
              <a:t>3.5↙</a:t>
            </a:r>
          </a:p>
        </p:txBody>
      </p:sp>
      <p:sp>
        <p:nvSpPr>
          <p:cNvPr id="331786" name="Text Box 10"/>
          <p:cNvSpPr txBox="1">
            <a:spLocks noChangeArrowheads="1"/>
          </p:cNvSpPr>
          <p:nvPr/>
        </p:nvSpPr>
        <p:spPr bwMode="auto">
          <a:xfrm>
            <a:off x="3708400" y="2363788"/>
            <a:ext cx="5435600" cy="3968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fr-FR" altLang="zh-CN" sz="2000" b="1">
                <a:solidFill>
                  <a:srgbClr val="FFFFCC"/>
                </a:solidFill>
                <a:latin typeface="Courier New" charset="0"/>
                <a:ea typeface="宋体" charset="0"/>
              </a:rPr>
              <a:t>integer:12</a:t>
            </a:r>
            <a:endParaRPr kumimoji="1" lang="en-US" altLang="zh-CN" sz="2000" b="1">
              <a:solidFill>
                <a:srgbClr val="FFFFCC"/>
              </a:solidFill>
              <a:latin typeface="Courier New" charset="0"/>
              <a:ea typeface="宋体" charset="0"/>
            </a:endParaRPr>
          </a:p>
        </p:txBody>
      </p:sp>
      <p:sp>
        <p:nvSpPr>
          <p:cNvPr id="331787" name="Text Box 11"/>
          <p:cNvSpPr txBox="1">
            <a:spLocks noChangeArrowheads="1"/>
          </p:cNvSpPr>
          <p:nvPr/>
        </p:nvSpPr>
        <p:spPr bwMode="auto">
          <a:xfrm>
            <a:off x="3708400" y="3154363"/>
            <a:ext cx="5435600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fr-FR" altLang="zh-CN" sz="2000" b="1">
                <a:solidFill>
                  <a:srgbClr val="FFFFCC"/>
                </a:solidFill>
                <a:latin typeface="Courier New" charset="0"/>
                <a:ea typeface="宋体" charset="0"/>
              </a:rPr>
              <a:t>character</a:t>
            </a:r>
            <a:r>
              <a:rPr kumimoji="1" lang="fr-FR" altLang="zh-CN" sz="2400">
                <a:latin typeface="Times New Roman" charset="0"/>
                <a:ea typeface="宋体" charset="0"/>
              </a:rPr>
              <a:t> </a:t>
            </a:r>
            <a:r>
              <a:rPr kumimoji="1" lang="fr-FR" altLang="zh-CN" sz="2000" b="1">
                <a:solidFill>
                  <a:srgbClr val="FFFFCC"/>
                </a:solidFill>
                <a:latin typeface="Courier New" charset="0"/>
                <a:ea typeface="宋体" charset="0"/>
              </a:rPr>
              <a:t>:a</a:t>
            </a:r>
            <a:endParaRPr kumimoji="1" lang="en-US" altLang="zh-CN" sz="2000" b="1">
              <a:solidFill>
                <a:srgbClr val="FFFFCC"/>
              </a:solidFill>
              <a:latin typeface="Courier New" charset="0"/>
              <a:ea typeface="宋体" charset="0"/>
            </a:endParaRPr>
          </a:p>
        </p:txBody>
      </p:sp>
      <p:sp>
        <p:nvSpPr>
          <p:cNvPr id="331788" name="Rectangle 12"/>
          <p:cNvSpPr>
            <a:spLocks noChangeArrowheads="1"/>
          </p:cNvSpPr>
          <p:nvPr/>
        </p:nvSpPr>
        <p:spPr bwMode="auto">
          <a:xfrm>
            <a:off x="3708400" y="3922713"/>
            <a:ext cx="5435600" cy="3968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kumimoji="1" lang="fr-FR" altLang="zh-CN" sz="2000" b="1">
                <a:solidFill>
                  <a:srgbClr val="FFFFCC"/>
                </a:solidFill>
                <a:latin typeface="Courier New" charset="0"/>
                <a:ea typeface="宋体" charset="0"/>
              </a:rPr>
              <a:t>float number:3.500000</a:t>
            </a:r>
            <a:endParaRPr kumimoji="1" lang="en-US" altLang="zh-CN" sz="2000" b="1">
              <a:solidFill>
                <a:srgbClr val="FFFFCC"/>
              </a:solidFill>
              <a:latin typeface="Courier New" charset="0"/>
              <a:ea typeface="宋体" charset="0"/>
            </a:endParaRPr>
          </a:p>
        </p:txBody>
      </p:sp>
      <p:sp>
        <p:nvSpPr>
          <p:cNvPr id="331789" name="Rectangle 13"/>
          <p:cNvSpPr>
            <a:spLocks noChangeArrowheads="1"/>
          </p:cNvSpPr>
          <p:nvPr/>
        </p:nvSpPr>
        <p:spPr bwMode="auto">
          <a:xfrm>
            <a:off x="539750" y="333375"/>
            <a:ext cx="8067675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C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格式符存在的问题及其解决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黑体" charset="0"/>
              </a:rPr>
              <a:t>—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例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3.12</a:t>
            </a:r>
            <a:endParaRPr kumimoji="1" lang="zh-CN" altLang="en-US" sz="4400" b="1" i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charset="0"/>
              <a:ea typeface="黑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18D65-4C7D-CD4F-AF0C-E3E6DB578EDB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50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79" grpId="0" animBg="1"/>
      <p:bldP spid="331780" grpId="0" animBg="1"/>
      <p:bldP spid="331781" grpId="0" animBg="1"/>
      <p:bldP spid="331782" grpId="0" animBg="1"/>
      <p:bldP spid="331783" grpId="0" animBg="1"/>
      <p:bldP spid="331784" grpId="0" animBg="1"/>
      <p:bldP spid="331785" grpId="0" animBg="1"/>
      <p:bldP spid="331786" grpId="0" animBg="1"/>
      <p:bldP spid="331787" grpId="0" animBg="1"/>
      <p:bldP spid="331788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Text Box 2"/>
          <p:cNvSpPr txBox="1">
            <a:spLocks noChangeArrowheads="1"/>
          </p:cNvSpPr>
          <p:nvPr/>
        </p:nvSpPr>
        <p:spPr bwMode="auto">
          <a:xfrm>
            <a:off x="34925" y="1484313"/>
            <a:ext cx="9109075" cy="4968875"/>
          </a:xfrm>
          <a:prstGeom prst="rect">
            <a:avLst/>
          </a:prstGeom>
          <a:solidFill>
            <a:srgbClr val="00008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include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&lt;stdio.h&gt;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main()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{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a;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char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b;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float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c;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printf("Please input an integer:");    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scanf("%d", &amp;a);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printf("integer: %d\n", a);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printf("Please input a character:");    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scanf("%c", &amp;b);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printf("character: %c\n", b);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printf("Please input a float number:");    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scanf("%f", &amp;c);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printf("float: %f\n", c);	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kumimoji="1" lang="en-US" altLang="zh-CN" sz="2000" b="1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32803" name="Text Box 3"/>
          <p:cNvSpPr txBox="1">
            <a:spLocks noChangeArrowheads="1"/>
          </p:cNvSpPr>
          <p:nvPr/>
        </p:nvSpPr>
        <p:spPr bwMode="auto">
          <a:xfrm>
            <a:off x="3706813" y="1989138"/>
            <a:ext cx="5437187" cy="3968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fr-FR" altLang="zh-CN" sz="2000" b="1">
                <a:solidFill>
                  <a:srgbClr val="FFFFCC"/>
                </a:solidFill>
                <a:latin typeface="Courier New" charset="0"/>
                <a:ea typeface="宋体" charset="0"/>
              </a:rPr>
              <a:t>Please input an integer:</a:t>
            </a:r>
            <a:endParaRPr kumimoji="1" lang="en-US" altLang="zh-CN" sz="2000" b="1">
              <a:solidFill>
                <a:srgbClr val="FFFFCC"/>
              </a:solidFill>
              <a:latin typeface="Courier New" charset="0"/>
              <a:ea typeface="宋体" charset="0"/>
            </a:endParaRPr>
          </a:p>
        </p:txBody>
      </p:sp>
      <p:sp>
        <p:nvSpPr>
          <p:cNvPr id="332804" name="Text Box 4"/>
          <p:cNvSpPr txBox="1">
            <a:spLocks noChangeArrowheads="1"/>
          </p:cNvSpPr>
          <p:nvPr/>
        </p:nvSpPr>
        <p:spPr bwMode="auto">
          <a:xfrm>
            <a:off x="3708400" y="1531938"/>
            <a:ext cx="5435600" cy="4572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Times New Roman" charset="0"/>
                <a:ea typeface="宋体" charset="0"/>
              </a:rPr>
              <a:t>结果好像很奇怪嘛！</a:t>
            </a:r>
          </a:p>
        </p:txBody>
      </p:sp>
      <p:sp>
        <p:nvSpPr>
          <p:cNvPr id="332805" name="Text Box 5"/>
          <p:cNvSpPr txBox="1">
            <a:spLocks noChangeArrowheads="1"/>
          </p:cNvSpPr>
          <p:nvPr/>
        </p:nvSpPr>
        <p:spPr bwMode="auto">
          <a:xfrm>
            <a:off x="7451725" y="2009775"/>
            <a:ext cx="792163" cy="3968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Courier New" charset="0"/>
                <a:ea typeface="宋体" charset="0"/>
              </a:rPr>
              <a:t>12↙</a:t>
            </a:r>
          </a:p>
        </p:txBody>
      </p:sp>
      <p:sp>
        <p:nvSpPr>
          <p:cNvPr id="332806" name="Text Box 6"/>
          <p:cNvSpPr txBox="1">
            <a:spLocks noChangeArrowheads="1"/>
          </p:cNvSpPr>
          <p:nvPr/>
        </p:nvSpPr>
        <p:spPr bwMode="auto">
          <a:xfrm>
            <a:off x="3706813" y="2767013"/>
            <a:ext cx="5437187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fr-FR" altLang="zh-CN" sz="2000" b="1">
                <a:solidFill>
                  <a:srgbClr val="FFFFCC"/>
                </a:solidFill>
                <a:latin typeface="Courier New" charset="0"/>
                <a:ea typeface="宋体" charset="0"/>
              </a:rPr>
              <a:t>Please input an character</a:t>
            </a:r>
            <a:r>
              <a:rPr kumimoji="1" lang="fr-FR" altLang="zh-CN" sz="2400">
                <a:latin typeface="Times New Roman" charset="0"/>
                <a:ea typeface="宋体" charset="0"/>
              </a:rPr>
              <a:t> </a:t>
            </a:r>
            <a:r>
              <a:rPr kumimoji="1" lang="fr-FR" altLang="zh-CN" sz="2000" b="1">
                <a:solidFill>
                  <a:srgbClr val="FFFFCC"/>
                </a:solidFill>
                <a:latin typeface="Courier New" charset="0"/>
                <a:ea typeface="宋体" charset="0"/>
              </a:rPr>
              <a:t>:</a:t>
            </a:r>
            <a:endParaRPr kumimoji="1" lang="en-US" altLang="zh-CN" sz="2000" b="1">
              <a:solidFill>
                <a:srgbClr val="FFFFCC"/>
              </a:solidFill>
              <a:latin typeface="Courier New" charset="0"/>
              <a:ea typeface="宋体" charset="0"/>
            </a:endParaRPr>
          </a:p>
        </p:txBody>
      </p:sp>
      <p:sp>
        <p:nvSpPr>
          <p:cNvPr id="332807" name="Text Box 7"/>
          <p:cNvSpPr txBox="1">
            <a:spLocks noChangeArrowheads="1"/>
          </p:cNvSpPr>
          <p:nvPr/>
        </p:nvSpPr>
        <p:spPr bwMode="auto">
          <a:xfrm>
            <a:off x="7812088" y="2852738"/>
            <a:ext cx="1331912" cy="366712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fr-FR" altLang="zh-CN" b="1">
                <a:solidFill>
                  <a:srgbClr val="FFFFCC"/>
                </a:solidFill>
                <a:ea typeface="宋体" charset="0"/>
              </a:rPr>
              <a:t>character:</a:t>
            </a:r>
            <a:endParaRPr kumimoji="1" lang="en-US" altLang="zh-CN" b="1">
              <a:solidFill>
                <a:srgbClr val="FFFFCC"/>
              </a:solidFill>
              <a:ea typeface="宋体" charset="0"/>
            </a:endParaRPr>
          </a:p>
        </p:txBody>
      </p:sp>
      <p:sp>
        <p:nvSpPr>
          <p:cNvPr id="332808" name="Text Box 8"/>
          <p:cNvSpPr txBox="1">
            <a:spLocks noChangeArrowheads="1"/>
          </p:cNvSpPr>
          <p:nvPr/>
        </p:nvSpPr>
        <p:spPr bwMode="auto">
          <a:xfrm>
            <a:off x="3708400" y="3594100"/>
            <a:ext cx="4752975" cy="3968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fr-FR" altLang="zh-CN" sz="2000" b="1">
                <a:solidFill>
                  <a:srgbClr val="FFFFCC"/>
                </a:solidFill>
                <a:latin typeface="Courier New" charset="0"/>
                <a:ea typeface="宋体" charset="0"/>
              </a:rPr>
              <a:t>Please input a float number:</a:t>
            </a:r>
            <a:endParaRPr kumimoji="1" lang="en-US" altLang="zh-CN" sz="2000" b="1">
              <a:solidFill>
                <a:srgbClr val="FFFFCC"/>
              </a:solidFill>
              <a:latin typeface="Courier New" charset="0"/>
              <a:ea typeface="宋体" charset="0"/>
            </a:endParaRPr>
          </a:p>
        </p:txBody>
      </p:sp>
      <p:sp>
        <p:nvSpPr>
          <p:cNvPr id="332809" name="Text Box 9"/>
          <p:cNvSpPr txBox="1">
            <a:spLocks noChangeArrowheads="1"/>
          </p:cNvSpPr>
          <p:nvPr/>
        </p:nvSpPr>
        <p:spPr bwMode="auto">
          <a:xfrm>
            <a:off x="8086725" y="3594100"/>
            <a:ext cx="1057275" cy="3968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Courier New" charset="0"/>
                <a:ea typeface="宋体" charset="0"/>
              </a:rPr>
              <a:t>3.5↙</a:t>
            </a:r>
          </a:p>
        </p:txBody>
      </p:sp>
      <p:sp>
        <p:nvSpPr>
          <p:cNvPr id="332810" name="Text Box 10"/>
          <p:cNvSpPr txBox="1">
            <a:spLocks noChangeArrowheads="1"/>
          </p:cNvSpPr>
          <p:nvPr/>
        </p:nvSpPr>
        <p:spPr bwMode="auto">
          <a:xfrm>
            <a:off x="3708400" y="2363788"/>
            <a:ext cx="5435600" cy="3968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fr-FR" altLang="zh-CN" sz="2000" b="1">
                <a:solidFill>
                  <a:srgbClr val="FFFFCC"/>
                </a:solidFill>
                <a:latin typeface="Courier New" charset="0"/>
                <a:ea typeface="宋体" charset="0"/>
              </a:rPr>
              <a:t>integer:12</a:t>
            </a:r>
            <a:endParaRPr kumimoji="1" lang="en-US" altLang="zh-CN" sz="2000" b="1">
              <a:solidFill>
                <a:srgbClr val="FFFFCC"/>
              </a:solidFill>
              <a:latin typeface="Courier New" charset="0"/>
              <a:ea typeface="宋体" charset="0"/>
            </a:endParaRPr>
          </a:p>
        </p:txBody>
      </p:sp>
      <p:sp>
        <p:nvSpPr>
          <p:cNvPr id="332811" name="Text Box 11"/>
          <p:cNvSpPr txBox="1">
            <a:spLocks noChangeArrowheads="1"/>
          </p:cNvSpPr>
          <p:nvPr/>
        </p:nvSpPr>
        <p:spPr bwMode="auto">
          <a:xfrm>
            <a:off x="3708400" y="3197225"/>
            <a:ext cx="5435600" cy="3968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endParaRPr kumimoji="1" lang="zh-CN" altLang="en-US" sz="2000" b="1">
              <a:solidFill>
                <a:srgbClr val="FFFFCC"/>
              </a:solidFill>
              <a:latin typeface="Courier New" charset="0"/>
              <a:ea typeface="宋体" charset="0"/>
            </a:endParaRPr>
          </a:p>
        </p:txBody>
      </p:sp>
      <p:sp>
        <p:nvSpPr>
          <p:cNvPr id="332812" name="Rectangle 12"/>
          <p:cNvSpPr>
            <a:spLocks noChangeArrowheads="1"/>
          </p:cNvSpPr>
          <p:nvPr/>
        </p:nvSpPr>
        <p:spPr bwMode="auto">
          <a:xfrm>
            <a:off x="3708400" y="3922713"/>
            <a:ext cx="5435600" cy="3968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kumimoji="1" lang="fr-FR" altLang="zh-CN" sz="2000" b="1">
                <a:solidFill>
                  <a:srgbClr val="FFFFCC"/>
                </a:solidFill>
                <a:latin typeface="Courier New" charset="0"/>
                <a:ea typeface="宋体" charset="0"/>
              </a:rPr>
              <a:t>float number:3.500000</a:t>
            </a:r>
            <a:endParaRPr kumimoji="1" lang="en-US" altLang="zh-CN" sz="2000" b="1">
              <a:solidFill>
                <a:srgbClr val="FFFFCC"/>
              </a:solidFill>
              <a:latin typeface="Courier New" charset="0"/>
              <a:ea typeface="宋体" charset="0"/>
            </a:endParaRPr>
          </a:p>
        </p:txBody>
      </p:sp>
      <p:sp>
        <p:nvSpPr>
          <p:cNvPr id="332813" name="Rectangle 13"/>
          <p:cNvSpPr>
            <a:spLocks noChangeArrowheads="1"/>
          </p:cNvSpPr>
          <p:nvPr/>
        </p:nvSpPr>
        <p:spPr bwMode="auto">
          <a:xfrm>
            <a:off x="539750" y="333375"/>
            <a:ext cx="8067675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C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格式符存在的问题及其解决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黑体" charset="0"/>
              </a:rPr>
              <a:t>—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例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3.12</a:t>
            </a:r>
            <a:endParaRPr kumimoji="1" lang="zh-CN" altLang="en-US" sz="4400" b="1" i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charset="0"/>
              <a:ea typeface="黑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E30A7-C46F-4E4F-BF49-B03BBFE4008F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51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32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2803" grpId="0" animBg="1"/>
      <p:bldP spid="332804" grpId="0" animBg="1"/>
      <p:bldP spid="332805" grpId="0" animBg="1"/>
      <p:bldP spid="332806" grpId="0" animBg="1"/>
      <p:bldP spid="332807" grpId="0" animBg="1"/>
      <p:bldP spid="332808" grpId="0" animBg="1"/>
      <p:bldP spid="332809" grpId="0" animBg="1"/>
      <p:bldP spid="332810" grpId="0" animBg="1"/>
      <p:bldP spid="332811" grpId="0" animBg="1"/>
      <p:bldP spid="33281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Text Box 2"/>
          <p:cNvSpPr txBox="1">
            <a:spLocks noChangeArrowheads="1"/>
          </p:cNvSpPr>
          <p:nvPr/>
        </p:nvSpPr>
        <p:spPr bwMode="auto">
          <a:xfrm>
            <a:off x="14288" y="1484313"/>
            <a:ext cx="9144000" cy="4968875"/>
          </a:xfrm>
          <a:prstGeom prst="rect">
            <a:avLst/>
          </a:prstGeom>
          <a:solidFill>
            <a:srgbClr val="00008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fr-FR" altLang="zh-CN" sz="2000" b="1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kumimoji="1" lang="fr-FR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include</a:t>
            </a:r>
            <a:r>
              <a:rPr kumimoji="1" lang="fr-FR" altLang="zh-CN" sz="2000" b="1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&lt;stdio.h&gt;</a:t>
            </a:r>
          </a:p>
          <a:p>
            <a:pPr>
              <a:defRPr/>
            </a:pPr>
            <a:r>
              <a:rPr kumimoji="1" lang="fr-FR" altLang="zh-CN" sz="2000" b="1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main()</a:t>
            </a:r>
          </a:p>
          <a:p>
            <a:pPr>
              <a:defRPr/>
            </a:pPr>
            <a:r>
              <a:rPr kumimoji="1" lang="fr-FR" altLang="zh-CN" sz="2000" b="1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{</a:t>
            </a:r>
          </a:p>
          <a:p>
            <a:pPr>
              <a:defRPr/>
            </a:pPr>
            <a:r>
              <a:rPr kumimoji="1" lang="fr-FR" altLang="zh-CN" sz="2000" b="1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</a:t>
            </a:r>
            <a:r>
              <a:rPr kumimoji="1" lang="fr-FR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kumimoji="1" lang="fr-FR" altLang="zh-CN" sz="2000" b="1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a;</a:t>
            </a:r>
          </a:p>
          <a:p>
            <a:pPr>
              <a:defRPr/>
            </a:pPr>
            <a:r>
              <a:rPr kumimoji="1" lang="fr-FR" altLang="zh-CN" sz="2000" b="1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</a:t>
            </a:r>
            <a:r>
              <a:rPr kumimoji="1" lang="fr-FR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char</a:t>
            </a:r>
            <a:r>
              <a:rPr kumimoji="1" lang="fr-FR" altLang="zh-CN" sz="2000" b="1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b;</a:t>
            </a:r>
          </a:p>
          <a:p>
            <a:pPr>
              <a:defRPr/>
            </a:pPr>
            <a:r>
              <a:rPr kumimoji="1" lang="fr-FR" altLang="zh-CN" sz="2000" b="1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</a:t>
            </a:r>
            <a:r>
              <a:rPr kumimoji="1" lang="fr-FR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float</a:t>
            </a:r>
            <a:r>
              <a:rPr kumimoji="1" lang="fr-FR" altLang="zh-CN" sz="2000" b="1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c;</a:t>
            </a:r>
          </a:p>
          <a:p>
            <a:pPr>
              <a:defRPr/>
            </a:pPr>
            <a:r>
              <a:rPr kumimoji="1" lang="fr-FR" altLang="zh-CN" sz="2000" b="1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printf("Please input an integer:");    </a:t>
            </a:r>
          </a:p>
          <a:p>
            <a:pPr>
              <a:defRPr/>
            </a:pPr>
            <a:r>
              <a:rPr kumimoji="1" lang="fr-FR" altLang="zh-CN" sz="2000" b="1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</a:t>
            </a:r>
            <a:r>
              <a:rPr kumimoji="1" lang="fr-FR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scanf("%d", &amp;a);</a:t>
            </a:r>
          </a:p>
          <a:p>
            <a:pPr>
              <a:defRPr/>
            </a:pPr>
            <a:r>
              <a:rPr kumimoji="1" lang="fr-FR" altLang="zh-CN" sz="2000" b="1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printf("integer: %d\n", a);</a:t>
            </a:r>
          </a:p>
          <a:p>
            <a:pPr>
              <a:defRPr/>
            </a:pPr>
            <a:r>
              <a:rPr kumimoji="1" lang="fr-FR" altLang="zh-CN" sz="2000" b="1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printf("Please input a character:");    </a:t>
            </a:r>
          </a:p>
          <a:p>
            <a:pPr>
              <a:defRPr/>
            </a:pPr>
            <a:r>
              <a:rPr kumimoji="1" lang="fr-FR" altLang="zh-CN" sz="2000" b="1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scanf("%</a:t>
            </a:r>
            <a:r>
              <a:rPr kumimoji="1" lang="fr-FR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c</a:t>
            </a:r>
            <a:r>
              <a:rPr kumimoji="1" lang="fr-FR" altLang="zh-CN" sz="2000" b="1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", &amp;b);</a:t>
            </a:r>
          </a:p>
          <a:p>
            <a:pPr>
              <a:defRPr/>
            </a:pPr>
            <a:r>
              <a:rPr kumimoji="1" lang="fr-FR" altLang="zh-CN" sz="2000" b="1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printf("character: %c\n", b);</a:t>
            </a:r>
          </a:p>
          <a:p>
            <a:pPr>
              <a:defRPr/>
            </a:pPr>
            <a:r>
              <a:rPr kumimoji="1" lang="fr-FR" altLang="zh-CN" sz="2000" b="1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printf("Please input a float number:");    </a:t>
            </a:r>
          </a:p>
          <a:p>
            <a:pPr>
              <a:defRPr/>
            </a:pPr>
            <a:r>
              <a:rPr kumimoji="1" lang="fr-FR" altLang="zh-CN" sz="2000" b="1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scanf("%f", &amp;c);</a:t>
            </a:r>
          </a:p>
          <a:p>
            <a:pPr>
              <a:defRPr/>
            </a:pPr>
            <a:r>
              <a:rPr kumimoji="1" lang="fr-FR" altLang="zh-CN" sz="2000" b="1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printf("float: %f\n", c);	</a:t>
            </a:r>
          </a:p>
          <a:p>
            <a:pPr>
              <a:defRPr/>
            </a:pPr>
            <a:r>
              <a:rPr kumimoji="1" lang="fr-FR" altLang="zh-CN" sz="2000" b="1" dirty="0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kumimoji="1" lang="en-US" altLang="zh-CN" sz="2000" b="1" dirty="0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33827" name="Rectangle 3"/>
          <p:cNvSpPr>
            <a:spLocks noChangeArrowheads="1"/>
          </p:cNvSpPr>
          <p:nvPr/>
        </p:nvSpPr>
        <p:spPr bwMode="auto">
          <a:xfrm>
            <a:off x="539750" y="333375"/>
            <a:ext cx="8067675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C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格式符存在的问题及其解决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黑体" charset="0"/>
              </a:rPr>
              <a:t>—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例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3.12</a:t>
            </a:r>
            <a:endParaRPr kumimoji="1" lang="zh-CN" altLang="en-US" sz="4400" b="1" i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charset="0"/>
              <a:ea typeface="黑体" charset="0"/>
            </a:endParaRPr>
          </a:p>
        </p:txBody>
      </p:sp>
      <p:sp>
        <p:nvSpPr>
          <p:cNvPr id="41988" name="圆角矩形标注 4"/>
          <p:cNvSpPr>
            <a:spLocks noChangeArrowheads="1"/>
          </p:cNvSpPr>
          <p:nvPr/>
        </p:nvSpPr>
        <p:spPr bwMode="auto">
          <a:xfrm>
            <a:off x="3357563" y="1643063"/>
            <a:ext cx="3071812" cy="1328737"/>
          </a:xfrm>
          <a:prstGeom prst="wedgeRoundRectCallout">
            <a:avLst>
              <a:gd name="adj1" fmla="val -64088"/>
              <a:gd name="adj2" fmla="val 105213"/>
              <a:gd name="adj3" fmla="val 16667"/>
            </a:avLst>
          </a:prstGeom>
          <a:noFill/>
          <a:ln w="38100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zh-CN" altLang="en-US">
                <a:solidFill>
                  <a:srgbClr val="FFFF00"/>
                </a:solidFill>
              </a:rPr>
              <a:t>输入数据</a:t>
            </a:r>
            <a:r>
              <a:rPr lang="en-US" altLang="zh-CN">
                <a:solidFill>
                  <a:srgbClr val="FFFF00"/>
                </a:solidFill>
              </a:rPr>
              <a:t>12</a:t>
            </a:r>
            <a:r>
              <a:rPr lang="zh-CN" altLang="en-US">
                <a:solidFill>
                  <a:srgbClr val="FFFF00"/>
                </a:solidFill>
              </a:rPr>
              <a:t>后，按的回车键被当作有效字符读给字符型变量</a:t>
            </a:r>
            <a:r>
              <a:rPr lang="en-US" altLang="zh-CN">
                <a:solidFill>
                  <a:srgbClr val="FFFF00"/>
                </a:solidFill>
              </a:rPr>
              <a:t>b</a:t>
            </a:r>
            <a:r>
              <a:rPr lang="zh-CN" altLang="en-US">
                <a:solidFill>
                  <a:srgbClr val="FFFF00"/>
                </a:solidFill>
              </a:rPr>
              <a:t>了。</a:t>
            </a:r>
          </a:p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E6F3B-8643-F046-815F-A4E852B9864C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52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Text Box 2"/>
          <p:cNvSpPr txBox="1">
            <a:spLocks noChangeArrowheads="1"/>
          </p:cNvSpPr>
          <p:nvPr/>
        </p:nvSpPr>
        <p:spPr bwMode="auto">
          <a:xfrm>
            <a:off x="14288" y="1484313"/>
            <a:ext cx="9144000" cy="5273675"/>
          </a:xfrm>
          <a:prstGeom prst="rect">
            <a:avLst/>
          </a:prstGeom>
          <a:solidFill>
            <a:srgbClr val="00008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#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include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&lt;stdio.h&gt;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main()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{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int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a;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char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b;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float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c;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printf("Please input an integer:");    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scanf("%d", &amp;a);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printf("integer: %d\n", a);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printf("Please input a character:");    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</a:t>
            </a:r>
            <a:r>
              <a:rPr kumimoji="1" lang="fr-FR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getchar();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/*</a:t>
            </a:r>
            <a:r>
              <a:rPr kumimoji="1" lang="zh-CN" altLang="fr-FR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吸收掉前面输入整型数据后面键入的回车字符</a:t>
            </a:r>
            <a:r>
              <a:rPr kumimoji="1" lang="zh-CN" altLang="fr-FR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*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/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scanf("%</a:t>
            </a:r>
            <a:r>
              <a:rPr kumimoji="1" lang="fr-FR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c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", &amp;b);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printf("character: %c\n", b);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printf("Please input a float number:");    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scanf("%f", &amp;c);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printf("float: %f\n", c);	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}</a:t>
            </a:r>
            <a:endParaRPr kumimoji="1" lang="en-US" altLang="zh-CN" sz="2000" b="1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charset="0"/>
              <a:ea typeface="宋体" charset="0"/>
            </a:endParaRPr>
          </a:p>
        </p:txBody>
      </p:sp>
      <p:sp>
        <p:nvSpPr>
          <p:cNvPr id="334851" name="Text Box 3"/>
          <p:cNvSpPr txBox="1">
            <a:spLocks noChangeArrowheads="1"/>
          </p:cNvSpPr>
          <p:nvPr/>
        </p:nvSpPr>
        <p:spPr bwMode="auto">
          <a:xfrm>
            <a:off x="3706813" y="1989138"/>
            <a:ext cx="5437187" cy="3968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fr-FR" altLang="zh-CN" sz="2000" b="1">
                <a:solidFill>
                  <a:srgbClr val="FFFFCC"/>
                </a:solidFill>
                <a:latin typeface="Courier New" charset="0"/>
                <a:ea typeface="宋体" charset="0"/>
              </a:rPr>
              <a:t>Please input an integer:</a:t>
            </a:r>
            <a:endParaRPr kumimoji="1" lang="en-US" altLang="zh-CN" sz="2000" b="1">
              <a:solidFill>
                <a:srgbClr val="FFFFCC"/>
              </a:solidFill>
              <a:latin typeface="Courier New" charset="0"/>
              <a:ea typeface="宋体" charset="0"/>
            </a:endParaRPr>
          </a:p>
        </p:txBody>
      </p:sp>
      <p:sp>
        <p:nvSpPr>
          <p:cNvPr id="334852" name="Text Box 4"/>
          <p:cNvSpPr txBox="1">
            <a:spLocks noChangeArrowheads="1"/>
          </p:cNvSpPr>
          <p:nvPr/>
        </p:nvSpPr>
        <p:spPr bwMode="auto">
          <a:xfrm>
            <a:off x="3708400" y="1531938"/>
            <a:ext cx="5435600" cy="4572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Times New Roman" charset="0"/>
                <a:ea typeface="宋体" charset="0"/>
              </a:rPr>
              <a:t>程序修改后得到的运行结果</a:t>
            </a:r>
          </a:p>
        </p:txBody>
      </p:sp>
      <p:sp>
        <p:nvSpPr>
          <p:cNvPr id="334853" name="Text Box 5"/>
          <p:cNvSpPr txBox="1">
            <a:spLocks noChangeArrowheads="1"/>
          </p:cNvSpPr>
          <p:nvPr/>
        </p:nvSpPr>
        <p:spPr bwMode="auto">
          <a:xfrm>
            <a:off x="7451725" y="2009775"/>
            <a:ext cx="792163" cy="3968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Courier New" charset="0"/>
                <a:ea typeface="宋体" charset="0"/>
              </a:rPr>
              <a:t>12↙</a:t>
            </a:r>
          </a:p>
        </p:txBody>
      </p:sp>
      <p:sp>
        <p:nvSpPr>
          <p:cNvPr id="334854" name="Text Box 6"/>
          <p:cNvSpPr txBox="1">
            <a:spLocks noChangeArrowheads="1"/>
          </p:cNvSpPr>
          <p:nvPr/>
        </p:nvSpPr>
        <p:spPr bwMode="auto">
          <a:xfrm>
            <a:off x="3706813" y="2767013"/>
            <a:ext cx="5437187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fr-FR" altLang="zh-CN" sz="2000" b="1">
                <a:solidFill>
                  <a:srgbClr val="FFFFCC"/>
                </a:solidFill>
                <a:latin typeface="Courier New" charset="0"/>
                <a:ea typeface="宋体" charset="0"/>
              </a:rPr>
              <a:t>Please input an character</a:t>
            </a:r>
            <a:r>
              <a:rPr kumimoji="1" lang="fr-FR" altLang="zh-CN" sz="2400">
                <a:latin typeface="Times New Roman" charset="0"/>
                <a:ea typeface="宋体" charset="0"/>
              </a:rPr>
              <a:t> </a:t>
            </a:r>
            <a:r>
              <a:rPr kumimoji="1" lang="fr-FR" altLang="zh-CN" sz="2000" b="1">
                <a:solidFill>
                  <a:srgbClr val="FFFFCC"/>
                </a:solidFill>
                <a:latin typeface="Courier New" charset="0"/>
                <a:ea typeface="宋体" charset="0"/>
              </a:rPr>
              <a:t>:</a:t>
            </a:r>
            <a:endParaRPr kumimoji="1" lang="en-US" altLang="zh-CN" sz="2000" b="1">
              <a:solidFill>
                <a:srgbClr val="FFFFCC"/>
              </a:solidFill>
              <a:latin typeface="Courier New" charset="0"/>
              <a:ea typeface="宋体" charset="0"/>
            </a:endParaRPr>
          </a:p>
        </p:txBody>
      </p:sp>
      <p:sp>
        <p:nvSpPr>
          <p:cNvPr id="334855" name="Text Box 7"/>
          <p:cNvSpPr txBox="1">
            <a:spLocks noChangeArrowheads="1"/>
          </p:cNvSpPr>
          <p:nvPr/>
        </p:nvSpPr>
        <p:spPr bwMode="auto">
          <a:xfrm>
            <a:off x="7883525" y="2844800"/>
            <a:ext cx="792163" cy="3968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Courier New" charset="0"/>
                <a:ea typeface="宋体" charset="0"/>
              </a:rPr>
              <a:t>a↙</a:t>
            </a:r>
          </a:p>
        </p:txBody>
      </p:sp>
      <p:sp>
        <p:nvSpPr>
          <p:cNvPr id="334856" name="Text Box 8"/>
          <p:cNvSpPr txBox="1">
            <a:spLocks noChangeArrowheads="1"/>
          </p:cNvSpPr>
          <p:nvPr/>
        </p:nvSpPr>
        <p:spPr bwMode="auto">
          <a:xfrm>
            <a:off x="3708400" y="3594100"/>
            <a:ext cx="4752975" cy="3968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fr-FR" altLang="zh-CN" sz="2000" b="1">
                <a:solidFill>
                  <a:srgbClr val="FFFFCC"/>
                </a:solidFill>
                <a:latin typeface="Courier New" charset="0"/>
                <a:ea typeface="宋体" charset="0"/>
              </a:rPr>
              <a:t>Please input a float number:</a:t>
            </a:r>
            <a:endParaRPr kumimoji="1" lang="en-US" altLang="zh-CN" sz="2000" b="1">
              <a:solidFill>
                <a:srgbClr val="FFFFCC"/>
              </a:solidFill>
              <a:latin typeface="Courier New" charset="0"/>
              <a:ea typeface="宋体" charset="0"/>
            </a:endParaRPr>
          </a:p>
        </p:txBody>
      </p:sp>
      <p:sp>
        <p:nvSpPr>
          <p:cNvPr id="334857" name="Text Box 9"/>
          <p:cNvSpPr txBox="1">
            <a:spLocks noChangeArrowheads="1"/>
          </p:cNvSpPr>
          <p:nvPr/>
        </p:nvSpPr>
        <p:spPr bwMode="auto">
          <a:xfrm>
            <a:off x="8086725" y="3608388"/>
            <a:ext cx="1057275" cy="3968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en-US" altLang="zh-CN" sz="2000" b="1">
                <a:solidFill>
                  <a:schemeClr val="bg1"/>
                </a:solidFill>
                <a:latin typeface="Courier New" charset="0"/>
                <a:ea typeface="宋体" charset="0"/>
              </a:rPr>
              <a:t>3.5↙</a:t>
            </a:r>
          </a:p>
        </p:txBody>
      </p:sp>
      <p:sp>
        <p:nvSpPr>
          <p:cNvPr id="334858" name="Text Box 10"/>
          <p:cNvSpPr txBox="1">
            <a:spLocks noChangeArrowheads="1"/>
          </p:cNvSpPr>
          <p:nvPr/>
        </p:nvSpPr>
        <p:spPr bwMode="auto">
          <a:xfrm>
            <a:off x="3708400" y="2363788"/>
            <a:ext cx="5435600" cy="3968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fr-FR" altLang="zh-CN" sz="2000" b="1">
                <a:solidFill>
                  <a:srgbClr val="FFFFCC"/>
                </a:solidFill>
                <a:latin typeface="Courier New" charset="0"/>
                <a:ea typeface="宋体" charset="0"/>
              </a:rPr>
              <a:t>integer:12</a:t>
            </a:r>
            <a:endParaRPr kumimoji="1" lang="en-US" altLang="zh-CN" sz="2000" b="1">
              <a:solidFill>
                <a:srgbClr val="FFFFCC"/>
              </a:solidFill>
              <a:latin typeface="Courier New" charset="0"/>
              <a:ea typeface="宋体" charset="0"/>
            </a:endParaRPr>
          </a:p>
        </p:txBody>
      </p:sp>
      <p:sp>
        <p:nvSpPr>
          <p:cNvPr id="334859" name="Text Box 11"/>
          <p:cNvSpPr txBox="1">
            <a:spLocks noChangeArrowheads="1"/>
          </p:cNvSpPr>
          <p:nvPr/>
        </p:nvSpPr>
        <p:spPr bwMode="auto">
          <a:xfrm>
            <a:off x="3708400" y="3154363"/>
            <a:ext cx="5435600" cy="45720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fr-FR" altLang="zh-CN" sz="2000" b="1">
                <a:solidFill>
                  <a:srgbClr val="FFFFCC"/>
                </a:solidFill>
                <a:latin typeface="Courier New" charset="0"/>
                <a:ea typeface="宋体" charset="0"/>
              </a:rPr>
              <a:t>character</a:t>
            </a:r>
            <a:r>
              <a:rPr kumimoji="1" lang="fr-FR" altLang="zh-CN" sz="2400">
                <a:latin typeface="Times New Roman" charset="0"/>
                <a:ea typeface="宋体" charset="0"/>
              </a:rPr>
              <a:t> </a:t>
            </a:r>
            <a:r>
              <a:rPr kumimoji="1" lang="fr-FR" altLang="zh-CN" sz="2000" b="1">
                <a:solidFill>
                  <a:srgbClr val="FFFFCC"/>
                </a:solidFill>
                <a:latin typeface="Courier New" charset="0"/>
                <a:ea typeface="宋体" charset="0"/>
              </a:rPr>
              <a:t>:a</a:t>
            </a:r>
            <a:endParaRPr kumimoji="1" lang="en-US" altLang="zh-CN" sz="2000" b="1">
              <a:solidFill>
                <a:srgbClr val="FFFFCC"/>
              </a:solidFill>
              <a:latin typeface="Courier New" charset="0"/>
              <a:ea typeface="宋体" charset="0"/>
            </a:endParaRPr>
          </a:p>
        </p:txBody>
      </p:sp>
      <p:sp>
        <p:nvSpPr>
          <p:cNvPr id="334860" name="Rectangle 12"/>
          <p:cNvSpPr>
            <a:spLocks noChangeArrowheads="1"/>
          </p:cNvSpPr>
          <p:nvPr/>
        </p:nvSpPr>
        <p:spPr bwMode="auto">
          <a:xfrm>
            <a:off x="3708400" y="3922713"/>
            <a:ext cx="5435600" cy="39687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kumimoji="1" lang="fr-FR" altLang="zh-CN" sz="2000" b="1">
                <a:solidFill>
                  <a:srgbClr val="FFFFCC"/>
                </a:solidFill>
                <a:latin typeface="Courier New" charset="0"/>
                <a:ea typeface="宋体" charset="0"/>
              </a:rPr>
              <a:t>float number:3.500000</a:t>
            </a:r>
            <a:endParaRPr kumimoji="1" lang="en-US" altLang="zh-CN" sz="2000" b="1">
              <a:solidFill>
                <a:srgbClr val="FFFFCC"/>
              </a:solidFill>
              <a:latin typeface="Courier New" charset="0"/>
              <a:ea typeface="宋体" charset="0"/>
            </a:endParaRPr>
          </a:p>
        </p:txBody>
      </p:sp>
      <p:sp>
        <p:nvSpPr>
          <p:cNvPr id="334861" name="Rectangle 13"/>
          <p:cNvSpPr>
            <a:spLocks noChangeArrowheads="1"/>
          </p:cNvSpPr>
          <p:nvPr/>
        </p:nvSpPr>
        <p:spPr bwMode="auto">
          <a:xfrm>
            <a:off x="539750" y="333375"/>
            <a:ext cx="8067675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C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格式符存在的问题及其解决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黑体" charset="0"/>
              </a:rPr>
              <a:t>—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例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3.12</a:t>
            </a:r>
            <a:endParaRPr kumimoji="1" lang="zh-CN" altLang="en-US" sz="4400" b="1" i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charset="0"/>
              <a:ea typeface="黑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070BAD-503F-0641-BE66-1566BE67C143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53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4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1" grpId="0" animBg="1"/>
      <p:bldP spid="334852" grpId="0" animBg="1"/>
      <p:bldP spid="334853" grpId="0" animBg="1"/>
      <p:bldP spid="334854" grpId="0" animBg="1"/>
      <p:bldP spid="334855" grpId="0" animBg="1"/>
      <p:bldP spid="334856" grpId="0" animBg="1"/>
      <p:bldP spid="334857" grpId="0" animBg="1"/>
      <p:bldP spid="334858" grpId="0" animBg="1"/>
      <p:bldP spid="334859" grpId="0" animBg="1"/>
      <p:bldP spid="33486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Text Box 2"/>
          <p:cNvSpPr txBox="1">
            <a:spLocks noChangeArrowheads="1"/>
          </p:cNvSpPr>
          <p:nvPr/>
        </p:nvSpPr>
        <p:spPr bwMode="auto">
          <a:xfrm>
            <a:off x="14288" y="1484313"/>
            <a:ext cx="9144000" cy="4968875"/>
          </a:xfrm>
          <a:prstGeom prst="rect">
            <a:avLst/>
          </a:prstGeom>
          <a:solidFill>
            <a:srgbClr val="00008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#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include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&lt;stdio.h&gt;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main()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{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int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a;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char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b;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float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c;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printf("Please input an integer:");    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scanf("%d", &amp;a);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printf("integer: %d\n", a);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printf("Please input a character:");    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scanf(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</a:rPr>
              <a:t>"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%</a:t>
            </a:r>
            <a:r>
              <a:rPr kumimoji="1" lang="fr-FR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1s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</a:rPr>
              <a:t>"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, &amp;b); /*</a:t>
            </a:r>
            <a:r>
              <a:rPr kumimoji="1" lang="zh-CN" altLang="fr-FR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第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2</a:t>
            </a:r>
            <a:r>
              <a:rPr kumimoji="1" lang="zh-CN" altLang="fr-FR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种解决方案*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/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printf("character: %c\n", b);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printf("Please input a float number:");    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scanf("%f", &amp;c);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    printf("float: %f\n", c);	</a:t>
            </a:r>
          </a:p>
          <a:p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charset="0"/>
                <a:ea typeface="宋体" charset="0"/>
              </a:rPr>
              <a:t>}</a:t>
            </a:r>
            <a:endParaRPr kumimoji="1" lang="en-US" altLang="zh-CN" sz="2000" b="1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charset="0"/>
              <a:ea typeface="宋体" charset="0"/>
            </a:endParaRPr>
          </a:p>
        </p:txBody>
      </p:sp>
      <p:sp>
        <p:nvSpPr>
          <p:cNvPr id="335875" name="Rectangle 3"/>
          <p:cNvSpPr>
            <a:spLocks noChangeArrowheads="1"/>
          </p:cNvSpPr>
          <p:nvPr/>
        </p:nvSpPr>
        <p:spPr bwMode="auto">
          <a:xfrm>
            <a:off x="539750" y="333375"/>
            <a:ext cx="8067675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C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格式符存在的问题及其解决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charset="0"/>
                <a:ea typeface="黑体" charset="0"/>
              </a:rPr>
              <a:t>—</a:t>
            </a:r>
            <a:r>
              <a:rPr kumimoji="1" lang="zh-CN" altLang="en-US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例</a:t>
            </a:r>
            <a:r>
              <a:rPr kumimoji="1" lang="en-US" altLang="zh-CN" sz="44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3.12</a:t>
            </a:r>
            <a:endParaRPr kumimoji="1" lang="zh-CN" altLang="en-US" sz="4400" b="1" i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charset="0"/>
              <a:ea typeface="黑体" charset="0"/>
            </a:endParaRPr>
          </a:p>
        </p:txBody>
      </p:sp>
      <p:sp>
        <p:nvSpPr>
          <p:cNvPr id="335876" name="Text Box 4"/>
          <p:cNvSpPr txBox="1">
            <a:spLocks noChangeArrowheads="1"/>
          </p:cNvSpPr>
          <p:nvPr/>
        </p:nvSpPr>
        <p:spPr bwMode="auto">
          <a:xfrm>
            <a:off x="3348038" y="1628775"/>
            <a:ext cx="5795962" cy="16002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</a:pPr>
            <a:r>
              <a:rPr kumimoji="1" lang="zh-CN" altLang="en-US" sz="22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Times New Roman" charset="0"/>
                <a:ea typeface="宋体" charset="0"/>
              </a:rPr>
              <a:t>这里</a:t>
            </a:r>
            <a:r>
              <a:rPr kumimoji="1" lang="en-US" altLang="zh-CN" sz="22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Times New Roman" charset="0"/>
                <a:ea typeface="宋体" charset="0"/>
              </a:rPr>
              <a:t>s</a:t>
            </a:r>
            <a:r>
              <a:rPr kumimoji="1" lang="zh-CN" altLang="en-US" sz="22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Times New Roman" charset="0"/>
                <a:ea typeface="宋体" charset="0"/>
              </a:rPr>
              <a:t>前面的符号是数字</a:t>
            </a:r>
            <a:r>
              <a:rPr kumimoji="1" lang="en-US" altLang="zh-CN" sz="22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Times New Roman" charset="0"/>
                <a:ea typeface="宋体" charset="0"/>
              </a:rPr>
              <a:t>1</a:t>
            </a:r>
            <a:r>
              <a:rPr kumimoji="1" lang="zh-CN" altLang="en-US" sz="22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Times New Roman" charset="0"/>
                <a:ea typeface="宋体" charset="0"/>
              </a:rPr>
              <a:t>，不是字母</a:t>
            </a:r>
            <a:r>
              <a:rPr kumimoji="1" lang="en-US" altLang="zh-CN" sz="22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Times New Roman" charset="0"/>
                <a:ea typeface="宋体" charset="0"/>
              </a:rPr>
              <a:t>L</a:t>
            </a:r>
            <a:r>
              <a:rPr kumimoji="1" lang="zh-CN" altLang="en-US" sz="22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Times New Roman" charset="0"/>
                <a:ea typeface="宋体" charset="0"/>
              </a:rPr>
              <a:t>的小写</a:t>
            </a:r>
          </a:p>
          <a:p>
            <a:pPr>
              <a:spcBef>
                <a:spcPct val="50000"/>
              </a:spcBef>
            </a:pPr>
            <a:r>
              <a:rPr kumimoji="1" lang="zh-CN" altLang="en-US" sz="22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Times New Roman" charset="0"/>
                <a:ea typeface="宋体" charset="0"/>
              </a:rPr>
              <a:t>将程序的</a:t>
            </a:r>
            <a:r>
              <a:rPr kumimoji="1" lang="en-US" altLang="zh-CN" sz="2200" b="1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charset="0"/>
                <a:ea typeface="宋体" charset="0"/>
              </a:rPr>
              <a:t>%c</a:t>
            </a:r>
            <a:r>
              <a:rPr kumimoji="1" lang="zh-CN" altLang="en-US" sz="22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Times New Roman" charset="0"/>
                <a:ea typeface="宋体" charset="0"/>
              </a:rPr>
              <a:t>改为</a:t>
            </a:r>
            <a:r>
              <a:rPr kumimoji="1" lang="en-US" altLang="zh-CN" sz="2200" b="1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charset="0"/>
                <a:ea typeface="宋体" charset="0"/>
              </a:rPr>
              <a:t>%1s</a:t>
            </a:r>
            <a:r>
              <a:rPr kumimoji="1" lang="zh-CN" altLang="en-US" sz="22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Times New Roman" charset="0"/>
                <a:ea typeface="宋体" charset="0"/>
              </a:rPr>
              <a:t>用于读入单个字符，由于</a:t>
            </a:r>
            <a:r>
              <a:rPr kumimoji="1" lang="en-US" altLang="zh-CN" sz="2200" b="1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Times New Roman" charset="0"/>
                <a:ea typeface="宋体" charset="0"/>
              </a:rPr>
              <a:t>%1s</a:t>
            </a:r>
            <a:r>
              <a:rPr kumimoji="1" lang="zh-CN" altLang="en-US" sz="22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ea typeface="宋体" charset="0"/>
              </a:rPr>
              <a:t>完全忽略空格和回车符，可以避免回车符被作为单个字符读入。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3FA9E-3A52-E84E-8E83-CE13664535B0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54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87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3" name="Text Box 3"/>
          <p:cNvSpPr txBox="1">
            <a:spLocks noChangeArrowheads="1"/>
          </p:cNvSpPr>
          <p:nvPr/>
        </p:nvSpPr>
        <p:spPr bwMode="auto">
          <a:xfrm>
            <a:off x="611188" y="2559050"/>
            <a:ext cx="7848600" cy="3749675"/>
          </a:xfrm>
          <a:prstGeom prst="rect">
            <a:avLst/>
          </a:prstGeom>
          <a:solidFill>
            <a:srgbClr val="000080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#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include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&lt;stdio.h&gt;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main()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{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int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data1, data2, sum;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</a:t>
            </a:r>
            <a:r>
              <a:rPr kumimoji="1" lang="fr-FR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char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op;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 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printf("Please enter the expression 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	  data1 + data2\n");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scanf("%d%</a:t>
            </a:r>
            <a:r>
              <a:rPr kumimoji="1" lang="fr-FR" altLang="zh-CN" sz="2000" b="1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1s</a:t>
            </a: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%d",&amp;data1, &amp;op, &amp;data2);	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	printf("%d%c%d = %d\n", 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              data1, op, data2, data1+data2);</a:t>
            </a:r>
          </a:p>
          <a:p>
            <a:pPr>
              <a:defRPr/>
            </a:pPr>
            <a:r>
              <a:rPr kumimoji="1" lang="fr-FR" altLang="zh-CN" sz="2000" b="1">
                <a:solidFill>
                  <a:srgbClr val="FFFF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itchFamily="49" charset="0"/>
                <a:ea typeface="宋体" pitchFamily="2" charset="-122"/>
              </a:rPr>
              <a:t>}</a:t>
            </a:r>
            <a:endParaRPr kumimoji="1" lang="en-US" altLang="zh-CN" sz="2000" b="1">
              <a:solidFill>
                <a:srgbClr val="FFFF99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Courier New" pitchFamily="49" charset="0"/>
              <a:ea typeface="宋体" pitchFamily="2" charset="-122"/>
            </a:endParaRPr>
          </a:p>
        </p:txBody>
      </p:sp>
      <p:sp>
        <p:nvSpPr>
          <p:cNvPr id="307204" name="Text Box 4"/>
          <p:cNvSpPr txBox="1">
            <a:spLocks noChangeArrowheads="1"/>
          </p:cNvSpPr>
          <p:nvPr/>
        </p:nvSpPr>
        <p:spPr bwMode="auto">
          <a:xfrm>
            <a:off x="611188" y="1557338"/>
            <a:ext cx="1727200" cy="3968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Courier New" pitchFamily="49" charset="0"/>
                <a:ea typeface="宋体" pitchFamily="2" charset="-122"/>
              </a:rPr>
              <a:t>12+3↙</a:t>
            </a:r>
          </a:p>
        </p:txBody>
      </p:sp>
      <p:sp>
        <p:nvSpPr>
          <p:cNvPr id="307205" name="Text Box 5"/>
          <p:cNvSpPr txBox="1">
            <a:spLocks noChangeArrowheads="1"/>
          </p:cNvSpPr>
          <p:nvPr/>
        </p:nvSpPr>
        <p:spPr bwMode="auto">
          <a:xfrm>
            <a:off x="2484438" y="1557338"/>
            <a:ext cx="1727200" cy="396875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Courier New" pitchFamily="49" charset="0"/>
                <a:ea typeface="宋体" pitchFamily="2" charset="-122"/>
              </a:rPr>
              <a:t>12 + 3↙</a:t>
            </a:r>
          </a:p>
        </p:txBody>
      </p:sp>
      <p:sp>
        <p:nvSpPr>
          <p:cNvPr id="307206" name="Text Box 6"/>
          <p:cNvSpPr txBox="1">
            <a:spLocks noChangeArrowheads="1"/>
          </p:cNvSpPr>
          <p:nvPr/>
        </p:nvSpPr>
        <p:spPr bwMode="auto">
          <a:xfrm>
            <a:off x="4787900" y="1484313"/>
            <a:ext cx="1727200" cy="94456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kumimoji="1"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Courier New" pitchFamily="49" charset="0"/>
                <a:ea typeface="宋体" pitchFamily="2" charset="-122"/>
              </a:rPr>
              <a:t>12</a:t>
            </a: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Times New Roman" pitchFamily="18" charset="0"/>
                <a:ea typeface="宋体" pitchFamily="2" charset="-122"/>
              </a:rPr>
              <a:t>↙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kumimoji="1"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Courier New" pitchFamily="49" charset="0"/>
                <a:ea typeface="宋体" pitchFamily="2" charset="-122"/>
              </a:rPr>
              <a:t>+</a:t>
            </a:r>
            <a:r>
              <a:rPr kumimoji="1" lang="en-US" altLang="zh-CN" sz="24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Times New Roman" pitchFamily="18" charset="0"/>
                <a:ea typeface="宋体" pitchFamily="2" charset="-122"/>
              </a:rPr>
              <a:t>↙</a:t>
            </a:r>
          </a:p>
          <a:p>
            <a:pPr>
              <a:lnSpc>
                <a:spcPct val="50000"/>
              </a:lnSpc>
              <a:spcBef>
                <a:spcPct val="50000"/>
              </a:spcBef>
              <a:defRPr/>
            </a:pPr>
            <a:r>
              <a:rPr kumimoji="1" lang="en-US" altLang="zh-CN" sz="2000" b="1">
                <a:solidFill>
                  <a:schemeClr val="bg1"/>
                </a:solidFill>
                <a:effectLst>
                  <a:outerShdw blurRad="38100" dist="38100" dir="2700000" algn="tl">
                    <a:srgbClr val="9F9F9F"/>
                  </a:outerShdw>
                </a:effectLst>
                <a:latin typeface="Courier New" pitchFamily="49" charset="0"/>
                <a:ea typeface="宋体" pitchFamily="2" charset="-122"/>
              </a:rPr>
              <a:t>3↙</a:t>
            </a:r>
          </a:p>
        </p:txBody>
      </p:sp>
      <p:sp>
        <p:nvSpPr>
          <p:cNvPr id="307207" name="Rectangle 7"/>
          <p:cNvSpPr>
            <a:spLocks noChangeArrowheads="1"/>
          </p:cNvSpPr>
          <p:nvPr/>
        </p:nvSpPr>
        <p:spPr bwMode="auto">
          <a:xfrm>
            <a:off x="142875" y="333375"/>
            <a:ext cx="8893175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lIns="92075" tIns="46037" rIns="92075" bIns="46037" anchor="ctr"/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lnSpc>
                <a:spcPct val="85000"/>
              </a:lnSpc>
            </a:pPr>
            <a:r>
              <a:rPr kumimoji="1" lang="zh-CN" altLang="en-US" sz="40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再回头来看例</a:t>
            </a:r>
            <a:r>
              <a:rPr kumimoji="1" lang="en-US" altLang="zh-CN" sz="40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3.11</a:t>
            </a:r>
            <a:r>
              <a:rPr kumimoji="1" lang="zh-CN" altLang="en-US" sz="4000" b="1" i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charset="0"/>
                <a:ea typeface="黑体" charset="0"/>
              </a:rPr>
              <a:t>，以任意分隔符输入加法算式，可能吗？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C656E-5381-124F-BAB6-2A4FF1F7D062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55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chemeClr val="accent2"/>
                </a:solidFill>
              </a:rPr>
              <a:t>这一章我们学习了</a:t>
            </a:r>
          </a:p>
        </p:txBody>
      </p:sp>
      <p:sp>
        <p:nvSpPr>
          <p:cNvPr id="3205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3200">
                <a:latin typeface="Courier New" charset="0"/>
                <a:ea typeface="宋体" charset="0"/>
              </a:rPr>
              <a:t>字符输入函数</a:t>
            </a:r>
            <a:r>
              <a:rPr kumimoji="1" lang="en-US" altLang="zh-CN" sz="3200">
                <a:solidFill>
                  <a:schemeClr val="tx1"/>
                </a:solidFill>
                <a:latin typeface="Courier New" charset="0"/>
                <a:ea typeface="宋体" charset="0"/>
              </a:rPr>
              <a:t>getchar()</a:t>
            </a:r>
          </a:p>
          <a:p>
            <a:r>
              <a:rPr kumimoji="1" lang="zh-CN" altLang="en-US" sz="3200">
                <a:latin typeface="Courier New" charset="0"/>
                <a:ea typeface="宋体" charset="0"/>
              </a:rPr>
              <a:t>字符输出函数</a:t>
            </a:r>
            <a:r>
              <a:rPr kumimoji="1" lang="en-US" altLang="zh-CN" sz="3200">
                <a:solidFill>
                  <a:schemeClr val="tx1"/>
                </a:solidFill>
                <a:latin typeface="Courier New" charset="0"/>
                <a:ea typeface="宋体" charset="0"/>
              </a:rPr>
              <a:t>putchar()</a:t>
            </a:r>
          </a:p>
          <a:p>
            <a:r>
              <a:rPr kumimoji="1" lang="zh-CN" altLang="en-US" sz="3200">
                <a:latin typeface="Courier New" charset="0"/>
                <a:ea typeface="宋体" charset="0"/>
              </a:rPr>
              <a:t>格式输入函数</a:t>
            </a:r>
            <a:r>
              <a:rPr kumimoji="1" lang="en-US" altLang="zh-CN" sz="3200">
                <a:solidFill>
                  <a:schemeClr val="tx1"/>
                </a:solidFill>
                <a:latin typeface="Courier New" charset="0"/>
                <a:ea typeface="宋体" charset="0"/>
              </a:rPr>
              <a:t>scanf()</a:t>
            </a:r>
          </a:p>
          <a:p>
            <a:r>
              <a:rPr kumimoji="1" lang="zh-CN" altLang="en-US" sz="3200">
                <a:latin typeface="Courier New" charset="0"/>
                <a:ea typeface="宋体" charset="0"/>
              </a:rPr>
              <a:t>格式输出函数</a:t>
            </a:r>
            <a:r>
              <a:rPr kumimoji="1" lang="en-US" altLang="zh-CN" sz="3200">
                <a:solidFill>
                  <a:schemeClr val="tx1"/>
                </a:solidFill>
                <a:latin typeface="Courier New" charset="0"/>
                <a:ea typeface="宋体" charset="0"/>
              </a:rPr>
              <a:t>printf()</a:t>
            </a:r>
          </a:p>
          <a:p>
            <a:r>
              <a:rPr kumimoji="1" lang="zh-CN" altLang="en-US" sz="3200">
                <a:latin typeface="Courier New" charset="0"/>
                <a:ea typeface="宋体" charset="0"/>
              </a:rPr>
              <a:t>格式控制问题</a:t>
            </a:r>
            <a:r>
              <a:rPr kumimoji="1" lang="en-US" altLang="zh-CN" sz="3200">
                <a:latin typeface="Courier New" charset="0"/>
                <a:ea typeface="宋体" charset="0"/>
              </a:rPr>
              <a:t>——</a:t>
            </a:r>
            <a:r>
              <a:rPr kumimoji="1" lang="zh-CN" altLang="en-US" sz="3200">
                <a:latin typeface="Courier New" charset="0"/>
                <a:ea typeface="宋体" charset="0"/>
              </a:rPr>
              <a:t>难点</a:t>
            </a:r>
            <a:endParaRPr lang="zh-CN" altLang="en-US" sz="3200">
              <a:latin typeface="Courier New" charset="0"/>
              <a:ea typeface="宋体" charset="0"/>
            </a:endParaRP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34EDB-D4B4-C042-A054-4B3BC0DE4FD4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56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>
                <a:solidFill>
                  <a:schemeClr val="accent2"/>
                </a:solidFill>
              </a:rPr>
              <a:t>几点忠告</a:t>
            </a:r>
          </a:p>
        </p:txBody>
      </p:sp>
      <p:sp>
        <p:nvSpPr>
          <p:cNvPr id="3215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sz="3200" dirty="0">
                <a:ea typeface="宋体" charset="0"/>
              </a:rPr>
              <a:t>不要拘泥于细节</a:t>
            </a:r>
          </a:p>
          <a:p>
            <a:r>
              <a:rPr kumimoji="1" lang="zh-CN" altLang="en-US" sz="3200" dirty="0">
                <a:ea typeface="宋体" charset="0"/>
              </a:rPr>
              <a:t>不要死记硬背</a:t>
            </a:r>
          </a:p>
          <a:p>
            <a:r>
              <a:rPr kumimoji="1" lang="zh-CN" altLang="en-US" sz="3200" dirty="0">
                <a:ea typeface="宋体" charset="0"/>
              </a:rPr>
              <a:t>在实际使用中慢慢掌握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7D009-83B5-5F4C-A90A-8A0960FB7376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57</a:t>
            </a:fld>
            <a:endParaRPr lang="en-US" dirty="0"/>
          </a:p>
        </p:txBody>
      </p:sp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1892" y="2132856"/>
            <a:ext cx="7772400" cy="1609344"/>
          </a:xfrm>
        </p:spPr>
        <p:txBody>
          <a:bodyPr>
            <a:noAutofit/>
          </a:bodyPr>
          <a:lstStyle/>
          <a:p>
            <a:pPr algn="ctr"/>
            <a:r>
              <a:rPr kumimoji="1" lang="zh-CN" altLang="en-US" sz="13800" dirty="0"/>
              <a:t>谢谢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E55A0-F3F0-3C4B-8830-CC7175E1CFBD}" type="datetime1">
              <a:rPr lang="zh-CN" altLang="en-US" smtClean="0"/>
              <a:t>2022/9/10</a:t>
            </a:fld>
            <a:endParaRPr lang="en-US" dirty="0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358984"/>
      </p:ext>
    </p:extLst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活字">
  <a:themeElements>
    <a:clrScheme name="木活字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活字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活字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207</TotalTime>
  <Words>5238</Words>
  <Application>Microsoft Macintosh PowerPoint</Application>
  <PresentationFormat>全屏显示(4:3)</PresentationFormat>
  <Paragraphs>723</Paragraphs>
  <Slides>58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73" baseType="lpstr">
      <vt:lpstr>黑体</vt:lpstr>
      <vt:lpstr>隶书</vt:lpstr>
      <vt:lpstr>宋体</vt:lpstr>
      <vt:lpstr>Arial</vt:lpstr>
      <vt:lpstr>Calibri</vt:lpstr>
      <vt:lpstr>Comic Sans MS</vt:lpstr>
      <vt:lpstr>Courier New</vt:lpstr>
      <vt:lpstr>Monotype Sorts</vt:lpstr>
      <vt:lpstr>Rockwell</vt:lpstr>
      <vt:lpstr>Rockwell Condensed</vt:lpstr>
      <vt:lpstr>Rockwell Extra Bold</vt:lpstr>
      <vt:lpstr>Times</vt:lpstr>
      <vt:lpstr>Times New Roman</vt:lpstr>
      <vt:lpstr>Wingdings</vt:lpstr>
      <vt:lpstr>木活字</vt:lpstr>
      <vt:lpstr>PowerPoint 演示文稿</vt:lpstr>
      <vt:lpstr>内容提要</vt:lpstr>
      <vt:lpstr>C语言中的语句</vt:lpstr>
      <vt:lpstr>顺序结构程序的基本操作</vt:lpstr>
      <vt:lpstr>复合语句</vt:lpstr>
      <vt:lpstr>例3.1</vt:lpstr>
      <vt:lpstr>空语句</vt:lpstr>
      <vt:lpstr>字符输入输出函数</vt:lpstr>
      <vt:lpstr>PowerPoint 演示文稿</vt:lpstr>
      <vt:lpstr>格式输出函数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格式输入函数</vt:lpstr>
      <vt:lpstr>读入数据方式</vt:lpstr>
      <vt:lpstr>格式输入函数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这一章我们学习了</vt:lpstr>
      <vt:lpstr>几点忠告</vt:lpstr>
      <vt:lpstr>谢谢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LPLS82</cp:lastModifiedBy>
  <cp:revision>71</cp:revision>
  <dcterms:created xsi:type="dcterms:W3CDTF">2016-10-10T09:18:36Z</dcterms:created>
  <dcterms:modified xsi:type="dcterms:W3CDTF">2022-09-10T11:08:00Z</dcterms:modified>
</cp:coreProperties>
</file>
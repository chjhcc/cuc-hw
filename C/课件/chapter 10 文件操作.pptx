
<file path=[Content_Types].xml><?xml version="1.0" encoding="utf-8"?>
<Types xmlns="http://schemas.openxmlformats.org/package/2006/content-types">
  <Default Extension="bin" ContentType="audio/unknown"/>
  <Default Extension="jpeg" ContentType="image/jpeg"/>
  <Default Extension="png" ContentType="image/png"/>
  <Default Extension="rels" ContentType="application/vnd.openxmlformats-package.relationships+xml"/>
  <Default Extension="wdp" ContentType="image/vnd.ms-photo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saveSubsetFonts="1">
  <p:sldMasterIdLst>
    <p:sldMasterId id="2147483836" r:id="rId1"/>
  </p:sldMasterIdLst>
  <p:notesMasterIdLst>
    <p:notesMasterId r:id="rId40"/>
  </p:notesMasterIdLst>
  <p:handoutMasterIdLst>
    <p:handoutMasterId r:id="rId41"/>
  </p:handoutMasterIdLst>
  <p:sldIdLst>
    <p:sldId id="314" r:id="rId2"/>
    <p:sldId id="336" r:id="rId3"/>
    <p:sldId id="340" r:id="rId4"/>
    <p:sldId id="342" r:id="rId5"/>
    <p:sldId id="343" r:id="rId6"/>
    <p:sldId id="351" r:id="rId7"/>
    <p:sldId id="352" r:id="rId8"/>
    <p:sldId id="349" r:id="rId9"/>
    <p:sldId id="344" r:id="rId10"/>
    <p:sldId id="267" r:id="rId11"/>
    <p:sldId id="333" r:id="rId12"/>
    <p:sldId id="353" r:id="rId13"/>
    <p:sldId id="354" r:id="rId14"/>
    <p:sldId id="355" r:id="rId15"/>
    <p:sldId id="357" r:id="rId16"/>
    <p:sldId id="361" r:id="rId17"/>
    <p:sldId id="364" r:id="rId18"/>
    <p:sldId id="365" r:id="rId19"/>
    <p:sldId id="366" r:id="rId20"/>
    <p:sldId id="368" r:id="rId21"/>
    <p:sldId id="369" r:id="rId22"/>
    <p:sldId id="390" r:id="rId23"/>
    <p:sldId id="388" r:id="rId24"/>
    <p:sldId id="370" r:id="rId25"/>
    <p:sldId id="372" r:id="rId26"/>
    <p:sldId id="373" r:id="rId27"/>
    <p:sldId id="380" r:id="rId28"/>
    <p:sldId id="387" r:id="rId29"/>
    <p:sldId id="359" r:id="rId30"/>
    <p:sldId id="360" r:id="rId31"/>
    <p:sldId id="385" r:id="rId32"/>
    <p:sldId id="386" r:id="rId33"/>
    <p:sldId id="374" r:id="rId34"/>
    <p:sldId id="375" r:id="rId35"/>
    <p:sldId id="376" r:id="rId36"/>
    <p:sldId id="377" r:id="rId37"/>
    <p:sldId id="334" r:id="rId38"/>
    <p:sldId id="389" r:id="rId39"/>
  </p:sldIdLst>
  <p:sldSz cx="9144000" cy="6858000" type="screen4x3"/>
  <p:notesSz cx="7099300" cy="10234613"/>
  <p:defaultTextStyle>
    <a:defPPr>
      <a:defRPr lang="en-US"/>
    </a:defPPr>
    <a:lvl1pPr algn="ctr" rtl="0" eaLnBrk="0" fontAlgn="base" hangingPunct="0">
      <a:spcBef>
        <a:spcPct val="0"/>
      </a:spcBef>
      <a:spcAft>
        <a:spcPct val="0"/>
      </a:spcAft>
      <a:defRPr sz="2400" kern="1200">
        <a:solidFill>
          <a:schemeClr val="tx1"/>
        </a:solidFill>
        <a:effectLst>
          <a:outerShdw blurRad="38100" dist="38100" dir="2700000" algn="tl">
            <a:srgbClr val="000000">
              <a:alpha val="43137"/>
            </a:srgbClr>
          </a:outerShdw>
        </a:effectLst>
        <a:latin typeface="Times New Roman" charset="0"/>
        <a:ea typeface="宋体" charset="0"/>
        <a:cs typeface="+mn-cs"/>
      </a:defRPr>
    </a:lvl1pPr>
    <a:lvl2pPr marL="457200" algn="ctr" rtl="0" eaLnBrk="0" fontAlgn="base" hangingPunct="0">
      <a:spcBef>
        <a:spcPct val="0"/>
      </a:spcBef>
      <a:spcAft>
        <a:spcPct val="0"/>
      </a:spcAft>
      <a:defRPr sz="2400" kern="1200">
        <a:solidFill>
          <a:schemeClr val="tx1"/>
        </a:solidFill>
        <a:effectLst>
          <a:outerShdw blurRad="38100" dist="38100" dir="2700000" algn="tl">
            <a:srgbClr val="000000">
              <a:alpha val="43137"/>
            </a:srgbClr>
          </a:outerShdw>
        </a:effectLst>
        <a:latin typeface="Times New Roman" charset="0"/>
        <a:ea typeface="宋体" charset="0"/>
        <a:cs typeface="+mn-cs"/>
      </a:defRPr>
    </a:lvl2pPr>
    <a:lvl3pPr marL="914400" algn="ctr" rtl="0" eaLnBrk="0" fontAlgn="base" hangingPunct="0">
      <a:spcBef>
        <a:spcPct val="0"/>
      </a:spcBef>
      <a:spcAft>
        <a:spcPct val="0"/>
      </a:spcAft>
      <a:defRPr sz="2400" kern="1200">
        <a:solidFill>
          <a:schemeClr val="tx1"/>
        </a:solidFill>
        <a:effectLst>
          <a:outerShdw blurRad="38100" dist="38100" dir="2700000" algn="tl">
            <a:srgbClr val="000000">
              <a:alpha val="43137"/>
            </a:srgbClr>
          </a:outerShdw>
        </a:effectLst>
        <a:latin typeface="Times New Roman" charset="0"/>
        <a:ea typeface="宋体" charset="0"/>
        <a:cs typeface="+mn-cs"/>
      </a:defRPr>
    </a:lvl3pPr>
    <a:lvl4pPr marL="1371600" algn="ctr" rtl="0" eaLnBrk="0" fontAlgn="base" hangingPunct="0">
      <a:spcBef>
        <a:spcPct val="0"/>
      </a:spcBef>
      <a:spcAft>
        <a:spcPct val="0"/>
      </a:spcAft>
      <a:defRPr sz="2400" kern="1200">
        <a:solidFill>
          <a:schemeClr val="tx1"/>
        </a:solidFill>
        <a:effectLst>
          <a:outerShdw blurRad="38100" dist="38100" dir="2700000" algn="tl">
            <a:srgbClr val="000000">
              <a:alpha val="43137"/>
            </a:srgbClr>
          </a:outerShdw>
        </a:effectLst>
        <a:latin typeface="Times New Roman" charset="0"/>
        <a:ea typeface="宋体" charset="0"/>
        <a:cs typeface="+mn-cs"/>
      </a:defRPr>
    </a:lvl4pPr>
    <a:lvl5pPr marL="1828800" algn="ctr" rtl="0" eaLnBrk="0" fontAlgn="base" hangingPunct="0">
      <a:spcBef>
        <a:spcPct val="0"/>
      </a:spcBef>
      <a:spcAft>
        <a:spcPct val="0"/>
      </a:spcAft>
      <a:defRPr sz="2400" kern="1200">
        <a:solidFill>
          <a:schemeClr val="tx1"/>
        </a:solidFill>
        <a:effectLst>
          <a:outerShdw blurRad="38100" dist="38100" dir="2700000" algn="tl">
            <a:srgbClr val="000000">
              <a:alpha val="43137"/>
            </a:srgbClr>
          </a:outerShdw>
        </a:effectLst>
        <a:latin typeface="Times New Roman" charset="0"/>
        <a:ea typeface="宋体" charset="0"/>
        <a:cs typeface="+mn-cs"/>
      </a:defRPr>
    </a:lvl5pPr>
    <a:lvl6pPr marL="2286000" algn="l" defTabSz="914400" rtl="0" eaLnBrk="1" latinLnBrk="0" hangingPunct="1">
      <a:defRPr sz="2400" kern="1200">
        <a:solidFill>
          <a:schemeClr val="tx1"/>
        </a:solidFill>
        <a:effectLst>
          <a:outerShdw blurRad="38100" dist="38100" dir="2700000" algn="tl">
            <a:srgbClr val="000000">
              <a:alpha val="43137"/>
            </a:srgbClr>
          </a:outerShdw>
        </a:effectLst>
        <a:latin typeface="Times New Roman" charset="0"/>
        <a:ea typeface="宋体" charset="0"/>
        <a:cs typeface="+mn-cs"/>
      </a:defRPr>
    </a:lvl6pPr>
    <a:lvl7pPr marL="2743200" algn="l" defTabSz="914400" rtl="0" eaLnBrk="1" latinLnBrk="0" hangingPunct="1">
      <a:defRPr sz="2400" kern="1200">
        <a:solidFill>
          <a:schemeClr val="tx1"/>
        </a:solidFill>
        <a:effectLst>
          <a:outerShdw blurRad="38100" dist="38100" dir="2700000" algn="tl">
            <a:srgbClr val="000000">
              <a:alpha val="43137"/>
            </a:srgbClr>
          </a:outerShdw>
        </a:effectLst>
        <a:latin typeface="Times New Roman" charset="0"/>
        <a:ea typeface="宋体" charset="0"/>
        <a:cs typeface="+mn-cs"/>
      </a:defRPr>
    </a:lvl7pPr>
    <a:lvl8pPr marL="3200400" algn="l" defTabSz="914400" rtl="0" eaLnBrk="1" latinLnBrk="0" hangingPunct="1">
      <a:defRPr sz="2400" kern="1200">
        <a:solidFill>
          <a:schemeClr val="tx1"/>
        </a:solidFill>
        <a:effectLst>
          <a:outerShdw blurRad="38100" dist="38100" dir="2700000" algn="tl">
            <a:srgbClr val="000000">
              <a:alpha val="43137"/>
            </a:srgbClr>
          </a:outerShdw>
        </a:effectLst>
        <a:latin typeface="Times New Roman" charset="0"/>
        <a:ea typeface="宋体" charset="0"/>
        <a:cs typeface="+mn-cs"/>
      </a:defRPr>
    </a:lvl8pPr>
    <a:lvl9pPr marL="3657600" algn="l" defTabSz="914400" rtl="0" eaLnBrk="1" latinLnBrk="0" hangingPunct="1">
      <a:defRPr sz="2400" kern="1200">
        <a:solidFill>
          <a:schemeClr val="tx1"/>
        </a:solidFill>
        <a:effectLst>
          <a:outerShdw blurRad="38100" dist="38100" dir="2700000" algn="tl">
            <a:srgbClr val="000000">
              <a:alpha val="43137"/>
            </a:srgbClr>
          </a:outerShdw>
        </a:effectLst>
        <a:latin typeface="Times New Roman" charset="0"/>
        <a:ea typeface="宋体" charset="0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schemeClr val="tx1"/>
    </p:penClr>
    <p:extLst>
      <p:ext uri="{EC167BDD-8182-4AB7-AECC-EB403E3ABB37}">
        <p14:laserClr xmlns:p14="http://schemas.microsoft.com/office/powerpoint/2010/main">
          <a:srgbClr val="000000"/>
        </p14:laserClr>
      </p:ext>
      <p:ext uri="{2FDB2607-1784-4EEB-B798-7EB5836EED8A}">
        <p14:showMediaCtrls xmlns:p14="http://schemas.microsoft.com/office/powerpoint/2010/main" val="0"/>
      </p:ext>
    </p:extLst>
  </p:showPr>
  <p:clrMru>
    <a:srgbClr val="0054FE"/>
    <a:srgbClr val="CC0099"/>
    <a:srgbClr val="006600"/>
    <a:srgbClr val="008000"/>
    <a:srgbClr val="66FFFF"/>
    <a:srgbClr val="00CCFF"/>
    <a:srgbClr val="33CCFF"/>
    <a:srgbClr val="66CCFF"/>
    <a:srgbClr val="3399FF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7937"/>
    <p:restoredTop sz="97196"/>
  </p:normalViewPr>
  <p:slideViewPr>
    <p:cSldViewPr>
      <p:cViewPr varScale="1">
        <p:scale>
          <a:sx n="127" d="100"/>
          <a:sy n="127" d="100"/>
        </p:scale>
        <p:origin x="752" y="184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  <p:sldLst>
      <p:sld r:id="rId1" collapse="1"/>
    </p:sldLst>
  </p:outlineViewPr>
  <p:notesTextViewPr>
    <p:cViewPr>
      <p:scale>
        <a:sx n="100" d="100"/>
        <a:sy n="100" d="100"/>
      </p:scale>
      <p:origin x="0" y="0"/>
    </p:cViewPr>
  </p:notesTextViewPr>
  <p:sorterViewPr>
    <p:cViewPr>
      <p:scale>
        <a:sx n="66" d="100"/>
        <a:sy n="66" d="100"/>
      </p:scale>
      <p:origin x="0" y="1350"/>
    </p:cViewPr>
  </p:sorter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slide" Target="slides/slide38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42" Type="http://schemas.openxmlformats.org/officeDocument/2006/relationships/presProps" Target="presProps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9" Type="http://schemas.openxmlformats.org/officeDocument/2006/relationships/slide" Target="slides/slide28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notesMaster" Target="notesMasters/notesMaster1.xml"/><Relationship Id="rId45" Type="http://schemas.openxmlformats.org/officeDocument/2006/relationships/tableStyles" Target="tableStyle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4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viewProps" Target="viewProps.xml"/><Relationship Id="rId8" Type="http://schemas.openxmlformats.org/officeDocument/2006/relationships/slide" Target="slides/slide7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20" Type="http://schemas.openxmlformats.org/officeDocument/2006/relationships/slide" Target="slides/slide19.xml"/><Relationship Id="rId41" Type="http://schemas.openxmlformats.org/officeDocument/2006/relationships/handoutMaster" Target="handoutMasters/handoutMaster1.xml"/></Relationships>
</file>

<file path=ppt/_rels/viewProps.xml.rels><?xml version="1.0" encoding="UTF-8" standalone="yes"?>
<Relationships xmlns="http://schemas.openxmlformats.org/package/2006/relationships"><Relationship Id="rId1" Type="http://schemas.openxmlformats.org/officeDocument/2006/relationships/slide" Target="slides/slide9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578" name="Rectangle 2"/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0" y="0"/>
            <a:ext cx="3076575" cy="51276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5473" tIns="47736" rIns="95473" bIns="47736" numCol="1" anchor="t" anchorCtr="0" compatLnSpc="1">
            <a:prstTxWarp prst="textNoShape">
              <a:avLst/>
            </a:prstTxWarp>
          </a:bodyPr>
          <a:lstStyle>
            <a:lvl1pPr algn="l" defTabSz="954088">
              <a:defRPr sz="1300">
                <a:effectLst/>
                <a:latin typeface="Times" charset="0"/>
                <a:ea typeface="+mn-ea"/>
              </a:defRPr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24579" name="Rectangle 3"/>
          <p:cNvSpPr>
            <a:spLocks noGrp="1" noChangeArrowheads="1"/>
          </p:cNvSpPr>
          <p:nvPr>
            <p:ph type="dt" sz="quarter" idx="1"/>
          </p:nvPr>
        </p:nvSpPr>
        <p:spPr bwMode="auto">
          <a:xfrm>
            <a:off x="4021138" y="0"/>
            <a:ext cx="3076575" cy="51276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5473" tIns="47736" rIns="95473" bIns="47736" numCol="1" anchor="t" anchorCtr="0" compatLnSpc="1">
            <a:prstTxWarp prst="textNoShape">
              <a:avLst/>
            </a:prstTxWarp>
          </a:bodyPr>
          <a:lstStyle>
            <a:lvl1pPr algn="r" defTabSz="954088">
              <a:defRPr sz="1300">
                <a:effectLst/>
                <a:latin typeface="Times" charset="0"/>
                <a:ea typeface="+mn-ea"/>
              </a:defRPr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24580" name="Rectangle 4"/>
          <p:cNvSpPr>
            <a:spLocks noGrp="1" noChangeArrowheads="1"/>
          </p:cNvSpPr>
          <p:nvPr>
            <p:ph type="ftr" sz="quarter" idx="2"/>
          </p:nvPr>
        </p:nvSpPr>
        <p:spPr bwMode="auto">
          <a:xfrm>
            <a:off x="0" y="9720263"/>
            <a:ext cx="3076575" cy="51276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5473" tIns="47736" rIns="95473" bIns="47736" numCol="1" anchor="b" anchorCtr="0" compatLnSpc="1">
            <a:prstTxWarp prst="textNoShape">
              <a:avLst/>
            </a:prstTxWarp>
          </a:bodyPr>
          <a:lstStyle>
            <a:lvl1pPr algn="l" defTabSz="954088">
              <a:defRPr sz="1300">
                <a:effectLst/>
                <a:latin typeface="Times" charset="0"/>
                <a:ea typeface="+mn-ea"/>
              </a:defRPr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24581" name="Rectangle 5"/>
          <p:cNvSpPr>
            <a:spLocks noGrp="1" noChangeArrowheads="1"/>
          </p:cNvSpPr>
          <p:nvPr>
            <p:ph type="sldNum" sz="quarter" idx="3"/>
          </p:nvPr>
        </p:nvSpPr>
        <p:spPr bwMode="auto">
          <a:xfrm>
            <a:off x="4021138" y="9720263"/>
            <a:ext cx="3076575" cy="51276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5473" tIns="47736" rIns="95473" bIns="47736" numCol="1" anchor="b" anchorCtr="0" compatLnSpc="1">
            <a:prstTxWarp prst="textNoShape">
              <a:avLst/>
            </a:prstTxWarp>
          </a:bodyPr>
          <a:lstStyle>
            <a:lvl1pPr algn="r" defTabSz="954088">
              <a:defRPr sz="1300">
                <a:effectLst/>
                <a:latin typeface="Times" charset="0"/>
              </a:defRPr>
            </a:lvl1pPr>
          </a:lstStyle>
          <a:p>
            <a:fld id="{ACB790CD-9AB8-DA44-B303-995CB74AD358}" type="slidenum">
              <a:rPr lang="zh-CN" altLang="en-US"/>
              <a:pPr/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1412242338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868127754"/>
      </p:ext>
    </p:extLst>
  </p:cSld>
  <p:clrMap bg1="lt1" tx1="dk1" bg2="lt2" tx2="dk2" accent1="accent1" accent2="accent2" accent3="accent3" accent4="accent4" accent5="accent5" accent6="accent6" hlink="hlink" folHlink="folHlink"/>
  <p:notesStyle>
    <a:lvl1pPr algn="l" rtl="0" eaLnBrk="0" fontAlgn="base" hangingPunct="0">
      <a:spcBef>
        <a:spcPct val="30000"/>
      </a:spcBef>
      <a:spcAft>
        <a:spcPct val="0"/>
      </a:spcAft>
      <a:defRPr kumimoji="1" sz="1200" kern="1200">
        <a:solidFill>
          <a:schemeClr val="tx1"/>
        </a:solidFill>
        <a:latin typeface="Times New Roman" pitchFamily="18" charset="0"/>
        <a:ea typeface="宋体" pitchFamily="2" charset="-122"/>
        <a:cs typeface="宋体" charset="0"/>
      </a:defRPr>
    </a:lvl1pPr>
    <a:lvl2pPr marL="457200" algn="l" rtl="0" eaLnBrk="0" fontAlgn="base" hangingPunct="0">
      <a:spcBef>
        <a:spcPct val="30000"/>
      </a:spcBef>
      <a:spcAft>
        <a:spcPct val="0"/>
      </a:spcAft>
      <a:defRPr kumimoji="1" sz="1200" kern="1200">
        <a:solidFill>
          <a:schemeClr val="tx1"/>
        </a:solidFill>
        <a:latin typeface="Times New Roman" pitchFamily="18" charset="0"/>
        <a:ea typeface="宋体" pitchFamily="2" charset="-122"/>
        <a:cs typeface="+mn-cs"/>
      </a:defRPr>
    </a:lvl2pPr>
    <a:lvl3pPr marL="914400" algn="l" rtl="0" eaLnBrk="0" fontAlgn="base" hangingPunct="0">
      <a:spcBef>
        <a:spcPct val="30000"/>
      </a:spcBef>
      <a:spcAft>
        <a:spcPct val="0"/>
      </a:spcAft>
      <a:defRPr kumimoji="1" sz="1200" kern="1200">
        <a:solidFill>
          <a:schemeClr val="tx1"/>
        </a:solidFill>
        <a:latin typeface="Times New Roman" pitchFamily="18" charset="0"/>
        <a:ea typeface="宋体" pitchFamily="2" charset="-122"/>
        <a:cs typeface="+mn-cs"/>
      </a:defRPr>
    </a:lvl3pPr>
    <a:lvl4pPr marL="1371600" algn="l" rtl="0" eaLnBrk="0" fontAlgn="base" hangingPunct="0">
      <a:spcBef>
        <a:spcPct val="30000"/>
      </a:spcBef>
      <a:spcAft>
        <a:spcPct val="0"/>
      </a:spcAft>
      <a:defRPr kumimoji="1" sz="1200" kern="1200">
        <a:solidFill>
          <a:schemeClr val="tx1"/>
        </a:solidFill>
        <a:latin typeface="Times New Roman" pitchFamily="18" charset="0"/>
        <a:ea typeface="宋体" pitchFamily="2" charset="-122"/>
        <a:cs typeface="+mn-cs"/>
      </a:defRPr>
    </a:lvl4pPr>
    <a:lvl5pPr marL="1828800" algn="l" rtl="0" eaLnBrk="0" fontAlgn="base" hangingPunct="0">
      <a:spcBef>
        <a:spcPct val="30000"/>
      </a:spcBef>
      <a:spcAft>
        <a:spcPct val="0"/>
      </a:spcAft>
      <a:defRPr kumimoji="1" sz="1200" kern="1200">
        <a:solidFill>
          <a:schemeClr val="tx1"/>
        </a:solidFill>
        <a:latin typeface="Times New Roman" pitchFamily="18" charset="0"/>
        <a:ea typeface="宋体" pitchFamily="2" charset="-122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1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2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7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8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346" name="Rectangle 2"/>
          <p:cNvSpPr>
            <a:spLocks noGrp="1" noRot="1" noChangeAspect="1" noChangeArrowheads="1" noTextEdit="1"/>
          </p:cNvSpPr>
          <p:nvPr>
            <p:ph type="sldImg"/>
          </p:nvPr>
        </p:nvSpPr>
        <p:spPr bwMode="auto">
          <a:xfrm>
            <a:off x="990600" y="766763"/>
            <a:ext cx="5118100" cy="3838575"/>
          </a:xfrm>
          <a:prstGeom prst="rect">
            <a:avLst/>
          </a:prstGeom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FAA26D3D-D897-4be2-8F04-BA451C77F1D7}">
              <ma14:placeholderFlag xmlns:ma14="http://schemas.microsoft.com/office/mac/drawingml/2011/main" xmlns="" val="1"/>
            </a:ext>
          </a:extLst>
        </p:spPr>
      </p:sp>
      <p:sp>
        <p:nvSpPr>
          <p:cNvPr id="57347" name="Rectangle 3"/>
          <p:cNvSpPr>
            <a:spLocks noGrp="1" noChangeArrowheads="1"/>
          </p:cNvSpPr>
          <p:nvPr>
            <p:ph type="body" idx="1"/>
          </p:nvPr>
        </p:nvSpPr>
        <p:spPr bwMode="auto">
          <a:xfrm>
            <a:off x="711200" y="4860925"/>
            <a:ext cx="5678488" cy="4606925"/>
          </a:xfrm>
          <a:prstGeom prst="rect">
            <a:avLst/>
          </a:prstGeom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FAA26D3D-D897-4be2-8F04-BA451C77F1D7}">
              <ma14:placeholderFlag xmlns:ma14="http://schemas.microsoft.com/office/mac/drawingml/2011/main" xmlns="" val="1"/>
            </a:ext>
          </a:extLst>
        </p:spPr>
        <p:txBody>
          <a:bodyPr lIns="95473" tIns="47736" rIns="95473" bIns="47736"/>
          <a:lstStyle/>
          <a:p>
            <a:pPr eaLnBrk="1" hangingPunct="1"/>
            <a:endParaRPr kumimoji="0" lang="zh-CN" altLang="en-US">
              <a:latin typeface="Times New Roman" charset="0"/>
              <a:ea typeface="宋体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567708122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370" name="幻灯片图像占位符 1"/>
          <p:cNvSpPr>
            <a:spLocks noGrp="1" noRot="1" noChangeAspect="1"/>
          </p:cNvSpPr>
          <p:nvPr>
            <p:ph type="sldImg"/>
          </p:nvPr>
        </p:nvSpPr>
        <p:spPr bwMode="auto">
          <a:xfrm>
            <a:off x="992188" y="768350"/>
            <a:ext cx="5114925" cy="3836988"/>
          </a:xfrm>
          <a:prstGeom prst="rect">
            <a:avLst/>
          </a:prstGeom>
          <a:noFill/>
          <a:ln w="12700"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FAA26D3D-D897-4be2-8F04-BA451C77F1D7}">
              <ma14:placeholderFlag xmlns:ma14="http://schemas.microsoft.com/office/mac/drawingml/2011/main" xmlns="" val="1"/>
            </a:ext>
          </a:extLst>
        </p:spPr>
      </p:sp>
      <p:sp>
        <p:nvSpPr>
          <p:cNvPr id="58371" name="备注占位符 2"/>
          <p:cNvSpPr>
            <a:spLocks noGrp="1"/>
          </p:cNvSpPr>
          <p:nvPr>
            <p:ph type="body" idx="1"/>
          </p:nvPr>
        </p:nvSpPr>
        <p:spPr bwMode="auto">
          <a:xfrm>
            <a:off x="709613" y="4860925"/>
            <a:ext cx="5680075" cy="4605338"/>
          </a:xfrm>
          <a:prstGeom prst="rect">
            <a:avLst/>
          </a:prstGeom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FAA26D3D-D897-4be2-8F04-BA451C77F1D7}">
              <ma14:placeholderFlag xmlns:ma14="http://schemas.microsoft.com/office/mac/drawingml/2011/main" xmlns="" val="1"/>
            </a:ext>
          </a:extLst>
        </p:spPr>
        <p:txBody>
          <a:bodyPr/>
          <a:lstStyle/>
          <a:p>
            <a:pPr eaLnBrk="1" hangingPunct="1"/>
            <a:endParaRPr kumimoji="0" lang="zh-CN" altLang="en-US">
              <a:latin typeface="Times New Roman" charset="0"/>
              <a:ea typeface="宋体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99354141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514" name="幻灯片图像占位符 1"/>
          <p:cNvSpPr>
            <a:spLocks noGrp="1" noRot="1" noChangeAspect="1"/>
          </p:cNvSpPr>
          <p:nvPr>
            <p:ph type="sldImg"/>
          </p:nvPr>
        </p:nvSpPr>
        <p:spPr bwMode="auto">
          <a:xfrm>
            <a:off x="992188" y="768350"/>
            <a:ext cx="5114925" cy="3836988"/>
          </a:xfrm>
          <a:prstGeom prst="rect">
            <a:avLst/>
          </a:prstGeom>
          <a:noFill/>
          <a:ln w="12700"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FAA26D3D-D897-4be2-8F04-BA451C77F1D7}">
              <ma14:placeholderFlag xmlns:ma14="http://schemas.microsoft.com/office/mac/drawingml/2011/main" xmlns="" val="1"/>
            </a:ext>
          </a:extLst>
        </p:spPr>
      </p:sp>
      <p:sp>
        <p:nvSpPr>
          <p:cNvPr id="64515" name="备注占位符 2"/>
          <p:cNvSpPr>
            <a:spLocks noGrp="1"/>
          </p:cNvSpPr>
          <p:nvPr>
            <p:ph type="body" idx="1"/>
          </p:nvPr>
        </p:nvSpPr>
        <p:spPr bwMode="auto">
          <a:xfrm>
            <a:off x="709613" y="4860925"/>
            <a:ext cx="5680075" cy="4605338"/>
          </a:xfrm>
          <a:prstGeom prst="rect">
            <a:avLst/>
          </a:prstGeom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FAA26D3D-D897-4be2-8F04-BA451C77F1D7}">
              <ma14:placeholderFlag xmlns:ma14="http://schemas.microsoft.com/office/mac/drawingml/2011/main" xmlns="" val="1"/>
            </a:ext>
          </a:extLst>
        </p:spPr>
        <p:txBody>
          <a:bodyPr/>
          <a:lstStyle/>
          <a:p>
            <a:pPr eaLnBrk="1" hangingPunct="1"/>
            <a:endParaRPr kumimoji="0" lang="zh-CN" altLang="en-US">
              <a:latin typeface="Times New Roman" charset="0"/>
              <a:ea typeface="宋体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009664146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562" name="幻灯片图像占位符 1"/>
          <p:cNvSpPr>
            <a:spLocks noGrp="1" noRot="1" noChangeAspect="1"/>
          </p:cNvSpPr>
          <p:nvPr>
            <p:ph type="sldImg"/>
          </p:nvPr>
        </p:nvSpPr>
        <p:spPr bwMode="auto">
          <a:xfrm>
            <a:off x="992188" y="768350"/>
            <a:ext cx="5114925" cy="3836988"/>
          </a:xfrm>
          <a:prstGeom prst="rect">
            <a:avLst/>
          </a:prstGeom>
          <a:noFill/>
          <a:ln w="12700"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FAA26D3D-D897-4be2-8F04-BA451C77F1D7}">
              <ma14:placeholderFlag xmlns:ma14="http://schemas.microsoft.com/office/mac/drawingml/2011/main" xmlns="" val="1"/>
            </a:ext>
          </a:extLst>
        </p:spPr>
      </p:sp>
      <p:sp>
        <p:nvSpPr>
          <p:cNvPr id="66563" name="备注占位符 2"/>
          <p:cNvSpPr>
            <a:spLocks noGrp="1"/>
          </p:cNvSpPr>
          <p:nvPr>
            <p:ph type="body" idx="1"/>
          </p:nvPr>
        </p:nvSpPr>
        <p:spPr bwMode="auto">
          <a:xfrm>
            <a:off x="709613" y="4860925"/>
            <a:ext cx="5680075" cy="4605338"/>
          </a:xfrm>
          <a:prstGeom prst="rect">
            <a:avLst/>
          </a:prstGeom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FAA26D3D-D897-4be2-8F04-BA451C77F1D7}">
              <ma14:placeholderFlag xmlns:ma14="http://schemas.microsoft.com/office/mac/drawingml/2011/main" xmlns="" val="1"/>
            </a:ext>
          </a:extLst>
        </p:spPr>
        <p:txBody>
          <a:bodyPr/>
          <a:lstStyle/>
          <a:p>
            <a:pPr eaLnBrk="1" hangingPunct="1"/>
            <a:endParaRPr kumimoji="0" lang="zh-CN" altLang="en-US">
              <a:latin typeface="Times New Roman" charset="0"/>
              <a:ea typeface="宋体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450550282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586" name="幻灯片图像占位符 1"/>
          <p:cNvSpPr>
            <a:spLocks noGrp="1" noRot="1" noChangeAspect="1"/>
          </p:cNvSpPr>
          <p:nvPr>
            <p:ph type="sldImg"/>
          </p:nvPr>
        </p:nvSpPr>
        <p:spPr bwMode="auto">
          <a:xfrm>
            <a:off x="992188" y="768350"/>
            <a:ext cx="5114925" cy="3836988"/>
          </a:xfrm>
          <a:prstGeom prst="rect">
            <a:avLst/>
          </a:prstGeom>
          <a:noFill/>
          <a:ln w="12700"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FAA26D3D-D897-4be2-8F04-BA451C77F1D7}">
              <ma14:placeholderFlag xmlns:ma14="http://schemas.microsoft.com/office/mac/drawingml/2011/main" xmlns="" val="1"/>
            </a:ext>
          </a:extLst>
        </p:spPr>
      </p:sp>
      <p:sp>
        <p:nvSpPr>
          <p:cNvPr id="67587" name="备注占位符 2"/>
          <p:cNvSpPr>
            <a:spLocks noGrp="1"/>
          </p:cNvSpPr>
          <p:nvPr>
            <p:ph type="body" idx="1"/>
          </p:nvPr>
        </p:nvSpPr>
        <p:spPr bwMode="auto">
          <a:xfrm>
            <a:off x="709613" y="4860925"/>
            <a:ext cx="5680075" cy="4605338"/>
          </a:xfrm>
          <a:prstGeom prst="rect">
            <a:avLst/>
          </a:prstGeom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FAA26D3D-D897-4be2-8F04-BA451C77F1D7}">
              <ma14:placeholderFlag xmlns:ma14="http://schemas.microsoft.com/office/mac/drawingml/2011/main" xmlns="" val="1"/>
            </a:ext>
          </a:extLst>
        </p:spPr>
        <p:txBody>
          <a:bodyPr/>
          <a:lstStyle/>
          <a:p>
            <a:pPr eaLnBrk="1" hangingPunct="1"/>
            <a:endParaRPr kumimoji="0" lang="zh-CN" altLang="en-US">
              <a:latin typeface="Times New Roman" charset="0"/>
              <a:ea typeface="宋体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164228830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8610" name="幻灯片图像占位符 1"/>
          <p:cNvSpPr>
            <a:spLocks noGrp="1" noRot="1" noChangeAspect="1"/>
          </p:cNvSpPr>
          <p:nvPr>
            <p:ph type="sldImg"/>
          </p:nvPr>
        </p:nvSpPr>
        <p:spPr bwMode="auto">
          <a:xfrm>
            <a:off x="992188" y="768350"/>
            <a:ext cx="5114925" cy="3836988"/>
          </a:xfrm>
          <a:prstGeom prst="rect">
            <a:avLst/>
          </a:prstGeom>
          <a:noFill/>
          <a:ln w="12700"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FAA26D3D-D897-4be2-8F04-BA451C77F1D7}">
              <ma14:placeholderFlag xmlns:ma14="http://schemas.microsoft.com/office/mac/drawingml/2011/main" xmlns="" val="1"/>
            </a:ext>
          </a:extLst>
        </p:spPr>
      </p:sp>
      <p:sp>
        <p:nvSpPr>
          <p:cNvPr id="68611" name="备注占位符 2"/>
          <p:cNvSpPr>
            <a:spLocks noGrp="1"/>
          </p:cNvSpPr>
          <p:nvPr>
            <p:ph type="body" idx="1"/>
          </p:nvPr>
        </p:nvSpPr>
        <p:spPr bwMode="auto">
          <a:xfrm>
            <a:off x="709613" y="4860925"/>
            <a:ext cx="5680075" cy="4605338"/>
          </a:xfrm>
          <a:prstGeom prst="rect">
            <a:avLst/>
          </a:prstGeom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FAA26D3D-D897-4be2-8F04-BA451C77F1D7}">
              <ma14:placeholderFlag xmlns:ma14="http://schemas.microsoft.com/office/mac/drawingml/2011/main" xmlns="" val="1"/>
            </a:ext>
          </a:extLst>
        </p:spPr>
        <p:txBody>
          <a:bodyPr/>
          <a:lstStyle/>
          <a:p>
            <a:pPr eaLnBrk="1" hangingPunct="1"/>
            <a:endParaRPr kumimoji="0" lang="zh-CN" altLang="en-US">
              <a:latin typeface="Times New Roman" charset="0"/>
              <a:ea typeface="宋体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470437993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634" name="幻灯片图像占位符 1"/>
          <p:cNvSpPr>
            <a:spLocks noGrp="1" noRot="1" noChangeAspect="1"/>
          </p:cNvSpPr>
          <p:nvPr>
            <p:ph type="sldImg"/>
          </p:nvPr>
        </p:nvSpPr>
        <p:spPr bwMode="auto">
          <a:xfrm>
            <a:off x="992188" y="768350"/>
            <a:ext cx="5114925" cy="3836988"/>
          </a:xfrm>
          <a:prstGeom prst="rect">
            <a:avLst/>
          </a:prstGeom>
          <a:noFill/>
          <a:ln w="12700"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FAA26D3D-D897-4be2-8F04-BA451C77F1D7}">
              <ma14:placeholderFlag xmlns:ma14="http://schemas.microsoft.com/office/mac/drawingml/2011/main" xmlns="" val="1"/>
            </a:ext>
          </a:extLst>
        </p:spPr>
      </p:sp>
      <p:sp>
        <p:nvSpPr>
          <p:cNvPr id="69635" name="备注占位符 2"/>
          <p:cNvSpPr>
            <a:spLocks noGrp="1"/>
          </p:cNvSpPr>
          <p:nvPr>
            <p:ph type="body" idx="1"/>
          </p:nvPr>
        </p:nvSpPr>
        <p:spPr bwMode="auto">
          <a:xfrm>
            <a:off x="709613" y="4860925"/>
            <a:ext cx="5680075" cy="4605338"/>
          </a:xfrm>
          <a:prstGeom prst="rect">
            <a:avLst/>
          </a:prstGeom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FAA26D3D-D897-4be2-8F04-BA451C77F1D7}">
              <ma14:placeholderFlag xmlns:ma14="http://schemas.microsoft.com/office/mac/drawingml/2011/main" xmlns="" val="1"/>
            </a:ext>
          </a:extLst>
        </p:spPr>
        <p:txBody>
          <a:bodyPr/>
          <a:lstStyle/>
          <a:p>
            <a:pPr eaLnBrk="1" hangingPunct="1"/>
            <a:endParaRPr kumimoji="0" lang="zh-CN" altLang="en-US">
              <a:latin typeface="Times New Roman" charset="0"/>
              <a:ea typeface="宋体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09538675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7"/>
          <p:cNvSpPr>
            <a:spLocks noGrp="1" noChangeArrowheads="1"/>
          </p:cNvSpPr>
          <p:nvPr>
            <p:ph type="sldNum" sz="quarter" idx="4294967295"/>
          </p:nvPr>
        </p:nvSpPr>
        <p:spPr>
          <a:xfrm>
            <a:off x="4021138" y="9721850"/>
            <a:ext cx="3076575" cy="511175"/>
          </a:xfrm>
          <a:prstGeom prst="rect">
            <a:avLst/>
          </a:prstGeom>
        </p:spPr>
        <p:txBody>
          <a:bodyPr lIns="99048" tIns="49524" rIns="99048" bIns="49524"/>
          <a:lstStyle>
            <a:lvl1pPr>
              <a:defRPr sz="2400">
                <a:solidFill>
                  <a:schemeClr val="tx1"/>
                </a:solidFill>
                <a:latin typeface="Times New Roman" charset="0"/>
                <a:ea typeface="宋体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Times New Roman" charset="0"/>
                <a:ea typeface="宋体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Times New Roman" charset="0"/>
                <a:ea typeface="宋体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Times New Roman" charset="0"/>
                <a:ea typeface="宋体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Times New Roman" charset="0"/>
                <a:ea typeface="宋体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charset="0"/>
                <a:ea typeface="宋体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charset="0"/>
                <a:ea typeface="宋体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charset="0"/>
                <a:ea typeface="宋体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charset="0"/>
                <a:ea typeface="宋体" charset="0"/>
              </a:defRPr>
            </a:lvl9pPr>
          </a:lstStyle>
          <a:p>
            <a:fld id="{FB432940-D0FF-094A-A7D1-5B2BC5A3315C}" type="slidenum">
              <a:rPr lang="en-US" altLang="zh-CN">
                <a:effectLst>
                  <a:outerShdw blurRad="38100" dist="38100" dir="2700000" algn="tl">
                    <a:srgbClr val="C0C0C0"/>
                  </a:outerShdw>
                </a:effectLst>
              </a:rPr>
              <a:pPr/>
              <a:t>31</a:t>
            </a:fld>
            <a:endParaRPr lang="en-US" altLang="zh-CN">
              <a:effectLst>
                <a:outerShdw blurRad="38100" dist="38100" dir="2700000" algn="tl">
                  <a:srgbClr val="C0C0C0"/>
                </a:outerShdw>
              </a:effectLst>
            </a:endParaRPr>
          </a:p>
        </p:txBody>
      </p:sp>
      <p:sp>
        <p:nvSpPr>
          <p:cNvPr id="70659" name="Rectangle 2"/>
          <p:cNvSpPr>
            <a:spLocks noGrp="1" noRot="1" noChangeAspect="1" noChangeArrowheads="1"/>
          </p:cNvSpPr>
          <p:nvPr>
            <p:ph type="sldImg"/>
          </p:nvPr>
        </p:nvSpPr>
        <p:spPr bwMode="auto">
          <a:xfrm>
            <a:off x="992188" y="768350"/>
            <a:ext cx="5114925" cy="3836988"/>
          </a:xfrm>
          <a:prstGeom prst="rect">
            <a:avLst/>
          </a:prstGeom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FAA26D3D-D897-4be2-8F04-BA451C77F1D7}">
              <ma14:placeholderFlag xmlns:ma14="http://schemas.microsoft.com/office/mac/drawingml/2011/main" xmlns="" val="1"/>
            </a:ext>
          </a:extLst>
        </p:spPr>
      </p:sp>
      <p:sp>
        <p:nvSpPr>
          <p:cNvPr id="70660" name="Rectangle 3"/>
          <p:cNvSpPr>
            <a:spLocks noGrp="1" noChangeArrowheads="1"/>
          </p:cNvSpPr>
          <p:nvPr>
            <p:ph type="body" idx="1"/>
          </p:nvPr>
        </p:nvSpPr>
        <p:spPr bwMode="auto">
          <a:xfrm>
            <a:off x="709613" y="4860925"/>
            <a:ext cx="5680075" cy="4605338"/>
          </a:xfrm>
          <a:prstGeom prst="rect">
            <a:avLst/>
          </a:prstGeom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99048" tIns="49524" rIns="99048" bIns="49524"/>
          <a:lstStyle/>
          <a:p>
            <a:r>
              <a:rPr kumimoji="0" lang="en-US" altLang="zh-CN">
                <a:latin typeface="Times New Roman" charset="0"/>
                <a:ea typeface="宋体" charset="0"/>
              </a:rPr>
              <a:t>1.</a:t>
            </a:r>
            <a:r>
              <a:rPr kumimoji="0" lang="zh-CN" altLang="en-US">
                <a:latin typeface="Times New Roman" charset="0"/>
                <a:ea typeface="宋体" charset="0"/>
              </a:rPr>
              <a:t>若文件在当前目录下：</a:t>
            </a:r>
          </a:p>
          <a:p>
            <a:r>
              <a:rPr kumimoji="0" lang="en-US" altLang="zh-CN">
                <a:latin typeface="Times New Roman" charset="0"/>
                <a:ea typeface="宋体" charset="0"/>
              </a:rPr>
              <a:t>fp=fopen("aa.txt","r");</a:t>
            </a:r>
          </a:p>
          <a:p>
            <a:r>
              <a:rPr kumimoji="0" lang="en-US" altLang="zh-CN">
                <a:latin typeface="Times New Roman" charset="0"/>
                <a:ea typeface="宋体" charset="0"/>
              </a:rPr>
              <a:t>2.</a:t>
            </a:r>
            <a:r>
              <a:rPr kumimoji="0" lang="zh-CN" altLang="en-US">
                <a:latin typeface="Times New Roman" charset="0"/>
                <a:ea typeface="宋体" charset="0"/>
              </a:rPr>
              <a:t>若文件不在当前目录下：</a:t>
            </a:r>
          </a:p>
          <a:p>
            <a:r>
              <a:rPr kumimoji="0" lang="en-US" altLang="zh-CN">
                <a:latin typeface="Times New Roman" charset="0"/>
                <a:ea typeface="宋体" charset="0"/>
              </a:rPr>
              <a:t>fp=fopen("d:\\fengyi\\bkc\\aa.txt","r");</a:t>
            </a:r>
          </a:p>
          <a:p>
            <a:r>
              <a:rPr kumimoji="0" lang="en-US" altLang="zh-CN">
                <a:latin typeface="Times New Roman" charset="0"/>
                <a:ea typeface="宋体" charset="0"/>
              </a:rPr>
              <a:t>2.</a:t>
            </a:r>
            <a:r>
              <a:rPr kumimoji="0" lang="zh-CN" altLang="en-US">
                <a:latin typeface="Times New Roman" charset="0"/>
                <a:ea typeface="宋体" charset="0"/>
              </a:rPr>
              <a:t>若从键盘输入带路径文件名：</a:t>
            </a:r>
          </a:p>
          <a:p>
            <a:r>
              <a:rPr kumimoji="0" lang="en-US" altLang="zh-CN">
                <a:latin typeface="Times New Roman" charset="0"/>
                <a:ea typeface="宋体" charset="0"/>
              </a:rPr>
              <a:t>char infile[30];</a:t>
            </a:r>
          </a:p>
          <a:p>
            <a:r>
              <a:rPr kumimoji="0" lang="en-US" altLang="zh-CN">
                <a:latin typeface="Times New Roman" charset="0"/>
                <a:ea typeface="宋体" charset="0"/>
              </a:rPr>
              <a:t>scanf("%s",infile);</a:t>
            </a:r>
          </a:p>
          <a:p>
            <a:r>
              <a:rPr kumimoji="0" lang="en-US" altLang="zh-CN">
                <a:latin typeface="Times New Roman" charset="0"/>
                <a:ea typeface="宋体" charset="0"/>
              </a:rPr>
              <a:t>fp=fopen(infile,"r");</a:t>
            </a:r>
          </a:p>
          <a:p>
            <a:r>
              <a:rPr kumimoji="0" lang="zh-CN" altLang="en-US">
                <a:latin typeface="Times New Roman" charset="0"/>
                <a:ea typeface="宋体" charset="0"/>
              </a:rPr>
              <a:t>必须输入：</a:t>
            </a:r>
            <a:r>
              <a:rPr kumimoji="0" lang="en-US" altLang="zh-CN">
                <a:latin typeface="Times New Roman" charset="0"/>
                <a:ea typeface="宋体" charset="0"/>
              </a:rPr>
              <a:t>d:\fengyi\bkc\aa.txt</a:t>
            </a:r>
          </a:p>
        </p:txBody>
      </p:sp>
    </p:spTree>
    <p:extLst>
      <p:ext uri="{BB962C8B-B14F-4D97-AF65-F5344CB8AC3E}">
        <p14:creationId xmlns:p14="http://schemas.microsoft.com/office/powerpoint/2010/main" val="1057538456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7"/>
          <p:cNvSpPr>
            <a:spLocks noGrp="1" noChangeArrowheads="1"/>
          </p:cNvSpPr>
          <p:nvPr>
            <p:ph type="sldNum" sz="quarter" idx="4294967295"/>
          </p:nvPr>
        </p:nvSpPr>
        <p:spPr>
          <a:xfrm>
            <a:off x="4021138" y="9721850"/>
            <a:ext cx="3076575" cy="511175"/>
          </a:xfrm>
          <a:prstGeom prst="rect">
            <a:avLst/>
          </a:prstGeom>
        </p:spPr>
        <p:txBody>
          <a:bodyPr lIns="99048" tIns="49524" rIns="99048" bIns="49524"/>
          <a:lstStyle>
            <a:lvl1pPr>
              <a:defRPr sz="2400">
                <a:solidFill>
                  <a:schemeClr val="tx1"/>
                </a:solidFill>
                <a:latin typeface="Times New Roman" charset="0"/>
                <a:ea typeface="宋体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Times New Roman" charset="0"/>
                <a:ea typeface="宋体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Times New Roman" charset="0"/>
                <a:ea typeface="宋体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Times New Roman" charset="0"/>
                <a:ea typeface="宋体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Times New Roman" charset="0"/>
                <a:ea typeface="宋体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charset="0"/>
                <a:ea typeface="宋体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charset="0"/>
                <a:ea typeface="宋体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charset="0"/>
                <a:ea typeface="宋体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charset="0"/>
                <a:ea typeface="宋体" charset="0"/>
              </a:defRPr>
            </a:lvl9pPr>
          </a:lstStyle>
          <a:p>
            <a:fld id="{6C6E4A5D-AA6F-5D4A-8A36-93AD06C1FDA4}" type="slidenum">
              <a:rPr lang="en-US" altLang="zh-CN">
                <a:effectLst>
                  <a:outerShdw blurRad="38100" dist="38100" dir="2700000" algn="tl">
                    <a:srgbClr val="C0C0C0"/>
                  </a:outerShdw>
                </a:effectLst>
              </a:rPr>
              <a:pPr/>
              <a:t>32</a:t>
            </a:fld>
            <a:endParaRPr lang="en-US" altLang="zh-CN">
              <a:effectLst>
                <a:outerShdw blurRad="38100" dist="38100" dir="2700000" algn="tl">
                  <a:srgbClr val="C0C0C0"/>
                </a:outerShdw>
              </a:effectLst>
            </a:endParaRPr>
          </a:p>
        </p:txBody>
      </p:sp>
      <p:sp>
        <p:nvSpPr>
          <p:cNvPr id="71683" name="Rectangle 2"/>
          <p:cNvSpPr>
            <a:spLocks noGrp="1" noRot="1" noChangeAspect="1" noChangeArrowheads="1"/>
          </p:cNvSpPr>
          <p:nvPr>
            <p:ph type="sldImg"/>
          </p:nvPr>
        </p:nvSpPr>
        <p:spPr bwMode="auto">
          <a:xfrm>
            <a:off x="992188" y="768350"/>
            <a:ext cx="5114925" cy="3836988"/>
          </a:xfrm>
          <a:prstGeom prst="rect">
            <a:avLst/>
          </a:prstGeom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FAA26D3D-D897-4be2-8F04-BA451C77F1D7}">
              <ma14:placeholderFlag xmlns:ma14="http://schemas.microsoft.com/office/mac/drawingml/2011/main" xmlns="" val="1"/>
            </a:ext>
          </a:extLst>
        </p:spPr>
      </p:sp>
      <p:sp>
        <p:nvSpPr>
          <p:cNvPr id="71684" name="Rectangle 3"/>
          <p:cNvSpPr>
            <a:spLocks noGrp="1" noChangeArrowheads="1"/>
          </p:cNvSpPr>
          <p:nvPr>
            <p:ph type="body" idx="1"/>
          </p:nvPr>
        </p:nvSpPr>
        <p:spPr bwMode="auto">
          <a:xfrm>
            <a:off x="709613" y="4860925"/>
            <a:ext cx="5680075" cy="4605338"/>
          </a:xfrm>
          <a:prstGeom prst="rect">
            <a:avLst/>
          </a:prstGeom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99048" tIns="49524" rIns="99048" bIns="49524"/>
          <a:lstStyle/>
          <a:p>
            <a:r>
              <a:rPr kumimoji="0" lang="en-US" altLang="zh-CN">
                <a:latin typeface="Times New Roman" charset="0"/>
                <a:ea typeface="宋体" charset="0"/>
              </a:rPr>
              <a:t>1.</a:t>
            </a:r>
            <a:r>
              <a:rPr kumimoji="0" lang="zh-CN" altLang="en-US">
                <a:latin typeface="Times New Roman" charset="0"/>
                <a:ea typeface="宋体" charset="0"/>
              </a:rPr>
              <a:t>若文件在当前目录下：</a:t>
            </a:r>
          </a:p>
          <a:p>
            <a:r>
              <a:rPr kumimoji="0" lang="en-US" altLang="zh-CN">
                <a:latin typeface="Times New Roman" charset="0"/>
                <a:ea typeface="宋体" charset="0"/>
              </a:rPr>
              <a:t>fp=fopen("aa.txt","r");</a:t>
            </a:r>
          </a:p>
          <a:p>
            <a:r>
              <a:rPr kumimoji="0" lang="en-US" altLang="zh-CN">
                <a:latin typeface="Times New Roman" charset="0"/>
                <a:ea typeface="宋体" charset="0"/>
              </a:rPr>
              <a:t>2.</a:t>
            </a:r>
            <a:r>
              <a:rPr kumimoji="0" lang="zh-CN" altLang="en-US">
                <a:latin typeface="Times New Roman" charset="0"/>
                <a:ea typeface="宋体" charset="0"/>
              </a:rPr>
              <a:t>若文件不在当前目录下：</a:t>
            </a:r>
          </a:p>
          <a:p>
            <a:r>
              <a:rPr kumimoji="0" lang="en-US" altLang="zh-CN">
                <a:latin typeface="Times New Roman" charset="0"/>
                <a:ea typeface="宋体" charset="0"/>
              </a:rPr>
              <a:t>fp=fopen("d:\\fengyi\\bkc\\aa.txt","r");</a:t>
            </a:r>
          </a:p>
          <a:p>
            <a:r>
              <a:rPr kumimoji="0" lang="en-US" altLang="zh-CN">
                <a:latin typeface="Times New Roman" charset="0"/>
                <a:ea typeface="宋体" charset="0"/>
              </a:rPr>
              <a:t>2.</a:t>
            </a:r>
            <a:r>
              <a:rPr kumimoji="0" lang="zh-CN" altLang="en-US">
                <a:latin typeface="Times New Roman" charset="0"/>
                <a:ea typeface="宋体" charset="0"/>
              </a:rPr>
              <a:t>若从键盘输入带路径文件名：</a:t>
            </a:r>
          </a:p>
          <a:p>
            <a:r>
              <a:rPr kumimoji="0" lang="en-US" altLang="zh-CN">
                <a:latin typeface="Times New Roman" charset="0"/>
                <a:ea typeface="宋体" charset="0"/>
              </a:rPr>
              <a:t>char infile[30];</a:t>
            </a:r>
          </a:p>
          <a:p>
            <a:r>
              <a:rPr kumimoji="0" lang="en-US" altLang="zh-CN">
                <a:latin typeface="Times New Roman" charset="0"/>
                <a:ea typeface="宋体" charset="0"/>
              </a:rPr>
              <a:t>scanf("%s",infile);</a:t>
            </a:r>
          </a:p>
          <a:p>
            <a:r>
              <a:rPr kumimoji="0" lang="en-US" altLang="zh-CN">
                <a:latin typeface="Times New Roman" charset="0"/>
                <a:ea typeface="宋体" charset="0"/>
              </a:rPr>
              <a:t>fp=fopen(infile,"r");</a:t>
            </a:r>
          </a:p>
          <a:p>
            <a:r>
              <a:rPr kumimoji="0" lang="zh-CN" altLang="en-US">
                <a:latin typeface="Times New Roman" charset="0"/>
                <a:ea typeface="宋体" charset="0"/>
              </a:rPr>
              <a:t>必须输入：</a:t>
            </a:r>
            <a:r>
              <a:rPr kumimoji="0" lang="en-US" altLang="zh-CN">
                <a:latin typeface="Times New Roman" charset="0"/>
                <a:ea typeface="宋体" charset="0"/>
              </a:rPr>
              <a:t>d:\fengyi\bkc\aa.txt</a:t>
            </a:r>
          </a:p>
        </p:txBody>
      </p:sp>
    </p:spTree>
    <p:extLst>
      <p:ext uri="{BB962C8B-B14F-4D97-AF65-F5344CB8AC3E}">
        <p14:creationId xmlns:p14="http://schemas.microsoft.com/office/powerpoint/2010/main" val="253468057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4754" name="幻灯片图像占位符 1"/>
          <p:cNvSpPr>
            <a:spLocks noGrp="1" noRot="1" noChangeAspect="1"/>
          </p:cNvSpPr>
          <p:nvPr>
            <p:ph type="sldImg"/>
          </p:nvPr>
        </p:nvSpPr>
        <p:spPr bwMode="auto">
          <a:xfrm>
            <a:off x="992188" y="768350"/>
            <a:ext cx="5114925" cy="3836988"/>
          </a:xfrm>
          <a:prstGeom prst="rect">
            <a:avLst/>
          </a:prstGeom>
          <a:noFill/>
          <a:ln w="12700"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FAA26D3D-D897-4be2-8F04-BA451C77F1D7}">
              <ma14:placeholderFlag xmlns:ma14="http://schemas.microsoft.com/office/mac/drawingml/2011/main" xmlns="" val="1"/>
            </a:ext>
          </a:extLst>
        </p:spPr>
      </p:sp>
      <p:sp>
        <p:nvSpPr>
          <p:cNvPr id="74755" name="备注占位符 2"/>
          <p:cNvSpPr>
            <a:spLocks noGrp="1"/>
          </p:cNvSpPr>
          <p:nvPr>
            <p:ph type="body" idx="1"/>
          </p:nvPr>
        </p:nvSpPr>
        <p:spPr bwMode="auto">
          <a:xfrm>
            <a:off x="709613" y="4860925"/>
            <a:ext cx="5680075" cy="4605338"/>
          </a:xfrm>
          <a:prstGeom prst="rect">
            <a:avLst/>
          </a:prstGeom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FAA26D3D-D897-4be2-8F04-BA451C77F1D7}">
              <ma14:placeholderFlag xmlns:ma14="http://schemas.microsoft.com/office/mac/drawingml/2011/main" xmlns="" val="1"/>
            </a:ext>
          </a:extLst>
        </p:spPr>
        <p:txBody>
          <a:bodyPr/>
          <a:lstStyle/>
          <a:p>
            <a:pPr eaLnBrk="1" hangingPunct="1"/>
            <a:endParaRPr kumimoji="0" lang="zh-CN" altLang="en-US">
              <a:latin typeface="Times New Roman" charset="0"/>
              <a:ea typeface="宋体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542615849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>
          <a:xfrm>
            <a:off x="1246188" y="1279525"/>
            <a:ext cx="4606925" cy="34544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>
          <a:xfrm>
            <a:off x="709613" y="4926013"/>
            <a:ext cx="5680075" cy="4029075"/>
          </a:xfrm>
          <a:prstGeom prst="rect">
            <a:avLst/>
          </a:prstGeom>
        </p:spPr>
        <p:txBody>
          <a:bodyPr/>
          <a:lstStyle/>
          <a:p>
            <a:endParaRPr kumimoji="1"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2532046625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3" Type="http://schemas.microsoft.com/office/2007/relationships/hdphoto" Target="../media/hdphoto2.wdp"/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Relationship Id="rId5" Type="http://schemas.microsoft.com/office/2007/relationships/hdphoto" Target="../media/hdphoto1.wdp"/><Relationship Id="rId4" Type="http://schemas.openxmlformats.org/officeDocument/2006/relationships/image" Target="../media/image3.png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3" Type="http://schemas.microsoft.com/office/2007/relationships/hdphoto" Target="../media/hdphoto2.wdp"/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Relationship Id="rId5" Type="http://schemas.microsoft.com/office/2007/relationships/hdphoto" Target="../media/hdphoto1.wdp"/><Relationship Id="rId4" Type="http://schemas.openxmlformats.org/officeDocument/2006/relationships/image" Target="../media/image3.png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3" Type="http://schemas.microsoft.com/office/2007/relationships/hdphoto" Target="../media/hdphoto2.wdp"/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Relationship Id="rId5" Type="http://schemas.microsoft.com/office/2007/relationships/hdphoto" Target="../media/hdphoto1.wdp"/><Relationship Id="rId4" Type="http://schemas.openxmlformats.org/officeDocument/2006/relationships/image" Target="../media/image2.png"/></Relationships>
</file>

<file path=ppt/slideLayouts/_rels/slideLayout9.xml.rels><?xml version="1.0" encoding="UTF-8" standalone="yes"?>
<Relationships xmlns="http://schemas.openxmlformats.org/package/2006/relationships"><Relationship Id="rId3" Type="http://schemas.microsoft.com/office/2007/relationships/hdphoto" Target="../media/hdphoto2.wdp"/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Relationship Id="rId5" Type="http://schemas.microsoft.com/office/2007/relationships/hdphoto" Target="../media/hdphoto1.wdp"/><Relationship Id="rId4" Type="http://schemas.openxmlformats.org/officeDocument/2006/relationships/image" Target="../media/image2.png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685800" y="1346947"/>
            <a:ext cx="7772400" cy="80683"/>
          </a:xfrm>
          <a:prstGeom prst="rect">
            <a:avLst/>
          </a:prstGeom>
          <a:blipFill dpi="0" rotWithShape="1">
            <a:blip r:embed="rId2">
              <a:alphaModFix amt="80000"/>
              <a:lum bright="70000" contrast="-70000"/>
              <a:extLst>
                <a:ext uri="{BEBA8EAE-BF5A-486C-A8C5-ECC9F3942E4B}">
                  <a14:imgProps xmlns:a14="http://schemas.microsoft.com/office/drawing/2010/main">
                    <a14:imgLayer r:embed="rId3">
                      <a14:imgEffect>
                        <a14:sharpenSoften amount="61000"/>
                      </a14:imgEffect>
                    </a14:imgLayer>
                  </a14:imgProps>
                </a:ex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tile tx="0" ty="-762000" sx="92000" sy="89000" flip="xy" algn="ctr"/>
          </a:blip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" name="Rectangle 7"/>
          <p:cNvSpPr/>
          <p:nvPr/>
        </p:nvSpPr>
        <p:spPr>
          <a:xfrm>
            <a:off x="685800" y="4282763"/>
            <a:ext cx="7772400" cy="80683"/>
          </a:xfrm>
          <a:prstGeom prst="rect">
            <a:avLst/>
          </a:prstGeom>
          <a:blipFill dpi="0" rotWithShape="1">
            <a:blip r:embed="rId2">
              <a:alphaModFix amt="80000"/>
              <a:lum bright="70000" contrast="-70000"/>
              <a:extLst>
                <a:ext uri="{BEBA8EAE-BF5A-486C-A8C5-ECC9F3942E4B}">
                  <a14:imgProps xmlns:a14="http://schemas.microsoft.com/office/drawing/2010/main">
                    <a14:imgLayer r:embed="rId3">
                      <a14:imgEffect>
                        <a14:sharpenSoften amount="61000"/>
                      </a14:imgEffect>
                    </a14:imgLayer>
                  </a14:imgProps>
                </a:ex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tile tx="0" ty="-717550" sx="92000" sy="89000" flip="xy" algn="ctr"/>
          </a:blip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" name="Rectangle 8"/>
          <p:cNvSpPr/>
          <p:nvPr/>
        </p:nvSpPr>
        <p:spPr>
          <a:xfrm>
            <a:off x="685800" y="1484779"/>
            <a:ext cx="7772400" cy="2743200"/>
          </a:xfrm>
          <a:prstGeom prst="rect">
            <a:avLst/>
          </a:prstGeom>
          <a:blipFill dpi="0" rotWithShape="1">
            <a:blip r:embed="rId2">
              <a:alphaModFix amt="80000"/>
              <a:lum bright="70000" contrast="-70000"/>
              <a:extLst>
                <a:ext uri="{BEBA8EAE-BF5A-486C-A8C5-ECC9F3942E4B}">
                  <a14:imgProps xmlns:a14="http://schemas.microsoft.com/office/drawing/2010/main">
                    <a14:imgLayer r:embed="rId3">
                      <a14:imgEffect>
                        <a14:sharpenSoften amount="61000"/>
                      </a14:imgEffect>
                    </a14:imgLayer>
                  </a14:imgProps>
                </a:ex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tile tx="0" ty="-704850" sx="92000" sy="89000" flip="xy" algn="ctr"/>
          </a:blip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pSp>
        <p:nvGrpSpPr>
          <p:cNvPr id="10" name="Group 9"/>
          <p:cNvGrpSpPr>
            <a:grpSpLocks noChangeAspect="1"/>
          </p:cNvGrpSpPr>
          <p:nvPr/>
        </p:nvGrpSpPr>
        <p:grpSpPr>
          <a:xfrm>
            <a:off x="7234780" y="4107023"/>
            <a:ext cx="914400" cy="914400"/>
            <a:chOff x="9685338" y="4460675"/>
            <a:chExt cx="1080904" cy="1080902"/>
          </a:xfrm>
        </p:grpSpPr>
        <p:sp>
          <p:nvSpPr>
            <p:cNvPr id="11" name="Oval 10"/>
            <p:cNvSpPr/>
            <p:nvPr/>
          </p:nvSpPr>
          <p:spPr>
            <a:xfrm>
              <a:off x="9685338" y="4460675"/>
              <a:ext cx="1080904" cy="1080902"/>
            </a:xfrm>
            <a:prstGeom prst="ellipse">
              <a:avLst/>
            </a:prstGeom>
            <a:blipFill dpi="0" rotWithShape="1">
              <a:blip r:embed="rId4">
                <a:duotone>
                  <a:schemeClr val="accent1">
                    <a:shade val="45000"/>
                    <a:satMod val="135000"/>
                  </a:schemeClr>
                  <a:prstClr val="white"/>
                </a:duotone>
                <a:extLst>
                  <a:ext uri="{BEBA8EAE-BF5A-486C-A8C5-ECC9F3942E4B}">
                    <a14:imgProps xmlns:a14="http://schemas.microsoft.com/office/drawing/2010/main">
                      <a14:imgLayer r:embed="rId5">
                        <a14:imgEffect>
                          <a14:saturation sat="95000"/>
                        </a14:imgEffect>
                      </a14:imgLayer>
                    </a14:imgProps>
                  </a:ext>
                </a:extLst>
              </a:blip>
              <a:srcRect/>
              <a:tile tx="0" ty="0" sx="85000" sy="85000" flip="none" algn="tl"/>
            </a:blipFill>
            <a:ln w="25400" cap="flat" cmpd="sng" algn="ctr">
              <a:noFill/>
              <a:prstDash val="solid"/>
            </a:ln>
            <a:effectLst/>
          </p:spPr>
          <p:txBody>
            <a:bodyPr lIns="0" tIns="0" rIns="0" bIns="0" rtlCol="0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2000" b="0" i="0" u="none" strike="noStrike" kern="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Rockwell Extra Bold" pitchFamily="18" charset="0"/>
                <a:ea typeface="+mn-ea"/>
                <a:cs typeface="+mn-cs"/>
              </a:endParaRPr>
            </a:p>
          </p:txBody>
        </p:sp>
        <p:sp>
          <p:nvSpPr>
            <p:cNvPr id="12" name="Oval 11"/>
            <p:cNvSpPr/>
            <p:nvPr/>
          </p:nvSpPr>
          <p:spPr>
            <a:xfrm>
              <a:off x="9793429" y="4568765"/>
              <a:ext cx="864723" cy="864722"/>
            </a:xfrm>
            <a:prstGeom prst="ellipse">
              <a:avLst/>
            </a:prstGeom>
            <a:noFill/>
            <a:ln w="25400" cap="flat" cmpd="sng" algn="ctr">
              <a:solidFill>
                <a:sysClr val="window" lastClr="FFFFFF"/>
              </a:solidFill>
              <a:prstDash val="solid"/>
            </a:ln>
            <a:effectLst/>
          </p:spPr>
          <p:txBody>
            <a:bodyPr rtlCol="0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/>
                <a:ea typeface="+mn-ea"/>
                <a:cs typeface="+mn-cs"/>
              </a:endParaRPr>
            </a:p>
          </p:txBody>
        </p:sp>
      </p:grp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788670" y="1432223"/>
            <a:ext cx="7593330" cy="3035808"/>
          </a:xfrm>
        </p:spPr>
        <p:txBody>
          <a:bodyPr anchor="ctr">
            <a:noAutofit/>
          </a:bodyPr>
          <a:lstStyle>
            <a:lvl1pPr algn="l">
              <a:lnSpc>
                <a:spcPct val="80000"/>
              </a:lnSpc>
              <a:defRPr sz="6400" b="0" cap="all" baseline="0">
                <a:blipFill dpi="0" rotWithShape="1">
                  <a:blip r:embed="rId4"/>
                  <a:srcRect/>
                  <a:tile tx="6350" ty="-127000" sx="65000" sy="64000" flip="none" algn="tl"/>
                </a:blipFill>
              </a:defRPr>
            </a:lvl1pPr>
          </a:lstStyle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802386" y="4389120"/>
            <a:ext cx="5918454" cy="1069848"/>
          </a:xfrm>
        </p:spPr>
        <p:txBody>
          <a:bodyPr>
            <a:normAutofit/>
          </a:bodyPr>
          <a:lstStyle>
            <a:lvl1pPr marL="0" indent="0" algn="l">
              <a:buNone/>
              <a:defRPr sz="1800" b="0">
                <a:solidFill>
                  <a:schemeClr val="tx1"/>
                </a:solidFill>
              </a:defRPr>
            </a:lvl1pPr>
            <a:lvl2pPr marL="457200" indent="0" algn="ctr">
              <a:buNone/>
              <a:defRPr sz="2800"/>
            </a:lvl2pPr>
            <a:lvl3pPr marL="914400" indent="0" algn="ctr">
              <a:buNone/>
              <a:defRPr sz="2400"/>
            </a:lvl3pPr>
            <a:lvl4pPr marL="1371600" indent="0" algn="ctr">
              <a:buNone/>
              <a:defRPr sz="2000"/>
            </a:lvl4pPr>
            <a:lvl5pPr marL="1828800" indent="0" algn="ctr">
              <a:buNone/>
              <a:defRPr sz="2000"/>
            </a:lvl5pPr>
            <a:lvl6pPr marL="2286000" indent="0" algn="ctr">
              <a:buNone/>
              <a:defRPr sz="2000"/>
            </a:lvl6pPr>
            <a:lvl7pPr marL="2743200" indent="0" algn="ctr">
              <a:buNone/>
              <a:defRPr sz="2000"/>
            </a:lvl7pPr>
            <a:lvl8pPr marL="3200400" indent="0" algn="ctr">
              <a:buNone/>
              <a:defRPr sz="2000"/>
            </a:lvl8pPr>
            <a:lvl9pPr marL="3657600" indent="0" algn="ctr">
              <a:buNone/>
              <a:defRPr sz="2000"/>
            </a:lvl9pPr>
          </a:lstStyle>
          <a:p>
            <a:r>
              <a:rPr lang="zh-CN" altLang="en-US"/>
              <a:t>单击此处编辑母版副标题样式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fld id="{669FF750-9EF9-F142-A865-9377D3E318C7}" type="datetime1">
              <a:rPr lang="zh-CN" altLang="en-US" smtClean="0"/>
              <a:pPr>
                <a:defRPr/>
              </a:pPr>
              <a:t>2022/12/23</a:t>
            </a:fld>
            <a:endParaRPr lang="en-US" altLang="zh-C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812805" y="6272785"/>
            <a:ext cx="4745736" cy="365125"/>
          </a:xfrm>
        </p:spPr>
        <p:txBody>
          <a:bodyPr/>
          <a:lstStyle/>
          <a:p>
            <a:pPr>
              <a:defRPr/>
            </a:pPr>
            <a:endParaRPr lang="en-US" altLang="zh-C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7244280" y="4227195"/>
            <a:ext cx="895401" cy="640080"/>
          </a:xfrm>
        </p:spPr>
        <p:txBody>
          <a:bodyPr/>
          <a:lstStyle>
            <a:lvl1pPr>
              <a:defRPr sz="2800" b="1"/>
            </a:lvl1pPr>
          </a:lstStyle>
          <a:p>
            <a:fld id="{1A985720-F7D2-9743-9A90-F73A23D4ADFC}" type="slidenum">
              <a:rPr lang="zh-CN" altLang="en-US" smtClean="0"/>
              <a:pPr/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44919947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16993E9-CEF0-47B7-AEA6-AFACC79966BA}" type="datetimeFigureOut">
              <a:rPr lang="en-US" smtClean="0"/>
              <a:t>12/23/22</a:t>
            </a:fld>
            <a:endParaRPr lang="en-US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
              </a:t>
            </a:r>
            <a:endParaRPr lang="en-US"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29052350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0" y="4917989"/>
            <a:ext cx="9144000" cy="1940010"/>
          </a:xfrm>
          <a:prstGeom prst="rect">
            <a:avLst/>
          </a:prstGeom>
          <a:blipFill dpi="0" rotWithShape="1">
            <a:blip r:embed="rId2">
              <a:alphaModFix amt="80000"/>
              <a:lum bright="70000" contrast="-70000"/>
              <a:extLst>
                <a:ext uri="{BEBA8EAE-BF5A-486C-A8C5-ECC9F3942E4B}">
                  <a14:imgProps xmlns:a14="http://schemas.microsoft.com/office/drawing/2010/main">
                    <a14:imgLayer r:embed="rId3">
                      <a14:imgEffect>
                        <a14:sharpenSoften amount="61000"/>
                      </a14:imgEffect>
                    </a14:imgLayer>
                  </a14:imgProps>
                </a:ex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tile tx="0" ty="-704850" sx="92000" sy="89000" flip="xy" algn="ctr"/>
          </a:blip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625346" y="1225296"/>
            <a:ext cx="6960870" cy="3520440"/>
          </a:xfrm>
        </p:spPr>
        <p:txBody>
          <a:bodyPr anchor="ctr">
            <a:normAutofit/>
          </a:bodyPr>
          <a:lstStyle>
            <a:lvl1pPr>
              <a:lnSpc>
                <a:spcPct val="80000"/>
              </a:lnSpc>
              <a:defRPr sz="6400" b="0"/>
            </a:lvl1pPr>
          </a:lstStyle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624330" y="5020056"/>
            <a:ext cx="6789420" cy="1066800"/>
          </a:xfrm>
        </p:spPr>
        <p:txBody>
          <a:bodyPr anchor="t">
            <a:normAutofit/>
          </a:bodyPr>
          <a:lstStyle>
            <a:lvl1pPr marL="0" indent="0">
              <a:buNone/>
              <a:defRPr sz="1800" b="0">
                <a:solidFill>
                  <a:schemeClr val="accent1">
                    <a:lumMod val="5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6445251" y="6272785"/>
            <a:ext cx="1983232" cy="365125"/>
          </a:xfrm>
        </p:spPr>
        <p:txBody>
          <a:bodyPr/>
          <a:lstStyle>
            <a:lvl1pPr>
              <a:defRPr>
                <a:solidFill>
                  <a:schemeClr val="accent1">
                    <a:lumMod val="50000"/>
                  </a:schemeClr>
                </a:solidFill>
              </a:defRPr>
            </a:lvl1pPr>
          </a:lstStyle>
          <a:p>
            <a:fld id="{D2434F47-3A99-4701-A7D9-FE6C4D9DA92E}" type="datetimeFigureOut">
              <a:rPr lang="en-US" smtClean="0"/>
              <a:t>12/23/22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1636099" y="6272784"/>
            <a:ext cx="4745736" cy="365125"/>
          </a:xfrm>
        </p:spPr>
        <p:txBody>
          <a:bodyPr/>
          <a:lstStyle>
            <a:lvl1pPr>
              <a:defRPr>
                <a:solidFill>
                  <a:schemeClr val="accent1">
                    <a:lumMod val="50000"/>
                  </a:schemeClr>
                </a:solidFill>
              </a:defRPr>
            </a:lvl1pPr>
          </a:lstStyle>
          <a:p>
            <a:r>
              <a:rPr lang="en-US"/>
              <a:t>
              </a:t>
            </a:r>
            <a:endParaRPr lang="en-US" dirty="0"/>
          </a:p>
        </p:txBody>
      </p:sp>
      <p:grpSp>
        <p:nvGrpSpPr>
          <p:cNvPr id="8" name="Group 7"/>
          <p:cNvGrpSpPr>
            <a:grpSpLocks noChangeAspect="1"/>
          </p:cNvGrpSpPr>
          <p:nvPr/>
        </p:nvGrpSpPr>
        <p:grpSpPr>
          <a:xfrm>
            <a:off x="633862" y="2430623"/>
            <a:ext cx="914400" cy="914400"/>
            <a:chOff x="9685338" y="4460675"/>
            <a:chExt cx="1080904" cy="1080902"/>
          </a:xfrm>
        </p:grpSpPr>
        <p:sp>
          <p:nvSpPr>
            <p:cNvPr id="9" name="Oval 8"/>
            <p:cNvSpPr/>
            <p:nvPr/>
          </p:nvSpPr>
          <p:spPr>
            <a:xfrm>
              <a:off x="9685338" y="4460675"/>
              <a:ext cx="1080904" cy="1080902"/>
            </a:xfrm>
            <a:prstGeom prst="ellipse">
              <a:avLst/>
            </a:prstGeom>
            <a:blipFill dpi="0" rotWithShape="1">
              <a:blip r:embed="rId4">
                <a:duotone>
                  <a:schemeClr val="accent1">
                    <a:shade val="45000"/>
                    <a:satMod val="135000"/>
                  </a:schemeClr>
                  <a:prstClr val="white"/>
                </a:duotone>
                <a:extLst>
                  <a:ext uri="{BEBA8EAE-BF5A-486C-A8C5-ECC9F3942E4B}">
                    <a14:imgProps xmlns:a14="http://schemas.microsoft.com/office/drawing/2010/main">
                      <a14:imgLayer r:embed="rId5">
                        <a14:imgEffect>
                          <a14:saturation sat="95000"/>
                        </a14:imgEffect>
                      </a14:imgLayer>
                    </a14:imgProps>
                  </a:ext>
                </a:extLst>
              </a:blip>
              <a:srcRect/>
              <a:tile tx="0" ty="0" sx="85000" sy="85000" flip="none" algn="tl"/>
            </a:blipFill>
            <a:ln w="25400" cap="flat" cmpd="sng" algn="ctr">
              <a:noFill/>
              <a:prstDash val="solid"/>
            </a:ln>
            <a:effectLst/>
          </p:spPr>
          <p:txBody>
            <a:bodyPr lIns="0" tIns="0" rIns="0" bIns="0" rtlCol="0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2000" b="0" i="0" u="none" strike="noStrike" kern="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Rockwell Extra Bold" pitchFamily="18" charset="0"/>
                <a:ea typeface="+mn-ea"/>
                <a:cs typeface="+mn-cs"/>
              </a:endParaRPr>
            </a:p>
          </p:txBody>
        </p:sp>
        <p:sp>
          <p:nvSpPr>
            <p:cNvPr id="10" name="Oval 9"/>
            <p:cNvSpPr/>
            <p:nvPr/>
          </p:nvSpPr>
          <p:spPr>
            <a:xfrm>
              <a:off x="9793429" y="4568765"/>
              <a:ext cx="864723" cy="864722"/>
            </a:xfrm>
            <a:prstGeom prst="ellipse">
              <a:avLst/>
            </a:prstGeom>
            <a:noFill/>
            <a:ln w="25400" cap="flat" cmpd="sng" algn="ctr">
              <a:solidFill>
                <a:sysClr val="window" lastClr="FFFFFF"/>
              </a:solidFill>
              <a:prstDash val="solid"/>
            </a:ln>
            <a:effectLst/>
          </p:spPr>
          <p:txBody>
            <a:bodyPr rtlCol="0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/>
                <a:ea typeface="+mn-ea"/>
                <a:cs typeface="+mn-cs"/>
              </a:endParaRPr>
            </a:p>
          </p:txBody>
        </p:sp>
      </p:grp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645450" y="2508607"/>
            <a:ext cx="891224" cy="720332"/>
          </a:xfrm>
        </p:spPr>
        <p:txBody>
          <a:bodyPr/>
          <a:lstStyle>
            <a:lvl1pPr>
              <a:defRPr sz="2800"/>
            </a:lvl1pPr>
          </a:lstStyle>
          <a:p>
            <a:fld id="{D57F1E4F-1CFF-5643-939E-217C01CDF56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43730642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项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85800" y="2194560"/>
            <a:ext cx="3657600" cy="3977640"/>
          </a:xfrm>
        </p:spPr>
        <p:txBody>
          <a:bodyPr/>
          <a:lstStyle>
            <a:lvl1pPr>
              <a:defRPr sz="2000"/>
            </a:lvl1pPr>
            <a:lvl2pPr>
              <a:defRPr sz="1800"/>
            </a:lvl2pPr>
            <a:lvl3pPr>
              <a:defRPr sz="1600"/>
            </a:lvl3pPr>
            <a:lvl4pPr>
              <a:defRPr sz="1600"/>
            </a:lvl4pPr>
            <a:lvl5pPr>
              <a:defRPr sz="16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792218" y="2194560"/>
            <a:ext cx="3657600" cy="3977640"/>
          </a:xfrm>
        </p:spPr>
        <p:txBody>
          <a:bodyPr/>
          <a:lstStyle>
            <a:lvl1pPr>
              <a:defRPr sz="2000"/>
            </a:lvl1pPr>
            <a:lvl2pPr>
              <a:defRPr sz="1800"/>
            </a:lvl2pPr>
            <a:lvl3pPr>
              <a:defRPr sz="1600"/>
            </a:lvl3pPr>
            <a:lvl4pPr>
              <a:defRPr sz="1600"/>
            </a:lvl4pPr>
            <a:lvl5pPr>
              <a:defRPr sz="16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9E62588-EC5C-453B-A942-AA1C7EFEEF33}" type="datetimeFigureOut">
              <a:rPr lang="en-US" smtClean="0"/>
              <a:t>12/23/22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
              </a:t>
            </a:r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12958526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85800" y="2048256"/>
            <a:ext cx="3657600" cy="640080"/>
          </a:xfrm>
        </p:spPr>
        <p:txBody>
          <a:bodyPr anchor="ctr">
            <a:normAutofit/>
          </a:bodyPr>
          <a:lstStyle>
            <a:lvl1pPr marL="0" indent="0">
              <a:buNone/>
              <a:defRPr sz="2000" b="1">
                <a:solidFill>
                  <a:schemeClr val="accent1">
                    <a:lumMod val="75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85800" y="2743200"/>
            <a:ext cx="3657600" cy="3291840"/>
          </a:xfrm>
        </p:spPr>
        <p:txBody>
          <a:bodyPr/>
          <a:lstStyle>
            <a:lvl1pPr>
              <a:defRPr sz="2000"/>
            </a:lvl1pPr>
            <a:lvl2pPr>
              <a:defRPr sz="1800"/>
            </a:lvl2pPr>
            <a:lvl3pPr>
              <a:defRPr sz="16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820793" y="2048256"/>
            <a:ext cx="3657600" cy="640080"/>
          </a:xfrm>
        </p:spPr>
        <p:txBody>
          <a:bodyPr anchor="ctr">
            <a:normAutofit/>
          </a:bodyPr>
          <a:lstStyle>
            <a:lvl1pPr marL="0" indent="0">
              <a:buNone/>
              <a:defRPr sz="2000" b="1">
                <a:solidFill>
                  <a:schemeClr val="accent1">
                    <a:lumMod val="75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820793" y="2743200"/>
            <a:ext cx="3657600" cy="3291840"/>
          </a:xfrm>
        </p:spPr>
        <p:txBody>
          <a:bodyPr/>
          <a:lstStyle>
            <a:lvl1pPr>
              <a:defRPr sz="2000"/>
            </a:lvl1pPr>
            <a:lvl2pPr>
              <a:defRPr sz="1800"/>
            </a:lvl2pPr>
            <a:lvl3pPr>
              <a:defRPr sz="16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2D5D575-BDA5-4AAF-81DC-5D38C213A391}" type="datetimeFigureOut">
              <a:rPr lang="en-US" smtClean="0"/>
              <a:t>12/23/22</a:t>
            </a:fld>
            <a:endParaRPr lang="en-US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
              </a:t>
            </a:r>
            <a:endParaRPr lang="en-US"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10" name="Title 9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18410937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chemeClr val="accent1">
                    <a:lumMod val="50000"/>
                  </a:schemeClr>
                </a:solidFill>
              </a:defRPr>
            </a:lvl1pPr>
          </a:lstStyle>
          <a:p>
            <a:fld id="{48F9C5B0-21BA-48EA-B067-5E37072B4F18}" type="datetimeFigureOut">
              <a:rPr lang="en-US" smtClean="0"/>
              <a:t>12/23/22</a:t>
            </a:fld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chemeClr val="accent1">
                    <a:lumMod val="50000"/>
                  </a:schemeClr>
                </a:solidFill>
              </a:defRPr>
            </a:lvl1pPr>
          </a:lstStyle>
          <a:p>
            <a:r>
              <a:rPr lang="en-US"/>
              <a:t>
              </a:t>
            </a:r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6" name="Title 5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95308876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CB959AD-49F4-478E-A013-BE606CDD1B41}" type="datetimeFigureOut">
              <a:rPr lang="en-US" smtClean="0"/>
              <a:t>12/23/22</a:t>
            </a:fld>
            <a:endParaRPr lang="en-US" dirty="0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
              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29967559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/>
          <p:cNvSpPr/>
          <p:nvPr/>
        </p:nvSpPr>
        <p:spPr>
          <a:xfrm>
            <a:off x="6227806" y="1"/>
            <a:ext cx="2916194" cy="6857999"/>
          </a:xfrm>
          <a:prstGeom prst="rect">
            <a:avLst/>
          </a:prstGeom>
          <a:blipFill dpi="0" rotWithShape="1">
            <a:blip r:embed="rId2">
              <a:alphaModFix amt="60000"/>
              <a:lum bright="70000" contrast="-70000"/>
              <a:extLst>
                <a:ext uri="{BEBA8EAE-BF5A-486C-A8C5-ECC9F3942E4B}">
                  <a14:imgProps xmlns:a14="http://schemas.microsoft.com/office/drawing/2010/main">
                    <a14:imgLayer r:embed="rId3">
                      <a14:imgEffect>
                        <a14:sharpenSoften amount="61000"/>
                      </a14:imgEffect>
                    </a14:imgLayer>
                  </a14:imgProps>
                </a:ex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tile tx="0" ty="-704850" sx="92000" sy="89000" flip="xy" algn="ctr"/>
          </a:blip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412230" y="685800"/>
            <a:ext cx="2400300" cy="1737360"/>
          </a:xfrm>
        </p:spPr>
        <p:txBody>
          <a:bodyPr anchor="b">
            <a:normAutofit/>
          </a:bodyPr>
          <a:lstStyle>
            <a:lvl1pPr>
              <a:defRPr sz="2800" b="0"/>
            </a:lvl1pPr>
          </a:lstStyle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28650" y="685800"/>
            <a:ext cx="5033772" cy="5020056"/>
          </a:xfrm>
        </p:spPr>
        <p:txBody>
          <a:bodyPr/>
          <a:lstStyle>
            <a:lvl1pPr>
              <a:defRPr sz="2000"/>
            </a:lvl1pPr>
            <a:lvl2pPr>
              <a:defRPr sz="1800"/>
            </a:lvl2pPr>
            <a:lvl3pPr>
              <a:defRPr sz="1600"/>
            </a:lvl3pPr>
            <a:lvl4pPr>
              <a:defRPr sz="1600"/>
            </a:lvl4pPr>
            <a:lvl5pPr>
              <a:defRPr sz="16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412230" y="2423160"/>
            <a:ext cx="2400300" cy="3291840"/>
          </a:xfrm>
        </p:spPr>
        <p:txBody>
          <a:bodyPr>
            <a:normAutofit/>
          </a:bodyPr>
          <a:lstStyle>
            <a:lvl1pPr marL="0" indent="0">
              <a:lnSpc>
                <a:spcPct val="100000"/>
              </a:lnSpc>
              <a:spcBef>
                <a:spcPts val="1000"/>
              </a:spcBef>
              <a:buNone/>
              <a:defRPr sz="1350">
                <a:solidFill>
                  <a:schemeClr val="accent1">
                    <a:lumMod val="50000"/>
                  </a:schemeClr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grpSp>
        <p:nvGrpSpPr>
          <p:cNvPr id="12" name="Group 11"/>
          <p:cNvGrpSpPr/>
          <p:nvPr/>
        </p:nvGrpSpPr>
        <p:grpSpPr>
          <a:xfrm>
            <a:off x="8522664" y="6255258"/>
            <a:ext cx="393192" cy="393192"/>
            <a:chOff x="8532189" y="5068824"/>
            <a:chExt cx="393192" cy="393192"/>
          </a:xfrm>
        </p:grpSpPr>
        <p:sp>
          <p:nvSpPr>
            <p:cNvPr id="13" name="Oval 12"/>
            <p:cNvSpPr>
              <a:spLocks noChangeAspect="1"/>
            </p:cNvSpPr>
            <p:nvPr/>
          </p:nvSpPr>
          <p:spPr>
            <a:xfrm>
              <a:off x="8532189" y="5068824"/>
              <a:ext cx="393192" cy="393192"/>
            </a:xfrm>
            <a:prstGeom prst="ellipse">
              <a:avLst/>
            </a:prstGeom>
            <a:blipFill dpi="0" rotWithShape="1">
              <a:blip r:embed="rId4">
                <a:duotone>
                  <a:schemeClr val="accent1">
                    <a:shade val="45000"/>
                    <a:satMod val="135000"/>
                  </a:schemeClr>
                  <a:prstClr val="white"/>
                </a:duotone>
                <a:extLst>
                  <a:ext uri="{BEBA8EAE-BF5A-486C-A8C5-ECC9F3942E4B}">
                    <a14:imgProps xmlns:a14="http://schemas.microsoft.com/office/drawing/2010/main">
                      <a14:imgLayer r:embed="rId5">
                        <a14:imgEffect>
                          <a14:saturation sat="95000"/>
                        </a14:imgEffect>
                        <a14:imgEffect>
                          <a14:brightnessContrast bright="-40000" contrast="20000"/>
                        </a14:imgEffect>
                      </a14:imgLayer>
                    </a14:imgProps>
                  </a:ext>
                </a:extLst>
              </a:blip>
              <a:srcRect/>
              <a:tile tx="50800" ty="0" sx="85000" sy="85000" flip="none" algn="tl"/>
            </a:blipFill>
            <a:ln w="25400" cap="flat" cmpd="sng" algn="ctr">
              <a:noFill/>
              <a:prstDash val="solid"/>
            </a:ln>
            <a:effectLst/>
          </p:spPr>
          <p:txBody>
            <a:bodyPr lIns="0" tIns="0" rIns="0" bIns="0" rtlCol="0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2000" b="0" i="0" u="none" strike="noStrike" kern="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Rockwell Extra Bold" pitchFamily="18" charset="0"/>
                <a:ea typeface="+mn-ea"/>
                <a:cs typeface="+mn-cs"/>
              </a:endParaRPr>
            </a:p>
          </p:txBody>
        </p:sp>
        <p:sp>
          <p:nvSpPr>
            <p:cNvPr id="14" name="Oval 13"/>
            <p:cNvSpPr>
              <a:spLocks noChangeAspect="1"/>
            </p:cNvSpPr>
            <p:nvPr/>
          </p:nvSpPr>
          <p:spPr>
            <a:xfrm>
              <a:off x="8568766" y="5105400"/>
              <a:ext cx="320039" cy="320040"/>
            </a:xfrm>
            <a:prstGeom prst="ellipse">
              <a:avLst/>
            </a:prstGeom>
            <a:noFill/>
            <a:ln w="12700" cap="flat" cmpd="sng" algn="ctr">
              <a:solidFill>
                <a:srgbClr val="FFFFFF"/>
              </a:solidFill>
              <a:prstDash val="solid"/>
            </a:ln>
            <a:effectLst/>
          </p:spPr>
          <p:txBody>
            <a:bodyPr rtlCol="0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/>
                <a:ea typeface="+mn-ea"/>
                <a:cs typeface="+mn-cs"/>
              </a:endParaRPr>
            </a:p>
          </p:txBody>
        </p:sp>
      </p:grpSp>
      <p:sp>
        <p:nvSpPr>
          <p:cNvPr id="9" name="Date Placeholder 8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755E8D2-BCEE-4D3D-AE6D-93BD204BAD0C}" type="datetimeFigureOut">
              <a:rPr lang="en-US" smtClean="0"/>
              <a:t>12/23/22</a:t>
            </a:fld>
            <a:endParaRPr lang="en-US" dirty="0"/>
          </a:p>
        </p:txBody>
      </p:sp>
      <p:sp>
        <p:nvSpPr>
          <p:cNvPr id="10" name="Footer Placeholder 9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
              </a:t>
            </a:r>
            <a:endParaRPr lang="en-US" dirty="0"/>
          </a:p>
        </p:txBody>
      </p:sp>
      <p:sp>
        <p:nvSpPr>
          <p:cNvPr id="11" name="Slide Number Placeholder 10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7416831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Rectangle 10"/>
          <p:cNvSpPr/>
          <p:nvPr/>
        </p:nvSpPr>
        <p:spPr>
          <a:xfrm>
            <a:off x="6227806" y="1"/>
            <a:ext cx="2916194" cy="6857999"/>
          </a:xfrm>
          <a:prstGeom prst="rect">
            <a:avLst/>
          </a:prstGeom>
          <a:blipFill dpi="0" rotWithShape="1">
            <a:blip r:embed="rId2">
              <a:alphaModFix amt="60000"/>
              <a:lum bright="70000" contrast="-70000"/>
              <a:extLst>
                <a:ext uri="{BEBA8EAE-BF5A-486C-A8C5-ECC9F3942E4B}">
                  <a14:imgProps xmlns:a14="http://schemas.microsoft.com/office/drawing/2010/main">
                    <a14:imgLayer r:embed="rId3">
                      <a14:imgEffect>
                        <a14:sharpenSoften amount="61000"/>
                      </a14:imgEffect>
                    </a14:imgLayer>
                  </a14:imgProps>
                </a:ex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tile tx="0" ty="-704850" sx="92000" sy="89000" flip="xy" algn="ctr"/>
          </a:blip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412230" y="685800"/>
            <a:ext cx="2400300" cy="1737360"/>
          </a:xfrm>
        </p:spPr>
        <p:txBody>
          <a:bodyPr anchor="b">
            <a:normAutofit/>
          </a:bodyPr>
          <a:lstStyle>
            <a:lvl1pPr>
              <a:defRPr sz="2800" b="0"/>
            </a:lvl1pPr>
          </a:lstStyle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0" y="0"/>
            <a:ext cx="6227805" cy="6858000"/>
          </a:xfrm>
          <a:solidFill>
            <a:schemeClr val="tx2">
              <a:lumMod val="20000"/>
              <a:lumOff val="80000"/>
            </a:schemeClr>
          </a:solidFill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zh-CN" altLang="en-US"/>
              <a:t>将图片拖动到占位符，或单击添加图标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412230" y="2423160"/>
            <a:ext cx="2400300" cy="3291840"/>
          </a:xfrm>
        </p:spPr>
        <p:txBody>
          <a:bodyPr>
            <a:normAutofit/>
          </a:bodyPr>
          <a:lstStyle>
            <a:lvl1pPr marL="0" indent="0">
              <a:lnSpc>
                <a:spcPct val="100000"/>
              </a:lnSpc>
              <a:spcBef>
                <a:spcPts val="1000"/>
              </a:spcBef>
              <a:buNone/>
              <a:defRPr sz="1350">
                <a:solidFill>
                  <a:schemeClr val="accent1">
                    <a:lumMod val="50000"/>
                  </a:schemeClr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grpSp>
        <p:nvGrpSpPr>
          <p:cNvPr id="12" name="Group 11"/>
          <p:cNvGrpSpPr/>
          <p:nvPr/>
        </p:nvGrpSpPr>
        <p:grpSpPr>
          <a:xfrm>
            <a:off x="8522664" y="6255258"/>
            <a:ext cx="393192" cy="393192"/>
            <a:chOff x="8532189" y="5068824"/>
            <a:chExt cx="393192" cy="393192"/>
          </a:xfrm>
        </p:grpSpPr>
        <p:sp>
          <p:nvSpPr>
            <p:cNvPr id="13" name="Oval 12"/>
            <p:cNvSpPr>
              <a:spLocks noChangeAspect="1"/>
            </p:cNvSpPr>
            <p:nvPr/>
          </p:nvSpPr>
          <p:spPr>
            <a:xfrm>
              <a:off x="8532189" y="5068824"/>
              <a:ext cx="393192" cy="393192"/>
            </a:xfrm>
            <a:prstGeom prst="ellipse">
              <a:avLst/>
            </a:prstGeom>
            <a:blipFill dpi="0" rotWithShape="1">
              <a:blip r:embed="rId4">
                <a:duotone>
                  <a:schemeClr val="accent1">
                    <a:shade val="45000"/>
                    <a:satMod val="135000"/>
                  </a:schemeClr>
                  <a:prstClr val="white"/>
                </a:duotone>
                <a:extLst>
                  <a:ext uri="{BEBA8EAE-BF5A-486C-A8C5-ECC9F3942E4B}">
                    <a14:imgProps xmlns:a14="http://schemas.microsoft.com/office/drawing/2010/main">
                      <a14:imgLayer r:embed="rId5">
                        <a14:imgEffect>
                          <a14:saturation sat="95000"/>
                        </a14:imgEffect>
                        <a14:imgEffect>
                          <a14:brightnessContrast bright="-40000" contrast="20000"/>
                        </a14:imgEffect>
                      </a14:imgLayer>
                    </a14:imgProps>
                  </a:ext>
                </a:extLst>
              </a:blip>
              <a:srcRect/>
              <a:tile tx="50800" ty="0" sx="85000" sy="85000" flip="none" algn="tl"/>
            </a:blipFill>
            <a:ln w="25400" cap="flat" cmpd="sng" algn="ctr">
              <a:noFill/>
              <a:prstDash val="solid"/>
            </a:ln>
            <a:effectLst/>
          </p:spPr>
          <p:txBody>
            <a:bodyPr lIns="0" tIns="0" rIns="0" bIns="0" rtlCol="0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2000" b="0" i="0" u="none" strike="noStrike" kern="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Rockwell Extra Bold" pitchFamily="18" charset="0"/>
                <a:ea typeface="+mn-ea"/>
                <a:cs typeface="+mn-cs"/>
              </a:endParaRPr>
            </a:p>
          </p:txBody>
        </p:sp>
        <p:sp>
          <p:nvSpPr>
            <p:cNvPr id="14" name="Oval 13"/>
            <p:cNvSpPr>
              <a:spLocks noChangeAspect="1"/>
            </p:cNvSpPr>
            <p:nvPr/>
          </p:nvSpPr>
          <p:spPr>
            <a:xfrm>
              <a:off x="8568766" y="5105400"/>
              <a:ext cx="320039" cy="320040"/>
            </a:xfrm>
            <a:prstGeom prst="ellipse">
              <a:avLst/>
            </a:prstGeom>
            <a:noFill/>
            <a:ln w="12700" cap="flat" cmpd="sng" algn="ctr">
              <a:solidFill>
                <a:srgbClr val="FFFFFF"/>
              </a:solidFill>
              <a:prstDash val="solid"/>
            </a:ln>
            <a:effectLst/>
          </p:spPr>
          <p:txBody>
            <a:bodyPr rtlCol="0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/>
                <a:ea typeface="+mn-ea"/>
                <a:cs typeface="+mn-cs"/>
              </a:endParaRPr>
            </a:p>
          </p:txBody>
        </p:sp>
      </p:grpSp>
      <p:sp>
        <p:nvSpPr>
          <p:cNvPr id="8" name="Date Placeholder 7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BBF110E-D48F-4A61-BE6D-11D38A61FE05}" type="datetimeFigureOut">
              <a:rPr lang="en-US" smtClean="0"/>
              <a:t>12/23/22</a:t>
            </a:fld>
            <a:endParaRPr lang="en-US" dirty="0"/>
          </a:p>
        </p:txBody>
      </p:sp>
      <p:sp>
        <p:nvSpPr>
          <p:cNvPr id="10" name="Slide Number Placeholder 9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19277863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F1580A0-ED6C-4884-9FFE-87471827F59A}" type="datetimeFigureOut">
              <a:rPr lang="en-US" smtClean="0"/>
              <a:t>12/23/22</a:t>
            </a:fld>
            <a:endParaRPr lang="en-US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
              </a:t>
            </a:r>
            <a:endParaRPr lang="en-US"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100800790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竖排标题和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543675" y="533400"/>
            <a:ext cx="1914525" cy="5638800"/>
          </a:xfrm>
        </p:spPr>
        <p:txBody>
          <a:bodyPr vert="eaVert"/>
          <a:lstStyle>
            <a:lvl1pPr>
              <a:defRPr b="0"/>
            </a:lvl1pPr>
          </a:lstStyle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00100" y="533400"/>
            <a:ext cx="5629275" cy="5638800"/>
          </a:xfrm>
        </p:spPr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9474D98-3273-47CE-B312-A00AAFA2779F}" type="datetimeFigureOut">
              <a:rPr lang="en-US" smtClean="0"/>
              <a:t>12/23/22</a:t>
            </a:fld>
            <a:endParaRPr lang="en-US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
              </a:t>
            </a:r>
            <a:endParaRPr lang="en-US"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58725862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image" Target="../media/image2.png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image" Target="../media/image3.png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microsoft.com/office/2007/relationships/hdphoto" Target="../media/hdphoto1.wdp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2" name="Group 11"/>
          <p:cNvGrpSpPr/>
          <p:nvPr/>
        </p:nvGrpSpPr>
        <p:grpSpPr>
          <a:xfrm>
            <a:off x="8522664" y="6255258"/>
            <a:ext cx="393192" cy="393192"/>
            <a:chOff x="8532189" y="5068824"/>
            <a:chExt cx="393192" cy="393192"/>
          </a:xfrm>
        </p:grpSpPr>
        <p:sp>
          <p:nvSpPr>
            <p:cNvPr id="8" name="Oval 7"/>
            <p:cNvSpPr>
              <a:spLocks noChangeAspect="1"/>
            </p:cNvSpPr>
            <p:nvPr/>
          </p:nvSpPr>
          <p:spPr>
            <a:xfrm>
              <a:off x="8532189" y="5068824"/>
              <a:ext cx="393192" cy="393192"/>
            </a:xfrm>
            <a:prstGeom prst="ellipse">
              <a:avLst/>
            </a:prstGeom>
            <a:blipFill dpi="0" rotWithShape="1">
              <a:blip r:embed="rId13">
                <a:duotone>
                  <a:schemeClr val="accent1">
                    <a:shade val="45000"/>
                    <a:satMod val="135000"/>
                  </a:schemeClr>
                  <a:prstClr val="white"/>
                </a:duotone>
                <a:extLst>
                  <a:ext uri="{BEBA8EAE-BF5A-486C-A8C5-ECC9F3942E4B}">
                    <a14:imgProps xmlns:a14="http://schemas.microsoft.com/office/drawing/2010/main">
                      <a14:imgLayer r:embed="rId14">
                        <a14:imgEffect>
                          <a14:saturation sat="95000"/>
                        </a14:imgEffect>
                        <a14:imgEffect>
                          <a14:brightnessContrast bright="-40000" contrast="20000"/>
                        </a14:imgEffect>
                      </a14:imgLayer>
                    </a14:imgProps>
                  </a:ext>
                </a:extLst>
              </a:blip>
              <a:srcRect/>
              <a:tile tx="50800" ty="0" sx="85000" sy="85000" flip="none" algn="tl"/>
            </a:blipFill>
            <a:ln w="25400" cap="flat" cmpd="sng" algn="ctr">
              <a:noFill/>
              <a:prstDash val="solid"/>
            </a:ln>
            <a:effectLst/>
          </p:spPr>
          <p:txBody>
            <a:bodyPr lIns="0" tIns="0" rIns="0" bIns="0" rtlCol="0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2000" b="0" i="0" u="none" strike="noStrike" kern="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Rockwell Extra Bold" pitchFamily="18" charset="0"/>
                <a:ea typeface="+mn-ea"/>
                <a:cs typeface="+mn-cs"/>
              </a:endParaRPr>
            </a:p>
          </p:txBody>
        </p:sp>
        <p:sp>
          <p:nvSpPr>
            <p:cNvPr id="9" name="Oval 8"/>
            <p:cNvSpPr>
              <a:spLocks noChangeAspect="1"/>
            </p:cNvSpPr>
            <p:nvPr/>
          </p:nvSpPr>
          <p:spPr>
            <a:xfrm>
              <a:off x="8568766" y="5105400"/>
              <a:ext cx="320039" cy="320040"/>
            </a:xfrm>
            <a:prstGeom prst="ellipse">
              <a:avLst/>
            </a:prstGeom>
            <a:noFill/>
            <a:ln w="12700" cap="flat" cmpd="sng" algn="ctr">
              <a:solidFill>
                <a:srgbClr val="FFFFFF"/>
              </a:solidFill>
              <a:prstDash val="solid"/>
            </a:ln>
            <a:effectLst/>
          </p:spPr>
          <p:txBody>
            <a:bodyPr rtlCol="0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/>
                <a:ea typeface="+mn-ea"/>
                <a:cs typeface="+mn-cs"/>
              </a:endParaRPr>
            </a:p>
          </p:txBody>
        </p:sp>
      </p:grp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85800" y="484632"/>
            <a:ext cx="7772400" cy="1609344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85800" y="2121408"/>
            <a:ext cx="7772400" cy="4050792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5992368" y="6272785"/>
            <a:ext cx="2455164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00">
                <a:solidFill>
                  <a:schemeClr val="accent1">
                    <a:lumMod val="50000"/>
                  </a:schemeClr>
                </a:solidFill>
              </a:defRPr>
            </a:lvl1pPr>
          </a:lstStyle>
          <a:p>
            <a:fld id="{0FE61780-2E25-4081-A2D9-4C0805256F67}" type="datetimeFigureOut">
              <a:rPr lang="en-US" smtClean="0"/>
              <a:t>12/23/22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685800" y="6272785"/>
            <a:ext cx="4745736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000">
                <a:solidFill>
                  <a:schemeClr val="accent1">
                    <a:lumMod val="50000"/>
                  </a:schemeClr>
                </a:solidFill>
              </a:defRPr>
            </a:lvl1pPr>
          </a:lstStyle>
          <a:p>
            <a:r>
              <a:rPr lang="en-US"/>
              <a:t>
              </a:t>
            </a:r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483346" y="6272785"/>
            <a:ext cx="48006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100" b="1" spc="-70" baseline="0">
                <a:solidFill>
                  <a:srgbClr val="FFFFFF"/>
                </a:solidFill>
                <a:latin typeface="+mn-lt"/>
              </a:defRPr>
            </a:lvl1pPr>
          </a:lstStyle>
          <a:p>
            <a:fld id="{D57F1E4F-1CFF-5643-939E-217C01CDF56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95674503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837" r:id="rId1"/>
    <p:sldLayoutId id="2147483838" r:id="rId2"/>
    <p:sldLayoutId id="2147483839" r:id="rId3"/>
    <p:sldLayoutId id="2147483840" r:id="rId4"/>
    <p:sldLayoutId id="2147483841" r:id="rId5"/>
    <p:sldLayoutId id="2147483842" r:id="rId6"/>
    <p:sldLayoutId id="2147483843" r:id="rId7"/>
    <p:sldLayoutId id="2147483844" r:id="rId8"/>
    <p:sldLayoutId id="2147483845" r:id="rId9"/>
    <p:sldLayoutId id="2147483846" r:id="rId10"/>
    <p:sldLayoutId id="2147483847" r:id="rId11"/>
  </p:sldLayoutIdLs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0" dur="5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3" dur="5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6" dur="5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9" dur="500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</p:bldLst>
  </p:timing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200" b="0" kern="1200" cap="all" baseline="0">
          <a:blipFill>
            <a:blip r:embed="rId15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tile tx="6350" ty="-127000" sx="65000" sy="64000" flip="none" algn="tl"/>
          </a:blipFill>
          <a:latin typeface="+mj-lt"/>
          <a:ea typeface="+mj-ea"/>
          <a:cs typeface="+mj-cs"/>
        </a:defRPr>
      </a:lvl1pPr>
    </p:titleStyle>
    <p:bodyStyle>
      <a:lvl1pPr marL="182880" indent="-182880" algn="l" defTabSz="914400" rtl="0" eaLnBrk="1" latinLnBrk="0" hangingPunct="1">
        <a:lnSpc>
          <a:spcPct val="90000"/>
        </a:lnSpc>
        <a:spcBef>
          <a:spcPts val="1200"/>
        </a:spcBef>
        <a:buClr>
          <a:schemeClr val="accent1">
            <a:lumMod val="75000"/>
          </a:schemeClr>
        </a:buClr>
        <a:buSzPct val="85000"/>
        <a:buFont typeface="Wingdings" pitchFamily="2" charset="2"/>
        <a:buChar char="§"/>
        <a:defRPr sz="20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indent="-182880" algn="l" defTabSz="914400" rtl="0" eaLnBrk="1" latinLnBrk="0" hangingPunct="1">
        <a:lnSpc>
          <a:spcPct val="90000"/>
        </a:lnSpc>
        <a:spcBef>
          <a:spcPts val="400"/>
        </a:spcBef>
        <a:spcAft>
          <a:spcPts val="200"/>
        </a:spcAft>
        <a:buClr>
          <a:schemeClr val="accent1">
            <a:lumMod val="75000"/>
          </a:schemeClr>
        </a:buClr>
        <a:buSzPct val="85000"/>
        <a:buFont typeface="Wingdings" pitchFamily="2" charset="2"/>
        <a:buChar char="§"/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731520" indent="-182880" algn="l" defTabSz="914400" rtl="0" eaLnBrk="1" latinLnBrk="0" hangingPunct="1">
        <a:lnSpc>
          <a:spcPct val="90000"/>
        </a:lnSpc>
        <a:spcBef>
          <a:spcPts val="400"/>
        </a:spcBef>
        <a:spcAft>
          <a:spcPts val="200"/>
        </a:spcAft>
        <a:buClr>
          <a:schemeClr val="accent1">
            <a:lumMod val="75000"/>
          </a:schemeClr>
        </a:buClr>
        <a:buSzPct val="85000"/>
        <a:buFont typeface="Wingdings" pitchFamily="2" charset="2"/>
        <a:buChar char="§"/>
        <a:defRPr sz="1600" kern="1200">
          <a:solidFill>
            <a:schemeClr val="tx1"/>
          </a:solidFill>
          <a:latin typeface="+mn-lt"/>
          <a:ea typeface="+mn-ea"/>
          <a:cs typeface="+mn-cs"/>
        </a:defRPr>
      </a:lvl3pPr>
      <a:lvl4pPr marL="1005840" indent="-182880" algn="l" defTabSz="914400" rtl="0" eaLnBrk="1" latinLnBrk="0" hangingPunct="1">
        <a:lnSpc>
          <a:spcPct val="90000"/>
        </a:lnSpc>
        <a:spcBef>
          <a:spcPts val="400"/>
        </a:spcBef>
        <a:spcAft>
          <a:spcPts val="200"/>
        </a:spcAft>
        <a:buClr>
          <a:schemeClr val="accent1">
            <a:lumMod val="75000"/>
          </a:schemeClr>
        </a:buClr>
        <a:buSzPct val="85000"/>
        <a:buFont typeface="Wingdings" pitchFamily="2" charset="2"/>
        <a:buChar char="§"/>
        <a:defRPr sz="1600" kern="1200">
          <a:solidFill>
            <a:schemeClr val="tx1"/>
          </a:solidFill>
          <a:latin typeface="+mn-lt"/>
          <a:ea typeface="+mn-ea"/>
          <a:cs typeface="+mn-cs"/>
        </a:defRPr>
      </a:lvl4pPr>
      <a:lvl5pPr marL="1280160" indent="-182880" algn="l" defTabSz="914400" rtl="0" eaLnBrk="1" latinLnBrk="0" hangingPunct="1">
        <a:lnSpc>
          <a:spcPct val="90000"/>
        </a:lnSpc>
        <a:spcBef>
          <a:spcPts val="400"/>
        </a:spcBef>
        <a:spcAft>
          <a:spcPts val="200"/>
        </a:spcAft>
        <a:buClr>
          <a:schemeClr val="accent1">
            <a:lumMod val="75000"/>
          </a:schemeClr>
        </a:buClr>
        <a:buSzPct val="85000"/>
        <a:buFont typeface="Wingdings" pitchFamily="2" charset="2"/>
        <a:buChar char="§"/>
        <a:defRPr sz="1600" kern="1200">
          <a:solidFill>
            <a:schemeClr val="tx1"/>
          </a:solidFill>
          <a:latin typeface="+mn-lt"/>
          <a:ea typeface="+mn-ea"/>
          <a:cs typeface="+mn-cs"/>
        </a:defRPr>
      </a:lvl5pPr>
      <a:lvl6pPr marL="1600000" indent="-228600" algn="l" defTabSz="914400" rtl="0" eaLnBrk="1" latinLnBrk="0" hangingPunct="1">
        <a:lnSpc>
          <a:spcPct val="90000"/>
        </a:lnSpc>
        <a:spcBef>
          <a:spcPts val="400"/>
        </a:spcBef>
        <a:spcAft>
          <a:spcPts val="200"/>
        </a:spcAft>
        <a:buClr>
          <a:schemeClr val="accent1">
            <a:lumMod val="75000"/>
          </a:schemeClr>
        </a:buClr>
        <a:buSzPct val="85000"/>
        <a:buFont typeface="Wingdings" pitchFamily="2" charset="2"/>
        <a:buChar char="§"/>
        <a:defRPr sz="1600" kern="1200">
          <a:solidFill>
            <a:schemeClr val="tx1"/>
          </a:solidFill>
          <a:latin typeface="+mn-lt"/>
          <a:ea typeface="+mn-ea"/>
          <a:cs typeface="+mn-cs"/>
        </a:defRPr>
      </a:lvl6pPr>
      <a:lvl7pPr marL="1900000" indent="-228600" algn="l" defTabSz="914400" rtl="0" eaLnBrk="1" latinLnBrk="0" hangingPunct="1">
        <a:lnSpc>
          <a:spcPct val="90000"/>
        </a:lnSpc>
        <a:spcBef>
          <a:spcPts val="400"/>
        </a:spcBef>
        <a:spcAft>
          <a:spcPts val="200"/>
        </a:spcAft>
        <a:buClr>
          <a:schemeClr val="accent1">
            <a:lumMod val="75000"/>
          </a:schemeClr>
        </a:buClr>
        <a:buSzPct val="85000"/>
        <a:buFont typeface="Wingdings" pitchFamily="2" charset="2"/>
        <a:buChar char="§"/>
        <a:defRPr sz="1600" kern="1200">
          <a:solidFill>
            <a:schemeClr val="tx1"/>
          </a:solidFill>
          <a:latin typeface="+mn-lt"/>
          <a:ea typeface="+mn-ea"/>
          <a:cs typeface="+mn-cs"/>
        </a:defRPr>
      </a:lvl7pPr>
      <a:lvl8pPr marL="2200000" indent="-228600" algn="l" defTabSz="914400" rtl="0" eaLnBrk="1" latinLnBrk="0" hangingPunct="1">
        <a:lnSpc>
          <a:spcPct val="90000"/>
        </a:lnSpc>
        <a:spcBef>
          <a:spcPts val="400"/>
        </a:spcBef>
        <a:spcAft>
          <a:spcPts val="200"/>
        </a:spcAft>
        <a:buClr>
          <a:schemeClr val="accent1">
            <a:lumMod val="75000"/>
          </a:schemeClr>
        </a:buClr>
        <a:buSzPct val="85000"/>
        <a:buFont typeface="Wingdings" pitchFamily="2" charset="2"/>
        <a:buChar char="§"/>
        <a:defRPr sz="1600" kern="1200">
          <a:solidFill>
            <a:schemeClr val="tx1"/>
          </a:solidFill>
          <a:latin typeface="+mn-lt"/>
          <a:ea typeface="+mn-ea"/>
          <a:cs typeface="+mn-cs"/>
        </a:defRPr>
      </a:lvl8pPr>
      <a:lvl9pPr marL="2500000" indent="-228600" algn="l" defTabSz="914400" rtl="0" eaLnBrk="1" latinLnBrk="0" hangingPunct="1">
        <a:lnSpc>
          <a:spcPct val="90000"/>
        </a:lnSpc>
        <a:spcBef>
          <a:spcPts val="400"/>
        </a:spcBef>
        <a:spcAft>
          <a:spcPts val="200"/>
        </a:spcAft>
        <a:buClr>
          <a:schemeClr val="accent1">
            <a:lumMod val="75000"/>
          </a:schemeClr>
        </a:buClr>
        <a:buSzPct val="85000"/>
        <a:buFont typeface="Wingdings" pitchFamily="2" charset="2"/>
        <a:buChar char="§"/>
        <a:defRPr sz="16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hyperlink" Target="mailto:leizhang@cuc.edu.cn" TargetMode="External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3.png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audio" Target="../media/audio1.bin"/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3" Type="http://schemas.openxmlformats.org/officeDocument/2006/relationships/hyperlink" Target="file:///D:/TC/TC.EXE" TargetMode="External"/><Relationship Id="rId2" Type="http://schemas.openxmlformats.org/officeDocument/2006/relationships/audio" Target="../media/audio1.bin"/><Relationship Id="rId1" Type="http://schemas.openxmlformats.org/officeDocument/2006/relationships/slideLayout" Target="../slideLayouts/slideLayout7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1.xml.rels><?xml version="1.0" encoding="UTF-8" standalone="yes"?>
<Relationships xmlns="http://schemas.openxmlformats.org/package/2006/relationships"><Relationship Id="rId3" Type="http://schemas.openxmlformats.org/officeDocument/2006/relationships/audio" Target="../media/audio1.bin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7.xml"/></Relationships>
</file>

<file path=ppt/slides/_rels/slide32.xml.rels><?xml version="1.0" encoding="UTF-8" standalone="yes"?>
<Relationships xmlns="http://schemas.openxmlformats.org/package/2006/relationships"><Relationship Id="rId3" Type="http://schemas.openxmlformats.org/officeDocument/2006/relationships/audio" Target="../media/audio1.bin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7.xml"/></Relationships>
</file>

<file path=ppt/slides/_rels/slide3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2.xml"/></Relationships>
</file>

<file path=ppt/slides/_rels/slide3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标题 5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pPr algn="ctr">
              <a:defRPr/>
            </a:pPr>
            <a:r>
              <a:rPr lang="en-US" altLang="zh-CN" dirty="0">
                <a:cs typeface="+mj-cs"/>
              </a:rPr>
              <a:t>Chapter 9 </a:t>
            </a:r>
            <a:r>
              <a:rPr lang="zh-CN" altLang="en-US" dirty="0">
                <a:cs typeface="+mj-cs"/>
              </a:rPr>
              <a:t>文件操作</a:t>
            </a:r>
          </a:p>
        </p:txBody>
      </p:sp>
      <p:sp>
        <p:nvSpPr>
          <p:cNvPr id="4" name="Text Box 3"/>
          <p:cNvSpPr txBox="1">
            <a:spLocks noChangeArrowheads="1"/>
          </p:cNvSpPr>
          <p:nvPr/>
        </p:nvSpPr>
        <p:spPr bwMode="auto">
          <a:xfrm>
            <a:off x="2421037" y="4797152"/>
            <a:ext cx="4374356" cy="2185214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 type="none" w="sm" len="sm"/>
                <a:tailEnd type="none" w="sm" len="sm"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 algn="ctr" eaLnBrk="0" hangingPunct="0">
              <a:spcBef>
                <a:spcPct val="50000"/>
              </a:spcBef>
              <a:buNone/>
            </a:pPr>
            <a:r>
              <a:rPr lang="zh-CN" altLang="en-US" sz="2000" b="1" dirty="0">
                <a:solidFill>
                  <a:srgbClr val="000000"/>
                </a:solidFill>
                <a:latin typeface="隶书" charset="0"/>
                <a:ea typeface="隶书" charset="0"/>
              </a:rPr>
              <a:t>张雷</a:t>
            </a:r>
            <a:br>
              <a:rPr lang="zh-CN" altLang="en-US" sz="2000" b="1" dirty="0">
                <a:solidFill>
                  <a:srgbClr val="000000"/>
                </a:solidFill>
                <a:latin typeface="隶书" charset="0"/>
                <a:ea typeface="隶书" charset="0"/>
              </a:rPr>
            </a:br>
            <a:r>
              <a:rPr lang="en-US" altLang="zh-CN" sz="2000" b="1" dirty="0">
                <a:latin typeface="Times New Roman" charset="0"/>
                <a:ea typeface="隶书" charset="0"/>
                <a:hlinkClick r:id="rId3"/>
              </a:rPr>
              <a:t>leizhang</a:t>
            </a:r>
            <a:r>
              <a:rPr lang="en-US" altLang="zh-CN" sz="2000" b="1" dirty="0">
                <a:latin typeface="Times New Roman" charset="0"/>
                <a:hlinkClick r:id="rId3"/>
              </a:rPr>
              <a:t>@cuc.edu.cn</a:t>
            </a:r>
            <a:endParaRPr lang="zh-CN" altLang="en-US" sz="2000" b="1" dirty="0">
              <a:latin typeface="Times New Roman" charset="0"/>
            </a:endParaRPr>
          </a:p>
          <a:p>
            <a:pPr algn="ctr" eaLnBrk="0" hangingPunct="0">
              <a:spcBef>
                <a:spcPct val="50000"/>
              </a:spcBef>
              <a:buNone/>
            </a:pPr>
            <a:r>
              <a:rPr lang="zh-CN" altLang="en-US" sz="2000" b="1" dirty="0">
                <a:solidFill>
                  <a:schemeClr val="tx1"/>
                </a:solidFill>
                <a:latin typeface="Times New Roman" charset="0"/>
              </a:rPr>
              <a:t>中国传媒大学</a:t>
            </a:r>
          </a:p>
          <a:p>
            <a:pPr>
              <a:spcBef>
                <a:spcPct val="50000"/>
              </a:spcBef>
            </a:pPr>
            <a:r>
              <a:rPr lang="zh-CN" altLang="en-US" sz="2000" b="1" dirty="0"/>
              <a:t>计算机与网络空间安全学院</a:t>
            </a:r>
            <a:endParaRPr lang="en-US" altLang="zh-CN" b="1"/>
          </a:p>
          <a:p>
            <a:pPr algn="ctr" eaLnBrk="0" hangingPunct="0">
              <a:spcBef>
                <a:spcPct val="50000"/>
              </a:spcBef>
            </a:pPr>
            <a:endParaRPr lang="en-US" altLang="zh-CN" sz="2400" b="1" dirty="0">
              <a:latin typeface="Times New Roman" charset="0"/>
            </a:endParaRPr>
          </a:p>
        </p:txBody>
      </p:sp>
      <p:sp>
        <p:nvSpPr>
          <p:cNvPr id="3" name="文本框 2">
            <a:extLst>
              <a:ext uri="{FF2B5EF4-FFF2-40B4-BE49-F238E27FC236}">
                <a16:creationId xmlns:a16="http://schemas.microsoft.com/office/drawing/2014/main" id="{D4E6FE9D-D3ED-7141-003A-81B276FFC4E6}"/>
              </a:ext>
            </a:extLst>
          </p:cNvPr>
          <p:cNvSpPr txBox="1"/>
          <p:nvPr/>
        </p:nvSpPr>
        <p:spPr>
          <a:xfrm>
            <a:off x="2223393" y="3645024"/>
            <a:ext cx="4572000" cy="4247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 eaLnBrk="1" hangingPunct="1">
              <a:lnSpc>
                <a:spcPct val="90000"/>
              </a:lnSpc>
              <a:spcBef>
                <a:spcPct val="0"/>
              </a:spcBef>
              <a:buNone/>
              <a:defRPr/>
            </a:pPr>
            <a:r>
              <a:rPr lang="zh-CN" altLang="en-US" cap="all" dirty="0">
                <a:blipFill>
                  <a:blip r:embed="rId4">
                    <a:extLst>
                      <a:ext uri="{28A0092B-C50C-407E-A947-70E740481C1C}">
                        <a14:useLocalDpi xmlns:a14="http://schemas.microsoft.com/office/drawing/2010/main" val="0"/>
                      </a:ext>
                    </a:extLst>
                  </a:blip>
                  <a:tile tx="6350" ty="-127000" sx="65000" sy="64000" flip="none" algn="tl"/>
                </a:blipFill>
                <a:latin typeface="+mj-lt"/>
                <a:ea typeface="+mj-ea"/>
                <a:cs typeface="+mj-cs"/>
              </a:rPr>
              <a:t>程序设计与编程方法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/>
            </a:pPr>
            <a:r>
              <a:rPr lang="zh-CN" altLang="en-US">
                <a:cs typeface="+mj-cs"/>
              </a:rPr>
              <a:t>本章重点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eaLnBrk="1"/>
            <a:r>
              <a:rPr lang="zh-CN" altLang="en-US" dirty="0"/>
              <a:t>重点内容：</a:t>
            </a:r>
            <a:endParaRPr lang="zh-CN" altLang="zh-CN" dirty="0"/>
          </a:p>
          <a:p>
            <a:pPr lvl="1" eaLnBrk="1"/>
            <a:r>
              <a:rPr lang="en-US" altLang="zh-CN" dirty="0"/>
              <a:t>1. </a:t>
            </a:r>
            <a:r>
              <a:rPr lang="zh-CN" altLang="en-US" dirty="0"/>
              <a:t>了解文件内数据的组织形式；</a:t>
            </a:r>
            <a:endParaRPr lang="zh-CN" altLang="zh-CN" dirty="0"/>
          </a:p>
          <a:p>
            <a:pPr lvl="1" eaLnBrk="1"/>
            <a:r>
              <a:rPr lang="en-US" altLang="zh-CN" dirty="0"/>
              <a:t>2. </a:t>
            </a:r>
            <a:r>
              <a:rPr lang="zh-CN" altLang="en-US" dirty="0"/>
              <a:t>掌握</a:t>
            </a:r>
            <a:r>
              <a:rPr lang="en-US" altLang="zh-CN" dirty="0"/>
              <a:t>C</a:t>
            </a:r>
            <a:r>
              <a:rPr lang="zh-CN" altLang="en-US" dirty="0"/>
              <a:t>语言对文件的操作库函数（文件打开、文件关闭及文件读写函数）；</a:t>
            </a:r>
            <a:endParaRPr lang="zh-CN" altLang="zh-CN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85800" y="484632"/>
            <a:ext cx="7772400" cy="653425"/>
          </a:xfrm>
        </p:spPr>
        <p:txBody>
          <a:bodyPr>
            <a:normAutofit fontScale="90000"/>
          </a:bodyPr>
          <a:lstStyle/>
          <a:p>
            <a:r>
              <a:rPr lang="zh-CN" altLang="en-US"/>
              <a:t>问题的提出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685800" y="3071813"/>
            <a:ext cx="7529513" cy="1357312"/>
          </a:xfrm>
        </p:spPr>
        <p:txBody>
          <a:bodyPr/>
          <a:lstStyle/>
          <a:p>
            <a:pPr>
              <a:lnSpc>
                <a:spcPct val="120000"/>
              </a:lnSpc>
              <a:buClr>
                <a:srgbClr val="FF00FF"/>
              </a:buClr>
              <a:buFont typeface="Wingdings 2" charset="2"/>
              <a:buChar char="^"/>
            </a:pPr>
            <a:r>
              <a:rPr kumimoji="1" lang="zh-CN" altLang="en-US"/>
              <a:t>难以实现大批量数据的输入和重复利用</a:t>
            </a:r>
          </a:p>
          <a:p>
            <a:pPr>
              <a:lnSpc>
                <a:spcPct val="120000"/>
              </a:lnSpc>
              <a:buClr>
                <a:srgbClr val="FF00FF"/>
              </a:buClr>
              <a:buFont typeface="Wingdings 2" charset="2"/>
              <a:buChar char="^"/>
            </a:pPr>
            <a:r>
              <a:rPr kumimoji="1" lang="zh-CN" altLang="en-US"/>
              <a:t>难以保存程序的运行结果</a:t>
            </a:r>
          </a:p>
          <a:p>
            <a:endParaRPr lang="zh-CN" altLang="en-US"/>
          </a:p>
        </p:txBody>
      </p:sp>
      <p:sp>
        <p:nvSpPr>
          <p:cNvPr id="4" name="AutoShape 5"/>
          <p:cNvSpPr>
            <a:spLocks noChangeArrowheads="1"/>
          </p:cNvSpPr>
          <p:nvPr/>
        </p:nvSpPr>
        <p:spPr bwMode="auto">
          <a:xfrm>
            <a:off x="3525838" y="1500188"/>
            <a:ext cx="1531937" cy="1341437"/>
          </a:xfrm>
          <a:prstGeom prst="bevel">
            <a:avLst>
              <a:gd name="adj" fmla="val 12500"/>
            </a:avLst>
          </a:prstGeom>
          <a:solidFill>
            <a:schemeClr val="accent1"/>
          </a:solidFill>
          <a:ln w="12699">
            <a:solidFill>
              <a:schemeClr val="tx1"/>
            </a:solidFill>
            <a:miter lim="800000"/>
            <a:headEnd type="none" w="sm" len="sm"/>
            <a:tailEnd type="none" w="sm" len="sm"/>
          </a:ln>
          <a:effectLst/>
        </p:spPr>
        <p:txBody>
          <a:bodyPr wrap="none" anchor="ctr"/>
          <a:lstStyle/>
          <a:p>
            <a:pPr defTabSz="762000">
              <a:defRPr/>
            </a:pPr>
            <a:r>
              <a:rPr kumimoji="1" lang="zh-CN" altLang="en-US" sz="4400" b="1">
                <a:solidFill>
                  <a:srgbClr val="CC00CC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Times New Roman" pitchFamily="18" charset="0"/>
                <a:ea typeface="宋体" pitchFamily="2" charset="-122"/>
              </a:rPr>
              <a:t>内存</a:t>
            </a:r>
            <a:endParaRPr kumimoji="1" lang="zh-CN" altLang="en-US">
              <a:solidFill>
                <a:srgbClr val="CC00CC"/>
              </a:solidFill>
              <a:effectLst>
                <a:outerShdw blurRad="38100" dist="38100" dir="2700000" algn="tl">
                  <a:srgbClr val="000000"/>
                </a:outerShdw>
              </a:effectLst>
              <a:latin typeface="Times New Roman" pitchFamily="18" charset="0"/>
              <a:ea typeface="宋体" pitchFamily="2" charset="-122"/>
            </a:endParaRPr>
          </a:p>
        </p:txBody>
      </p:sp>
      <p:grpSp>
        <p:nvGrpSpPr>
          <p:cNvPr id="5" name="Group 11"/>
          <p:cNvGrpSpPr>
            <a:grpSpLocks/>
          </p:cNvGrpSpPr>
          <p:nvPr/>
        </p:nvGrpSpPr>
        <p:grpSpPr bwMode="auto">
          <a:xfrm>
            <a:off x="428625" y="1428750"/>
            <a:ext cx="2951163" cy="1412875"/>
            <a:chOff x="240" y="3072"/>
            <a:chExt cx="2208" cy="864"/>
          </a:xfrm>
        </p:grpSpPr>
        <p:sp>
          <p:nvSpPr>
            <p:cNvPr id="6" name="AutoShape 6"/>
            <p:cNvSpPr>
              <a:spLocks noChangeArrowheads="1"/>
            </p:cNvSpPr>
            <p:nvPr/>
          </p:nvSpPr>
          <p:spPr bwMode="auto">
            <a:xfrm flipH="1">
              <a:off x="240" y="3072"/>
              <a:ext cx="1248" cy="864"/>
            </a:xfrm>
            <a:prstGeom prst="flowChartOnlineStorage">
              <a:avLst/>
            </a:prstGeom>
            <a:solidFill>
              <a:srgbClr val="FFCC99"/>
            </a:solidFill>
            <a:ln w="38100">
              <a:solidFill>
                <a:srgbClr val="CC6600"/>
              </a:solidFill>
              <a:miter lim="800000"/>
              <a:headEnd type="none" w="sm" len="sm"/>
              <a:tailEnd type="none" w="sm" len="sm"/>
            </a:ln>
            <a:effectLst/>
          </p:spPr>
          <p:txBody>
            <a:bodyPr wrap="none" anchor="ctr"/>
            <a:lstStyle/>
            <a:p>
              <a:pPr defTabSz="762000">
                <a:lnSpc>
                  <a:spcPct val="80000"/>
                </a:lnSpc>
                <a:defRPr/>
              </a:pPr>
              <a:r>
                <a:rPr kumimoji="1" lang="en-US" altLang="zh-CN" sz="3200" b="1">
                  <a:solidFill>
                    <a:srgbClr val="0000CC"/>
                  </a:solidFill>
                  <a:effectLst>
                    <a:outerShdw blurRad="38100" dist="38100" dir="2700000" algn="tl">
                      <a:srgbClr val="000000"/>
                    </a:outerShdw>
                  </a:effectLst>
                  <a:latin typeface="宋体" pitchFamily="2" charset="-122"/>
                  <a:ea typeface="宋体" pitchFamily="2" charset="-122"/>
                </a:rPr>
                <a:t>Stdin</a:t>
              </a:r>
            </a:p>
            <a:p>
              <a:pPr defTabSz="762000">
                <a:lnSpc>
                  <a:spcPct val="80000"/>
                </a:lnSpc>
                <a:defRPr/>
              </a:pPr>
              <a:r>
                <a:rPr kumimoji="1" lang="en-US" altLang="zh-CN" sz="6600">
                  <a:solidFill>
                    <a:srgbClr val="333399"/>
                  </a:solidFill>
                  <a:effectLst>
                    <a:outerShdw blurRad="38100" dist="38100" dir="2700000" algn="tl">
                      <a:srgbClr val="000000"/>
                    </a:outerShdw>
                  </a:effectLst>
                  <a:latin typeface="Times New Roman" pitchFamily="18" charset="0"/>
                  <a:ea typeface="宋体" pitchFamily="2" charset="-122"/>
                  <a:sym typeface="Wingdings" pitchFamily="2" charset="2"/>
                </a:rPr>
                <a:t></a:t>
              </a:r>
              <a:endParaRPr kumimoji="1" lang="en-US" altLang="zh-CN" sz="3600">
                <a:solidFill>
                  <a:srgbClr val="FFFF66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Times New Roman" pitchFamily="18" charset="0"/>
                <a:ea typeface="宋体" pitchFamily="2" charset="-122"/>
                <a:sym typeface="Wingdings" pitchFamily="2" charset="2"/>
              </a:endParaRPr>
            </a:p>
          </p:txBody>
        </p:sp>
        <p:sp>
          <p:nvSpPr>
            <p:cNvPr id="7" name="AutoShape 8"/>
            <p:cNvSpPr>
              <a:spLocks noChangeArrowheads="1"/>
            </p:cNvSpPr>
            <p:nvPr/>
          </p:nvSpPr>
          <p:spPr bwMode="auto">
            <a:xfrm>
              <a:off x="1440" y="3120"/>
              <a:ext cx="1008" cy="779"/>
            </a:xfrm>
            <a:custGeom>
              <a:avLst/>
              <a:gdLst>
                <a:gd name="G0" fmla="+- 16200 0 0"/>
                <a:gd name="G1" fmla="+- 5400 0 0"/>
                <a:gd name="G2" fmla="+- 21600 0 5400"/>
                <a:gd name="G3" fmla="+- 10800 0 5400"/>
                <a:gd name="G4" fmla="+- 21600 0 16200"/>
                <a:gd name="G5" fmla="*/ G4 G3 10800"/>
                <a:gd name="G6" fmla="+- 21600 0 G5"/>
                <a:gd name="T0" fmla="*/ 16200 w 21600"/>
                <a:gd name="T1" fmla="*/ 0 h 21600"/>
                <a:gd name="T2" fmla="*/ 0 w 21600"/>
                <a:gd name="T3" fmla="*/ 10800 h 21600"/>
                <a:gd name="T4" fmla="*/ 16200 w 21600"/>
                <a:gd name="T5" fmla="*/ 21600 h 21600"/>
                <a:gd name="T6" fmla="*/ 21600 w 21600"/>
                <a:gd name="T7" fmla="*/ 10800 h 21600"/>
                <a:gd name="T8" fmla="*/ 17694720 60000 65536"/>
                <a:gd name="T9" fmla="*/ 11796480 60000 65536"/>
                <a:gd name="T10" fmla="*/ 5898240 60000 65536"/>
                <a:gd name="T11" fmla="*/ 0 60000 65536"/>
                <a:gd name="T12" fmla="*/ 3375 w 21600"/>
                <a:gd name="T13" fmla="*/ G1 h 21600"/>
                <a:gd name="T14" fmla="*/ G6 w 21600"/>
                <a:gd name="T15" fmla="*/ G2 h 21600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T12" t="T13" r="T14" b="T15"/>
              <a:pathLst>
                <a:path w="21600" h="21600">
                  <a:moveTo>
                    <a:pt x="16200" y="0"/>
                  </a:moveTo>
                  <a:lnTo>
                    <a:pt x="16200" y="5400"/>
                  </a:lnTo>
                  <a:lnTo>
                    <a:pt x="3375" y="5400"/>
                  </a:lnTo>
                  <a:lnTo>
                    <a:pt x="3375" y="16200"/>
                  </a:lnTo>
                  <a:lnTo>
                    <a:pt x="16200" y="16200"/>
                  </a:lnTo>
                  <a:lnTo>
                    <a:pt x="16200" y="21600"/>
                  </a:lnTo>
                  <a:lnTo>
                    <a:pt x="21600" y="10800"/>
                  </a:lnTo>
                  <a:close/>
                </a:path>
                <a:path w="21600" h="21600">
                  <a:moveTo>
                    <a:pt x="1350" y="5400"/>
                  </a:moveTo>
                  <a:lnTo>
                    <a:pt x="1350" y="16200"/>
                  </a:lnTo>
                  <a:lnTo>
                    <a:pt x="2700" y="16200"/>
                  </a:lnTo>
                  <a:lnTo>
                    <a:pt x="2700" y="5400"/>
                  </a:lnTo>
                  <a:close/>
                </a:path>
                <a:path w="21600" h="21600">
                  <a:moveTo>
                    <a:pt x="0" y="5400"/>
                  </a:moveTo>
                  <a:lnTo>
                    <a:pt x="0" y="16200"/>
                  </a:lnTo>
                  <a:lnTo>
                    <a:pt x="675" y="16200"/>
                  </a:lnTo>
                  <a:lnTo>
                    <a:pt x="675" y="5400"/>
                  </a:lnTo>
                  <a:close/>
                </a:path>
              </a:pathLst>
            </a:custGeom>
            <a:solidFill>
              <a:srgbClr val="66FF66"/>
            </a:solidFill>
            <a:ln w="12699">
              <a:solidFill>
                <a:schemeClr val="tx1"/>
              </a:solidFill>
              <a:miter lim="800000"/>
              <a:headEnd type="none" w="sm" len="sm"/>
              <a:tailEnd type="none" w="sm" len="sm"/>
            </a:ln>
            <a:effectLst/>
          </p:spPr>
          <p:txBody>
            <a:bodyPr wrap="none" anchor="ctr"/>
            <a:lstStyle/>
            <a:p>
              <a:pPr defTabSz="762000">
                <a:lnSpc>
                  <a:spcPct val="80000"/>
                </a:lnSpc>
                <a:defRPr/>
              </a:pPr>
              <a:r>
                <a:rPr kumimoji="1" lang="en-US" altLang="zh-CN" sz="2800" b="1">
                  <a:solidFill>
                    <a:srgbClr val="000066"/>
                  </a:solidFill>
                  <a:effectLst>
                    <a:outerShdw blurRad="38100" dist="38100" dir="2700000" algn="tl">
                      <a:srgbClr val="000000"/>
                    </a:outerShdw>
                  </a:effectLst>
                  <a:latin typeface="Times New Roman" pitchFamily="18" charset="0"/>
                  <a:ea typeface="宋体" pitchFamily="2" charset="-122"/>
                </a:rPr>
                <a:t>getc()</a:t>
              </a:r>
            </a:p>
            <a:p>
              <a:pPr defTabSz="762000">
                <a:lnSpc>
                  <a:spcPct val="80000"/>
                </a:lnSpc>
                <a:defRPr/>
              </a:pPr>
              <a:r>
                <a:rPr kumimoji="1" lang="en-US" altLang="zh-CN" sz="2800" b="1">
                  <a:solidFill>
                    <a:srgbClr val="000066"/>
                  </a:solidFill>
                  <a:effectLst>
                    <a:outerShdw blurRad="38100" dist="38100" dir="2700000" algn="tl">
                      <a:srgbClr val="000000"/>
                    </a:outerShdw>
                  </a:effectLst>
                  <a:latin typeface="Times New Roman" pitchFamily="18" charset="0"/>
                  <a:ea typeface="宋体" pitchFamily="2" charset="-122"/>
                </a:rPr>
                <a:t>scanf()</a:t>
              </a:r>
            </a:p>
          </p:txBody>
        </p:sp>
      </p:grpSp>
      <p:grpSp>
        <p:nvGrpSpPr>
          <p:cNvPr id="8" name="Group 12"/>
          <p:cNvGrpSpPr>
            <a:grpSpLocks/>
          </p:cNvGrpSpPr>
          <p:nvPr/>
        </p:nvGrpSpPr>
        <p:grpSpPr bwMode="auto">
          <a:xfrm>
            <a:off x="5181600" y="1357313"/>
            <a:ext cx="3348038" cy="1295400"/>
            <a:chOff x="3552" y="3072"/>
            <a:chExt cx="2112" cy="816"/>
          </a:xfrm>
        </p:grpSpPr>
        <p:sp>
          <p:nvSpPr>
            <p:cNvPr id="9" name="AutoShape 7"/>
            <p:cNvSpPr>
              <a:spLocks noChangeArrowheads="1"/>
            </p:cNvSpPr>
            <p:nvPr/>
          </p:nvSpPr>
          <p:spPr bwMode="auto">
            <a:xfrm>
              <a:off x="4416" y="3072"/>
              <a:ext cx="1248" cy="816"/>
            </a:xfrm>
            <a:prstGeom prst="chevron">
              <a:avLst>
                <a:gd name="adj" fmla="val 38235"/>
              </a:avLst>
            </a:prstGeom>
            <a:solidFill>
              <a:srgbClr val="FF00FF"/>
            </a:solidFill>
            <a:ln w="38100">
              <a:solidFill>
                <a:srgbClr val="9900CC"/>
              </a:solidFill>
              <a:miter lim="800000"/>
              <a:headEnd type="none" w="sm" len="sm"/>
              <a:tailEnd type="none" w="sm" len="sm"/>
            </a:ln>
            <a:effectLst/>
          </p:spPr>
          <p:txBody>
            <a:bodyPr wrap="none" anchor="ctr"/>
            <a:lstStyle/>
            <a:p>
              <a:pPr defTabSz="762000">
                <a:lnSpc>
                  <a:spcPct val="75000"/>
                </a:lnSpc>
                <a:defRPr/>
              </a:pPr>
              <a:r>
                <a:rPr kumimoji="1" lang="en-US" altLang="zh-CN" sz="3200" b="1">
                  <a:solidFill>
                    <a:srgbClr val="000066"/>
                  </a:solidFill>
                  <a:effectLst>
                    <a:outerShdw blurRad="38100" dist="38100" dir="2700000" algn="tl">
                      <a:srgbClr val="000000"/>
                    </a:outerShdw>
                  </a:effectLst>
                  <a:latin typeface="宋体" pitchFamily="2" charset="-122"/>
                  <a:ea typeface="宋体" pitchFamily="2" charset="-122"/>
                </a:rPr>
                <a:t>Stdout</a:t>
              </a:r>
            </a:p>
            <a:p>
              <a:pPr defTabSz="762000">
                <a:lnSpc>
                  <a:spcPct val="75000"/>
                </a:lnSpc>
                <a:defRPr/>
              </a:pPr>
              <a:r>
                <a:rPr kumimoji="1" lang="en-US" altLang="zh-CN" sz="6600">
                  <a:solidFill>
                    <a:srgbClr val="333399"/>
                  </a:solidFill>
                  <a:effectLst>
                    <a:outerShdw blurRad="38100" dist="38100" dir="2700000" algn="tl">
                      <a:srgbClr val="000000"/>
                    </a:outerShdw>
                  </a:effectLst>
                  <a:latin typeface="Times New Roman" pitchFamily="18" charset="0"/>
                  <a:ea typeface="宋体" pitchFamily="2" charset="-122"/>
                  <a:sym typeface="Wingdings" pitchFamily="2" charset="2"/>
                </a:rPr>
                <a:t></a:t>
              </a:r>
              <a:endParaRPr kumimoji="1" lang="en-US" altLang="zh-CN">
                <a:solidFill>
                  <a:srgbClr val="FFFF66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Times New Roman" pitchFamily="18" charset="0"/>
                <a:ea typeface="宋体" pitchFamily="2" charset="-122"/>
              </a:endParaRPr>
            </a:p>
          </p:txBody>
        </p:sp>
        <p:sp>
          <p:nvSpPr>
            <p:cNvPr id="10" name="AutoShape 9"/>
            <p:cNvSpPr>
              <a:spLocks noChangeArrowheads="1"/>
            </p:cNvSpPr>
            <p:nvPr/>
          </p:nvSpPr>
          <p:spPr bwMode="auto">
            <a:xfrm>
              <a:off x="3552" y="3120"/>
              <a:ext cx="1008" cy="768"/>
            </a:xfrm>
            <a:custGeom>
              <a:avLst/>
              <a:gdLst>
                <a:gd name="G0" fmla="+- 16200 0 0"/>
                <a:gd name="G1" fmla="+- 5400 0 0"/>
                <a:gd name="G2" fmla="+- 21600 0 5400"/>
                <a:gd name="G3" fmla="+- 10800 0 5400"/>
                <a:gd name="G4" fmla="+- 21600 0 16200"/>
                <a:gd name="G5" fmla="*/ G4 G3 10800"/>
                <a:gd name="G6" fmla="+- 21600 0 G5"/>
                <a:gd name="T0" fmla="*/ 16200 w 21600"/>
                <a:gd name="T1" fmla="*/ 0 h 21600"/>
                <a:gd name="T2" fmla="*/ 0 w 21600"/>
                <a:gd name="T3" fmla="*/ 10800 h 21600"/>
                <a:gd name="T4" fmla="*/ 16200 w 21600"/>
                <a:gd name="T5" fmla="*/ 21600 h 21600"/>
                <a:gd name="T6" fmla="*/ 21600 w 21600"/>
                <a:gd name="T7" fmla="*/ 10800 h 21600"/>
                <a:gd name="T8" fmla="*/ 17694720 60000 65536"/>
                <a:gd name="T9" fmla="*/ 11796480 60000 65536"/>
                <a:gd name="T10" fmla="*/ 5898240 60000 65536"/>
                <a:gd name="T11" fmla="*/ 0 60000 65536"/>
                <a:gd name="T12" fmla="*/ 3375 w 21600"/>
                <a:gd name="T13" fmla="*/ G1 h 21600"/>
                <a:gd name="T14" fmla="*/ G6 w 21600"/>
                <a:gd name="T15" fmla="*/ G2 h 21600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T12" t="T13" r="T14" b="T15"/>
              <a:pathLst>
                <a:path w="21600" h="21600">
                  <a:moveTo>
                    <a:pt x="16200" y="0"/>
                  </a:moveTo>
                  <a:lnTo>
                    <a:pt x="16200" y="5400"/>
                  </a:lnTo>
                  <a:lnTo>
                    <a:pt x="3375" y="5400"/>
                  </a:lnTo>
                  <a:lnTo>
                    <a:pt x="3375" y="16200"/>
                  </a:lnTo>
                  <a:lnTo>
                    <a:pt x="16200" y="16200"/>
                  </a:lnTo>
                  <a:lnTo>
                    <a:pt x="16200" y="21600"/>
                  </a:lnTo>
                  <a:lnTo>
                    <a:pt x="21600" y="10800"/>
                  </a:lnTo>
                  <a:close/>
                </a:path>
                <a:path w="21600" h="21600">
                  <a:moveTo>
                    <a:pt x="1350" y="5400"/>
                  </a:moveTo>
                  <a:lnTo>
                    <a:pt x="1350" y="16200"/>
                  </a:lnTo>
                  <a:lnTo>
                    <a:pt x="2700" y="16200"/>
                  </a:lnTo>
                  <a:lnTo>
                    <a:pt x="2700" y="5400"/>
                  </a:lnTo>
                  <a:close/>
                </a:path>
                <a:path w="21600" h="21600">
                  <a:moveTo>
                    <a:pt x="0" y="5400"/>
                  </a:moveTo>
                  <a:lnTo>
                    <a:pt x="0" y="16200"/>
                  </a:lnTo>
                  <a:lnTo>
                    <a:pt x="675" y="16200"/>
                  </a:lnTo>
                  <a:lnTo>
                    <a:pt x="675" y="5400"/>
                  </a:lnTo>
                  <a:close/>
                </a:path>
              </a:pathLst>
            </a:custGeom>
            <a:solidFill>
              <a:srgbClr val="3399FF"/>
            </a:solidFill>
            <a:ln w="12699">
              <a:solidFill>
                <a:schemeClr val="tx1"/>
              </a:solidFill>
              <a:miter lim="800000"/>
              <a:headEnd type="none" w="sm" len="sm"/>
              <a:tailEnd type="none" w="sm" len="sm"/>
            </a:ln>
            <a:effectLst/>
          </p:spPr>
          <p:txBody>
            <a:bodyPr wrap="none" anchor="ctr"/>
            <a:lstStyle/>
            <a:p>
              <a:pPr defTabSz="762000">
                <a:lnSpc>
                  <a:spcPct val="80000"/>
                </a:lnSpc>
                <a:defRPr/>
              </a:pPr>
              <a:r>
                <a:rPr kumimoji="1" lang="en-US" altLang="zh-CN" sz="2800" b="1">
                  <a:solidFill>
                    <a:srgbClr val="000066"/>
                  </a:solidFill>
                  <a:effectLst>
                    <a:outerShdw blurRad="38100" dist="38100" dir="2700000" algn="tl">
                      <a:srgbClr val="000000"/>
                    </a:outerShdw>
                  </a:effectLst>
                  <a:latin typeface="Times New Roman" pitchFamily="18" charset="0"/>
                  <a:ea typeface="宋体" pitchFamily="2" charset="-122"/>
                </a:rPr>
                <a:t>putc()</a:t>
              </a:r>
            </a:p>
            <a:p>
              <a:pPr defTabSz="762000">
                <a:lnSpc>
                  <a:spcPct val="80000"/>
                </a:lnSpc>
                <a:defRPr/>
              </a:pPr>
              <a:r>
                <a:rPr kumimoji="1" lang="en-US" altLang="zh-CN" sz="2800" b="1">
                  <a:solidFill>
                    <a:srgbClr val="000066"/>
                  </a:solidFill>
                  <a:effectLst>
                    <a:outerShdw blurRad="38100" dist="38100" dir="2700000" algn="tl">
                      <a:srgbClr val="000000"/>
                    </a:outerShdw>
                  </a:effectLst>
                  <a:latin typeface="Times New Roman" pitchFamily="18" charset="0"/>
                  <a:ea typeface="宋体" pitchFamily="2" charset="-122"/>
                </a:rPr>
                <a:t>printf()</a:t>
              </a:r>
            </a:p>
          </p:txBody>
        </p:sp>
      </p:grpSp>
      <p:grpSp>
        <p:nvGrpSpPr>
          <p:cNvPr id="11" name="Group 15"/>
          <p:cNvGrpSpPr>
            <a:grpSpLocks/>
          </p:cNvGrpSpPr>
          <p:nvPr/>
        </p:nvGrpSpPr>
        <p:grpSpPr bwMode="auto">
          <a:xfrm>
            <a:off x="2851150" y="4357688"/>
            <a:ext cx="4300538" cy="930275"/>
            <a:chOff x="1728" y="3168"/>
            <a:chExt cx="2880" cy="624"/>
          </a:xfrm>
        </p:grpSpPr>
        <p:sp>
          <p:nvSpPr>
            <p:cNvPr id="12" name="AutoShape 9"/>
            <p:cNvSpPr>
              <a:spLocks noChangeArrowheads="1"/>
            </p:cNvSpPr>
            <p:nvPr/>
          </p:nvSpPr>
          <p:spPr bwMode="auto">
            <a:xfrm>
              <a:off x="1728" y="3216"/>
              <a:ext cx="864" cy="576"/>
            </a:xfrm>
            <a:custGeom>
              <a:avLst/>
              <a:gdLst>
                <a:gd name="G0" fmla="+- 16200 0 0"/>
                <a:gd name="G1" fmla="+- 5400 0 0"/>
                <a:gd name="G2" fmla="+- 21600 0 5400"/>
                <a:gd name="G3" fmla="+- 10800 0 5400"/>
                <a:gd name="G4" fmla="+- 21600 0 16200"/>
                <a:gd name="G5" fmla="*/ G4 G3 10800"/>
                <a:gd name="G6" fmla="+- 21600 0 G5"/>
                <a:gd name="T0" fmla="*/ 16200 w 21600"/>
                <a:gd name="T1" fmla="*/ 0 h 21600"/>
                <a:gd name="T2" fmla="*/ 0 w 21600"/>
                <a:gd name="T3" fmla="*/ 10800 h 21600"/>
                <a:gd name="T4" fmla="*/ 16200 w 21600"/>
                <a:gd name="T5" fmla="*/ 21600 h 21600"/>
                <a:gd name="T6" fmla="*/ 21600 w 21600"/>
                <a:gd name="T7" fmla="*/ 10800 h 21600"/>
                <a:gd name="T8" fmla="*/ 17694720 60000 65536"/>
                <a:gd name="T9" fmla="*/ 11796480 60000 65536"/>
                <a:gd name="T10" fmla="*/ 5898240 60000 65536"/>
                <a:gd name="T11" fmla="*/ 0 60000 65536"/>
                <a:gd name="T12" fmla="*/ 3375 w 21600"/>
                <a:gd name="T13" fmla="*/ G1 h 21600"/>
                <a:gd name="T14" fmla="*/ G6 w 21600"/>
                <a:gd name="T15" fmla="*/ G2 h 21600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T12" t="T13" r="T14" b="T15"/>
              <a:pathLst>
                <a:path w="21600" h="21600">
                  <a:moveTo>
                    <a:pt x="16200" y="0"/>
                  </a:moveTo>
                  <a:lnTo>
                    <a:pt x="16200" y="5400"/>
                  </a:lnTo>
                  <a:lnTo>
                    <a:pt x="3375" y="5400"/>
                  </a:lnTo>
                  <a:lnTo>
                    <a:pt x="3375" y="16200"/>
                  </a:lnTo>
                  <a:lnTo>
                    <a:pt x="16200" y="16200"/>
                  </a:lnTo>
                  <a:lnTo>
                    <a:pt x="16200" y="21600"/>
                  </a:lnTo>
                  <a:lnTo>
                    <a:pt x="21600" y="10800"/>
                  </a:lnTo>
                  <a:close/>
                </a:path>
                <a:path w="21600" h="21600">
                  <a:moveTo>
                    <a:pt x="1350" y="5400"/>
                  </a:moveTo>
                  <a:lnTo>
                    <a:pt x="1350" y="16200"/>
                  </a:lnTo>
                  <a:lnTo>
                    <a:pt x="2700" y="16200"/>
                  </a:lnTo>
                  <a:lnTo>
                    <a:pt x="2700" y="5400"/>
                  </a:lnTo>
                  <a:close/>
                </a:path>
                <a:path w="21600" h="21600">
                  <a:moveTo>
                    <a:pt x="0" y="5400"/>
                  </a:moveTo>
                  <a:lnTo>
                    <a:pt x="0" y="16200"/>
                  </a:lnTo>
                  <a:lnTo>
                    <a:pt x="675" y="16200"/>
                  </a:lnTo>
                  <a:lnTo>
                    <a:pt x="675" y="5400"/>
                  </a:lnTo>
                  <a:close/>
                </a:path>
              </a:pathLst>
            </a:custGeom>
            <a:solidFill>
              <a:srgbClr val="3399FF"/>
            </a:solidFill>
            <a:ln w="12699">
              <a:solidFill>
                <a:schemeClr val="tx1"/>
              </a:solidFill>
              <a:miter lim="800000"/>
              <a:headEnd type="none" w="sm" len="sm"/>
              <a:tailEnd type="none" w="sm" len="sm"/>
            </a:ln>
            <a:effectLst/>
          </p:spPr>
          <p:txBody>
            <a:bodyPr wrap="none" anchor="ctr"/>
            <a:lstStyle>
              <a:lvl1pPr defTabSz="762000">
                <a:defRPr sz="2400">
                  <a:solidFill>
                    <a:schemeClr val="tx1"/>
                  </a:solidFill>
                  <a:latin typeface="Times New Roman" charset="0"/>
                  <a:ea typeface="宋体" charset="0"/>
                </a:defRPr>
              </a:lvl1pPr>
              <a:lvl2pPr marL="742950" indent="-285750" defTabSz="762000">
                <a:defRPr sz="2400">
                  <a:solidFill>
                    <a:schemeClr val="tx1"/>
                  </a:solidFill>
                  <a:latin typeface="Times New Roman" charset="0"/>
                  <a:ea typeface="宋体" charset="0"/>
                </a:defRPr>
              </a:lvl2pPr>
              <a:lvl3pPr marL="1143000" indent="-228600" defTabSz="762000">
                <a:defRPr sz="2400">
                  <a:solidFill>
                    <a:schemeClr val="tx1"/>
                  </a:solidFill>
                  <a:latin typeface="Times New Roman" charset="0"/>
                  <a:ea typeface="宋体" charset="0"/>
                </a:defRPr>
              </a:lvl3pPr>
              <a:lvl4pPr marL="1600200" indent="-228600" defTabSz="762000">
                <a:defRPr sz="2400">
                  <a:solidFill>
                    <a:schemeClr val="tx1"/>
                  </a:solidFill>
                  <a:latin typeface="Times New Roman" charset="0"/>
                  <a:ea typeface="宋体" charset="0"/>
                </a:defRPr>
              </a:lvl4pPr>
              <a:lvl5pPr marL="2057400" indent="-228600" defTabSz="762000">
                <a:defRPr sz="2400">
                  <a:solidFill>
                    <a:schemeClr val="tx1"/>
                  </a:solidFill>
                  <a:latin typeface="Times New Roman" charset="0"/>
                  <a:ea typeface="宋体" charset="0"/>
                </a:defRPr>
              </a:lvl5pPr>
              <a:lvl6pPr marL="2514600" indent="-228600" algn="ctr" defTabSz="7620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charset="0"/>
                  <a:ea typeface="宋体" charset="0"/>
                </a:defRPr>
              </a:lvl6pPr>
              <a:lvl7pPr marL="2971800" indent="-228600" algn="ctr" defTabSz="7620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charset="0"/>
                  <a:ea typeface="宋体" charset="0"/>
                </a:defRPr>
              </a:lvl7pPr>
              <a:lvl8pPr marL="3429000" indent="-228600" algn="ctr" defTabSz="7620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charset="0"/>
                  <a:ea typeface="宋体" charset="0"/>
                </a:defRPr>
              </a:lvl8pPr>
              <a:lvl9pPr marL="3886200" indent="-228600" algn="ctr" defTabSz="7620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charset="0"/>
                  <a:ea typeface="宋体" charset="0"/>
                </a:defRPr>
              </a:lvl9pPr>
            </a:lstStyle>
            <a:p>
              <a:r>
                <a:rPr kumimoji="1" lang="zh-CN" altLang="en-US" sz="2800" b="1">
                  <a:solidFill>
                    <a:srgbClr val="0000CC"/>
                  </a:solidFill>
                  <a:effectLst>
                    <a:outerShdw blurRad="38100" dist="38100" dir="2700000" algn="tl">
                      <a:srgbClr val="000000"/>
                    </a:outerShdw>
                  </a:effectLst>
                </a:rPr>
                <a:t>输入</a:t>
              </a:r>
              <a:endParaRPr kumimoji="1" lang="zh-CN" altLang="en-US" sz="2000">
                <a:solidFill>
                  <a:srgbClr val="0000CC"/>
                </a:solidFill>
                <a:effectLst>
                  <a:outerShdw blurRad="38100" dist="38100" dir="2700000" algn="tl">
                    <a:srgbClr val="000000"/>
                  </a:outerShdw>
                </a:effectLst>
              </a:endParaRPr>
            </a:p>
          </p:txBody>
        </p:sp>
        <p:sp>
          <p:nvSpPr>
            <p:cNvPr id="13" name="AutoShape 11"/>
            <p:cNvSpPr>
              <a:spLocks noChangeArrowheads="1"/>
            </p:cNvSpPr>
            <p:nvPr/>
          </p:nvSpPr>
          <p:spPr bwMode="auto">
            <a:xfrm flipH="1">
              <a:off x="3744" y="3168"/>
              <a:ext cx="864" cy="576"/>
            </a:xfrm>
            <a:custGeom>
              <a:avLst/>
              <a:gdLst>
                <a:gd name="G0" fmla="+- 16200 0 0"/>
                <a:gd name="G1" fmla="+- 5400 0 0"/>
                <a:gd name="G2" fmla="+- 21600 0 5400"/>
                <a:gd name="G3" fmla="+- 10800 0 5400"/>
                <a:gd name="G4" fmla="+- 21600 0 16200"/>
                <a:gd name="G5" fmla="*/ G4 G3 10800"/>
                <a:gd name="G6" fmla="+- 21600 0 G5"/>
                <a:gd name="T0" fmla="*/ 16200 w 21600"/>
                <a:gd name="T1" fmla="*/ 0 h 21600"/>
                <a:gd name="T2" fmla="*/ 0 w 21600"/>
                <a:gd name="T3" fmla="*/ 10800 h 21600"/>
                <a:gd name="T4" fmla="*/ 16200 w 21600"/>
                <a:gd name="T5" fmla="*/ 21600 h 21600"/>
                <a:gd name="T6" fmla="*/ 21600 w 21600"/>
                <a:gd name="T7" fmla="*/ 10800 h 21600"/>
                <a:gd name="T8" fmla="*/ 17694720 60000 65536"/>
                <a:gd name="T9" fmla="*/ 11796480 60000 65536"/>
                <a:gd name="T10" fmla="*/ 5898240 60000 65536"/>
                <a:gd name="T11" fmla="*/ 0 60000 65536"/>
                <a:gd name="T12" fmla="*/ 3375 w 21600"/>
                <a:gd name="T13" fmla="*/ G1 h 21600"/>
                <a:gd name="T14" fmla="*/ G6 w 21600"/>
                <a:gd name="T15" fmla="*/ G2 h 21600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T12" t="T13" r="T14" b="T15"/>
              <a:pathLst>
                <a:path w="21600" h="21600">
                  <a:moveTo>
                    <a:pt x="16200" y="0"/>
                  </a:moveTo>
                  <a:lnTo>
                    <a:pt x="16200" y="5400"/>
                  </a:lnTo>
                  <a:lnTo>
                    <a:pt x="3375" y="5400"/>
                  </a:lnTo>
                  <a:lnTo>
                    <a:pt x="3375" y="16200"/>
                  </a:lnTo>
                  <a:lnTo>
                    <a:pt x="16200" y="16200"/>
                  </a:lnTo>
                  <a:lnTo>
                    <a:pt x="16200" y="21600"/>
                  </a:lnTo>
                  <a:lnTo>
                    <a:pt x="21600" y="10800"/>
                  </a:lnTo>
                  <a:close/>
                </a:path>
                <a:path w="21600" h="21600">
                  <a:moveTo>
                    <a:pt x="1350" y="5400"/>
                  </a:moveTo>
                  <a:lnTo>
                    <a:pt x="1350" y="16200"/>
                  </a:lnTo>
                  <a:lnTo>
                    <a:pt x="2700" y="16200"/>
                  </a:lnTo>
                  <a:lnTo>
                    <a:pt x="2700" y="5400"/>
                  </a:lnTo>
                  <a:close/>
                </a:path>
                <a:path w="21600" h="21600">
                  <a:moveTo>
                    <a:pt x="0" y="5400"/>
                  </a:moveTo>
                  <a:lnTo>
                    <a:pt x="0" y="16200"/>
                  </a:lnTo>
                  <a:lnTo>
                    <a:pt x="675" y="16200"/>
                  </a:lnTo>
                  <a:lnTo>
                    <a:pt x="675" y="5400"/>
                  </a:lnTo>
                  <a:close/>
                </a:path>
              </a:pathLst>
            </a:custGeom>
            <a:solidFill>
              <a:srgbClr val="3399FF"/>
            </a:solidFill>
            <a:ln w="12699">
              <a:solidFill>
                <a:schemeClr val="tx1"/>
              </a:solidFill>
              <a:miter lim="800000"/>
              <a:headEnd type="none" w="sm" len="sm"/>
              <a:tailEnd type="none" w="sm" len="sm"/>
            </a:ln>
            <a:effectLst/>
          </p:spPr>
          <p:txBody>
            <a:bodyPr wrap="none" anchor="ctr"/>
            <a:lstStyle>
              <a:lvl1pPr defTabSz="762000">
                <a:defRPr sz="2400">
                  <a:solidFill>
                    <a:schemeClr val="tx1"/>
                  </a:solidFill>
                  <a:latin typeface="Times New Roman" charset="0"/>
                  <a:ea typeface="宋体" charset="0"/>
                </a:defRPr>
              </a:lvl1pPr>
              <a:lvl2pPr marL="742950" indent="-285750" defTabSz="762000">
                <a:defRPr sz="2400">
                  <a:solidFill>
                    <a:schemeClr val="tx1"/>
                  </a:solidFill>
                  <a:latin typeface="Times New Roman" charset="0"/>
                  <a:ea typeface="宋体" charset="0"/>
                </a:defRPr>
              </a:lvl2pPr>
              <a:lvl3pPr marL="1143000" indent="-228600" defTabSz="762000">
                <a:defRPr sz="2400">
                  <a:solidFill>
                    <a:schemeClr val="tx1"/>
                  </a:solidFill>
                  <a:latin typeface="Times New Roman" charset="0"/>
                  <a:ea typeface="宋体" charset="0"/>
                </a:defRPr>
              </a:lvl3pPr>
              <a:lvl4pPr marL="1600200" indent="-228600" defTabSz="762000">
                <a:defRPr sz="2400">
                  <a:solidFill>
                    <a:schemeClr val="tx1"/>
                  </a:solidFill>
                  <a:latin typeface="Times New Roman" charset="0"/>
                  <a:ea typeface="宋体" charset="0"/>
                </a:defRPr>
              </a:lvl4pPr>
              <a:lvl5pPr marL="2057400" indent="-228600" defTabSz="762000">
                <a:defRPr sz="2400">
                  <a:solidFill>
                    <a:schemeClr val="tx1"/>
                  </a:solidFill>
                  <a:latin typeface="Times New Roman" charset="0"/>
                  <a:ea typeface="宋体" charset="0"/>
                </a:defRPr>
              </a:lvl5pPr>
              <a:lvl6pPr marL="2514600" indent="-228600" algn="ctr" defTabSz="7620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charset="0"/>
                  <a:ea typeface="宋体" charset="0"/>
                </a:defRPr>
              </a:lvl6pPr>
              <a:lvl7pPr marL="2971800" indent="-228600" algn="ctr" defTabSz="7620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charset="0"/>
                  <a:ea typeface="宋体" charset="0"/>
                </a:defRPr>
              </a:lvl7pPr>
              <a:lvl8pPr marL="3429000" indent="-228600" algn="ctr" defTabSz="7620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charset="0"/>
                  <a:ea typeface="宋体" charset="0"/>
                </a:defRPr>
              </a:lvl8pPr>
              <a:lvl9pPr marL="3886200" indent="-228600" algn="ctr" defTabSz="7620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charset="0"/>
                  <a:ea typeface="宋体" charset="0"/>
                </a:defRPr>
              </a:lvl9pPr>
            </a:lstStyle>
            <a:p>
              <a:r>
                <a:rPr kumimoji="1" lang="zh-CN" altLang="en-US" sz="2800" b="1">
                  <a:solidFill>
                    <a:srgbClr val="0000CC"/>
                  </a:solidFill>
                  <a:effectLst>
                    <a:outerShdw blurRad="38100" dist="38100" dir="2700000" algn="tl">
                      <a:srgbClr val="000000"/>
                    </a:outerShdw>
                  </a:effectLst>
                </a:rPr>
                <a:t>输入</a:t>
              </a:r>
              <a:endParaRPr kumimoji="1" lang="zh-CN" altLang="en-US" sz="2000">
                <a:solidFill>
                  <a:srgbClr val="0000CC"/>
                </a:solidFill>
                <a:effectLst>
                  <a:outerShdw blurRad="38100" dist="38100" dir="2700000" algn="tl">
                    <a:srgbClr val="000000"/>
                  </a:outerShdw>
                </a:effectLst>
              </a:endParaRPr>
            </a:p>
          </p:txBody>
        </p:sp>
      </p:grpSp>
      <p:grpSp>
        <p:nvGrpSpPr>
          <p:cNvPr id="14" name="Group 16"/>
          <p:cNvGrpSpPr>
            <a:grpSpLocks/>
          </p:cNvGrpSpPr>
          <p:nvPr/>
        </p:nvGrpSpPr>
        <p:grpSpPr bwMode="auto">
          <a:xfrm>
            <a:off x="2803525" y="5133975"/>
            <a:ext cx="4443413" cy="1068388"/>
            <a:chOff x="1680" y="3648"/>
            <a:chExt cx="2976" cy="672"/>
          </a:xfrm>
        </p:grpSpPr>
        <p:sp>
          <p:nvSpPr>
            <p:cNvPr id="15" name="AutoShape 10"/>
            <p:cNvSpPr>
              <a:spLocks noChangeArrowheads="1"/>
            </p:cNvSpPr>
            <p:nvPr/>
          </p:nvSpPr>
          <p:spPr bwMode="auto">
            <a:xfrm>
              <a:off x="1680" y="3648"/>
              <a:ext cx="864" cy="624"/>
            </a:xfrm>
            <a:prstGeom prst="leftArrow">
              <a:avLst>
                <a:gd name="adj1" fmla="val 45833"/>
                <a:gd name="adj2" fmla="val 20192"/>
              </a:avLst>
            </a:prstGeom>
            <a:solidFill>
              <a:srgbClr val="66FFFF"/>
            </a:solidFill>
            <a:ln w="12699">
              <a:solidFill>
                <a:srgbClr val="FF00FF"/>
              </a:solidFill>
              <a:miter lim="800000"/>
              <a:headEnd type="none" w="sm" len="sm"/>
              <a:tailEnd type="none" w="sm" len="sm"/>
            </a:ln>
            <a:effectLst/>
          </p:spPr>
          <p:txBody>
            <a:bodyPr wrap="none" anchor="ctr"/>
            <a:lstStyle>
              <a:lvl1pPr defTabSz="762000">
                <a:defRPr sz="2400">
                  <a:solidFill>
                    <a:schemeClr val="tx1"/>
                  </a:solidFill>
                  <a:latin typeface="Times New Roman" charset="0"/>
                  <a:ea typeface="宋体" charset="0"/>
                </a:defRPr>
              </a:lvl1pPr>
              <a:lvl2pPr marL="742950" indent="-285750" defTabSz="762000">
                <a:defRPr sz="2400">
                  <a:solidFill>
                    <a:schemeClr val="tx1"/>
                  </a:solidFill>
                  <a:latin typeface="Times New Roman" charset="0"/>
                  <a:ea typeface="宋体" charset="0"/>
                </a:defRPr>
              </a:lvl2pPr>
              <a:lvl3pPr marL="1143000" indent="-228600" defTabSz="762000">
                <a:defRPr sz="2400">
                  <a:solidFill>
                    <a:schemeClr val="tx1"/>
                  </a:solidFill>
                  <a:latin typeface="Times New Roman" charset="0"/>
                  <a:ea typeface="宋体" charset="0"/>
                </a:defRPr>
              </a:lvl3pPr>
              <a:lvl4pPr marL="1600200" indent="-228600" defTabSz="762000">
                <a:defRPr sz="2400">
                  <a:solidFill>
                    <a:schemeClr val="tx1"/>
                  </a:solidFill>
                  <a:latin typeface="Times New Roman" charset="0"/>
                  <a:ea typeface="宋体" charset="0"/>
                </a:defRPr>
              </a:lvl4pPr>
              <a:lvl5pPr marL="2057400" indent="-228600" defTabSz="762000">
                <a:defRPr sz="2400">
                  <a:solidFill>
                    <a:schemeClr val="tx1"/>
                  </a:solidFill>
                  <a:latin typeface="Times New Roman" charset="0"/>
                  <a:ea typeface="宋体" charset="0"/>
                </a:defRPr>
              </a:lvl5pPr>
              <a:lvl6pPr marL="2514600" indent="-228600" algn="ctr" defTabSz="7620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charset="0"/>
                  <a:ea typeface="宋体" charset="0"/>
                </a:defRPr>
              </a:lvl6pPr>
              <a:lvl7pPr marL="2971800" indent="-228600" algn="ctr" defTabSz="7620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charset="0"/>
                  <a:ea typeface="宋体" charset="0"/>
                </a:defRPr>
              </a:lvl7pPr>
              <a:lvl8pPr marL="3429000" indent="-228600" algn="ctr" defTabSz="7620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charset="0"/>
                  <a:ea typeface="宋体" charset="0"/>
                </a:defRPr>
              </a:lvl8pPr>
              <a:lvl9pPr marL="3886200" indent="-228600" algn="ctr" defTabSz="7620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charset="0"/>
                  <a:ea typeface="宋体" charset="0"/>
                </a:defRPr>
              </a:lvl9pPr>
            </a:lstStyle>
            <a:p>
              <a:r>
                <a:rPr kumimoji="1" lang="zh-CN" altLang="en-US" sz="2800" b="1">
                  <a:solidFill>
                    <a:srgbClr val="CC00CC"/>
                  </a:solidFill>
                  <a:effectLst>
                    <a:outerShdw blurRad="38100" dist="38100" dir="2700000" algn="tl">
                      <a:srgbClr val="000000"/>
                    </a:outerShdw>
                  </a:effectLst>
                </a:rPr>
                <a:t>输出</a:t>
              </a:r>
              <a:endParaRPr kumimoji="1" lang="zh-CN" altLang="en-US" sz="2000">
                <a:solidFill>
                  <a:srgbClr val="CC00CC"/>
                </a:solidFill>
                <a:effectLst>
                  <a:outerShdw blurRad="38100" dist="38100" dir="2700000" algn="tl">
                    <a:srgbClr val="000000"/>
                  </a:outerShdw>
                </a:effectLst>
              </a:endParaRPr>
            </a:p>
          </p:txBody>
        </p:sp>
        <p:sp>
          <p:nvSpPr>
            <p:cNvPr id="16" name="AutoShape 12"/>
            <p:cNvSpPr>
              <a:spLocks noChangeArrowheads="1"/>
            </p:cNvSpPr>
            <p:nvPr/>
          </p:nvSpPr>
          <p:spPr bwMode="auto">
            <a:xfrm flipH="1">
              <a:off x="3792" y="3696"/>
              <a:ext cx="864" cy="624"/>
            </a:xfrm>
            <a:prstGeom prst="leftArrow">
              <a:avLst>
                <a:gd name="adj1" fmla="val 45833"/>
                <a:gd name="adj2" fmla="val 20192"/>
              </a:avLst>
            </a:prstGeom>
            <a:solidFill>
              <a:srgbClr val="66FFFF"/>
            </a:solidFill>
            <a:ln w="12699">
              <a:solidFill>
                <a:srgbClr val="00FFFF"/>
              </a:solidFill>
              <a:miter lim="800000"/>
              <a:headEnd type="none" w="sm" len="sm"/>
              <a:tailEnd type="none" w="sm" len="sm"/>
            </a:ln>
            <a:effectLst/>
          </p:spPr>
          <p:txBody>
            <a:bodyPr wrap="none" anchor="ctr"/>
            <a:lstStyle>
              <a:lvl1pPr defTabSz="762000">
                <a:defRPr sz="2400">
                  <a:solidFill>
                    <a:schemeClr val="tx1"/>
                  </a:solidFill>
                  <a:latin typeface="Times New Roman" charset="0"/>
                  <a:ea typeface="宋体" charset="0"/>
                </a:defRPr>
              </a:lvl1pPr>
              <a:lvl2pPr marL="742950" indent="-285750" defTabSz="762000">
                <a:defRPr sz="2400">
                  <a:solidFill>
                    <a:schemeClr val="tx1"/>
                  </a:solidFill>
                  <a:latin typeface="Times New Roman" charset="0"/>
                  <a:ea typeface="宋体" charset="0"/>
                </a:defRPr>
              </a:lvl2pPr>
              <a:lvl3pPr marL="1143000" indent="-228600" defTabSz="762000">
                <a:defRPr sz="2400">
                  <a:solidFill>
                    <a:schemeClr val="tx1"/>
                  </a:solidFill>
                  <a:latin typeface="Times New Roman" charset="0"/>
                  <a:ea typeface="宋体" charset="0"/>
                </a:defRPr>
              </a:lvl3pPr>
              <a:lvl4pPr marL="1600200" indent="-228600" defTabSz="762000">
                <a:defRPr sz="2400">
                  <a:solidFill>
                    <a:schemeClr val="tx1"/>
                  </a:solidFill>
                  <a:latin typeface="Times New Roman" charset="0"/>
                  <a:ea typeface="宋体" charset="0"/>
                </a:defRPr>
              </a:lvl4pPr>
              <a:lvl5pPr marL="2057400" indent="-228600" defTabSz="762000">
                <a:defRPr sz="2400">
                  <a:solidFill>
                    <a:schemeClr val="tx1"/>
                  </a:solidFill>
                  <a:latin typeface="Times New Roman" charset="0"/>
                  <a:ea typeface="宋体" charset="0"/>
                </a:defRPr>
              </a:lvl5pPr>
              <a:lvl6pPr marL="2514600" indent="-228600" algn="ctr" defTabSz="7620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charset="0"/>
                  <a:ea typeface="宋体" charset="0"/>
                </a:defRPr>
              </a:lvl6pPr>
              <a:lvl7pPr marL="2971800" indent="-228600" algn="ctr" defTabSz="7620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charset="0"/>
                  <a:ea typeface="宋体" charset="0"/>
                </a:defRPr>
              </a:lvl7pPr>
              <a:lvl8pPr marL="3429000" indent="-228600" algn="ctr" defTabSz="7620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charset="0"/>
                  <a:ea typeface="宋体" charset="0"/>
                </a:defRPr>
              </a:lvl8pPr>
              <a:lvl9pPr marL="3886200" indent="-228600" algn="ctr" defTabSz="7620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charset="0"/>
                  <a:ea typeface="宋体" charset="0"/>
                </a:defRPr>
              </a:lvl9pPr>
            </a:lstStyle>
            <a:p>
              <a:r>
                <a:rPr kumimoji="1" lang="zh-CN" altLang="en-US" sz="2800" b="1">
                  <a:solidFill>
                    <a:srgbClr val="CC00CC"/>
                  </a:solidFill>
                  <a:effectLst>
                    <a:outerShdw blurRad="38100" dist="38100" dir="2700000" algn="tl">
                      <a:srgbClr val="000000"/>
                    </a:outerShdw>
                  </a:effectLst>
                </a:rPr>
                <a:t>输出</a:t>
              </a:r>
              <a:endParaRPr kumimoji="1" lang="zh-CN" altLang="en-US" sz="2000">
                <a:solidFill>
                  <a:srgbClr val="CC00CC"/>
                </a:solidFill>
                <a:effectLst>
                  <a:outerShdw blurRad="38100" dist="38100" dir="2700000" algn="tl">
                    <a:srgbClr val="000000"/>
                  </a:outerShdw>
                </a:effectLst>
              </a:endParaRPr>
            </a:p>
          </p:txBody>
        </p:sp>
      </p:grpSp>
      <p:grpSp>
        <p:nvGrpSpPr>
          <p:cNvPr id="17" name="Group 14"/>
          <p:cNvGrpSpPr>
            <a:grpSpLocks/>
          </p:cNvGrpSpPr>
          <p:nvPr/>
        </p:nvGrpSpPr>
        <p:grpSpPr bwMode="auto">
          <a:xfrm>
            <a:off x="642938" y="4645025"/>
            <a:ext cx="7740650" cy="1252538"/>
            <a:chOff x="288" y="3216"/>
            <a:chExt cx="5184" cy="960"/>
          </a:xfrm>
        </p:grpSpPr>
        <p:sp>
          <p:nvSpPr>
            <p:cNvPr id="18" name="AutoShape 4"/>
            <p:cNvSpPr>
              <a:spLocks noChangeArrowheads="1"/>
            </p:cNvSpPr>
            <p:nvPr/>
          </p:nvSpPr>
          <p:spPr bwMode="auto">
            <a:xfrm>
              <a:off x="288" y="3216"/>
              <a:ext cx="1392" cy="913"/>
            </a:xfrm>
            <a:prstGeom prst="flowChartMagneticDisk">
              <a:avLst/>
            </a:prstGeom>
            <a:solidFill>
              <a:schemeClr val="hlink"/>
            </a:solidFill>
            <a:ln w="38100">
              <a:solidFill>
                <a:srgbClr val="996600"/>
              </a:solidFill>
              <a:round/>
              <a:headEnd type="none" w="sm" len="sm"/>
              <a:tailEnd type="none" w="sm" len="sm"/>
            </a:ln>
            <a:effectLst/>
          </p:spPr>
          <p:txBody>
            <a:bodyPr wrap="none" anchor="ctr"/>
            <a:lstStyle>
              <a:lvl1pPr defTabSz="762000">
                <a:defRPr sz="2400">
                  <a:solidFill>
                    <a:schemeClr val="tx1"/>
                  </a:solidFill>
                  <a:latin typeface="Times New Roman" charset="0"/>
                  <a:ea typeface="宋体" charset="0"/>
                </a:defRPr>
              </a:lvl1pPr>
              <a:lvl2pPr marL="742950" indent="-285750" defTabSz="762000">
                <a:defRPr sz="2400">
                  <a:solidFill>
                    <a:schemeClr val="tx1"/>
                  </a:solidFill>
                  <a:latin typeface="Times New Roman" charset="0"/>
                  <a:ea typeface="宋体" charset="0"/>
                </a:defRPr>
              </a:lvl2pPr>
              <a:lvl3pPr marL="1143000" indent="-228600" defTabSz="762000">
                <a:defRPr sz="2400">
                  <a:solidFill>
                    <a:schemeClr val="tx1"/>
                  </a:solidFill>
                  <a:latin typeface="Times New Roman" charset="0"/>
                  <a:ea typeface="宋体" charset="0"/>
                </a:defRPr>
              </a:lvl3pPr>
              <a:lvl4pPr marL="1600200" indent="-228600" defTabSz="762000">
                <a:defRPr sz="2400">
                  <a:solidFill>
                    <a:schemeClr val="tx1"/>
                  </a:solidFill>
                  <a:latin typeface="Times New Roman" charset="0"/>
                  <a:ea typeface="宋体" charset="0"/>
                </a:defRPr>
              </a:lvl4pPr>
              <a:lvl5pPr marL="2057400" indent="-228600" defTabSz="762000">
                <a:defRPr sz="2400">
                  <a:solidFill>
                    <a:schemeClr val="tx1"/>
                  </a:solidFill>
                  <a:latin typeface="Times New Roman" charset="0"/>
                  <a:ea typeface="宋体" charset="0"/>
                </a:defRPr>
              </a:lvl5pPr>
              <a:lvl6pPr marL="2514600" indent="-228600" algn="ctr" defTabSz="7620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charset="0"/>
                  <a:ea typeface="宋体" charset="0"/>
                </a:defRPr>
              </a:lvl6pPr>
              <a:lvl7pPr marL="2971800" indent="-228600" algn="ctr" defTabSz="7620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charset="0"/>
                  <a:ea typeface="宋体" charset="0"/>
                </a:defRPr>
              </a:lvl7pPr>
              <a:lvl8pPr marL="3429000" indent="-228600" algn="ctr" defTabSz="7620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charset="0"/>
                  <a:ea typeface="宋体" charset="0"/>
                </a:defRPr>
              </a:lvl8pPr>
              <a:lvl9pPr marL="3886200" indent="-228600" algn="ctr" defTabSz="7620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charset="0"/>
                  <a:ea typeface="宋体" charset="0"/>
                </a:defRPr>
              </a:lvl9pPr>
            </a:lstStyle>
            <a:p>
              <a:pPr>
                <a:lnSpc>
                  <a:spcPct val="85000"/>
                </a:lnSpc>
              </a:pPr>
              <a:r>
                <a:rPr kumimoji="1" lang="zh-CN" altLang="en-US" sz="3200" b="1">
                  <a:solidFill>
                    <a:srgbClr val="0000CC"/>
                  </a:solidFill>
                  <a:effectLst>
                    <a:outerShdw blurRad="38100" dist="38100" dir="2700000" algn="tl">
                      <a:srgbClr val="000000"/>
                    </a:outerShdw>
                  </a:effectLst>
                </a:rPr>
                <a:t>磁盘</a:t>
              </a:r>
            </a:p>
            <a:p>
              <a:pPr>
                <a:lnSpc>
                  <a:spcPct val="85000"/>
                </a:lnSpc>
              </a:pPr>
              <a:r>
                <a:rPr kumimoji="1" lang="zh-CN" altLang="en-US" sz="3200" b="1">
                  <a:solidFill>
                    <a:srgbClr val="0000CC"/>
                  </a:solidFill>
                  <a:effectLst>
                    <a:outerShdw blurRad="38100" dist="38100" dir="2700000" algn="tl">
                      <a:srgbClr val="000000"/>
                    </a:outerShdw>
                  </a:effectLst>
                </a:rPr>
                <a:t>文件</a:t>
              </a:r>
            </a:p>
          </p:txBody>
        </p:sp>
        <p:sp>
          <p:nvSpPr>
            <p:cNvPr id="19" name="AutoShape 5"/>
            <p:cNvSpPr>
              <a:spLocks noChangeArrowheads="1"/>
            </p:cNvSpPr>
            <p:nvPr/>
          </p:nvSpPr>
          <p:spPr bwMode="auto">
            <a:xfrm>
              <a:off x="2640" y="3216"/>
              <a:ext cx="1057" cy="960"/>
            </a:xfrm>
            <a:prstGeom prst="bevel">
              <a:avLst>
                <a:gd name="adj" fmla="val 12500"/>
              </a:avLst>
            </a:prstGeom>
            <a:solidFill>
              <a:schemeClr val="accent1"/>
            </a:solidFill>
            <a:ln w="12699">
              <a:solidFill>
                <a:schemeClr val="tx1"/>
              </a:solidFill>
              <a:miter lim="800000"/>
              <a:headEnd type="none" w="sm" len="sm"/>
              <a:tailEnd type="none" w="sm" len="sm"/>
            </a:ln>
            <a:effectLst/>
          </p:spPr>
          <p:txBody>
            <a:bodyPr wrap="none" anchor="ctr"/>
            <a:lstStyle/>
            <a:p>
              <a:pPr defTabSz="762000">
                <a:defRPr/>
              </a:pPr>
              <a:r>
                <a:rPr kumimoji="1" lang="zh-CN" altLang="en-US" sz="4400" b="1">
                  <a:solidFill>
                    <a:srgbClr val="CC00CC"/>
                  </a:solidFill>
                  <a:effectLst>
                    <a:outerShdw blurRad="38100" dist="38100" dir="2700000" algn="tl">
                      <a:srgbClr val="000000"/>
                    </a:outerShdw>
                  </a:effectLst>
                  <a:latin typeface="Times New Roman" pitchFamily="18" charset="0"/>
                  <a:ea typeface="宋体" pitchFamily="2" charset="-122"/>
                </a:rPr>
                <a:t>内存</a:t>
              </a:r>
              <a:endParaRPr kumimoji="1" lang="zh-CN" altLang="en-US">
                <a:solidFill>
                  <a:srgbClr val="CC00CC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Times New Roman" pitchFamily="18" charset="0"/>
                <a:ea typeface="宋体" pitchFamily="2" charset="-122"/>
              </a:endParaRPr>
            </a:p>
          </p:txBody>
        </p:sp>
        <p:sp>
          <p:nvSpPr>
            <p:cNvPr id="20" name="AutoShape 13"/>
            <p:cNvSpPr>
              <a:spLocks noChangeArrowheads="1"/>
            </p:cNvSpPr>
            <p:nvPr/>
          </p:nvSpPr>
          <p:spPr bwMode="auto">
            <a:xfrm>
              <a:off x="4752" y="3216"/>
              <a:ext cx="720" cy="960"/>
            </a:xfrm>
            <a:prstGeom prst="flowChartDelay">
              <a:avLst/>
            </a:prstGeom>
            <a:solidFill>
              <a:srgbClr val="CC99FF"/>
            </a:solidFill>
            <a:ln w="38100">
              <a:solidFill>
                <a:srgbClr val="996600"/>
              </a:solidFill>
              <a:miter lim="800000"/>
              <a:headEnd type="none" w="sm" len="sm"/>
              <a:tailEnd type="none" w="sm" len="sm"/>
            </a:ln>
            <a:effectLst/>
          </p:spPr>
          <p:txBody>
            <a:bodyPr wrap="none" anchor="ctr"/>
            <a:lstStyle/>
            <a:p>
              <a:pPr defTabSz="762000">
                <a:lnSpc>
                  <a:spcPct val="120000"/>
                </a:lnSpc>
                <a:defRPr/>
              </a:pPr>
              <a:r>
                <a:rPr kumimoji="1" lang="zh-CN" altLang="en-US" sz="3200" b="1">
                  <a:solidFill>
                    <a:srgbClr val="0000CC"/>
                  </a:solidFill>
                  <a:effectLst>
                    <a:outerShdw blurRad="38100" dist="38100" dir="2700000" algn="tl">
                      <a:srgbClr val="000000"/>
                    </a:outerShdw>
                  </a:effectLst>
                  <a:latin typeface="Times New Roman" pitchFamily="18" charset="0"/>
                  <a:ea typeface="宋体" pitchFamily="2" charset="-122"/>
                </a:rPr>
                <a:t>键盘</a:t>
              </a:r>
            </a:p>
            <a:p>
              <a:pPr defTabSz="762000">
                <a:lnSpc>
                  <a:spcPct val="120000"/>
                </a:lnSpc>
                <a:defRPr/>
              </a:pPr>
              <a:r>
                <a:rPr kumimoji="1" lang="zh-CN" altLang="en-US" sz="3200" b="1">
                  <a:solidFill>
                    <a:srgbClr val="0000CC"/>
                  </a:solidFill>
                  <a:effectLst>
                    <a:outerShdw blurRad="38100" dist="38100" dir="2700000" algn="tl">
                      <a:srgbClr val="000000"/>
                    </a:outerShdw>
                  </a:effectLst>
                  <a:latin typeface="Times New Roman" pitchFamily="18" charset="0"/>
                  <a:ea typeface="宋体" pitchFamily="2" charset="-122"/>
                </a:rPr>
                <a:t>屏幕</a:t>
              </a:r>
              <a:endParaRPr kumimoji="1" lang="zh-CN" altLang="en-US" sz="2000">
                <a:solidFill>
                  <a:srgbClr val="0000CC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Times New Roman" pitchFamily="18" charset="0"/>
                <a:ea typeface="宋体" pitchFamily="2" charset="-122"/>
              </a:endParaRPr>
            </a:p>
          </p:txBody>
        </p:sp>
      </p:grp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85800" y="484632"/>
            <a:ext cx="7772400" cy="712120"/>
          </a:xfrm>
        </p:spPr>
        <p:txBody>
          <a:bodyPr/>
          <a:lstStyle/>
          <a:p>
            <a:r>
              <a:rPr lang="zh-CN" altLang="en-US"/>
              <a:t>文件的分类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685800" y="1484313"/>
            <a:ext cx="8172450" cy="4611687"/>
          </a:xfrm>
        </p:spPr>
        <p:txBody>
          <a:bodyPr/>
          <a:lstStyle/>
          <a:p>
            <a:r>
              <a:rPr lang="zh-CN" altLang="en-US"/>
              <a:t>按文件的逻辑结构</a:t>
            </a:r>
            <a:endParaRPr lang="en-US" altLang="zh-CN"/>
          </a:p>
          <a:p>
            <a:pPr lvl="1"/>
            <a:r>
              <a:rPr lang="zh-CN" altLang="en-US">
                <a:solidFill>
                  <a:srgbClr val="00B050"/>
                </a:solidFill>
              </a:rPr>
              <a:t>记录文件</a:t>
            </a:r>
            <a:r>
              <a:rPr lang="zh-CN" altLang="en-US"/>
              <a:t>：由具有一定结构的记录组成（定长和不定长）</a:t>
            </a:r>
          </a:p>
          <a:p>
            <a:pPr lvl="1"/>
            <a:r>
              <a:rPr lang="zh-CN" altLang="en-US">
                <a:solidFill>
                  <a:srgbClr val="00B050"/>
                </a:solidFill>
              </a:rPr>
              <a:t>流式文件</a:t>
            </a:r>
            <a:r>
              <a:rPr lang="zh-CN" altLang="en-US"/>
              <a:t>：由一个个字符（字节）数据顺序组成</a:t>
            </a:r>
            <a:endParaRPr lang="en-US" altLang="zh-CN"/>
          </a:p>
          <a:p>
            <a:r>
              <a:rPr lang="zh-CN" altLang="en-US"/>
              <a:t>按存储介质</a:t>
            </a:r>
            <a:endParaRPr lang="en-US" altLang="zh-CN"/>
          </a:p>
          <a:p>
            <a:pPr lvl="1"/>
            <a:r>
              <a:rPr lang="zh-CN" altLang="en-US">
                <a:solidFill>
                  <a:srgbClr val="00B050"/>
                </a:solidFill>
              </a:rPr>
              <a:t>普通文件</a:t>
            </a:r>
            <a:r>
              <a:rPr lang="zh-CN" altLang="en-US"/>
              <a:t>：存储介质文件（磁盘、磁带等）</a:t>
            </a:r>
          </a:p>
          <a:p>
            <a:pPr lvl="1"/>
            <a:r>
              <a:rPr lang="zh-CN" altLang="en-US">
                <a:solidFill>
                  <a:srgbClr val="00B050"/>
                </a:solidFill>
              </a:rPr>
              <a:t>设备文件</a:t>
            </a:r>
            <a:r>
              <a:rPr lang="zh-CN" altLang="en-US"/>
              <a:t>：非存储介质（键盘、显示器、打印机等）</a:t>
            </a:r>
            <a:endParaRPr lang="en-US" altLang="zh-CN"/>
          </a:p>
          <a:p>
            <a:r>
              <a:rPr lang="zh-CN" altLang="en-US"/>
              <a:t>按数据的组织形式</a:t>
            </a:r>
            <a:endParaRPr lang="en-US" altLang="zh-CN"/>
          </a:p>
          <a:p>
            <a:pPr lvl="1"/>
            <a:r>
              <a:rPr lang="zh-CN" altLang="en-US">
                <a:solidFill>
                  <a:srgbClr val="00B050"/>
                </a:solidFill>
              </a:rPr>
              <a:t>文本文件</a:t>
            </a:r>
            <a:r>
              <a:rPr lang="zh-CN" altLang="en-US"/>
              <a:t>：</a:t>
            </a:r>
            <a:r>
              <a:rPr lang="zh-CN" altLang="zh-CN"/>
              <a:t> </a:t>
            </a:r>
            <a:r>
              <a:rPr lang="en-US" altLang="zh-CN"/>
              <a:t>ASCII</a:t>
            </a:r>
            <a:r>
              <a:rPr lang="zh-CN" altLang="en-US"/>
              <a:t>文件，每个字节存放一个字符的</a:t>
            </a:r>
            <a:r>
              <a:rPr lang="en-US" altLang="zh-CN"/>
              <a:t>ASCII</a:t>
            </a:r>
            <a:r>
              <a:rPr lang="zh-CN" altLang="en-US"/>
              <a:t>码</a:t>
            </a:r>
            <a:endParaRPr lang="en-US" altLang="zh-CN"/>
          </a:p>
          <a:p>
            <a:pPr lvl="1"/>
            <a:r>
              <a:rPr lang="zh-CN" altLang="en-US">
                <a:solidFill>
                  <a:srgbClr val="00B050"/>
                </a:solidFill>
              </a:rPr>
              <a:t>二进制文件</a:t>
            </a:r>
            <a:r>
              <a:rPr lang="zh-CN" altLang="en-US"/>
              <a:t>：数据按其在内存中的存储形式原样存放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6178" name="Rectangle 2"/>
          <p:cNvSpPr>
            <a:spLocks noGrp="1" noChangeArrowheads="1"/>
          </p:cNvSpPr>
          <p:nvPr>
            <p:ph type="title"/>
          </p:nvPr>
        </p:nvSpPr>
        <p:spPr>
          <a:xfrm>
            <a:off x="685800" y="484632"/>
            <a:ext cx="7772400" cy="999681"/>
          </a:xfrm>
        </p:spPr>
        <p:txBody>
          <a:bodyPr/>
          <a:lstStyle/>
          <a:p>
            <a:pPr>
              <a:defRPr/>
            </a:pPr>
            <a:r>
              <a:rPr lang="zh-CN" altLang="en-US">
                <a:cs typeface="+mj-cs"/>
              </a:rPr>
              <a:t>流（</a:t>
            </a:r>
            <a:r>
              <a:rPr lang="en-US" altLang="zh-CN" dirty="0">
                <a:cs typeface="+mj-cs"/>
              </a:rPr>
              <a:t>Stream</a:t>
            </a:r>
            <a:r>
              <a:rPr lang="zh-CN" altLang="en-US" dirty="0">
                <a:cs typeface="+mj-cs"/>
              </a:rPr>
              <a:t>）</a:t>
            </a:r>
          </a:p>
        </p:txBody>
      </p:sp>
      <p:sp>
        <p:nvSpPr>
          <p:cNvPr id="306179" name="Rectangle 3"/>
          <p:cNvSpPr>
            <a:spLocks noGrp="1" noChangeArrowheads="1"/>
          </p:cNvSpPr>
          <p:nvPr>
            <p:ph idx="1"/>
          </p:nvPr>
        </p:nvSpPr>
        <p:spPr>
          <a:xfrm>
            <a:off x="395288" y="1484313"/>
            <a:ext cx="8424862" cy="4968875"/>
          </a:xfrm>
        </p:spPr>
        <p:txBody>
          <a:bodyPr/>
          <a:lstStyle/>
          <a:p>
            <a:pPr eaLnBrk="1"/>
            <a:r>
              <a:rPr lang="zh-CN" altLang="en-US"/>
              <a:t>计算机中的流的概念</a:t>
            </a:r>
          </a:p>
          <a:p>
            <a:pPr lvl="1" eaLnBrk="1"/>
            <a:r>
              <a:rPr lang="zh-CN" altLang="en-US"/>
              <a:t>一般称为数据流，也有叫做字节流、比特流的，还有很具体的文件流、视频流、音频流等</a:t>
            </a:r>
          </a:p>
        </p:txBody>
      </p:sp>
      <p:pic>
        <p:nvPicPr>
          <p:cNvPr id="16388" name="Picture 4"/>
          <p:cNvPicPr>
            <a:picLocks noChangeAspect="1" noChangeArrowheads="1"/>
          </p:cNvPicPr>
          <p:nvPr/>
        </p:nvPicPr>
        <p:blipFill>
          <a:blip r:embed="rId3">
            <a:lum bright="-18000" contrast="30000"/>
            <a:grayscl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14375" y="3286125"/>
            <a:ext cx="8137525" cy="23876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文件指针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685800" y="1916832"/>
            <a:ext cx="8172450" cy="4179168"/>
          </a:xfrm>
        </p:spPr>
        <p:txBody>
          <a:bodyPr>
            <a:normAutofit fontScale="92500" lnSpcReduction="20000"/>
          </a:bodyPr>
          <a:lstStyle/>
          <a:p>
            <a:pPr>
              <a:lnSpc>
                <a:spcPct val="150000"/>
              </a:lnSpc>
            </a:pPr>
            <a:r>
              <a:rPr kumimoji="1" lang="en-US" altLang="zh-CN"/>
              <a:t>C</a:t>
            </a:r>
            <a:r>
              <a:rPr kumimoji="1" lang="zh-CN" altLang="en-US" dirty="0"/>
              <a:t>语言程序可同时处理多个文件，为了对每个文件进行有效的管理，就需要在内存中开辟（保存）一个“</a:t>
            </a:r>
            <a:r>
              <a:rPr kumimoji="1" lang="zh-CN" altLang="en-US" b="1" dirty="0">
                <a:solidFill>
                  <a:srgbClr val="00B050"/>
                </a:solidFill>
              </a:rPr>
              <a:t>文件信息描述区</a:t>
            </a:r>
            <a:r>
              <a:rPr kumimoji="1" lang="zh-CN" altLang="en-US" dirty="0"/>
              <a:t>”，记录文件的当前状态（</a:t>
            </a:r>
            <a:r>
              <a:rPr kumimoji="1" lang="zh-CN" altLang="en-US" dirty="0">
                <a:solidFill>
                  <a:srgbClr val="C00000"/>
                </a:solidFill>
              </a:rPr>
              <a:t>文件名</a:t>
            </a:r>
            <a:r>
              <a:rPr kumimoji="1" lang="zh-CN" altLang="en-US" dirty="0"/>
              <a:t>、</a:t>
            </a:r>
            <a:r>
              <a:rPr kumimoji="1" lang="zh-CN" altLang="en-US" dirty="0">
                <a:solidFill>
                  <a:srgbClr val="C00000"/>
                </a:solidFill>
              </a:rPr>
              <a:t>文件大小</a:t>
            </a:r>
            <a:r>
              <a:rPr kumimoji="1" lang="zh-CN" altLang="en-US" dirty="0"/>
              <a:t>等）。该信息描述区是用一个</a:t>
            </a:r>
            <a:r>
              <a:rPr kumimoji="1" lang="zh-CN" altLang="en-US" b="1" dirty="0">
                <a:solidFill>
                  <a:srgbClr val="00B050"/>
                </a:solidFill>
              </a:rPr>
              <a:t>结构变量，即</a:t>
            </a:r>
            <a:r>
              <a:rPr kumimoji="1" lang="zh-CN" altLang="en-US" dirty="0"/>
              <a:t>该结构体包含变量来记录实现的。该结构变量名叫</a:t>
            </a:r>
            <a:r>
              <a:rPr kumimoji="1" lang="zh-CN" altLang="en-US" b="1" dirty="0">
                <a:solidFill>
                  <a:srgbClr val="00B050"/>
                </a:solidFill>
              </a:rPr>
              <a:t>文件结构变量</a:t>
            </a:r>
            <a:r>
              <a:rPr kumimoji="1" lang="zh-CN" altLang="en-US" dirty="0"/>
              <a:t>。</a:t>
            </a:r>
            <a:endParaRPr kumimoji="1" lang="en-US" altLang="zh-CN" dirty="0"/>
          </a:p>
          <a:p>
            <a:pPr>
              <a:lnSpc>
                <a:spcPct val="150000"/>
              </a:lnSpc>
            </a:pPr>
            <a:endParaRPr kumimoji="1" lang="en-US" altLang="zh-CN" dirty="0"/>
          </a:p>
          <a:p>
            <a:pPr>
              <a:lnSpc>
                <a:spcPct val="150000"/>
              </a:lnSpc>
            </a:pPr>
            <a:r>
              <a:rPr kumimoji="1" lang="zh-CN" altLang="en-US" dirty="0"/>
              <a:t>文件结构变量的类型由系统定义，并取名为</a:t>
            </a:r>
            <a:r>
              <a:rPr kumimoji="1" lang="en-US" altLang="zh-CN" b="1" dirty="0">
                <a:solidFill>
                  <a:srgbClr val="00B050"/>
                </a:solidFill>
              </a:rPr>
              <a:t>FILE</a:t>
            </a:r>
            <a:r>
              <a:rPr kumimoji="1" lang="zh-CN" altLang="en-US" dirty="0"/>
              <a:t>。它通常被存放在</a:t>
            </a:r>
            <a:r>
              <a:rPr kumimoji="1" lang="en-US" altLang="zh-CN" dirty="0">
                <a:solidFill>
                  <a:srgbClr val="00B050"/>
                </a:solidFill>
              </a:rPr>
              <a:t>&lt;</a:t>
            </a:r>
            <a:r>
              <a:rPr kumimoji="1" lang="en-US" altLang="zh-CN" dirty="0" err="1">
                <a:solidFill>
                  <a:srgbClr val="00B050"/>
                </a:solidFill>
              </a:rPr>
              <a:t>stdio.h</a:t>
            </a:r>
            <a:r>
              <a:rPr kumimoji="1" lang="en-US" altLang="zh-CN" dirty="0">
                <a:solidFill>
                  <a:srgbClr val="00B050"/>
                </a:solidFill>
              </a:rPr>
              <a:t>&gt;</a:t>
            </a:r>
            <a:r>
              <a:rPr kumimoji="1" lang="zh-CN" altLang="en-US" dirty="0"/>
              <a:t>头文件中。</a:t>
            </a:r>
          </a:p>
          <a:p>
            <a:pPr>
              <a:lnSpc>
                <a:spcPct val="150000"/>
              </a:lnSpc>
            </a:pPr>
            <a:r>
              <a:rPr kumimoji="1" lang="zh-CN" altLang="en-US" dirty="0"/>
              <a:t>要想对文件进行操作，首先必须将想要</a:t>
            </a:r>
            <a:r>
              <a:rPr kumimoji="1" lang="zh-CN" altLang="en-US" dirty="0">
                <a:solidFill>
                  <a:srgbClr val="00B050"/>
                </a:solidFill>
              </a:rPr>
              <a:t>操作的数据文件</a:t>
            </a:r>
            <a:r>
              <a:rPr kumimoji="1" lang="zh-CN" altLang="en-US" dirty="0"/>
              <a:t>与</a:t>
            </a:r>
            <a:r>
              <a:rPr kumimoji="1" lang="zh-CN" altLang="en-US" dirty="0">
                <a:solidFill>
                  <a:srgbClr val="00B050"/>
                </a:solidFill>
              </a:rPr>
              <a:t>文件指针</a:t>
            </a:r>
            <a:r>
              <a:rPr kumimoji="1" lang="zh-CN" altLang="en-US" dirty="0"/>
              <a:t>建立关联，然后</a:t>
            </a:r>
            <a:r>
              <a:rPr kumimoji="1" lang="zh-CN" altLang="en-US" dirty="0">
                <a:solidFill>
                  <a:srgbClr val="00B050"/>
                </a:solidFill>
              </a:rPr>
              <a:t>通过这些文件指针来操作相应的文件</a:t>
            </a:r>
            <a:r>
              <a:rPr kumimoji="1" lang="zh-CN" altLang="en-US" dirty="0"/>
              <a:t>。</a:t>
            </a:r>
          </a:p>
          <a:p>
            <a:pPr>
              <a:lnSpc>
                <a:spcPct val="150000"/>
              </a:lnSpc>
            </a:pPr>
            <a:endParaRPr kumimoji="1" lang="zh-CN" altLang="en-US" dirty="0">
              <a:solidFill>
                <a:schemeClr val="accent2"/>
              </a:solidFill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0514" name="Rectangle 2"/>
          <p:cNvSpPr>
            <a:spLocks noGrp="1" noChangeArrowheads="1"/>
          </p:cNvSpPr>
          <p:nvPr>
            <p:ph type="title"/>
          </p:nvPr>
        </p:nvSpPr>
        <p:spPr>
          <a:xfrm>
            <a:off x="685800" y="484632"/>
            <a:ext cx="7772400" cy="856806"/>
          </a:xfrm>
        </p:spPr>
        <p:txBody>
          <a:bodyPr/>
          <a:lstStyle/>
          <a:p>
            <a:r>
              <a:rPr lang="zh-CN" altLang="en-US"/>
              <a:t>文件指针（</a:t>
            </a:r>
            <a:r>
              <a:rPr kumimoji="1" lang="en-US" altLang="zh-CN" dirty="0">
                <a:solidFill>
                  <a:schemeClr val="accent2"/>
                </a:solidFill>
              </a:rPr>
              <a:t>File Pointer</a:t>
            </a:r>
            <a:r>
              <a:rPr kumimoji="1" lang="zh-CN" altLang="en-US" dirty="0">
                <a:solidFill>
                  <a:schemeClr val="accent2"/>
                </a:solidFill>
              </a:rPr>
              <a:t>）</a:t>
            </a:r>
          </a:p>
        </p:txBody>
      </p:sp>
      <p:sp>
        <p:nvSpPr>
          <p:cNvPr id="320515" name="Rectangle 3"/>
          <p:cNvSpPr>
            <a:spLocks noGrp="1" noChangeArrowheads="1"/>
          </p:cNvSpPr>
          <p:nvPr>
            <p:ph idx="1"/>
          </p:nvPr>
        </p:nvSpPr>
        <p:spPr>
          <a:xfrm>
            <a:off x="179388" y="1341438"/>
            <a:ext cx="8713787" cy="5111750"/>
          </a:xfrm>
        </p:spPr>
        <p:txBody>
          <a:bodyPr>
            <a:normAutofit fontScale="92500" lnSpcReduction="10000"/>
          </a:bodyPr>
          <a:lstStyle/>
          <a:p>
            <a:pPr eaLnBrk="1">
              <a:lnSpc>
                <a:spcPct val="85000"/>
              </a:lnSpc>
            </a:pPr>
            <a:r>
              <a:rPr kumimoji="1" lang="en-US" altLang="zh-CN" sz="2400">
                <a:solidFill>
                  <a:schemeClr val="accent2"/>
                </a:solidFill>
                <a:latin typeface="Courier New" charset="0"/>
              </a:rPr>
              <a:t>typedef</a:t>
            </a:r>
            <a:r>
              <a:rPr kumimoji="1" lang="en-US" altLang="zh-CN" sz="2400">
                <a:solidFill>
                  <a:schemeClr val="tx1"/>
                </a:solidFill>
                <a:latin typeface="Courier New" charset="0"/>
              </a:rPr>
              <a:t> </a:t>
            </a:r>
            <a:r>
              <a:rPr kumimoji="1" lang="en-US" altLang="zh-CN" sz="2400">
                <a:solidFill>
                  <a:schemeClr val="accent2"/>
                </a:solidFill>
                <a:latin typeface="Courier New" charset="0"/>
              </a:rPr>
              <a:t>struct</a:t>
            </a:r>
          </a:p>
          <a:p>
            <a:pPr eaLnBrk="1">
              <a:lnSpc>
                <a:spcPct val="85000"/>
              </a:lnSpc>
              <a:buFont typeface="Monotype Sorts" charset="2"/>
              <a:buNone/>
            </a:pPr>
            <a:r>
              <a:rPr kumimoji="1" lang="en-US" altLang="zh-CN" sz="2400">
                <a:solidFill>
                  <a:schemeClr val="tx1"/>
                </a:solidFill>
                <a:latin typeface="Courier New" charset="0"/>
              </a:rPr>
              <a:t>  {</a:t>
            </a:r>
          </a:p>
          <a:p>
            <a:pPr eaLnBrk="1">
              <a:lnSpc>
                <a:spcPct val="85000"/>
              </a:lnSpc>
              <a:buFont typeface="Monotype Sorts" charset="2"/>
              <a:buNone/>
            </a:pPr>
            <a:r>
              <a:rPr kumimoji="1" lang="en-US" altLang="zh-CN" sz="2400">
                <a:solidFill>
                  <a:schemeClr val="tx1"/>
                </a:solidFill>
                <a:latin typeface="Courier New" charset="0"/>
              </a:rPr>
              <a:t>  		</a:t>
            </a:r>
            <a:r>
              <a:rPr kumimoji="1" lang="en-US" altLang="zh-CN" sz="2400">
                <a:solidFill>
                  <a:schemeClr val="accent2"/>
                </a:solidFill>
                <a:latin typeface="Courier New" charset="0"/>
              </a:rPr>
              <a:t>short</a:t>
            </a:r>
            <a:r>
              <a:rPr kumimoji="1" lang="en-US" altLang="zh-CN" sz="2400">
                <a:solidFill>
                  <a:schemeClr val="tx1"/>
                </a:solidFill>
                <a:latin typeface="Courier New" charset="0"/>
              </a:rPr>
              <a:t> level;        /*</a:t>
            </a:r>
            <a:r>
              <a:rPr kumimoji="1" lang="zh-CN" altLang="en-US" sz="2400">
                <a:solidFill>
                  <a:schemeClr val="tx1"/>
                </a:solidFill>
                <a:latin typeface="Courier New" charset="0"/>
              </a:rPr>
              <a:t>缓冲区</a:t>
            </a:r>
            <a:r>
              <a:rPr kumimoji="1" lang="zh-CN" altLang="en-US" sz="2400">
                <a:solidFill>
                  <a:schemeClr val="tx1"/>
                </a:solidFill>
              </a:rPr>
              <a:t>‘满’或‘空’</a:t>
            </a:r>
            <a:r>
              <a:rPr kumimoji="1" lang="zh-CN" altLang="en-US" sz="2400">
                <a:solidFill>
                  <a:schemeClr val="tx1"/>
                </a:solidFill>
                <a:latin typeface="Courier New" charset="0"/>
              </a:rPr>
              <a:t>的程度*</a:t>
            </a:r>
            <a:r>
              <a:rPr kumimoji="1" lang="en-US" altLang="zh-CN" sz="2400">
                <a:solidFill>
                  <a:schemeClr val="tx1"/>
                </a:solidFill>
                <a:latin typeface="Courier New" charset="0"/>
              </a:rPr>
              <a:t>/</a:t>
            </a:r>
          </a:p>
          <a:p>
            <a:pPr eaLnBrk="1">
              <a:lnSpc>
                <a:spcPct val="85000"/>
              </a:lnSpc>
              <a:buFont typeface="Monotype Sorts" charset="2"/>
              <a:buNone/>
            </a:pPr>
            <a:r>
              <a:rPr kumimoji="1" lang="en-US" altLang="zh-CN" sz="2400">
                <a:solidFill>
                  <a:schemeClr val="tx1"/>
                </a:solidFill>
                <a:latin typeface="Courier New" charset="0"/>
              </a:rPr>
              <a:t>  		</a:t>
            </a:r>
            <a:r>
              <a:rPr kumimoji="1" lang="en-US" altLang="zh-CN" sz="2400">
                <a:solidFill>
                  <a:schemeClr val="accent2"/>
                </a:solidFill>
                <a:latin typeface="Courier New" charset="0"/>
              </a:rPr>
              <a:t>unsigned</a:t>
            </a:r>
            <a:r>
              <a:rPr kumimoji="1" lang="en-US" altLang="zh-CN" sz="2400">
                <a:solidFill>
                  <a:schemeClr val="tx1"/>
                </a:solidFill>
                <a:latin typeface="Courier New" charset="0"/>
              </a:rPr>
              <a:t> flags;     /*</a:t>
            </a:r>
            <a:r>
              <a:rPr kumimoji="1" lang="zh-CN" altLang="en-US" sz="2400">
                <a:solidFill>
                  <a:schemeClr val="tx1"/>
                </a:solidFill>
                <a:latin typeface="Courier New" charset="0"/>
              </a:rPr>
              <a:t>文件状态标志*</a:t>
            </a:r>
            <a:r>
              <a:rPr kumimoji="1" lang="en-US" altLang="zh-CN" sz="2400">
                <a:solidFill>
                  <a:schemeClr val="tx1"/>
                </a:solidFill>
                <a:latin typeface="Courier New" charset="0"/>
              </a:rPr>
              <a:t>/</a:t>
            </a:r>
          </a:p>
          <a:p>
            <a:pPr eaLnBrk="1">
              <a:lnSpc>
                <a:spcPct val="85000"/>
              </a:lnSpc>
              <a:buFont typeface="Monotype Sorts" charset="2"/>
              <a:buNone/>
            </a:pPr>
            <a:r>
              <a:rPr kumimoji="1" lang="en-US" altLang="zh-CN" sz="2400">
                <a:solidFill>
                  <a:schemeClr val="tx1"/>
                </a:solidFill>
                <a:latin typeface="Courier New" charset="0"/>
              </a:rPr>
              <a:t>  		</a:t>
            </a:r>
            <a:r>
              <a:rPr kumimoji="1" lang="en-US" altLang="zh-CN" sz="2400">
                <a:solidFill>
                  <a:schemeClr val="accent2"/>
                </a:solidFill>
                <a:latin typeface="Courier New" charset="0"/>
              </a:rPr>
              <a:t>char</a:t>
            </a:r>
            <a:r>
              <a:rPr kumimoji="1" lang="en-US" altLang="zh-CN" sz="2400">
                <a:solidFill>
                  <a:schemeClr val="tx1"/>
                </a:solidFill>
                <a:latin typeface="Courier New" charset="0"/>
              </a:rPr>
              <a:t> fd;            /*</a:t>
            </a:r>
            <a:r>
              <a:rPr kumimoji="1" lang="zh-CN" altLang="en-US" sz="2400">
                <a:solidFill>
                  <a:schemeClr val="tx1"/>
                </a:solidFill>
                <a:latin typeface="Courier New" charset="0"/>
              </a:rPr>
              <a:t>文件描述符*</a:t>
            </a:r>
            <a:r>
              <a:rPr kumimoji="1" lang="en-US" altLang="zh-CN" sz="2400">
                <a:solidFill>
                  <a:schemeClr val="tx1"/>
                </a:solidFill>
                <a:latin typeface="Courier New" charset="0"/>
              </a:rPr>
              <a:t>/</a:t>
            </a:r>
          </a:p>
          <a:p>
            <a:pPr eaLnBrk="1">
              <a:lnSpc>
                <a:spcPct val="85000"/>
              </a:lnSpc>
              <a:buFont typeface="Monotype Sorts" charset="2"/>
              <a:buNone/>
            </a:pPr>
            <a:r>
              <a:rPr kumimoji="1" lang="en-US" altLang="zh-CN" sz="2400">
                <a:solidFill>
                  <a:schemeClr val="tx1"/>
                </a:solidFill>
                <a:latin typeface="Courier New" charset="0"/>
              </a:rPr>
              <a:t>  		</a:t>
            </a:r>
            <a:r>
              <a:rPr kumimoji="1" lang="en-US" altLang="zh-CN" sz="2400">
                <a:solidFill>
                  <a:schemeClr val="accent2"/>
                </a:solidFill>
                <a:latin typeface="Courier New" charset="0"/>
              </a:rPr>
              <a:t>unsigned char</a:t>
            </a:r>
            <a:r>
              <a:rPr kumimoji="1" lang="en-US" altLang="zh-CN" sz="2400">
                <a:solidFill>
                  <a:schemeClr val="tx1"/>
                </a:solidFill>
                <a:latin typeface="Courier New" charset="0"/>
              </a:rPr>
              <a:t> hold; /*</a:t>
            </a:r>
            <a:r>
              <a:rPr kumimoji="1" lang="zh-CN" altLang="en-US" sz="2400">
                <a:solidFill>
                  <a:schemeClr val="tx1"/>
                </a:solidFill>
                <a:latin typeface="Courier New" charset="0"/>
              </a:rPr>
              <a:t>如无缓冲区不读字符*</a:t>
            </a:r>
            <a:r>
              <a:rPr kumimoji="1" lang="en-US" altLang="zh-CN" sz="2400">
                <a:solidFill>
                  <a:schemeClr val="tx1"/>
                </a:solidFill>
                <a:latin typeface="Courier New" charset="0"/>
              </a:rPr>
              <a:t>/</a:t>
            </a:r>
          </a:p>
          <a:p>
            <a:pPr eaLnBrk="1">
              <a:lnSpc>
                <a:spcPct val="85000"/>
              </a:lnSpc>
              <a:buFont typeface="Monotype Sorts" charset="2"/>
              <a:buNone/>
            </a:pPr>
            <a:r>
              <a:rPr kumimoji="1" lang="en-US" altLang="zh-CN" sz="2400">
                <a:solidFill>
                  <a:schemeClr val="tx1"/>
                </a:solidFill>
                <a:latin typeface="Courier New" charset="0"/>
              </a:rPr>
              <a:t>  		</a:t>
            </a:r>
            <a:r>
              <a:rPr kumimoji="1" lang="en-US" altLang="zh-CN" sz="2400">
                <a:solidFill>
                  <a:schemeClr val="accent2"/>
                </a:solidFill>
                <a:latin typeface="Courier New" charset="0"/>
              </a:rPr>
              <a:t>short</a:t>
            </a:r>
            <a:r>
              <a:rPr kumimoji="1" lang="en-US" altLang="zh-CN" sz="2400">
                <a:solidFill>
                  <a:schemeClr val="tx1"/>
                </a:solidFill>
                <a:latin typeface="Courier New" charset="0"/>
              </a:rPr>
              <a:t> bsize;        /*</a:t>
            </a:r>
            <a:r>
              <a:rPr kumimoji="1" lang="zh-CN" altLang="en-US" sz="2400">
                <a:solidFill>
                  <a:schemeClr val="tx1"/>
                </a:solidFill>
                <a:latin typeface="Courier New" charset="0"/>
              </a:rPr>
              <a:t>缓冲区的大小*</a:t>
            </a:r>
            <a:r>
              <a:rPr kumimoji="1" lang="en-US" altLang="zh-CN" sz="2400">
                <a:solidFill>
                  <a:schemeClr val="tx1"/>
                </a:solidFill>
                <a:latin typeface="Courier New" charset="0"/>
              </a:rPr>
              <a:t>/</a:t>
            </a:r>
          </a:p>
          <a:p>
            <a:pPr eaLnBrk="1">
              <a:lnSpc>
                <a:spcPct val="85000"/>
              </a:lnSpc>
              <a:buFont typeface="Monotype Sorts" charset="2"/>
              <a:buNone/>
            </a:pPr>
            <a:r>
              <a:rPr kumimoji="1" lang="en-US" altLang="zh-CN" sz="2400">
                <a:solidFill>
                  <a:schemeClr val="tx1"/>
                </a:solidFill>
                <a:latin typeface="Courier New" charset="0"/>
              </a:rPr>
              <a:t>  		</a:t>
            </a:r>
            <a:r>
              <a:rPr kumimoji="1" lang="en-US" altLang="zh-CN" sz="2400">
                <a:solidFill>
                  <a:schemeClr val="accent2"/>
                </a:solidFill>
                <a:latin typeface="Courier New" charset="0"/>
              </a:rPr>
              <a:t>unsigned char</a:t>
            </a:r>
            <a:r>
              <a:rPr kumimoji="1" lang="en-US" altLang="zh-CN" sz="2400">
                <a:solidFill>
                  <a:schemeClr val="tx1"/>
                </a:solidFill>
                <a:latin typeface="Courier New" charset="0"/>
              </a:rPr>
              <a:t> *buffer;/*</a:t>
            </a:r>
            <a:r>
              <a:rPr kumimoji="1" lang="zh-CN" altLang="en-US" sz="2400">
                <a:solidFill>
                  <a:schemeClr val="tx1"/>
                </a:solidFill>
                <a:latin typeface="Courier New" charset="0"/>
              </a:rPr>
              <a:t>数据缓冲区的位置*</a:t>
            </a:r>
            <a:r>
              <a:rPr kumimoji="1" lang="en-US" altLang="zh-CN" sz="2400">
                <a:solidFill>
                  <a:schemeClr val="tx1"/>
                </a:solidFill>
                <a:latin typeface="Courier New" charset="0"/>
              </a:rPr>
              <a:t>/</a:t>
            </a:r>
          </a:p>
          <a:p>
            <a:pPr eaLnBrk="1">
              <a:lnSpc>
                <a:spcPct val="85000"/>
              </a:lnSpc>
              <a:buFont typeface="Monotype Sorts" charset="2"/>
              <a:buNone/>
            </a:pPr>
            <a:r>
              <a:rPr kumimoji="1" lang="en-US" altLang="zh-CN" sz="2400">
                <a:solidFill>
                  <a:schemeClr val="tx1"/>
                </a:solidFill>
                <a:latin typeface="Courier New" charset="0"/>
              </a:rPr>
              <a:t>  		</a:t>
            </a:r>
            <a:r>
              <a:rPr kumimoji="1" lang="en-US" altLang="zh-CN" sz="2400">
                <a:solidFill>
                  <a:schemeClr val="accent2"/>
                </a:solidFill>
                <a:latin typeface="Courier New" charset="0"/>
              </a:rPr>
              <a:t>unsigned char</a:t>
            </a:r>
            <a:r>
              <a:rPr kumimoji="1" lang="en-US" altLang="zh-CN" sz="2400">
                <a:solidFill>
                  <a:schemeClr val="tx1"/>
                </a:solidFill>
                <a:latin typeface="Courier New" charset="0"/>
              </a:rPr>
              <a:t> *curp; /*</a:t>
            </a:r>
            <a:r>
              <a:rPr kumimoji="1" lang="zh-CN" altLang="en-US" sz="2400">
                <a:solidFill>
                  <a:schemeClr val="tx1"/>
                </a:solidFill>
                <a:latin typeface="Courier New" charset="0"/>
              </a:rPr>
              <a:t>指针当前的指向*</a:t>
            </a:r>
            <a:r>
              <a:rPr kumimoji="1" lang="en-US" altLang="zh-CN" sz="2400">
                <a:solidFill>
                  <a:schemeClr val="tx1"/>
                </a:solidFill>
                <a:latin typeface="Courier New" charset="0"/>
              </a:rPr>
              <a:t>/</a:t>
            </a:r>
          </a:p>
          <a:p>
            <a:pPr eaLnBrk="1">
              <a:lnSpc>
                <a:spcPct val="85000"/>
              </a:lnSpc>
              <a:buFont typeface="Monotype Sorts" charset="2"/>
              <a:buNone/>
            </a:pPr>
            <a:r>
              <a:rPr kumimoji="1" lang="en-US" altLang="zh-CN" sz="2400">
                <a:solidFill>
                  <a:schemeClr val="tx1"/>
                </a:solidFill>
                <a:latin typeface="Courier New" charset="0"/>
              </a:rPr>
              <a:t>  		</a:t>
            </a:r>
            <a:r>
              <a:rPr kumimoji="1" lang="en-US" altLang="zh-CN" sz="2400">
                <a:solidFill>
                  <a:schemeClr val="accent2"/>
                </a:solidFill>
                <a:latin typeface="Courier New" charset="0"/>
              </a:rPr>
              <a:t>unsigned </a:t>
            </a:r>
            <a:r>
              <a:rPr kumimoji="1" lang="en-US" altLang="zh-CN" sz="2400">
                <a:solidFill>
                  <a:schemeClr val="tx1"/>
                </a:solidFill>
                <a:latin typeface="Courier New" charset="0"/>
              </a:rPr>
              <a:t>istemp;     /*</a:t>
            </a:r>
            <a:r>
              <a:rPr kumimoji="1" lang="zh-CN" altLang="en-US" sz="2400">
                <a:solidFill>
                  <a:schemeClr val="tx1"/>
                </a:solidFill>
                <a:latin typeface="Courier New" charset="0"/>
              </a:rPr>
              <a:t>临时文件指示器*</a:t>
            </a:r>
            <a:r>
              <a:rPr kumimoji="1" lang="en-US" altLang="zh-CN" sz="2400">
                <a:solidFill>
                  <a:schemeClr val="tx1"/>
                </a:solidFill>
                <a:latin typeface="Courier New" charset="0"/>
              </a:rPr>
              <a:t>/</a:t>
            </a:r>
          </a:p>
          <a:p>
            <a:pPr eaLnBrk="1">
              <a:lnSpc>
                <a:spcPct val="85000"/>
              </a:lnSpc>
              <a:buFont typeface="Monotype Sorts" charset="2"/>
              <a:buNone/>
            </a:pPr>
            <a:r>
              <a:rPr kumimoji="1" lang="en-US" altLang="zh-CN" sz="2400">
                <a:solidFill>
                  <a:schemeClr val="tx1"/>
                </a:solidFill>
                <a:latin typeface="Courier New" charset="0"/>
              </a:rPr>
              <a:t>  		</a:t>
            </a:r>
            <a:r>
              <a:rPr kumimoji="1" lang="en-US" altLang="zh-CN" sz="2400">
                <a:solidFill>
                  <a:schemeClr val="accent2"/>
                </a:solidFill>
                <a:latin typeface="Courier New" charset="0"/>
              </a:rPr>
              <a:t>short</a:t>
            </a:r>
            <a:r>
              <a:rPr kumimoji="1" lang="en-US" altLang="zh-CN" sz="2400">
                <a:solidFill>
                  <a:schemeClr val="tx1"/>
                </a:solidFill>
                <a:latin typeface="Courier New" charset="0"/>
              </a:rPr>
              <a:t> token;         /*</a:t>
            </a:r>
            <a:r>
              <a:rPr kumimoji="1" lang="zh-CN" altLang="en-US" sz="2400">
                <a:solidFill>
                  <a:schemeClr val="tx1"/>
                </a:solidFill>
                <a:latin typeface="Courier New" charset="0"/>
              </a:rPr>
              <a:t>用于有效性检查*</a:t>
            </a:r>
            <a:r>
              <a:rPr kumimoji="1" lang="en-US" altLang="zh-CN" sz="2400">
                <a:solidFill>
                  <a:schemeClr val="tx1"/>
                </a:solidFill>
                <a:latin typeface="Courier New" charset="0"/>
              </a:rPr>
              <a:t>/</a:t>
            </a:r>
          </a:p>
          <a:p>
            <a:pPr eaLnBrk="1">
              <a:lnSpc>
                <a:spcPct val="85000"/>
              </a:lnSpc>
              <a:buFont typeface="Monotype Sorts" charset="2"/>
              <a:buNone/>
            </a:pPr>
            <a:r>
              <a:rPr kumimoji="1" lang="en-US" altLang="zh-CN" sz="2400">
                <a:solidFill>
                  <a:schemeClr val="tx1"/>
                </a:solidFill>
                <a:latin typeface="Courier New" charset="0"/>
              </a:rPr>
              <a:t>  }</a:t>
            </a:r>
            <a:r>
              <a:rPr kumimoji="1" lang="en-US" altLang="zh-CN" sz="2400">
                <a:solidFill>
                  <a:schemeClr val="accent2"/>
                </a:solidFill>
                <a:latin typeface="Courier New" charset="0"/>
              </a:rPr>
              <a:t>FILE</a:t>
            </a:r>
            <a:r>
              <a:rPr kumimoji="1" lang="en-US" altLang="zh-CN" sz="2400">
                <a:solidFill>
                  <a:schemeClr val="tx1"/>
                </a:solidFill>
                <a:latin typeface="Courier New" charset="0"/>
              </a:rPr>
              <a:t>;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2562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文件指针</a:t>
            </a:r>
          </a:p>
        </p:txBody>
      </p:sp>
      <p:sp>
        <p:nvSpPr>
          <p:cNvPr id="322563" name="Rectangle 3"/>
          <p:cNvSpPr>
            <a:spLocks noGrp="1" noChangeArrowheads="1"/>
          </p:cNvSpPr>
          <p:nvPr>
            <p:ph idx="1"/>
          </p:nvPr>
        </p:nvSpPr>
        <p:spPr>
          <a:xfrm>
            <a:off x="250825" y="1916832"/>
            <a:ext cx="8642350" cy="3384550"/>
          </a:xfrm>
        </p:spPr>
        <p:txBody>
          <a:bodyPr/>
          <a:lstStyle/>
          <a:p>
            <a:pPr eaLnBrk="1"/>
            <a:r>
              <a:rPr kumimoji="1" lang="en-US" altLang="zh-CN" dirty="0">
                <a:solidFill>
                  <a:schemeClr val="accent2"/>
                </a:solidFill>
                <a:latin typeface="Courier New" charset="0"/>
              </a:rPr>
              <a:t>FILE  </a:t>
            </a:r>
            <a:r>
              <a:rPr kumimoji="1" lang="en-US" altLang="zh-CN" dirty="0">
                <a:solidFill>
                  <a:schemeClr val="tx1"/>
                </a:solidFill>
                <a:latin typeface="Courier New" charset="0"/>
              </a:rPr>
              <a:t> *</a:t>
            </a:r>
            <a:r>
              <a:rPr kumimoji="1" lang="en-US" altLang="zh-CN" dirty="0" err="1">
                <a:solidFill>
                  <a:schemeClr val="tx1"/>
                </a:solidFill>
                <a:latin typeface="Courier New" charset="0"/>
              </a:rPr>
              <a:t>fp</a:t>
            </a:r>
            <a:r>
              <a:rPr kumimoji="1" lang="en-US" altLang="zh-CN" dirty="0">
                <a:solidFill>
                  <a:schemeClr val="tx1"/>
                </a:solidFill>
                <a:latin typeface="Courier New" charset="0"/>
              </a:rPr>
              <a:t> ;</a:t>
            </a:r>
          </a:p>
          <a:p>
            <a:pPr lvl="1" eaLnBrk="1"/>
            <a:r>
              <a:rPr lang="zh-CN" altLang="en-US" dirty="0">
                <a:solidFill>
                  <a:schemeClr val="hlink"/>
                </a:solidFill>
              </a:rPr>
              <a:t>是</a:t>
            </a:r>
            <a:r>
              <a:rPr lang="en-US" altLang="zh-CN" dirty="0">
                <a:solidFill>
                  <a:schemeClr val="accent2"/>
                </a:solidFill>
                <a:latin typeface="Courier New" charset="0"/>
              </a:rPr>
              <a:t>FILE</a:t>
            </a:r>
            <a:r>
              <a:rPr lang="zh-CN" altLang="en-US" dirty="0">
                <a:solidFill>
                  <a:schemeClr val="hlink"/>
                </a:solidFill>
              </a:rPr>
              <a:t>型指针变量</a:t>
            </a:r>
          </a:p>
          <a:p>
            <a:pPr lvl="1" eaLnBrk="1"/>
            <a:r>
              <a:rPr lang="zh-CN" altLang="en-US" dirty="0">
                <a:solidFill>
                  <a:schemeClr val="hlink"/>
                </a:solidFill>
              </a:rPr>
              <a:t>标识一个特定的磁盘文件</a:t>
            </a:r>
          </a:p>
          <a:p>
            <a:pPr lvl="1" eaLnBrk="1"/>
            <a:r>
              <a:rPr kumimoji="1" lang="zh-CN" altLang="en-US" dirty="0">
                <a:solidFill>
                  <a:schemeClr val="hlink"/>
                </a:solidFill>
              </a:rPr>
              <a:t>与文件相关联的每个流都有一个</a:t>
            </a:r>
            <a:r>
              <a:rPr kumimoji="1" lang="en-US" altLang="zh-CN" dirty="0">
                <a:solidFill>
                  <a:schemeClr val="accent2"/>
                </a:solidFill>
                <a:latin typeface="Courier New" charset="0"/>
              </a:rPr>
              <a:t>FILE</a:t>
            </a:r>
            <a:r>
              <a:rPr kumimoji="1" lang="zh-CN" altLang="en-US" dirty="0">
                <a:solidFill>
                  <a:schemeClr val="hlink"/>
                </a:solidFill>
              </a:rPr>
              <a:t>类型的控制结构，定义有关文件操作的信息，用户绝对不应修改</a:t>
            </a:r>
            <a:endParaRPr kumimoji="1" lang="zh-CN" altLang="en-US" dirty="0">
              <a:solidFill>
                <a:schemeClr val="hlink"/>
              </a:solidFill>
              <a:latin typeface="Courier New" charset="0"/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6025" name="Rectangle 9"/>
          <p:cNvSpPr>
            <a:spLocks noChangeArrowheads="1"/>
          </p:cNvSpPr>
          <p:nvPr/>
        </p:nvSpPr>
        <p:spPr bwMode="auto">
          <a:xfrm>
            <a:off x="714375" y="1295400"/>
            <a:ext cx="8027988" cy="55626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lIns="92075" tIns="46038" rIns="92075" bIns="46038"/>
          <a:lstStyle>
            <a:lvl1pPr marL="514350" indent="-514350">
              <a:defRPr sz="2400">
                <a:solidFill>
                  <a:schemeClr val="tx1"/>
                </a:solidFill>
                <a:latin typeface="Times New Roman" charset="0"/>
                <a:ea typeface="宋体" charset="0"/>
              </a:defRPr>
            </a:lvl1pPr>
            <a:lvl2pPr marL="539750" indent="-360363">
              <a:defRPr sz="2400">
                <a:solidFill>
                  <a:schemeClr val="tx1"/>
                </a:solidFill>
                <a:latin typeface="Times New Roman" charset="0"/>
                <a:ea typeface="宋体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Times New Roman" charset="0"/>
                <a:ea typeface="宋体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Times New Roman" charset="0"/>
                <a:ea typeface="宋体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Times New Roman" charset="0"/>
                <a:ea typeface="宋体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charset="0"/>
                <a:ea typeface="宋体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charset="0"/>
                <a:ea typeface="宋体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charset="0"/>
                <a:ea typeface="宋体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charset="0"/>
                <a:ea typeface="宋体" charset="0"/>
              </a:defRPr>
            </a:lvl9pPr>
          </a:lstStyle>
          <a:p>
            <a:pPr algn="l">
              <a:lnSpc>
                <a:spcPct val="110000"/>
              </a:lnSpc>
              <a:spcBef>
                <a:spcPct val="30000"/>
              </a:spcBef>
              <a:buClr>
                <a:srgbClr val="CC0099"/>
              </a:buClr>
              <a:buFont typeface="Times New Roman" charset="0"/>
              <a:buAutoNum type="arabicPeriod"/>
            </a:pPr>
            <a:r>
              <a:rPr kumimoji="1" lang="zh-CN" altLang="en-US" sz="2800" b="1">
                <a:solidFill>
                  <a:srgbClr val="FF0000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宋体" charset="0"/>
              </a:rPr>
              <a:t>打开文件</a:t>
            </a:r>
            <a:r>
              <a:rPr kumimoji="1" lang="zh-CN" altLang="en-US" sz="2800" b="1">
                <a:effectLst>
                  <a:outerShdw blurRad="38100" dist="38100" dir="2700000" algn="tl">
                    <a:srgbClr val="C0C0C0"/>
                  </a:outerShdw>
                </a:effectLst>
                <a:latin typeface="宋体" charset="0"/>
              </a:rPr>
              <a:t>（</a:t>
            </a:r>
            <a:r>
              <a:rPr kumimoji="1" lang="en-US" altLang="zh-CN" sz="2800" b="1">
                <a:effectLst>
                  <a:outerShdw blurRad="38100" dist="38100" dir="2700000" algn="tl">
                    <a:srgbClr val="C0C0C0"/>
                  </a:outerShdw>
                </a:effectLst>
                <a:latin typeface="宋体" charset="0"/>
              </a:rPr>
              <a:t>fopen())</a:t>
            </a:r>
            <a:endParaRPr kumimoji="1" lang="zh-CN" altLang="en-US" sz="2800" b="1">
              <a:effectLst>
                <a:outerShdw blurRad="38100" dist="38100" dir="2700000" algn="tl">
                  <a:srgbClr val="C0C0C0"/>
                </a:outerShdw>
              </a:effectLst>
              <a:latin typeface="宋体" charset="0"/>
            </a:endParaRPr>
          </a:p>
          <a:p>
            <a:pPr lvl="1" algn="l">
              <a:lnSpc>
                <a:spcPct val="110000"/>
              </a:lnSpc>
              <a:spcBef>
                <a:spcPct val="30000"/>
              </a:spcBef>
              <a:buClr>
                <a:srgbClr val="FF00FF"/>
              </a:buClr>
              <a:buFont typeface="Arial" charset="0"/>
              <a:buChar char="•"/>
            </a:pPr>
            <a:r>
              <a:rPr kumimoji="1" lang="zh-CN" altLang="en-US" b="1">
                <a:effectLst>
                  <a:outerShdw blurRad="38100" dist="38100" dir="2700000" algn="tl">
                    <a:srgbClr val="C0C0C0"/>
                  </a:outerShdw>
                </a:effectLst>
                <a:latin typeface="宋体" charset="0"/>
              </a:rPr>
              <a:t>只有在打开了文件之后才能进行读、写操作</a:t>
            </a:r>
          </a:p>
          <a:p>
            <a:pPr lvl="1" algn="l">
              <a:lnSpc>
                <a:spcPct val="110000"/>
              </a:lnSpc>
              <a:spcBef>
                <a:spcPct val="30000"/>
              </a:spcBef>
              <a:buClr>
                <a:srgbClr val="FF00FF"/>
              </a:buClr>
              <a:buFont typeface="Arial" charset="0"/>
              <a:buChar char="•"/>
            </a:pPr>
            <a:r>
              <a:rPr kumimoji="1" lang="zh-CN" altLang="en-US" b="1">
                <a:effectLst>
                  <a:outerShdw blurRad="38100" dist="38100" dir="2700000" algn="tl">
                    <a:srgbClr val="C0C0C0"/>
                  </a:outerShdw>
                </a:effectLst>
                <a:latin typeface="宋体" charset="0"/>
              </a:rPr>
              <a:t>文件被打开后，系统赋予一个唯一的文件标识，通过文件标识来处理文件</a:t>
            </a:r>
            <a:endParaRPr kumimoji="1" lang="en-US" altLang="zh-CN" b="1">
              <a:effectLst>
                <a:outerShdw blurRad="38100" dist="38100" dir="2700000" algn="tl">
                  <a:srgbClr val="C0C0C0"/>
                </a:outerShdw>
              </a:effectLst>
              <a:latin typeface="宋体" charset="0"/>
            </a:endParaRPr>
          </a:p>
          <a:p>
            <a:pPr algn="l">
              <a:lnSpc>
                <a:spcPct val="110000"/>
              </a:lnSpc>
              <a:spcBef>
                <a:spcPct val="30000"/>
              </a:spcBef>
              <a:buClr>
                <a:srgbClr val="CC0099"/>
              </a:buClr>
              <a:buFont typeface="Times New Roman" charset="0"/>
              <a:buAutoNum type="arabicPeriod"/>
            </a:pPr>
            <a:r>
              <a:rPr kumimoji="1" lang="zh-CN" altLang="en-US" sz="2800" b="1">
                <a:solidFill>
                  <a:srgbClr val="FF0000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宋体" charset="0"/>
              </a:rPr>
              <a:t>文件处理</a:t>
            </a:r>
          </a:p>
          <a:p>
            <a:pPr lvl="1" algn="l">
              <a:lnSpc>
                <a:spcPct val="110000"/>
              </a:lnSpc>
              <a:spcBef>
                <a:spcPct val="30000"/>
              </a:spcBef>
              <a:buClr>
                <a:srgbClr val="FF00FF"/>
              </a:buClr>
              <a:buFont typeface="Arial" charset="0"/>
              <a:buChar char="•"/>
            </a:pPr>
            <a:r>
              <a:rPr kumimoji="1" lang="zh-CN" altLang="en-US" b="1">
                <a:effectLst>
                  <a:outerShdw blurRad="38100" dist="38100" dir="2700000" algn="tl">
                    <a:srgbClr val="C0C0C0"/>
                  </a:outerShdw>
                </a:effectLst>
                <a:latin typeface="宋体" charset="0"/>
              </a:rPr>
              <a:t>读文件</a:t>
            </a:r>
          </a:p>
          <a:p>
            <a:pPr lvl="1" algn="l">
              <a:lnSpc>
                <a:spcPct val="110000"/>
              </a:lnSpc>
              <a:spcBef>
                <a:spcPct val="30000"/>
              </a:spcBef>
              <a:buClr>
                <a:srgbClr val="FF00FF"/>
              </a:buClr>
              <a:buFont typeface="Arial" charset="0"/>
              <a:buChar char="•"/>
            </a:pPr>
            <a:r>
              <a:rPr kumimoji="1" lang="zh-CN" altLang="en-US" b="1">
                <a:effectLst>
                  <a:outerShdw blurRad="38100" dist="38100" dir="2700000" algn="tl">
                    <a:srgbClr val="C0C0C0"/>
                  </a:outerShdw>
                </a:effectLst>
                <a:latin typeface="宋体" charset="0"/>
              </a:rPr>
              <a:t>写文件</a:t>
            </a:r>
          </a:p>
          <a:p>
            <a:pPr algn="l">
              <a:lnSpc>
                <a:spcPct val="110000"/>
              </a:lnSpc>
              <a:spcBef>
                <a:spcPct val="30000"/>
              </a:spcBef>
              <a:buClr>
                <a:srgbClr val="CC0099"/>
              </a:buClr>
              <a:buFont typeface="Times New Roman" charset="0"/>
              <a:buAutoNum type="arabicPeriod"/>
            </a:pPr>
            <a:r>
              <a:rPr kumimoji="1" lang="zh-CN" altLang="en-US" sz="2800" b="1">
                <a:solidFill>
                  <a:srgbClr val="FF0000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宋体" charset="0"/>
              </a:rPr>
              <a:t>关闭文件</a:t>
            </a:r>
            <a:r>
              <a:rPr kumimoji="1" lang="zh-CN" altLang="en-US" sz="2800" b="1">
                <a:effectLst>
                  <a:outerShdw blurRad="38100" dist="38100" dir="2700000" algn="tl">
                    <a:srgbClr val="C0C0C0"/>
                  </a:outerShdw>
                </a:effectLst>
                <a:latin typeface="宋体" charset="0"/>
              </a:rPr>
              <a:t>（</a:t>
            </a:r>
            <a:r>
              <a:rPr kumimoji="1" lang="en-US" altLang="zh-CN" sz="2800" b="1">
                <a:effectLst>
                  <a:outerShdw blurRad="38100" dist="38100" dir="2700000" algn="tl">
                    <a:srgbClr val="C0C0C0"/>
                  </a:outerShdw>
                </a:effectLst>
                <a:latin typeface="宋体" charset="0"/>
              </a:rPr>
              <a:t>fclose())</a:t>
            </a:r>
          </a:p>
          <a:p>
            <a:pPr lvl="1" algn="l">
              <a:lnSpc>
                <a:spcPct val="110000"/>
              </a:lnSpc>
              <a:spcBef>
                <a:spcPct val="30000"/>
              </a:spcBef>
              <a:buClr>
                <a:srgbClr val="FF00FF"/>
              </a:buClr>
              <a:buFont typeface="Arial" charset="0"/>
              <a:buChar char="•"/>
            </a:pPr>
            <a:r>
              <a:rPr kumimoji="1" lang="zh-CN" altLang="en-US" b="1">
                <a:effectLst>
                  <a:outerShdw blurRad="38100" dist="38100" dir="2700000" algn="tl">
                    <a:srgbClr val="C0C0C0"/>
                  </a:outerShdw>
                </a:effectLst>
                <a:latin typeface="宋体" charset="0"/>
              </a:rPr>
              <a:t>文件操作结束时要及时关闭文件</a:t>
            </a:r>
          </a:p>
        </p:txBody>
      </p:sp>
      <p:grpSp>
        <p:nvGrpSpPr>
          <p:cNvPr id="2" name="Group 10"/>
          <p:cNvGrpSpPr>
            <a:grpSpLocks/>
          </p:cNvGrpSpPr>
          <p:nvPr/>
        </p:nvGrpSpPr>
        <p:grpSpPr bwMode="auto">
          <a:xfrm>
            <a:off x="2895600" y="4071938"/>
            <a:ext cx="5791200" cy="685800"/>
            <a:chOff x="1872" y="2976"/>
            <a:chExt cx="3648" cy="432"/>
          </a:xfrm>
        </p:grpSpPr>
        <p:sp>
          <p:nvSpPr>
            <p:cNvPr id="86027" name="Text Box 11"/>
            <p:cNvSpPr txBox="1">
              <a:spLocks noChangeArrowheads="1"/>
            </p:cNvSpPr>
            <p:nvPr/>
          </p:nvSpPr>
          <p:spPr bwMode="auto">
            <a:xfrm>
              <a:off x="2208" y="2976"/>
              <a:ext cx="3312" cy="365"/>
            </a:xfrm>
            <a:prstGeom prst="rect">
              <a:avLst/>
            </a:prstGeom>
            <a:noFill/>
            <a:ln w="12699">
              <a:noFill/>
              <a:miter lim="800000"/>
              <a:headEnd type="none" w="sm" len="sm"/>
              <a:tailEnd type="none" w="sm" len="sm"/>
            </a:ln>
            <a:effectLst/>
          </p:spPr>
          <p:txBody>
            <a:bodyPr>
              <a:spAutoFit/>
            </a:bodyPr>
            <a:lstStyle>
              <a:lvl1pPr defTabSz="762000">
                <a:defRPr sz="2400">
                  <a:solidFill>
                    <a:schemeClr val="tx1"/>
                  </a:solidFill>
                  <a:latin typeface="Times New Roman" charset="0"/>
                  <a:ea typeface="宋体" charset="0"/>
                </a:defRPr>
              </a:lvl1pPr>
              <a:lvl2pPr marL="742950" indent="-285750" defTabSz="762000">
                <a:defRPr sz="2400">
                  <a:solidFill>
                    <a:schemeClr val="tx1"/>
                  </a:solidFill>
                  <a:latin typeface="Times New Roman" charset="0"/>
                  <a:ea typeface="宋体" charset="0"/>
                </a:defRPr>
              </a:lvl2pPr>
              <a:lvl3pPr marL="1143000" indent="-228600" defTabSz="762000">
                <a:defRPr sz="2400">
                  <a:solidFill>
                    <a:schemeClr val="tx1"/>
                  </a:solidFill>
                  <a:latin typeface="Times New Roman" charset="0"/>
                  <a:ea typeface="宋体" charset="0"/>
                </a:defRPr>
              </a:lvl3pPr>
              <a:lvl4pPr marL="1600200" indent="-228600" defTabSz="762000">
                <a:defRPr sz="2400">
                  <a:solidFill>
                    <a:schemeClr val="tx1"/>
                  </a:solidFill>
                  <a:latin typeface="Times New Roman" charset="0"/>
                  <a:ea typeface="宋体" charset="0"/>
                </a:defRPr>
              </a:lvl4pPr>
              <a:lvl5pPr marL="2057400" indent="-228600" defTabSz="762000">
                <a:defRPr sz="2400">
                  <a:solidFill>
                    <a:schemeClr val="tx1"/>
                  </a:solidFill>
                  <a:latin typeface="Times New Roman" charset="0"/>
                  <a:ea typeface="宋体" charset="0"/>
                </a:defRPr>
              </a:lvl5pPr>
              <a:lvl6pPr marL="2514600" indent="-228600" algn="ctr" defTabSz="7620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charset="0"/>
                  <a:ea typeface="宋体" charset="0"/>
                </a:defRPr>
              </a:lvl6pPr>
              <a:lvl7pPr marL="2971800" indent="-228600" algn="ctr" defTabSz="7620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charset="0"/>
                  <a:ea typeface="宋体" charset="0"/>
                </a:defRPr>
              </a:lvl7pPr>
              <a:lvl8pPr marL="3429000" indent="-228600" algn="ctr" defTabSz="7620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charset="0"/>
                  <a:ea typeface="宋体" charset="0"/>
                </a:defRPr>
              </a:lvl8pPr>
              <a:lvl9pPr marL="3886200" indent="-228600" algn="ctr" defTabSz="7620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charset="0"/>
                  <a:ea typeface="宋体" charset="0"/>
                </a:defRPr>
              </a:lvl9pPr>
            </a:lstStyle>
            <a:p>
              <a:pPr>
                <a:spcBef>
                  <a:spcPct val="50000"/>
                </a:spcBef>
              </a:pPr>
              <a:r>
                <a:rPr kumimoji="1" lang="zh-CN" altLang="en-US" sz="3200" b="1">
                  <a:solidFill>
                    <a:srgbClr val="7030A0"/>
                  </a:solidFill>
                  <a:effectLst>
                    <a:outerShdw blurRad="38100" dist="38100" dir="2700000" algn="tl">
                      <a:srgbClr val="C0C0C0"/>
                    </a:outerShdw>
                  </a:effectLst>
                </a:rPr>
                <a:t>由专门的文件读写函数完成</a:t>
              </a:r>
              <a:endParaRPr kumimoji="1" lang="zh-CN" altLang="en-US">
                <a:solidFill>
                  <a:srgbClr val="7030A0"/>
                </a:solidFill>
                <a:effectLst>
                  <a:outerShdw blurRad="38100" dist="38100" dir="2700000" algn="tl">
                    <a:srgbClr val="C0C0C0"/>
                  </a:outerShdw>
                </a:effectLst>
              </a:endParaRPr>
            </a:p>
          </p:txBody>
        </p:sp>
        <p:sp>
          <p:nvSpPr>
            <p:cNvPr id="86028" name="AutoShape 12"/>
            <p:cNvSpPr>
              <a:spLocks/>
            </p:cNvSpPr>
            <p:nvPr/>
          </p:nvSpPr>
          <p:spPr bwMode="auto">
            <a:xfrm>
              <a:off x="1872" y="2976"/>
              <a:ext cx="336" cy="432"/>
            </a:xfrm>
            <a:prstGeom prst="rightBrace">
              <a:avLst>
                <a:gd name="adj1" fmla="val 10714"/>
                <a:gd name="adj2" fmla="val 50000"/>
              </a:avLst>
            </a:prstGeom>
            <a:noFill/>
            <a:ln w="38100">
              <a:solidFill>
                <a:srgbClr val="7030A0"/>
              </a:solidFill>
              <a:round/>
              <a:headEnd type="none" w="sm" len="sm"/>
              <a:tailEnd type="none" w="sm" len="sm"/>
            </a:ln>
            <a:effectLst/>
          </p:spPr>
          <p:txBody>
            <a:bodyPr wrap="none" anchor="ctr"/>
            <a:lstStyle/>
            <a:p>
              <a:pPr>
                <a:defRPr/>
              </a:pPr>
              <a:endParaRPr lang="zh-CN" altLang="en-US">
                <a:solidFill>
                  <a:srgbClr val="7030A0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Times New Roman" pitchFamily="18" charset="0"/>
                <a:ea typeface="宋体" pitchFamily="2" charset="-122"/>
              </a:endParaRPr>
            </a:p>
          </p:txBody>
        </p:sp>
      </p:grpSp>
      <p:sp>
        <p:nvSpPr>
          <p:cNvPr id="86030" name="Rectangle 14"/>
          <p:cNvSpPr>
            <a:spLocks noGrp="1" noChangeArrowheads="1"/>
          </p:cNvSpPr>
          <p:nvPr>
            <p:ph type="title" idx="4294967295"/>
          </p:nvPr>
        </p:nvSpPr>
        <p:spPr>
          <a:xfrm>
            <a:off x="1371600" y="285750"/>
            <a:ext cx="7772400" cy="1143000"/>
          </a:xfrm>
        </p:spPr>
        <p:txBody>
          <a:bodyPr/>
          <a:lstStyle/>
          <a:p>
            <a:r>
              <a:rPr lang="zh-CN" altLang="en-US"/>
              <a:t>文件处理过程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4" presetClass="entr" presetSubtype="3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out)">
                                      <p:cBhvr>
                                        <p:cTn id="7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4738" name="Rectangle 2"/>
          <p:cNvSpPr>
            <a:spLocks noGrp="1" noChangeArrowheads="1"/>
          </p:cNvSpPr>
          <p:nvPr>
            <p:ph type="title"/>
          </p:nvPr>
        </p:nvSpPr>
        <p:spPr>
          <a:xfrm>
            <a:off x="685800" y="484632"/>
            <a:ext cx="7772400" cy="1144168"/>
          </a:xfrm>
        </p:spPr>
        <p:txBody>
          <a:bodyPr/>
          <a:lstStyle/>
          <a:p>
            <a:r>
              <a:rPr lang="en-US" altLang="zh-CN" dirty="0"/>
              <a:t>C</a:t>
            </a:r>
            <a:r>
              <a:rPr lang="zh-CN" altLang="en-US" dirty="0"/>
              <a:t>语言独特的文件访问</a:t>
            </a:r>
          </a:p>
        </p:txBody>
      </p:sp>
      <p:sp>
        <p:nvSpPr>
          <p:cNvPr id="244739" name="Rectangle 3"/>
          <p:cNvSpPr>
            <a:spLocks noGrp="1" noChangeArrowheads="1"/>
          </p:cNvSpPr>
          <p:nvPr>
            <p:ph idx="1"/>
          </p:nvPr>
        </p:nvSpPr>
        <p:spPr>
          <a:xfrm>
            <a:off x="359568" y="1844824"/>
            <a:ext cx="8424863" cy="4611687"/>
          </a:xfrm>
        </p:spPr>
        <p:txBody>
          <a:bodyPr/>
          <a:lstStyle/>
          <a:p>
            <a:pPr eaLnBrk="1">
              <a:lnSpc>
                <a:spcPct val="85000"/>
              </a:lnSpc>
            </a:pPr>
            <a:r>
              <a:rPr lang="zh-CN" altLang="en-US" dirty="0"/>
              <a:t>下面介绍的函数均定义在</a:t>
            </a:r>
            <a:r>
              <a:rPr lang="en-US" altLang="zh-CN" dirty="0">
                <a:solidFill>
                  <a:srgbClr val="000000"/>
                </a:solidFill>
                <a:latin typeface="Courier New" charset="0"/>
              </a:rPr>
              <a:t>&lt;</a:t>
            </a:r>
            <a:r>
              <a:rPr lang="en-US" altLang="zh-CN" dirty="0" err="1">
                <a:solidFill>
                  <a:srgbClr val="000000"/>
                </a:solidFill>
                <a:latin typeface="Courier New" charset="0"/>
              </a:rPr>
              <a:t>stdio.h</a:t>
            </a:r>
            <a:r>
              <a:rPr lang="en-US" altLang="zh-CN" dirty="0">
                <a:solidFill>
                  <a:srgbClr val="000000"/>
                </a:solidFill>
                <a:latin typeface="Courier New" charset="0"/>
              </a:rPr>
              <a:t>&gt;</a:t>
            </a:r>
            <a:r>
              <a:rPr lang="zh-CN" altLang="en-US" dirty="0"/>
              <a:t>中</a:t>
            </a:r>
            <a:endParaRPr lang="zh-CN" altLang="en-US" dirty="0">
              <a:solidFill>
                <a:srgbClr val="000000"/>
              </a:solidFill>
              <a:latin typeface="Courier New" charset="0"/>
            </a:endParaRPr>
          </a:p>
          <a:p>
            <a:pPr eaLnBrk="1">
              <a:lnSpc>
                <a:spcPct val="85000"/>
              </a:lnSpc>
            </a:pPr>
            <a:r>
              <a:rPr lang="en-US" altLang="zh-CN" dirty="0">
                <a:solidFill>
                  <a:srgbClr val="000000"/>
                </a:solidFill>
                <a:latin typeface="Courier New" charset="0"/>
              </a:rPr>
              <a:t>FILE *</a:t>
            </a:r>
            <a:r>
              <a:rPr lang="en-US" altLang="zh-CN" dirty="0" err="1">
                <a:solidFill>
                  <a:srgbClr val="000000"/>
                </a:solidFill>
                <a:latin typeface="Courier New" charset="0"/>
              </a:rPr>
              <a:t>fopen</a:t>
            </a:r>
            <a:r>
              <a:rPr lang="en-US" altLang="zh-CN" dirty="0">
                <a:solidFill>
                  <a:srgbClr val="000000"/>
                </a:solidFill>
                <a:latin typeface="Courier New" charset="0"/>
              </a:rPr>
              <a:t>(</a:t>
            </a:r>
            <a:r>
              <a:rPr lang="en-US" altLang="zh-CN" dirty="0" err="1">
                <a:solidFill>
                  <a:srgbClr val="0000FF"/>
                </a:solidFill>
                <a:latin typeface="Courier New" charset="0"/>
              </a:rPr>
              <a:t>const</a:t>
            </a:r>
            <a:r>
              <a:rPr lang="en-US" altLang="zh-CN" dirty="0">
                <a:solidFill>
                  <a:srgbClr val="000000"/>
                </a:solidFill>
                <a:latin typeface="Courier New" charset="0"/>
              </a:rPr>
              <a:t> </a:t>
            </a:r>
            <a:r>
              <a:rPr lang="en-US" altLang="zh-CN" dirty="0">
                <a:solidFill>
                  <a:srgbClr val="0000FF"/>
                </a:solidFill>
                <a:latin typeface="Courier New" charset="0"/>
              </a:rPr>
              <a:t>char</a:t>
            </a:r>
            <a:r>
              <a:rPr lang="en-US" altLang="zh-CN" dirty="0">
                <a:solidFill>
                  <a:srgbClr val="000000"/>
                </a:solidFill>
                <a:latin typeface="Courier New" charset="0"/>
              </a:rPr>
              <a:t> *</a:t>
            </a:r>
            <a:r>
              <a:rPr lang="en-US" altLang="zh-CN" dirty="0">
                <a:solidFill>
                  <a:srgbClr val="7030A0"/>
                </a:solidFill>
                <a:latin typeface="Courier New" charset="0"/>
              </a:rPr>
              <a:t>filename</a:t>
            </a:r>
            <a:r>
              <a:rPr lang="en-US" altLang="zh-CN" dirty="0">
                <a:solidFill>
                  <a:srgbClr val="000000"/>
                </a:solidFill>
                <a:latin typeface="Courier New" charset="0"/>
              </a:rPr>
              <a:t>,</a:t>
            </a:r>
            <a:br>
              <a:rPr lang="en-US" altLang="zh-CN" dirty="0">
                <a:solidFill>
                  <a:srgbClr val="000000"/>
                </a:solidFill>
                <a:latin typeface="Courier New" charset="0"/>
              </a:rPr>
            </a:br>
            <a:r>
              <a:rPr lang="en-US" altLang="zh-CN" dirty="0">
                <a:solidFill>
                  <a:srgbClr val="000000"/>
                </a:solidFill>
                <a:latin typeface="Courier New" charset="0"/>
              </a:rPr>
              <a:t>            </a:t>
            </a:r>
            <a:r>
              <a:rPr lang="en-US" altLang="zh-CN" dirty="0" err="1">
                <a:solidFill>
                  <a:srgbClr val="0000FF"/>
                </a:solidFill>
                <a:latin typeface="Courier New" charset="0"/>
              </a:rPr>
              <a:t>const</a:t>
            </a:r>
            <a:r>
              <a:rPr lang="en-US" altLang="zh-CN" dirty="0">
                <a:solidFill>
                  <a:srgbClr val="000000"/>
                </a:solidFill>
                <a:latin typeface="Courier New" charset="0"/>
              </a:rPr>
              <a:t> </a:t>
            </a:r>
            <a:r>
              <a:rPr lang="en-US" altLang="zh-CN" dirty="0">
                <a:solidFill>
                  <a:srgbClr val="0000FF"/>
                </a:solidFill>
                <a:latin typeface="Courier New" charset="0"/>
              </a:rPr>
              <a:t>char</a:t>
            </a:r>
            <a:r>
              <a:rPr lang="en-US" altLang="zh-CN" dirty="0">
                <a:solidFill>
                  <a:srgbClr val="000000"/>
                </a:solidFill>
                <a:latin typeface="Courier New" charset="0"/>
              </a:rPr>
              <a:t> *</a:t>
            </a:r>
            <a:r>
              <a:rPr lang="en-US" altLang="zh-CN" dirty="0">
                <a:solidFill>
                  <a:srgbClr val="DC8200"/>
                </a:solidFill>
                <a:latin typeface="Courier New" charset="0"/>
              </a:rPr>
              <a:t>mode</a:t>
            </a:r>
            <a:r>
              <a:rPr lang="en-US" altLang="zh-CN" dirty="0">
                <a:solidFill>
                  <a:srgbClr val="000000"/>
                </a:solidFill>
                <a:latin typeface="Courier New" charset="0"/>
              </a:rPr>
              <a:t>);</a:t>
            </a:r>
          </a:p>
          <a:p>
            <a:pPr lvl="1" eaLnBrk="1">
              <a:lnSpc>
                <a:spcPct val="85000"/>
              </a:lnSpc>
              <a:buFontTx/>
              <a:buNone/>
            </a:pPr>
            <a:r>
              <a:rPr lang="en-US" altLang="zh-CN" dirty="0">
                <a:solidFill>
                  <a:srgbClr val="000000"/>
                </a:solidFill>
                <a:latin typeface="Courier New" charset="0"/>
              </a:rPr>
              <a:t>FILE *</a:t>
            </a:r>
            <a:r>
              <a:rPr lang="en-US" altLang="zh-CN" dirty="0" err="1">
                <a:solidFill>
                  <a:srgbClr val="000000"/>
                </a:solidFill>
                <a:latin typeface="Courier New" charset="0"/>
              </a:rPr>
              <a:t>fp</a:t>
            </a:r>
            <a:r>
              <a:rPr lang="en-US" altLang="zh-CN" dirty="0">
                <a:solidFill>
                  <a:srgbClr val="000000"/>
                </a:solidFill>
                <a:latin typeface="Courier New" charset="0"/>
              </a:rPr>
              <a:t> = </a:t>
            </a:r>
            <a:r>
              <a:rPr lang="en-US" altLang="zh-CN" dirty="0" err="1">
                <a:solidFill>
                  <a:srgbClr val="000000"/>
                </a:solidFill>
                <a:latin typeface="Courier New" charset="0"/>
              </a:rPr>
              <a:t>fopen</a:t>
            </a:r>
            <a:r>
              <a:rPr lang="en-US" altLang="zh-CN" dirty="0">
                <a:solidFill>
                  <a:srgbClr val="000000"/>
                </a:solidFill>
                <a:latin typeface="Courier New" charset="0"/>
              </a:rPr>
              <a:t>(</a:t>
            </a:r>
            <a:r>
              <a:rPr lang="en-US" altLang="zh-CN" dirty="0">
                <a:solidFill>
                  <a:srgbClr val="7030A0"/>
                </a:solidFill>
                <a:latin typeface="Courier New" charset="0"/>
              </a:rPr>
              <a:t>"C:\\CONFIG.SYS“</a:t>
            </a:r>
            <a:r>
              <a:rPr lang="en-US" altLang="zh-CN" dirty="0">
                <a:solidFill>
                  <a:srgbClr val="000000"/>
                </a:solidFill>
                <a:latin typeface="Courier New" charset="0"/>
              </a:rPr>
              <a:t>,</a:t>
            </a:r>
            <a:r>
              <a:rPr lang="en-US" altLang="zh-CN" dirty="0">
                <a:solidFill>
                  <a:srgbClr val="DC8200"/>
                </a:solidFill>
                <a:latin typeface="Courier New" charset="0"/>
              </a:rPr>
              <a:t>"</a:t>
            </a:r>
            <a:r>
              <a:rPr lang="en-US" altLang="zh-CN" dirty="0" err="1">
                <a:solidFill>
                  <a:srgbClr val="DC8200"/>
                </a:solidFill>
                <a:latin typeface="Courier New" charset="0"/>
              </a:rPr>
              <a:t>rw</a:t>
            </a:r>
            <a:r>
              <a:rPr lang="en-US" altLang="zh-CN" dirty="0">
                <a:solidFill>
                  <a:srgbClr val="DC8200"/>
                </a:solidFill>
                <a:latin typeface="Courier New" charset="0"/>
              </a:rPr>
              <a:t>"</a:t>
            </a:r>
            <a:r>
              <a:rPr lang="en-US" altLang="zh-CN" dirty="0">
                <a:solidFill>
                  <a:srgbClr val="000000"/>
                </a:solidFill>
                <a:latin typeface="Courier New" charset="0"/>
              </a:rPr>
              <a:t>);</a:t>
            </a:r>
          </a:p>
          <a:p>
            <a:pPr eaLnBrk="1">
              <a:lnSpc>
                <a:spcPct val="85000"/>
              </a:lnSpc>
            </a:pPr>
            <a:r>
              <a:rPr lang="en-US" altLang="zh-CN" dirty="0">
                <a:solidFill>
                  <a:srgbClr val="000000"/>
                </a:solidFill>
                <a:latin typeface="Courier New" charset="0"/>
              </a:rPr>
              <a:t>filename</a:t>
            </a:r>
            <a:r>
              <a:rPr lang="zh-CN" altLang="en-US" dirty="0"/>
              <a:t>是文件名，包含路径。如果不含路径，表示打开当前目录下的文件</a:t>
            </a:r>
          </a:p>
          <a:p>
            <a:pPr eaLnBrk="1">
              <a:lnSpc>
                <a:spcPct val="85000"/>
              </a:lnSpc>
            </a:pPr>
            <a:r>
              <a:rPr lang="en-US" altLang="zh-CN" dirty="0">
                <a:solidFill>
                  <a:srgbClr val="000000"/>
                </a:solidFill>
                <a:latin typeface="Courier New" charset="0"/>
              </a:rPr>
              <a:t>mode</a:t>
            </a:r>
            <a:r>
              <a:rPr lang="zh-CN" altLang="en-US" dirty="0"/>
              <a:t>是打开方式，常用为</a:t>
            </a:r>
            <a:r>
              <a:rPr lang="en-US" altLang="zh-CN" dirty="0">
                <a:solidFill>
                  <a:srgbClr val="000000"/>
                </a:solidFill>
                <a:latin typeface="Courier New" charset="0"/>
              </a:rPr>
              <a:t>"r"</a:t>
            </a:r>
            <a:r>
              <a:rPr lang="zh-CN" altLang="en-US" dirty="0"/>
              <a:t>、</a:t>
            </a:r>
            <a:r>
              <a:rPr lang="en-US" altLang="zh-CN" dirty="0">
                <a:solidFill>
                  <a:srgbClr val="000000"/>
                </a:solidFill>
                <a:latin typeface="Courier New" charset="0"/>
              </a:rPr>
              <a:t>"w"</a:t>
            </a:r>
            <a:r>
              <a:rPr lang="zh-CN" altLang="en-US" dirty="0"/>
              <a:t>、和</a:t>
            </a:r>
            <a:r>
              <a:rPr lang="en-US" altLang="zh-CN" dirty="0">
                <a:solidFill>
                  <a:srgbClr val="000000"/>
                </a:solidFill>
                <a:latin typeface="Courier New" charset="0"/>
              </a:rPr>
              <a:t>"a"</a:t>
            </a:r>
            <a:r>
              <a:rPr lang="zh-CN" altLang="en-US" dirty="0"/>
              <a:t>，分别表示只读、只写、读写和添加</a:t>
            </a:r>
          </a:p>
          <a:p>
            <a:pPr eaLnBrk="1">
              <a:lnSpc>
                <a:spcPct val="85000"/>
              </a:lnSpc>
            </a:pPr>
            <a:r>
              <a:rPr lang="zh-CN" altLang="en-US" dirty="0"/>
              <a:t>返回值为指向此文件的指针，留待以后使用。如果打开失败，返回值为</a:t>
            </a:r>
            <a:r>
              <a:rPr lang="en-US" altLang="zh-CN" dirty="0">
                <a:solidFill>
                  <a:srgbClr val="000000"/>
                </a:solidFill>
                <a:latin typeface="Courier New" charset="0"/>
              </a:rPr>
              <a:t>NULL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578" name="Text Box 2"/>
          <p:cNvSpPr txBox="1">
            <a:spLocks noChangeArrowheads="1"/>
          </p:cNvSpPr>
          <p:nvPr/>
        </p:nvSpPr>
        <p:spPr bwMode="auto">
          <a:xfrm>
            <a:off x="838200" y="258763"/>
            <a:ext cx="3581400" cy="5191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>
            <a:spAutoFit/>
          </a:bodyPr>
          <a:lstStyle>
            <a:lvl1pPr>
              <a:defRPr sz="2400">
                <a:solidFill>
                  <a:schemeClr val="tx1"/>
                </a:solidFill>
                <a:latin typeface="Times New Roman" charset="0"/>
                <a:ea typeface="宋体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Times New Roman" charset="0"/>
                <a:ea typeface="宋体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Times New Roman" charset="0"/>
                <a:ea typeface="宋体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Times New Roman" charset="0"/>
                <a:ea typeface="宋体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Times New Roman" charset="0"/>
                <a:ea typeface="宋体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charset="0"/>
                <a:ea typeface="宋体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charset="0"/>
                <a:ea typeface="宋体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charset="0"/>
                <a:ea typeface="宋体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charset="0"/>
                <a:ea typeface="宋体" charset="0"/>
              </a:defRPr>
            </a:lvl9pPr>
          </a:lstStyle>
          <a:p>
            <a:pPr algn="l" eaLnBrk="1" hangingPunct="1">
              <a:spcBef>
                <a:spcPct val="50000"/>
              </a:spcBef>
              <a:buClr>
                <a:srgbClr val="FF9900"/>
              </a:buClr>
              <a:buFont typeface="Monotype Sorts" charset="2"/>
              <a:buChar char="v"/>
            </a:pPr>
            <a:r>
              <a:rPr kumimoji="1" lang="zh-CN" altLang="en-US" sz="2800" b="1">
                <a:solidFill>
                  <a:schemeClr val="tx2"/>
                </a:solidFill>
                <a:effectLst/>
              </a:rPr>
              <a:t> </a:t>
            </a:r>
            <a:r>
              <a:rPr kumimoji="1" lang="en-US" altLang="zh-CN" sz="2800" b="1">
                <a:effectLst/>
                <a:latin typeface="Arial" charset="0"/>
              </a:rPr>
              <a:t>mode：</a:t>
            </a:r>
          </a:p>
        </p:txBody>
      </p:sp>
      <p:grpSp>
        <p:nvGrpSpPr>
          <p:cNvPr id="2" name="Group 3"/>
          <p:cNvGrpSpPr>
            <a:grpSpLocks/>
          </p:cNvGrpSpPr>
          <p:nvPr/>
        </p:nvGrpSpPr>
        <p:grpSpPr bwMode="auto">
          <a:xfrm>
            <a:off x="4357688" y="4071938"/>
            <a:ext cx="2343150" cy="666750"/>
            <a:chOff x="1596" y="1884"/>
            <a:chExt cx="1476" cy="420"/>
          </a:xfrm>
        </p:grpSpPr>
        <p:sp>
          <p:nvSpPr>
            <p:cNvPr id="24589" name="Rectangle 4"/>
            <p:cNvSpPr>
              <a:spLocks noChangeArrowheads="1"/>
            </p:cNvSpPr>
            <p:nvPr/>
          </p:nvSpPr>
          <p:spPr bwMode="auto">
            <a:xfrm>
              <a:off x="1632" y="1920"/>
              <a:ext cx="1440" cy="384"/>
            </a:xfrm>
            <a:prstGeom prst="rect">
              <a:avLst/>
            </a:prstGeom>
            <a:solidFill>
              <a:schemeClr val="accent2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>
                <a:defRPr sz="2400">
                  <a:solidFill>
                    <a:schemeClr val="tx1"/>
                  </a:solidFill>
                  <a:latin typeface="Times New Roman" charset="0"/>
                  <a:ea typeface="宋体" charset="0"/>
                </a:defRPr>
              </a:lvl1pPr>
              <a:lvl2pPr marL="742950" indent="-285750">
                <a:defRPr sz="2400">
                  <a:solidFill>
                    <a:schemeClr val="tx1"/>
                  </a:solidFill>
                  <a:latin typeface="Times New Roman" charset="0"/>
                  <a:ea typeface="宋体" charset="0"/>
                </a:defRPr>
              </a:lvl2pPr>
              <a:lvl3pPr marL="1143000" indent="-228600">
                <a:defRPr sz="2400">
                  <a:solidFill>
                    <a:schemeClr val="tx1"/>
                  </a:solidFill>
                  <a:latin typeface="Times New Roman" charset="0"/>
                  <a:ea typeface="宋体" charset="0"/>
                </a:defRPr>
              </a:lvl3pPr>
              <a:lvl4pPr marL="1600200" indent="-228600">
                <a:defRPr sz="2400">
                  <a:solidFill>
                    <a:schemeClr val="tx1"/>
                  </a:solidFill>
                  <a:latin typeface="Times New Roman" charset="0"/>
                  <a:ea typeface="宋体" charset="0"/>
                </a:defRPr>
              </a:lvl4pPr>
              <a:lvl5pPr marL="2057400" indent="-228600">
                <a:defRPr sz="2400">
                  <a:solidFill>
                    <a:schemeClr val="tx1"/>
                  </a:solidFill>
                  <a:latin typeface="Times New Roman" charset="0"/>
                  <a:ea typeface="宋体" charset="0"/>
                </a:defRPr>
              </a:lvl5pPr>
              <a:lvl6pPr marL="25146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charset="0"/>
                  <a:ea typeface="宋体" charset="0"/>
                </a:defRPr>
              </a:lvl6pPr>
              <a:lvl7pPr marL="29718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charset="0"/>
                  <a:ea typeface="宋体" charset="0"/>
                </a:defRPr>
              </a:lvl7pPr>
              <a:lvl8pPr marL="34290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charset="0"/>
                  <a:ea typeface="宋体" charset="0"/>
                </a:defRPr>
              </a:lvl8pPr>
              <a:lvl9pPr marL="38862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charset="0"/>
                  <a:ea typeface="宋体" charset="0"/>
                </a:defRPr>
              </a:lvl9pPr>
            </a:lstStyle>
            <a:p>
              <a:pPr eaLnBrk="1" hangingPunct="1"/>
              <a:endParaRPr kumimoji="1" lang="zh-CN" altLang="en-US">
                <a:effectLst/>
              </a:endParaRPr>
            </a:p>
          </p:txBody>
        </p:sp>
        <p:sp>
          <p:nvSpPr>
            <p:cNvPr id="24590" name="Rectangle 5"/>
            <p:cNvSpPr>
              <a:spLocks noChangeArrowheads="1"/>
            </p:cNvSpPr>
            <p:nvPr/>
          </p:nvSpPr>
          <p:spPr bwMode="auto">
            <a:xfrm>
              <a:off x="1596" y="1884"/>
              <a:ext cx="1440" cy="384"/>
            </a:xfrm>
            <a:prstGeom prst="rect">
              <a:avLst/>
            </a:prstGeom>
            <a:solidFill>
              <a:schemeClr val="accent1"/>
            </a:solidFill>
            <a:ln w="9525">
              <a:solidFill>
                <a:schemeClr val="accent1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>
                <a:defRPr sz="2400">
                  <a:solidFill>
                    <a:schemeClr val="tx1"/>
                  </a:solidFill>
                  <a:latin typeface="Times New Roman" charset="0"/>
                  <a:ea typeface="宋体" charset="0"/>
                </a:defRPr>
              </a:lvl1pPr>
              <a:lvl2pPr marL="742950" indent="-285750">
                <a:defRPr sz="2400">
                  <a:solidFill>
                    <a:schemeClr val="tx1"/>
                  </a:solidFill>
                  <a:latin typeface="Times New Roman" charset="0"/>
                  <a:ea typeface="宋体" charset="0"/>
                </a:defRPr>
              </a:lvl2pPr>
              <a:lvl3pPr marL="1143000" indent="-228600">
                <a:defRPr sz="2400">
                  <a:solidFill>
                    <a:schemeClr val="tx1"/>
                  </a:solidFill>
                  <a:latin typeface="Times New Roman" charset="0"/>
                  <a:ea typeface="宋体" charset="0"/>
                </a:defRPr>
              </a:lvl3pPr>
              <a:lvl4pPr marL="1600200" indent="-228600">
                <a:defRPr sz="2400">
                  <a:solidFill>
                    <a:schemeClr val="tx1"/>
                  </a:solidFill>
                  <a:latin typeface="Times New Roman" charset="0"/>
                  <a:ea typeface="宋体" charset="0"/>
                </a:defRPr>
              </a:lvl4pPr>
              <a:lvl5pPr marL="2057400" indent="-228600">
                <a:defRPr sz="2400">
                  <a:solidFill>
                    <a:schemeClr val="tx1"/>
                  </a:solidFill>
                  <a:latin typeface="Times New Roman" charset="0"/>
                  <a:ea typeface="宋体" charset="0"/>
                </a:defRPr>
              </a:lvl5pPr>
              <a:lvl6pPr marL="25146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charset="0"/>
                  <a:ea typeface="宋体" charset="0"/>
                </a:defRPr>
              </a:lvl6pPr>
              <a:lvl7pPr marL="29718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charset="0"/>
                  <a:ea typeface="宋体" charset="0"/>
                </a:defRPr>
              </a:lvl7pPr>
              <a:lvl8pPr marL="34290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charset="0"/>
                  <a:ea typeface="宋体" charset="0"/>
                </a:defRPr>
              </a:lvl8pPr>
              <a:lvl9pPr marL="38862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charset="0"/>
                  <a:ea typeface="宋体" charset="0"/>
                </a:defRPr>
              </a:lvl9pPr>
            </a:lstStyle>
            <a:p>
              <a:pPr eaLnBrk="1" hangingPunct="1"/>
              <a:r>
                <a:rPr kumimoji="1" lang="zh-CN" altLang="en-US" b="1">
                  <a:solidFill>
                    <a:srgbClr val="008000"/>
                  </a:solidFill>
                  <a:effectLst/>
                </a:rPr>
                <a:t>对应二进制文件</a:t>
              </a:r>
            </a:p>
          </p:txBody>
        </p:sp>
      </p:grpSp>
      <p:grpSp>
        <p:nvGrpSpPr>
          <p:cNvPr id="3" name="Group 6"/>
          <p:cNvGrpSpPr>
            <a:grpSpLocks/>
          </p:cNvGrpSpPr>
          <p:nvPr/>
        </p:nvGrpSpPr>
        <p:grpSpPr bwMode="auto">
          <a:xfrm>
            <a:off x="6151563" y="601663"/>
            <a:ext cx="2597150" cy="666750"/>
            <a:chOff x="1596" y="1884"/>
            <a:chExt cx="1476" cy="420"/>
          </a:xfrm>
        </p:grpSpPr>
        <p:sp>
          <p:nvSpPr>
            <p:cNvPr id="24587" name="Rectangle 7"/>
            <p:cNvSpPr>
              <a:spLocks noChangeArrowheads="1"/>
            </p:cNvSpPr>
            <p:nvPr/>
          </p:nvSpPr>
          <p:spPr bwMode="auto">
            <a:xfrm>
              <a:off x="1632" y="1920"/>
              <a:ext cx="1440" cy="384"/>
            </a:xfrm>
            <a:prstGeom prst="rect">
              <a:avLst/>
            </a:prstGeom>
            <a:solidFill>
              <a:schemeClr val="accent2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>
                <a:defRPr sz="2400">
                  <a:solidFill>
                    <a:schemeClr val="tx1"/>
                  </a:solidFill>
                  <a:latin typeface="Times New Roman" charset="0"/>
                  <a:ea typeface="宋体" charset="0"/>
                </a:defRPr>
              </a:lvl1pPr>
              <a:lvl2pPr marL="742950" indent="-285750">
                <a:defRPr sz="2400">
                  <a:solidFill>
                    <a:schemeClr val="tx1"/>
                  </a:solidFill>
                  <a:latin typeface="Times New Roman" charset="0"/>
                  <a:ea typeface="宋体" charset="0"/>
                </a:defRPr>
              </a:lvl2pPr>
              <a:lvl3pPr marL="1143000" indent="-228600">
                <a:defRPr sz="2400">
                  <a:solidFill>
                    <a:schemeClr val="tx1"/>
                  </a:solidFill>
                  <a:latin typeface="Times New Roman" charset="0"/>
                  <a:ea typeface="宋体" charset="0"/>
                </a:defRPr>
              </a:lvl3pPr>
              <a:lvl4pPr marL="1600200" indent="-228600">
                <a:defRPr sz="2400">
                  <a:solidFill>
                    <a:schemeClr val="tx1"/>
                  </a:solidFill>
                  <a:latin typeface="Times New Roman" charset="0"/>
                  <a:ea typeface="宋体" charset="0"/>
                </a:defRPr>
              </a:lvl4pPr>
              <a:lvl5pPr marL="2057400" indent="-228600">
                <a:defRPr sz="2400">
                  <a:solidFill>
                    <a:schemeClr val="tx1"/>
                  </a:solidFill>
                  <a:latin typeface="Times New Roman" charset="0"/>
                  <a:ea typeface="宋体" charset="0"/>
                </a:defRPr>
              </a:lvl5pPr>
              <a:lvl6pPr marL="25146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charset="0"/>
                  <a:ea typeface="宋体" charset="0"/>
                </a:defRPr>
              </a:lvl6pPr>
              <a:lvl7pPr marL="29718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charset="0"/>
                  <a:ea typeface="宋体" charset="0"/>
                </a:defRPr>
              </a:lvl7pPr>
              <a:lvl8pPr marL="34290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charset="0"/>
                  <a:ea typeface="宋体" charset="0"/>
                </a:defRPr>
              </a:lvl8pPr>
              <a:lvl9pPr marL="38862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charset="0"/>
                  <a:ea typeface="宋体" charset="0"/>
                </a:defRPr>
              </a:lvl9pPr>
            </a:lstStyle>
            <a:p>
              <a:pPr eaLnBrk="1" hangingPunct="1"/>
              <a:endParaRPr kumimoji="1" lang="zh-CN" altLang="en-US">
                <a:effectLst/>
              </a:endParaRPr>
            </a:p>
          </p:txBody>
        </p:sp>
        <p:sp>
          <p:nvSpPr>
            <p:cNvPr id="24588" name="Rectangle 8"/>
            <p:cNvSpPr>
              <a:spLocks noChangeArrowheads="1"/>
            </p:cNvSpPr>
            <p:nvPr/>
          </p:nvSpPr>
          <p:spPr bwMode="auto">
            <a:xfrm>
              <a:off x="1596" y="1884"/>
              <a:ext cx="1440" cy="384"/>
            </a:xfrm>
            <a:prstGeom prst="rect">
              <a:avLst/>
            </a:prstGeom>
            <a:solidFill>
              <a:schemeClr val="accent1"/>
            </a:solidFill>
            <a:ln w="9525">
              <a:solidFill>
                <a:schemeClr val="accent1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>
                <a:defRPr sz="2400">
                  <a:solidFill>
                    <a:schemeClr val="tx1"/>
                  </a:solidFill>
                  <a:latin typeface="Times New Roman" charset="0"/>
                  <a:ea typeface="宋体" charset="0"/>
                </a:defRPr>
              </a:lvl1pPr>
              <a:lvl2pPr marL="742950" indent="-285750">
                <a:defRPr sz="2400">
                  <a:solidFill>
                    <a:schemeClr val="tx1"/>
                  </a:solidFill>
                  <a:latin typeface="Times New Roman" charset="0"/>
                  <a:ea typeface="宋体" charset="0"/>
                </a:defRPr>
              </a:lvl2pPr>
              <a:lvl3pPr marL="1143000" indent="-228600">
                <a:defRPr sz="2400">
                  <a:solidFill>
                    <a:schemeClr val="tx1"/>
                  </a:solidFill>
                  <a:latin typeface="Times New Roman" charset="0"/>
                  <a:ea typeface="宋体" charset="0"/>
                </a:defRPr>
              </a:lvl3pPr>
              <a:lvl4pPr marL="1600200" indent="-228600">
                <a:defRPr sz="2400">
                  <a:solidFill>
                    <a:schemeClr val="tx1"/>
                  </a:solidFill>
                  <a:latin typeface="Times New Roman" charset="0"/>
                  <a:ea typeface="宋体" charset="0"/>
                </a:defRPr>
              </a:lvl4pPr>
              <a:lvl5pPr marL="2057400" indent="-228600">
                <a:defRPr sz="2400">
                  <a:solidFill>
                    <a:schemeClr val="tx1"/>
                  </a:solidFill>
                  <a:latin typeface="Times New Roman" charset="0"/>
                  <a:ea typeface="宋体" charset="0"/>
                </a:defRPr>
              </a:lvl5pPr>
              <a:lvl6pPr marL="25146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charset="0"/>
                  <a:ea typeface="宋体" charset="0"/>
                </a:defRPr>
              </a:lvl6pPr>
              <a:lvl7pPr marL="29718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charset="0"/>
                  <a:ea typeface="宋体" charset="0"/>
                </a:defRPr>
              </a:lvl7pPr>
              <a:lvl8pPr marL="34290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charset="0"/>
                  <a:ea typeface="宋体" charset="0"/>
                </a:defRPr>
              </a:lvl8pPr>
              <a:lvl9pPr marL="38862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charset="0"/>
                  <a:ea typeface="宋体" charset="0"/>
                </a:defRPr>
              </a:lvl9pPr>
            </a:lstStyle>
            <a:p>
              <a:pPr eaLnBrk="1" hangingPunct="1"/>
              <a:r>
                <a:rPr kumimoji="1" lang="zh-CN" altLang="en-US" b="1">
                  <a:solidFill>
                    <a:srgbClr val="008000"/>
                  </a:solidFill>
                  <a:effectLst/>
                </a:rPr>
                <a:t>对应文本文件</a:t>
              </a:r>
            </a:p>
          </p:txBody>
        </p:sp>
      </p:grpSp>
      <p:grpSp>
        <p:nvGrpSpPr>
          <p:cNvPr id="4" name="Group 9"/>
          <p:cNvGrpSpPr>
            <a:grpSpLocks/>
          </p:cNvGrpSpPr>
          <p:nvPr/>
        </p:nvGrpSpPr>
        <p:grpSpPr bwMode="auto">
          <a:xfrm>
            <a:off x="933450" y="762000"/>
            <a:ext cx="8210550" cy="2678113"/>
            <a:chOff x="588" y="480"/>
            <a:chExt cx="4895" cy="1687"/>
          </a:xfrm>
        </p:grpSpPr>
        <p:sp>
          <p:nvSpPr>
            <p:cNvPr id="24585" name="Text Box 10"/>
            <p:cNvSpPr txBox="1">
              <a:spLocks noChangeArrowheads="1"/>
            </p:cNvSpPr>
            <p:nvPr/>
          </p:nvSpPr>
          <p:spPr bwMode="auto">
            <a:xfrm>
              <a:off x="672" y="480"/>
              <a:ext cx="4811" cy="1687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3810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anchor="ctr">
              <a:spAutoFit/>
            </a:bodyPr>
            <a:lstStyle>
              <a:lvl1pPr>
                <a:defRPr sz="2400">
                  <a:solidFill>
                    <a:schemeClr val="tx1"/>
                  </a:solidFill>
                  <a:latin typeface="Times New Roman" charset="0"/>
                  <a:ea typeface="宋体" charset="0"/>
                </a:defRPr>
              </a:lvl1pPr>
              <a:lvl2pPr marL="742950" indent="-285750">
                <a:defRPr sz="2400">
                  <a:solidFill>
                    <a:schemeClr val="tx1"/>
                  </a:solidFill>
                  <a:latin typeface="Times New Roman" charset="0"/>
                  <a:ea typeface="宋体" charset="0"/>
                </a:defRPr>
              </a:lvl2pPr>
              <a:lvl3pPr marL="1143000" indent="-228600">
                <a:defRPr sz="2400">
                  <a:solidFill>
                    <a:schemeClr val="tx1"/>
                  </a:solidFill>
                  <a:latin typeface="Times New Roman" charset="0"/>
                  <a:ea typeface="宋体" charset="0"/>
                </a:defRPr>
              </a:lvl3pPr>
              <a:lvl4pPr marL="1600200" indent="-228600">
                <a:defRPr sz="2400">
                  <a:solidFill>
                    <a:schemeClr val="tx1"/>
                  </a:solidFill>
                  <a:latin typeface="Times New Roman" charset="0"/>
                  <a:ea typeface="宋体" charset="0"/>
                </a:defRPr>
              </a:lvl4pPr>
              <a:lvl5pPr marL="2057400" indent="-228600">
                <a:defRPr sz="2400">
                  <a:solidFill>
                    <a:schemeClr val="tx1"/>
                  </a:solidFill>
                  <a:latin typeface="Times New Roman" charset="0"/>
                  <a:ea typeface="宋体" charset="0"/>
                </a:defRPr>
              </a:lvl5pPr>
              <a:lvl6pPr marL="25146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charset="0"/>
                  <a:ea typeface="宋体" charset="0"/>
                </a:defRPr>
              </a:lvl6pPr>
              <a:lvl7pPr marL="29718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charset="0"/>
                  <a:ea typeface="宋体" charset="0"/>
                </a:defRPr>
              </a:lvl7pPr>
              <a:lvl8pPr marL="34290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charset="0"/>
                  <a:ea typeface="宋体" charset="0"/>
                </a:defRPr>
              </a:lvl8pPr>
              <a:lvl9pPr marL="38862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charset="0"/>
                  <a:ea typeface="宋体" charset="0"/>
                </a:defRPr>
              </a:lvl9pPr>
            </a:lstStyle>
            <a:p>
              <a:pPr algn="l" eaLnBrk="1" hangingPunct="1"/>
              <a:r>
                <a:rPr kumimoji="1" lang="zh-CN" altLang="en-US" sz="2800" b="1">
                  <a:solidFill>
                    <a:schemeClr val="accent2"/>
                  </a:solidFill>
                  <a:effectLst/>
                  <a:latin typeface="Arial" charset="0"/>
                </a:rPr>
                <a:t>“</a:t>
              </a:r>
              <a:r>
                <a:rPr kumimoji="1" lang="en-US" altLang="zh-CN" sz="2800" b="1">
                  <a:solidFill>
                    <a:schemeClr val="accent2"/>
                  </a:solidFill>
                  <a:effectLst/>
                  <a:latin typeface="Arial" charset="0"/>
                </a:rPr>
                <a:t>r”</a:t>
              </a:r>
              <a:r>
                <a:rPr kumimoji="1" lang="en-US" altLang="zh-CN" sz="2800" b="1">
                  <a:effectLst/>
                  <a:latin typeface="Arial" charset="0"/>
                </a:rPr>
                <a:t>    </a:t>
              </a:r>
              <a:r>
                <a:rPr kumimoji="1" lang="zh-CN" altLang="en-US" b="1">
                  <a:effectLst/>
                  <a:latin typeface="隶书" charset="0"/>
                  <a:ea typeface="隶书" charset="0"/>
                </a:rPr>
                <a:t>只读    必须是已存在的文件。</a:t>
              </a:r>
            </a:p>
            <a:p>
              <a:pPr algn="l" eaLnBrk="1" hangingPunct="1"/>
              <a:r>
                <a:rPr kumimoji="1" lang="zh-CN" altLang="en-US" sz="2800" b="1">
                  <a:solidFill>
                    <a:schemeClr val="accent2"/>
                  </a:solidFill>
                  <a:effectLst/>
                  <a:latin typeface="Arial" charset="0"/>
                </a:rPr>
                <a:t>“</a:t>
              </a:r>
              <a:r>
                <a:rPr kumimoji="1" lang="en-US" altLang="zh-CN" sz="2800" b="1">
                  <a:solidFill>
                    <a:schemeClr val="accent2"/>
                  </a:solidFill>
                  <a:effectLst/>
                  <a:latin typeface="Arial" charset="0"/>
                </a:rPr>
                <a:t>w”  </a:t>
              </a:r>
              <a:r>
                <a:rPr kumimoji="1" lang="zh-CN" altLang="en-US" b="1">
                  <a:effectLst/>
                  <a:latin typeface="隶书" charset="0"/>
                  <a:ea typeface="隶书" charset="0"/>
                </a:rPr>
                <a:t>只写    不论该文件是否存在，都新建一个文件。</a:t>
              </a:r>
              <a:endParaRPr kumimoji="1" lang="zh-CN" altLang="en-US" sz="2800" b="1">
                <a:effectLst/>
                <a:latin typeface="隶书" charset="0"/>
                <a:ea typeface="隶书" charset="0"/>
              </a:endParaRPr>
            </a:p>
            <a:p>
              <a:pPr algn="l" eaLnBrk="1" hangingPunct="1"/>
              <a:r>
                <a:rPr kumimoji="1" lang="zh-CN" altLang="en-US" sz="2800" b="1">
                  <a:solidFill>
                    <a:schemeClr val="accent2"/>
                  </a:solidFill>
                  <a:effectLst/>
                  <a:latin typeface="Arial" charset="0"/>
                </a:rPr>
                <a:t>“</a:t>
              </a:r>
              <a:r>
                <a:rPr kumimoji="1" lang="en-US" altLang="zh-CN" sz="2800" b="1">
                  <a:solidFill>
                    <a:schemeClr val="accent2"/>
                  </a:solidFill>
                  <a:effectLst/>
                  <a:latin typeface="Arial" charset="0"/>
                </a:rPr>
                <a:t>a”</a:t>
              </a:r>
              <a:r>
                <a:rPr kumimoji="1" lang="en-US" altLang="zh-CN" sz="2800" b="1">
                  <a:effectLst/>
                  <a:latin typeface="Arial" charset="0"/>
                </a:rPr>
                <a:t>   </a:t>
              </a:r>
              <a:r>
                <a:rPr kumimoji="1" lang="zh-CN" altLang="en-US" b="1">
                  <a:effectLst/>
                  <a:latin typeface="隶书" charset="0"/>
                  <a:ea typeface="隶书" charset="0"/>
                </a:rPr>
                <a:t>追加    向文本文件尾增加数据，文件无需存在</a:t>
              </a:r>
              <a:endParaRPr kumimoji="1" lang="en-US" altLang="zh-CN" b="1">
                <a:effectLst/>
                <a:latin typeface="隶书" charset="0"/>
                <a:ea typeface="隶书" charset="0"/>
              </a:endParaRPr>
            </a:p>
            <a:p>
              <a:pPr algn="l" eaLnBrk="1" hangingPunct="1"/>
              <a:r>
                <a:rPr kumimoji="1" lang="zh-CN" altLang="en-US" sz="2800" b="1">
                  <a:solidFill>
                    <a:schemeClr val="accent2"/>
                  </a:solidFill>
                  <a:effectLst/>
                  <a:latin typeface="Arial" charset="0"/>
                </a:rPr>
                <a:t>“</a:t>
              </a:r>
              <a:r>
                <a:rPr kumimoji="1" lang="en-US" altLang="zh-CN" sz="2800" b="1">
                  <a:solidFill>
                    <a:schemeClr val="accent2"/>
                  </a:solidFill>
                  <a:effectLst/>
                  <a:latin typeface="Arial" charset="0"/>
                </a:rPr>
                <a:t>r+”  </a:t>
              </a:r>
              <a:r>
                <a:rPr kumimoji="1" lang="zh-CN" altLang="en-US" b="1">
                  <a:effectLst/>
                  <a:latin typeface="隶书" charset="0"/>
                  <a:ea typeface="隶书" charset="0"/>
                </a:rPr>
                <a:t>读写    打开文件用于读写，从文件头开始。</a:t>
              </a:r>
            </a:p>
            <a:p>
              <a:pPr algn="l" eaLnBrk="1" hangingPunct="1"/>
              <a:r>
                <a:rPr kumimoji="1" lang="zh-CN" altLang="en-US" b="1">
                  <a:effectLst/>
                  <a:latin typeface="Arial" charset="0"/>
                </a:rPr>
                <a:t> </a:t>
              </a:r>
              <a:r>
                <a:rPr kumimoji="1" lang="zh-CN" altLang="en-US" sz="2800" b="1">
                  <a:solidFill>
                    <a:schemeClr val="accent2"/>
                  </a:solidFill>
                  <a:effectLst/>
                  <a:latin typeface="Arial" charset="0"/>
                </a:rPr>
                <a:t>“</a:t>
              </a:r>
              <a:r>
                <a:rPr kumimoji="1" lang="en-US" altLang="zh-CN" sz="2800" b="1">
                  <a:solidFill>
                    <a:schemeClr val="accent2"/>
                  </a:solidFill>
                  <a:effectLst/>
                  <a:latin typeface="Arial" charset="0"/>
                </a:rPr>
                <a:t>w+”</a:t>
              </a:r>
              <a:r>
                <a:rPr kumimoji="1" lang="en-US" altLang="zh-CN" b="1">
                  <a:effectLst/>
                  <a:latin typeface="Arial" charset="0"/>
                </a:rPr>
                <a:t> </a:t>
              </a:r>
              <a:r>
                <a:rPr kumimoji="1" lang="zh-CN" altLang="en-US" b="1">
                  <a:effectLst/>
                  <a:latin typeface="隶书" charset="0"/>
                  <a:ea typeface="隶书" charset="0"/>
                </a:rPr>
                <a:t>读写   打开文件用于读写。</a:t>
              </a:r>
              <a:r>
                <a:rPr kumimoji="1" lang="zh-CN" altLang="en-US" b="1">
                  <a:effectLst/>
                </a:rPr>
                <a:t>如果文件存在就截去</a:t>
              </a:r>
            </a:p>
            <a:p>
              <a:pPr algn="l" eaLnBrk="1" hangingPunct="1"/>
              <a:r>
                <a:rPr kumimoji="1" lang="zh-CN" altLang="en-US" sz="2800" b="1">
                  <a:solidFill>
                    <a:schemeClr val="accent2"/>
                  </a:solidFill>
                  <a:effectLst/>
                  <a:latin typeface="Arial" charset="0"/>
                </a:rPr>
                <a:t>“</a:t>
              </a:r>
              <a:r>
                <a:rPr kumimoji="1" lang="en-US" altLang="zh-CN" sz="2800" b="1">
                  <a:solidFill>
                    <a:schemeClr val="accent2"/>
                  </a:solidFill>
                  <a:effectLst/>
                  <a:latin typeface="Arial" charset="0"/>
                </a:rPr>
                <a:t>a+”</a:t>
              </a:r>
              <a:r>
                <a:rPr kumimoji="1" lang="en-US" altLang="zh-CN" b="1">
                  <a:effectLst/>
                </a:rPr>
                <a:t>   </a:t>
              </a:r>
              <a:r>
                <a:rPr kumimoji="1" lang="zh-CN" altLang="en-US" b="1">
                  <a:effectLst/>
                  <a:latin typeface="隶书" charset="0"/>
                  <a:ea typeface="隶书" charset="0"/>
                </a:rPr>
                <a:t>读写   打开文件用于读写。</a:t>
              </a:r>
              <a:r>
                <a:rPr kumimoji="1" lang="zh-CN" altLang="en-US" b="1">
                  <a:effectLst/>
                </a:rPr>
                <a:t> 如果文件存在就追加</a:t>
              </a:r>
            </a:p>
          </p:txBody>
        </p:sp>
        <p:sp>
          <p:nvSpPr>
            <p:cNvPr id="323595" name="AutoShape 11"/>
            <p:cNvSpPr>
              <a:spLocks/>
            </p:cNvSpPr>
            <p:nvPr/>
          </p:nvSpPr>
          <p:spPr bwMode="auto">
            <a:xfrm>
              <a:off x="588" y="576"/>
              <a:ext cx="84" cy="1488"/>
            </a:xfrm>
            <a:prstGeom prst="leftBrace">
              <a:avLst>
                <a:gd name="adj1" fmla="val 147619"/>
                <a:gd name="adj2" fmla="val 50000"/>
              </a:avLst>
            </a:prstGeom>
            <a:noFill/>
            <a:ln w="57150">
              <a:solidFill>
                <a:schemeClr val="tx1"/>
              </a:solidFill>
              <a:round/>
              <a:headEnd/>
              <a:tailEnd/>
            </a:ln>
            <a:effectLst/>
          </p:spPr>
          <p:txBody>
            <a:bodyPr wrap="none" anchor="ctr"/>
            <a:lstStyle/>
            <a:p>
              <a:pPr>
                <a:defRPr/>
              </a:pPr>
              <a:endParaRPr lang="zh-CN" altLang="en-US">
                <a:effectLst>
                  <a:outerShdw blurRad="38100" dist="38100" dir="2700000" algn="tl">
                    <a:srgbClr val="C0C0C0"/>
                  </a:outerShdw>
                </a:effectLst>
                <a:latin typeface="Times New Roman" pitchFamily="18" charset="0"/>
                <a:ea typeface="宋体" pitchFamily="2" charset="-122"/>
              </a:endParaRPr>
            </a:p>
          </p:txBody>
        </p:sp>
      </p:grpSp>
      <p:grpSp>
        <p:nvGrpSpPr>
          <p:cNvPr id="5" name="Group 12"/>
          <p:cNvGrpSpPr>
            <a:grpSpLocks/>
          </p:cNvGrpSpPr>
          <p:nvPr/>
        </p:nvGrpSpPr>
        <p:grpSpPr bwMode="auto">
          <a:xfrm>
            <a:off x="933450" y="3686175"/>
            <a:ext cx="3852863" cy="2678113"/>
            <a:chOff x="588" y="2322"/>
            <a:chExt cx="2427" cy="1687"/>
          </a:xfrm>
        </p:grpSpPr>
        <p:sp>
          <p:nvSpPr>
            <p:cNvPr id="24583" name="Text Box 13"/>
            <p:cNvSpPr txBox="1">
              <a:spLocks noChangeArrowheads="1"/>
            </p:cNvSpPr>
            <p:nvPr/>
          </p:nvSpPr>
          <p:spPr bwMode="auto">
            <a:xfrm>
              <a:off x="624" y="2322"/>
              <a:ext cx="2391" cy="1687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anchor="ctr">
              <a:spAutoFit/>
            </a:bodyPr>
            <a:lstStyle>
              <a:lvl1pPr>
                <a:defRPr sz="2400">
                  <a:solidFill>
                    <a:schemeClr val="tx1"/>
                  </a:solidFill>
                  <a:latin typeface="Times New Roman" charset="0"/>
                  <a:ea typeface="宋体" charset="0"/>
                </a:defRPr>
              </a:lvl1pPr>
              <a:lvl2pPr marL="742950" indent="-285750">
                <a:defRPr sz="2400">
                  <a:solidFill>
                    <a:schemeClr val="tx1"/>
                  </a:solidFill>
                  <a:latin typeface="Times New Roman" charset="0"/>
                  <a:ea typeface="宋体" charset="0"/>
                </a:defRPr>
              </a:lvl2pPr>
              <a:lvl3pPr marL="1143000" indent="-228600">
                <a:defRPr sz="2400">
                  <a:solidFill>
                    <a:schemeClr val="tx1"/>
                  </a:solidFill>
                  <a:latin typeface="Times New Roman" charset="0"/>
                  <a:ea typeface="宋体" charset="0"/>
                </a:defRPr>
              </a:lvl3pPr>
              <a:lvl4pPr marL="1600200" indent="-228600">
                <a:defRPr sz="2400">
                  <a:solidFill>
                    <a:schemeClr val="tx1"/>
                  </a:solidFill>
                  <a:latin typeface="Times New Roman" charset="0"/>
                  <a:ea typeface="宋体" charset="0"/>
                </a:defRPr>
              </a:lvl4pPr>
              <a:lvl5pPr marL="2057400" indent="-228600">
                <a:defRPr sz="2400">
                  <a:solidFill>
                    <a:schemeClr val="tx1"/>
                  </a:solidFill>
                  <a:latin typeface="Times New Roman" charset="0"/>
                  <a:ea typeface="宋体" charset="0"/>
                </a:defRPr>
              </a:lvl5pPr>
              <a:lvl6pPr marL="25146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charset="0"/>
                  <a:ea typeface="宋体" charset="0"/>
                </a:defRPr>
              </a:lvl6pPr>
              <a:lvl7pPr marL="29718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charset="0"/>
                  <a:ea typeface="宋体" charset="0"/>
                </a:defRPr>
              </a:lvl7pPr>
              <a:lvl8pPr marL="34290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charset="0"/>
                  <a:ea typeface="宋体" charset="0"/>
                </a:defRPr>
              </a:lvl8pPr>
              <a:lvl9pPr marL="38862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charset="0"/>
                  <a:ea typeface="宋体" charset="0"/>
                </a:defRPr>
              </a:lvl9pPr>
            </a:lstStyle>
            <a:p>
              <a:pPr algn="l" eaLnBrk="1" hangingPunct="1"/>
              <a:r>
                <a:rPr kumimoji="1" lang="zh-CN" altLang="en-US" sz="2800" b="1">
                  <a:solidFill>
                    <a:schemeClr val="accent2"/>
                  </a:solidFill>
                  <a:effectLst/>
                  <a:latin typeface="Arial" charset="0"/>
                </a:rPr>
                <a:t>“</a:t>
              </a:r>
              <a:r>
                <a:rPr kumimoji="1" lang="en-US" altLang="zh-CN" sz="2800" b="1">
                  <a:solidFill>
                    <a:schemeClr val="accent2"/>
                  </a:solidFill>
                  <a:effectLst/>
                  <a:latin typeface="Arial" charset="0"/>
                </a:rPr>
                <a:t>rb” </a:t>
              </a:r>
            </a:p>
            <a:p>
              <a:pPr algn="l" eaLnBrk="1" hangingPunct="1"/>
              <a:r>
                <a:rPr kumimoji="1" lang="zh-CN" altLang="en-US" sz="2800" b="1">
                  <a:solidFill>
                    <a:schemeClr val="accent2"/>
                  </a:solidFill>
                  <a:effectLst/>
                  <a:latin typeface="Arial" charset="0"/>
                </a:rPr>
                <a:t>“</a:t>
              </a:r>
              <a:r>
                <a:rPr kumimoji="1" lang="en-US" altLang="zh-CN" sz="2800" b="1">
                  <a:solidFill>
                    <a:schemeClr val="accent2"/>
                  </a:solidFill>
                  <a:effectLst/>
                  <a:latin typeface="Arial" charset="0"/>
                </a:rPr>
                <a:t>wb”</a:t>
              </a:r>
              <a:endParaRPr kumimoji="1" lang="en-US" altLang="zh-CN" sz="2800" b="1">
                <a:effectLst/>
                <a:latin typeface="Arial" charset="0"/>
              </a:endParaRPr>
            </a:p>
            <a:p>
              <a:pPr algn="l" eaLnBrk="1" hangingPunct="1"/>
              <a:r>
                <a:rPr kumimoji="1" lang="zh-CN" altLang="en-US" sz="2800" b="1">
                  <a:solidFill>
                    <a:schemeClr val="accent2"/>
                  </a:solidFill>
                  <a:effectLst/>
                  <a:latin typeface="Arial" charset="0"/>
                </a:rPr>
                <a:t>“</a:t>
              </a:r>
              <a:r>
                <a:rPr kumimoji="1" lang="en-US" altLang="zh-CN" sz="2800" b="1">
                  <a:solidFill>
                    <a:schemeClr val="accent2"/>
                  </a:solidFill>
                  <a:effectLst/>
                  <a:latin typeface="Arial" charset="0"/>
                </a:rPr>
                <a:t>ab”</a:t>
              </a:r>
            </a:p>
            <a:p>
              <a:pPr algn="l" eaLnBrk="1" hangingPunct="1"/>
              <a:r>
                <a:rPr kumimoji="1" lang="en-US" altLang="zh-CN" sz="2800" b="1">
                  <a:solidFill>
                    <a:schemeClr val="accent2"/>
                  </a:solidFill>
                  <a:effectLst/>
                  <a:latin typeface="Arial" charset="0"/>
                </a:rPr>
                <a:t>“rb+” </a:t>
              </a:r>
              <a:r>
                <a:rPr kumimoji="1" lang="zh-CN" altLang="en-US" sz="2800" b="1">
                  <a:solidFill>
                    <a:schemeClr val="accent2"/>
                  </a:solidFill>
                  <a:effectLst/>
                  <a:latin typeface="Arial" charset="0"/>
                </a:rPr>
                <a:t>或者“</a:t>
              </a:r>
              <a:r>
                <a:rPr kumimoji="1" lang="en-US" altLang="zh-CN" sz="2800" b="1">
                  <a:solidFill>
                    <a:schemeClr val="accent2"/>
                  </a:solidFill>
                  <a:effectLst/>
                  <a:latin typeface="Arial" charset="0"/>
                </a:rPr>
                <a:t>r+b</a:t>
              </a:r>
              <a:r>
                <a:rPr kumimoji="1" lang="zh-CN" altLang="en-US" sz="2800" b="1">
                  <a:solidFill>
                    <a:schemeClr val="accent2"/>
                  </a:solidFill>
                  <a:effectLst/>
                  <a:latin typeface="Arial" charset="0"/>
                </a:rPr>
                <a:t>”</a:t>
              </a:r>
              <a:endParaRPr kumimoji="1" lang="en-US" altLang="zh-CN" sz="2800" b="1">
                <a:solidFill>
                  <a:schemeClr val="accent2"/>
                </a:solidFill>
                <a:effectLst/>
                <a:latin typeface="Arial" charset="0"/>
              </a:endParaRPr>
            </a:p>
            <a:p>
              <a:pPr algn="l" eaLnBrk="1" hangingPunct="1"/>
              <a:r>
                <a:rPr kumimoji="1" lang="en-US" altLang="zh-CN" sz="2800" b="1">
                  <a:solidFill>
                    <a:schemeClr val="accent2"/>
                  </a:solidFill>
                  <a:effectLst/>
                  <a:latin typeface="Arial" charset="0"/>
                </a:rPr>
                <a:t>“wb+”</a:t>
              </a:r>
              <a:r>
                <a:rPr kumimoji="1" lang="zh-CN" altLang="en-US" sz="2800" b="1">
                  <a:solidFill>
                    <a:schemeClr val="accent2"/>
                  </a:solidFill>
                  <a:effectLst/>
                  <a:latin typeface="Arial" charset="0"/>
                </a:rPr>
                <a:t>或者“</a:t>
              </a:r>
              <a:r>
                <a:rPr kumimoji="1" lang="en-US" altLang="zh-CN" sz="2800" b="1">
                  <a:solidFill>
                    <a:schemeClr val="accent2"/>
                  </a:solidFill>
                  <a:effectLst/>
                  <a:latin typeface="Arial" charset="0"/>
                </a:rPr>
                <a:t>w+b</a:t>
              </a:r>
              <a:r>
                <a:rPr kumimoji="1" lang="zh-CN" altLang="en-US" sz="2800" b="1">
                  <a:solidFill>
                    <a:schemeClr val="accent2"/>
                  </a:solidFill>
                  <a:effectLst/>
                  <a:latin typeface="Arial" charset="0"/>
                </a:rPr>
                <a:t>”</a:t>
              </a:r>
              <a:endParaRPr kumimoji="1" lang="en-US" altLang="zh-CN" sz="2800" b="1">
                <a:solidFill>
                  <a:schemeClr val="accent2"/>
                </a:solidFill>
                <a:effectLst/>
                <a:latin typeface="Arial" charset="0"/>
              </a:endParaRPr>
            </a:p>
            <a:p>
              <a:pPr algn="l" eaLnBrk="1" hangingPunct="1"/>
              <a:r>
                <a:rPr kumimoji="1" lang="en-US" altLang="zh-CN" sz="2800" b="1">
                  <a:solidFill>
                    <a:schemeClr val="accent2"/>
                  </a:solidFill>
                  <a:effectLst/>
                  <a:latin typeface="Arial" charset="0"/>
                </a:rPr>
                <a:t>“ab+”</a:t>
              </a:r>
              <a:r>
                <a:rPr kumimoji="1" lang="zh-CN" altLang="en-US" sz="2800" b="1">
                  <a:solidFill>
                    <a:schemeClr val="accent2"/>
                  </a:solidFill>
                  <a:effectLst/>
                  <a:latin typeface="Arial" charset="0"/>
                </a:rPr>
                <a:t>或者“</a:t>
              </a:r>
              <a:r>
                <a:rPr kumimoji="1" lang="en-US" altLang="zh-CN" sz="2800" b="1">
                  <a:solidFill>
                    <a:schemeClr val="accent2"/>
                  </a:solidFill>
                  <a:effectLst/>
                  <a:latin typeface="Arial" charset="0"/>
                </a:rPr>
                <a:t>a+b</a:t>
              </a:r>
              <a:r>
                <a:rPr kumimoji="1" lang="zh-CN" altLang="en-US" sz="2800" b="1">
                  <a:solidFill>
                    <a:schemeClr val="accent2"/>
                  </a:solidFill>
                  <a:effectLst/>
                  <a:latin typeface="Arial" charset="0"/>
                </a:rPr>
                <a:t>”</a:t>
              </a:r>
            </a:p>
          </p:txBody>
        </p:sp>
        <p:sp>
          <p:nvSpPr>
            <p:cNvPr id="323598" name="AutoShape 14"/>
            <p:cNvSpPr>
              <a:spLocks/>
            </p:cNvSpPr>
            <p:nvPr/>
          </p:nvSpPr>
          <p:spPr bwMode="auto">
            <a:xfrm>
              <a:off x="588" y="2412"/>
              <a:ext cx="84" cy="1476"/>
            </a:xfrm>
            <a:prstGeom prst="leftBrace">
              <a:avLst>
                <a:gd name="adj1" fmla="val 146429"/>
                <a:gd name="adj2" fmla="val 50000"/>
              </a:avLst>
            </a:prstGeom>
            <a:noFill/>
            <a:ln w="57150">
              <a:solidFill>
                <a:schemeClr val="tx1"/>
              </a:solidFill>
              <a:round/>
              <a:headEnd/>
              <a:tailEnd/>
            </a:ln>
            <a:effectLst/>
          </p:spPr>
          <p:txBody>
            <a:bodyPr wrap="none" anchor="ctr"/>
            <a:lstStyle/>
            <a:p>
              <a:pPr>
                <a:defRPr/>
              </a:pPr>
              <a:endParaRPr lang="zh-CN" altLang="en-US">
                <a:effectLst>
                  <a:outerShdw blurRad="38100" dist="38100" dir="2700000" algn="tl">
                    <a:srgbClr val="C0C0C0"/>
                  </a:outerShdw>
                </a:effectLst>
                <a:latin typeface="Times New Roman" pitchFamily="18" charset="0"/>
                <a:ea typeface="宋体" pitchFamily="2" charset="-122"/>
              </a:endParaRPr>
            </a:p>
          </p:txBody>
        </p:sp>
      </p:grp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 nodeType="clickPar">
                      <p:stCondLst>
                        <p:cond delay="indefinite"/>
                      </p:stCondLst>
                      <p:childTnLst>
                        <p:par>
                          <p:cTn id="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3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14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6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7" fill="hold" nodeType="afterGroup">
                            <p:stCondLst>
                              <p:cond delay="1000"/>
                            </p:stCondLst>
                            <p:childTnLst>
                              <p:par>
                                <p:cTn id="18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0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85800" y="484632"/>
            <a:ext cx="7772400" cy="872681"/>
          </a:xfrm>
        </p:spPr>
        <p:txBody>
          <a:bodyPr/>
          <a:lstStyle/>
          <a:p>
            <a:r>
              <a:rPr lang="zh-CN" altLang="en-US"/>
              <a:t>文件打开举例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642938" y="1357313"/>
            <a:ext cx="7772400" cy="4611687"/>
          </a:xfrm>
        </p:spPr>
        <p:txBody>
          <a:bodyPr>
            <a:normAutofit fontScale="85000" lnSpcReduction="20000"/>
          </a:bodyPr>
          <a:lstStyle/>
          <a:p>
            <a:pPr>
              <a:lnSpc>
                <a:spcPct val="125000"/>
              </a:lnSpc>
              <a:buFont typeface="Monotype Sorts" charset="2"/>
              <a:buNone/>
            </a:pPr>
            <a:r>
              <a:rPr lang="en-US" altLang="zh-CN" sz="2000">
                <a:solidFill>
                  <a:schemeClr val="tx1"/>
                </a:solidFill>
                <a:latin typeface="Courier New" charset="0"/>
              </a:rPr>
              <a:t>FILE *fp1, *fp2, *fp3;</a:t>
            </a:r>
          </a:p>
          <a:p>
            <a:pPr>
              <a:lnSpc>
                <a:spcPct val="125000"/>
              </a:lnSpc>
              <a:buFont typeface="Monotype Sorts" charset="2"/>
              <a:buNone/>
            </a:pPr>
            <a:r>
              <a:rPr lang="en-US" altLang="zh-CN" sz="2000">
                <a:solidFill>
                  <a:schemeClr val="tx1"/>
                </a:solidFill>
                <a:latin typeface="Courier New" charset="0"/>
              </a:rPr>
              <a:t>char filename[]="file3.dat";</a:t>
            </a:r>
          </a:p>
          <a:p>
            <a:pPr>
              <a:lnSpc>
                <a:spcPct val="125000"/>
              </a:lnSpc>
              <a:buFont typeface="Monotype Sorts" charset="2"/>
              <a:buNone/>
            </a:pPr>
            <a:r>
              <a:rPr lang="en-US" altLang="zh-CN" sz="2000">
                <a:solidFill>
                  <a:srgbClr val="006600"/>
                </a:solidFill>
                <a:latin typeface="Courier New" charset="0"/>
              </a:rPr>
              <a:t>/* </a:t>
            </a:r>
            <a:r>
              <a:rPr lang="zh-CN" altLang="en-US" sz="2000">
                <a:solidFill>
                  <a:srgbClr val="006600"/>
                </a:solidFill>
                <a:latin typeface="Courier New" charset="0"/>
                <a:ea typeface="楷体_GB2312" charset="0"/>
              </a:rPr>
              <a:t>以文本只读方式打开</a:t>
            </a:r>
            <a:r>
              <a:rPr lang="en-US" altLang="zh-CN" sz="2000">
                <a:solidFill>
                  <a:srgbClr val="006600"/>
                </a:solidFill>
                <a:latin typeface="Courier New" charset="0"/>
                <a:ea typeface="楷体_GB2312" charset="0"/>
              </a:rPr>
              <a:t>file1 </a:t>
            </a:r>
            <a:r>
              <a:rPr lang="en-US" altLang="zh-CN" sz="2000">
                <a:solidFill>
                  <a:srgbClr val="006600"/>
                </a:solidFill>
                <a:latin typeface="Courier New" charset="0"/>
              </a:rPr>
              <a:t>*/</a:t>
            </a:r>
          </a:p>
          <a:p>
            <a:pPr>
              <a:lnSpc>
                <a:spcPct val="125000"/>
              </a:lnSpc>
              <a:buFont typeface="Monotype Sorts" charset="2"/>
              <a:buNone/>
            </a:pPr>
            <a:r>
              <a:rPr lang="en-US" altLang="zh-CN" sz="2000">
                <a:solidFill>
                  <a:schemeClr val="tx1"/>
                </a:solidFill>
                <a:latin typeface="Courier New" charset="0"/>
              </a:rPr>
              <a:t>if (!(fp1=fopen("file1", "r"))) {</a:t>
            </a:r>
          </a:p>
          <a:p>
            <a:pPr>
              <a:lnSpc>
                <a:spcPct val="125000"/>
              </a:lnSpc>
              <a:buFont typeface="Monotype Sorts" charset="2"/>
              <a:buNone/>
            </a:pPr>
            <a:r>
              <a:rPr lang="en-US" altLang="zh-CN" sz="2000">
                <a:solidFill>
                  <a:schemeClr val="tx1"/>
                </a:solidFill>
                <a:latin typeface="Courier New" charset="0"/>
              </a:rPr>
              <a:t>    printf("Cannot Open This File!\n");</a:t>
            </a:r>
          </a:p>
          <a:p>
            <a:pPr>
              <a:lnSpc>
                <a:spcPct val="125000"/>
              </a:lnSpc>
              <a:buFont typeface="Monotype Sorts" charset="2"/>
              <a:buNone/>
            </a:pPr>
            <a:r>
              <a:rPr lang="en-US" altLang="zh-CN" sz="2000">
                <a:solidFill>
                  <a:schemeClr val="tx1"/>
                </a:solidFill>
                <a:latin typeface="Courier New" charset="0"/>
              </a:rPr>
              <a:t>    exit(0); </a:t>
            </a:r>
            <a:r>
              <a:rPr lang="en-US" altLang="zh-CN" sz="2000">
                <a:solidFill>
                  <a:srgbClr val="006600"/>
                </a:solidFill>
                <a:latin typeface="Courier New" charset="0"/>
              </a:rPr>
              <a:t>/* </a:t>
            </a:r>
            <a:r>
              <a:rPr lang="zh-CN" altLang="en-US" sz="2000">
                <a:solidFill>
                  <a:srgbClr val="006600"/>
                </a:solidFill>
                <a:latin typeface="Courier New" charset="0"/>
              </a:rPr>
              <a:t>退出程序 *</a:t>
            </a:r>
            <a:r>
              <a:rPr lang="en-US" altLang="zh-CN" sz="2000">
                <a:solidFill>
                  <a:srgbClr val="006600"/>
                </a:solidFill>
                <a:latin typeface="Courier New" charset="0"/>
              </a:rPr>
              <a:t>/</a:t>
            </a:r>
          </a:p>
          <a:p>
            <a:pPr>
              <a:lnSpc>
                <a:spcPct val="125000"/>
              </a:lnSpc>
              <a:buFont typeface="Monotype Sorts" charset="2"/>
              <a:buNone/>
            </a:pPr>
            <a:r>
              <a:rPr lang="en-US" altLang="zh-CN" sz="2000">
                <a:solidFill>
                  <a:srgbClr val="FFFF00"/>
                </a:solidFill>
                <a:latin typeface="Courier New" charset="0"/>
              </a:rPr>
              <a:t>    </a:t>
            </a:r>
            <a:r>
              <a:rPr lang="en-US" altLang="zh-CN" sz="2000">
                <a:solidFill>
                  <a:schemeClr val="tx1"/>
                </a:solidFill>
                <a:latin typeface="Courier New" charset="0"/>
              </a:rPr>
              <a:t>}</a:t>
            </a:r>
          </a:p>
          <a:p>
            <a:pPr>
              <a:lnSpc>
                <a:spcPct val="125000"/>
              </a:lnSpc>
              <a:buFont typeface="Monotype Sorts" charset="2"/>
              <a:buNone/>
            </a:pPr>
            <a:r>
              <a:rPr lang="en-US" altLang="zh-CN" sz="2000">
                <a:solidFill>
                  <a:srgbClr val="006600"/>
                </a:solidFill>
                <a:latin typeface="Courier New" charset="0"/>
              </a:rPr>
              <a:t>/* </a:t>
            </a:r>
            <a:r>
              <a:rPr lang="zh-CN" altLang="en-US" sz="2000">
                <a:solidFill>
                  <a:srgbClr val="006600"/>
                </a:solidFill>
                <a:latin typeface="Courier New" charset="0"/>
              </a:rPr>
              <a:t>以二进制读写方式打开</a:t>
            </a:r>
            <a:r>
              <a:rPr lang="en-US" altLang="zh-CN" sz="2000">
                <a:solidFill>
                  <a:srgbClr val="006600"/>
                </a:solidFill>
                <a:latin typeface="Courier New" charset="0"/>
              </a:rPr>
              <a:t>FILE2.TXT */</a:t>
            </a:r>
          </a:p>
          <a:p>
            <a:pPr>
              <a:lnSpc>
                <a:spcPct val="125000"/>
              </a:lnSpc>
              <a:buFont typeface="Monotype Sorts" charset="2"/>
              <a:buNone/>
            </a:pPr>
            <a:r>
              <a:rPr lang="en-US" altLang="zh-CN" sz="2000">
                <a:solidFill>
                  <a:schemeClr val="tx1"/>
                </a:solidFill>
                <a:latin typeface="Courier New" charset="0"/>
              </a:rPr>
              <a:t>fp2=fopen("C:\\HOME\\FILE2.TXT", "rb+");</a:t>
            </a:r>
          </a:p>
          <a:p>
            <a:pPr>
              <a:lnSpc>
                <a:spcPct val="125000"/>
              </a:lnSpc>
              <a:buFont typeface="Monotype Sorts" charset="2"/>
              <a:buNone/>
            </a:pPr>
            <a:r>
              <a:rPr lang="en-US" altLang="zh-CN" sz="2000">
                <a:solidFill>
                  <a:srgbClr val="008000"/>
                </a:solidFill>
                <a:latin typeface="Courier New" charset="0"/>
              </a:rPr>
              <a:t>/* </a:t>
            </a:r>
            <a:r>
              <a:rPr lang="zh-CN" altLang="en-US" sz="2000">
                <a:solidFill>
                  <a:srgbClr val="008000"/>
                </a:solidFill>
                <a:latin typeface="Courier New" charset="0"/>
              </a:rPr>
              <a:t>以二进制读写方式打开</a:t>
            </a:r>
            <a:r>
              <a:rPr lang="en-US" altLang="zh-CN" sz="2000">
                <a:solidFill>
                  <a:srgbClr val="008000"/>
                </a:solidFill>
                <a:latin typeface="Courier New" charset="0"/>
              </a:rPr>
              <a:t>file3.dat */</a:t>
            </a:r>
          </a:p>
          <a:p>
            <a:pPr>
              <a:lnSpc>
                <a:spcPct val="125000"/>
              </a:lnSpc>
              <a:buFont typeface="Monotype Sorts" charset="2"/>
              <a:buNone/>
            </a:pPr>
            <a:r>
              <a:rPr lang="en-US" altLang="zh-CN" sz="2000">
                <a:solidFill>
                  <a:schemeClr val="tx1"/>
                </a:solidFill>
                <a:latin typeface="Courier New" charset="0"/>
              </a:rPr>
              <a:t>fp3=fopen(filename, "ab+");</a:t>
            </a:r>
            <a:endParaRPr lang="zh-CN" altLang="en-US" sz="200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文件关闭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kumimoji="1" lang="en-US" altLang="zh-CN" dirty="0">
                <a:solidFill>
                  <a:schemeClr val="tx1"/>
                </a:solidFill>
                <a:latin typeface="宋体" charset="0"/>
              </a:rPr>
              <a:t>FILE  *</a:t>
            </a:r>
            <a:r>
              <a:rPr kumimoji="1" lang="en-US" altLang="zh-CN" dirty="0" err="1">
                <a:solidFill>
                  <a:schemeClr val="tx1"/>
                </a:solidFill>
                <a:latin typeface="宋体" charset="0"/>
              </a:rPr>
              <a:t>fclose</a:t>
            </a:r>
            <a:r>
              <a:rPr kumimoji="1" lang="en-US" altLang="zh-CN" dirty="0">
                <a:solidFill>
                  <a:schemeClr val="tx1"/>
                </a:solidFill>
                <a:latin typeface="宋体" charset="0"/>
              </a:rPr>
              <a:t>(</a:t>
            </a:r>
            <a:r>
              <a:rPr kumimoji="1" lang="zh-CN" altLang="en-US" dirty="0">
                <a:solidFill>
                  <a:schemeClr val="tx1"/>
                </a:solidFill>
                <a:latin typeface="宋体" charset="0"/>
              </a:rPr>
              <a:t>文件指针）</a:t>
            </a:r>
            <a:r>
              <a:rPr kumimoji="1" lang="en-US" altLang="zh-CN" dirty="0">
                <a:solidFill>
                  <a:schemeClr val="tx1"/>
                </a:solidFill>
                <a:latin typeface="宋体" charset="0"/>
              </a:rPr>
              <a:t>;</a:t>
            </a:r>
          </a:p>
          <a:p>
            <a:r>
              <a:rPr kumimoji="1" lang="zh-CN" altLang="en-US" dirty="0">
                <a:latin typeface="宋体" charset="0"/>
              </a:rPr>
              <a:t>关闭文件成功则返回</a:t>
            </a:r>
            <a:r>
              <a:rPr kumimoji="1" lang="en-US" altLang="zh-CN" dirty="0">
                <a:latin typeface="宋体" charset="0"/>
              </a:rPr>
              <a:t>0</a:t>
            </a:r>
            <a:r>
              <a:rPr kumimoji="1" lang="zh-CN" altLang="en-US" dirty="0">
                <a:latin typeface="宋体" charset="0"/>
              </a:rPr>
              <a:t>，否则返回</a:t>
            </a:r>
            <a:r>
              <a:rPr kumimoji="1" lang="en-US" altLang="zh-CN" dirty="0">
                <a:latin typeface="宋体" charset="0"/>
              </a:rPr>
              <a:t>EOF(-1)</a:t>
            </a:r>
          </a:p>
          <a:p>
            <a:pPr>
              <a:buClr>
                <a:srgbClr val="00FFFF"/>
              </a:buClr>
              <a:buFont typeface="Wingdings 3" charset="2"/>
              <a:buChar char="è"/>
            </a:pPr>
            <a:r>
              <a:rPr kumimoji="1" lang="zh-CN" altLang="en-US" dirty="0"/>
              <a:t>文件在使用完后要执行关闭操作，否则：</a:t>
            </a:r>
          </a:p>
          <a:p>
            <a:pPr marL="866775" lvl="1" indent="-390525">
              <a:buClr>
                <a:srgbClr val="FF00FF"/>
              </a:buClr>
              <a:buFont typeface="Wingdings 2" charset="2"/>
              <a:buChar char="ß"/>
            </a:pPr>
            <a:r>
              <a:rPr kumimoji="1" lang="zh-CN" altLang="en-US" dirty="0">
                <a:solidFill>
                  <a:srgbClr val="FF0000"/>
                </a:solidFill>
              </a:rPr>
              <a:t>可能丢失数据：</a:t>
            </a:r>
            <a:r>
              <a:rPr kumimoji="1" lang="zh-CN" altLang="en-US" dirty="0"/>
              <a:t>文件的读写操作是通过缓冲区来实现的。写入数据时，只有当缓冲区满时才把整个缓冲区中的数据真正写到磁盘上。</a:t>
            </a:r>
          </a:p>
          <a:p>
            <a:pPr marL="866775" lvl="1" indent="-390525">
              <a:buClr>
                <a:srgbClr val="FF00FF"/>
              </a:buClr>
              <a:buFont typeface="Wingdings 2" charset="2"/>
              <a:buChar char="ß"/>
            </a:pPr>
            <a:r>
              <a:rPr kumimoji="1" lang="zh-CN" altLang="en-US" dirty="0">
                <a:solidFill>
                  <a:srgbClr val="FF0000"/>
                </a:solidFill>
              </a:rPr>
              <a:t>影响打开其它文件：</a:t>
            </a:r>
            <a:r>
              <a:rPr kumimoji="1" lang="zh-CN" altLang="en-US" dirty="0"/>
              <a:t>每个系统允许打开的文件数有限，关闭不用的文件就能释放文件指针和读写缓冲区，以便其它文件打开时</a:t>
            </a:r>
            <a:endParaRPr kumimoji="1" lang="en-US" altLang="zh-CN" dirty="0">
              <a:latin typeface="宋体" charset="0"/>
            </a:endParaRPr>
          </a:p>
          <a:p>
            <a:endParaRPr kumimoji="1" lang="en-US" altLang="zh-CN" dirty="0">
              <a:solidFill>
                <a:srgbClr val="FFFF00"/>
              </a:solidFill>
              <a:latin typeface="宋体" charset="0"/>
            </a:endParaRPr>
          </a:p>
          <a:p>
            <a:endParaRPr lang="zh-CN" altLang="en-US" dirty="0"/>
          </a:p>
        </p:txBody>
      </p:sp>
      <p:grpSp>
        <p:nvGrpSpPr>
          <p:cNvPr id="4" name="Group 6"/>
          <p:cNvGrpSpPr>
            <a:grpSpLocks/>
          </p:cNvGrpSpPr>
          <p:nvPr/>
        </p:nvGrpSpPr>
        <p:grpSpPr bwMode="auto">
          <a:xfrm>
            <a:off x="1206500" y="5070475"/>
            <a:ext cx="7239000" cy="1524000"/>
            <a:chOff x="576" y="1584"/>
            <a:chExt cx="4560" cy="960"/>
          </a:xfrm>
        </p:grpSpPr>
        <p:sp>
          <p:nvSpPr>
            <p:cNvPr id="5" name="Rectangle 7"/>
            <p:cNvSpPr>
              <a:spLocks noChangeArrowheads="1"/>
            </p:cNvSpPr>
            <p:nvPr/>
          </p:nvSpPr>
          <p:spPr bwMode="auto">
            <a:xfrm>
              <a:off x="576" y="1632"/>
              <a:ext cx="2064" cy="816"/>
            </a:xfrm>
            <a:prstGeom prst="rect">
              <a:avLst/>
            </a:prstGeom>
            <a:solidFill>
              <a:schemeClr val="accent1"/>
            </a:solidFill>
            <a:ln w="12699">
              <a:solidFill>
                <a:schemeClr val="tx1"/>
              </a:solidFill>
              <a:miter lim="800000"/>
              <a:headEnd type="none" w="sm" len="sm"/>
              <a:tailEnd type="none" w="sm" len="sm"/>
            </a:ln>
            <a:effectLst/>
          </p:spPr>
          <p:txBody>
            <a:bodyPr wrap="none" anchor="ctr"/>
            <a:lstStyle/>
            <a:p>
              <a:pPr defTabSz="762000">
                <a:defRPr/>
              </a:pPr>
              <a:r>
                <a:rPr kumimoji="1" lang="en-US" altLang="zh-CN" sz="3200">
                  <a:solidFill>
                    <a:srgbClr val="FFFF66"/>
                  </a:solidFill>
                  <a:effectLst>
                    <a:outerShdw blurRad="38100" dist="38100" dir="2700000" algn="tl">
                      <a:srgbClr val="000000"/>
                    </a:outerShdw>
                  </a:effectLst>
                  <a:latin typeface="Times New Roman" pitchFamily="18" charset="0"/>
                  <a:ea typeface="宋体" pitchFamily="2" charset="-122"/>
                </a:rPr>
                <a:t>          </a:t>
              </a:r>
              <a:r>
                <a:rPr kumimoji="1" lang="zh-CN" altLang="en-US" sz="3200" b="1">
                  <a:solidFill>
                    <a:srgbClr val="000066"/>
                  </a:solidFill>
                  <a:effectLst>
                    <a:outerShdw blurRad="38100" dist="38100" dir="2700000" algn="tl">
                      <a:srgbClr val="000000"/>
                    </a:outerShdw>
                  </a:effectLst>
                  <a:latin typeface="Times New Roman" pitchFamily="18" charset="0"/>
                  <a:ea typeface="宋体" pitchFamily="2" charset="-122"/>
                </a:rPr>
                <a:t>内存</a:t>
              </a:r>
              <a:endParaRPr kumimoji="1" lang="zh-CN" altLang="en-US" b="1">
                <a:solidFill>
                  <a:srgbClr val="000066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Times New Roman" pitchFamily="18" charset="0"/>
                <a:ea typeface="宋体" pitchFamily="2" charset="-122"/>
              </a:endParaRPr>
            </a:p>
          </p:txBody>
        </p:sp>
        <p:sp>
          <p:nvSpPr>
            <p:cNvPr id="6" name="Rectangle 8"/>
            <p:cNvSpPr>
              <a:spLocks noChangeArrowheads="1"/>
            </p:cNvSpPr>
            <p:nvPr/>
          </p:nvSpPr>
          <p:spPr bwMode="auto">
            <a:xfrm>
              <a:off x="624" y="1728"/>
              <a:ext cx="576" cy="672"/>
            </a:xfrm>
            <a:prstGeom prst="rect">
              <a:avLst/>
            </a:prstGeom>
            <a:solidFill>
              <a:srgbClr val="66FFFF"/>
            </a:solidFill>
            <a:ln w="12699">
              <a:solidFill>
                <a:schemeClr val="tx1"/>
              </a:solidFill>
              <a:miter lim="800000"/>
              <a:headEnd type="none" w="sm" len="sm"/>
              <a:tailEnd type="none" w="sm" len="sm"/>
            </a:ln>
            <a:effectLst/>
          </p:spPr>
          <p:txBody>
            <a:bodyPr vert="eaVert" wrap="none" anchor="ctr"/>
            <a:lstStyle/>
            <a:p>
              <a:pPr defTabSz="762000">
                <a:defRPr/>
              </a:pPr>
              <a:r>
                <a:rPr kumimoji="1" lang="zh-CN" altLang="en-US" b="1">
                  <a:solidFill>
                    <a:srgbClr val="0000CC"/>
                  </a:solidFill>
                  <a:effectLst>
                    <a:outerShdw blurRad="38100" dist="38100" dir="2700000" algn="tl">
                      <a:srgbClr val="000000"/>
                    </a:outerShdw>
                  </a:effectLst>
                  <a:latin typeface="Times New Roman" pitchFamily="18" charset="0"/>
                  <a:ea typeface="宋体" pitchFamily="2" charset="-122"/>
                </a:rPr>
                <a:t>程序</a:t>
              </a:r>
            </a:p>
            <a:p>
              <a:pPr defTabSz="762000">
                <a:defRPr/>
              </a:pPr>
              <a:r>
                <a:rPr kumimoji="1" lang="zh-CN" altLang="en-US" b="1">
                  <a:solidFill>
                    <a:srgbClr val="0000CC"/>
                  </a:solidFill>
                  <a:effectLst>
                    <a:outerShdw blurRad="38100" dist="38100" dir="2700000" algn="tl">
                      <a:srgbClr val="000000"/>
                    </a:outerShdw>
                  </a:effectLst>
                  <a:latin typeface="Times New Roman" pitchFamily="18" charset="0"/>
                  <a:ea typeface="宋体" pitchFamily="2" charset="-122"/>
                </a:rPr>
                <a:t>数据区</a:t>
              </a:r>
            </a:p>
          </p:txBody>
        </p:sp>
        <p:sp>
          <p:nvSpPr>
            <p:cNvPr id="7" name="AutoShape 9"/>
            <p:cNvSpPr>
              <a:spLocks noChangeArrowheads="1"/>
            </p:cNvSpPr>
            <p:nvPr/>
          </p:nvSpPr>
          <p:spPr bwMode="auto">
            <a:xfrm>
              <a:off x="4032" y="1584"/>
              <a:ext cx="1104" cy="960"/>
            </a:xfrm>
            <a:prstGeom prst="can">
              <a:avLst>
                <a:gd name="adj" fmla="val 25000"/>
              </a:avLst>
            </a:prstGeom>
            <a:solidFill>
              <a:srgbClr val="CC99FF"/>
            </a:solidFill>
            <a:ln w="12699">
              <a:solidFill>
                <a:schemeClr val="tx1"/>
              </a:solidFill>
              <a:round/>
              <a:headEnd type="none" w="sm" len="sm"/>
              <a:tailEnd type="none" w="sm" len="sm"/>
            </a:ln>
            <a:effectLst/>
          </p:spPr>
          <p:txBody>
            <a:bodyPr wrap="none" anchor="ctr"/>
            <a:lstStyle>
              <a:lvl1pPr defTabSz="762000">
                <a:defRPr sz="2400">
                  <a:solidFill>
                    <a:schemeClr val="tx1"/>
                  </a:solidFill>
                  <a:latin typeface="Times New Roman" charset="0"/>
                  <a:ea typeface="宋体" charset="0"/>
                </a:defRPr>
              </a:lvl1pPr>
              <a:lvl2pPr marL="742950" indent="-285750" defTabSz="762000">
                <a:defRPr sz="2400">
                  <a:solidFill>
                    <a:schemeClr val="tx1"/>
                  </a:solidFill>
                  <a:latin typeface="Times New Roman" charset="0"/>
                  <a:ea typeface="宋体" charset="0"/>
                </a:defRPr>
              </a:lvl2pPr>
              <a:lvl3pPr marL="1143000" indent="-228600" defTabSz="762000">
                <a:defRPr sz="2400">
                  <a:solidFill>
                    <a:schemeClr val="tx1"/>
                  </a:solidFill>
                  <a:latin typeface="Times New Roman" charset="0"/>
                  <a:ea typeface="宋体" charset="0"/>
                </a:defRPr>
              </a:lvl3pPr>
              <a:lvl4pPr marL="1600200" indent="-228600" defTabSz="762000">
                <a:defRPr sz="2400">
                  <a:solidFill>
                    <a:schemeClr val="tx1"/>
                  </a:solidFill>
                  <a:latin typeface="Times New Roman" charset="0"/>
                  <a:ea typeface="宋体" charset="0"/>
                </a:defRPr>
              </a:lvl4pPr>
              <a:lvl5pPr marL="2057400" indent="-228600" defTabSz="762000">
                <a:defRPr sz="2400">
                  <a:solidFill>
                    <a:schemeClr val="tx1"/>
                  </a:solidFill>
                  <a:latin typeface="Times New Roman" charset="0"/>
                  <a:ea typeface="宋体" charset="0"/>
                </a:defRPr>
              </a:lvl5pPr>
              <a:lvl6pPr marL="2514600" indent="-228600" algn="ctr" defTabSz="7620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charset="0"/>
                  <a:ea typeface="宋体" charset="0"/>
                </a:defRPr>
              </a:lvl6pPr>
              <a:lvl7pPr marL="2971800" indent="-228600" algn="ctr" defTabSz="7620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charset="0"/>
                  <a:ea typeface="宋体" charset="0"/>
                </a:defRPr>
              </a:lvl7pPr>
              <a:lvl8pPr marL="3429000" indent="-228600" algn="ctr" defTabSz="7620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charset="0"/>
                  <a:ea typeface="宋体" charset="0"/>
                </a:defRPr>
              </a:lvl8pPr>
              <a:lvl9pPr marL="3886200" indent="-228600" algn="ctr" defTabSz="7620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charset="0"/>
                  <a:ea typeface="宋体" charset="0"/>
                </a:defRPr>
              </a:lvl9pPr>
            </a:lstStyle>
            <a:p>
              <a:r>
                <a:rPr kumimoji="1" lang="zh-CN" altLang="en-US" sz="3200" b="1">
                  <a:solidFill>
                    <a:srgbClr val="0000CC"/>
                  </a:solidFill>
                  <a:effectLst>
                    <a:outerShdw blurRad="38100" dist="38100" dir="2700000" algn="tl">
                      <a:srgbClr val="000000"/>
                    </a:outerShdw>
                  </a:effectLst>
                </a:rPr>
                <a:t>磁盘</a:t>
              </a:r>
            </a:p>
            <a:p>
              <a:r>
                <a:rPr kumimoji="1" lang="zh-CN" altLang="en-US" sz="3200" b="1">
                  <a:solidFill>
                    <a:srgbClr val="0000CC"/>
                  </a:solidFill>
                  <a:effectLst>
                    <a:outerShdw blurRad="38100" dist="38100" dir="2700000" algn="tl">
                      <a:srgbClr val="000000"/>
                    </a:outerShdw>
                  </a:effectLst>
                </a:rPr>
                <a:t>文件</a:t>
              </a:r>
              <a:endParaRPr kumimoji="1" lang="zh-CN" altLang="en-US" sz="2000">
                <a:solidFill>
                  <a:srgbClr val="0000CC"/>
                </a:solidFill>
                <a:effectLst>
                  <a:outerShdw blurRad="38100" dist="38100" dir="2700000" algn="tl">
                    <a:srgbClr val="000000"/>
                  </a:outerShdw>
                </a:effectLst>
              </a:endParaRPr>
            </a:p>
          </p:txBody>
        </p:sp>
      </p:grpSp>
      <p:sp>
        <p:nvSpPr>
          <p:cNvPr id="8" name="AutoShape 10"/>
          <p:cNvSpPr>
            <a:spLocks noChangeArrowheads="1"/>
          </p:cNvSpPr>
          <p:nvPr/>
        </p:nvSpPr>
        <p:spPr bwMode="auto">
          <a:xfrm flipH="1">
            <a:off x="2197100" y="5143500"/>
            <a:ext cx="914400" cy="381000"/>
          </a:xfrm>
          <a:custGeom>
            <a:avLst/>
            <a:gdLst>
              <a:gd name="G0" fmla="+- 16200 0 0"/>
              <a:gd name="G1" fmla="+- 5400 0 0"/>
              <a:gd name="G2" fmla="+- 21600 0 5400"/>
              <a:gd name="G3" fmla="+- 10800 0 5400"/>
              <a:gd name="G4" fmla="+- 21600 0 16200"/>
              <a:gd name="G5" fmla="*/ G4 G3 10800"/>
              <a:gd name="G6" fmla="+- 21600 0 G5"/>
              <a:gd name="T0" fmla="*/ 16200 w 21600"/>
              <a:gd name="T1" fmla="*/ 0 h 21600"/>
              <a:gd name="T2" fmla="*/ 0 w 21600"/>
              <a:gd name="T3" fmla="*/ 10800 h 21600"/>
              <a:gd name="T4" fmla="*/ 16200 w 21600"/>
              <a:gd name="T5" fmla="*/ 21600 h 21600"/>
              <a:gd name="T6" fmla="*/ 21600 w 21600"/>
              <a:gd name="T7" fmla="*/ 10800 h 21600"/>
              <a:gd name="T8" fmla="*/ 17694720 60000 65536"/>
              <a:gd name="T9" fmla="*/ 11796480 60000 65536"/>
              <a:gd name="T10" fmla="*/ 5898240 60000 65536"/>
              <a:gd name="T11" fmla="*/ 0 60000 65536"/>
              <a:gd name="T12" fmla="*/ 3375 w 21600"/>
              <a:gd name="T13" fmla="*/ G1 h 21600"/>
              <a:gd name="T14" fmla="*/ G6 w 21600"/>
              <a:gd name="T15" fmla="*/ G2 h 21600"/>
            </a:gdLst>
            <a:ahLst/>
            <a:cxnLst>
              <a:cxn ang="T8">
                <a:pos x="T0" y="T1"/>
              </a:cxn>
              <a:cxn ang="T9">
                <a:pos x="T2" y="T3"/>
              </a:cxn>
              <a:cxn ang="T10">
                <a:pos x="T4" y="T5"/>
              </a:cxn>
              <a:cxn ang="T11">
                <a:pos x="T6" y="T7"/>
              </a:cxn>
            </a:cxnLst>
            <a:rect l="T12" t="T13" r="T14" b="T15"/>
            <a:pathLst>
              <a:path w="21600" h="21600">
                <a:moveTo>
                  <a:pt x="16200" y="0"/>
                </a:moveTo>
                <a:lnTo>
                  <a:pt x="16200" y="5400"/>
                </a:lnTo>
                <a:lnTo>
                  <a:pt x="3375" y="5400"/>
                </a:lnTo>
                <a:lnTo>
                  <a:pt x="3375" y="16200"/>
                </a:lnTo>
                <a:lnTo>
                  <a:pt x="16200" y="16200"/>
                </a:lnTo>
                <a:lnTo>
                  <a:pt x="16200" y="21600"/>
                </a:lnTo>
                <a:lnTo>
                  <a:pt x="21600" y="10800"/>
                </a:lnTo>
                <a:close/>
              </a:path>
              <a:path w="21600" h="21600">
                <a:moveTo>
                  <a:pt x="1350" y="5400"/>
                </a:moveTo>
                <a:lnTo>
                  <a:pt x="1350" y="16200"/>
                </a:lnTo>
                <a:lnTo>
                  <a:pt x="2700" y="16200"/>
                </a:lnTo>
                <a:lnTo>
                  <a:pt x="2700" y="5400"/>
                </a:lnTo>
                <a:close/>
              </a:path>
              <a:path w="21600" h="21600">
                <a:moveTo>
                  <a:pt x="0" y="5400"/>
                </a:moveTo>
                <a:lnTo>
                  <a:pt x="0" y="16200"/>
                </a:lnTo>
                <a:lnTo>
                  <a:pt x="675" y="16200"/>
                </a:lnTo>
                <a:lnTo>
                  <a:pt x="675" y="5400"/>
                </a:lnTo>
                <a:close/>
              </a:path>
            </a:pathLst>
          </a:custGeom>
          <a:solidFill>
            <a:srgbClr val="66FFFF"/>
          </a:solidFill>
          <a:ln w="12699">
            <a:solidFill>
              <a:schemeClr val="tx1"/>
            </a:solidFill>
            <a:miter lim="800000"/>
            <a:headEnd type="none" w="sm" len="sm"/>
            <a:tailEnd type="none" w="sm" len="sm"/>
          </a:ln>
          <a:effectLst/>
        </p:spPr>
        <p:txBody>
          <a:bodyPr wrap="none" anchor="ctr"/>
          <a:lstStyle/>
          <a:p>
            <a:pPr>
              <a:defRPr/>
            </a:pPr>
            <a:endParaRPr lang="zh-CN" altLang="en-US">
              <a:effectLst>
                <a:outerShdw blurRad="38100" dist="38100" dir="2700000" algn="tl">
                  <a:srgbClr val="FFFFFF"/>
                </a:outerShdw>
              </a:effectLst>
              <a:latin typeface="Times New Roman" pitchFamily="18" charset="0"/>
              <a:ea typeface="宋体" pitchFamily="2" charset="-122"/>
            </a:endParaRPr>
          </a:p>
        </p:txBody>
      </p:sp>
      <p:grpSp>
        <p:nvGrpSpPr>
          <p:cNvPr id="9" name="Group 11"/>
          <p:cNvGrpSpPr>
            <a:grpSpLocks/>
          </p:cNvGrpSpPr>
          <p:nvPr/>
        </p:nvGrpSpPr>
        <p:grpSpPr bwMode="auto">
          <a:xfrm>
            <a:off x="3078163" y="5214938"/>
            <a:ext cx="3733800" cy="1295400"/>
            <a:chOff x="1824" y="3168"/>
            <a:chExt cx="2352" cy="816"/>
          </a:xfrm>
        </p:grpSpPr>
        <p:sp>
          <p:nvSpPr>
            <p:cNvPr id="10" name="Rectangle 12"/>
            <p:cNvSpPr>
              <a:spLocks noChangeArrowheads="1"/>
            </p:cNvSpPr>
            <p:nvPr/>
          </p:nvSpPr>
          <p:spPr bwMode="auto">
            <a:xfrm>
              <a:off x="1824" y="3216"/>
              <a:ext cx="816" cy="336"/>
            </a:xfrm>
            <a:prstGeom prst="rect">
              <a:avLst/>
            </a:prstGeom>
            <a:solidFill>
              <a:schemeClr val="hlink"/>
            </a:solidFill>
            <a:ln w="12699">
              <a:solidFill>
                <a:schemeClr val="tx1"/>
              </a:solidFill>
              <a:miter lim="800000"/>
              <a:headEnd type="none" w="sm" len="sm"/>
              <a:tailEnd type="none" w="sm" len="sm"/>
            </a:ln>
            <a:effectLst/>
          </p:spPr>
          <p:txBody>
            <a:bodyPr wrap="none" anchor="ctr"/>
            <a:lstStyle>
              <a:lvl1pPr defTabSz="762000">
                <a:defRPr sz="2400">
                  <a:solidFill>
                    <a:schemeClr val="tx1"/>
                  </a:solidFill>
                  <a:latin typeface="Times New Roman" charset="0"/>
                  <a:ea typeface="宋体" charset="0"/>
                </a:defRPr>
              </a:lvl1pPr>
              <a:lvl2pPr marL="742950" indent="-285750" defTabSz="762000">
                <a:defRPr sz="2400">
                  <a:solidFill>
                    <a:schemeClr val="tx1"/>
                  </a:solidFill>
                  <a:latin typeface="Times New Roman" charset="0"/>
                  <a:ea typeface="宋体" charset="0"/>
                </a:defRPr>
              </a:lvl2pPr>
              <a:lvl3pPr marL="1143000" indent="-228600" defTabSz="762000">
                <a:defRPr sz="2400">
                  <a:solidFill>
                    <a:schemeClr val="tx1"/>
                  </a:solidFill>
                  <a:latin typeface="Times New Roman" charset="0"/>
                  <a:ea typeface="宋体" charset="0"/>
                </a:defRPr>
              </a:lvl3pPr>
              <a:lvl4pPr marL="1600200" indent="-228600" defTabSz="762000">
                <a:defRPr sz="2400">
                  <a:solidFill>
                    <a:schemeClr val="tx1"/>
                  </a:solidFill>
                  <a:latin typeface="Times New Roman" charset="0"/>
                  <a:ea typeface="宋体" charset="0"/>
                </a:defRPr>
              </a:lvl4pPr>
              <a:lvl5pPr marL="2057400" indent="-228600" defTabSz="762000">
                <a:defRPr sz="2400">
                  <a:solidFill>
                    <a:schemeClr val="tx1"/>
                  </a:solidFill>
                  <a:latin typeface="Times New Roman" charset="0"/>
                  <a:ea typeface="宋体" charset="0"/>
                </a:defRPr>
              </a:lvl5pPr>
              <a:lvl6pPr marL="2514600" indent="-228600" algn="ctr" defTabSz="7620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charset="0"/>
                  <a:ea typeface="宋体" charset="0"/>
                </a:defRPr>
              </a:lvl6pPr>
              <a:lvl7pPr marL="2971800" indent="-228600" algn="ctr" defTabSz="7620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charset="0"/>
                  <a:ea typeface="宋体" charset="0"/>
                </a:defRPr>
              </a:lvl7pPr>
              <a:lvl8pPr marL="3429000" indent="-228600" algn="ctr" defTabSz="7620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charset="0"/>
                  <a:ea typeface="宋体" charset="0"/>
                </a:defRPr>
              </a:lvl8pPr>
              <a:lvl9pPr marL="3886200" indent="-228600" algn="ctr" defTabSz="7620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charset="0"/>
                  <a:ea typeface="宋体" charset="0"/>
                </a:defRPr>
              </a:lvl9pPr>
            </a:lstStyle>
            <a:p>
              <a:r>
                <a:rPr kumimoji="1" lang="zh-CN" altLang="en-US" b="1">
                  <a:solidFill>
                    <a:srgbClr val="0000CC"/>
                  </a:solidFill>
                  <a:effectLst>
                    <a:outerShdw blurRad="38100" dist="38100" dir="2700000" algn="tl">
                      <a:srgbClr val="000000"/>
                    </a:outerShdw>
                  </a:effectLst>
                </a:rPr>
                <a:t>输入缓存</a:t>
              </a:r>
            </a:p>
          </p:txBody>
        </p:sp>
        <p:sp>
          <p:nvSpPr>
            <p:cNvPr id="11" name="AutoShape 13"/>
            <p:cNvSpPr>
              <a:spLocks noChangeArrowheads="1"/>
            </p:cNvSpPr>
            <p:nvPr/>
          </p:nvSpPr>
          <p:spPr bwMode="auto">
            <a:xfrm flipH="1">
              <a:off x="2544" y="3168"/>
              <a:ext cx="1488" cy="288"/>
            </a:xfrm>
            <a:prstGeom prst="curvedDownArrow">
              <a:avLst>
                <a:gd name="adj1" fmla="val 126823"/>
                <a:gd name="adj2" fmla="val 206667"/>
                <a:gd name="adj3" fmla="val 33333"/>
              </a:avLst>
            </a:prstGeom>
            <a:solidFill>
              <a:srgbClr val="0000CC"/>
            </a:solidFill>
            <a:ln w="12699">
              <a:solidFill>
                <a:schemeClr val="tx1"/>
              </a:solidFill>
              <a:miter lim="800000"/>
              <a:headEnd type="none" w="sm" len="sm"/>
              <a:tailEnd type="none" w="sm" len="sm"/>
            </a:ln>
            <a:effectLst/>
          </p:spPr>
          <p:txBody>
            <a:bodyPr wrap="none" anchor="ctr"/>
            <a:lstStyle/>
            <a:p>
              <a:pPr defTabSz="762000">
                <a:defRPr/>
              </a:pPr>
              <a:r>
                <a:rPr kumimoji="1" lang="en-US" altLang="zh-CN" sz="2800" b="1">
                  <a:solidFill>
                    <a:srgbClr val="00FFFF"/>
                  </a:solidFill>
                  <a:effectLst>
                    <a:outerShdw blurRad="38100" dist="38100" dir="2700000" algn="tl">
                      <a:srgbClr val="000000"/>
                    </a:outerShdw>
                  </a:effectLst>
                  <a:latin typeface="Times New Roman" pitchFamily="18" charset="0"/>
                  <a:ea typeface="宋体" pitchFamily="2" charset="-122"/>
                </a:rPr>
                <a:t>fp=fopen( .. )</a:t>
              </a:r>
              <a:endParaRPr kumimoji="1" lang="en-US" altLang="zh-CN">
                <a:solidFill>
                  <a:srgbClr val="00FFFF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Times New Roman" pitchFamily="18" charset="0"/>
                <a:ea typeface="宋体" pitchFamily="2" charset="-122"/>
              </a:endParaRPr>
            </a:p>
          </p:txBody>
        </p:sp>
        <p:sp>
          <p:nvSpPr>
            <p:cNvPr id="12" name="Rectangle 14"/>
            <p:cNvSpPr>
              <a:spLocks noChangeArrowheads="1"/>
            </p:cNvSpPr>
            <p:nvPr/>
          </p:nvSpPr>
          <p:spPr bwMode="auto">
            <a:xfrm>
              <a:off x="1824" y="3600"/>
              <a:ext cx="816" cy="336"/>
            </a:xfrm>
            <a:prstGeom prst="rect">
              <a:avLst/>
            </a:prstGeom>
            <a:solidFill>
              <a:srgbClr val="FF99FF"/>
            </a:solidFill>
            <a:ln w="12699">
              <a:solidFill>
                <a:srgbClr val="FF99FF"/>
              </a:solidFill>
              <a:miter lim="800000"/>
              <a:headEnd type="none" w="sm" len="sm"/>
              <a:tailEnd type="none" w="sm" len="sm"/>
            </a:ln>
            <a:effectLst/>
          </p:spPr>
          <p:txBody>
            <a:bodyPr wrap="none" anchor="ctr"/>
            <a:lstStyle>
              <a:lvl1pPr defTabSz="762000">
                <a:defRPr sz="2400">
                  <a:solidFill>
                    <a:schemeClr val="tx1"/>
                  </a:solidFill>
                  <a:latin typeface="Times New Roman" charset="0"/>
                  <a:ea typeface="宋体" charset="0"/>
                </a:defRPr>
              </a:lvl1pPr>
              <a:lvl2pPr marL="742950" indent="-285750" defTabSz="762000">
                <a:defRPr sz="2400">
                  <a:solidFill>
                    <a:schemeClr val="tx1"/>
                  </a:solidFill>
                  <a:latin typeface="Times New Roman" charset="0"/>
                  <a:ea typeface="宋体" charset="0"/>
                </a:defRPr>
              </a:lvl2pPr>
              <a:lvl3pPr marL="1143000" indent="-228600" defTabSz="762000">
                <a:defRPr sz="2400">
                  <a:solidFill>
                    <a:schemeClr val="tx1"/>
                  </a:solidFill>
                  <a:latin typeface="Times New Roman" charset="0"/>
                  <a:ea typeface="宋体" charset="0"/>
                </a:defRPr>
              </a:lvl3pPr>
              <a:lvl4pPr marL="1600200" indent="-228600" defTabSz="762000">
                <a:defRPr sz="2400">
                  <a:solidFill>
                    <a:schemeClr val="tx1"/>
                  </a:solidFill>
                  <a:latin typeface="Times New Roman" charset="0"/>
                  <a:ea typeface="宋体" charset="0"/>
                </a:defRPr>
              </a:lvl4pPr>
              <a:lvl5pPr marL="2057400" indent="-228600" defTabSz="762000">
                <a:defRPr sz="2400">
                  <a:solidFill>
                    <a:schemeClr val="tx1"/>
                  </a:solidFill>
                  <a:latin typeface="Times New Roman" charset="0"/>
                  <a:ea typeface="宋体" charset="0"/>
                </a:defRPr>
              </a:lvl5pPr>
              <a:lvl6pPr marL="2514600" indent="-228600" algn="ctr" defTabSz="7620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charset="0"/>
                  <a:ea typeface="宋体" charset="0"/>
                </a:defRPr>
              </a:lvl6pPr>
              <a:lvl7pPr marL="2971800" indent="-228600" algn="ctr" defTabSz="7620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charset="0"/>
                  <a:ea typeface="宋体" charset="0"/>
                </a:defRPr>
              </a:lvl7pPr>
              <a:lvl8pPr marL="3429000" indent="-228600" algn="ctr" defTabSz="7620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charset="0"/>
                  <a:ea typeface="宋体" charset="0"/>
                </a:defRPr>
              </a:lvl8pPr>
              <a:lvl9pPr marL="3886200" indent="-228600" algn="ctr" defTabSz="7620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charset="0"/>
                  <a:ea typeface="宋体" charset="0"/>
                </a:defRPr>
              </a:lvl9pPr>
            </a:lstStyle>
            <a:p>
              <a:r>
                <a:rPr kumimoji="1" lang="zh-CN" altLang="en-US" b="1">
                  <a:solidFill>
                    <a:srgbClr val="0000CC"/>
                  </a:solidFill>
                  <a:effectLst>
                    <a:outerShdw blurRad="38100" dist="38100" dir="2700000" algn="tl">
                      <a:srgbClr val="000000"/>
                    </a:outerShdw>
                  </a:effectLst>
                </a:rPr>
                <a:t>输出缓存</a:t>
              </a:r>
            </a:p>
          </p:txBody>
        </p:sp>
        <p:sp>
          <p:nvSpPr>
            <p:cNvPr id="13" name="AutoShape 15"/>
            <p:cNvSpPr>
              <a:spLocks noChangeArrowheads="1"/>
            </p:cNvSpPr>
            <p:nvPr/>
          </p:nvSpPr>
          <p:spPr bwMode="auto">
            <a:xfrm>
              <a:off x="2688" y="3744"/>
              <a:ext cx="1488" cy="240"/>
            </a:xfrm>
            <a:prstGeom prst="curvedUpArrow">
              <a:avLst>
                <a:gd name="adj1" fmla="val 124000"/>
                <a:gd name="adj2" fmla="val 248000"/>
                <a:gd name="adj3" fmla="val 33333"/>
              </a:avLst>
            </a:prstGeom>
            <a:solidFill>
              <a:schemeClr val="hlink"/>
            </a:solidFill>
            <a:ln w="12699">
              <a:solidFill>
                <a:schemeClr val="tx1"/>
              </a:solidFill>
              <a:miter lim="800000"/>
              <a:headEnd type="none" w="sm" len="sm"/>
              <a:tailEnd type="none" w="sm" len="sm"/>
            </a:ln>
            <a:effectLst/>
          </p:spPr>
          <p:txBody>
            <a:bodyPr wrap="none" anchor="ctr"/>
            <a:lstStyle/>
            <a:p>
              <a:pPr>
                <a:defRPr/>
              </a:pPr>
              <a:endParaRPr lang="zh-CN" altLang="en-US">
                <a:effectLst>
                  <a:outerShdw blurRad="38100" dist="38100" dir="2700000" algn="tl">
                    <a:srgbClr val="FFFFFF"/>
                  </a:outerShdw>
                </a:effectLst>
                <a:latin typeface="Times New Roman" pitchFamily="18" charset="0"/>
                <a:ea typeface="宋体" pitchFamily="2" charset="-122"/>
              </a:endParaRPr>
            </a:p>
          </p:txBody>
        </p:sp>
      </p:grpSp>
      <p:sp>
        <p:nvSpPr>
          <p:cNvPr id="14" name="AutoShape 16"/>
          <p:cNvSpPr>
            <a:spLocks noChangeArrowheads="1"/>
          </p:cNvSpPr>
          <p:nvPr/>
        </p:nvSpPr>
        <p:spPr bwMode="auto">
          <a:xfrm>
            <a:off x="2197100" y="5905500"/>
            <a:ext cx="914400" cy="381000"/>
          </a:xfrm>
          <a:prstGeom prst="notchedRightArrow">
            <a:avLst>
              <a:gd name="adj1" fmla="val 50000"/>
              <a:gd name="adj2" fmla="val 60000"/>
            </a:avLst>
          </a:prstGeom>
          <a:solidFill>
            <a:schemeClr val="hlink"/>
          </a:solidFill>
          <a:ln w="12699">
            <a:solidFill>
              <a:schemeClr val="tx1"/>
            </a:solidFill>
            <a:miter lim="800000"/>
            <a:headEnd type="none" w="sm" len="sm"/>
            <a:tailEnd type="none" w="sm" len="sm"/>
          </a:ln>
          <a:effectLst/>
        </p:spPr>
        <p:txBody>
          <a:bodyPr wrap="none" anchor="ctr"/>
          <a:lstStyle/>
          <a:p>
            <a:pPr>
              <a:defRPr/>
            </a:pPr>
            <a:endParaRPr lang="zh-CN" altLang="en-US">
              <a:effectLst>
                <a:outerShdw blurRad="38100" dist="38100" dir="2700000" algn="tl">
                  <a:srgbClr val="FFFFFF"/>
                </a:outerShdw>
              </a:effectLst>
              <a:latin typeface="Times New Roman" pitchFamily="18" charset="0"/>
              <a:ea typeface="宋体" pitchFamily="2" charset="-122"/>
            </a:endParaRPr>
          </a:p>
        </p:txBody>
      </p:sp>
      <p:grpSp>
        <p:nvGrpSpPr>
          <p:cNvPr id="15" name="Group 17"/>
          <p:cNvGrpSpPr>
            <a:grpSpLocks/>
          </p:cNvGrpSpPr>
          <p:nvPr/>
        </p:nvGrpSpPr>
        <p:grpSpPr bwMode="auto">
          <a:xfrm>
            <a:off x="2214563" y="5143500"/>
            <a:ext cx="4495800" cy="1371600"/>
            <a:chOff x="1248" y="3168"/>
            <a:chExt cx="2832" cy="864"/>
          </a:xfrm>
        </p:grpSpPr>
        <p:sp>
          <p:nvSpPr>
            <p:cNvPr id="16" name="Rectangle 18"/>
            <p:cNvSpPr>
              <a:spLocks noChangeArrowheads="1"/>
            </p:cNvSpPr>
            <p:nvPr/>
          </p:nvSpPr>
          <p:spPr bwMode="auto">
            <a:xfrm>
              <a:off x="1248" y="3168"/>
              <a:ext cx="1440" cy="816"/>
            </a:xfrm>
            <a:prstGeom prst="rect">
              <a:avLst/>
            </a:prstGeom>
            <a:solidFill>
              <a:schemeClr val="accent1"/>
            </a:solidFill>
            <a:ln w="12699">
              <a:noFill/>
              <a:miter lim="800000"/>
              <a:headEnd type="none" w="sm" len="sm"/>
              <a:tailEnd type="none" w="sm" len="sm"/>
            </a:ln>
            <a:effectLst/>
          </p:spPr>
          <p:txBody>
            <a:bodyPr wrap="none" anchor="ctr"/>
            <a:lstStyle/>
            <a:p>
              <a:pPr>
                <a:defRPr/>
              </a:pPr>
              <a:endParaRPr lang="zh-CN" altLang="zh-CN">
                <a:solidFill>
                  <a:srgbClr val="0000CC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Times New Roman" pitchFamily="18" charset="0"/>
                <a:ea typeface="宋体" pitchFamily="2" charset="-122"/>
              </a:endParaRPr>
            </a:p>
          </p:txBody>
        </p:sp>
        <p:sp>
          <p:nvSpPr>
            <p:cNvPr id="17" name="Rectangle 19"/>
            <p:cNvSpPr>
              <a:spLocks noChangeArrowheads="1"/>
            </p:cNvSpPr>
            <p:nvPr/>
          </p:nvSpPr>
          <p:spPr bwMode="auto">
            <a:xfrm>
              <a:off x="2688" y="3168"/>
              <a:ext cx="1392" cy="864"/>
            </a:xfrm>
            <a:prstGeom prst="rect">
              <a:avLst/>
            </a:prstGeom>
            <a:solidFill>
              <a:srgbClr val="333399"/>
            </a:solidFill>
            <a:ln w="12699">
              <a:noFill/>
              <a:miter lim="800000"/>
              <a:headEnd type="none" w="sm" len="sm"/>
              <a:tailEnd type="none" w="sm" len="sm"/>
            </a:ln>
            <a:effectLst/>
          </p:spPr>
          <p:txBody>
            <a:bodyPr wrap="none" anchor="ctr"/>
            <a:lstStyle/>
            <a:p>
              <a:pPr defTabSz="762000">
                <a:defRPr/>
              </a:pPr>
              <a:r>
                <a:rPr kumimoji="1" lang="en-US" altLang="zh-CN" sz="2800" b="1">
                  <a:solidFill>
                    <a:srgbClr val="FFFF00"/>
                  </a:solidFill>
                  <a:effectLst>
                    <a:outerShdw blurRad="38100" dist="38100" dir="2700000" algn="tl">
                      <a:srgbClr val="000000"/>
                    </a:outerShdw>
                  </a:effectLst>
                  <a:latin typeface="宋体" pitchFamily="2" charset="-122"/>
                  <a:ea typeface="宋体" pitchFamily="2" charset="-122"/>
                </a:rPr>
                <a:t>fclose(fp)</a:t>
              </a:r>
            </a:p>
          </p:txBody>
        </p:sp>
      </p:grp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4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7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 nodeType="clickPar">
                      <p:stCondLst>
                        <p:cond delay="indefinite"/>
                      </p:stCondLst>
                      <p:childTnLst>
                        <p:par>
                          <p:cTn id="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" presetID="17" presetClass="entr" presetSubtype="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2" dur="5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3" dur="5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4" dur="5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5" dur="5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" fill="hold" nodeType="clickPar">
                      <p:stCondLst>
                        <p:cond delay="indefinite"/>
                      </p:stCondLst>
                      <p:childTnLst>
                        <p:par>
                          <p:cTn id="17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8" presetID="17" presetClass="entr" presetSubtype="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0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1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2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3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" fill="hold" nodeType="clickPar">
                      <p:stCondLst>
                        <p:cond delay="indefinite"/>
                      </p:stCondLst>
                      <p:childTnLst>
                        <p:par>
                          <p:cTn id="25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6" presetID="17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8" dur="5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9" dur="5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0" dur="5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1" dur="5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2" fill="hold" nodeType="clickPar">
                      <p:stCondLst>
                        <p:cond delay="indefinite"/>
                      </p:stCondLst>
                      <p:childTnLst>
                        <p:par>
                          <p:cTn id="33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4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36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4" grpId="0" animBg="1"/>
    </p:bld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文件关闭举例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>
            <a:normAutofit fontScale="85000" lnSpcReduction="20000"/>
          </a:bodyPr>
          <a:lstStyle/>
          <a:p>
            <a:pPr>
              <a:lnSpc>
                <a:spcPct val="150000"/>
              </a:lnSpc>
              <a:buFont typeface="Monotype Sorts" charset="2"/>
              <a:buNone/>
              <a:defRPr/>
            </a:pPr>
            <a:r>
              <a:rPr lang="en-US" altLang="zh-CN" sz="2000">
                <a:solidFill>
                  <a:schemeClr val="tx1"/>
                </a:solidFill>
                <a:latin typeface="Courier New" pitchFamily="49" charset="0"/>
                <a:ea typeface="宋体" pitchFamily="2" charset="-122"/>
              </a:rPr>
              <a:t>FILE *fp;</a:t>
            </a:r>
          </a:p>
          <a:p>
            <a:pPr>
              <a:lnSpc>
                <a:spcPct val="150000"/>
              </a:lnSpc>
              <a:buFont typeface="Monotype Sorts" charset="2"/>
              <a:buNone/>
              <a:defRPr/>
            </a:pPr>
            <a:r>
              <a:rPr lang="en-US" altLang="zh-CN" sz="2000">
                <a:solidFill>
                  <a:schemeClr val="tx1"/>
                </a:solidFill>
                <a:latin typeface="Courier New" pitchFamily="49" charset="0"/>
                <a:ea typeface="宋体" pitchFamily="2" charset="-122"/>
              </a:rPr>
              <a:t>char file[]="D:\\USER\\STUDENTS.DAT";</a:t>
            </a:r>
          </a:p>
          <a:p>
            <a:pPr>
              <a:lnSpc>
                <a:spcPct val="150000"/>
              </a:lnSpc>
              <a:buFont typeface="Monotype Sorts" charset="2"/>
              <a:buNone/>
              <a:defRPr/>
            </a:pPr>
            <a:r>
              <a:rPr lang="en-US" altLang="zh-CN" sz="2000">
                <a:solidFill>
                  <a:schemeClr val="tx1"/>
                </a:solidFill>
                <a:latin typeface="Courier New" pitchFamily="49" charset="0"/>
                <a:ea typeface="宋体" pitchFamily="2" charset="-122"/>
              </a:rPr>
              <a:t>if (!(fp=fopen(file, "rb+"))) {</a:t>
            </a:r>
          </a:p>
          <a:p>
            <a:pPr>
              <a:lnSpc>
                <a:spcPct val="150000"/>
              </a:lnSpc>
              <a:buFont typeface="Monotype Sorts" charset="2"/>
              <a:buNone/>
              <a:defRPr/>
            </a:pPr>
            <a:r>
              <a:rPr lang="en-US" altLang="zh-CN" sz="2000">
                <a:solidFill>
                  <a:schemeClr val="tx1"/>
                </a:solidFill>
                <a:latin typeface="Courier New" pitchFamily="49" charset="0"/>
                <a:ea typeface="宋体" pitchFamily="2" charset="-122"/>
              </a:rPr>
              <a:t>    printf("Open file %s error!\n", file);</a:t>
            </a:r>
          </a:p>
          <a:p>
            <a:pPr>
              <a:lnSpc>
                <a:spcPct val="150000"/>
              </a:lnSpc>
              <a:buFont typeface="Monotype Sorts" charset="2"/>
              <a:buNone/>
              <a:defRPr/>
            </a:pPr>
            <a:r>
              <a:rPr lang="en-US" altLang="zh-CN" sz="2000">
                <a:solidFill>
                  <a:schemeClr val="tx1"/>
                </a:solidFill>
                <a:latin typeface="Courier New" pitchFamily="49" charset="0"/>
                <a:ea typeface="宋体" pitchFamily="2" charset="-122"/>
              </a:rPr>
              <a:t>    exit(0);</a:t>
            </a:r>
          </a:p>
          <a:p>
            <a:pPr>
              <a:lnSpc>
                <a:spcPct val="150000"/>
              </a:lnSpc>
              <a:buFont typeface="Monotype Sorts" charset="2"/>
              <a:buNone/>
              <a:defRPr/>
            </a:pPr>
            <a:r>
              <a:rPr lang="en-US" altLang="zh-CN" sz="2000">
                <a:solidFill>
                  <a:schemeClr val="tx1"/>
                </a:solidFill>
                <a:latin typeface="Courier New" pitchFamily="49" charset="0"/>
                <a:ea typeface="宋体" pitchFamily="2" charset="-122"/>
              </a:rPr>
              <a:t>    }</a:t>
            </a:r>
          </a:p>
          <a:p>
            <a:pPr>
              <a:lnSpc>
                <a:spcPct val="150000"/>
              </a:lnSpc>
              <a:buFont typeface="Monotype Sorts" charset="2"/>
              <a:buNone/>
              <a:defRPr/>
            </a:pPr>
            <a:r>
              <a:rPr lang="en-US" altLang="zh-CN" sz="2000">
                <a:solidFill>
                  <a:schemeClr val="tx1"/>
                </a:solidFill>
                <a:latin typeface="Courier New" pitchFamily="49" charset="0"/>
                <a:ea typeface="宋体" pitchFamily="2" charset="-122"/>
              </a:rPr>
              <a:t>... ...</a:t>
            </a:r>
          </a:p>
          <a:p>
            <a:pPr>
              <a:lnSpc>
                <a:spcPct val="150000"/>
              </a:lnSpc>
              <a:buFont typeface="Monotype Sorts" charset="2"/>
              <a:buNone/>
              <a:defRPr/>
            </a:pPr>
            <a:r>
              <a:rPr lang="en-US" altLang="zh-CN" sz="2000">
                <a:solidFill>
                  <a:srgbClr val="0000E7"/>
                </a:solidFill>
                <a:latin typeface="Courier New" pitchFamily="49" charset="0"/>
                <a:ea typeface="宋体" pitchFamily="2" charset="-122"/>
              </a:rPr>
              <a:t>fclose(fp);</a:t>
            </a:r>
          </a:p>
          <a:p>
            <a:pPr>
              <a:defRPr/>
            </a:pPr>
            <a:endParaRPr lang="zh-CN" altLang="en-US">
              <a:ea typeface="宋体" pitchFamily="2" charset="-122"/>
            </a:endParaRP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85800" y="484632"/>
            <a:ext cx="7772400" cy="1144168"/>
          </a:xfrm>
        </p:spPr>
        <p:txBody>
          <a:bodyPr/>
          <a:lstStyle/>
          <a:p>
            <a:r>
              <a:rPr lang="zh-CN" altLang="en-US"/>
              <a:t>文件读写函数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685800" y="1484313"/>
            <a:ext cx="8243888" cy="4611687"/>
          </a:xfrm>
        </p:spPr>
        <p:txBody>
          <a:bodyPr/>
          <a:lstStyle/>
          <a:p>
            <a:pPr marL="360363" indent="-360363">
              <a:lnSpc>
                <a:spcPct val="110000"/>
              </a:lnSpc>
              <a:buClr>
                <a:srgbClr val="00FFFF"/>
              </a:buClr>
              <a:buFont typeface="Wingdings 3" charset="2"/>
              <a:buChar char="è"/>
            </a:pPr>
            <a:r>
              <a:rPr kumimoji="1" lang="zh-CN" altLang="en-US" dirty="0">
                <a:latin typeface="宋体" charset="0"/>
              </a:rPr>
              <a:t>标准输入输出使用终端设备文件，这些设备文件由系统自动打开和关闭，只要调用库函数即可。</a:t>
            </a:r>
          </a:p>
          <a:p>
            <a:pPr marL="628650" lvl="1">
              <a:lnSpc>
                <a:spcPct val="90000"/>
              </a:lnSpc>
            </a:pPr>
            <a:r>
              <a:rPr kumimoji="1" lang="en-US" altLang="zh-CN" dirty="0" err="1">
                <a:latin typeface="宋体" charset="0"/>
              </a:rPr>
              <a:t>getchar</a:t>
            </a:r>
            <a:r>
              <a:rPr kumimoji="1" lang="en-US" altLang="zh-CN" dirty="0">
                <a:latin typeface="宋体" charset="0"/>
              </a:rPr>
              <a:t>()     gets()     </a:t>
            </a:r>
            <a:r>
              <a:rPr kumimoji="1" lang="en-US" altLang="zh-CN" dirty="0" err="1">
                <a:latin typeface="宋体" charset="0"/>
              </a:rPr>
              <a:t>scanf</a:t>
            </a:r>
            <a:r>
              <a:rPr kumimoji="1" lang="en-US" altLang="zh-CN" dirty="0">
                <a:latin typeface="宋体" charset="0"/>
              </a:rPr>
              <a:t>()</a:t>
            </a:r>
          </a:p>
          <a:p>
            <a:pPr marL="628650" lvl="1">
              <a:lnSpc>
                <a:spcPct val="90000"/>
              </a:lnSpc>
            </a:pPr>
            <a:r>
              <a:rPr kumimoji="1" lang="en-US" altLang="zh-CN" dirty="0" err="1">
                <a:latin typeface="宋体" charset="0"/>
              </a:rPr>
              <a:t>putchar</a:t>
            </a:r>
            <a:r>
              <a:rPr kumimoji="1" lang="en-US" altLang="zh-CN" dirty="0">
                <a:latin typeface="宋体" charset="0"/>
              </a:rPr>
              <a:t>()     puts()     </a:t>
            </a:r>
            <a:r>
              <a:rPr kumimoji="1" lang="en-US" altLang="zh-CN" dirty="0" err="1">
                <a:latin typeface="宋体" charset="0"/>
              </a:rPr>
              <a:t>printf</a:t>
            </a:r>
            <a:r>
              <a:rPr kumimoji="1" lang="en-US" altLang="zh-CN" dirty="0">
                <a:latin typeface="宋体" charset="0"/>
              </a:rPr>
              <a:t>()</a:t>
            </a:r>
          </a:p>
          <a:p>
            <a:pPr marL="360363" indent="-360363">
              <a:lnSpc>
                <a:spcPct val="110000"/>
              </a:lnSpc>
              <a:buClr>
                <a:srgbClr val="00FFFF"/>
              </a:buClr>
              <a:buFont typeface="Wingdings 3" charset="2"/>
              <a:buChar char="è"/>
            </a:pPr>
            <a:r>
              <a:rPr kumimoji="1" lang="zh-CN" altLang="en-US" dirty="0">
                <a:latin typeface="宋体" charset="0"/>
              </a:rPr>
              <a:t>文件输入输出使用一般文件，也可调用对应库函数实现，只是要人工定义文件指针、打开文件及关闭文件。如：</a:t>
            </a:r>
          </a:p>
          <a:p>
            <a:pPr marL="628650" lvl="1">
              <a:lnSpc>
                <a:spcPct val="110000"/>
              </a:lnSpc>
            </a:pPr>
            <a:r>
              <a:rPr kumimoji="1" lang="en-US" altLang="zh-CN" dirty="0">
                <a:solidFill>
                  <a:srgbClr val="FFC000"/>
                </a:solidFill>
                <a:latin typeface="宋体" charset="0"/>
              </a:rPr>
              <a:t>FILE *</a:t>
            </a:r>
            <a:r>
              <a:rPr kumimoji="1" lang="en-US" altLang="zh-CN" dirty="0" err="1">
                <a:solidFill>
                  <a:srgbClr val="FFC000"/>
                </a:solidFill>
                <a:latin typeface="宋体" charset="0"/>
              </a:rPr>
              <a:t>fp</a:t>
            </a:r>
            <a:r>
              <a:rPr kumimoji="1" lang="en-US" altLang="zh-CN" dirty="0">
                <a:solidFill>
                  <a:srgbClr val="FFC000"/>
                </a:solidFill>
                <a:latin typeface="宋体" charset="0"/>
              </a:rPr>
              <a:t>;  </a:t>
            </a:r>
            <a:r>
              <a:rPr kumimoji="1" lang="en-US" altLang="zh-CN" dirty="0" err="1">
                <a:solidFill>
                  <a:srgbClr val="FFC000"/>
                </a:solidFill>
                <a:latin typeface="宋体" charset="0"/>
              </a:rPr>
              <a:t>fp</a:t>
            </a:r>
            <a:r>
              <a:rPr kumimoji="1" lang="en-US" altLang="zh-CN" dirty="0">
                <a:solidFill>
                  <a:srgbClr val="FFC000"/>
                </a:solidFill>
                <a:latin typeface="宋体" charset="0"/>
              </a:rPr>
              <a:t>=</a:t>
            </a:r>
            <a:r>
              <a:rPr kumimoji="1" lang="en-US" altLang="zh-CN" dirty="0" err="1">
                <a:solidFill>
                  <a:srgbClr val="FFC000"/>
                </a:solidFill>
                <a:latin typeface="宋体" charset="0"/>
              </a:rPr>
              <a:t>fpoen</a:t>
            </a:r>
            <a:r>
              <a:rPr kumimoji="1" lang="en-US" altLang="zh-CN" dirty="0">
                <a:solidFill>
                  <a:srgbClr val="FFC000"/>
                </a:solidFill>
                <a:latin typeface="宋体" charset="0"/>
              </a:rPr>
              <a:t>(…)</a:t>
            </a:r>
          </a:p>
          <a:p>
            <a:pPr marL="628650" lvl="1">
              <a:lnSpc>
                <a:spcPct val="110000"/>
              </a:lnSpc>
            </a:pPr>
            <a:r>
              <a:rPr kumimoji="1" lang="en-US" altLang="zh-CN" dirty="0" err="1">
                <a:solidFill>
                  <a:srgbClr val="FFC000"/>
                </a:solidFill>
                <a:latin typeface="宋体" charset="0"/>
              </a:rPr>
              <a:t>fgetc</a:t>
            </a:r>
            <a:r>
              <a:rPr kumimoji="1" lang="en-US" altLang="zh-CN" dirty="0">
                <a:solidFill>
                  <a:srgbClr val="FFC000"/>
                </a:solidFill>
                <a:latin typeface="宋体" charset="0"/>
              </a:rPr>
              <a:t>(</a:t>
            </a:r>
            <a:r>
              <a:rPr kumimoji="1" lang="en-US" altLang="zh-CN" dirty="0" err="1">
                <a:solidFill>
                  <a:srgbClr val="FFC000"/>
                </a:solidFill>
                <a:latin typeface="宋体" charset="0"/>
              </a:rPr>
              <a:t>fp</a:t>
            </a:r>
            <a:r>
              <a:rPr kumimoji="1" lang="en-US" altLang="zh-CN" dirty="0">
                <a:solidFill>
                  <a:srgbClr val="FFC000"/>
                </a:solidFill>
                <a:latin typeface="宋体" charset="0"/>
              </a:rPr>
              <a:t>)  </a:t>
            </a:r>
            <a:r>
              <a:rPr kumimoji="1" lang="en-US" altLang="zh-CN" dirty="0" err="1">
                <a:solidFill>
                  <a:srgbClr val="FFC000"/>
                </a:solidFill>
                <a:latin typeface="宋体" charset="0"/>
              </a:rPr>
              <a:t>fgets</a:t>
            </a:r>
            <a:r>
              <a:rPr kumimoji="1" lang="en-US" altLang="zh-CN" dirty="0">
                <a:solidFill>
                  <a:srgbClr val="FFC000"/>
                </a:solidFill>
                <a:latin typeface="宋体" charset="0"/>
              </a:rPr>
              <a:t>(</a:t>
            </a:r>
            <a:r>
              <a:rPr kumimoji="1" lang="en-US" altLang="zh-CN" dirty="0" err="1">
                <a:solidFill>
                  <a:srgbClr val="FFC000"/>
                </a:solidFill>
                <a:latin typeface="宋体" charset="0"/>
              </a:rPr>
              <a:t>fp</a:t>
            </a:r>
            <a:r>
              <a:rPr kumimoji="1" lang="en-US" altLang="zh-CN" dirty="0">
                <a:solidFill>
                  <a:srgbClr val="FFC000"/>
                </a:solidFill>
                <a:latin typeface="宋体" charset="0"/>
              </a:rPr>
              <a:t>)  </a:t>
            </a:r>
            <a:r>
              <a:rPr kumimoji="1" lang="en-US" altLang="zh-CN" dirty="0" err="1">
                <a:solidFill>
                  <a:srgbClr val="FFC000"/>
                </a:solidFill>
                <a:latin typeface="宋体" charset="0"/>
              </a:rPr>
              <a:t>fscanf</a:t>
            </a:r>
            <a:r>
              <a:rPr kumimoji="1" lang="en-US" altLang="zh-CN" dirty="0">
                <a:solidFill>
                  <a:srgbClr val="FFC000"/>
                </a:solidFill>
                <a:latin typeface="宋体" charset="0"/>
              </a:rPr>
              <a:t>(</a:t>
            </a:r>
            <a:r>
              <a:rPr kumimoji="1" lang="en-US" altLang="zh-CN" dirty="0" err="1">
                <a:solidFill>
                  <a:srgbClr val="FFC000"/>
                </a:solidFill>
                <a:latin typeface="宋体" charset="0"/>
              </a:rPr>
              <a:t>fp</a:t>
            </a:r>
            <a:r>
              <a:rPr kumimoji="1" lang="en-US" altLang="zh-CN" dirty="0">
                <a:solidFill>
                  <a:srgbClr val="FFC000"/>
                </a:solidFill>
                <a:latin typeface="宋体" charset="0"/>
              </a:rPr>
              <a:t>)  </a:t>
            </a:r>
            <a:r>
              <a:rPr kumimoji="1" lang="en-US" altLang="zh-CN" dirty="0" err="1">
                <a:solidFill>
                  <a:srgbClr val="FFC000"/>
                </a:solidFill>
                <a:latin typeface="宋体" charset="0"/>
              </a:rPr>
              <a:t>fread</a:t>
            </a:r>
            <a:r>
              <a:rPr kumimoji="1" lang="en-US" altLang="zh-CN" dirty="0">
                <a:solidFill>
                  <a:srgbClr val="FFC000"/>
                </a:solidFill>
                <a:latin typeface="宋体" charset="0"/>
              </a:rPr>
              <a:t>(</a:t>
            </a:r>
            <a:r>
              <a:rPr kumimoji="1" lang="en-US" altLang="zh-CN" dirty="0" err="1">
                <a:solidFill>
                  <a:srgbClr val="FFC000"/>
                </a:solidFill>
                <a:latin typeface="宋体" charset="0"/>
              </a:rPr>
              <a:t>fp</a:t>
            </a:r>
            <a:r>
              <a:rPr kumimoji="1" lang="en-US" altLang="zh-CN" dirty="0">
                <a:solidFill>
                  <a:srgbClr val="FFC000"/>
                </a:solidFill>
                <a:latin typeface="宋体" charset="0"/>
              </a:rPr>
              <a:t>) </a:t>
            </a:r>
          </a:p>
          <a:p>
            <a:pPr marL="628650" lvl="1">
              <a:lnSpc>
                <a:spcPct val="110000"/>
              </a:lnSpc>
            </a:pPr>
            <a:r>
              <a:rPr kumimoji="1" lang="en-US" altLang="zh-CN" dirty="0" err="1">
                <a:solidFill>
                  <a:srgbClr val="FFC000"/>
                </a:solidFill>
                <a:latin typeface="宋体" charset="0"/>
              </a:rPr>
              <a:t>fputc</a:t>
            </a:r>
            <a:r>
              <a:rPr kumimoji="1" lang="en-US" altLang="zh-CN" dirty="0">
                <a:solidFill>
                  <a:srgbClr val="FFC000"/>
                </a:solidFill>
                <a:latin typeface="宋体" charset="0"/>
              </a:rPr>
              <a:t>(</a:t>
            </a:r>
            <a:r>
              <a:rPr kumimoji="1" lang="en-US" altLang="zh-CN" dirty="0" err="1">
                <a:solidFill>
                  <a:srgbClr val="FFC000"/>
                </a:solidFill>
                <a:latin typeface="宋体" charset="0"/>
              </a:rPr>
              <a:t>fp</a:t>
            </a:r>
            <a:r>
              <a:rPr kumimoji="1" lang="en-US" altLang="zh-CN" dirty="0">
                <a:solidFill>
                  <a:srgbClr val="FFC000"/>
                </a:solidFill>
                <a:latin typeface="宋体" charset="0"/>
              </a:rPr>
              <a:t>)  </a:t>
            </a:r>
            <a:r>
              <a:rPr kumimoji="1" lang="en-US" altLang="zh-CN" dirty="0" err="1">
                <a:solidFill>
                  <a:srgbClr val="FFC000"/>
                </a:solidFill>
                <a:latin typeface="宋体" charset="0"/>
              </a:rPr>
              <a:t>fputs</a:t>
            </a:r>
            <a:r>
              <a:rPr kumimoji="1" lang="en-US" altLang="zh-CN" dirty="0">
                <a:solidFill>
                  <a:srgbClr val="FFC000"/>
                </a:solidFill>
                <a:latin typeface="宋体" charset="0"/>
              </a:rPr>
              <a:t>(</a:t>
            </a:r>
            <a:r>
              <a:rPr kumimoji="1" lang="en-US" altLang="zh-CN" dirty="0" err="1">
                <a:solidFill>
                  <a:srgbClr val="FFC000"/>
                </a:solidFill>
                <a:latin typeface="宋体" charset="0"/>
              </a:rPr>
              <a:t>fp</a:t>
            </a:r>
            <a:r>
              <a:rPr kumimoji="1" lang="en-US" altLang="zh-CN" dirty="0">
                <a:solidFill>
                  <a:srgbClr val="FFC000"/>
                </a:solidFill>
                <a:latin typeface="宋体" charset="0"/>
              </a:rPr>
              <a:t>) </a:t>
            </a:r>
            <a:r>
              <a:rPr kumimoji="1" lang="en-US" altLang="zh-CN" dirty="0" err="1">
                <a:solidFill>
                  <a:srgbClr val="FFC000"/>
                </a:solidFill>
                <a:latin typeface="宋体" charset="0"/>
              </a:rPr>
              <a:t>fprintf</a:t>
            </a:r>
            <a:r>
              <a:rPr kumimoji="1" lang="en-US" altLang="zh-CN" dirty="0">
                <a:solidFill>
                  <a:srgbClr val="FFC000"/>
                </a:solidFill>
                <a:latin typeface="宋体" charset="0"/>
              </a:rPr>
              <a:t>(</a:t>
            </a:r>
            <a:r>
              <a:rPr kumimoji="1" lang="en-US" altLang="zh-CN" dirty="0" err="1">
                <a:solidFill>
                  <a:srgbClr val="FFC000"/>
                </a:solidFill>
                <a:latin typeface="宋体" charset="0"/>
              </a:rPr>
              <a:t>fp</a:t>
            </a:r>
            <a:r>
              <a:rPr kumimoji="1" lang="en-US" altLang="zh-CN" dirty="0">
                <a:solidFill>
                  <a:srgbClr val="FFC000"/>
                </a:solidFill>
                <a:latin typeface="宋体" charset="0"/>
              </a:rPr>
              <a:t>) </a:t>
            </a:r>
            <a:r>
              <a:rPr kumimoji="1" lang="en-US" altLang="zh-CN" dirty="0" err="1">
                <a:solidFill>
                  <a:srgbClr val="FFC000"/>
                </a:solidFill>
                <a:latin typeface="宋体" charset="0"/>
              </a:rPr>
              <a:t>fwrite</a:t>
            </a:r>
            <a:r>
              <a:rPr kumimoji="1" lang="en-US" altLang="zh-CN" dirty="0">
                <a:solidFill>
                  <a:srgbClr val="FFC000"/>
                </a:solidFill>
                <a:latin typeface="宋体" charset="0"/>
              </a:rPr>
              <a:t>(</a:t>
            </a:r>
            <a:r>
              <a:rPr kumimoji="1" lang="en-US" altLang="zh-CN" dirty="0" err="1">
                <a:solidFill>
                  <a:srgbClr val="FFC000"/>
                </a:solidFill>
                <a:latin typeface="宋体" charset="0"/>
              </a:rPr>
              <a:t>fp</a:t>
            </a:r>
            <a:r>
              <a:rPr kumimoji="1" lang="en-US" altLang="zh-CN" dirty="0">
                <a:solidFill>
                  <a:srgbClr val="FFC000"/>
                </a:solidFill>
                <a:latin typeface="宋体" charset="0"/>
              </a:rPr>
              <a:t>)</a:t>
            </a:r>
          </a:p>
          <a:p>
            <a:pPr marL="628650" lvl="1">
              <a:lnSpc>
                <a:spcPct val="110000"/>
              </a:lnSpc>
            </a:pPr>
            <a:r>
              <a:rPr kumimoji="1" lang="en-US" altLang="zh-CN" dirty="0" err="1">
                <a:solidFill>
                  <a:srgbClr val="FFC000"/>
                </a:solidFill>
                <a:latin typeface="宋体" charset="0"/>
              </a:rPr>
              <a:t>fclose</a:t>
            </a:r>
            <a:r>
              <a:rPr kumimoji="1" lang="en-US" altLang="zh-CN" dirty="0">
                <a:solidFill>
                  <a:srgbClr val="FFC000"/>
                </a:solidFill>
                <a:latin typeface="宋体" charset="0"/>
              </a:rPr>
              <a:t>(</a:t>
            </a:r>
            <a:r>
              <a:rPr kumimoji="1" lang="en-US" altLang="zh-CN" dirty="0" err="1">
                <a:solidFill>
                  <a:srgbClr val="FFC000"/>
                </a:solidFill>
                <a:latin typeface="宋体" charset="0"/>
              </a:rPr>
              <a:t>fp</a:t>
            </a:r>
            <a:r>
              <a:rPr kumimoji="1" lang="en-US" altLang="zh-CN" dirty="0">
                <a:solidFill>
                  <a:srgbClr val="FFC000"/>
                </a:solidFill>
                <a:latin typeface="宋体" charset="0"/>
              </a:rPr>
              <a:t>)</a:t>
            </a:r>
            <a:endParaRPr lang="zh-CN" altLang="en-US" dirty="0">
              <a:solidFill>
                <a:srgbClr val="FFC000"/>
              </a:solidFill>
            </a:endParaRP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/>
            </a:pPr>
            <a:r>
              <a:rPr lang="en-US" altLang="zh-CN" dirty="0" err="1">
                <a:cs typeface="+mj-cs"/>
              </a:rPr>
              <a:t>feof</a:t>
            </a:r>
            <a:r>
              <a:rPr lang="zh-CN" altLang="en-US" dirty="0">
                <a:cs typeface="+mj-cs"/>
              </a:rPr>
              <a:t>函数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zh-CN" altLang="en-US"/>
              <a:t>函数原型： </a:t>
            </a:r>
            <a:r>
              <a:rPr lang="en-US" altLang="zh-CN">
                <a:solidFill>
                  <a:srgbClr val="0000FF"/>
                </a:solidFill>
                <a:latin typeface="Courier New" charset="0"/>
              </a:rPr>
              <a:t>int</a:t>
            </a:r>
            <a:r>
              <a:rPr lang="en-US" altLang="zh-CN">
                <a:solidFill>
                  <a:srgbClr val="000000"/>
                </a:solidFill>
                <a:latin typeface="Courier New" charset="0"/>
              </a:rPr>
              <a:t> feof(FILE *fp);</a:t>
            </a:r>
          </a:p>
          <a:p>
            <a:r>
              <a:rPr lang="zh-CN" altLang="en-US"/>
              <a:t>函数功能：判断文件是否结束</a:t>
            </a:r>
            <a:endParaRPr lang="en-US" altLang="zh-CN"/>
          </a:p>
          <a:p>
            <a:pPr eaLnBrk="1" hangingPunct="1">
              <a:buClr>
                <a:srgbClr val="FFCC00"/>
              </a:buClr>
            </a:pPr>
            <a:r>
              <a:rPr lang="zh-CN" altLang="en-US"/>
              <a:t>函数返回值：文件结束，返回真（非</a:t>
            </a:r>
            <a:r>
              <a:rPr lang="zh-CN" altLang="zh-CN"/>
              <a:t>0</a:t>
            </a:r>
            <a:r>
              <a:rPr lang="zh-CN" altLang="en-US"/>
              <a:t>）；文件未结束，返回</a:t>
            </a:r>
            <a:r>
              <a:rPr lang="zh-CN" altLang="zh-CN"/>
              <a:t>0</a:t>
            </a:r>
            <a:endParaRPr lang="en-US" altLang="zh-CN"/>
          </a:p>
          <a:p>
            <a:endParaRPr lang="zh-CN" altLang="en-US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85800" y="484632"/>
            <a:ext cx="7772400" cy="999681"/>
          </a:xfrm>
        </p:spPr>
        <p:txBody>
          <a:bodyPr/>
          <a:lstStyle/>
          <a:p>
            <a:pPr>
              <a:defRPr/>
            </a:pPr>
            <a:r>
              <a:rPr lang="en-US" altLang="zh-CN" dirty="0" err="1">
                <a:cs typeface="+mj-cs"/>
              </a:rPr>
              <a:t>fgets</a:t>
            </a:r>
            <a:r>
              <a:rPr lang="zh-CN" altLang="en-US" dirty="0">
                <a:cs typeface="+mj-cs"/>
              </a:rPr>
              <a:t>函数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685800" y="1484313"/>
            <a:ext cx="8458200" cy="4611687"/>
          </a:xfrm>
        </p:spPr>
        <p:txBody>
          <a:bodyPr/>
          <a:lstStyle/>
          <a:p>
            <a:pPr marL="361950"/>
            <a:r>
              <a:rPr lang="zh-CN" altLang="en-US"/>
              <a:t>函数原型：</a:t>
            </a:r>
            <a:endParaRPr lang="en-US" altLang="zh-CN"/>
          </a:p>
          <a:p>
            <a:pPr marL="838200" lvl="1"/>
            <a:r>
              <a:rPr lang="en-US" altLang="zh-CN">
                <a:solidFill>
                  <a:srgbClr val="0000FF"/>
                </a:solidFill>
                <a:latin typeface="Courier New" charset="0"/>
              </a:rPr>
              <a:t>char</a:t>
            </a:r>
            <a:r>
              <a:rPr lang="en-US" altLang="zh-CN">
                <a:solidFill>
                  <a:srgbClr val="000000"/>
                </a:solidFill>
                <a:latin typeface="Courier New" charset="0"/>
              </a:rPr>
              <a:t> *fgets(</a:t>
            </a:r>
            <a:r>
              <a:rPr lang="en-US" altLang="zh-CN">
                <a:solidFill>
                  <a:srgbClr val="0000FF"/>
                </a:solidFill>
                <a:latin typeface="Courier New" charset="0"/>
              </a:rPr>
              <a:t>char</a:t>
            </a:r>
            <a:r>
              <a:rPr lang="en-US" altLang="zh-CN">
                <a:solidFill>
                  <a:srgbClr val="000000"/>
                </a:solidFill>
                <a:latin typeface="Courier New" charset="0"/>
              </a:rPr>
              <a:t> *s, </a:t>
            </a:r>
            <a:r>
              <a:rPr lang="en-US" altLang="zh-CN">
                <a:solidFill>
                  <a:srgbClr val="0000FF"/>
                </a:solidFill>
                <a:latin typeface="Courier New" charset="0"/>
              </a:rPr>
              <a:t>int</a:t>
            </a:r>
            <a:r>
              <a:rPr lang="en-US" altLang="zh-CN">
                <a:solidFill>
                  <a:srgbClr val="000000"/>
                </a:solidFill>
                <a:latin typeface="Courier New" charset="0"/>
              </a:rPr>
              <a:t> n,FILE *fp);</a:t>
            </a:r>
            <a:r>
              <a:rPr lang="en-US" altLang="zh-CN"/>
              <a:t> </a:t>
            </a:r>
          </a:p>
          <a:p>
            <a:pPr marL="361950"/>
            <a:r>
              <a:rPr lang="en-US" altLang="zh-CN"/>
              <a:t>fgets()</a:t>
            </a:r>
            <a:r>
              <a:rPr lang="zh-CN" altLang="en-US"/>
              <a:t>函数的作用是从指定的文件中读一个字符串到字符数组中；</a:t>
            </a:r>
            <a:r>
              <a:rPr lang="en-US" altLang="zh-CN"/>
              <a:t>fgets</a:t>
            </a:r>
            <a:r>
              <a:rPr lang="zh-CN" altLang="en-US"/>
              <a:t>正常时返回读取字符串的首地址；出错或文件尾，返回</a:t>
            </a:r>
            <a:r>
              <a:rPr lang="en-US" altLang="zh-CN"/>
              <a:t>NULL</a:t>
            </a:r>
          </a:p>
          <a:p>
            <a:pPr marL="361950"/>
            <a:r>
              <a:rPr lang="zh-CN" altLang="en-US"/>
              <a:t>一般形式如下：</a:t>
            </a:r>
          </a:p>
          <a:p>
            <a:pPr marL="838200" lvl="1">
              <a:lnSpc>
                <a:spcPct val="120000"/>
              </a:lnSpc>
            </a:pPr>
            <a:r>
              <a:rPr lang="en-US" altLang="zh-CN">
                <a:solidFill>
                  <a:srgbClr val="CC0099"/>
                </a:solidFill>
                <a:effectLst/>
              </a:rPr>
              <a:t>fgets(str,n,fp);</a:t>
            </a:r>
          </a:p>
          <a:p>
            <a:pPr marL="838200" lvl="1">
              <a:lnSpc>
                <a:spcPct val="120000"/>
              </a:lnSpc>
            </a:pPr>
            <a:r>
              <a:rPr lang="zh-CN" altLang="en-US">
                <a:solidFill>
                  <a:srgbClr val="000000"/>
                </a:solidFill>
                <a:latin typeface="宋体" charset="0"/>
              </a:rPr>
              <a:t>其中的</a:t>
            </a:r>
            <a:r>
              <a:rPr lang="en-US" altLang="zh-CN">
                <a:solidFill>
                  <a:srgbClr val="000000"/>
                </a:solidFill>
                <a:latin typeface="宋体" charset="0"/>
              </a:rPr>
              <a:t>n</a:t>
            </a:r>
            <a:r>
              <a:rPr lang="zh-CN" altLang="en-US">
                <a:solidFill>
                  <a:srgbClr val="000000"/>
                </a:solidFill>
                <a:latin typeface="宋体" charset="0"/>
              </a:rPr>
              <a:t>是一个正整数，表示从</a:t>
            </a:r>
            <a:r>
              <a:rPr lang="en-US" altLang="zh-CN">
                <a:solidFill>
                  <a:srgbClr val="000000"/>
                </a:solidFill>
                <a:latin typeface="宋体" charset="0"/>
              </a:rPr>
              <a:t>fp</a:t>
            </a:r>
            <a:r>
              <a:rPr lang="zh-CN" altLang="en-US">
                <a:solidFill>
                  <a:srgbClr val="000000"/>
                </a:solidFill>
                <a:latin typeface="宋体" charset="0"/>
              </a:rPr>
              <a:t>中读出不超过 </a:t>
            </a:r>
            <a:r>
              <a:rPr lang="en-US" altLang="zh-CN">
                <a:solidFill>
                  <a:srgbClr val="000000"/>
                </a:solidFill>
                <a:latin typeface="宋体" charset="0"/>
              </a:rPr>
              <a:t>n-1</a:t>
            </a:r>
            <a:r>
              <a:rPr lang="zh-CN" altLang="en-US">
                <a:solidFill>
                  <a:srgbClr val="000000"/>
                </a:solidFill>
                <a:latin typeface="宋体" charset="0"/>
              </a:rPr>
              <a:t>个字符的字符串，存储在字符数组</a:t>
            </a:r>
            <a:r>
              <a:rPr lang="en-US" altLang="zh-CN">
                <a:solidFill>
                  <a:srgbClr val="000000"/>
                </a:solidFill>
                <a:latin typeface="宋体" charset="0"/>
              </a:rPr>
              <a:t>str</a:t>
            </a:r>
            <a:r>
              <a:rPr lang="zh-CN" altLang="en-US">
                <a:solidFill>
                  <a:srgbClr val="000000"/>
                </a:solidFill>
                <a:latin typeface="宋体" charset="0"/>
              </a:rPr>
              <a:t>中，并在读入的最后一个字符后加上字符串结束标志</a:t>
            </a:r>
            <a:r>
              <a:rPr lang="en-US" altLang="zh-CN">
                <a:solidFill>
                  <a:srgbClr val="000000"/>
                </a:solidFill>
                <a:latin typeface="宋体" charset="0"/>
              </a:rPr>
              <a:t>‘\0’</a:t>
            </a:r>
            <a:r>
              <a:rPr lang="zh-CN" altLang="en-US">
                <a:solidFill>
                  <a:srgbClr val="000000"/>
                </a:solidFill>
                <a:latin typeface="宋体" charset="0"/>
              </a:rPr>
              <a:t>。若在读完</a:t>
            </a:r>
            <a:r>
              <a:rPr lang="en-US" altLang="zh-CN">
                <a:solidFill>
                  <a:srgbClr val="000000"/>
                </a:solidFill>
                <a:latin typeface="宋体" charset="0"/>
              </a:rPr>
              <a:t>n-1</a:t>
            </a:r>
            <a:r>
              <a:rPr lang="zh-CN" altLang="en-US">
                <a:solidFill>
                  <a:srgbClr val="000000"/>
                </a:solidFill>
                <a:latin typeface="宋体" charset="0"/>
              </a:rPr>
              <a:t>个字符之前遇到换行符或</a:t>
            </a:r>
            <a:r>
              <a:rPr lang="en-US" altLang="zh-CN">
                <a:solidFill>
                  <a:srgbClr val="000000"/>
                </a:solidFill>
                <a:latin typeface="宋体" charset="0"/>
              </a:rPr>
              <a:t>EOF</a:t>
            </a:r>
            <a:r>
              <a:rPr lang="zh-CN" altLang="en-US">
                <a:solidFill>
                  <a:srgbClr val="000000"/>
                </a:solidFill>
                <a:latin typeface="宋体" charset="0"/>
              </a:rPr>
              <a:t>，读入工作也结束。</a:t>
            </a:r>
            <a:endParaRPr lang="zh-CN" altLang="en-US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85800" y="484632"/>
            <a:ext cx="7772400" cy="999681"/>
          </a:xfrm>
        </p:spPr>
        <p:txBody>
          <a:bodyPr/>
          <a:lstStyle/>
          <a:p>
            <a:pPr>
              <a:defRPr/>
            </a:pPr>
            <a:r>
              <a:rPr lang="en-US" altLang="zh-CN" dirty="0" err="1">
                <a:cs typeface="+mj-cs"/>
              </a:rPr>
              <a:t>fputs</a:t>
            </a:r>
            <a:r>
              <a:rPr lang="zh-CN" altLang="en-US" dirty="0">
                <a:cs typeface="+mj-cs"/>
              </a:rPr>
              <a:t>函数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685800" y="1484313"/>
            <a:ext cx="8172450" cy="4611687"/>
          </a:xfrm>
        </p:spPr>
        <p:txBody>
          <a:bodyPr/>
          <a:lstStyle/>
          <a:p>
            <a:pPr marL="361950"/>
            <a:r>
              <a:rPr lang="zh-CN" altLang="en-US"/>
              <a:t>函数原型：</a:t>
            </a:r>
            <a:endParaRPr lang="en-US" altLang="zh-CN"/>
          </a:p>
          <a:p>
            <a:pPr marL="361950" eaLnBrk="1">
              <a:lnSpc>
                <a:spcPct val="85000"/>
              </a:lnSpc>
            </a:pPr>
            <a:r>
              <a:rPr lang="en-US" altLang="zh-CN" sz="2400">
                <a:solidFill>
                  <a:srgbClr val="0000FF"/>
                </a:solidFill>
                <a:latin typeface="Courier New" charset="0"/>
              </a:rPr>
              <a:t>int</a:t>
            </a:r>
            <a:r>
              <a:rPr lang="en-US" altLang="zh-CN" sz="2400">
                <a:solidFill>
                  <a:srgbClr val="000000"/>
                </a:solidFill>
                <a:latin typeface="Courier New" charset="0"/>
              </a:rPr>
              <a:t> fputs(</a:t>
            </a:r>
            <a:r>
              <a:rPr lang="en-US" altLang="zh-CN" sz="2400">
                <a:solidFill>
                  <a:srgbClr val="0000FF"/>
                </a:solidFill>
                <a:latin typeface="Courier New" charset="0"/>
              </a:rPr>
              <a:t>const</a:t>
            </a:r>
            <a:r>
              <a:rPr lang="en-US" altLang="zh-CN" sz="2400">
                <a:solidFill>
                  <a:srgbClr val="000000"/>
                </a:solidFill>
                <a:latin typeface="Courier New" charset="0"/>
              </a:rPr>
              <a:t> </a:t>
            </a:r>
            <a:r>
              <a:rPr lang="en-US" altLang="zh-CN" sz="2400">
                <a:solidFill>
                  <a:srgbClr val="0000FF"/>
                </a:solidFill>
                <a:latin typeface="Courier New" charset="0"/>
              </a:rPr>
              <a:t>char</a:t>
            </a:r>
            <a:r>
              <a:rPr lang="en-US" altLang="zh-CN" sz="2400">
                <a:solidFill>
                  <a:srgbClr val="000000"/>
                </a:solidFill>
                <a:latin typeface="Courier New" charset="0"/>
              </a:rPr>
              <a:t> *s,FILE *fp);</a:t>
            </a:r>
          </a:p>
          <a:p>
            <a:pPr marL="361950"/>
            <a:r>
              <a:rPr lang="en-US" altLang="zh-CN"/>
              <a:t>fputs()</a:t>
            </a:r>
            <a:r>
              <a:rPr lang="zh-CN" altLang="en-US"/>
              <a:t>函数的作用是向指定的文件写入一个字符串。</a:t>
            </a:r>
            <a:r>
              <a:rPr lang="en-US" altLang="zh-CN"/>
              <a:t>fputs</a:t>
            </a:r>
            <a:r>
              <a:rPr lang="zh-CN" altLang="en-US"/>
              <a:t>正常时返回写入的最后一个字符，出错为</a:t>
            </a:r>
            <a:r>
              <a:rPr lang="en-US" altLang="zh-CN"/>
              <a:t>EOF</a:t>
            </a:r>
          </a:p>
          <a:p>
            <a:pPr marL="361950"/>
            <a:r>
              <a:rPr lang="zh-CN" altLang="en-US"/>
              <a:t>一般形式如下：</a:t>
            </a:r>
            <a:endParaRPr lang="en-US" altLang="zh-CN"/>
          </a:p>
          <a:p>
            <a:pPr marL="361950">
              <a:lnSpc>
                <a:spcPct val="120000"/>
              </a:lnSpc>
            </a:pPr>
            <a:r>
              <a:rPr lang="en-US" altLang="zh-CN" sz="2400">
                <a:solidFill>
                  <a:srgbClr val="CC0099"/>
                </a:solidFill>
                <a:effectLst/>
              </a:rPr>
              <a:t>fputs(“abcd”</a:t>
            </a:r>
            <a:r>
              <a:rPr lang="zh-CN" altLang="en-US" sz="2400">
                <a:solidFill>
                  <a:srgbClr val="CC0099"/>
                </a:solidFill>
                <a:effectLst/>
              </a:rPr>
              <a:t>，</a:t>
            </a:r>
            <a:r>
              <a:rPr lang="en-US" altLang="zh-CN" sz="2400">
                <a:solidFill>
                  <a:srgbClr val="CC0099"/>
                </a:solidFill>
                <a:effectLst/>
              </a:rPr>
              <a:t>fp)</a:t>
            </a:r>
            <a:r>
              <a:rPr lang="zh-CN" altLang="en-US" sz="2400">
                <a:solidFill>
                  <a:srgbClr val="CC0099"/>
                </a:solidFill>
                <a:effectLst/>
              </a:rPr>
              <a:t>； </a:t>
            </a:r>
          </a:p>
          <a:p>
            <a:pPr marL="361950">
              <a:lnSpc>
                <a:spcPct val="120000"/>
              </a:lnSpc>
            </a:pPr>
            <a:r>
              <a:rPr lang="zh-CN" altLang="en-US" sz="2400">
                <a:solidFill>
                  <a:srgbClr val="000000"/>
                </a:solidFill>
                <a:latin typeface="宋体" charset="0"/>
              </a:rPr>
              <a:t>其意义是把字符串“</a:t>
            </a:r>
            <a:r>
              <a:rPr lang="en-US" altLang="zh-CN" sz="2400">
                <a:solidFill>
                  <a:srgbClr val="000000"/>
                </a:solidFill>
                <a:latin typeface="宋体" charset="0"/>
              </a:rPr>
              <a:t>abcd”</a:t>
            </a:r>
            <a:r>
              <a:rPr lang="zh-CN" altLang="en-US" sz="2400">
                <a:solidFill>
                  <a:srgbClr val="000000"/>
                </a:solidFill>
                <a:latin typeface="宋体" charset="0"/>
              </a:rPr>
              <a:t>写入与文件指针</a:t>
            </a:r>
            <a:r>
              <a:rPr lang="en-US" altLang="zh-CN" sz="2400">
                <a:solidFill>
                  <a:srgbClr val="000000"/>
                </a:solidFill>
                <a:latin typeface="宋体" charset="0"/>
              </a:rPr>
              <a:t>fp</a:t>
            </a:r>
            <a:r>
              <a:rPr lang="zh-CN" altLang="en-US" sz="2400">
                <a:solidFill>
                  <a:srgbClr val="000000"/>
                </a:solidFill>
                <a:latin typeface="宋体" charset="0"/>
              </a:rPr>
              <a:t>建立联系的文件之中。</a:t>
            </a:r>
            <a:endParaRPr lang="zh-CN" altLang="en-US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0" y="-171400"/>
            <a:ext cx="6084168" cy="1224136"/>
          </a:xfrm>
        </p:spPr>
        <p:txBody>
          <a:bodyPr>
            <a:normAutofit/>
          </a:bodyPr>
          <a:lstStyle/>
          <a:p>
            <a:r>
              <a:rPr lang="en-US" altLang="zh-CN" sz="3600" dirty="0" err="1"/>
              <a:t>fgets</a:t>
            </a:r>
            <a:r>
              <a:rPr lang="zh-CN" altLang="en-US" sz="3600" dirty="0"/>
              <a:t>、</a:t>
            </a:r>
            <a:r>
              <a:rPr lang="en-US" altLang="zh-CN" sz="3600" dirty="0" err="1"/>
              <a:t>fputs</a:t>
            </a:r>
            <a:r>
              <a:rPr lang="zh-CN" altLang="en-US" sz="3600" dirty="0"/>
              <a:t>举例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0" y="1285875"/>
            <a:ext cx="3243263" cy="4611688"/>
          </a:xfrm>
        </p:spPr>
        <p:txBody>
          <a:bodyPr/>
          <a:lstStyle/>
          <a:p>
            <a:r>
              <a:rPr lang="zh-CN" altLang="en-US" dirty="0"/>
              <a:t>从键盘读入字符串存入文件，再从文件读回显示</a:t>
            </a:r>
          </a:p>
          <a:p>
            <a:endParaRPr lang="zh-CN" altLang="en-US" dirty="0"/>
          </a:p>
        </p:txBody>
      </p:sp>
      <p:sp>
        <p:nvSpPr>
          <p:cNvPr id="4" name="Text Box 10"/>
          <p:cNvSpPr txBox="1">
            <a:spLocks noChangeArrowheads="1"/>
          </p:cNvSpPr>
          <p:nvPr/>
        </p:nvSpPr>
        <p:spPr bwMode="auto">
          <a:xfrm>
            <a:off x="3357563" y="0"/>
            <a:ext cx="5187950" cy="6742113"/>
          </a:xfrm>
          <a:prstGeom prst="rect">
            <a:avLst/>
          </a:prstGeom>
          <a:solidFill>
            <a:schemeClr val="bg1"/>
          </a:solidFill>
          <a:ln w="38100">
            <a:solidFill>
              <a:srgbClr val="FF9900"/>
            </a:solidFill>
            <a:miter lim="800000"/>
            <a:headEnd/>
            <a:tailEnd/>
          </a:ln>
        </p:spPr>
        <p:txBody>
          <a:bodyPr lIns="90000" tIns="46800" rIns="90000" bIns="46800" anchor="ctr">
            <a:spAutoFit/>
          </a:bodyPr>
          <a:lstStyle>
            <a:lvl1pPr>
              <a:defRPr sz="2400">
                <a:solidFill>
                  <a:schemeClr val="tx1"/>
                </a:solidFill>
                <a:latin typeface="Times New Roman" charset="0"/>
                <a:ea typeface="宋体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Times New Roman" charset="0"/>
                <a:ea typeface="宋体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Times New Roman" charset="0"/>
                <a:ea typeface="宋体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Times New Roman" charset="0"/>
                <a:ea typeface="宋体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Times New Roman" charset="0"/>
                <a:ea typeface="宋体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charset="0"/>
                <a:ea typeface="宋体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charset="0"/>
                <a:ea typeface="宋体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charset="0"/>
                <a:ea typeface="宋体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charset="0"/>
                <a:ea typeface="宋体" charset="0"/>
              </a:defRPr>
            </a:lvl9pPr>
          </a:lstStyle>
          <a:p>
            <a:pPr algn="l"/>
            <a:r>
              <a:rPr lang="en-US" altLang="zh-CN">
                <a:effectLst/>
              </a:rPr>
              <a:t>#include&lt;stdio.h&gt;</a:t>
            </a:r>
          </a:p>
          <a:p>
            <a:pPr algn="l"/>
            <a:r>
              <a:rPr lang="en-US" altLang="zh-CN">
                <a:effectLst/>
              </a:rPr>
              <a:t>#include&lt;string.h&gt;</a:t>
            </a:r>
          </a:p>
          <a:p>
            <a:pPr algn="l"/>
            <a:r>
              <a:rPr lang="en-US" altLang="zh-CN">
                <a:effectLst/>
              </a:rPr>
              <a:t>#include&lt;stdlib.h&gt;</a:t>
            </a:r>
          </a:p>
          <a:p>
            <a:pPr algn="l"/>
            <a:r>
              <a:rPr lang="en-US" altLang="zh-CN">
                <a:effectLst/>
              </a:rPr>
              <a:t>int main()</a:t>
            </a:r>
          </a:p>
          <a:p>
            <a:pPr algn="l"/>
            <a:r>
              <a:rPr lang="en-US" altLang="zh-CN">
                <a:effectLst/>
              </a:rPr>
              <a:t>{   FILE  *fp;</a:t>
            </a:r>
          </a:p>
          <a:p>
            <a:pPr algn="l"/>
            <a:r>
              <a:rPr lang="en-US" altLang="zh-CN">
                <a:effectLst/>
              </a:rPr>
              <a:t>    char  string[81];</a:t>
            </a:r>
          </a:p>
          <a:p>
            <a:pPr algn="l"/>
            <a:r>
              <a:rPr lang="en-US" altLang="zh-CN">
                <a:effectLst/>
              </a:rPr>
              <a:t>    if((</a:t>
            </a:r>
            <a:r>
              <a:rPr lang="en-US" altLang="zh-CN">
                <a:solidFill>
                  <a:srgbClr val="0000FF"/>
                </a:solidFill>
                <a:effectLst/>
              </a:rPr>
              <a:t>fp=fopen("file.txt","w"))==NULL</a:t>
            </a:r>
            <a:r>
              <a:rPr lang="en-US" altLang="zh-CN">
                <a:effectLst/>
              </a:rPr>
              <a:t>)</a:t>
            </a:r>
          </a:p>
          <a:p>
            <a:pPr algn="l"/>
            <a:r>
              <a:rPr lang="en-US" altLang="zh-CN">
                <a:effectLst/>
              </a:rPr>
              <a:t>    {   printf("cann't open file");exit(0); }</a:t>
            </a:r>
          </a:p>
          <a:p>
            <a:pPr algn="l"/>
            <a:r>
              <a:rPr lang="en-US" altLang="zh-CN">
                <a:effectLst/>
              </a:rPr>
              <a:t>    if(strlen(gets(string))&gt;0)</a:t>
            </a:r>
          </a:p>
          <a:p>
            <a:pPr algn="l"/>
            <a:r>
              <a:rPr lang="en-US" altLang="zh-CN">
                <a:effectLst/>
              </a:rPr>
              <a:t>    {   </a:t>
            </a:r>
            <a:r>
              <a:rPr lang="en-US" altLang="zh-CN">
                <a:solidFill>
                  <a:srgbClr val="FF0000"/>
                </a:solidFill>
                <a:effectLst/>
              </a:rPr>
              <a:t>fputs(string,fp);</a:t>
            </a:r>
          </a:p>
          <a:p>
            <a:pPr algn="l"/>
            <a:r>
              <a:rPr lang="en-US" altLang="zh-CN">
                <a:effectLst/>
              </a:rPr>
              <a:t>         </a:t>
            </a:r>
            <a:r>
              <a:rPr lang="en-US" altLang="zh-CN">
                <a:solidFill>
                  <a:srgbClr val="FF0000"/>
                </a:solidFill>
                <a:effectLst/>
              </a:rPr>
              <a:t>fputs("\n",fp);</a:t>
            </a:r>
          </a:p>
          <a:p>
            <a:pPr algn="l"/>
            <a:r>
              <a:rPr lang="en-US" altLang="zh-CN">
                <a:effectLst/>
              </a:rPr>
              <a:t>    }</a:t>
            </a:r>
          </a:p>
          <a:p>
            <a:pPr algn="l"/>
            <a:r>
              <a:rPr lang="en-US" altLang="zh-CN">
                <a:effectLst/>
              </a:rPr>
              <a:t>    </a:t>
            </a:r>
            <a:r>
              <a:rPr lang="en-US" altLang="zh-CN">
                <a:solidFill>
                  <a:srgbClr val="0000FF"/>
                </a:solidFill>
                <a:effectLst/>
              </a:rPr>
              <a:t>fclose(fp);</a:t>
            </a:r>
          </a:p>
          <a:p>
            <a:pPr algn="l"/>
            <a:r>
              <a:rPr lang="en-US" altLang="zh-CN">
                <a:effectLst/>
              </a:rPr>
              <a:t>    if((</a:t>
            </a:r>
            <a:r>
              <a:rPr lang="en-US" altLang="zh-CN">
                <a:solidFill>
                  <a:srgbClr val="0000FF"/>
                </a:solidFill>
                <a:effectLst/>
              </a:rPr>
              <a:t>fp=fopen("file.txt","r"))==NULL</a:t>
            </a:r>
            <a:r>
              <a:rPr lang="en-US" altLang="zh-CN">
                <a:effectLst/>
              </a:rPr>
              <a:t>)</a:t>
            </a:r>
          </a:p>
          <a:p>
            <a:pPr algn="l"/>
            <a:r>
              <a:rPr lang="en-US" altLang="zh-CN">
                <a:effectLst/>
              </a:rPr>
              <a:t>    {   printf("cann't open file");exit(0); }</a:t>
            </a:r>
          </a:p>
          <a:p>
            <a:pPr algn="l"/>
            <a:r>
              <a:rPr lang="en-US" altLang="zh-CN">
                <a:effectLst/>
              </a:rPr>
              <a:t>    if(</a:t>
            </a:r>
            <a:r>
              <a:rPr lang="en-US" altLang="zh-CN">
                <a:solidFill>
                  <a:schemeClr val="accent2"/>
                </a:solidFill>
                <a:effectLst/>
              </a:rPr>
              <a:t>fgets(string,81,fp)!=NULL</a:t>
            </a:r>
            <a:r>
              <a:rPr lang="en-US" altLang="zh-CN">
                <a:effectLst/>
              </a:rPr>
              <a:t>)</a:t>
            </a:r>
          </a:p>
          <a:p>
            <a:pPr algn="l"/>
            <a:r>
              <a:rPr lang="en-US" altLang="zh-CN">
                <a:effectLst/>
              </a:rPr>
              <a:t>       </a:t>
            </a:r>
            <a:r>
              <a:rPr lang="en-US" altLang="zh-CN">
                <a:solidFill>
                  <a:schemeClr val="accent2"/>
                </a:solidFill>
                <a:effectLst/>
              </a:rPr>
              <a:t>fputs(string,stdout);</a:t>
            </a:r>
            <a:endParaRPr lang="en-US" altLang="zh-CN">
              <a:effectLst/>
            </a:endParaRPr>
          </a:p>
          <a:p>
            <a:pPr algn="l"/>
            <a:r>
              <a:rPr lang="en-US" altLang="zh-CN">
                <a:solidFill>
                  <a:srgbClr val="0000FF"/>
                </a:solidFill>
                <a:effectLst/>
              </a:rPr>
              <a:t>    fclose(fp);  }</a:t>
            </a:r>
            <a:endParaRPr lang="en-US" altLang="zh-CN">
              <a:effectLst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4" presetClass="entr" presetSubtype="3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out)">
                                      <p:cBhvr>
                                        <p:cTn id="7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5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2" name="CAMERA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 animBg="1" autoUpdateAnimBg="0"/>
    </p:bld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85800" y="484632"/>
            <a:ext cx="7772400" cy="999681"/>
          </a:xfrm>
        </p:spPr>
        <p:txBody>
          <a:bodyPr/>
          <a:lstStyle/>
          <a:p>
            <a:pPr>
              <a:defRPr/>
            </a:pPr>
            <a:r>
              <a:rPr lang="en-US" altLang="zh-CN" dirty="0" err="1">
                <a:cs typeface="+mj-cs"/>
              </a:rPr>
              <a:t>fprintf</a:t>
            </a:r>
            <a:r>
              <a:rPr lang="zh-CN" altLang="en-US" dirty="0">
                <a:cs typeface="+mj-cs"/>
              </a:rPr>
              <a:t>函数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685800" y="1484313"/>
            <a:ext cx="8458200" cy="4611687"/>
          </a:xfrm>
        </p:spPr>
        <p:txBody>
          <a:bodyPr/>
          <a:lstStyle/>
          <a:p>
            <a:pPr marL="361950"/>
            <a:r>
              <a:rPr lang="zh-CN" altLang="en-US"/>
              <a:t>函数原型：</a:t>
            </a:r>
            <a:endParaRPr lang="en-US" altLang="zh-CN"/>
          </a:p>
          <a:p>
            <a:pPr marL="361950" eaLnBrk="1">
              <a:lnSpc>
                <a:spcPct val="85000"/>
              </a:lnSpc>
              <a:buFont typeface="Monotype Sorts" charset="2"/>
              <a:buNone/>
            </a:pPr>
            <a:r>
              <a:rPr lang="en-US" altLang="zh-CN" sz="2400">
                <a:solidFill>
                  <a:srgbClr val="0000FF"/>
                </a:solidFill>
                <a:latin typeface="Courier New" charset="0"/>
              </a:rPr>
              <a:t>int</a:t>
            </a:r>
            <a:r>
              <a:rPr lang="en-US" altLang="zh-CN" sz="2400">
                <a:solidFill>
                  <a:srgbClr val="000000"/>
                </a:solidFill>
                <a:latin typeface="Courier New" charset="0"/>
              </a:rPr>
              <a:t> fprintf(FILE *fp, </a:t>
            </a:r>
            <a:r>
              <a:rPr lang="en-US" altLang="zh-CN" sz="2400">
                <a:solidFill>
                  <a:srgbClr val="0000FF"/>
                </a:solidFill>
                <a:latin typeface="Courier New" charset="0"/>
              </a:rPr>
              <a:t>const</a:t>
            </a:r>
            <a:r>
              <a:rPr lang="en-US" altLang="zh-CN" sz="2400">
                <a:solidFill>
                  <a:srgbClr val="000000"/>
                </a:solidFill>
                <a:latin typeface="Courier New" charset="0"/>
              </a:rPr>
              <a:t> </a:t>
            </a:r>
            <a:r>
              <a:rPr lang="en-US" altLang="zh-CN" sz="2400">
                <a:solidFill>
                  <a:srgbClr val="0000FF"/>
                </a:solidFill>
                <a:latin typeface="Courier New" charset="0"/>
              </a:rPr>
              <a:t>char</a:t>
            </a:r>
            <a:r>
              <a:rPr lang="en-US" altLang="zh-CN" sz="2400">
                <a:solidFill>
                  <a:srgbClr val="000000"/>
                </a:solidFill>
                <a:latin typeface="Courier New" charset="0"/>
              </a:rPr>
              <a:t> *format,</a:t>
            </a:r>
            <a:br>
              <a:rPr lang="en-US" altLang="zh-CN" sz="2400">
                <a:solidFill>
                  <a:srgbClr val="000000"/>
                </a:solidFill>
                <a:latin typeface="Courier New" charset="0"/>
              </a:rPr>
            </a:br>
            <a:r>
              <a:rPr lang="en-US" altLang="zh-CN" sz="2400">
                <a:solidFill>
                  <a:srgbClr val="000000"/>
                </a:solidFill>
                <a:latin typeface="Courier New" charset="0"/>
              </a:rPr>
              <a:t>            ...);</a:t>
            </a:r>
          </a:p>
          <a:p>
            <a:pPr marL="361950" eaLnBrk="1">
              <a:lnSpc>
                <a:spcPct val="85000"/>
              </a:lnSpc>
            </a:pPr>
            <a:r>
              <a:rPr lang="en-US" altLang="zh-CN"/>
              <a:t>fprintf</a:t>
            </a:r>
            <a:r>
              <a:rPr lang="en-US" altLang="zh-CN">
                <a:solidFill>
                  <a:srgbClr val="000000"/>
                </a:solidFill>
                <a:latin typeface="Courier New" charset="0"/>
              </a:rPr>
              <a:t> </a:t>
            </a:r>
            <a:r>
              <a:rPr lang="en-US" altLang="zh-CN"/>
              <a:t>()</a:t>
            </a:r>
            <a:r>
              <a:rPr lang="zh-CN" altLang="en-US"/>
              <a:t>函数的作用是按格式对文件进行输出（写）操作</a:t>
            </a:r>
            <a:endParaRPr lang="en-US" altLang="zh-CN"/>
          </a:p>
          <a:p>
            <a:pPr marL="361950" eaLnBrk="1">
              <a:lnSpc>
                <a:spcPct val="85000"/>
              </a:lnSpc>
            </a:pPr>
            <a:r>
              <a:rPr lang="zh-CN" altLang="en-US"/>
              <a:t>返值：成功</a:t>
            </a:r>
            <a:r>
              <a:rPr lang="en-US" altLang="zh-CN"/>
              <a:t>,</a:t>
            </a:r>
            <a:r>
              <a:rPr lang="zh-CN" altLang="en-US"/>
              <a:t>返回输出的个数</a:t>
            </a:r>
            <a:r>
              <a:rPr lang="en-US" altLang="zh-CN"/>
              <a:t>;</a:t>
            </a:r>
            <a:r>
              <a:rPr lang="zh-CN" altLang="en-US"/>
              <a:t>出错或文件尾</a:t>
            </a:r>
            <a:r>
              <a:rPr lang="en-US" altLang="zh-CN"/>
              <a:t>,</a:t>
            </a:r>
            <a:r>
              <a:rPr lang="zh-CN" altLang="en-US"/>
              <a:t>返回</a:t>
            </a:r>
            <a:r>
              <a:rPr lang="en-US" altLang="zh-CN"/>
              <a:t>EOF</a:t>
            </a:r>
          </a:p>
          <a:p>
            <a:pPr marL="361950"/>
            <a:r>
              <a:rPr lang="zh-CN" altLang="en-US"/>
              <a:t>一般形式如下：</a:t>
            </a:r>
            <a:endParaRPr lang="en-US" altLang="zh-CN"/>
          </a:p>
          <a:p>
            <a:pPr marL="361950">
              <a:buFont typeface="Monotype Sorts" charset="2"/>
              <a:buNone/>
            </a:pPr>
            <a:r>
              <a:rPr lang="en-US" altLang="zh-CN" sz="2400">
                <a:solidFill>
                  <a:srgbClr val="CC0099"/>
                </a:solidFill>
                <a:effectLst/>
              </a:rPr>
              <a:t>         fprintf(fp,“%d,%6.2f”,i,t);     </a:t>
            </a:r>
          </a:p>
          <a:p>
            <a:pPr marL="838200" lvl="1"/>
            <a:r>
              <a:rPr lang="zh-CN" altLang="en-US">
                <a:solidFill>
                  <a:srgbClr val="000000"/>
                </a:solidFill>
                <a:latin typeface="宋体" charset="0"/>
              </a:rPr>
              <a:t>将</a:t>
            </a:r>
            <a:r>
              <a:rPr lang="en-US" altLang="zh-CN">
                <a:solidFill>
                  <a:srgbClr val="000000"/>
                </a:solidFill>
                <a:latin typeface="宋体" charset="0"/>
              </a:rPr>
              <a:t>i</a:t>
            </a:r>
            <a:r>
              <a:rPr lang="zh-CN" altLang="en-US">
                <a:solidFill>
                  <a:srgbClr val="000000"/>
                </a:solidFill>
                <a:latin typeface="宋体" charset="0"/>
              </a:rPr>
              <a:t>和</a:t>
            </a:r>
            <a:r>
              <a:rPr lang="en-US" altLang="zh-CN">
                <a:solidFill>
                  <a:srgbClr val="000000"/>
                </a:solidFill>
                <a:latin typeface="宋体" charset="0"/>
              </a:rPr>
              <a:t>t</a:t>
            </a:r>
            <a:r>
              <a:rPr lang="zh-CN" altLang="en-US">
                <a:solidFill>
                  <a:srgbClr val="000000"/>
                </a:solidFill>
                <a:latin typeface="宋体" charset="0"/>
              </a:rPr>
              <a:t>按</a:t>
            </a:r>
            <a:r>
              <a:rPr lang="zh-CN" altLang="zh-CN">
                <a:solidFill>
                  <a:srgbClr val="000000"/>
                </a:solidFill>
                <a:latin typeface="宋体" charset="0"/>
              </a:rPr>
              <a:t>%</a:t>
            </a:r>
            <a:r>
              <a:rPr lang="en-US" altLang="zh-CN">
                <a:solidFill>
                  <a:srgbClr val="000000"/>
                </a:solidFill>
                <a:latin typeface="宋体" charset="0"/>
              </a:rPr>
              <a:t>d,%6.2f</a:t>
            </a:r>
            <a:r>
              <a:rPr lang="zh-CN" altLang="en-US">
                <a:solidFill>
                  <a:srgbClr val="000000"/>
                </a:solidFill>
                <a:latin typeface="宋体" charset="0"/>
              </a:rPr>
              <a:t>格式输出到</a:t>
            </a:r>
            <a:r>
              <a:rPr lang="en-US" altLang="zh-CN">
                <a:solidFill>
                  <a:srgbClr val="000000"/>
                </a:solidFill>
                <a:latin typeface="宋体" charset="0"/>
              </a:rPr>
              <a:t>fp</a:t>
            </a:r>
            <a:r>
              <a:rPr lang="zh-CN" altLang="en-US">
                <a:solidFill>
                  <a:srgbClr val="000000"/>
                </a:solidFill>
                <a:latin typeface="宋体" charset="0"/>
              </a:rPr>
              <a:t>文件</a:t>
            </a:r>
            <a:endParaRPr lang="en-US" altLang="zh-CN">
              <a:solidFill>
                <a:srgbClr val="000000"/>
              </a:solidFill>
              <a:latin typeface="宋体" charset="0"/>
            </a:endParaRP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85800" y="484632"/>
            <a:ext cx="7772400" cy="856136"/>
          </a:xfrm>
        </p:spPr>
        <p:txBody>
          <a:bodyPr/>
          <a:lstStyle/>
          <a:p>
            <a:pPr>
              <a:defRPr/>
            </a:pPr>
            <a:r>
              <a:rPr lang="en-US" altLang="zh-CN" dirty="0" err="1">
                <a:cs typeface="+mj-cs"/>
              </a:rPr>
              <a:t>fscanf</a:t>
            </a:r>
            <a:r>
              <a:rPr lang="zh-CN" altLang="en-US" dirty="0">
                <a:cs typeface="+mj-cs"/>
              </a:rPr>
              <a:t>函数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685800" y="1484313"/>
            <a:ext cx="8243888" cy="4611687"/>
          </a:xfrm>
        </p:spPr>
        <p:txBody>
          <a:bodyPr/>
          <a:lstStyle/>
          <a:p>
            <a:pPr marL="361950"/>
            <a:r>
              <a:rPr lang="zh-CN" altLang="en-US"/>
              <a:t>函数原型：</a:t>
            </a:r>
            <a:endParaRPr lang="en-US" altLang="zh-CN"/>
          </a:p>
          <a:p>
            <a:pPr marL="361950" eaLnBrk="1">
              <a:lnSpc>
                <a:spcPct val="85000"/>
              </a:lnSpc>
              <a:buFont typeface="Monotype Sorts" charset="2"/>
              <a:buNone/>
            </a:pPr>
            <a:r>
              <a:rPr lang="en-US" altLang="zh-CN" sz="2400">
                <a:solidFill>
                  <a:srgbClr val="0000FF"/>
                </a:solidFill>
                <a:latin typeface="Courier New" charset="0"/>
              </a:rPr>
              <a:t>int</a:t>
            </a:r>
            <a:r>
              <a:rPr lang="en-US" altLang="zh-CN" sz="2400">
                <a:solidFill>
                  <a:srgbClr val="000000"/>
                </a:solidFill>
                <a:latin typeface="Courier New" charset="0"/>
              </a:rPr>
              <a:t> fscanf(FILE *fp, </a:t>
            </a:r>
            <a:r>
              <a:rPr lang="en-US" altLang="zh-CN" sz="2400">
                <a:solidFill>
                  <a:srgbClr val="0000FF"/>
                </a:solidFill>
                <a:latin typeface="Courier New" charset="0"/>
              </a:rPr>
              <a:t>const</a:t>
            </a:r>
            <a:r>
              <a:rPr lang="en-US" altLang="zh-CN" sz="2400">
                <a:solidFill>
                  <a:srgbClr val="000000"/>
                </a:solidFill>
                <a:latin typeface="Courier New" charset="0"/>
              </a:rPr>
              <a:t> </a:t>
            </a:r>
            <a:r>
              <a:rPr lang="en-US" altLang="zh-CN" sz="2400">
                <a:solidFill>
                  <a:srgbClr val="0000FF"/>
                </a:solidFill>
                <a:latin typeface="Courier New" charset="0"/>
              </a:rPr>
              <a:t>char </a:t>
            </a:r>
            <a:r>
              <a:rPr lang="en-US" altLang="zh-CN" sz="2400">
                <a:solidFill>
                  <a:srgbClr val="000000"/>
                </a:solidFill>
                <a:latin typeface="Courier New" charset="0"/>
              </a:rPr>
              <a:t>*format , ...);</a:t>
            </a:r>
          </a:p>
          <a:p>
            <a:pPr marL="361950" eaLnBrk="1">
              <a:lnSpc>
                <a:spcPct val="85000"/>
              </a:lnSpc>
            </a:pPr>
            <a:r>
              <a:rPr lang="en-US" altLang="zh-CN"/>
              <a:t>fscanf()</a:t>
            </a:r>
            <a:r>
              <a:rPr lang="zh-CN" altLang="en-US"/>
              <a:t>函数的功能是按格式对文件进行输入</a:t>
            </a:r>
            <a:r>
              <a:rPr lang="en-US" altLang="zh-CN"/>
              <a:t>(</a:t>
            </a:r>
            <a:r>
              <a:rPr lang="zh-CN" altLang="en-US"/>
              <a:t>读</a:t>
            </a:r>
            <a:r>
              <a:rPr lang="en-US" altLang="zh-CN"/>
              <a:t>)</a:t>
            </a:r>
            <a:r>
              <a:rPr lang="zh-CN" altLang="en-US"/>
              <a:t>操作</a:t>
            </a:r>
            <a:endParaRPr lang="en-US" altLang="zh-CN"/>
          </a:p>
          <a:p>
            <a:pPr marL="361950" eaLnBrk="1">
              <a:lnSpc>
                <a:spcPct val="85000"/>
              </a:lnSpc>
            </a:pPr>
            <a:r>
              <a:rPr lang="zh-CN" altLang="en-US"/>
              <a:t>返值：成功</a:t>
            </a:r>
            <a:r>
              <a:rPr lang="en-US" altLang="zh-CN"/>
              <a:t>,</a:t>
            </a:r>
            <a:r>
              <a:rPr lang="zh-CN" altLang="en-US"/>
              <a:t>返回输入的个数</a:t>
            </a:r>
            <a:r>
              <a:rPr lang="en-US" altLang="zh-CN"/>
              <a:t>;</a:t>
            </a:r>
            <a:r>
              <a:rPr lang="zh-CN" altLang="en-US"/>
              <a:t>出错或文件尾</a:t>
            </a:r>
            <a:r>
              <a:rPr lang="en-US" altLang="zh-CN"/>
              <a:t>,</a:t>
            </a:r>
            <a:r>
              <a:rPr lang="zh-CN" altLang="en-US"/>
              <a:t>返回</a:t>
            </a:r>
            <a:r>
              <a:rPr lang="en-US" altLang="zh-CN"/>
              <a:t>EOF</a:t>
            </a:r>
          </a:p>
          <a:p>
            <a:pPr marL="361950"/>
            <a:r>
              <a:rPr lang="zh-CN" altLang="en-US"/>
              <a:t>一般形式如下：</a:t>
            </a:r>
            <a:endParaRPr lang="en-US" altLang="zh-CN"/>
          </a:p>
          <a:p>
            <a:pPr marL="361950">
              <a:buFont typeface="Monotype Sorts" charset="2"/>
              <a:buNone/>
            </a:pPr>
            <a:r>
              <a:rPr lang="en-US" altLang="zh-CN" sz="2400">
                <a:solidFill>
                  <a:srgbClr val="CC0099"/>
                </a:solidFill>
                <a:effectLst/>
              </a:rPr>
              <a:t>      fscanf(fp,“%d,%f”,&amp;i,&amp;t);   </a:t>
            </a:r>
          </a:p>
          <a:p>
            <a:pPr marL="838200" lvl="1"/>
            <a:r>
              <a:rPr lang="en-US" altLang="zh-CN">
                <a:solidFill>
                  <a:srgbClr val="000000"/>
                </a:solidFill>
                <a:latin typeface="宋体" charset="0"/>
              </a:rPr>
              <a:t> </a:t>
            </a:r>
            <a:r>
              <a:rPr lang="zh-CN" altLang="en-US">
                <a:solidFill>
                  <a:srgbClr val="000000"/>
                </a:solidFill>
                <a:latin typeface="宋体" charset="0"/>
              </a:rPr>
              <a:t>若文件中有</a:t>
            </a:r>
            <a:r>
              <a:rPr lang="zh-CN" altLang="zh-CN">
                <a:solidFill>
                  <a:srgbClr val="000000"/>
                </a:solidFill>
                <a:latin typeface="宋体" charset="0"/>
              </a:rPr>
              <a:t>3,4.5,</a:t>
            </a:r>
            <a:r>
              <a:rPr lang="zh-CN" altLang="en-US">
                <a:solidFill>
                  <a:srgbClr val="000000"/>
                </a:solidFill>
                <a:latin typeface="宋体" charset="0"/>
              </a:rPr>
              <a:t>则将</a:t>
            </a:r>
            <a:r>
              <a:rPr lang="zh-CN" altLang="zh-CN">
                <a:solidFill>
                  <a:srgbClr val="000000"/>
                </a:solidFill>
                <a:latin typeface="宋体" charset="0"/>
              </a:rPr>
              <a:t>3</a:t>
            </a:r>
            <a:r>
              <a:rPr lang="zh-CN" altLang="en-US">
                <a:solidFill>
                  <a:srgbClr val="000000"/>
                </a:solidFill>
                <a:latin typeface="宋体" charset="0"/>
              </a:rPr>
              <a:t>送入</a:t>
            </a:r>
            <a:r>
              <a:rPr lang="en-US" altLang="zh-CN">
                <a:solidFill>
                  <a:srgbClr val="000000"/>
                </a:solidFill>
                <a:latin typeface="宋体" charset="0"/>
              </a:rPr>
              <a:t>i, 4.5</a:t>
            </a:r>
            <a:r>
              <a:rPr lang="zh-CN" altLang="en-US">
                <a:solidFill>
                  <a:srgbClr val="000000"/>
                </a:solidFill>
                <a:latin typeface="宋体" charset="0"/>
              </a:rPr>
              <a:t>送入</a:t>
            </a:r>
            <a:r>
              <a:rPr lang="en-US" altLang="zh-CN">
                <a:solidFill>
                  <a:srgbClr val="000000"/>
                </a:solidFill>
                <a:latin typeface="宋体" charset="0"/>
              </a:rPr>
              <a:t>t</a:t>
            </a:r>
          </a:p>
          <a:p>
            <a:pPr marL="838200" lvl="1"/>
            <a:endParaRPr lang="zh-CN" altLang="en-US">
              <a:solidFill>
                <a:srgbClr val="000000"/>
              </a:solidFill>
              <a:latin typeface="宋体" charset="0"/>
            </a:endParaRP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图片 3">
            <a:extLst>
              <a:ext uri="{FF2B5EF4-FFF2-40B4-BE49-F238E27FC236}">
                <a16:creationId xmlns:a16="http://schemas.microsoft.com/office/drawing/2014/main" id="{C3071AAA-7DBF-B745-8E15-3B478EBD759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051720" y="2924944"/>
            <a:ext cx="5185123" cy="1694036"/>
          </a:xfrm>
          <a:prstGeom prst="rect">
            <a:avLst/>
          </a:prstGeom>
        </p:spPr>
      </p:pic>
      <p:sp>
        <p:nvSpPr>
          <p:cNvPr id="5" name="文本框 4">
            <a:extLst>
              <a:ext uri="{FF2B5EF4-FFF2-40B4-BE49-F238E27FC236}">
                <a16:creationId xmlns:a16="http://schemas.microsoft.com/office/drawing/2014/main" id="{9CFA8864-B2C2-6A48-8B9C-8C64B5F52971}"/>
              </a:ext>
            </a:extLst>
          </p:cNvPr>
          <p:cNvSpPr txBox="1"/>
          <p:nvPr/>
        </p:nvSpPr>
        <p:spPr>
          <a:xfrm>
            <a:off x="1871296" y="1628800"/>
            <a:ext cx="5109091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zh-CN" altLang="en-US" dirty="0"/>
              <a:t>如何从文本文件中读下列多行信息？</a:t>
            </a:r>
          </a:p>
        </p:txBody>
      </p:sp>
    </p:spTree>
    <p:extLst>
      <p:ext uri="{BB962C8B-B14F-4D97-AF65-F5344CB8AC3E}">
        <p14:creationId xmlns:p14="http://schemas.microsoft.com/office/powerpoint/2010/main" val="2583262761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图片 3">
            <a:extLst>
              <a:ext uri="{FF2B5EF4-FFF2-40B4-BE49-F238E27FC236}">
                <a16:creationId xmlns:a16="http://schemas.microsoft.com/office/drawing/2014/main" id="{8D91D7D1-520C-E641-A36A-30D75A0B364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819092" y="913943"/>
            <a:ext cx="5505815" cy="503011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30780091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85800" y="484632"/>
            <a:ext cx="7772400" cy="784128"/>
          </a:xfrm>
        </p:spPr>
        <p:txBody>
          <a:bodyPr/>
          <a:lstStyle/>
          <a:p>
            <a:pPr>
              <a:defRPr/>
            </a:pPr>
            <a:r>
              <a:rPr lang="en-US" altLang="zh-CN" dirty="0" err="1">
                <a:cs typeface="+mj-cs"/>
              </a:rPr>
              <a:t>fread</a:t>
            </a:r>
            <a:r>
              <a:rPr lang="zh-CN" altLang="en-US" dirty="0">
                <a:cs typeface="+mj-cs"/>
              </a:rPr>
              <a:t>函数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685800" y="1484313"/>
            <a:ext cx="8458200" cy="4611687"/>
          </a:xfrm>
        </p:spPr>
        <p:txBody>
          <a:bodyPr/>
          <a:lstStyle/>
          <a:p>
            <a:pPr marL="361950"/>
            <a:r>
              <a:rPr lang="zh-CN" altLang="en-US" dirty="0"/>
              <a:t>函数原型：</a:t>
            </a:r>
            <a:endParaRPr lang="en-US" altLang="zh-CN" dirty="0"/>
          </a:p>
          <a:p>
            <a:pPr marL="361950" eaLnBrk="1">
              <a:lnSpc>
                <a:spcPct val="85000"/>
              </a:lnSpc>
            </a:pPr>
            <a:r>
              <a:rPr lang="en-US" altLang="zh-CN" sz="2400" dirty="0" err="1">
                <a:solidFill>
                  <a:srgbClr val="000000"/>
                </a:solidFill>
                <a:latin typeface="Courier New" charset="0"/>
              </a:rPr>
              <a:t>size_t</a:t>
            </a:r>
            <a:r>
              <a:rPr lang="en-US" altLang="zh-CN" sz="2400" dirty="0">
                <a:solidFill>
                  <a:srgbClr val="000000"/>
                </a:solidFill>
                <a:latin typeface="Courier New" charset="0"/>
              </a:rPr>
              <a:t> </a:t>
            </a:r>
            <a:r>
              <a:rPr lang="en-US" altLang="zh-CN" sz="2400" dirty="0" err="1">
                <a:solidFill>
                  <a:srgbClr val="000000"/>
                </a:solidFill>
                <a:latin typeface="Courier New" charset="0"/>
              </a:rPr>
              <a:t>fread</a:t>
            </a:r>
            <a:r>
              <a:rPr lang="en-US" altLang="zh-CN" sz="2400" dirty="0">
                <a:solidFill>
                  <a:srgbClr val="000000"/>
                </a:solidFill>
                <a:latin typeface="Courier New" charset="0"/>
              </a:rPr>
              <a:t>(</a:t>
            </a:r>
            <a:r>
              <a:rPr lang="en-US" altLang="zh-CN" sz="2400" dirty="0">
                <a:solidFill>
                  <a:srgbClr val="0000FF"/>
                </a:solidFill>
                <a:latin typeface="Courier New" charset="0"/>
              </a:rPr>
              <a:t>void</a:t>
            </a:r>
            <a:r>
              <a:rPr lang="en-US" altLang="zh-CN" sz="2400" dirty="0">
                <a:solidFill>
                  <a:srgbClr val="000000"/>
                </a:solidFill>
                <a:latin typeface="Courier New" charset="0"/>
              </a:rPr>
              <a:t> *</a:t>
            </a:r>
            <a:r>
              <a:rPr lang="en-US" altLang="zh-CN" sz="2400" dirty="0" err="1">
                <a:solidFill>
                  <a:srgbClr val="000000"/>
                </a:solidFill>
                <a:latin typeface="Courier New" charset="0"/>
              </a:rPr>
              <a:t>ptr</a:t>
            </a:r>
            <a:r>
              <a:rPr lang="en-US" altLang="zh-CN" sz="2400" dirty="0">
                <a:solidFill>
                  <a:srgbClr val="000000"/>
                </a:solidFill>
                <a:latin typeface="Courier New" charset="0"/>
              </a:rPr>
              <a:t>, </a:t>
            </a:r>
            <a:r>
              <a:rPr lang="en-US" altLang="zh-CN" sz="2400" dirty="0" err="1">
                <a:solidFill>
                  <a:srgbClr val="000000"/>
                </a:solidFill>
                <a:latin typeface="Courier New" charset="0"/>
              </a:rPr>
              <a:t>size_t</a:t>
            </a:r>
            <a:r>
              <a:rPr lang="en-US" altLang="zh-CN" sz="2400" dirty="0">
                <a:solidFill>
                  <a:srgbClr val="000000"/>
                </a:solidFill>
                <a:latin typeface="Courier New" charset="0"/>
              </a:rPr>
              <a:t> size,</a:t>
            </a:r>
            <a:br>
              <a:rPr lang="en-US" altLang="zh-CN" sz="2400" dirty="0">
                <a:solidFill>
                  <a:srgbClr val="000000"/>
                </a:solidFill>
                <a:latin typeface="Courier New" charset="0"/>
              </a:rPr>
            </a:br>
            <a:r>
              <a:rPr lang="en-US" altLang="zh-CN" sz="2400" dirty="0">
                <a:solidFill>
                  <a:srgbClr val="000000"/>
                </a:solidFill>
                <a:latin typeface="Courier New" charset="0"/>
              </a:rPr>
              <a:t>             </a:t>
            </a:r>
            <a:r>
              <a:rPr lang="en-US" altLang="zh-CN" sz="2400" dirty="0" err="1">
                <a:solidFill>
                  <a:srgbClr val="000000"/>
                </a:solidFill>
                <a:latin typeface="Courier New" charset="0"/>
              </a:rPr>
              <a:t>size_t</a:t>
            </a:r>
            <a:r>
              <a:rPr lang="en-US" altLang="zh-CN" sz="2400" dirty="0">
                <a:solidFill>
                  <a:srgbClr val="000000"/>
                </a:solidFill>
                <a:latin typeface="Courier New" charset="0"/>
              </a:rPr>
              <a:t> n, FILE *</a:t>
            </a:r>
            <a:r>
              <a:rPr lang="en-US" altLang="zh-CN" sz="2400" dirty="0" err="1">
                <a:solidFill>
                  <a:srgbClr val="000000"/>
                </a:solidFill>
                <a:latin typeface="Courier New" charset="0"/>
              </a:rPr>
              <a:t>fp</a:t>
            </a:r>
            <a:r>
              <a:rPr lang="en-US" altLang="zh-CN" sz="2400" dirty="0">
                <a:solidFill>
                  <a:srgbClr val="000000"/>
                </a:solidFill>
                <a:latin typeface="Courier New" charset="0"/>
              </a:rPr>
              <a:t>);</a:t>
            </a:r>
          </a:p>
          <a:p>
            <a:pPr marL="361950">
              <a:lnSpc>
                <a:spcPct val="120000"/>
              </a:lnSpc>
            </a:pPr>
            <a:r>
              <a:rPr lang="zh-CN" altLang="en-US" sz="2400" dirty="0">
                <a:solidFill>
                  <a:schemeClr val="tx1"/>
                </a:solidFill>
                <a:effectLst/>
              </a:rPr>
              <a:t>其中</a:t>
            </a:r>
            <a:r>
              <a:rPr lang="en-US" altLang="zh-CN" sz="2400" dirty="0" err="1">
                <a:solidFill>
                  <a:schemeClr val="tx1"/>
                </a:solidFill>
                <a:effectLst/>
              </a:rPr>
              <a:t>ptr</a:t>
            </a:r>
            <a:r>
              <a:rPr lang="zh-CN" altLang="en-US" sz="2400" dirty="0">
                <a:solidFill>
                  <a:schemeClr val="tx1"/>
                </a:solidFill>
                <a:effectLst/>
              </a:rPr>
              <a:t>是一个指针，它表示存放输入数据的首地址；</a:t>
            </a:r>
            <a:r>
              <a:rPr lang="en-US" altLang="zh-CN" sz="2400" dirty="0">
                <a:solidFill>
                  <a:schemeClr val="tx1"/>
                </a:solidFill>
                <a:effectLst/>
              </a:rPr>
              <a:t>size</a:t>
            </a:r>
            <a:r>
              <a:rPr lang="zh-CN" altLang="en-US" sz="2400" dirty="0">
                <a:solidFill>
                  <a:schemeClr val="tx1"/>
                </a:solidFill>
                <a:effectLst/>
              </a:rPr>
              <a:t>表示数据块的字节数。</a:t>
            </a:r>
            <a:r>
              <a:rPr lang="en-US" altLang="zh-CN" sz="2400" dirty="0">
                <a:solidFill>
                  <a:schemeClr val="tx1"/>
                </a:solidFill>
                <a:effectLst/>
              </a:rPr>
              <a:t>n </a:t>
            </a:r>
            <a:r>
              <a:rPr lang="zh-CN" altLang="en-US" sz="2400" dirty="0">
                <a:solidFill>
                  <a:schemeClr val="tx1"/>
                </a:solidFill>
                <a:effectLst/>
              </a:rPr>
              <a:t>表示要读写的数据块的块数。</a:t>
            </a:r>
            <a:r>
              <a:rPr lang="en-US" altLang="zh-CN" sz="2400" dirty="0" err="1">
                <a:solidFill>
                  <a:schemeClr val="tx1"/>
                </a:solidFill>
                <a:effectLst/>
              </a:rPr>
              <a:t>fp</a:t>
            </a:r>
            <a:r>
              <a:rPr lang="en-US" altLang="zh-CN" sz="2400" dirty="0">
                <a:solidFill>
                  <a:schemeClr val="tx1"/>
                </a:solidFill>
                <a:effectLst/>
              </a:rPr>
              <a:t> </a:t>
            </a:r>
            <a:r>
              <a:rPr lang="zh-CN" altLang="en-US" sz="2400" dirty="0">
                <a:solidFill>
                  <a:schemeClr val="tx1"/>
                </a:solidFill>
                <a:effectLst/>
              </a:rPr>
              <a:t>表示文件指针。 </a:t>
            </a:r>
            <a:endParaRPr lang="en-US" altLang="zh-CN" sz="2400" dirty="0">
              <a:solidFill>
                <a:srgbClr val="000000"/>
              </a:solidFill>
              <a:latin typeface="Courier New" charset="0"/>
            </a:endParaRPr>
          </a:p>
          <a:p>
            <a:pPr marL="361950" eaLnBrk="1">
              <a:lnSpc>
                <a:spcPct val="85000"/>
              </a:lnSpc>
            </a:pPr>
            <a:r>
              <a:rPr lang="en-US" altLang="zh-CN" dirty="0" err="1"/>
              <a:t>fread</a:t>
            </a:r>
            <a:r>
              <a:rPr lang="en-US" altLang="zh-CN" dirty="0"/>
              <a:t>()</a:t>
            </a:r>
            <a:r>
              <a:rPr lang="zh-CN" altLang="en-US" dirty="0"/>
              <a:t>函数的作用是把指定文件中的一个数据块读到内存中。</a:t>
            </a:r>
            <a:endParaRPr lang="en-US" altLang="zh-CN" dirty="0"/>
          </a:p>
          <a:p>
            <a:pPr marL="361950" eaLnBrk="1">
              <a:lnSpc>
                <a:spcPct val="85000"/>
              </a:lnSpc>
            </a:pPr>
            <a:r>
              <a:rPr lang="zh-CN" altLang="en-US" dirty="0"/>
              <a:t>返值：成功，返回读的块数；出错或文件尾，返回</a:t>
            </a:r>
            <a:r>
              <a:rPr lang="en-US" altLang="zh-CN" dirty="0"/>
              <a:t>0</a:t>
            </a:r>
            <a:r>
              <a:rPr lang="zh-CN" altLang="en-US" dirty="0"/>
              <a:t>。若其返回值与</a:t>
            </a:r>
            <a:r>
              <a:rPr lang="en-US" altLang="zh-CN" dirty="0"/>
              <a:t>n</a:t>
            </a:r>
            <a:r>
              <a:rPr lang="zh-CN" altLang="en-US" dirty="0"/>
              <a:t>相等，则说明本次的读调用是成功的。</a:t>
            </a:r>
          </a:p>
          <a:p>
            <a:pPr marL="361950" eaLnBrk="1">
              <a:lnSpc>
                <a:spcPct val="85000"/>
              </a:lnSpc>
            </a:pPr>
            <a:endParaRPr lang="en-US" altLang="zh-CN" dirty="0"/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85800" y="484632"/>
            <a:ext cx="7772400" cy="784128"/>
          </a:xfrm>
        </p:spPr>
        <p:txBody>
          <a:bodyPr/>
          <a:lstStyle/>
          <a:p>
            <a:pPr>
              <a:defRPr/>
            </a:pPr>
            <a:r>
              <a:rPr lang="en-US" altLang="zh-CN" dirty="0" err="1">
                <a:cs typeface="+mj-cs"/>
              </a:rPr>
              <a:t>fwrite</a:t>
            </a:r>
            <a:r>
              <a:rPr lang="zh-CN" altLang="en-US" dirty="0">
                <a:cs typeface="+mj-cs"/>
              </a:rPr>
              <a:t>函数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685800" y="1484313"/>
            <a:ext cx="8458200" cy="4611687"/>
          </a:xfrm>
        </p:spPr>
        <p:txBody>
          <a:bodyPr/>
          <a:lstStyle/>
          <a:p>
            <a:pPr marL="361950"/>
            <a:r>
              <a:rPr lang="zh-CN" altLang="en-US"/>
              <a:t>函数原型：</a:t>
            </a:r>
            <a:endParaRPr lang="en-US" altLang="zh-CN"/>
          </a:p>
          <a:p>
            <a:pPr marL="361950" eaLnBrk="1">
              <a:lnSpc>
                <a:spcPct val="85000"/>
              </a:lnSpc>
            </a:pPr>
            <a:r>
              <a:rPr lang="en-US" altLang="zh-CN" sz="2400">
                <a:solidFill>
                  <a:srgbClr val="000000"/>
                </a:solidFill>
                <a:latin typeface="Courier New" charset="0"/>
              </a:rPr>
              <a:t>size_t fwrite(</a:t>
            </a:r>
            <a:r>
              <a:rPr lang="en-US" altLang="zh-CN" sz="2400">
                <a:solidFill>
                  <a:srgbClr val="0000FF"/>
                </a:solidFill>
                <a:latin typeface="Courier New" charset="0"/>
              </a:rPr>
              <a:t>const</a:t>
            </a:r>
            <a:r>
              <a:rPr lang="en-US" altLang="zh-CN" sz="2400">
                <a:solidFill>
                  <a:srgbClr val="000000"/>
                </a:solidFill>
                <a:latin typeface="Courier New" charset="0"/>
              </a:rPr>
              <a:t> </a:t>
            </a:r>
            <a:r>
              <a:rPr lang="en-US" altLang="zh-CN" sz="2400">
                <a:solidFill>
                  <a:srgbClr val="0000FF"/>
                </a:solidFill>
                <a:latin typeface="Courier New" charset="0"/>
              </a:rPr>
              <a:t>void</a:t>
            </a:r>
            <a:r>
              <a:rPr lang="en-US" altLang="zh-CN" sz="2400">
                <a:solidFill>
                  <a:srgbClr val="000000"/>
                </a:solidFill>
                <a:latin typeface="Courier New" charset="0"/>
              </a:rPr>
              <a:t> *ptr,size_t size,</a:t>
            </a:r>
            <a:br>
              <a:rPr lang="en-US" altLang="zh-CN" sz="2400">
                <a:solidFill>
                  <a:srgbClr val="000000"/>
                </a:solidFill>
                <a:latin typeface="Courier New" charset="0"/>
              </a:rPr>
            </a:br>
            <a:r>
              <a:rPr lang="en-US" altLang="zh-CN" sz="2400">
                <a:solidFill>
                  <a:srgbClr val="000000"/>
                </a:solidFill>
                <a:latin typeface="Courier New" charset="0"/>
              </a:rPr>
              <a:t>              size_t n, FILE *fp);</a:t>
            </a:r>
          </a:p>
          <a:p>
            <a:pPr marL="361950">
              <a:lnSpc>
                <a:spcPct val="120000"/>
              </a:lnSpc>
            </a:pPr>
            <a:r>
              <a:rPr lang="zh-CN" altLang="en-US" sz="2400">
                <a:solidFill>
                  <a:schemeClr val="tx1"/>
                </a:solidFill>
                <a:effectLst/>
              </a:rPr>
              <a:t>其中</a:t>
            </a:r>
            <a:r>
              <a:rPr lang="en-US" altLang="zh-CN" sz="2400">
                <a:solidFill>
                  <a:schemeClr val="tx1"/>
                </a:solidFill>
                <a:effectLst/>
              </a:rPr>
              <a:t>ptr</a:t>
            </a:r>
            <a:r>
              <a:rPr lang="zh-CN" altLang="en-US" sz="2400">
                <a:solidFill>
                  <a:schemeClr val="tx1"/>
                </a:solidFill>
                <a:effectLst/>
              </a:rPr>
              <a:t>是一个指针，它表示存放输出数据的首地址；</a:t>
            </a:r>
            <a:r>
              <a:rPr lang="en-US" altLang="zh-CN" sz="2400">
                <a:solidFill>
                  <a:schemeClr val="tx1"/>
                </a:solidFill>
                <a:effectLst/>
              </a:rPr>
              <a:t>size</a:t>
            </a:r>
            <a:r>
              <a:rPr lang="zh-CN" altLang="en-US" sz="2400">
                <a:solidFill>
                  <a:schemeClr val="tx1"/>
                </a:solidFill>
                <a:effectLst/>
              </a:rPr>
              <a:t>表示数据块的字节数。</a:t>
            </a:r>
            <a:r>
              <a:rPr lang="en-US" altLang="zh-CN" sz="2400">
                <a:solidFill>
                  <a:schemeClr val="tx1"/>
                </a:solidFill>
                <a:effectLst/>
              </a:rPr>
              <a:t>n </a:t>
            </a:r>
            <a:r>
              <a:rPr lang="zh-CN" altLang="en-US" sz="2400">
                <a:solidFill>
                  <a:schemeClr val="tx1"/>
                </a:solidFill>
                <a:effectLst/>
              </a:rPr>
              <a:t>表示要读写的数据块的块数。</a:t>
            </a:r>
            <a:r>
              <a:rPr lang="en-US" altLang="zh-CN" sz="2400">
                <a:solidFill>
                  <a:schemeClr val="tx1"/>
                </a:solidFill>
                <a:effectLst/>
              </a:rPr>
              <a:t>fp </a:t>
            </a:r>
            <a:r>
              <a:rPr lang="zh-CN" altLang="en-US" sz="2400">
                <a:solidFill>
                  <a:schemeClr val="tx1"/>
                </a:solidFill>
                <a:effectLst/>
              </a:rPr>
              <a:t>表示文件指针。 </a:t>
            </a:r>
            <a:endParaRPr lang="en-US" altLang="zh-CN" sz="2400">
              <a:solidFill>
                <a:srgbClr val="000000"/>
              </a:solidFill>
              <a:latin typeface="Courier New" charset="0"/>
            </a:endParaRPr>
          </a:p>
          <a:p>
            <a:pPr marL="361950" eaLnBrk="1">
              <a:lnSpc>
                <a:spcPct val="85000"/>
              </a:lnSpc>
            </a:pPr>
            <a:r>
              <a:rPr lang="en-US" altLang="zh-CN"/>
              <a:t>fread()</a:t>
            </a:r>
            <a:r>
              <a:rPr lang="zh-CN" altLang="en-US"/>
              <a:t>函数的作用是把内存中的一些数据块写到指定的文件中</a:t>
            </a:r>
            <a:endParaRPr lang="en-US" altLang="zh-CN"/>
          </a:p>
          <a:p>
            <a:pPr marL="361950" eaLnBrk="1">
              <a:lnSpc>
                <a:spcPct val="85000"/>
              </a:lnSpc>
            </a:pPr>
            <a:r>
              <a:rPr lang="zh-CN" altLang="en-US"/>
              <a:t>返值：成功，返回写的块数；出错或文件尾，返回</a:t>
            </a:r>
            <a:r>
              <a:rPr lang="en-US" altLang="zh-CN"/>
              <a:t>0</a:t>
            </a:r>
            <a:r>
              <a:rPr lang="zh-CN" altLang="en-US"/>
              <a:t>。若其返回值与</a:t>
            </a:r>
            <a:r>
              <a:rPr lang="en-US" altLang="zh-CN"/>
              <a:t>count</a:t>
            </a:r>
            <a:r>
              <a:rPr lang="zh-CN" altLang="en-US"/>
              <a:t>相等，则说明本次的写调用是成功的。</a:t>
            </a:r>
          </a:p>
          <a:p>
            <a:pPr marL="361950" eaLnBrk="1">
              <a:lnSpc>
                <a:spcPct val="85000"/>
              </a:lnSpc>
            </a:pPr>
            <a:endParaRPr lang="en-US" altLang="zh-CN"/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303" name="Text Box 7"/>
          <p:cNvSpPr txBox="1">
            <a:spLocks noChangeArrowheads="1"/>
          </p:cNvSpPr>
          <p:nvPr/>
        </p:nvSpPr>
        <p:spPr bwMode="auto">
          <a:xfrm>
            <a:off x="309563" y="341313"/>
            <a:ext cx="780415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sz="2400">
                <a:solidFill>
                  <a:schemeClr val="tx1"/>
                </a:solidFill>
                <a:latin typeface="Times New Roman" charset="0"/>
                <a:ea typeface="宋体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Times New Roman" charset="0"/>
                <a:ea typeface="宋体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Times New Roman" charset="0"/>
                <a:ea typeface="宋体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Times New Roman" charset="0"/>
                <a:ea typeface="宋体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Times New Roman" charset="0"/>
                <a:ea typeface="宋体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charset="0"/>
                <a:ea typeface="宋体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charset="0"/>
                <a:ea typeface="宋体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charset="0"/>
                <a:ea typeface="宋体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charset="0"/>
                <a:ea typeface="宋体" charset="0"/>
              </a:defRPr>
            </a:lvl9pPr>
          </a:lstStyle>
          <a:p>
            <a:pPr algn="l" eaLnBrk="1" hangingPunct="1"/>
            <a:r>
              <a:rPr lang="zh-CN" altLang="en-US">
                <a:effectLst/>
              </a:rPr>
              <a:t>例  从键盘输入</a:t>
            </a:r>
            <a:r>
              <a:rPr lang="en-US" altLang="zh-CN">
                <a:effectLst/>
              </a:rPr>
              <a:t>4</a:t>
            </a:r>
            <a:r>
              <a:rPr lang="zh-CN" altLang="en-US">
                <a:effectLst/>
              </a:rPr>
              <a:t>个学生数据，把他们转存到磁盘文件中去</a:t>
            </a:r>
          </a:p>
        </p:txBody>
      </p:sp>
      <p:sp useBgFill="1">
        <p:nvSpPr>
          <p:cNvPr id="46083" name="AutoShape 8">
            <a:hlinkClick r:id="rId3" action="ppaction://program" highlightClick="1"/>
          </p:cNvPr>
          <p:cNvSpPr>
            <a:spLocks noChangeArrowheads="1"/>
          </p:cNvSpPr>
          <p:nvPr/>
        </p:nvSpPr>
        <p:spPr bwMode="auto">
          <a:xfrm>
            <a:off x="358775" y="5930900"/>
            <a:ext cx="533400" cy="685800"/>
          </a:xfrm>
          <a:prstGeom prst="actionButtonDocument">
            <a:avLst/>
          </a:prstGeom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>
            <a:lvl1pPr>
              <a:defRPr sz="2400">
                <a:solidFill>
                  <a:schemeClr val="tx1"/>
                </a:solidFill>
                <a:latin typeface="Times New Roman" charset="0"/>
                <a:ea typeface="宋体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Times New Roman" charset="0"/>
                <a:ea typeface="宋体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Times New Roman" charset="0"/>
                <a:ea typeface="宋体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Times New Roman" charset="0"/>
                <a:ea typeface="宋体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Times New Roman" charset="0"/>
                <a:ea typeface="宋体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charset="0"/>
                <a:ea typeface="宋体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charset="0"/>
                <a:ea typeface="宋体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charset="0"/>
                <a:ea typeface="宋体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charset="0"/>
                <a:ea typeface="宋体" charset="0"/>
              </a:defRPr>
            </a:lvl9pPr>
          </a:lstStyle>
          <a:p>
            <a:pPr algn="l"/>
            <a:endParaRPr lang="zh-CN" altLang="en-US">
              <a:effectLst/>
            </a:endParaRPr>
          </a:p>
        </p:txBody>
      </p:sp>
      <p:sp>
        <p:nvSpPr>
          <p:cNvPr id="55305" name="Text Box 9"/>
          <p:cNvSpPr txBox="1">
            <a:spLocks noChangeArrowheads="1"/>
          </p:cNvSpPr>
          <p:nvPr/>
        </p:nvSpPr>
        <p:spPr bwMode="auto">
          <a:xfrm>
            <a:off x="0" y="0"/>
            <a:ext cx="7123113" cy="6373813"/>
          </a:xfrm>
          <a:prstGeom prst="rect">
            <a:avLst/>
          </a:prstGeom>
          <a:solidFill>
            <a:srgbClr val="CCECFF"/>
          </a:solidFill>
          <a:ln w="38100">
            <a:solidFill>
              <a:srgbClr val="33CCCC"/>
            </a:solidFill>
            <a:miter lim="800000"/>
            <a:headEnd/>
            <a:tailEnd/>
          </a:ln>
        </p:spPr>
        <p:txBody>
          <a:bodyPr wrap="none" lIns="90000" tIns="46800" rIns="90000" bIns="46800" anchor="ctr">
            <a:spAutoFit/>
          </a:bodyPr>
          <a:lstStyle>
            <a:lvl1pPr>
              <a:defRPr sz="2400">
                <a:solidFill>
                  <a:schemeClr val="tx1"/>
                </a:solidFill>
                <a:latin typeface="Times New Roman" charset="0"/>
                <a:ea typeface="宋体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Times New Roman" charset="0"/>
                <a:ea typeface="宋体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Times New Roman" charset="0"/>
                <a:ea typeface="宋体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Times New Roman" charset="0"/>
                <a:ea typeface="宋体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Times New Roman" charset="0"/>
                <a:ea typeface="宋体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charset="0"/>
                <a:ea typeface="宋体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charset="0"/>
                <a:ea typeface="宋体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charset="0"/>
                <a:ea typeface="宋体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charset="0"/>
                <a:ea typeface="宋体" charset="0"/>
              </a:defRPr>
            </a:lvl9pPr>
          </a:lstStyle>
          <a:p>
            <a:pPr algn="l"/>
            <a:r>
              <a:rPr lang="en-US" altLang="zh-CN">
                <a:effectLst/>
              </a:rPr>
              <a:t>#include &lt;stdio.h&gt;</a:t>
            </a:r>
          </a:p>
          <a:p>
            <a:pPr algn="l"/>
            <a:r>
              <a:rPr lang="en-US" altLang="zh-CN">
                <a:effectLst/>
              </a:rPr>
              <a:t>#define SIZE 2</a:t>
            </a:r>
          </a:p>
          <a:p>
            <a:pPr algn="l"/>
            <a:r>
              <a:rPr lang="en-US" altLang="zh-CN">
                <a:solidFill>
                  <a:srgbClr val="990033"/>
                </a:solidFill>
                <a:effectLst/>
              </a:rPr>
              <a:t>struct student_type</a:t>
            </a:r>
          </a:p>
          <a:p>
            <a:pPr algn="l"/>
            <a:r>
              <a:rPr lang="en-US" altLang="zh-CN">
                <a:solidFill>
                  <a:srgbClr val="990033"/>
                </a:solidFill>
                <a:effectLst/>
              </a:rPr>
              <a:t>{    char name[10];</a:t>
            </a:r>
          </a:p>
          <a:p>
            <a:pPr algn="l"/>
            <a:r>
              <a:rPr lang="en-US" altLang="zh-CN">
                <a:solidFill>
                  <a:srgbClr val="990033"/>
                </a:solidFill>
                <a:effectLst/>
              </a:rPr>
              <a:t>     int num;</a:t>
            </a:r>
          </a:p>
          <a:p>
            <a:pPr algn="l"/>
            <a:r>
              <a:rPr lang="en-US" altLang="zh-CN">
                <a:solidFill>
                  <a:srgbClr val="990033"/>
                </a:solidFill>
                <a:effectLst/>
              </a:rPr>
              <a:t>     int age;</a:t>
            </a:r>
          </a:p>
          <a:p>
            <a:pPr algn="l"/>
            <a:r>
              <a:rPr lang="en-US" altLang="zh-CN">
                <a:solidFill>
                  <a:srgbClr val="990033"/>
                </a:solidFill>
                <a:effectLst/>
              </a:rPr>
              <a:t>     char addr[15];</a:t>
            </a:r>
          </a:p>
          <a:p>
            <a:pPr algn="l"/>
            <a:r>
              <a:rPr lang="en-US" altLang="zh-CN">
                <a:solidFill>
                  <a:srgbClr val="990033"/>
                </a:solidFill>
                <a:effectLst/>
              </a:rPr>
              <a:t>}stud[SIZE];</a:t>
            </a:r>
          </a:p>
          <a:p>
            <a:pPr algn="l"/>
            <a:r>
              <a:rPr lang="en-US" altLang="zh-CN">
                <a:effectLst/>
              </a:rPr>
              <a:t>int main()</a:t>
            </a:r>
          </a:p>
          <a:p>
            <a:pPr algn="l"/>
            <a:r>
              <a:rPr lang="en-US" altLang="zh-CN">
                <a:effectLst/>
              </a:rPr>
              <a:t>{</a:t>
            </a:r>
          </a:p>
          <a:p>
            <a:pPr algn="l"/>
            <a:r>
              <a:rPr lang="en-US" altLang="zh-CN">
                <a:effectLst/>
              </a:rPr>
              <a:t>     int i;</a:t>
            </a:r>
          </a:p>
          <a:p>
            <a:pPr algn="l"/>
            <a:r>
              <a:rPr lang="en-US" altLang="zh-CN">
                <a:effectLst/>
              </a:rPr>
              <a:t>     for(i=0;i&lt;SIZE;i++)</a:t>
            </a:r>
          </a:p>
          <a:p>
            <a:pPr algn="l"/>
            <a:r>
              <a:rPr lang="en-US" altLang="zh-CN">
                <a:effectLst/>
              </a:rPr>
              <a:t>	scanf("%s%d%d%s",stud[i].name,&amp;stud[i].num,</a:t>
            </a:r>
          </a:p>
          <a:p>
            <a:pPr algn="l"/>
            <a:r>
              <a:rPr lang="en-US" altLang="zh-CN">
                <a:effectLst/>
              </a:rPr>
              <a:t>			 &amp;stud[i].age,stud[i].addr);</a:t>
            </a:r>
          </a:p>
          <a:p>
            <a:pPr algn="l"/>
            <a:r>
              <a:rPr lang="en-US" altLang="zh-CN">
                <a:effectLst/>
              </a:rPr>
              <a:t>     </a:t>
            </a:r>
            <a:r>
              <a:rPr lang="en-US" altLang="zh-CN">
                <a:solidFill>
                  <a:srgbClr val="0000FF"/>
                </a:solidFill>
                <a:effectLst/>
              </a:rPr>
              <a:t>save();</a:t>
            </a:r>
          </a:p>
          <a:p>
            <a:pPr algn="l"/>
            <a:r>
              <a:rPr lang="en-US" altLang="zh-CN">
                <a:solidFill>
                  <a:srgbClr val="0000FF"/>
                </a:solidFill>
                <a:effectLst/>
              </a:rPr>
              <a:t>     display();</a:t>
            </a:r>
          </a:p>
          <a:p>
            <a:pPr algn="l"/>
            <a:r>
              <a:rPr lang="en-US" altLang="zh-CN">
                <a:effectLst/>
              </a:rPr>
              <a:t>}</a:t>
            </a:r>
          </a:p>
        </p:txBody>
      </p:sp>
      <p:sp>
        <p:nvSpPr>
          <p:cNvPr id="55309" name="Text Box 13"/>
          <p:cNvSpPr txBox="1">
            <a:spLocks noChangeArrowheads="1"/>
          </p:cNvSpPr>
          <p:nvPr/>
        </p:nvSpPr>
        <p:spPr bwMode="auto">
          <a:xfrm>
            <a:off x="1554163" y="714375"/>
            <a:ext cx="6950075" cy="4525963"/>
          </a:xfrm>
          <a:prstGeom prst="rect">
            <a:avLst/>
          </a:prstGeom>
          <a:solidFill>
            <a:srgbClr val="CCECFF"/>
          </a:solidFill>
          <a:ln w="38100">
            <a:solidFill>
              <a:srgbClr val="33CCCC"/>
            </a:solidFill>
            <a:miter lim="800000"/>
            <a:headEnd/>
            <a:tailEnd/>
          </a:ln>
        </p:spPr>
        <p:txBody>
          <a:bodyPr wrap="none" lIns="90000" tIns="46800" rIns="90000" bIns="46800" anchor="ctr">
            <a:spAutoFit/>
          </a:bodyPr>
          <a:lstStyle>
            <a:lvl1pPr>
              <a:defRPr sz="2400">
                <a:solidFill>
                  <a:schemeClr val="tx1"/>
                </a:solidFill>
                <a:latin typeface="Times New Roman" charset="0"/>
                <a:ea typeface="宋体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Times New Roman" charset="0"/>
                <a:ea typeface="宋体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Times New Roman" charset="0"/>
                <a:ea typeface="宋体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Times New Roman" charset="0"/>
                <a:ea typeface="宋体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Times New Roman" charset="0"/>
                <a:ea typeface="宋体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charset="0"/>
                <a:ea typeface="宋体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charset="0"/>
                <a:ea typeface="宋体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charset="0"/>
                <a:ea typeface="宋体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charset="0"/>
                <a:ea typeface="宋体" charset="0"/>
              </a:defRPr>
            </a:lvl9pPr>
          </a:lstStyle>
          <a:p>
            <a:pPr algn="l"/>
            <a:r>
              <a:rPr lang="en-US" altLang="zh-CN">
                <a:effectLst/>
              </a:rPr>
              <a:t>void save()</a:t>
            </a:r>
          </a:p>
          <a:p>
            <a:pPr algn="l"/>
            <a:r>
              <a:rPr lang="en-US" altLang="zh-CN">
                <a:effectLst/>
              </a:rPr>
              <a:t>{   FILE *fp;</a:t>
            </a:r>
          </a:p>
          <a:p>
            <a:pPr algn="l"/>
            <a:r>
              <a:rPr lang="en-US" altLang="zh-CN">
                <a:effectLst/>
              </a:rPr>
              <a:t>     int  i;</a:t>
            </a:r>
          </a:p>
          <a:p>
            <a:pPr algn="l"/>
            <a:r>
              <a:rPr lang="en-US" altLang="zh-CN">
                <a:effectLst/>
              </a:rPr>
              <a:t>     if((</a:t>
            </a:r>
            <a:r>
              <a:rPr lang="en-US" altLang="zh-CN">
                <a:solidFill>
                  <a:srgbClr val="0000FF"/>
                </a:solidFill>
                <a:effectLst/>
              </a:rPr>
              <a:t>fp=fopen("stu.dat","wb"))==NULL</a:t>
            </a:r>
            <a:r>
              <a:rPr lang="en-US" altLang="zh-CN">
                <a:effectLst/>
              </a:rPr>
              <a:t>)</a:t>
            </a:r>
          </a:p>
          <a:p>
            <a:pPr algn="l"/>
            <a:r>
              <a:rPr lang="en-US" altLang="zh-CN">
                <a:effectLst/>
              </a:rPr>
              <a:t>     {    printf("cannot open file\n");</a:t>
            </a:r>
          </a:p>
          <a:p>
            <a:pPr algn="l"/>
            <a:r>
              <a:rPr lang="en-US" altLang="zh-CN">
                <a:effectLst/>
              </a:rPr>
              <a:t>           exit(1);</a:t>
            </a:r>
          </a:p>
          <a:p>
            <a:pPr algn="l"/>
            <a:r>
              <a:rPr lang="en-US" altLang="zh-CN">
                <a:effectLst/>
              </a:rPr>
              <a:t>     }</a:t>
            </a:r>
          </a:p>
          <a:p>
            <a:pPr algn="l"/>
            <a:r>
              <a:rPr lang="en-US" altLang="zh-CN">
                <a:effectLst/>
              </a:rPr>
              <a:t>     for(i=0;i&lt;SIZE;i++)</a:t>
            </a:r>
          </a:p>
          <a:p>
            <a:pPr algn="l"/>
            <a:r>
              <a:rPr lang="en-US" altLang="zh-CN">
                <a:effectLst/>
              </a:rPr>
              <a:t>         if</a:t>
            </a:r>
            <a:r>
              <a:rPr lang="en-US" altLang="zh-CN">
                <a:solidFill>
                  <a:srgbClr val="FF0000"/>
                </a:solidFill>
                <a:effectLst/>
              </a:rPr>
              <a:t>(fwrite(&amp;stud[i],sizeof(student_type),1,fp)!=1</a:t>
            </a:r>
            <a:r>
              <a:rPr lang="en-US" altLang="zh-CN">
                <a:effectLst/>
              </a:rPr>
              <a:t>)</a:t>
            </a:r>
          </a:p>
          <a:p>
            <a:pPr algn="l"/>
            <a:r>
              <a:rPr lang="en-US" altLang="zh-CN">
                <a:effectLst/>
              </a:rPr>
              <a:t>	     printf("file write error\n");</a:t>
            </a:r>
          </a:p>
          <a:p>
            <a:pPr algn="l"/>
            <a:r>
              <a:rPr lang="en-US" altLang="zh-CN">
                <a:effectLst/>
              </a:rPr>
              <a:t>     </a:t>
            </a:r>
            <a:r>
              <a:rPr lang="en-US" altLang="zh-CN">
                <a:solidFill>
                  <a:srgbClr val="0000FF"/>
                </a:solidFill>
                <a:effectLst/>
              </a:rPr>
              <a:t>fclose(fp);</a:t>
            </a:r>
          </a:p>
          <a:p>
            <a:pPr algn="l"/>
            <a:r>
              <a:rPr lang="en-US" altLang="zh-CN">
                <a:effectLst/>
              </a:rPr>
              <a:t>}</a:t>
            </a:r>
          </a:p>
        </p:txBody>
      </p:sp>
      <p:sp>
        <p:nvSpPr>
          <p:cNvPr id="55310" name="Text Box 14"/>
          <p:cNvSpPr txBox="1">
            <a:spLocks noChangeArrowheads="1"/>
          </p:cNvSpPr>
          <p:nvPr/>
        </p:nvSpPr>
        <p:spPr bwMode="auto">
          <a:xfrm>
            <a:off x="2324100" y="857250"/>
            <a:ext cx="6819900" cy="5265738"/>
          </a:xfrm>
          <a:prstGeom prst="rect">
            <a:avLst/>
          </a:prstGeom>
          <a:solidFill>
            <a:srgbClr val="CCECFF"/>
          </a:solidFill>
          <a:ln w="38100">
            <a:solidFill>
              <a:srgbClr val="33CCCC"/>
            </a:solidFill>
            <a:miter lim="800000"/>
            <a:headEnd/>
            <a:tailEnd/>
          </a:ln>
        </p:spPr>
        <p:txBody>
          <a:bodyPr wrap="none" lIns="90000" tIns="46800" rIns="90000" bIns="46800" anchor="ctr">
            <a:spAutoFit/>
          </a:bodyPr>
          <a:lstStyle>
            <a:lvl1pPr>
              <a:defRPr sz="2400">
                <a:solidFill>
                  <a:schemeClr val="tx1"/>
                </a:solidFill>
                <a:latin typeface="Times New Roman" charset="0"/>
                <a:ea typeface="宋体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Times New Roman" charset="0"/>
                <a:ea typeface="宋体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Times New Roman" charset="0"/>
                <a:ea typeface="宋体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Times New Roman" charset="0"/>
                <a:ea typeface="宋体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Times New Roman" charset="0"/>
                <a:ea typeface="宋体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charset="0"/>
                <a:ea typeface="宋体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charset="0"/>
                <a:ea typeface="宋体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charset="0"/>
                <a:ea typeface="宋体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charset="0"/>
                <a:ea typeface="宋体" charset="0"/>
              </a:defRPr>
            </a:lvl9pPr>
          </a:lstStyle>
          <a:p>
            <a:pPr algn="l"/>
            <a:r>
              <a:rPr lang="en-US" altLang="zh-CN">
                <a:effectLst/>
              </a:rPr>
              <a:t>void display()</a:t>
            </a:r>
          </a:p>
          <a:p>
            <a:pPr algn="l"/>
            <a:r>
              <a:rPr lang="en-US" altLang="zh-CN">
                <a:effectLst/>
              </a:rPr>
              <a:t>{   FILE *fp;</a:t>
            </a:r>
          </a:p>
          <a:p>
            <a:pPr algn="l"/>
            <a:r>
              <a:rPr lang="en-US" altLang="zh-CN">
                <a:effectLst/>
              </a:rPr>
              <a:t>     int  i;</a:t>
            </a:r>
          </a:p>
          <a:p>
            <a:pPr algn="l"/>
            <a:r>
              <a:rPr lang="en-US" altLang="zh-CN">
                <a:effectLst/>
              </a:rPr>
              <a:t>     if((</a:t>
            </a:r>
            <a:r>
              <a:rPr lang="en-US" altLang="zh-CN">
                <a:solidFill>
                  <a:srgbClr val="0000FF"/>
                </a:solidFill>
                <a:effectLst/>
              </a:rPr>
              <a:t>fp=fopen("stu.dat","rb"))==NULL</a:t>
            </a:r>
            <a:r>
              <a:rPr lang="en-US" altLang="zh-CN">
                <a:effectLst/>
              </a:rPr>
              <a:t>)</a:t>
            </a:r>
          </a:p>
          <a:p>
            <a:pPr algn="l"/>
            <a:r>
              <a:rPr lang="en-US" altLang="zh-CN">
                <a:effectLst/>
              </a:rPr>
              <a:t>     {    printf("cannot open file\n");</a:t>
            </a:r>
          </a:p>
          <a:p>
            <a:pPr algn="l"/>
            <a:r>
              <a:rPr lang="en-US" altLang="zh-CN">
                <a:effectLst/>
              </a:rPr>
              <a:t>           exit(1);</a:t>
            </a:r>
          </a:p>
          <a:p>
            <a:pPr algn="l"/>
            <a:r>
              <a:rPr lang="en-US" altLang="zh-CN">
                <a:effectLst/>
              </a:rPr>
              <a:t>     }</a:t>
            </a:r>
          </a:p>
          <a:p>
            <a:pPr algn="l"/>
            <a:r>
              <a:rPr lang="en-US" altLang="zh-CN">
                <a:effectLst/>
              </a:rPr>
              <a:t>     for(i=0;i&lt;SIZE;i++)</a:t>
            </a:r>
          </a:p>
          <a:p>
            <a:pPr algn="l"/>
            <a:r>
              <a:rPr lang="en-US" altLang="zh-CN">
                <a:effectLst/>
              </a:rPr>
              <a:t>     {   </a:t>
            </a:r>
            <a:r>
              <a:rPr lang="en-US" altLang="zh-CN">
                <a:solidFill>
                  <a:srgbClr val="FF0000"/>
                </a:solidFill>
                <a:effectLst/>
              </a:rPr>
              <a:t>fread(&amp;stud[i],sizeof(student_type),1,fp);</a:t>
            </a:r>
          </a:p>
          <a:p>
            <a:pPr algn="l"/>
            <a:r>
              <a:rPr lang="en-US" altLang="zh-CN">
                <a:effectLst/>
              </a:rPr>
              <a:t>         printf("%-10s %4d %4d %-15s\n",stud[i].name,</a:t>
            </a:r>
          </a:p>
          <a:p>
            <a:pPr algn="l"/>
            <a:r>
              <a:rPr lang="en-US" altLang="zh-CN">
                <a:effectLst/>
              </a:rPr>
              <a:t>                 stud[i].num,stud[i].age,stud[i].addr);</a:t>
            </a:r>
          </a:p>
          <a:p>
            <a:pPr algn="l"/>
            <a:r>
              <a:rPr lang="en-US" altLang="zh-CN">
                <a:effectLst/>
              </a:rPr>
              <a:t>     }</a:t>
            </a:r>
          </a:p>
          <a:p>
            <a:pPr algn="l"/>
            <a:r>
              <a:rPr lang="en-US" altLang="zh-CN">
                <a:effectLst/>
              </a:rPr>
              <a:t>     </a:t>
            </a:r>
            <a:r>
              <a:rPr lang="en-US" altLang="zh-CN">
                <a:solidFill>
                  <a:srgbClr val="0000FF"/>
                </a:solidFill>
                <a:effectLst/>
              </a:rPr>
              <a:t>fclose(fp);</a:t>
            </a:r>
          </a:p>
          <a:p>
            <a:pPr algn="l"/>
            <a:r>
              <a:rPr lang="en-US" altLang="zh-CN">
                <a:effectLst/>
              </a:rPr>
              <a:t>}</a:t>
            </a:r>
          </a:p>
        </p:txBody>
      </p:sp>
    </p:spTree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4" presetClass="entr" presetSubtype="3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530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out)">
                                      <p:cBhvr>
                                        <p:cTn id="7" dur="500"/>
                                        <p:tgtEl>
                                          <p:spTgt spid="5530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5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2" name="CAMERA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 nodeType="clickPar">
                      <p:stCondLst>
                        <p:cond delay="indefinite"/>
                      </p:stCondLst>
                      <p:childTnLst>
                        <p:par>
                          <p:cTn id="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" presetID="4" presetClass="entr" presetSubtype="3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530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out)">
                                      <p:cBhvr>
                                        <p:cTn id="12" dur="500"/>
                                        <p:tgtEl>
                                          <p:spTgt spid="55305"/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10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2" name="CAMERA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 nodeType="clickPar">
                      <p:stCondLst>
                        <p:cond delay="indefinite"/>
                      </p:stCondLst>
                      <p:childTnLst>
                        <p:par>
                          <p:cTn id="1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5" presetID="4" presetClass="entr" presetSubtype="3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530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out)">
                                      <p:cBhvr>
                                        <p:cTn id="17" dur="500"/>
                                        <p:tgtEl>
                                          <p:spTgt spid="55309"/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15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2" name="CAMERA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 nodeType="clickPar">
                      <p:stCondLst>
                        <p:cond delay="indefinite"/>
                      </p:stCondLst>
                      <p:childTnLst>
                        <p:par>
                          <p:cTn id="1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0" presetID="4" presetClass="entr" presetSubtype="3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53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out)">
                                      <p:cBhvr>
                                        <p:cTn id="22" dur="500"/>
                                        <p:tgtEl>
                                          <p:spTgt spid="55310"/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20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2" name="CAMERA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5303" grpId="0" build="p" autoUpdateAnimBg="0"/>
      <p:bldP spid="55305" grpId="0" animBg="1" autoUpdateAnimBg="0"/>
      <p:bldP spid="55309" grpId="0" animBg="1" autoUpdateAnimBg="0"/>
      <p:bldP spid="55310" grpId="0" animBg="1" autoUpdateAnimBg="0"/>
    </p:bldLst>
  </p:timing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85800" y="484632"/>
            <a:ext cx="7772400" cy="568104"/>
          </a:xfrm>
        </p:spPr>
        <p:txBody>
          <a:bodyPr>
            <a:normAutofit fontScale="90000"/>
          </a:bodyPr>
          <a:lstStyle/>
          <a:p>
            <a:r>
              <a:rPr lang="zh-CN" altLang="en-US"/>
              <a:t>小结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500063" y="1143000"/>
            <a:ext cx="8286750" cy="4611688"/>
          </a:xfrm>
        </p:spPr>
        <p:txBody>
          <a:bodyPr/>
          <a:lstStyle/>
          <a:p>
            <a:r>
              <a:rPr lang="zh-CN" altLang="en-US" dirty="0"/>
              <a:t>文件是指存储在外部介质上，且按文件名访问的一组信息序列，需要注意以下几个知识点：</a:t>
            </a:r>
          </a:p>
          <a:p>
            <a:pPr lvl="1"/>
            <a:r>
              <a:rPr lang="zh-CN" altLang="en-US" dirty="0">
                <a:solidFill>
                  <a:schemeClr val="tx1"/>
                </a:solidFill>
                <a:effectLst/>
              </a:rPr>
              <a:t>在</a:t>
            </a:r>
            <a:r>
              <a:rPr lang="en-US" altLang="zh-CN" dirty="0">
                <a:solidFill>
                  <a:schemeClr val="tx1"/>
                </a:solidFill>
                <a:effectLst/>
              </a:rPr>
              <a:t>C</a:t>
            </a:r>
            <a:r>
              <a:rPr lang="zh-CN" altLang="en-US" dirty="0">
                <a:solidFill>
                  <a:schemeClr val="tx1"/>
                </a:solidFill>
                <a:effectLst/>
              </a:rPr>
              <a:t>语言中，文件被看成是“流”的序列，是由一个一个的字节组成的数据流构成的，而不是由记录构成的。由字符流组成的文件叫</a:t>
            </a:r>
            <a:r>
              <a:rPr lang="en-US" altLang="zh-CN" dirty="0">
                <a:solidFill>
                  <a:schemeClr val="tx1"/>
                </a:solidFill>
                <a:effectLst/>
              </a:rPr>
              <a:t>ASCII</a:t>
            </a:r>
            <a:r>
              <a:rPr lang="zh-CN" altLang="en-US" dirty="0">
                <a:solidFill>
                  <a:schemeClr val="tx1"/>
                </a:solidFill>
                <a:effectLst/>
              </a:rPr>
              <a:t>文件，由二进制流组成的文件叫二进制文件；</a:t>
            </a:r>
          </a:p>
          <a:p>
            <a:pPr lvl="1"/>
            <a:r>
              <a:rPr lang="zh-CN" altLang="en-US" dirty="0">
                <a:solidFill>
                  <a:schemeClr val="tx1"/>
                </a:solidFill>
                <a:effectLst/>
              </a:rPr>
              <a:t>新的</a:t>
            </a:r>
            <a:r>
              <a:rPr lang="en-US" altLang="zh-CN" dirty="0">
                <a:solidFill>
                  <a:schemeClr val="tx1"/>
                </a:solidFill>
                <a:effectLst/>
              </a:rPr>
              <a:t>ANSI</a:t>
            </a:r>
            <a:r>
              <a:rPr lang="zh-CN" altLang="en-US" dirty="0">
                <a:solidFill>
                  <a:schemeClr val="tx1"/>
                </a:solidFill>
                <a:effectLst/>
              </a:rPr>
              <a:t>标准只支持缓冲文件系统，使用缓冲文件系统的原因是为了提高效率和延长外部设备的寿命；</a:t>
            </a:r>
          </a:p>
          <a:p>
            <a:pPr lvl="1"/>
            <a:r>
              <a:rPr lang="zh-CN" altLang="en-US" dirty="0">
                <a:solidFill>
                  <a:schemeClr val="tx1"/>
                </a:solidFill>
                <a:effectLst/>
              </a:rPr>
              <a:t>在</a:t>
            </a:r>
            <a:r>
              <a:rPr lang="en-US" altLang="zh-CN" dirty="0">
                <a:solidFill>
                  <a:schemeClr val="tx1"/>
                </a:solidFill>
                <a:effectLst/>
              </a:rPr>
              <a:t>C</a:t>
            </a:r>
            <a:r>
              <a:rPr lang="zh-CN" altLang="en-US" dirty="0">
                <a:solidFill>
                  <a:schemeClr val="tx1"/>
                </a:solidFill>
                <a:effectLst/>
              </a:rPr>
              <a:t>语言中，对数据文件的所有操作都必须依靠文件类型指针来完成。要想对文件进行操作，首先必须将要操作的数据文件与文件类型指针建立联系，然后通过文件指针来操作相应文件；</a:t>
            </a:r>
          </a:p>
          <a:p>
            <a:pPr lvl="1"/>
            <a:r>
              <a:rPr lang="zh-CN" altLang="en-US" dirty="0">
                <a:solidFill>
                  <a:schemeClr val="tx1"/>
                </a:solidFill>
                <a:effectLst/>
              </a:rPr>
              <a:t>文件的操作顺序是打开－读</a:t>
            </a:r>
            <a:r>
              <a:rPr lang="en-US" altLang="zh-CN" dirty="0">
                <a:solidFill>
                  <a:schemeClr val="tx1"/>
                </a:solidFill>
                <a:effectLst/>
              </a:rPr>
              <a:t>/</a:t>
            </a:r>
            <a:r>
              <a:rPr lang="zh-CN" altLang="en-US" dirty="0">
                <a:solidFill>
                  <a:schemeClr val="tx1"/>
                </a:solidFill>
                <a:effectLst/>
              </a:rPr>
              <a:t>写－关闭文件。本章主要介绍了文件的打开与关闭函数以及文件的读</a:t>
            </a:r>
            <a:r>
              <a:rPr lang="en-US" altLang="zh-CN" dirty="0">
                <a:solidFill>
                  <a:schemeClr val="tx1"/>
                </a:solidFill>
                <a:effectLst/>
              </a:rPr>
              <a:t>/</a:t>
            </a:r>
            <a:r>
              <a:rPr lang="zh-CN" altLang="en-US" dirty="0">
                <a:solidFill>
                  <a:schemeClr val="tx1"/>
                </a:solidFill>
                <a:effectLst/>
              </a:rPr>
              <a:t>写函数等。</a:t>
            </a:r>
            <a:endParaRPr lang="zh-CN" altLang="en-US" dirty="0"/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85800" y="2395720"/>
            <a:ext cx="7772400" cy="1609344"/>
          </a:xfrm>
        </p:spPr>
        <p:txBody>
          <a:bodyPr/>
          <a:lstStyle/>
          <a:p>
            <a:pPr algn="ctr"/>
            <a:r>
              <a:rPr kumimoji="1" lang="en-US" altLang="zh-CN" dirty="0"/>
              <a:t>Thanks</a:t>
            </a:r>
            <a:r>
              <a:rPr kumimoji="1" lang="zh-CN" altLang="en-US" dirty="0"/>
              <a:t> </a:t>
            </a:r>
            <a:r>
              <a:rPr kumimoji="1" lang="en-US" altLang="zh-CN" dirty="0"/>
              <a:t>for</a:t>
            </a:r>
            <a:r>
              <a:rPr kumimoji="1" lang="zh-CN" altLang="en-US" dirty="0"/>
              <a:t> </a:t>
            </a:r>
            <a:r>
              <a:rPr kumimoji="1" lang="en-US" altLang="zh-CN" dirty="0"/>
              <a:t>thinking</a:t>
            </a:r>
            <a:endParaRPr kumimoji="1"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1815274272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85800" y="484632"/>
            <a:ext cx="7772400" cy="999681"/>
          </a:xfrm>
        </p:spPr>
        <p:txBody>
          <a:bodyPr/>
          <a:lstStyle/>
          <a:p>
            <a:pPr>
              <a:defRPr/>
            </a:pPr>
            <a:r>
              <a:rPr lang="en-US" altLang="zh-CN" dirty="0" err="1">
                <a:cs typeface="+mj-cs"/>
              </a:rPr>
              <a:t>fputc</a:t>
            </a:r>
            <a:r>
              <a:rPr lang="zh-CN" altLang="en-US" dirty="0">
                <a:cs typeface="+mj-cs"/>
              </a:rPr>
              <a:t>函数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685800" y="1484313"/>
            <a:ext cx="8101013" cy="4611687"/>
          </a:xfrm>
        </p:spPr>
        <p:txBody>
          <a:bodyPr/>
          <a:lstStyle/>
          <a:p>
            <a:pPr marL="361950"/>
            <a:r>
              <a:rPr lang="zh-CN" altLang="en-US" dirty="0"/>
              <a:t>函数原型：</a:t>
            </a:r>
            <a:r>
              <a:rPr lang="en-US" altLang="zh-CN" dirty="0" err="1">
                <a:solidFill>
                  <a:srgbClr val="0000FF"/>
                </a:solidFill>
                <a:latin typeface="Courier New" charset="0"/>
              </a:rPr>
              <a:t>int</a:t>
            </a:r>
            <a:r>
              <a:rPr lang="en-US" altLang="zh-CN" dirty="0">
                <a:solidFill>
                  <a:srgbClr val="000000"/>
                </a:solidFill>
                <a:latin typeface="Courier New" charset="0"/>
              </a:rPr>
              <a:t> </a:t>
            </a:r>
            <a:r>
              <a:rPr lang="en-US" altLang="zh-CN" dirty="0" err="1">
                <a:solidFill>
                  <a:srgbClr val="000000"/>
                </a:solidFill>
                <a:latin typeface="Courier New" charset="0"/>
              </a:rPr>
              <a:t>fputc</a:t>
            </a:r>
            <a:r>
              <a:rPr lang="en-US" altLang="zh-CN" dirty="0">
                <a:solidFill>
                  <a:srgbClr val="000000"/>
                </a:solidFill>
                <a:latin typeface="Courier New" charset="0"/>
              </a:rPr>
              <a:t>(</a:t>
            </a:r>
            <a:r>
              <a:rPr lang="en-US" altLang="zh-CN" dirty="0" err="1">
                <a:solidFill>
                  <a:srgbClr val="0000FF"/>
                </a:solidFill>
                <a:latin typeface="Courier New" charset="0"/>
              </a:rPr>
              <a:t>int</a:t>
            </a:r>
            <a:r>
              <a:rPr lang="en-US" altLang="zh-CN" dirty="0">
                <a:solidFill>
                  <a:srgbClr val="000000"/>
                </a:solidFill>
                <a:latin typeface="Courier New" charset="0"/>
              </a:rPr>
              <a:t> c, FILE *</a:t>
            </a:r>
            <a:r>
              <a:rPr lang="en-US" altLang="zh-CN" dirty="0" err="1">
                <a:solidFill>
                  <a:srgbClr val="000000"/>
                </a:solidFill>
                <a:latin typeface="Courier New" charset="0"/>
              </a:rPr>
              <a:t>fp</a:t>
            </a:r>
            <a:r>
              <a:rPr lang="en-US" altLang="zh-CN" dirty="0">
                <a:solidFill>
                  <a:srgbClr val="000000"/>
                </a:solidFill>
                <a:latin typeface="Courier New" charset="0"/>
              </a:rPr>
              <a:t>);</a:t>
            </a:r>
          </a:p>
          <a:p>
            <a:pPr marL="361950"/>
            <a:r>
              <a:rPr lang="zh-CN" altLang="en-US" dirty="0"/>
              <a:t>一般形式如下：</a:t>
            </a:r>
          </a:p>
          <a:p>
            <a:pPr marL="361950">
              <a:buFont typeface="Wingdings" charset="2"/>
              <a:buNone/>
            </a:pPr>
            <a:r>
              <a:rPr lang="zh-CN" altLang="en-US" dirty="0">
                <a:solidFill>
                  <a:srgbClr val="CC0099"/>
                </a:solidFill>
              </a:rPr>
              <a:t>          </a:t>
            </a:r>
            <a:r>
              <a:rPr lang="en-US" altLang="zh-CN" dirty="0" err="1">
                <a:solidFill>
                  <a:srgbClr val="CC0099"/>
                </a:solidFill>
                <a:effectLst/>
              </a:rPr>
              <a:t>fputc</a:t>
            </a:r>
            <a:r>
              <a:rPr lang="en-US" altLang="zh-CN" dirty="0">
                <a:solidFill>
                  <a:srgbClr val="CC0099"/>
                </a:solidFill>
                <a:effectLst/>
              </a:rPr>
              <a:t>(</a:t>
            </a:r>
            <a:r>
              <a:rPr lang="en-US" altLang="zh-CN" dirty="0" err="1">
                <a:solidFill>
                  <a:srgbClr val="CC0099"/>
                </a:solidFill>
                <a:effectLst/>
              </a:rPr>
              <a:t>ch,fp</a:t>
            </a:r>
            <a:r>
              <a:rPr lang="en-US" altLang="zh-CN" dirty="0">
                <a:solidFill>
                  <a:srgbClr val="CC0099"/>
                </a:solidFill>
                <a:effectLst/>
              </a:rPr>
              <a:t>)</a:t>
            </a:r>
            <a:r>
              <a:rPr lang="zh-CN" altLang="en-US" dirty="0">
                <a:solidFill>
                  <a:srgbClr val="CC0099"/>
                </a:solidFill>
                <a:effectLst/>
              </a:rPr>
              <a:t>；</a:t>
            </a:r>
          </a:p>
          <a:p>
            <a:pPr marL="838200" lvl="1">
              <a:buFont typeface="Wingdings" charset="2"/>
              <a:buNone/>
            </a:pPr>
            <a:r>
              <a:rPr lang="zh-CN" altLang="en-US" dirty="0">
                <a:solidFill>
                  <a:srgbClr val="000000"/>
                </a:solidFill>
              </a:rPr>
              <a:t>其中：   </a:t>
            </a:r>
            <a:r>
              <a:rPr lang="en-US" altLang="zh-CN" dirty="0" err="1">
                <a:solidFill>
                  <a:srgbClr val="000000"/>
                </a:solidFill>
              </a:rPr>
              <a:t>ch</a:t>
            </a:r>
            <a:r>
              <a:rPr lang="zh-CN" altLang="en-US" dirty="0">
                <a:solidFill>
                  <a:srgbClr val="000000"/>
                </a:solidFill>
              </a:rPr>
              <a:t>是要输出的字符。</a:t>
            </a:r>
          </a:p>
          <a:p>
            <a:pPr marL="838200" lvl="1">
              <a:buFont typeface="Wingdings" charset="2"/>
              <a:buNone/>
            </a:pPr>
            <a:r>
              <a:rPr lang="zh-CN" altLang="en-US" dirty="0">
                <a:solidFill>
                  <a:srgbClr val="000000"/>
                </a:solidFill>
              </a:rPr>
              <a:t>               </a:t>
            </a:r>
            <a:r>
              <a:rPr lang="en-US" altLang="zh-CN" dirty="0" err="1">
                <a:solidFill>
                  <a:srgbClr val="000000"/>
                </a:solidFill>
              </a:rPr>
              <a:t>fp</a:t>
            </a:r>
            <a:r>
              <a:rPr lang="zh-CN" altLang="en-US" dirty="0">
                <a:solidFill>
                  <a:srgbClr val="000000"/>
                </a:solidFill>
              </a:rPr>
              <a:t>是文件指针变量。</a:t>
            </a:r>
          </a:p>
          <a:p>
            <a:pPr marL="361950"/>
            <a:r>
              <a:rPr lang="en-US" altLang="zh-CN" dirty="0" err="1"/>
              <a:t>fputc</a:t>
            </a:r>
            <a:r>
              <a:rPr lang="en-US" altLang="zh-CN" dirty="0"/>
              <a:t>()</a:t>
            </a:r>
            <a:r>
              <a:rPr lang="zh-CN" altLang="en-US" dirty="0"/>
              <a:t>函数的作用是将字符（</a:t>
            </a:r>
            <a:r>
              <a:rPr lang="en-US" altLang="zh-CN" dirty="0" err="1"/>
              <a:t>ch</a:t>
            </a:r>
            <a:r>
              <a:rPr lang="zh-CN" altLang="en-US" dirty="0"/>
              <a:t>的值）输出到</a:t>
            </a:r>
            <a:r>
              <a:rPr lang="en-US" altLang="zh-CN" dirty="0" err="1"/>
              <a:t>fp</a:t>
            </a:r>
            <a:r>
              <a:rPr lang="zh-CN" altLang="en-US" dirty="0"/>
              <a:t>所指向的文件中，即向指定文件中写入一个字符。</a:t>
            </a:r>
          </a:p>
          <a:p>
            <a:pPr marL="361950"/>
            <a:r>
              <a:rPr lang="zh-CN" altLang="en-US" dirty="0"/>
              <a:t>如果要向终端输出一个字符，则使用如下形式：</a:t>
            </a:r>
          </a:p>
          <a:p>
            <a:pPr marL="361950">
              <a:buFont typeface="Wingdings" charset="2"/>
              <a:buNone/>
            </a:pPr>
            <a:r>
              <a:rPr lang="en-US" altLang="zh-CN" dirty="0">
                <a:solidFill>
                  <a:srgbClr val="CC0099"/>
                </a:solidFill>
                <a:effectLst/>
              </a:rPr>
              <a:t>      </a:t>
            </a:r>
            <a:r>
              <a:rPr lang="en-US" altLang="zh-CN" dirty="0" err="1">
                <a:solidFill>
                  <a:srgbClr val="CC0099"/>
                </a:solidFill>
                <a:effectLst/>
              </a:rPr>
              <a:t>fputc</a:t>
            </a:r>
            <a:r>
              <a:rPr lang="en-US" altLang="zh-CN" dirty="0">
                <a:solidFill>
                  <a:srgbClr val="CC0099"/>
                </a:solidFill>
                <a:effectLst/>
              </a:rPr>
              <a:t>(</a:t>
            </a:r>
            <a:r>
              <a:rPr lang="en-US" altLang="zh-CN" dirty="0" err="1">
                <a:solidFill>
                  <a:srgbClr val="CC0099"/>
                </a:solidFill>
                <a:effectLst/>
              </a:rPr>
              <a:t>ch,stdout</a:t>
            </a:r>
            <a:r>
              <a:rPr lang="en-US" altLang="zh-CN" dirty="0">
                <a:solidFill>
                  <a:srgbClr val="CC0099"/>
                </a:solidFill>
                <a:effectLst/>
              </a:rPr>
              <a:t>)</a:t>
            </a:r>
            <a:r>
              <a:rPr lang="zh-CN" altLang="en-US" dirty="0">
                <a:solidFill>
                  <a:srgbClr val="CC0099"/>
                </a:solidFill>
                <a:effectLst/>
              </a:rPr>
              <a:t>；  </a:t>
            </a:r>
            <a:r>
              <a:rPr lang="zh-CN" altLang="en-US" dirty="0">
                <a:solidFill>
                  <a:schemeClr val="accent2"/>
                </a:solidFill>
                <a:effectLst/>
              </a:rPr>
              <a:t>等价于 </a:t>
            </a:r>
            <a:r>
              <a:rPr lang="en-US" altLang="zh-CN" dirty="0" err="1">
                <a:solidFill>
                  <a:srgbClr val="CC0099"/>
                </a:solidFill>
                <a:effectLst/>
              </a:rPr>
              <a:t>putchar</a:t>
            </a:r>
            <a:r>
              <a:rPr lang="en-US" altLang="zh-CN" dirty="0">
                <a:solidFill>
                  <a:srgbClr val="CC0099"/>
                </a:solidFill>
                <a:effectLst/>
              </a:rPr>
              <a:t>(</a:t>
            </a:r>
            <a:r>
              <a:rPr lang="en-US" altLang="zh-CN" dirty="0" err="1">
                <a:solidFill>
                  <a:srgbClr val="CC0099"/>
                </a:solidFill>
                <a:effectLst/>
              </a:rPr>
              <a:t>ch</a:t>
            </a:r>
            <a:r>
              <a:rPr lang="en-US" altLang="zh-CN" dirty="0">
                <a:solidFill>
                  <a:srgbClr val="CC0099"/>
                </a:solidFill>
                <a:effectLst/>
              </a:rPr>
              <a:t>)</a:t>
            </a:r>
            <a:endParaRPr lang="zh-CN" altLang="en-US" dirty="0">
              <a:solidFill>
                <a:srgbClr val="CC0099"/>
              </a:solidFill>
              <a:effectLst/>
            </a:endParaRPr>
          </a:p>
          <a:p>
            <a:pPr marL="838200" lvl="1">
              <a:buFont typeface="Wingdings" charset="2"/>
              <a:buNone/>
            </a:pPr>
            <a:r>
              <a:rPr lang="en-US" altLang="zh-CN" dirty="0" err="1">
                <a:solidFill>
                  <a:srgbClr val="000000"/>
                </a:solidFill>
              </a:rPr>
              <a:t>stdout</a:t>
            </a:r>
            <a:r>
              <a:rPr lang="zh-CN" altLang="en-US" dirty="0">
                <a:solidFill>
                  <a:srgbClr val="000000"/>
                </a:solidFill>
                <a:latin typeface="宋体" charset="0"/>
              </a:rPr>
              <a:t>是标准输出终端设备的文件指针，由系统定义。</a:t>
            </a:r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113723499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85800" y="484632"/>
            <a:ext cx="7772400" cy="1144168"/>
          </a:xfrm>
        </p:spPr>
        <p:txBody>
          <a:bodyPr/>
          <a:lstStyle/>
          <a:p>
            <a:pPr>
              <a:defRPr/>
            </a:pPr>
            <a:r>
              <a:rPr lang="en-US" altLang="zh-CN" dirty="0" err="1">
                <a:cs typeface="+mj-cs"/>
              </a:rPr>
              <a:t>fgetc</a:t>
            </a:r>
            <a:r>
              <a:rPr lang="zh-CN" altLang="en-US" dirty="0">
                <a:cs typeface="+mj-cs"/>
              </a:rPr>
              <a:t>函数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685800" y="1484313"/>
            <a:ext cx="8101013" cy="4611687"/>
          </a:xfrm>
        </p:spPr>
        <p:txBody>
          <a:bodyPr/>
          <a:lstStyle/>
          <a:p>
            <a:pPr marL="361950"/>
            <a:r>
              <a:rPr lang="zh-CN" altLang="en-US" dirty="0"/>
              <a:t>函数原型：</a:t>
            </a:r>
            <a:r>
              <a:rPr lang="en-US" altLang="zh-CN" dirty="0" err="1">
                <a:solidFill>
                  <a:srgbClr val="0000FF"/>
                </a:solidFill>
                <a:latin typeface="Courier New" charset="0"/>
              </a:rPr>
              <a:t>int</a:t>
            </a:r>
            <a:r>
              <a:rPr lang="en-US" altLang="zh-CN" dirty="0">
                <a:solidFill>
                  <a:srgbClr val="000000"/>
                </a:solidFill>
                <a:latin typeface="Courier New" charset="0"/>
              </a:rPr>
              <a:t> </a:t>
            </a:r>
            <a:r>
              <a:rPr lang="en-US" altLang="zh-CN" dirty="0" err="1">
                <a:solidFill>
                  <a:srgbClr val="000000"/>
                </a:solidFill>
                <a:latin typeface="Courier New" charset="0"/>
              </a:rPr>
              <a:t>fgetc</a:t>
            </a:r>
            <a:r>
              <a:rPr lang="en-US" altLang="zh-CN" dirty="0">
                <a:solidFill>
                  <a:srgbClr val="000000"/>
                </a:solidFill>
                <a:latin typeface="Courier New" charset="0"/>
              </a:rPr>
              <a:t>(FILE *</a:t>
            </a:r>
            <a:r>
              <a:rPr lang="en-US" altLang="zh-CN" dirty="0" err="1">
                <a:solidFill>
                  <a:srgbClr val="000000"/>
                </a:solidFill>
                <a:latin typeface="Courier New" charset="0"/>
              </a:rPr>
              <a:t>fp</a:t>
            </a:r>
            <a:r>
              <a:rPr lang="en-US" altLang="zh-CN" dirty="0">
                <a:solidFill>
                  <a:srgbClr val="000000"/>
                </a:solidFill>
                <a:latin typeface="Courier New" charset="0"/>
              </a:rPr>
              <a:t>);</a:t>
            </a:r>
          </a:p>
          <a:p>
            <a:pPr marL="361950"/>
            <a:r>
              <a:rPr lang="en-US" altLang="zh-CN" dirty="0" err="1"/>
              <a:t>fgetc</a:t>
            </a:r>
            <a:r>
              <a:rPr lang="en-US" altLang="zh-CN" dirty="0"/>
              <a:t>()</a:t>
            </a:r>
            <a:r>
              <a:rPr lang="zh-CN" altLang="en-US" dirty="0"/>
              <a:t>函数的功能是从指定文件读入一个字符，该文件必须是以读或读写方式打开的。</a:t>
            </a:r>
            <a:endParaRPr lang="en-US" altLang="zh-CN" dirty="0"/>
          </a:p>
          <a:p>
            <a:pPr marL="361950"/>
            <a:r>
              <a:rPr lang="zh-CN" altLang="en-US" dirty="0"/>
              <a:t>一般形式如下：</a:t>
            </a:r>
          </a:p>
          <a:p>
            <a:pPr marL="361950">
              <a:buFont typeface="Wingdings" charset="2"/>
              <a:buNone/>
            </a:pPr>
            <a:r>
              <a:rPr lang="zh-CN" altLang="en-US" dirty="0">
                <a:solidFill>
                  <a:srgbClr val="CC0099"/>
                </a:solidFill>
                <a:effectLst/>
              </a:rPr>
              <a:t>          </a:t>
            </a:r>
            <a:r>
              <a:rPr lang="en-US" altLang="zh-CN" dirty="0" err="1">
                <a:solidFill>
                  <a:srgbClr val="CC0099"/>
                </a:solidFill>
                <a:effectLst/>
              </a:rPr>
              <a:t>ch</a:t>
            </a:r>
            <a:r>
              <a:rPr lang="en-US" altLang="zh-CN" dirty="0">
                <a:solidFill>
                  <a:srgbClr val="CC0099"/>
                </a:solidFill>
                <a:effectLst/>
              </a:rPr>
              <a:t>=</a:t>
            </a:r>
            <a:r>
              <a:rPr lang="en-US" altLang="zh-CN" dirty="0" err="1">
                <a:solidFill>
                  <a:srgbClr val="CC0099"/>
                </a:solidFill>
                <a:effectLst/>
              </a:rPr>
              <a:t>fgetc</a:t>
            </a:r>
            <a:r>
              <a:rPr lang="en-US" altLang="zh-CN" dirty="0">
                <a:solidFill>
                  <a:srgbClr val="CC0099"/>
                </a:solidFill>
                <a:effectLst/>
              </a:rPr>
              <a:t>(</a:t>
            </a:r>
            <a:r>
              <a:rPr lang="en-US" altLang="zh-CN" dirty="0" err="1">
                <a:solidFill>
                  <a:srgbClr val="CC0099"/>
                </a:solidFill>
                <a:effectLst/>
              </a:rPr>
              <a:t>fp</a:t>
            </a:r>
            <a:r>
              <a:rPr lang="en-US" altLang="zh-CN" dirty="0">
                <a:solidFill>
                  <a:srgbClr val="CC0099"/>
                </a:solidFill>
                <a:effectLst/>
              </a:rPr>
              <a:t>)</a:t>
            </a:r>
            <a:r>
              <a:rPr lang="zh-CN" altLang="en-US" dirty="0">
                <a:solidFill>
                  <a:srgbClr val="CC0099"/>
                </a:solidFill>
                <a:effectLst/>
              </a:rPr>
              <a:t>；</a:t>
            </a:r>
          </a:p>
          <a:p>
            <a:pPr marL="361950">
              <a:buFont typeface="Wingdings" charset="2"/>
              <a:buNone/>
            </a:pPr>
            <a:r>
              <a:rPr lang="zh-CN" altLang="en-US" dirty="0">
                <a:solidFill>
                  <a:srgbClr val="000000"/>
                </a:solidFill>
                <a:latin typeface="宋体" charset="0"/>
              </a:rPr>
              <a:t>   其中，</a:t>
            </a:r>
            <a:r>
              <a:rPr lang="en-US" altLang="zh-CN" dirty="0" err="1">
                <a:solidFill>
                  <a:srgbClr val="000000"/>
                </a:solidFill>
              </a:rPr>
              <a:t>fp</a:t>
            </a:r>
            <a:r>
              <a:rPr lang="zh-CN" altLang="en-US" dirty="0">
                <a:solidFill>
                  <a:srgbClr val="000000"/>
                </a:solidFill>
                <a:latin typeface="宋体" charset="0"/>
              </a:rPr>
              <a:t>为文件型指针变量，</a:t>
            </a:r>
            <a:r>
              <a:rPr lang="en-US" altLang="zh-CN" dirty="0" err="1">
                <a:solidFill>
                  <a:srgbClr val="000000"/>
                </a:solidFill>
              </a:rPr>
              <a:t>ch</a:t>
            </a:r>
            <a:r>
              <a:rPr lang="zh-CN" altLang="en-US" dirty="0">
                <a:solidFill>
                  <a:srgbClr val="000000"/>
                </a:solidFill>
                <a:latin typeface="宋体" charset="0"/>
              </a:rPr>
              <a:t>为字符变量。正常情况下</a:t>
            </a:r>
            <a:r>
              <a:rPr lang="en-US" altLang="zh-CN" dirty="0" err="1">
                <a:solidFill>
                  <a:srgbClr val="000000"/>
                </a:solidFill>
              </a:rPr>
              <a:t>fgetc</a:t>
            </a:r>
            <a:r>
              <a:rPr lang="en-US" altLang="zh-CN" dirty="0">
                <a:solidFill>
                  <a:srgbClr val="000000"/>
                </a:solidFill>
              </a:rPr>
              <a:t>()</a:t>
            </a:r>
            <a:r>
              <a:rPr lang="zh-CN" altLang="en-US" dirty="0">
                <a:solidFill>
                  <a:srgbClr val="000000"/>
                </a:solidFill>
                <a:latin typeface="宋体" charset="0"/>
              </a:rPr>
              <a:t>函数的返回值是从文件中读出的一个字符。</a:t>
            </a:r>
            <a:r>
              <a:rPr lang="zh-CN" altLang="en-US" dirty="0">
                <a:solidFill>
                  <a:srgbClr val="000000"/>
                </a:solidFill>
                <a:latin typeface="黑体" charset="0"/>
                <a:ea typeface="黑体" charset="0"/>
              </a:rPr>
              <a:t> </a:t>
            </a:r>
          </a:p>
          <a:p>
            <a:pPr marL="361950"/>
            <a:r>
              <a:rPr lang="en-US" altLang="zh-CN" dirty="0" err="1">
                <a:solidFill>
                  <a:srgbClr val="CC0099"/>
                </a:solidFill>
                <a:effectLst/>
              </a:rPr>
              <a:t>ch</a:t>
            </a:r>
            <a:r>
              <a:rPr lang="en-US" altLang="zh-CN" dirty="0">
                <a:solidFill>
                  <a:srgbClr val="CC0099"/>
                </a:solidFill>
                <a:effectLst/>
              </a:rPr>
              <a:t>=</a:t>
            </a:r>
            <a:r>
              <a:rPr lang="en-US" altLang="zh-CN" dirty="0" err="1">
                <a:solidFill>
                  <a:srgbClr val="CC0099"/>
                </a:solidFill>
                <a:effectLst/>
              </a:rPr>
              <a:t>fgetc</a:t>
            </a:r>
            <a:r>
              <a:rPr lang="en-US" altLang="zh-CN" dirty="0">
                <a:solidFill>
                  <a:srgbClr val="CC0099"/>
                </a:solidFill>
                <a:effectLst/>
              </a:rPr>
              <a:t>(</a:t>
            </a:r>
            <a:r>
              <a:rPr lang="en-US" altLang="zh-CN" dirty="0" err="1">
                <a:solidFill>
                  <a:srgbClr val="CC0099"/>
                </a:solidFill>
                <a:effectLst/>
              </a:rPr>
              <a:t>stdin</a:t>
            </a:r>
            <a:r>
              <a:rPr lang="en-US" altLang="zh-CN" dirty="0">
                <a:solidFill>
                  <a:srgbClr val="CC0099"/>
                </a:solidFill>
                <a:effectLst/>
              </a:rPr>
              <a:t>)</a:t>
            </a:r>
            <a:r>
              <a:rPr lang="zh-CN" altLang="en-US" dirty="0"/>
              <a:t>等价于</a:t>
            </a:r>
            <a:r>
              <a:rPr lang="en-US" altLang="zh-CN" dirty="0" err="1">
                <a:solidFill>
                  <a:srgbClr val="CC0099"/>
                </a:solidFill>
                <a:effectLst/>
              </a:rPr>
              <a:t>ch</a:t>
            </a:r>
            <a:r>
              <a:rPr lang="en-US" altLang="zh-CN" dirty="0">
                <a:solidFill>
                  <a:srgbClr val="CC0099"/>
                </a:solidFill>
                <a:effectLst/>
              </a:rPr>
              <a:t>=</a:t>
            </a:r>
            <a:r>
              <a:rPr lang="en-US" altLang="zh-CN" dirty="0" err="1">
                <a:solidFill>
                  <a:srgbClr val="CC0099"/>
                </a:solidFill>
                <a:effectLst/>
              </a:rPr>
              <a:t>getchar</a:t>
            </a:r>
            <a:r>
              <a:rPr lang="en-US" altLang="zh-CN" dirty="0">
                <a:solidFill>
                  <a:srgbClr val="CC0099"/>
                </a:solidFill>
                <a:effectLst/>
              </a:rPr>
              <a:t>()</a:t>
            </a:r>
            <a:endParaRPr lang="zh-CN" altLang="en-US" dirty="0">
              <a:solidFill>
                <a:srgbClr val="CC0099"/>
              </a:solidFill>
              <a:effectLst/>
            </a:endParaRPr>
          </a:p>
        </p:txBody>
      </p:sp>
    </p:spTree>
    <p:extLst>
      <p:ext uri="{BB962C8B-B14F-4D97-AF65-F5344CB8AC3E}">
        <p14:creationId xmlns:p14="http://schemas.microsoft.com/office/powerpoint/2010/main" val="1131511416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495" name="Text Box 15"/>
          <p:cNvSpPr txBox="1">
            <a:spLocks noChangeArrowheads="1"/>
          </p:cNvSpPr>
          <p:nvPr/>
        </p:nvSpPr>
        <p:spPr bwMode="auto">
          <a:xfrm>
            <a:off x="0" y="266700"/>
            <a:ext cx="3724275" cy="12001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>
            <a:spAutoFit/>
          </a:bodyPr>
          <a:lstStyle>
            <a:lvl1pPr>
              <a:defRPr sz="2400">
                <a:solidFill>
                  <a:schemeClr val="tx1"/>
                </a:solidFill>
                <a:latin typeface="Times New Roman" charset="0"/>
                <a:ea typeface="宋体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Times New Roman" charset="0"/>
                <a:ea typeface="宋体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Times New Roman" charset="0"/>
                <a:ea typeface="宋体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Times New Roman" charset="0"/>
                <a:ea typeface="宋体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Times New Roman" charset="0"/>
                <a:ea typeface="宋体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charset="0"/>
                <a:ea typeface="宋体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charset="0"/>
                <a:ea typeface="宋体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charset="0"/>
                <a:ea typeface="宋体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charset="0"/>
                <a:ea typeface="宋体" charset="0"/>
              </a:defRPr>
            </a:lvl9pPr>
          </a:lstStyle>
          <a:p>
            <a:pPr algn="l" eaLnBrk="1" hangingPunct="1"/>
            <a:r>
              <a:rPr lang="zh-CN" altLang="en-US">
                <a:effectLst>
                  <a:outerShdw blurRad="38100" dist="38100" dir="2700000" algn="tl">
                    <a:srgbClr val="C0C0C0"/>
                  </a:outerShdw>
                </a:effectLst>
              </a:rPr>
              <a:t>例  从键盘输入字符，逐个</a:t>
            </a:r>
          </a:p>
          <a:p>
            <a:pPr algn="l" eaLnBrk="1" hangingPunct="1"/>
            <a:r>
              <a:rPr lang="zh-CN" altLang="en-US">
                <a:effectLst>
                  <a:outerShdw blurRad="38100" dist="38100" dir="2700000" algn="tl">
                    <a:srgbClr val="C0C0C0"/>
                  </a:outerShdw>
                </a:effectLst>
              </a:rPr>
              <a:t>      存到磁盘文件中，直到</a:t>
            </a:r>
          </a:p>
          <a:p>
            <a:pPr algn="l" eaLnBrk="1" hangingPunct="1"/>
            <a:r>
              <a:rPr lang="zh-CN" altLang="en-US">
                <a:effectLst>
                  <a:outerShdw blurRad="38100" dist="38100" dir="2700000" algn="tl">
                    <a:srgbClr val="C0C0C0"/>
                  </a:outerShdw>
                </a:effectLst>
              </a:rPr>
              <a:t>      输入‘</a:t>
            </a:r>
            <a:r>
              <a:rPr lang="en-US" altLang="zh-CN">
                <a:effectLst>
                  <a:outerShdw blurRad="38100" dist="38100" dir="2700000" algn="tl">
                    <a:srgbClr val="C0C0C0"/>
                  </a:outerShdw>
                </a:effectLst>
              </a:rPr>
              <a:t>#“</a:t>
            </a:r>
            <a:r>
              <a:rPr lang="zh-CN" altLang="en-US">
                <a:effectLst>
                  <a:outerShdw blurRad="38100" dist="38100" dir="2700000" algn="tl">
                    <a:srgbClr val="C0C0C0"/>
                  </a:outerShdw>
                </a:effectLst>
              </a:rPr>
              <a:t>为止</a:t>
            </a:r>
          </a:p>
        </p:txBody>
      </p:sp>
      <p:sp>
        <p:nvSpPr>
          <p:cNvPr id="20496" name="Rectangle 16"/>
          <p:cNvSpPr>
            <a:spLocks noChangeArrowheads="1"/>
          </p:cNvSpPr>
          <p:nvPr/>
        </p:nvSpPr>
        <p:spPr bwMode="auto">
          <a:xfrm>
            <a:off x="4067175" y="0"/>
            <a:ext cx="5213350" cy="6742113"/>
          </a:xfrm>
          <a:prstGeom prst="rect">
            <a:avLst/>
          </a:prstGeom>
          <a:solidFill>
            <a:srgbClr val="CCECFF"/>
          </a:solidFill>
          <a:ln w="38100">
            <a:solidFill>
              <a:srgbClr val="33CCCC"/>
            </a:solidFill>
            <a:miter lim="800000"/>
            <a:headEnd/>
            <a:tailEnd/>
          </a:ln>
        </p:spPr>
        <p:txBody>
          <a:bodyPr wrap="none" lIns="90000" tIns="46800" rIns="90000" bIns="46800" anchor="ctr">
            <a:spAutoFit/>
          </a:bodyPr>
          <a:lstStyle>
            <a:lvl1pPr>
              <a:defRPr sz="2400">
                <a:solidFill>
                  <a:schemeClr val="tx1"/>
                </a:solidFill>
                <a:latin typeface="Times New Roman" charset="0"/>
                <a:ea typeface="宋体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Times New Roman" charset="0"/>
                <a:ea typeface="宋体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Times New Roman" charset="0"/>
                <a:ea typeface="宋体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Times New Roman" charset="0"/>
                <a:ea typeface="宋体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Times New Roman" charset="0"/>
                <a:ea typeface="宋体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charset="0"/>
                <a:ea typeface="宋体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charset="0"/>
                <a:ea typeface="宋体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charset="0"/>
                <a:ea typeface="宋体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charset="0"/>
                <a:ea typeface="宋体" charset="0"/>
              </a:defRPr>
            </a:lvl9pPr>
          </a:lstStyle>
          <a:p>
            <a:pPr algn="l"/>
            <a:r>
              <a:rPr lang="en-US" altLang="zh-CN">
                <a:effectLst/>
              </a:rPr>
              <a:t>#include &lt;stdio.h&gt;</a:t>
            </a:r>
          </a:p>
          <a:p>
            <a:pPr algn="l"/>
            <a:r>
              <a:rPr lang="en-US" altLang="zh-CN">
                <a:effectLst/>
              </a:rPr>
              <a:t>#include&lt;stdlib.h&gt;</a:t>
            </a:r>
          </a:p>
          <a:p>
            <a:pPr algn="l"/>
            <a:r>
              <a:rPr lang="en-US" altLang="zh-CN">
                <a:effectLst/>
              </a:rPr>
              <a:t>int main()</a:t>
            </a:r>
          </a:p>
          <a:p>
            <a:pPr algn="l"/>
            <a:r>
              <a:rPr lang="en-US" altLang="zh-CN">
                <a:effectLst/>
              </a:rPr>
              <a:t>{  FILE *fp;</a:t>
            </a:r>
          </a:p>
          <a:p>
            <a:pPr algn="l"/>
            <a:r>
              <a:rPr lang="en-US" altLang="zh-CN">
                <a:effectLst/>
              </a:rPr>
              <a:t>    char ch,*filename="out.txt";</a:t>
            </a:r>
          </a:p>
          <a:p>
            <a:pPr algn="l"/>
            <a:r>
              <a:rPr lang="en-US" altLang="zh-CN">
                <a:effectLst/>
              </a:rPr>
              <a:t>    if((</a:t>
            </a:r>
            <a:r>
              <a:rPr lang="en-US" altLang="zh-CN">
                <a:solidFill>
                  <a:schemeClr val="accent2"/>
                </a:solidFill>
                <a:effectLst/>
              </a:rPr>
              <a:t>fp=fopen(filename,"w"))==NULL</a:t>
            </a:r>
            <a:r>
              <a:rPr lang="en-US" altLang="zh-CN">
                <a:effectLst/>
              </a:rPr>
              <a:t>)</a:t>
            </a:r>
          </a:p>
          <a:p>
            <a:pPr algn="l"/>
            <a:r>
              <a:rPr lang="en-US" altLang="zh-CN">
                <a:effectLst/>
              </a:rPr>
              <a:t>    {   printf("cannot open file\n");</a:t>
            </a:r>
          </a:p>
          <a:p>
            <a:pPr algn="l"/>
            <a:r>
              <a:rPr lang="en-US" altLang="zh-CN">
                <a:effectLst/>
              </a:rPr>
              <a:t>	exit(0);</a:t>
            </a:r>
          </a:p>
          <a:p>
            <a:pPr algn="l"/>
            <a:r>
              <a:rPr lang="zh-CN" altLang="en-US">
                <a:effectLst/>
              </a:rPr>
              <a:t>    </a:t>
            </a:r>
            <a:r>
              <a:rPr lang="en-US" altLang="zh-CN">
                <a:effectLst/>
              </a:rPr>
              <a:t>}</a:t>
            </a:r>
          </a:p>
          <a:p>
            <a:pPr algn="l"/>
            <a:r>
              <a:rPr lang="en-US" altLang="zh-CN">
                <a:effectLst/>
              </a:rPr>
              <a:t>    printf("Please input string:");</a:t>
            </a:r>
          </a:p>
          <a:p>
            <a:pPr algn="l"/>
            <a:r>
              <a:rPr lang="en-US" altLang="zh-CN">
                <a:effectLst/>
              </a:rPr>
              <a:t>    ch=getchar();</a:t>
            </a:r>
          </a:p>
          <a:p>
            <a:pPr algn="l"/>
            <a:r>
              <a:rPr lang="en-US" altLang="zh-CN">
                <a:effectLst/>
              </a:rPr>
              <a:t>    while(ch!='#')</a:t>
            </a:r>
          </a:p>
          <a:p>
            <a:pPr algn="l"/>
            <a:r>
              <a:rPr lang="en-US" altLang="zh-CN">
                <a:effectLst/>
              </a:rPr>
              <a:t>    {    </a:t>
            </a:r>
            <a:r>
              <a:rPr lang="en-US" altLang="zh-CN">
                <a:solidFill>
                  <a:srgbClr val="FF0000"/>
                </a:solidFill>
                <a:effectLst/>
              </a:rPr>
              <a:t>fputc(ch,fp);</a:t>
            </a:r>
          </a:p>
          <a:p>
            <a:pPr algn="l"/>
            <a:r>
              <a:rPr lang="en-US" altLang="zh-CN">
                <a:effectLst/>
              </a:rPr>
              <a:t>          putchar(ch);</a:t>
            </a:r>
          </a:p>
          <a:p>
            <a:pPr algn="l"/>
            <a:r>
              <a:rPr lang="en-US" altLang="zh-CN">
                <a:effectLst/>
              </a:rPr>
              <a:t>          ch=getchar();</a:t>
            </a:r>
          </a:p>
          <a:p>
            <a:pPr algn="l"/>
            <a:r>
              <a:rPr lang="zh-CN" altLang="en-US">
                <a:effectLst/>
              </a:rPr>
              <a:t>    </a:t>
            </a:r>
            <a:r>
              <a:rPr lang="en-US" altLang="zh-CN">
                <a:effectLst/>
              </a:rPr>
              <a:t>}</a:t>
            </a:r>
          </a:p>
          <a:p>
            <a:pPr algn="l"/>
            <a:r>
              <a:rPr lang="en-US" altLang="zh-CN">
                <a:effectLst/>
              </a:rPr>
              <a:t>    fclose(fp);</a:t>
            </a:r>
          </a:p>
          <a:p>
            <a:pPr algn="l"/>
            <a:r>
              <a:rPr lang="en-US" altLang="zh-CN">
                <a:effectLst/>
              </a:rPr>
              <a:t>}</a:t>
            </a:r>
          </a:p>
        </p:txBody>
      </p:sp>
    </p:spTree>
    <p:extLst>
      <p:ext uri="{BB962C8B-B14F-4D97-AF65-F5344CB8AC3E}">
        <p14:creationId xmlns:p14="http://schemas.microsoft.com/office/powerpoint/2010/main" val="480670048"/>
      </p:ext>
    </p:extLst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4" presetClass="entr" presetSubtype="3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49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out)">
                                      <p:cBhvr>
                                        <p:cTn id="7" dur="500"/>
                                        <p:tgtEl>
                                          <p:spTgt spid="20495"/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5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3" name="CAMERA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 nodeType="clickPar">
                      <p:stCondLst>
                        <p:cond delay="indefinite"/>
                      </p:stCondLst>
                      <p:childTnLst>
                        <p:par>
                          <p:cTn id="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" presetID="4" presetClass="entr" presetSubtype="3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49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out)">
                                      <p:cBhvr>
                                        <p:cTn id="12" dur="500"/>
                                        <p:tgtEl>
                                          <p:spTgt spid="20496"/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set>
                                      <p:cBhvr override="childStyle">
                                        <p:cTn dur="1" fill="hold" display="0" masterRel="nextClick" afterEffect="1"/>
                                        <p:tgtEl>
                                          <p:spTgt spid="2049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10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3" name="CAMERA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0495" grpId="0" autoUpdateAnimBg="0"/>
      <p:bldP spid="20496" grpId="0" animBg="1" autoUpdateAnimBg="0"/>
    </p:bldLst>
  </p:timing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497" name="Text Box 17"/>
          <p:cNvSpPr txBox="1">
            <a:spLocks noChangeArrowheads="1"/>
          </p:cNvSpPr>
          <p:nvPr/>
        </p:nvSpPr>
        <p:spPr bwMode="auto">
          <a:xfrm>
            <a:off x="0" y="908050"/>
            <a:ext cx="3108325" cy="83026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>
            <a:spAutoFit/>
          </a:bodyPr>
          <a:lstStyle>
            <a:lvl1pPr>
              <a:defRPr sz="2400">
                <a:solidFill>
                  <a:schemeClr val="tx1"/>
                </a:solidFill>
                <a:latin typeface="Times New Roman" charset="0"/>
                <a:ea typeface="宋体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Times New Roman" charset="0"/>
                <a:ea typeface="宋体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Times New Roman" charset="0"/>
                <a:ea typeface="宋体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Times New Roman" charset="0"/>
                <a:ea typeface="宋体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Times New Roman" charset="0"/>
                <a:ea typeface="宋体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charset="0"/>
                <a:ea typeface="宋体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charset="0"/>
                <a:ea typeface="宋体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charset="0"/>
                <a:ea typeface="宋体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charset="0"/>
                <a:ea typeface="宋体" charset="0"/>
              </a:defRPr>
            </a:lvl9pPr>
          </a:lstStyle>
          <a:p>
            <a:pPr algn="l" eaLnBrk="1" hangingPunct="1"/>
            <a:r>
              <a:rPr lang="zh-CN" altLang="en-US">
                <a:effectLst>
                  <a:outerShdw blurRad="38100" dist="38100" dir="2700000" algn="tl">
                    <a:srgbClr val="C0C0C0"/>
                  </a:outerShdw>
                </a:effectLst>
              </a:rPr>
              <a:t>例  读文本文件内容，</a:t>
            </a:r>
          </a:p>
          <a:p>
            <a:pPr algn="l" eaLnBrk="1" hangingPunct="1"/>
            <a:r>
              <a:rPr lang="zh-CN" altLang="en-US">
                <a:effectLst>
                  <a:outerShdw blurRad="38100" dist="38100" dir="2700000" algn="tl">
                    <a:srgbClr val="C0C0C0"/>
                  </a:outerShdw>
                </a:effectLst>
              </a:rPr>
              <a:t>      并显示</a:t>
            </a:r>
          </a:p>
        </p:txBody>
      </p:sp>
      <p:sp>
        <p:nvSpPr>
          <p:cNvPr id="20498" name="Rectangle 18"/>
          <p:cNvSpPr>
            <a:spLocks noChangeArrowheads="1"/>
          </p:cNvSpPr>
          <p:nvPr/>
        </p:nvSpPr>
        <p:spPr bwMode="auto">
          <a:xfrm>
            <a:off x="3419475" y="836613"/>
            <a:ext cx="5092700" cy="4895850"/>
          </a:xfrm>
          <a:prstGeom prst="rect">
            <a:avLst/>
          </a:prstGeom>
          <a:solidFill>
            <a:srgbClr val="CCECFF"/>
          </a:solidFill>
          <a:ln w="38100">
            <a:solidFill>
              <a:srgbClr val="33CCCC"/>
            </a:solidFill>
            <a:miter lim="800000"/>
            <a:headEnd/>
            <a:tailEnd/>
          </a:ln>
        </p:spPr>
        <p:txBody>
          <a:bodyPr wrap="none" lIns="90000" tIns="46800" rIns="90000" bIns="46800" anchor="ctr">
            <a:spAutoFit/>
          </a:bodyPr>
          <a:lstStyle/>
          <a:p>
            <a:pPr algn="l">
              <a:defRPr/>
            </a:pPr>
            <a:r>
              <a:rPr lang="en-US" altLang="zh-CN" dirty="0">
                <a:effectLst/>
                <a:latin typeface="Times New Roman" pitchFamily="18" charset="0"/>
                <a:ea typeface="+mn-ea"/>
              </a:rPr>
              <a:t>#include &lt;</a:t>
            </a:r>
            <a:r>
              <a:rPr lang="en-US" altLang="zh-CN" dirty="0" err="1">
                <a:effectLst/>
                <a:latin typeface="Times New Roman" pitchFamily="18" charset="0"/>
                <a:ea typeface="+mn-ea"/>
              </a:rPr>
              <a:t>stdio.h</a:t>
            </a:r>
            <a:r>
              <a:rPr lang="en-US" altLang="zh-CN" dirty="0">
                <a:effectLst/>
                <a:latin typeface="Times New Roman" pitchFamily="18" charset="0"/>
                <a:ea typeface="+mn-ea"/>
              </a:rPr>
              <a:t>&gt;</a:t>
            </a:r>
          </a:p>
          <a:p>
            <a:pPr algn="l">
              <a:defRPr/>
            </a:pPr>
            <a:r>
              <a:rPr lang="en-US" altLang="zh-CN" dirty="0">
                <a:effectLst/>
                <a:latin typeface="Times New Roman" pitchFamily="18" charset="0"/>
                <a:ea typeface="+mn-ea"/>
              </a:rPr>
              <a:t>#include&lt;</a:t>
            </a:r>
            <a:r>
              <a:rPr lang="en-US" altLang="zh-CN" dirty="0" err="1">
                <a:effectLst/>
                <a:latin typeface="Times New Roman" pitchFamily="18" charset="0"/>
                <a:ea typeface="+mn-ea"/>
              </a:rPr>
              <a:t>stdlib.h</a:t>
            </a:r>
            <a:r>
              <a:rPr lang="en-US" altLang="zh-CN" dirty="0">
                <a:effectLst/>
                <a:latin typeface="Times New Roman" pitchFamily="18" charset="0"/>
                <a:ea typeface="+mn-ea"/>
              </a:rPr>
              <a:t>&gt;</a:t>
            </a:r>
          </a:p>
          <a:p>
            <a:pPr algn="l">
              <a:defRPr/>
            </a:pPr>
            <a:r>
              <a:rPr lang="en-US" altLang="zh-CN" dirty="0" err="1">
                <a:effectLst/>
                <a:latin typeface="Times New Roman" pitchFamily="18" charset="0"/>
                <a:ea typeface="+mn-ea"/>
              </a:rPr>
              <a:t>int</a:t>
            </a:r>
            <a:r>
              <a:rPr lang="en-US" altLang="zh-CN" dirty="0">
                <a:effectLst/>
                <a:latin typeface="Times New Roman" pitchFamily="18" charset="0"/>
                <a:ea typeface="+mn-ea"/>
              </a:rPr>
              <a:t> main()</a:t>
            </a:r>
          </a:p>
          <a:p>
            <a:pPr algn="l">
              <a:defRPr/>
            </a:pPr>
            <a:r>
              <a:rPr lang="en-US" altLang="zh-CN" dirty="0">
                <a:effectLst/>
                <a:latin typeface="Times New Roman" pitchFamily="18" charset="0"/>
                <a:ea typeface="+mn-ea"/>
              </a:rPr>
              <a:t>{  FILE *</a:t>
            </a:r>
            <a:r>
              <a:rPr lang="en-US" altLang="zh-CN" dirty="0" err="1">
                <a:effectLst/>
                <a:latin typeface="Times New Roman" pitchFamily="18" charset="0"/>
                <a:ea typeface="+mn-ea"/>
              </a:rPr>
              <a:t>fp</a:t>
            </a:r>
            <a:r>
              <a:rPr lang="en-US" altLang="zh-CN" dirty="0">
                <a:effectLst/>
                <a:latin typeface="Times New Roman" pitchFamily="18" charset="0"/>
                <a:ea typeface="+mn-ea"/>
              </a:rPr>
              <a:t>;</a:t>
            </a:r>
          </a:p>
          <a:p>
            <a:pPr algn="l">
              <a:defRPr/>
            </a:pPr>
            <a:r>
              <a:rPr lang="en-US" altLang="zh-CN" dirty="0">
                <a:effectLst/>
                <a:latin typeface="Times New Roman" pitchFamily="18" charset="0"/>
                <a:ea typeface="+mn-ea"/>
              </a:rPr>
              <a:t>    char </a:t>
            </a:r>
            <a:r>
              <a:rPr lang="en-US" altLang="zh-CN" dirty="0" err="1">
                <a:effectLst/>
                <a:latin typeface="Times New Roman" pitchFamily="18" charset="0"/>
                <a:ea typeface="+mn-ea"/>
              </a:rPr>
              <a:t>ch</a:t>
            </a:r>
            <a:r>
              <a:rPr lang="en-US" altLang="zh-CN" dirty="0">
                <a:effectLst/>
                <a:latin typeface="Times New Roman" pitchFamily="18" charset="0"/>
                <a:ea typeface="+mn-ea"/>
              </a:rPr>
              <a:t>,*filename="out.txt";</a:t>
            </a:r>
          </a:p>
          <a:p>
            <a:pPr algn="l">
              <a:defRPr/>
            </a:pPr>
            <a:r>
              <a:rPr lang="en-US" altLang="zh-CN" dirty="0">
                <a:effectLst/>
                <a:latin typeface="Times New Roman" pitchFamily="18" charset="0"/>
                <a:ea typeface="+mn-ea"/>
              </a:rPr>
              <a:t>    if((</a:t>
            </a:r>
            <a:r>
              <a:rPr lang="en-US" altLang="zh-CN" dirty="0" err="1">
                <a:effectLst/>
                <a:latin typeface="Times New Roman" pitchFamily="18" charset="0"/>
                <a:ea typeface="+mn-ea"/>
              </a:rPr>
              <a:t>fp</a:t>
            </a:r>
            <a:r>
              <a:rPr lang="en-US" altLang="zh-CN" dirty="0">
                <a:effectLst/>
                <a:latin typeface="Times New Roman" pitchFamily="18" charset="0"/>
                <a:ea typeface="+mn-ea"/>
              </a:rPr>
              <a:t>=</a:t>
            </a:r>
            <a:r>
              <a:rPr lang="en-US" altLang="zh-CN" dirty="0" err="1">
                <a:effectLst/>
                <a:latin typeface="Times New Roman" pitchFamily="18" charset="0"/>
                <a:ea typeface="+mn-ea"/>
              </a:rPr>
              <a:t>fopen</a:t>
            </a:r>
            <a:r>
              <a:rPr lang="en-US" altLang="zh-CN" dirty="0">
                <a:effectLst/>
                <a:latin typeface="Times New Roman" pitchFamily="18" charset="0"/>
                <a:ea typeface="+mn-ea"/>
              </a:rPr>
              <a:t>(</a:t>
            </a:r>
            <a:r>
              <a:rPr lang="en-US" altLang="zh-CN" dirty="0" err="1">
                <a:effectLst/>
                <a:latin typeface="Times New Roman" pitchFamily="18" charset="0"/>
                <a:ea typeface="+mn-ea"/>
              </a:rPr>
              <a:t>filename,"r</a:t>
            </a:r>
            <a:r>
              <a:rPr lang="en-US" altLang="zh-CN" dirty="0">
                <a:effectLst/>
                <a:latin typeface="Times New Roman" pitchFamily="18" charset="0"/>
                <a:ea typeface="+mn-ea"/>
              </a:rPr>
              <a:t>"))==NULL)</a:t>
            </a:r>
          </a:p>
          <a:p>
            <a:pPr algn="l">
              <a:defRPr/>
            </a:pPr>
            <a:r>
              <a:rPr lang="en-US" altLang="zh-CN" dirty="0">
                <a:effectLst/>
                <a:latin typeface="Times New Roman" pitchFamily="18" charset="0"/>
                <a:ea typeface="+mn-ea"/>
              </a:rPr>
              <a:t>    {   </a:t>
            </a:r>
            <a:r>
              <a:rPr lang="en-US" altLang="zh-CN" dirty="0" err="1">
                <a:effectLst/>
                <a:latin typeface="Times New Roman" pitchFamily="18" charset="0"/>
                <a:ea typeface="+mn-ea"/>
              </a:rPr>
              <a:t>printf</a:t>
            </a:r>
            <a:r>
              <a:rPr lang="en-US" altLang="zh-CN" dirty="0">
                <a:effectLst/>
                <a:latin typeface="Times New Roman" pitchFamily="18" charset="0"/>
                <a:ea typeface="+mn-ea"/>
              </a:rPr>
              <a:t>("cannot open file\n");</a:t>
            </a:r>
          </a:p>
          <a:p>
            <a:pPr algn="l">
              <a:defRPr/>
            </a:pPr>
            <a:r>
              <a:rPr lang="en-US" altLang="zh-CN" dirty="0">
                <a:effectLst/>
                <a:latin typeface="Times New Roman" pitchFamily="18" charset="0"/>
                <a:ea typeface="+mn-ea"/>
              </a:rPr>
              <a:t>         exit(0);</a:t>
            </a:r>
          </a:p>
          <a:p>
            <a:pPr algn="l">
              <a:defRPr/>
            </a:pPr>
            <a:r>
              <a:rPr lang="zh-CN" altLang="en-US" dirty="0">
                <a:effectLst/>
                <a:latin typeface="Times New Roman" pitchFamily="18" charset="0"/>
                <a:ea typeface="+mn-ea"/>
              </a:rPr>
              <a:t>    </a:t>
            </a:r>
            <a:r>
              <a:rPr lang="en-US" altLang="zh-CN" dirty="0">
                <a:effectLst/>
                <a:latin typeface="Times New Roman" pitchFamily="18" charset="0"/>
                <a:ea typeface="+mn-ea"/>
              </a:rPr>
              <a:t>}</a:t>
            </a:r>
          </a:p>
          <a:p>
            <a:pPr algn="l">
              <a:defRPr/>
            </a:pPr>
            <a:r>
              <a:rPr lang="en-US" altLang="zh-CN" dirty="0">
                <a:effectLst/>
                <a:latin typeface="Times New Roman" pitchFamily="18" charset="0"/>
                <a:ea typeface="+mn-ea"/>
              </a:rPr>
              <a:t>    while((</a:t>
            </a:r>
            <a:r>
              <a:rPr lang="en-US" altLang="zh-CN" dirty="0" err="1">
                <a:solidFill>
                  <a:schemeClr val="accent6"/>
                </a:solidFill>
                <a:effectLst/>
                <a:latin typeface="Times New Roman" pitchFamily="18" charset="0"/>
                <a:ea typeface="+mn-ea"/>
              </a:rPr>
              <a:t>ch</a:t>
            </a:r>
            <a:r>
              <a:rPr lang="en-US" altLang="zh-CN" dirty="0">
                <a:solidFill>
                  <a:schemeClr val="accent6"/>
                </a:solidFill>
                <a:effectLst/>
                <a:latin typeface="Times New Roman" pitchFamily="18" charset="0"/>
                <a:ea typeface="+mn-ea"/>
              </a:rPr>
              <a:t>=</a:t>
            </a:r>
            <a:r>
              <a:rPr lang="en-US" altLang="zh-CN" dirty="0" err="1">
                <a:solidFill>
                  <a:schemeClr val="accent6"/>
                </a:solidFill>
                <a:effectLst/>
                <a:latin typeface="Times New Roman" pitchFamily="18" charset="0"/>
                <a:ea typeface="+mn-ea"/>
              </a:rPr>
              <a:t>fgetc</a:t>
            </a:r>
            <a:r>
              <a:rPr lang="en-US" altLang="zh-CN" dirty="0">
                <a:solidFill>
                  <a:schemeClr val="accent6"/>
                </a:solidFill>
                <a:effectLst/>
                <a:latin typeface="Times New Roman" pitchFamily="18" charset="0"/>
                <a:ea typeface="+mn-ea"/>
              </a:rPr>
              <a:t>(</a:t>
            </a:r>
            <a:r>
              <a:rPr lang="en-US" altLang="zh-CN" dirty="0" err="1">
                <a:solidFill>
                  <a:schemeClr val="accent6"/>
                </a:solidFill>
                <a:effectLst/>
                <a:latin typeface="Times New Roman" pitchFamily="18" charset="0"/>
                <a:ea typeface="+mn-ea"/>
              </a:rPr>
              <a:t>fp</a:t>
            </a:r>
            <a:r>
              <a:rPr lang="en-US" altLang="zh-CN" dirty="0">
                <a:solidFill>
                  <a:schemeClr val="accent6"/>
                </a:solidFill>
                <a:effectLst/>
                <a:latin typeface="Times New Roman" pitchFamily="18" charset="0"/>
                <a:ea typeface="+mn-ea"/>
              </a:rPr>
              <a:t>))!=EOF</a:t>
            </a:r>
            <a:r>
              <a:rPr lang="en-US" altLang="zh-CN" dirty="0">
                <a:effectLst/>
                <a:latin typeface="Times New Roman" pitchFamily="18" charset="0"/>
                <a:ea typeface="+mn-ea"/>
              </a:rPr>
              <a:t>)</a:t>
            </a:r>
          </a:p>
          <a:p>
            <a:pPr algn="l">
              <a:defRPr/>
            </a:pPr>
            <a:r>
              <a:rPr lang="en-US" altLang="zh-CN" dirty="0">
                <a:effectLst/>
                <a:latin typeface="Times New Roman" pitchFamily="18" charset="0"/>
                <a:ea typeface="+mn-ea"/>
              </a:rPr>
              <a:t>        </a:t>
            </a:r>
            <a:r>
              <a:rPr lang="en-US" altLang="zh-CN" dirty="0" err="1">
                <a:effectLst/>
                <a:latin typeface="Times New Roman" pitchFamily="18" charset="0"/>
                <a:ea typeface="+mn-ea"/>
              </a:rPr>
              <a:t>putchar</a:t>
            </a:r>
            <a:r>
              <a:rPr lang="en-US" altLang="zh-CN" dirty="0">
                <a:effectLst/>
                <a:latin typeface="Times New Roman" pitchFamily="18" charset="0"/>
                <a:ea typeface="+mn-ea"/>
              </a:rPr>
              <a:t>(</a:t>
            </a:r>
            <a:r>
              <a:rPr lang="en-US" altLang="zh-CN" dirty="0" err="1">
                <a:effectLst/>
                <a:latin typeface="Times New Roman" pitchFamily="18" charset="0"/>
                <a:ea typeface="+mn-ea"/>
              </a:rPr>
              <a:t>ch</a:t>
            </a:r>
            <a:r>
              <a:rPr lang="en-US" altLang="zh-CN" dirty="0">
                <a:effectLst/>
                <a:latin typeface="Times New Roman" pitchFamily="18" charset="0"/>
                <a:ea typeface="+mn-ea"/>
              </a:rPr>
              <a:t>);</a:t>
            </a:r>
          </a:p>
          <a:p>
            <a:pPr algn="l">
              <a:defRPr/>
            </a:pPr>
            <a:r>
              <a:rPr lang="en-US" altLang="zh-CN" dirty="0">
                <a:effectLst/>
                <a:latin typeface="Times New Roman" pitchFamily="18" charset="0"/>
                <a:ea typeface="+mn-ea"/>
              </a:rPr>
              <a:t>    </a:t>
            </a:r>
            <a:r>
              <a:rPr lang="en-US" altLang="zh-CN" dirty="0" err="1">
                <a:effectLst/>
                <a:latin typeface="Times New Roman" pitchFamily="18" charset="0"/>
                <a:ea typeface="+mn-ea"/>
              </a:rPr>
              <a:t>fclose</a:t>
            </a:r>
            <a:r>
              <a:rPr lang="en-US" altLang="zh-CN" dirty="0">
                <a:effectLst/>
                <a:latin typeface="Times New Roman" pitchFamily="18" charset="0"/>
                <a:ea typeface="+mn-ea"/>
              </a:rPr>
              <a:t>(</a:t>
            </a:r>
            <a:r>
              <a:rPr lang="en-US" altLang="zh-CN" dirty="0" err="1">
                <a:effectLst/>
                <a:latin typeface="Times New Roman" pitchFamily="18" charset="0"/>
                <a:ea typeface="+mn-ea"/>
              </a:rPr>
              <a:t>fp</a:t>
            </a:r>
            <a:r>
              <a:rPr lang="en-US" altLang="zh-CN" dirty="0">
                <a:effectLst/>
                <a:latin typeface="Times New Roman" pitchFamily="18" charset="0"/>
                <a:ea typeface="+mn-ea"/>
              </a:rPr>
              <a:t>);</a:t>
            </a:r>
          </a:p>
          <a:p>
            <a:pPr algn="l">
              <a:defRPr/>
            </a:pPr>
            <a:r>
              <a:rPr lang="en-US" altLang="zh-CN" dirty="0">
                <a:effectLst/>
                <a:latin typeface="Times New Roman" pitchFamily="18" charset="0"/>
                <a:ea typeface="+mn-ea"/>
              </a:rPr>
              <a:t>}</a:t>
            </a:r>
          </a:p>
        </p:txBody>
      </p:sp>
      <p:sp>
        <p:nvSpPr>
          <p:cNvPr id="20500" name="AutoShape 20"/>
          <p:cNvSpPr>
            <a:spLocks noChangeArrowheads="1"/>
          </p:cNvSpPr>
          <p:nvPr/>
        </p:nvSpPr>
        <p:spPr bwMode="auto">
          <a:xfrm>
            <a:off x="5876925" y="5168900"/>
            <a:ext cx="3267075" cy="495300"/>
          </a:xfrm>
          <a:prstGeom prst="wedgeRectCallout">
            <a:avLst>
              <a:gd name="adj1" fmla="val -40591"/>
              <a:gd name="adj2" fmla="val -172626"/>
            </a:avLst>
          </a:prstGeom>
          <a:solidFill>
            <a:schemeClr val="bg1"/>
          </a:solidFill>
          <a:ln w="38100">
            <a:solidFill>
              <a:srgbClr val="FF9900"/>
            </a:solidFill>
            <a:miter lim="800000"/>
            <a:headEnd/>
            <a:tailEnd/>
          </a:ln>
          <a:effectLst/>
        </p:spPr>
        <p:txBody>
          <a:bodyPr wrap="none" lIns="90000" tIns="46800" rIns="90000" bIns="46800" anchor="ctr">
            <a:spAutoFit/>
          </a:bodyPr>
          <a:lstStyle>
            <a:lvl1pPr>
              <a:defRPr sz="2400">
                <a:solidFill>
                  <a:schemeClr val="tx1"/>
                </a:solidFill>
                <a:latin typeface="Times New Roman" charset="0"/>
                <a:ea typeface="宋体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Times New Roman" charset="0"/>
                <a:ea typeface="宋体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Times New Roman" charset="0"/>
                <a:ea typeface="宋体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Times New Roman" charset="0"/>
                <a:ea typeface="宋体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Times New Roman" charset="0"/>
                <a:ea typeface="宋体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charset="0"/>
                <a:ea typeface="宋体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charset="0"/>
                <a:ea typeface="宋体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charset="0"/>
                <a:ea typeface="宋体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charset="0"/>
                <a:ea typeface="宋体" charset="0"/>
              </a:defRPr>
            </a:lvl9pPr>
          </a:lstStyle>
          <a:p>
            <a:pPr eaLnBrk="1" hangingPunct="1"/>
            <a:r>
              <a:rPr lang="zh-CN" altLang="en-US">
                <a:effectLst>
                  <a:outerShdw blurRad="38100" dist="38100" dir="2700000" algn="tl">
                    <a:srgbClr val="C0C0C0"/>
                  </a:outerShdw>
                </a:effectLst>
                <a:ea typeface="隶书" charset="0"/>
              </a:rPr>
              <a:t>判断文本文件是否结束</a:t>
            </a:r>
          </a:p>
        </p:txBody>
      </p:sp>
      <p:sp>
        <p:nvSpPr>
          <p:cNvPr id="12" name="Text Box 2"/>
          <p:cNvSpPr txBox="1">
            <a:spLocks noChangeArrowheads="1"/>
          </p:cNvSpPr>
          <p:nvPr/>
        </p:nvSpPr>
        <p:spPr bwMode="auto">
          <a:xfrm>
            <a:off x="0" y="3533775"/>
            <a:ext cx="3276600" cy="2311400"/>
          </a:xfrm>
          <a:prstGeom prst="rect">
            <a:avLst/>
          </a:prstGeom>
          <a:solidFill>
            <a:srgbClr val="99CCFF"/>
          </a:solidFill>
          <a:ln w="38100">
            <a:solidFill>
              <a:srgbClr val="33CCCC"/>
            </a:solidFill>
            <a:miter lim="800000"/>
            <a:headEnd/>
            <a:tailEnd/>
          </a:ln>
        </p:spPr>
        <p:txBody>
          <a:bodyPr lIns="90000" tIns="46800" rIns="90000" bIns="46800" anchor="ctr">
            <a:spAutoFit/>
          </a:bodyPr>
          <a:lstStyle>
            <a:lvl1pPr>
              <a:defRPr sz="2400">
                <a:solidFill>
                  <a:schemeClr val="tx1"/>
                </a:solidFill>
                <a:latin typeface="Times New Roman" charset="0"/>
                <a:ea typeface="宋体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Times New Roman" charset="0"/>
                <a:ea typeface="宋体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Times New Roman" charset="0"/>
                <a:ea typeface="宋体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Times New Roman" charset="0"/>
                <a:ea typeface="宋体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Times New Roman" charset="0"/>
                <a:ea typeface="宋体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charset="0"/>
                <a:ea typeface="宋体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charset="0"/>
                <a:ea typeface="宋体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charset="0"/>
                <a:ea typeface="宋体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charset="0"/>
                <a:ea typeface="宋体" charset="0"/>
              </a:defRPr>
            </a:lvl9pPr>
          </a:lstStyle>
          <a:p>
            <a:pPr algn="l"/>
            <a:r>
              <a:rPr lang="en-US" altLang="zh-CN">
                <a:effectLst/>
              </a:rPr>
              <a:t> </a:t>
            </a:r>
            <a:r>
              <a:rPr lang="zh-CN" altLang="en-US">
                <a:effectLst/>
              </a:rPr>
              <a:t>判断</a:t>
            </a:r>
            <a:r>
              <a:rPr lang="zh-CN" altLang="en-US">
                <a:solidFill>
                  <a:srgbClr val="FF0000"/>
                </a:solidFill>
                <a:effectLst/>
              </a:rPr>
              <a:t>二进制</a:t>
            </a:r>
            <a:r>
              <a:rPr lang="zh-CN" altLang="en-US">
                <a:effectLst/>
              </a:rPr>
              <a:t>文件是否结束</a:t>
            </a:r>
          </a:p>
          <a:p>
            <a:pPr algn="l"/>
            <a:r>
              <a:rPr lang="zh-CN" altLang="en-US">
                <a:effectLst/>
              </a:rPr>
              <a:t>      </a:t>
            </a:r>
            <a:r>
              <a:rPr lang="en-US" altLang="zh-CN">
                <a:solidFill>
                  <a:srgbClr val="0000FF"/>
                </a:solidFill>
                <a:effectLst/>
              </a:rPr>
              <a:t>while(!</a:t>
            </a:r>
            <a:r>
              <a:rPr lang="en-US" altLang="zh-CN">
                <a:solidFill>
                  <a:srgbClr val="FF0000"/>
                </a:solidFill>
                <a:effectLst/>
              </a:rPr>
              <a:t>feof</a:t>
            </a:r>
            <a:r>
              <a:rPr lang="en-US" altLang="zh-CN">
                <a:solidFill>
                  <a:srgbClr val="0000FF"/>
                </a:solidFill>
                <a:effectLst/>
              </a:rPr>
              <a:t>(fp))</a:t>
            </a:r>
          </a:p>
          <a:p>
            <a:pPr algn="l"/>
            <a:r>
              <a:rPr lang="en-US" altLang="zh-CN">
                <a:solidFill>
                  <a:srgbClr val="0000FF"/>
                </a:solidFill>
                <a:effectLst/>
              </a:rPr>
              <a:t>      {      c=fgetc(fp);</a:t>
            </a:r>
          </a:p>
          <a:p>
            <a:pPr algn="l"/>
            <a:r>
              <a:rPr lang="en-US" altLang="zh-CN">
                <a:solidFill>
                  <a:srgbClr val="0000FF"/>
                </a:solidFill>
                <a:effectLst/>
              </a:rPr>
              <a:t>               ……..</a:t>
            </a:r>
          </a:p>
          <a:p>
            <a:pPr algn="l"/>
            <a:r>
              <a:rPr lang="en-US" altLang="zh-CN">
                <a:solidFill>
                  <a:srgbClr val="0000FF"/>
                </a:solidFill>
                <a:effectLst/>
              </a:rPr>
              <a:t>      }</a:t>
            </a:r>
          </a:p>
        </p:txBody>
      </p:sp>
    </p:spTree>
    <p:extLst>
      <p:ext uri="{BB962C8B-B14F-4D97-AF65-F5344CB8AC3E}">
        <p14:creationId xmlns:p14="http://schemas.microsoft.com/office/powerpoint/2010/main" val="839131566"/>
      </p:ext>
    </p:extLst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4" presetClass="entr" presetSubtype="3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49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out)">
                                      <p:cBhvr>
                                        <p:cTn id="7" dur="500"/>
                                        <p:tgtEl>
                                          <p:spTgt spid="20497"/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5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3" name="CAMERA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 nodeType="clickPar">
                      <p:stCondLst>
                        <p:cond delay="indefinite"/>
                      </p:stCondLst>
                      <p:childTnLst>
                        <p:par>
                          <p:cTn id="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" presetID="4" presetClass="entr" presetSubtype="3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49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out)">
                                      <p:cBhvr>
                                        <p:cTn id="12" dur="500"/>
                                        <p:tgtEl>
                                          <p:spTgt spid="20498"/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10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3" name="CAMERA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 nodeType="clickPar">
                      <p:stCondLst>
                        <p:cond delay="indefinite"/>
                      </p:stCondLst>
                      <p:childTnLst>
                        <p:par>
                          <p:cTn id="1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5" presetID="4" presetClass="entr" presetSubtype="3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50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out)">
                                      <p:cBhvr>
                                        <p:cTn id="17" dur="500"/>
                                        <p:tgtEl>
                                          <p:spTgt spid="20500"/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15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3" name="CAMERA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 nodeType="clickPar">
                      <p:stCondLst>
                        <p:cond delay="indefinite"/>
                      </p:stCondLst>
                      <p:childTnLst>
                        <p:par>
                          <p:cTn id="1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0" presetID="4" presetClass="entr" presetSubtype="3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out)">
                                      <p:cBhvr>
                                        <p:cTn id="22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set>
                                      <p:cBhvr override="childStyle">
                                        <p:cTn dur="1" fill="hold" display="0" masterRel="nextClick" afterEffect="1"/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20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3" name="CAMERA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0497" grpId="0" autoUpdateAnimBg="0"/>
      <p:bldP spid="20498" grpId="0" animBg="1" autoUpdateAnimBg="0"/>
      <p:bldP spid="20500" grpId="0" animBg="1" autoUpdateAnimBg="0"/>
      <p:bldP spid="12" grpId="0" animBg="1" autoUpdateAnimBg="0"/>
    </p:bldLst>
  </p:timing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/>
            </a:pPr>
            <a:r>
              <a:rPr lang="zh-CN" altLang="en-US" dirty="0">
                <a:cs typeface="+mj-cs"/>
              </a:rPr>
              <a:t>文件定位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zh-CN" altLang="en-US"/>
              <a:t>几个概念</a:t>
            </a:r>
          </a:p>
          <a:p>
            <a:pPr lvl="1"/>
            <a:r>
              <a:rPr lang="zh-CN" altLang="en-US"/>
              <a:t>文件位置指针</a:t>
            </a:r>
            <a:r>
              <a:rPr lang="en-US" altLang="zh-CN"/>
              <a:t>-----</a:t>
            </a:r>
            <a:r>
              <a:rPr lang="zh-CN" altLang="en-US"/>
              <a:t>指向当前读写位置的指针</a:t>
            </a:r>
          </a:p>
          <a:p>
            <a:pPr lvl="1"/>
            <a:r>
              <a:rPr lang="zh-CN" altLang="en-US"/>
              <a:t>读写方式</a:t>
            </a:r>
          </a:p>
          <a:p>
            <a:pPr lvl="2"/>
            <a:r>
              <a:rPr lang="zh-CN" altLang="en-US"/>
              <a:t>顺序读写：位置指针按字节位置顺序移动，叫</a:t>
            </a:r>
            <a:r>
              <a:rPr lang="en-US" altLang="zh-CN"/>
              <a:t>~</a:t>
            </a:r>
          </a:p>
          <a:p>
            <a:pPr lvl="2"/>
            <a:r>
              <a:rPr lang="zh-CN" altLang="en-US"/>
              <a:t>随机读写：位置指针按需要移动到任意位置，叫</a:t>
            </a:r>
            <a:r>
              <a:rPr lang="en-US" altLang="zh-CN"/>
              <a:t>~</a:t>
            </a:r>
          </a:p>
          <a:p>
            <a:r>
              <a:rPr lang="en-US" altLang="zh-CN"/>
              <a:t>rewind()</a:t>
            </a:r>
            <a:r>
              <a:rPr lang="zh-CN" altLang="en-US"/>
              <a:t>函数</a:t>
            </a:r>
          </a:p>
          <a:p>
            <a:pPr lvl="1"/>
            <a:r>
              <a:rPr lang="zh-CN" altLang="en-US"/>
              <a:t>作用：将文件位置指针复位到文件的开始位置。</a:t>
            </a:r>
          </a:p>
          <a:p>
            <a:r>
              <a:rPr lang="en-US" altLang="zh-CN"/>
              <a:t>fseek()</a:t>
            </a:r>
            <a:r>
              <a:rPr lang="zh-CN" altLang="en-US"/>
              <a:t>函数</a:t>
            </a:r>
          </a:p>
          <a:p>
            <a:pPr lvl="1"/>
            <a:r>
              <a:rPr lang="zh-CN" altLang="en-US"/>
              <a:t>作用：改变文件位置指针</a:t>
            </a:r>
            <a:endParaRPr lang="en-US" altLang="zh-CN"/>
          </a:p>
          <a:p>
            <a:pPr algn="just"/>
            <a:r>
              <a:rPr lang="en-US" altLang="zh-CN"/>
              <a:t>ftell()</a:t>
            </a:r>
            <a:r>
              <a:rPr lang="zh-CN" altLang="en-US"/>
              <a:t>函数</a:t>
            </a:r>
          </a:p>
          <a:p>
            <a:pPr lvl="1"/>
            <a:r>
              <a:rPr lang="zh-CN" altLang="en-US"/>
              <a:t>作用：用于获取文件位置指针</a:t>
            </a:r>
            <a:endParaRPr lang="en-US" altLang="zh-CN"/>
          </a:p>
          <a:p>
            <a:endParaRPr lang="en-US" altLang="zh-CN"/>
          </a:p>
          <a:p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489419079"/>
      </p:ext>
    </p:extLst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/>
            </a:pPr>
            <a:r>
              <a:rPr lang="en-US" altLang="zh-CN" dirty="0">
                <a:cs typeface="+mj-cs"/>
              </a:rPr>
              <a:t>rewind</a:t>
            </a:r>
            <a:r>
              <a:rPr lang="zh-CN" altLang="en-US" dirty="0">
                <a:cs typeface="+mj-cs"/>
              </a:rPr>
              <a:t>函数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lnSpc>
                <a:spcPct val="130000"/>
              </a:lnSpc>
            </a:pPr>
            <a:r>
              <a:rPr lang="zh-CN" altLang="en-US" dirty="0"/>
              <a:t>函数原型：</a:t>
            </a:r>
            <a:endParaRPr lang="en-US" altLang="zh-CN" dirty="0"/>
          </a:p>
          <a:p>
            <a:pPr lvl="1">
              <a:lnSpc>
                <a:spcPct val="130000"/>
              </a:lnSpc>
            </a:pPr>
            <a:r>
              <a:rPr lang="en-US" altLang="zh-CN" dirty="0"/>
              <a:t>void rewind(FILE *</a:t>
            </a:r>
            <a:r>
              <a:rPr lang="en-US" altLang="zh-CN" dirty="0" err="1"/>
              <a:t>fp</a:t>
            </a:r>
            <a:r>
              <a:rPr lang="en-US" altLang="zh-CN" dirty="0"/>
              <a:t>);</a:t>
            </a:r>
          </a:p>
          <a:p>
            <a:pPr>
              <a:lnSpc>
                <a:spcPct val="130000"/>
              </a:lnSpc>
            </a:pPr>
            <a:r>
              <a:rPr lang="zh-CN" altLang="en-US" dirty="0"/>
              <a:t>功能：强制使当前位置指针指向文件的开头。</a:t>
            </a:r>
          </a:p>
          <a:p>
            <a:pPr>
              <a:lnSpc>
                <a:spcPct val="130000"/>
              </a:lnSpc>
            </a:pPr>
            <a:r>
              <a:rPr lang="zh-CN" altLang="en-US" dirty="0"/>
              <a:t>调用形式为：</a:t>
            </a:r>
            <a:r>
              <a:rPr lang="en-US" altLang="zh-CN" dirty="0"/>
              <a:t>rewind(</a:t>
            </a:r>
            <a:r>
              <a:rPr lang="en-US" altLang="zh-CN" dirty="0" err="1"/>
              <a:t>fp</a:t>
            </a:r>
            <a:r>
              <a:rPr lang="en-US" altLang="zh-CN" dirty="0"/>
              <a:t>);</a:t>
            </a:r>
          </a:p>
          <a:p>
            <a:pPr>
              <a:lnSpc>
                <a:spcPct val="130000"/>
              </a:lnSpc>
            </a:pPr>
            <a:r>
              <a:rPr lang="en-US" altLang="zh-CN" dirty="0"/>
              <a:t>rewind</a:t>
            </a:r>
            <a:r>
              <a:rPr lang="zh-CN" altLang="en-US" dirty="0"/>
              <a:t>函数一般在要重新从头读</a:t>
            </a:r>
            <a:r>
              <a:rPr lang="en-US" altLang="zh-CN" dirty="0"/>
              <a:t>/</a:t>
            </a:r>
            <a:r>
              <a:rPr lang="zh-CN" altLang="en-US" dirty="0"/>
              <a:t>写文件时使用。</a:t>
            </a:r>
          </a:p>
          <a:p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221749786"/>
      </p:ext>
    </p:extLst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85800" y="484632"/>
            <a:ext cx="7772400" cy="999681"/>
          </a:xfrm>
        </p:spPr>
        <p:txBody>
          <a:bodyPr/>
          <a:lstStyle/>
          <a:p>
            <a:pPr>
              <a:defRPr/>
            </a:pPr>
            <a:r>
              <a:rPr lang="en-US" altLang="zh-CN" dirty="0" err="1">
                <a:cs typeface="+mj-cs"/>
              </a:rPr>
              <a:t>fseek</a:t>
            </a:r>
            <a:r>
              <a:rPr lang="zh-CN" altLang="en-US" dirty="0">
                <a:cs typeface="+mj-cs"/>
              </a:rPr>
              <a:t>函数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685800" y="1484313"/>
            <a:ext cx="8029575" cy="4611687"/>
          </a:xfrm>
        </p:spPr>
        <p:txBody>
          <a:bodyPr/>
          <a:lstStyle/>
          <a:p>
            <a:pPr>
              <a:lnSpc>
                <a:spcPct val="130000"/>
              </a:lnSpc>
            </a:pPr>
            <a:r>
              <a:rPr lang="zh-CN" altLang="en-US" dirty="0"/>
              <a:t>函数原型：</a:t>
            </a:r>
            <a:endParaRPr lang="en-US" altLang="zh-CN" dirty="0"/>
          </a:p>
          <a:p>
            <a:pPr lvl="1">
              <a:lnSpc>
                <a:spcPct val="130000"/>
              </a:lnSpc>
              <a:buFontTx/>
              <a:buNone/>
            </a:pPr>
            <a:r>
              <a:rPr lang="en-US" altLang="zh-CN" dirty="0" err="1">
                <a:solidFill>
                  <a:srgbClr val="0000FF"/>
                </a:solidFill>
                <a:latin typeface="Courier New" charset="0"/>
              </a:rPr>
              <a:t>int</a:t>
            </a:r>
            <a:r>
              <a:rPr lang="en-US" altLang="zh-CN" dirty="0">
                <a:solidFill>
                  <a:srgbClr val="000000"/>
                </a:solidFill>
                <a:latin typeface="Courier New" charset="0"/>
              </a:rPr>
              <a:t> </a:t>
            </a:r>
            <a:r>
              <a:rPr lang="en-US" altLang="zh-CN" dirty="0" err="1">
                <a:solidFill>
                  <a:srgbClr val="000000"/>
                </a:solidFill>
                <a:latin typeface="Courier New" charset="0"/>
              </a:rPr>
              <a:t>fseek</a:t>
            </a:r>
            <a:r>
              <a:rPr lang="en-US" altLang="zh-CN" dirty="0">
                <a:solidFill>
                  <a:srgbClr val="000000"/>
                </a:solidFill>
                <a:latin typeface="Courier New" charset="0"/>
              </a:rPr>
              <a:t>(FILE *</a:t>
            </a:r>
            <a:r>
              <a:rPr lang="en-US" altLang="zh-CN" dirty="0" err="1">
                <a:solidFill>
                  <a:srgbClr val="000000"/>
                </a:solidFill>
                <a:latin typeface="Courier New" charset="0"/>
              </a:rPr>
              <a:t>fp</a:t>
            </a:r>
            <a:r>
              <a:rPr lang="en-US" altLang="zh-CN" dirty="0">
                <a:solidFill>
                  <a:srgbClr val="000000"/>
                </a:solidFill>
                <a:latin typeface="Courier New" charset="0"/>
              </a:rPr>
              <a:t>, </a:t>
            </a:r>
            <a:r>
              <a:rPr lang="en-US" altLang="zh-CN" dirty="0">
                <a:solidFill>
                  <a:srgbClr val="0000FF"/>
                </a:solidFill>
                <a:latin typeface="Courier New" charset="0"/>
              </a:rPr>
              <a:t>long</a:t>
            </a:r>
            <a:r>
              <a:rPr lang="en-US" altLang="zh-CN" dirty="0">
                <a:solidFill>
                  <a:srgbClr val="000000"/>
                </a:solidFill>
                <a:latin typeface="Courier New" charset="0"/>
              </a:rPr>
              <a:t> offset, </a:t>
            </a:r>
            <a:r>
              <a:rPr lang="en-US" altLang="zh-CN" dirty="0" err="1">
                <a:solidFill>
                  <a:srgbClr val="0000FF"/>
                </a:solidFill>
                <a:latin typeface="Courier New" charset="0"/>
              </a:rPr>
              <a:t>int</a:t>
            </a:r>
            <a:r>
              <a:rPr lang="en-US" altLang="zh-CN" dirty="0">
                <a:solidFill>
                  <a:srgbClr val="000000"/>
                </a:solidFill>
                <a:latin typeface="Courier New" charset="0"/>
              </a:rPr>
              <a:t> whence);</a:t>
            </a:r>
          </a:p>
          <a:p>
            <a:pPr lvl="1"/>
            <a:r>
              <a:rPr lang="zh-CN" altLang="en-US" dirty="0"/>
              <a:t>其中</a:t>
            </a:r>
            <a:r>
              <a:rPr lang="en-US" altLang="zh-CN" dirty="0" err="1"/>
              <a:t>fp</a:t>
            </a:r>
            <a:r>
              <a:rPr lang="zh-CN" altLang="en-US" dirty="0"/>
              <a:t>是文件类型指针；</a:t>
            </a:r>
          </a:p>
          <a:p>
            <a:pPr lvl="1"/>
            <a:r>
              <a:rPr lang="en-US" altLang="zh-CN" dirty="0"/>
              <a:t>Offset</a:t>
            </a:r>
            <a:r>
              <a:rPr lang="zh-CN" altLang="en-US" dirty="0"/>
              <a:t>表示文件内部位置指针从起始点开始移动的字节数。位移量必须是长整型数据，因此若使用长整数表示位移量时，必须加后缀“</a:t>
            </a:r>
            <a:r>
              <a:rPr lang="en-US" altLang="zh-CN" dirty="0"/>
              <a:t>L”</a:t>
            </a:r>
            <a:r>
              <a:rPr lang="zh-CN" altLang="en-US" dirty="0"/>
              <a:t>。若位移量是正整数，文件内部位置指针向文件末尾的方向移动；若是负整数，指针向文件首部的方向移动。</a:t>
            </a:r>
            <a:endParaRPr lang="en-US" altLang="zh-CN" dirty="0"/>
          </a:p>
          <a:p>
            <a:pPr lvl="1"/>
            <a:r>
              <a:rPr lang="en-US" altLang="zh-CN" dirty="0"/>
              <a:t>whence</a:t>
            </a:r>
            <a:r>
              <a:rPr lang="zh-CN" altLang="en-US" dirty="0"/>
              <a:t>是起始点，用来指定位移量是以哪个位置为基准的。起始点有三种取值：</a:t>
            </a:r>
            <a:r>
              <a:rPr lang="en-US" altLang="zh-CN" dirty="0"/>
              <a:t>0</a:t>
            </a:r>
            <a:r>
              <a:rPr lang="zh-CN" altLang="en-US" dirty="0"/>
              <a:t>、</a:t>
            </a:r>
            <a:r>
              <a:rPr lang="en-US" altLang="zh-CN" dirty="0"/>
              <a:t>1</a:t>
            </a:r>
            <a:r>
              <a:rPr lang="zh-CN" altLang="en-US" dirty="0"/>
              <a:t>、</a:t>
            </a:r>
            <a:r>
              <a:rPr lang="en-US" altLang="zh-CN" dirty="0"/>
              <a:t>2</a:t>
            </a:r>
            <a:r>
              <a:rPr lang="zh-CN" altLang="en-US" dirty="0"/>
              <a:t>，分别表示文件的三个位置：文件开始、当前位置、文件末尾；</a:t>
            </a:r>
          </a:p>
        </p:txBody>
      </p:sp>
    </p:spTree>
    <p:extLst>
      <p:ext uri="{BB962C8B-B14F-4D97-AF65-F5344CB8AC3E}">
        <p14:creationId xmlns:p14="http://schemas.microsoft.com/office/powerpoint/2010/main" val="2350287516"/>
      </p:ext>
    </p:extLst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85800" y="484632"/>
            <a:ext cx="7772400" cy="999681"/>
          </a:xfrm>
        </p:spPr>
        <p:txBody>
          <a:bodyPr/>
          <a:lstStyle/>
          <a:p>
            <a:pPr>
              <a:defRPr/>
            </a:pPr>
            <a:r>
              <a:rPr lang="en-US" altLang="zh-CN" dirty="0" err="1">
                <a:cs typeface="+mj-cs"/>
              </a:rPr>
              <a:t>ftell</a:t>
            </a:r>
            <a:r>
              <a:rPr lang="zh-CN" altLang="en-US" dirty="0">
                <a:cs typeface="+mj-cs"/>
              </a:rPr>
              <a:t>函数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685800" y="1484313"/>
            <a:ext cx="8029575" cy="4611687"/>
          </a:xfrm>
        </p:spPr>
        <p:txBody>
          <a:bodyPr/>
          <a:lstStyle/>
          <a:p>
            <a:pPr>
              <a:lnSpc>
                <a:spcPct val="130000"/>
              </a:lnSpc>
            </a:pPr>
            <a:r>
              <a:rPr lang="zh-CN" altLang="en-US"/>
              <a:t>函数原型：</a:t>
            </a:r>
            <a:endParaRPr lang="en-US" altLang="zh-CN"/>
          </a:p>
          <a:p>
            <a:pPr lvl="1">
              <a:lnSpc>
                <a:spcPct val="130000"/>
              </a:lnSpc>
              <a:buFontTx/>
              <a:buNone/>
            </a:pPr>
            <a:r>
              <a:rPr lang="en-US" altLang="zh-CN">
                <a:solidFill>
                  <a:srgbClr val="0000FF"/>
                </a:solidFill>
                <a:latin typeface="Courier New" charset="0"/>
              </a:rPr>
              <a:t>long </a:t>
            </a:r>
            <a:r>
              <a:rPr lang="en-US" altLang="zh-CN">
                <a:solidFill>
                  <a:schemeClr val="tx1"/>
                </a:solidFill>
                <a:latin typeface="Courier New" charset="0"/>
              </a:rPr>
              <a:t>ftell(FILE *fp);</a:t>
            </a:r>
          </a:p>
          <a:p>
            <a:pPr eaLnBrk="1" hangingPunct="1">
              <a:buClr>
                <a:schemeClr val="accent2"/>
              </a:buClr>
            </a:pPr>
            <a:r>
              <a:rPr lang="zh-CN" altLang="en-US"/>
              <a:t>功能：返回位置指针当前位置</a:t>
            </a:r>
            <a:r>
              <a:rPr lang="zh-CN" altLang="zh-CN"/>
              <a:t>(</a:t>
            </a:r>
            <a:r>
              <a:rPr lang="zh-CN" altLang="en-US"/>
              <a:t>用相对文件开头的位移量表示</a:t>
            </a:r>
            <a:r>
              <a:rPr lang="zh-CN" altLang="zh-CN"/>
              <a:t>)</a:t>
            </a:r>
            <a:endParaRPr lang="en-US" altLang="zh-CN"/>
          </a:p>
          <a:p>
            <a:pPr eaLnBrk="1" hangingPunct="1">
              <a:buClr>
                <a:schemeClr val="accent2"/>
              </a:buClr>
            </a:pPr>
            <a:r>
              <a:rPr lang="zh-CN" altLang="en-US"/>
              <a:t>返值：成功，返回当前位置指针位置；失败，返回</a:t>
            </a:r>
            <a:r>
              <a:rPr lang="zh-CN" altLang="zh-CN"/>
              <a:t>-1</a:t>
            </a:r>
            <a:r>
              <a:rPr lang="en-US" altLang="zh-CN"/>
              <a:t>L</a:t>
            </a:r>
            <a:r>
              <a:rPr lang="zh-CN" altLang="en-US"/>
              <a:t>，</a:t>
            </a:r>
          </a:p>
          <a:p>
            <a:pPr lvl="1"/>
            <a:endParaRPr lang="zh-CN" altLang="en-US"/>
          </a:p>
          <a:p>
            <a:pPr lvl="1"/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230197438"/>
      </p:ext>
    </p:extLst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5634" name="Rectangle 2"/>
          <p:cNvSpPr>
            <a:spLocks noGrp="1" noChangeArrowheads="1"/>
          </p:cNvSpPr>
          <p:nvPr>
            <p:ph type="title"/>
          </p:nvPr>
        </p:nvSpPr>
        <p:spPr>
          <a:xfrm>
            <a:off x="685800" y="484632"/>
            <a:ext cx="7772400" cy="784128"/>
          </a:xfrm>
        </p:spPr>
        <p:txBody>
          <a:bodyPr/>
          <a:lstStyle/>
          <a:p>
            <a:r>
              <a:rPr lang="zh-CN" altLang="en-US"/>
              <a:t>错误处理</a:t>
            </a:r>
          </a:p>
        </p:txBody>
      </p:sp>
      <p:sp>
        <p:nvSpPr>
          <p:cNvPr id="325635" name="Rectangle 3"/>
          <p:cNvSpPr>
            <a:spLocks noGrp="1" noChangeArrowheads="1"/>
          </p:cNvSpPr>
          <p:nvPr>
            <p:ph idx="1"/>
          </p:nvPr>
        </p:nvSpPr>
        <p:spPr>
          <a:xfrm>
            <a:off x="539750" y="1484313"/>
            <a:ext cx="8062913" cy="4611687"/>
          </a:xfrm>
        </p:spPr>
        <p:txBody>
          <a:bodyPr/>
          <a:lstStyle/>
          <a:p>
            <a:pPr eaLnBrk="1"/>
            <a:r>
              <a:rPr lang="zh-CN" altLang="en-US" dirty="0"/>
              <a:t>错误处理</a:t>
            </a:r>
          </a:p>
          <a:p>
            <a:pPr lvl="1" eaLnBrk="1"/>
            <a:r>
              <a:rPr lang="zh-CN" altLang="en-US" dirty="0"/>
              <a:t>文件错误一般都是外界造成的，出错率很高</a:t>
            </a:r>
          </a:p>
          <a:p>
            <a:pPr lvl="1" eaLnBrk="1"/>
            <a:r>
              <a:rPr lang="zh-CN" altLang="en-US" dirty="0"/>
              <a:t>被删除、修改、磁盘空间满、被其他文件打开</a:t>
            </a:r>
          </a:p>
          <a:p>
            <a:pPr eaLnBrk="1"/>
            <a:r>
              <a:rPr lang="zh-CN" altLang="en-US" dirty="0"/>
              <a:t>通过判断返回值发现错误</a:t>
            </a:r>
          </a:p>
          <a:p>
            <a:pPr lvl="1" eaLnBrk="1"/>
            <a:r>
              <a:rPr lang="zh-CN" altLang="en-US" dirty="0"/>
              <a:t>所有文件操作出错时都返回</a:t>
            </a:r>
            <a:r>
              <a:rPr lang="en-US" altLang="zh-CN" dirty="0"/>
              <a:t>-1</a:t>
            </a:r>
          </a:p>
          <a:p>
            <a:pPr eaLnBrk="1"/>
            <a:r>
              <a:rPr lang="zh-CN" altLang="en-US" dirty="0"/>
              <a:t>出错处理</a:t>
            </a:r>
          </a:p>
          <a:p>
            <a:pPr lvl="1" eaLnBrk="1"/>
            <a:r>
              <a:rPr lang="zh-CN" altLang="en-US" dirty="0"/>
              <a:t>打印错误信息给用户，等待用户的处理</a:t>
            </a:r>
            <a:endParaRPr lang="en-US" altLang="zh-CN" dirty="0"/>
          </a:p>
          <a:p>
            <a:r>
              <a:rPr lang="en-US" altLang="zh-CN" dirty="0" err="1"/>
              <a:t>ferror</a:t>
            </a:r>
            <a:r>
              <a:rPr lang="zh-CN" altLang="en-US" dirty="0"/>
              <a:t>函数</a:t>
            </a:r>
            <a:endParaRPr lang="zh-CN" altLang="zh-CN" dirty="0"/>
          </a:p>
          <a:p>
            <a:pPr lvl="1"/>
            <a:r>
              <a:rPr lang="zh-CN" altLang="en-US" dirty="0"/>
              <a:t>函数原型：   </a:t>
            </a:r>
            <a:r>
              <a:rPr lang="en-US" altLang="zh-CN" dirty="0" err="1">
                <a:solidFill>
                  <a:schemeClr val="tx2"/>
                </a:solidFill>
              </a:rPr>
              <a:t>int</a:t>
            </a:r>
            <a:r>
              <a:rPr lang="en-US" altLang="zh-CN" dirty="0">
                <a:solidFill>
                  <a:schemeClr val="tx2"/>
                </a:solidFill>
              </a:rPr>
              <a:t>  </a:t>
            </a:r>
            <a:r>
              <a:rPr lang="en-US" altLang="zh-CN" dirty="0" err="1">
                <a:solidFill>
                  <a:schemeClr val="tx2"/>
                </a:solidFill>
              </a:rPr>
              <a:t>ferror</a:t>
            </a:r>
            <a:r>
              <a:rPr lang="en-US" altLang="zh-CN" dirty="0">
                <a:solidFill>
                  <a:schemeClr val="tx2"/>
                </a:solidFill>
              </a:rPr>
              <a:t>(FILE  *</a:t>
            </a:r>
            <a:r>
              <a:rPr lang="en-US" altLang="zh-CN" dirty="0" err="1">
                <a:solidFill>
                  <a:schemeClr val="tx2"/>
                </a:solidFill>
              </a:rPr>
              <a:t>fp</a:t>
            </a:r>
            <a:r>
              <a:rPr lang="en-US" altLang="zh-CN" dirty="0">
                <a:solidFill>
                  <a:schemeClr val="tx2"/>
                </a:solidFill>
              </a:rPr>
              <a:t>)</a:t>
            </a:r>
            <a:endParaRPr lang="en-US" altLang="zh-CN" dirty="0"/>
          </a:p>
          <a:p>
            <a:pPr lvl="1"/>
            <a:r>
              <a:rPr lang="zh-CN" altLang="en-US" dirty="0"/>
              <a:t>功能：测试文件是否出现错误</a:t>
            </a:r>
            <a:endParaRPr lang="zh-CN" altLang="zh-CN" dirty="0"/>
          </a:p>
          <a:p>
            <a:pPr lvl="1"/>
            <a:r>
              <a:rPr lang="zh-CN" altLang="en-US" dirty="0"/>
              <a:t>返值：未出错，</a:t>
            </a:r>
            <a:r>
              <a:rPr lang="zh-CN" altLang="zh-CN" dirty="0"/>
              <a:t>0</a:t>
            </a:r>
            <a:r>
              <a:rPr lang="zh-CN" altLang="en-US" dirty="0"/>
              <a:t>；出错，非</a:t>
            </a:r>
            <a:r>
              <a:rPr lang="zh-CN" altLang="zh-CN" dirty="0"/>
              <a:t>0</a:t>
            </a:r>
          </a:p>
        </p:txBody>
      </p:sp>
    </p:spTree>
    <p:extLst>
      <p:ext uri="{BB962C8B-B14F-4D97-AF65-F5344CB8AC3E}">
        <p14:creationId xmlns:p14="http://schemas.microsoft.com/office/powerpoint/2010/main" val="2470301133"/>
      </p:ext>
    </p:extLst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文本框 3">
            <a:extLst>
              <a:ext uri="{FF2B5EF4-FFF2-40B4-BE49-F238E27FC236}">
                <a16:creationId xmlns:a16="http://schemas.microsoft.com/office/drawing/2014/main" id="{982BCF4C-F064-D845-B1EC-35408456BB4E}"/>
              </a:ext>
            </a:extLst>
          </p:cNvPr>
          <p:cNvSpPr txBox="1"/>
          <p:nvPr/>
        </p:nvSpPr>
        <p:spPr>
          <a:xfrm>
            <a:off x="395536" y="258316"/>
            <a:ext cx="3816424" cy="677108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/>
            <a:r>
              <a:rPr kumimoji="1" lang="en-US" altLang="zh-CN" sz="1400" dirty="0">
                <a:latin typeface="SimSun" panose="02010600030101010101" pitchFamily="2" charset="-122"/>
                <a:ea typeface="SimSun" panose="02010600030101010101" pitchFamily="2" charset="-122"/>
              </a:rPr>
              <a:t>//</a:t>
            </a:r>
            <a:r>
              <a:rPr kumimoji="1" lang="zh-CN" altLang="en-US" sz="1400" dirty="0">
                <a:latin typeface="SimSun" panose="02010600030101010101" pitchFamily="2" charset="-122"/>
                <a:ea typeface="SimSun" panose="02010600030101010101" pitchFamily="2" charset="-122"/>
              </a:rPr>
              <a:t>解析文件数据类</a:t>
            </a:r>
            <a:endParaRPr kumimoji="1" lang="en-US" altLang="zh-CN" sz="1400" dirty="0">
              <a:latin typeface="SimSun" panose="02010600030101010101" pitchFamily="2" charset="-122"/>
              <a:ea typeface="SimSun" panose="02010600030101010101" pitchFamily="2" charset="-122"/>
            </a:endParaRPr>
          </a:p>
          <a:p>
            <a:pPr algn="l"/>
            <a:r>
              <a:rPr kumimoji="1" lang="en-US" altLang="zh-CN" sz="1400" dirty="0">
                <a:latin typeface="SimSun" panose="02010600030101010101" pitchFamily="2" charset="-122"/>
                <a:ea typeface="SimSun" panose="02010600030101010101" pitchFamily="2" charset="-122"/>
              </a:rPr>
              <a:t>class</a:t>
            </a:r>
            <a:r>
              <a:rPr kumimoji="1" lang="zh-CN" altLang="en-US" sz="1400" dirty="0">
                <a:latin typeface="SimSun" panose="02010600030101010101" pitchFamily="2" charset="-122"/>
                <a:ea typeface="SimSun" panose="02010600030101010101" pitchFamily="2" charset="-122"/>
              </a:rPr>
              <a:t>  </a:t>
            </a:r>
            <a:r>
              <a:rPr kumimoji="1" lang="en-US" altLang="zh-CN" sz="1400" dirty="0" err="1">
                <a:latin typeface="SimSun" panose="02010600030101010101" pitchFamily="2" charset="-122"/>
                <a:ea typeface="SimSun" panose="02010600030101010101" pitchFamily="2" charset="-122"/>
              </a:rPr>
              <a:t>dataOperation</a:t>
            </a:r>
            <a:r>
              <a:rPr kumimoji="1" lang="zh-CN" altLang="en-US" sz="1400" dirty="0">
                <a:latin typeface="SimSun" panose="02010600030101010101" pitchFamily="2" charset="-122"/>
                <a:ea typeface="SimSun" panose="02010600030101010101" pitchFamily="2" charset="-122"/>
              </a:rPr>
              <a:t> </a:t>
            </a:r>
            <a:r>
              <a:rPr kumimoji="1" lang="en-US" altLang="zh-CN" sz="1400" dirty="0">
                <a:latin typeface="SimSun" panose="02010600030101010101" pitchFamily="2" charset="-122"/>
                <a:ea typeface="SimSun" panose="02010600030101010101" pitchFamily="2" charset="-122"/>
              </a:rPr>
              <a:t>{</a:t>
            </a:r>
          </a:p>
          <a:p>
            <a:pPr algn="l"/>
            <a:endParaRPr kumimoji="1" lang="en-US" altLang="zh-CN" sz="1400" dirty="0">
              <a:latin typeface="SimSun" panose="02010600030101010101" pitchFamily="2" charset="-122"/>
              <a:ea typeface="SimSun" panose="02010600030101010101" pitchFamily="2" charset="-122"/>
            </a:endParaRPr>
          </a:p>
          <a:p>
            <a:pPr algn="l"/>
            <a:r>
              <a:rPr kumimoji="1" lang="en-US" altLang="zh-CN" sz="1400" dirty="0">
                <a:solidFill>
                  <a:schemeClr val="bg1">
                    <a:lumMod val="50000"/>
                  </a:schemeClr>
                </a:solidFill>
                <a:latin typeface="SimSun" panose="02010600030101010101" pitchFamily="2" charset="-122"/>
                <a:ea typeface="SimSun" panose="02010600030101010101" pitchFamily="2" charset="-122"/>
              </a:rPr>
              <a:t>/</a:t>
            </a:r>
            <a:r>
              <a:rPr kumimoji="1" lang="zh-CN" altLang="en-US" sz="1400" dirty="0">
                <a:solidFill>
                  <a:schemeClr val="bg1">
                    <a:lumMod val="50000"/>
                  </a:schemeClr>
                </a:solidFill>
                <a:latin typeface="SimSun" panose="02010600030101010101" pitchFamily="2" charset="-122"/>
                <a:ea typeface="SimSun" panose="02010600030101010101" pitchFamily="2" charset="-122"/>
              </a:rPr>
              <a:t>*</a:t>
            </a:r>
            <a:endParaRPr kumimoji="1" lang="en-US" altLang="zh-CN" sz="1400" dirty="0">
              <a:solidFill>
                <a:schemeClr val="bg1">
                  <a:lumMod val="50000"/>
                </a:schemeClr>
              </a:solidFill>
              <a:latin typeface="SimSun" panose="02010600030101010101" pitchFamily="2" charset="-122"/>
              <a:ea typeface="SimSun" panose="02010600030101010101" pitchFamily="2" charset="-122"/>
            </a:endParaRPr>
          </a:p>
          <a:p>
            <a:pPr algn="l"/>
            <a:r>
              <a:rPr kumimoji="1" lang="zh-CN" altLang="en-US" sz="1400" dirty="0">
                <a:solidFill>
                  <a:schemeClr val="bg1">
                    <a:lumMod val="50000"/>
                  </a:schemeClr>
                </a:solidFill>
                <a:latin typeface="SimSun" panose="02010600030101010101" pitchFamily="2" charset="-122"/>
                <a:ea typeface="SimSun" panose="02010600030101010101" pitchFamily="2" charset="-122"/>
              </a:rPr>
              <a:t>方法描述：从文件中以读取指定行列数据</a:t>
            </a:r>
            <a:br>
              <a:rPr kumimoji="1" lang="en-US" altLang="zh-CN" sz="1400" dirty="0">
                <a:solidFill>
                  <a:schemeClr val="bg1">
                    <a:lumMod val="50000"/>
                  </a:schemeClr>
                </a:solidFill>
                <a:latin typeface="SimSun" panose="02010600030101010101" pitchFamily="2" charset="-122"/>
                <a:ea typeface="SimSun" panose="02010600030101010101" pitchFamily="2" charset="-122"/>
              </a:rPr>
            </a:br>
            <a:r>
              <a:rPr kumimoji="1" lang="zh-CN" altLang="en-US" sz="1400" dirty="0">
                <a:solidFill>
                  <a:schemeClr val="bg1">
                    <a:lumMod val="50000"/>
                  </a:schemeClr>
                </a:solidFill>
                <a:latin typeface="SimSun" panose="02010600030101010101" pitchFamily="2" charset="-122"/>
                <a:ea typeface="SimSun" panose="02010600030101010101" pitchFamily="2" charset="-122"/>
              </a:rPr>
              <a:t>参数描述：</a:t>
            </a:r>
            <a:r>
              <a:rPr kumimoji="1" lang="en-US" altLang="zh-CN" sz="1400" dirty="0">
                <a:solidFill>
                  <a:schemeClr val="bg1">
                    <a:lumMod val="50000"/>
                  </a:schemeClr>
                </a:solidFill>
                <a:latin typeface="SimSun" panose="02010600030101010101" pitchFamily="2" charset="-122"/>
                <a:ea typeface="SimSun" panose="02010600030101010101" pitchFamily="2" charset="-122"/>
              </a:rPr>
              <a:t> </a:t>
            </a:r>
            <a:r>
              <a:rPr kumimoji="1" lang="en-US" altLang="zh-CN" sz="1400" dirty="0" err="1">
                <a:solidFill>
                  <a:schemeClr val="bg1">
                    <a:lumMod val="50000"/>
                  </a:schemeClr>
                </a:solidFill>
                <a:latin typeface="SimSun" panose="02010600030101010101" pitchFamily="2" charset="-122"/>
                <a:ea typeface="SimSun" panose="02010600030101010101" pitchFamily="2" charset="-122"/>
              </a:rPr>
              <a:t>fp</a:t>
            </a:r>
            <a:r>
              <a:rPr kumimoji="1" lang="zh-CN" altLang="en-US" sz="1400" dirty="0">
                <a:solidFill>
                  <a:schemeClr val="bg1">
                    <a:lumMod val="50000"/>
                  </a:schemeClr>
                </a:solidFill>
                <a:latin typeface="SimSun" panose="02010600030101010101" pitchFamily="2" charset="-122"/>
                <a:ea typeface="SimSun" panose="02010600030101010101" pitchFamily="2" charset="-122"/>
              </a:rPr>
              <a:t>文件句柄，</a:t>
            </a:r>
            <a:r>
              <a:rPr kumimoji="1" lang="en-US" altLang="zh-CN" sz="1400" dirty="0">
                <a:solidFill>
                  <a:schemeClr val="bg1">
                    <a:lumMod val="50000"/>
                  </a:schemeClr>
                </a:solidFill>
                <a:latin typeface="SimSun" panose="02010600030101010101" pitchFamily="2" charset="-122"/>
                <a:ea typeface="SimSun" panose="02010600030101010101" pitchFamily="2" charset="-122"/>
              </a:rPr>
              <a:t>n</a:t>
            </a:r>
            <a:r>
              <a:rPr kumimoji="1" lang="zh-CN" altLang="en-US" sz="1400" dirty="0">
                <a:solidFill>
                  <a:schemeClr val="bg1">
                    <a:lumMod val="50000"/>
                  </a:schemeClr>
                </a:solidFill>
                <a:latin typeface="SimSun" panose="02010600030101010101" pitchFamily="2" charset="-122"/>
                <a:ea typeface="SimSun" panose="02010600030101010101" pitchFamily="2" charset="-122"/>
              </a:rPr>
              <a:t>行数，</a:t>
            </a:r>
            <a:r>
              <a:rPr kumimoji="1" lang="en-US" altLang="zh-CN" sz="1400" dirty="0">
                <a:solidFill>
                  <a:schemeClr val="bg1">
                    <a:lumMod val="50000"/>
                  </a:schemeClr>
                </a:solidFill>
                <a:latin typeface="SimSun" panose="02010600030101010101" pitchFamily="2" charset="-122"/>
                <a:ea typeface="SimSun" panose="02010600030101010101" pitchFamily="2" charset="-122"/>
              </a:rPr>
              <a:t>m</a:t>
            </a:r>
            <a:r>
              <a:rPr kumimoji="1" lang="zh-CN" altLang="en-US" sz="1400" dirty="0">
                <a:solidFill>
                  <a:schemeClr val="bg1">
                    <a:lumMod val="50000"/>
                  </a:schemeClr>
                </a:solidFill>
                <a:latin typeface="SimSun" panose="02010600030101010101" pitchFamily="2" charset="-122"/>
                <a:ea typeface="SimSun" panose="02010600030101010101" pitchFamily="2" charset="-122"/>
              </a:rPr>
              <a:t>列数</a:t>
            </a:r>
            <a:r>
              <a:rPr kumimoji="1" lang="en-US" altLang="zh-CN" sz="1400" dirty="0">
                <a:solidFill>
                  <a:schemeClr val="bg1">
                    <a:lumMod val="50000"/>
                  </a:schemeClr>
                </a:solidFill>
                <a:latin typeface="SimSun" panose="02010600030101010101" pitchFamily="2" charset="-122"/>
                <a:ea typeface="SimSun" panose="02010600030101010101" pitchFamily="2" charset="-122"/>
              </a:rPr>
              <a:t>,</a:t>
            </a:r>
            <a:r>
              <a:rPr kumimoji="1" lang="en-US" altLang="zh-CN" sz="1400" dirty="0" err="1">
                <a:solidFill>
                  <a:schemeClr val="bg1">
                    <a:lumMod val="50000"/>
                  </a:schemeClr>
                </a:solidFill>
                <a:latin typeface="SimSun" panose="02010600030101010101" pitchFamily="2" charset="-122"/>
                <a:ea typeface="SimSun" panose="02010600030101010101" pitchFamily="2" charset="-122"/>
              </a:rPr>
              <a:t>str</a:t>
            </a:r>
            <a:r>
              <a:rPr kumimoji="1" lang="zh-CN" altLang="en-US" sz="1400" dirty="0">
                <a:solidFill>
                  <a:schemeClr val="bg1">
                    <a:lumMod val="50000"/>
                  </a:schemeClr>
                </a:solidFill>
                <a:latin typeface="SimSun" panose="02010600030101010101" pitchFamily="2" charset="-122"/>
                <a:ea typeface="SimSun" panose="02010600030101010101" pitchFamily="2" charset="-122"/>
              </a:rPr>
              <a:t>返回数据</a:t>
            </a:r>
            <a:endParaRPr kumimoji="1" lang="en-US" altLang="zh-CN" sz="1400" dirty="0">
              <a:solidFill>
                <a:schemeClr val="bg1">
                  <a:lumMod val="50000"/>
                </a:schemeClr>
              </a:solidFill>
              <a:latin typeface="SimSun" panose="02010600030101010101" pitchFamily="2" charset="-122"/>
              <a:ea typeface="SimSun" panose="02010600030101010101" pitchFamily="2" charset="-122"/>
            </a:endParaRPr>
          </a:p>
          <a:p>
            <a:pPr algn="l"/>
            <a:r>
              <a:rPr kumimoji="1" lang="zh-CN" altLang="en-US" sz="1400" dirty="0">
                <a:solidFill>
                  <a:schemeClr val="bg1">
                    <a:lumMod val="50000"/>
                  </a:schemeClr>
                </a:solidFill>
                <a:latin typeface="SimSun" panose="02010600030101010101" pitchFamily="2" charset="-122"/>
                <a:ea typeface="SimSun" panose="02010600030101010101" pitchFamily="2" charset="-122"/>
              </a:rPr>
              <a:t>返回值描述：</a:t>
            </a:r>
            <a:endParaRPr kumimoji="1" lang="en-US" altLang="zh-CN" sz="1400" dirty="0">
              <a:solidFill>
                <a:schemeClr val="bg1">
                  <a:lumMod val="50000"/>
                </a:schemeClr>
              </a:solidFill>
              <a:latin typeface="SimSun" panose="02010600030101010101" pitchFamily="2" charset="-122"/>
              <a:ea typeface="SimSun" panose="02010600030101010101" pitchFamily="2" charset="-122"/>
            </a:endParaRPr>
          </a:p>
          <a:p>
            <a:pPr algn="l"/>
            <a:r>
              <a:rPr kumimoji="1" lang="zh-CN" altLang="en-US" sz="1400" dirty="0">
                <a:solidFill>
                  <a:schemeClr val="bg1">
                    <a:lumMod val="50000"/>
                  </a:schemeClr>
                </a:solidFill>
                <a:latin typeface="SimSun" panose="02010600030101010101" pitchFamily="2" charset="-122"/>
                <a:ea typeface="SimSun" panose="02010600030101010101" pitchFamily="2" charset="-122"/>
              </a:rPr>
              <a:t>*</a:t>
            </a:r>
            <a:r>
              <a:rPr kumimoji="1" lang="en-US" altLang="zh-CN" sz="1400" dirty="0">
                <a:solidFill>
                  <a:schemeClr val="bg1">
                    <a:lumMod val="50000"/>
                  </a:schemeClr>
                </a:solidFill>
                <a:latin typeface="SimSun" panose="02010600030101010101" pitchFamily="2" charset="-122"/>
                <a:ea typeface="SimSun" panose="02010600030101010101" pitchFamily="2" charset="-122"/>
              </a:rPr>
              <a:t>/</a:t>
            </a:r>
          </a:p>
          <a:p>
            <a:pPr algn="l"/>
            <a:r>
              <a:rPr kumimoji="1" lang="en-US" altLang="zh-CN" sz="1400" dirty="0" err="1">
                <a:solidFill>
                  <a:srgbClr val="0054FE"/>
                </a:solidFill>
                <a:latin typeface="SimSun" panose="02010600030101010101" pitchFamily="2" charset="-122"/>
                <a:ea typeface="SimSun" panose="02010600030101010101" pitchFamily="2" charset="-122"/>
              </a:rPr>
              <a:t>dataRead</a:t>
            </a:r>
            <a:r>
              <a:rPr kumimoji="1" lang="en-US" altLang="zh-CN" sz="1400" dirty="0">
                <a:solidFill>
                  <a:srgbClr val="0054FE"/>
                </a:solidFill>
                <a:latin typeface="SimSun" panose="02010600030101010101" pitchFamily="2" charset="-122"/>
                <a:ea typeface="SimSun" panose="02010600030101010101" pitchFamily="2" charset="-122"/>
              </a:rPr>
              <a:t>(FILE</a:t>
            </a:r>
            <a:r>
              <a:rPr kumimoji="1" lang="zh-CN" altLang="en-US" sz="1400" dirty="0">
                <a:solidFill>
                  <a:srgbClr val="0054FE"/>
                </a:solidFill>
                <a:latin typeface="SimSun" panose="02010600030101010101" pitchFamily="2" charset="-122"/>
                <a:ea typeface="SimSun" panose="02010600030101010101" pitchFamily="2" charset="-122"/>
              </a:rPr>
              <a:t>* </a:t>
            </a:r>
            <a:r>
              <a:rPr kumimoji="1" lang="en-US" altLang="zh-CN" sz="1400" dirty="0" err="1">
                <a:solidFill>
                  <a:srgbClr val="0054FE"/>
                </a:solidFill>
                <a:latin typeface="SimSun" panose="02010600030101010101" pitchFamily="2" charset="-122"/>
                <a:ea typeface="SimSun" panose="02010600030101010101" pitchFamily="2" charset="-122"/>
              </a:rPr>
              <a:t>fp</a:t>
            </a:r>
            <a:r>
              <a:rPr kumimoji="1" lang="en-US" altLang="zh-CN" sz="1400" dirty="0">
                <a:solidFill>
                  <a:srgbClr val="0054FE"/>
                </a:solidFill>
                <a:latin typeface="SimSun" panose="02010600030101010101" pitchFamily="2" charset="-122"/>
                <a:ea typeface="SimSun" panose="02010600030101010101" pitchFamily="2" charset="-122"/>
              </a:rPr>
              <a:t>,</a:t>
            </a:r>
            <a:r>
              <a:rPr kumimoji="1" lang="zh-CN" altLang="en-US" sz="1400" dirty="0">
                <a:solidFill>
                  <a:srgbClr val="0054FE"/>
                </a:solidFill>
                <a:latin typeface="SimSun" panose="02010600030101010101" pitchFamily="2" charset="-122"/>
                <a:ea typeface="SimSun" panose="02010600030101010101" pitchFamily="2" charset="-122"/>
              </a:rPr>
              <a:t> </a:t>
            </a:r>
            <a:r>
              <a:rPr kumimoji="1" lang="en-US" altLang="zh-CN" sz="1400" dirty="0">
                <a:solidFill>
                  <a:srgbClr val="0054FE"/>
                </a:solidFill>
                <a:latin typeface="SimSun" panose="02010600030101010101" pitchFamily="2" charset="-122"/>
                <a:ea typeface="SimSun" panose="02010600030101010101" pitchFamily="2" charset="-122"/>
              </a:rPr>
              <a:t>void</a:t>
            </a:r>
            <a:r>
              <a:rPr kumimoji="1" lang="zh-CN" altLang="en-US" sz="1400" dirty="0">
                <a:solidFill>
                  <a:srgbClr val="0054FE"/>
                </a:solidFill>
                <a:latin typeface="SimSun" panose="02010600030101010101" pitchFamily="2" charset="-122"/>
                <a:ea typeface="SimSun" panose="02010600030101010101" pitchFamily="2" charset="-122"/>
              </a:rPr>
              <a:t>* *</a:t>
            </a:r>
            <a:r>
              <a:rPr kumimoji="1" lang="en-US" altLang="zh-CN" sz="1400" dirty="0" err="1">
                <a:solidFill>
                  <a:srgbClr val="0054FE"/>
                </a:solidFill>
                <a:latin typeface="SimSun" panose="02010600030101010101" pitchFamily="2" charset="-122"/>
                <a:ea typeface="SimSun" panose="02010600030101010101" pitchFamily="2" charset="-122"/>
              </a:rPr>
              <a:t>str</a:t>
            </a:r>
            <a:r>
              <a:rPr kumimoji="1" lang="zh-CN" altLang="en-US" sz="1400" dirty="0">
                <a:solidFill>
                  <a:srgbClr val="0054FE"/>
                </a:solidFill>
                <a:latin typeface="SimSun" panose="02010600030101010101" pitchFamily="2" charset="-122"/>
                <a:ea typeface="SimSun" panose="02010600030101010101" pitchFamily="2" charset="-122"/>
              </a:rPr>
              <a:t>， </a:t>
            </a:r>
            <a:r>
              <a:rPr kumimoji="1" lang="en-US" altLang="zh-CN" sz="1400" dirty="0" err="1">
                <a:solidFill>
                  <a:srgbClr val="0054FE"/>
                </a:solidFill>
                <a:latin typeface="SimSun" panose="02010600030101010101" pitchFamily="2" charset="-122"/>
                <a:ea typeface="SimSun" panose="02010600030101010101" pitchFamily="2" charset="-122"/>
              </a:rPr>
              <a:t>int</a:t>
            </a:r>
            <a:r>
              <a:rPr kumimoji="1" lang="zh-CN" altLang="en-US" sz="1400" dirty="0">
                <a:solidFill>
                  <a:srgbClr val="0054FE"/>
                </a:solidFill>
                <a:latin typeface="SimSun" panose="02010600030101010101" pitchFamily="2" charset="-122"/>
                <a:ea typeface="SimSun" panose="02010600030101010101" pitchFamily="2" charset="-122"/>
              </a:rPr>
              <a:t> </a:t>
            </a:r>
            <a:r>
              <a:rPr kumimoji="1" lang="en-US" altLang="zh-CN" sz="1400" dirty="0">
                <a:solidFill>
                  <a:srgbClr val="0054FE"/>
                </a:solidFill>
                <a:latin typeface="SimSun" panose="02010600030101010101" pitchFamily="2" charset="-122"/>
                <a:ea typeface="SimSun" panose="02010600030101010101" pitchFamily="2" charset="-122"/>
              </a:rPr>
              <a:t>n,</a:t>
            </a:r>
            <a:r>
              <a:rPr kumimoji="1" lang="zh-CN" altLang="en-US" sz="1400" dirty="0">
                <a:solidFill>
                  <a:srgbClr val="0054FE"/>
                </a:solidFill>
                <a:latin typeface="SimSun" panose="02010600030101010101" pitchFamily="2" charset="-122"/>
                <a:ea typeface="SimSun" panose="02010600030101010101" pitchFamily="2" charset="-122"/>
              </a:rPr>
              <a:t> </a:t>
            </a:r>
            <a:r>
              <a:rPr kumimoji="1" lang="en-US" altLang="zh-CN" sz="1400" dirty="0" err="1">
                <a:solidFill>
                  <a:srgbClr val="0054FE"/>
                </a:solidFill>
                <a:latin typeface="SimSun" panose="02010600030101010101" pitchFamily="2" charset="-122"/>
                <a:ea typeface="SimSun" panose="02010600030101010101" pitchFamily="2" charset="-122"/>
              </a:rPr>
              <a:t>int</a:t>
            </a:r>
            <a:r>
              <a:rPr kumimoji="1" lang="zh-CN" altLang="en-US" sz="1400" dirty="0">
                <a:solidFill>
                  <a:srgbClr val="0054FE"/>
                </a:solidFill>
                <a:latin typeface="SimSun" panose="02010600030101010101" pitchFamily="2" charset="-122"/>
                <a:ea typeface="SimSun" panose="02010600030101010101" pitchFamily="2" charset="-122"/>
              </a:rPr>
              <a:t> </a:t>
            </a:r>
            <a:r>
              <a:rPr kumimoji="1" lang="en-US" altLang="zh-CN" sz="1400" dirty="0">
                <a:solidFill>
                  <a:srgbClr val="0054FE"/>
                </a:solidFill>
                <a:latin typeface="SimSun" panose="02010600030101010101" pitchFamily="2" charset="-122"/>
                <a:ea typeface="SimSun" panose="02010600030101010101" pitchFamily="2" charset="-122"/>
              </a:rPr>
              <a:t>m);</a:t>
            </a:r>
          </a:p>
          <a:p>
            <a:pPr algn="l"/>
            <a:endParaRPr kumimoji="1" lang="en-US" altLang="zh-CN" sz="1400" dirty="0">
              <a:latin typeface="SimSun" panose="02010600030101010101" pitchFamily="2" charset="-122"/>
              <a:ea typeface="SimSun" panose="02010600030101010101" pitchFamily="2" charset="-122"/>
            </a:endParaRPr>
          </a:p>
          <a:p>
            <a:pPr algn="l"/>
            <a:r>
              <a:rPr kumimoji="1" lang="en-US" altLang="zh-CN" sz="1400" dirty="0">
                <a:solidFill>
                  <a:schemeClr val="bg1">
                    <a:lumMod val="50000"/>
                  </a:schemeClr>
                </a:solidFill>
                <a:latin typeface="SimSun" panose="02010600030101010101" pitchFamily="2" charset="-122"/>
                <a:ea typeface="SimSun" panose="02010600030101010101" pitchFamily="2" charset="-122"/>
              </a:rPr>
              <a:t>/</a:t>
            </a:r>
            <a:r>
              <a:rPr kumimoji="1" lang="zh-CN" altLang="en-US" sz="1400" dirty="0">
                <a:solidFill>
                  <a:schemeClr val="bg1">
                    <a:lumMod val="50000"/>
                  </a:schemeClr>
                </a:solidFill>
                <a:latin typeface="SimSun" panose="02010600030101010101" pitchFamily="2" charset="-122"/>
                <a:ea typeface="SimSun" panose="02010600030101010101" pitchFamily="2" charset="-122"/>
              </a:rPr>
              <a:t>*</a:t>
            </a:r>
            <a:endParaRPr kumimoji="1" lang="en-US" altLang="zh-CN" sz="1400" dirty="0">
              <a:solidFill>
                <a:schemeClr val="bg1">
                  <a:lumMod val="50000"/>
                </a:schemeClr>
              </a:solidFill>
              <a:latin typeface="SimSun" panose="02010600030101010101" pitchFamily="2" charset="-122"/>
              <a:ea typeface="SimSun" panose="02010600030101010101" pitchFamily="2" charset="-122"/>
            </a:endParaRPr>
          </a:p>
          <a:p>
            <a:pPr algn="l"/>
            <a:r>
              <a:rPr kumimoji="1" lang="zh-CN" altLang="en-US" sz="1400" dirty="0">
                <a:solidFill>
                  <a:schemeClr val="bg1">
                    <a:lumMod val="50000"/>
                  </a:schemeClr>
                </a:solidFill>
                <a:latin typeface="SimSun" panose="02010600030101010101" pitchFamily="2" charset="-122"/>
                <a:ea typeface="SimSun" panose="02010600030101010101" pitchFamily="2" charset="-122"/>
              </a:rPr>
              <a:t>方法描述：数据增加操作</a:t>
            </a:r>
            <a:endParaRPr kumimoji="1" lang="en-US" altLang="zh-CN" sz="1400" dirty="0">
              <a:solidFill>
                <a:schemeClr val="bg1">
                  <a:lumMod val="50000"/>
                </a:schemeClr>
              </a:solidFill>
              <a:latin typeface="SimSun" panose="02010600030101010101" pitchFamily="2" charset="-122"/>
              <a:ea typeface="SimSun" panose="02010600030101010101" pitchFamily="2" charset="-122"/>
            </a:endParaRPr>
          </a:p>
          <a:p>
            <a:pPr algn="l"/>
            <a:r>
              <a:rPr kumimoji="1" lang="zh-CN" altLang="en-US" sz="1400" dirty="0">
                <a:solidFill>
                  <a:schemeClr val="bg1">
                    <a:lumMod val="50000"/>
                  </a:schemeClr>
                </a:solidFill>
                <a:latin typeface="SimSun" panose="02010600030101010101" pitchFamily="2" charset="-122"/>
                <a:ea typeface="SimSun" panose="02010600030101010101" pitchFamily="2" charset="-122"/>
              </a:rPr>
              <a:t>参数描述：</a:t>
            </a:r>
            <a:r>
              <a:rPr kumimoji="1" lang="en-US" altLang="zh-CN" sz="1400" dirty="0">
                <a:solidFill>
                  <a:schemeClr val="bg1">
                    <a:lumMod val="50000"/>
                  </a:schemeClr>
                </a:solidFill>
                <a:latin typeface="SimSun" panose="02010600030101010101" pitchFamily="2" charset="-122"/>
                <a:ea typeface="SimSun" panose="02010600030101010101" pitchFamily="2" charset="-122"/>
              </a:rPr>
              <a:t> </a:t>
            </a:r>
            <a:r>
              <a:rPr kumimoji="1" lang="en-US" altLang="zh-CN" sz="1400" dirty="0" err="1">
                <a:solidFill>
                  <a:schemeClr val="bg1">
                    <a:lumMod val="50000"/>
                  </a:schemeClr>
                </a:solidFill>
                <a:latin typeface="SimSun" panose="02010600030101010101" pitchFamily="2" charset="-122"/>
                <a:ea typeface="SimSun" panose="02010600030101010101" pitchFamily="2" charset="-122"/>
              </a:rPr>
              <a:t>fp</a:t>
            </a:r>
            <a:r>
              <a:rPr kumimoji="1" lang="zh-CN" altLang="en-US" sz="1400" dirty="0">
                <a:solidFill>
                  <a:schemeClr val="bg1">
                    <a:lumMod val="50000"/>
                  </a:schemeClr>
                </a:solidFill>
                <a:latin typeface="SimSun" panose="02010600030101010101" pitchFamily="2" charset="-122"/>
                <a:ea typeface="SimSun" panose="02010600030101010101" pitchFamily="2" charset="-122"/>
              </a:rPr>
              <a:t>文件句柄，</a:t>
            </a:r>
            <a:r>
              <a:rPr kumimoji="1" lang="en-US" altLang="zh-CN" sz="1400" dirty="0">
                <a:solidFill>
                  <a:schemeClr val="bg1">
                    <a:lumMod val="50000"/>
                  </a:schemeClr>
                </a:solidFill>
                <a:latin typeface="SimSun" panose="02010600030101010101" pitchFamily="2" charset="-122"/>
                <a:ea typeface="SimSun" panose="02010600030101010101" pitchFamily="2" charset="-122"/>
              </a:rPr>
              <a:t>n</a:t>
            </a:r>
            <a:r>
              <a:rPr kumimoji="1" lang="zh-CN" altLang="en-US" sz="1400" dirty="0">
                <a:solidFill>
                  <a:schemeClr val="bg1">
                    <a:lumMod val="50000"/>
                  </a:schemeClr>
                </a:solidFill>
                <a:latin typeface="SimSun" panose="02010600030101010101" pitchFamily="2" charset="-122"/>
                <a:ea typeface="SimSun" panose="02010600030101010101" pitchFamily="2" charset="-122"/>
              </a:rPr>
              <a:t>行数，</a:t>
            </a:r>
            <a:r>
              <a:rPr kumimoji="1" lang="en-US" altLang="zh-CN" sz="1400" dirty="0">
                <a:solidFill>
                  <a:schemeClr val="bg1">
                    <a:lumMod val="50000"/>
                  </a:schemeClr>
                </a:solidFill>
                <a:latin typeface="SimSun" panose="02010600030101010101" pitchFamily="2" charset="-122"/>
                <a:ea typeface="SimSun" panose="02010600030101010101" pitchFamily="2" charset="-122"/>
              </a:rPr>
              <a:t>m</a:t>
            </a:r>
            <a:r>
              <a:rPr kumimoji="1" lang="zh-CN" altLang="en-US" sz="1400" dirty="0">
                <a:solidFill>
                  <a:schemeClr val="bg1">
                    <a:lumMod val="50000"/>
                  </a:schemeClr>
                </a:solidFill>
                <a:latin typeface="SimSun" panose="02010600030101010101" pitchFamily="2" charset="-122"/>
                <a:ea typeface="SimSun" panose="02010600030101010101" pitchFamily="2" charset="-122"/>
              </a:rPr>
              <a:t>列数，</a:t>
            </a:r>
            <a:r>
              <a:rPr kumimoji="1" lang="en-US" altLang="zh-CN" sz="1400" dirty="0" err="1">
                <a:solidFill>
                  <a:schemeClr val="bg1">
                    <a:lumMod val="50000"/>
                  </a:schemeClr>
                </a:solidFill>
                <a:latin typeface="SimSun" panose="02010600030101010101" pitchFamily="2" charset="-122"/>
                <a:ea typeface="SimSun" panose="02010600030101010101" pitchFamily="2" charset="-122"/>
              </a:rPr>
              <a:t>str</a:t>
            </a:r>
            <a:r>
              <a:rPr kumimoji="1" lang="zh-CN" altLang="en-US" sz="1400" dirty="0">
                <a:solidFill>
                  <a:schemeClr val="bg1">
                    <a:lumMod val="50000"/>
                  </a:schemeClr>
                </a:solidFill>
                <a:latin typeface="SimSun" panose="02010600030101010101" pitchFamily="2" charset="-122"/>
                <a:ea typeface="SimSun" panose="02010600030101010101" pitchFamily="2" charset="-122"/>
              </a:rPr>
              <a:t>写入文件数据</a:t>
            </a:r>
            <a:endParaRPr kumimoji="1" lang="en-US" altLang="zh-CN" sz="1400" dirty="0">
              <a:solidFill>
                <a:schemeClr val="bg1">
                  <a:lumMod val="50000"/>
                </a:schemeClr>
              </a:solidFill>
              <a:latin typeface="SimSun" panose="02010600030101010101" pitchFamily="2" charset="-122"/>
              <a:ea typeface="SimSun" panose="02010600030101010101" pitchFamily="2" charset="-122"/>
            </a:endParaRPr>
          </a:p>
          <a:p>
            <a:pPr algn="l"/>
            <a:r>
              <a:rPr kumimoji="1" lang="zh-CN" altLang="en-US" sz="1400" dirty="0">
                <a:solidFill>
                  <a:schemeClr val="bg1">
                    <a:lumMod val="50000"/>
                  </a:schemeClr>
                </a:solidFill>
                <a:latin typeface="SimSun" panose="02010600030101010101" pitchFamily="2" charset="-122"/>
                <a:ea typeface="SimSun" panose="02010600030101010101" pitchFamily="2" charset="-122"/>
              </a:rPr>
              <a:t>返回值描述：</a:t>
            </a:r>
            <a:endParaRPr kumimoji="1" lang="en-US" altLang="zh-CN" sz="1400" dirty="0">
              <a:solidFill>
                <a:schemeClr val="bg1">
                  <a:lumMod val="50000"/>
                </a:schemeClr>
              </a:solidFill>
              <a:latin typeface="SimSun" panose="02010600030101010101" pitchFamily="2" charset="-122"/>
              <a:ea typeface="SimSun" panose="02010600030101010101" pitchFamily="2" charset="-122"/>
            </a:endParaRPr>
          </a:p>
          <a:p>
            <a:pPr algn="l"/>
            <a:r>
              <a:rPr kumimoji="1" lang="zh-CN" altLang="en-US" sz="1400" dirty="0">
                <a:solidFill>
                  <a:schemeClr val="bg1">
                    <a:lumMod val="50000"/>
                  </a:schemeClr>
                </a:solidFill>
                <a:latin typeface="SimSun" panose="02010600030101010101" pitchFamily="2" charset="-122"/>
                <a:ea typeface="SimSun" panose="02010600030101010101" pitchFamily="2" charset="-122"/>
              </a:rPr>
              <a:t>*</a:t>
            </a:r>
            <a:r>
              <a:rPr kumimoji="1" lang="en-US" altLang="zh-CN" sz="1400" dirty="0">
                <a:solidFill>
                  <a:schemeClr val="bg1">
                    <a:lumMod val="50000"/>
                  </a:schemeClr>
                </a:solidFill>
                <a:latin typeface="SimSun" panose="02010600030101010101" pitchFamily="2" charset="-122"/>
                <a:ea typeface="SimSun" panose="02010600030101010101" pitchFamily="2" charset="-122"/>
              </a:rPr>
              <a:t>/</a:t>
            </a:r>
          </a:p>
          <a:p>
            <a:pPr algn="l"/>
            <a:r>
              <a:rPr kumimoji="1" lang="en-US" altLang="zh-CN" sz="1400" dirty="0" err="1">
                <a:solidFill>
                  <a:srgbClr val="0054FE"/>
                </a:solidFill>
                <a:latin typeface="SimSun" panose="02010600030101010101" pitchFamily="2" charset="-122"/>
                <a:ea typeface="SimSun" panose="02010600030101010101" pitchFamily="2" charset="-122"/>
              </a:rPr>
              <a:t>dataAdd</a:t>
            </a:r>
            <a:r>
              <a:rPr kumimoji="1" lang="en-US" altLang="zh-CN" sz="1400" dirty="0">
                <a:solidFill>
                  <a:srgbClr val="0054FE"/>
                </a:solidFill>
                <a:latin typeface="SimSun" panose="02010600030101010101" pitchFamily="2" charset="-122"/>
                <a:ea typeface="SimSun" panose="02010600030101010101" pitchFamily="2" charset="-122"/>
              </a:rPr>
              <a:t>(FILE</a:t>
            </a:r>
            <a:r>
              <a:rPr kumimoji="1" lang="zh-CN" altLang="en-US" sz="1400" dirty="0">
                <a:solidFill>
                  <a:srgbClr val="0054FE"/>
                </a:solidFill>
                <a:latin typeface="SimSun" panose="02010600030101010101" pitchFamily="2" charset="-122"/>
                <a:ea typeface="SimSun" panose="02010600030101010101" pitchFamily="2" charset="-122"/>
              </a:rPr>
              <a:t>* </a:t>
            </a:r>
            <a:r>
              <a:rPr kumimoji="1" lang="en-US" altLang="zh-CN" sz="1400" dirty="0" err="1">
                <a:solidFill>
                  <a:srgbClr val="0054FE"/>
                </a:solidFill>
                <a:latin typeface="SimSun" panose="02010600030101010101" pitchFamily="2" charset="-122"/>
                <a:ea typeface="SimSun" panose="02010600030101010101" pitchFamily="2" charset="-122"/>
              </a:rPr>
              <a:t>fp</a:t>
            </a:r>
            <a:r>
              <a:rPr kumimoji="1" lang="en-US" altLang="zh-CN" sz="1400" dirty="0">
                <a:solidFill>
                  <a:srgbClr val="0054FE"/>
                </a:solidFill>
                <a:latin typeface="SimSun" panose="02010600030101010101" pitchFamily="2" charset="-122"/>
                <a:ea typeface="SimSun" panose="02010600030101010101" pitchFamily="2" charset="-122"/>
              </a:rPr>
              <a:t>,</a:t>
            </a:r>
            <a:r>
              <a:rPr kumimoji="1" lang="zh-CN" altLang="en-US" sz="1400" dirty="0">
                <a:solidFill>
                  <a:srgbClr val="0054FE"/>
                </a:solidFill>
                <a:latin typeface="SimSun" panose="02010600030101010101" pitchFamily="2" charset="-122"/>
                <a:ea typeface="SimSun" panose="02010600030101010101" pitchFamily="2" charset="-122"/>
              </a:rPr>
              <a:t> </a:t>
            </a:r>
            <a:r>
              <a:rPr kumimoji="1" lang="en-US" altLang="zh-CN" sz="1400" dirty="0">
                <a:solidFill>
                  <a:srgbClr val="0054FE"/>
                </a:solidFill>
                <a:latin typeface="SimSun" panose="02010600030101010101" pitchFamily="2" charset="-122"/>
                <a:ea typeface="SimSun" panose="02010600030101010101" pitchFamily="2" charset="-122"/>
              </a:rPr>
              <a:t>void</a:t>
            </a:r>
            <a:r>
              <a:rPr kumimoji="1" lang="zh-CN" altLang="en-US" sz="1400" dirty="0">
                <a:solidFill>
                  <a:srgbClr val="0054FE"/>
                </a:solidFill>
                <a:latin typeface="SimSun" panose="02010600030101010101" pitchFamily="2" charset="-122"/>
                <a:ea typeface="SimSun" panose="02010600030101010101" pitchFamily="2" charset="-122"/>
              </a:rPr>
              <a:t>* </a:t>
            </a:r>
            <a:r>
              <a:rPr kumimoji="1" lang="en-US" altLang="zh-CN" sz="1400" dirty="0" err="1">
                <a:solidFill>
                  <a:srgbClr val="0054FE"/>
                </a:solidFill>
                <a:latin typeface="SimSun" panose="02010600030101010101" pitchFamily="2" charset="-122"/>
                <a:ea typeface="SimSun" panose="02010600030101010101" pitchFamily="2" charset="-122"/>
              </a:rPr>
              <a:t>str</a:t>
            </a:r>
            <a:r>
              <a:rPr kumimoji="1" lang="zh-CN" altLang="en-US" sz="1400" dirty="0">
                <a:solidFill>
                  <a:srgbClr val="0054FE"/>
                </a:solidFill>
                <a:latin typeface="SimSun" panose="02010600030101010101" pitchFamily="2" charset="-122"/>
                <a:ea typeface="SimSun" panose="02010600030101010101" pitchFamily="2" charset="-122"/>
              </a:rPr>
              <a:t>，</a:t>
            </a:r>
            <a:r>
              <a:rPr kumimoji="1" lang="en-US" altLang="zh-CN" sz="1400" dirty="0" err="1">
                <a:solidFill>
                  <a:srgbClr val="0054FE"/>
                </a:solidFill>
                <a:latin typeface="SimSun" panose="02010600030101010101" pitchFamily="2" charset="-122"/>
                <a:ea typeface="SimSun" panose="02010600030101010101" pitchFamily="2" charset="-122"/>
              </a:rPr>
              <a:t>int</a:t>
            </a:r>
            <a:r>
              <a:rPr kumimoji="1" lang="zh-CN" altLang="en-US" sz="1400" dirty="0">
                <a:solidFill>
                  <a:srgbClr val="0054FE"/>
                </a:solidFill>
                <a:latin typeface="SimSun" panose="02010600030101010101" pitchFamily="2" charset="-122"/>
                <a:ea typeface="SimSun" panose="02010600030101010101" pitchFamily="2" charset="-122"/>
              </a:rPr>
              <a:t> </a:t>
            </a:r>
            <a:r>
              <a:rPr kumimoji="1" lang="en-US" altLang="zh-CN" sz="1400" dirty="0">
                <a:solidFill>
                  <a:srgbClr val="0054FE"/>
                </a:solidFill>
                <a:latin typeface="SimSun" panose="02010600030101010101" pitchFamily="2" charset="-122"/>
                <a:ea typeface="SimSun" panose="02010600030101010101" pitchFamily="2" charset="-122"/>
              </a:rPr>
              <a:t>n,</a:t>
            </a:r>
            <a:r>
              <a:rPr kumimoji="1" lang="zh-CN" altLang="en-US" sz="1400" dirty="0">
                <a:solidFill>
                  <a:srgbClr val="0054FE"/>
                </a:solidFill>
                <a:latin typeface="SimSun" panose="02010600030101010101" pitchFamily="2" charset="-122"/>
                <a:ea typeface="SimSun" panose="02010600030101010101" pitchFamily="2" charset="-122"/>
              </a:rPr>
              <a:t> </a:t>
            </a:r>
            <a:r>
              <a:rPr kumimoji="1" lang="en-US" altLang="zh-CN" sz="1400" dirty="0" err="1">
                <a:solidFill>
                  <a:srgbClr val="0054FE"/>
                </a:solidFill>
                <a:latin typeface="SimSun" panose="02010600030101010101" pitchFamily="2" charset="-122"/>
                <a:ea typeface="SimSun" panose="02010600030101010101" pitchFamily="2" charset="-122"/>
              </a:rPr>
              <a:t>int</a:t>
            </a:r>
            <a:r>
              <a:rPr kumimoji="1" lang="zh-CN" altLang="en-US" sz="1400" dirty="0">
                <a:solidFill>
                  <a:srgbClr val="0054FE"/>
                </a:solidFill>
                <a:latin typeface="SimSun" panose="02010600030101010101" pitchFamily="2" charset="-122"/>
                <a:ea typeface="SimSun" panose="02010600030101010101" pitchFamily="2" charset="-122"/>
              </a:rPr>
              <a:t> </a:t>
            </a:r>
            <a:r>
              <a:rPr kumimoji="1" lang="en-US" altLang="zh-CN" sz="1400" dirty="0">
                <a:solidFill>
                  <a:srgbClr val="0054FE"/>
                </a:solidFill>
                <a:latin typeface="SimSun" panose="02010600030101010101" pitchFamily="2" charset="-122"/>
                <a:ea typeface="SimSun" panose="02010600030101010101" pitchFamily="2" charset="-122"/>
              </a:rPr>
              <a:t>m);</a:t>
            </a:r>
          </a:p>
          <a:p>
            <a:pPr algn="l"/>
            <a:endParaRPr kumimoji="1" lang="en-US" altLang="zh-CN" sz="1400" dirty="0">
              <a:latin typeface="SimSun" panose="02010600030101010101" pitchFamily="2" charset="-122"/>
              <a:ea typeface="SimSun" panose="02010600030101010101" pitchFamily="2" charset="-122"/>
            </a:endParaRPr>
          </a:p>
          <a:p>
            <a:pPr algn="l"/>
            <a:r>
              <a:rPr kumimoji="1" lang="en-US" altLang="zh-CN" sz="1400" dirty="0">
                <a:solidFill>
                  <a:schemeClr val="bg1">
                    <a:lumMod val="50000"/>
                  </a:schemeClr>
                </a:solidFill>
                <a:latin typeface="SimSun" panose="02010600030101010101" pitchFamily="2" charset="-122"/>
                <a:ea typeface="SimSun" panose="02010600030101010101" pitchFamily="2" charset="-122"/>
              </a:rPr>
              <a:t>/</a:t>
            </a:r>
            <a:r>
              <a:rPr kumimoji="1" lang="zh-CN" altLang="en-US" sz="1400" dirty="0">
                <a:solidFill>
                  <a:schemeClr val="bg1">
                    <a:lumMod val="50000"/>
                  </a:schemeClr>
                </a:solidFill>
                <a:latin typeface="SimSun" panose="02010600030101010101" pitchFamily="2" charset="-122"/>
                <a:ea typeface="SimSun" panose="02010600030101010101" pitchFamily="2" charset="-122"/>
              </a:rPr>
              <a:t>*</a:t>
            </a:r>
            <a:endParaRPr kumimoji="1" lang="en-US" altLang="zh-CN" sz="1400" dirty="0">
              <a:solidFill>
                <a:schemeClr val="bg1">
                  <a:lumMod val="50000"/>
                </a:schemeClr>
              </a:solidFill>
              <a:latin typeface="SimSun" panose="02010600030101010101" pitchFamily="2" charset="-122"/>
              <a:ea typeface="SimSun" panose="02010600030101010101" pitchFamily="2" charset="-122"/>
            </a:endParaRPr>
          </a:p>
          <a:p>
            <a:pPr algn="l"/>
            <a:r>
              <a:rPr kumimoji="1" lang="zh-CN" altLang="en-US" sz="1400" dirty="0">
                <a:solidFill>
                  <a:schemeClr val="bg1">
                    <a:lumMod val="50000"/>
                  </a:schemeClr>
                </a:solidFill>
                <a:latin typeface="SimSun" panose="02010600030101010101" pitchFamily="2" charset="-122"/>
                <a:ea typeface="SimSun" panose="02010600030101010101" pitchFamily="2" charset="-122"/>
              </a:rPr>
              <a:t>方法描述：数据更新操作</a:t>
            </a:r>
            <a:endParaRPr kumimoji="1" lang="en-US" altLang="zh-CN" sz="1400" dirty="0">
              <a:solidFill>
                <a:schemeClr val="bg1">
                  <a:lumMod val="50000"/>
                </a:schemeClr>
              </a:solidFill>
              <a:latin typeface="SimSun" panose="02010600030101010101" pitchFamily="2" charset="-122"/>
              <a:ea typeface="SimSun" panose="02010600030101010101" pitchFamily="2" charset="-122"/>
            </a:endParaRPr>
          </a:p>
          <a:p>
            <a:pPr algn="l"/>
            <a:r>
              <a:rPr kumimoji="1" lang="zh-CN" altLang="en-US" sz="1400" dirty="0">
                <a:solidFill>
                  <a:schemeClr val="bg1">
                    <a:lumMod val="50000"/>
                  </a:schemeClr>
                </a:solidFill>
                <a:latin typeface="SimSun" panose="02010600030101010101" pitchFamily="2" charset="-122"/>
                <a:ea typeface="SimSun" panose="02010600030101010101" pitchFamily="2" charset="-122"/>
              </a:rPr>
              <a:t>参数描述：</a:t>
            </a:r>
            <a:r>
              <a:rPr kumimoji="1" lang="en-US" altLang="zh-CN" sz="1400" dirty="0">
                <a:solidFill>
                  <a:schemeClr val="bg1">
                    <a:lumMod val="50000"/>
                  </a:schemeClr>
                </a:solidFill>
                <a:latin typeface="SimSun" panose="02010600030101010101" pitchFamily="2" charset="-122"/>
                <a:ea typeface="SimSun" panose="02010600030101010101" pitchFamily="2" charset="-122"/>
              </a:rPr>
              <a:t> </a:t>
            </a:r>
            <a:r>
              <a:rPr kumimoji="1" lang="en-US" altLang="zh-CN" sz="1400" dirty="0" err="1">
                <a:solidFill>
                  <a:schemeClr val="bg1">
                    <a:lumMod val="50000"/>
                  </a:schemeClr>
                </a:solidFill>
                <a:latin typeface="SimSun" panose="02010600030101010101" pitchFamily="2" charset="-122"/>
                <a:ea typeface="SimSun" panose="02010600030101010101" pitchFamily="2" charset="-122"/>
              </a:rPr>
              <a:t>fp</a:t>
            </a:r>
            <a:r>
              <a:rPr kumimoji="1" lang="zh-CN" altLang="en-US" sz="1400" dirty="0">
                <a:solidFill>
                  <a:schemeClr val="bg1">
                    <a:lumMod val="50000"/>
                  </a:schemeClr>
                </a:solidFill>
                <a:latin typeface="SimSun" panose="02010600030101010101" pitchFamily="2" charset="-122"/>
                <a:ea typeface="SimSun" panose="02010600030101010101" pitchFamily="2" charset="-122"/>
              </a:rPr>
              <a:t>文件句柄，</a:t>
            </a:r>
            <a:r>
              <a:rPr kumimoji="1" lang="en-US" altLang="zh-CN" sz="1400" dirty="0">
                <a:solidFill>
                  <a:schemeClr val="bg1">
                    <a:lumMod val="50000"/>
                  </a:schemeClr>
                </a:solidFill>
                <a:latin typeface="SimSun" panose="02010600030101010101" pitchFamily="2" charset="-122"/>
                <a:ea typeface="SimSun" panose="02010600030101010101" pitchFamily="2" charset="-122"/>
              </a:rPr>
              <a:t>n</a:t>
            </a:r>
            <a:r>
              <a:rPr kumimoji="1" lang="zh-CN" altLang="en-US" sz="1400" dirty="0">
                <a:solidFill>
                  <a:schemeClr val="bg1">
                    <a:lumMod val="50000"/>
                  </a:schemeClr>
                </a:solidFill>
                <a:latin typeface="SimSun" panose="02010600030101010101" pitchFamily="2" charset="-122"/>
                <a:ea typeface="SimSun" panose="02010600030101010101" pitchFamily="2" charset="-122"/>
              </a:rPr>
              <a:t>行数，</a:t>
            </a:r>
            <a:r>
              <a:rPr kumimoji="1" lang="en-US" altLang="zh-CN" sz="1400" dirty="0">
                <a:solidFill>
                  <a:schemeClr val="bg1">
                    <a:lumMod val="50000"/>
                  </a:schemeClr>
                </a:solidFill>
                <a:latin typeface="SimSun" panose="02010600030101010101" pitchFamily="2" charset="-122"/>
                <a:ea typeface="SimSun" panose="02010600030101010101" pitchFamily="2" charset="-122"/>
              </a:rPr>
              <a:t>m</a:t>
            </a:r>
            <a:r>
              <a:rPr kumimoji="1" lang="zh-CN" altLang="en-US" sz="1400" dirty="0">
                <a:solidFill>
                  <a:schemeClr val="bg1">
                    <a:lumMod val="50000"/>
                  </a:schemeClr>
                </a:solidFill>
                <a:latin typeface="SimSun" panose="02010600030101010101" pitchFamily="2" charset="-122"/>
                <a:ea typeface="SimSun" panose="02010600030101010101" pitchFamily="2" charset="-122"/>
              </a:rPr>
              <a:t>列数，</a:t>
            </a:r>
            <a:r>
              <a:rPr kumimoji="1" lang="en-US" altLang="zh-CN" sz="1400" dirty="0" err="1">
                <a:solidFill>
                  <a:schemeClr val="bg1">
                    <a:lumMod val="50000"/>
                  </a:schemeClr>
                </a:solidFill>
                <a:latin typeface="SimSun" panose="02010600030101010101" pitchFamily="2" charset="-122"/>
                <a:ea typeface="SimSun" panose="02010600030101010101" pitchFamily="2" charset="-122"/>
              </a:rPr>
              <a:t>str</a:t>
            </a:r>
            <a:r>
              <a:rPr kumimoji="1" lang="zh-CN" altLang="en-US" sz="1400" dirty="0">
                <a:solidFill>
                  <a:schemeClr val="bg1">
                    <a:lumMod val="50000"/>
                  </a:schemeClr>
                </a:solidFill>
                <a:latin typeface="SimSun" panose="02010600030101010101" pitchFamily="2" charset="-122"/>
                <a:ea typeface="SimSun" panose="02010600030101010101" pitchFamily="2" charset="-122"/>
              </a:rPr>
              <a:t>更新的数据</a:t>
            </a:r>
            <a:endParaRPr kumimoji="1" lang="en-US" altLang="zh-CN" sz="1400" dirty="0">
              <a:solidFill>
                <a:schemeClr val="bg1">
                  <a:lumMod val="50000"/>
                </a:schemeClr>
              </a:solidFill>
              <a:latin typeface="SimSun" panose="02010600030101010101" pitchFamily="2" charset="-122"/>
              <a:ea typeface="SimSun" panose="02010600030101010101" pitchFamily="2" charset="-122"/>
            </a:endParaRPr>
          </a:p>
          <a:p>
            <a:pPr algn="l"/>
            <a:r>
              <a:rPr kumimoji="1" lang="zh-CN" altLang="en-US" sz="1400" dirty="0">
                <a:solidFill>
                  <a:schemeClr val="bg1">
                    <a:lumMod val="50000"/>
                  </a:schemeClr>
                </a:solidFill>
                <a:latin typeface="SimSun" panose="02010600030101010101" pitchFamily="2" charset="-122"/>
                <a:ea typeface="SimSun" panose="02010600030101010101" pitchFamily="2" charset="-122"/>
              </a:rPr>
              <a:t>返回值描述：</a:t>
            </a:r>
            <a:endParaRPr kumimoji="1" lang="en-US" altLang="zh-CN" sz="1400" dirty="0">
              <a:solidFill>
                <a:schemeClr val="bg1">
                  <a:lumMod val="50000"/>
                </a:schemeClr>
              </a:solidFill>
              <a:latin typeface="SimSun" panose="02010600030101010101" pitchFamily="2" charset="-122"/>
              <a:ea typeface="SimSun" panose="02010600030101010101" pitchFamily="2" charset="-122"/>
            </a:endParaRPr>
          </a:p>
          <a:p>
            <a:pPr algn="l"/>
            <a:r>
              <a:rPr kumimoji="1" lang="zh-CN" altLang="en-US" sz="1400" dirty="0">
                <a:solidFill>
                  <a:schemeClr val="bg1">
                    <a:lumMod val="50000"/>
                  </a:schemeClr>
                </a:solidFill>
                <a:latin typeface="SimSun" panose="02010600030101010101" pitchFamily="2" charset="-122"/>
                <a:ea typeface="SimSun" panose="02010600030101010101" pitchFamily="2" charset="-122"/>
              </a:rPr>
              <a:t>*</a:t>
            </a:r>
            <a:r>
              <a:rPr kumimoji="1" lang="en-US" altLang="zh-CN" sz="1400" dirty="0">
                <a:solidFill>
                  <a:schemeClr val="bg1">
                    <a:lumMod val="50000"/>
                  </a:schemeClr>
                </a:solidFill>
                <a:latin typeface="SimSun" panose="02010600030101010101" pitchFamily="2" charset="-122"/>
                <a:ea typeface="SimSun" panose="02010600030101010101" pitchFamily="2" charset="-122"/>
              </a:rPr>
              <a:t>/</a:t>
            </a:r>
          </a:p>
          <a:p>
            <a:pPr algn="l"/>
            <a:r>
              <a:rPr kumimoji="1" lang="en-US" altLang="zh-CN" sz="1400" dirty="0" err="1">
                <a:solidFill>
                  <a:srgbClr val="0054FE"/>
                </a:solidFill>
                <a:latin typeface="SimSun" panose="02010600030101010101" pitchFamily="2" charset="-122"/>
                <a:ea typeface="SimSun" panose="02010600030101010101" pitchFamily="2" charset="-122"/>
              </a:rPr>
              <a:t>dataUpdate</a:t>
            </a:r>
            <a:r>
              <a:rPr kumimoji="1" lang="en-US" altLang="zh-CN" sz="1400" dirty="0">
                <a:solidFill>
                  <a:srgbClr val="0054FE"/>
                </a:solidFill>
                <a:latin typeface="SimSun" panose="02010600030101010101" pitchFamily="2" charset="-122"/>
                <a:ea typeface="SimSun" panose="02010600030101010101" pitchFamily="2" charset="-122"/>
              </a:rPr>
              <a:t>(FILE</a:t>
            </a:r>
            <a:r>
              <a:rPr kumimoji="1" lang="zh-CN" altLang="en-US" sz="1400" dirty="0">
                <a:solidFill>
                  <a:srgbClr val="0054FE"/>
                </a:solidFill>
                <a:latin typeface="SimSun" panose="02010600030101010101" pitchFamily="2" charset="-122"/>
                <a:ea typeface="SimSun" panose="02010600030101010101" pitchFamily="2" charset="-122"/>
              </a:rPr>
              <a:t>* </a:t>
            </a:r>
            <a:r>
              <a:rPr kumimoji="1" lang="en-US" altLang="zh-CN" sz="1400" dirty="0" err="1">
                <a:solidFill>
                  <a:srgbClr val="0054FE"/>
                </a:solidFill>
                <a:latin typeface="SimSun" panose="02010600030101010101" pitchFamily="2" charset="-122"/>
                <a:ea typeface="SimSun" panose="02010600030101010101" pitchFamily="2" charset="-122"/>
              </a:rPr>
              <a:t>fp</a:t>
            </a:r>
            <a:r>
              <a:rPr kumimoji="1" lang="en-US" altLang="zh-CN" sz="1400" dirty="0">
                <a:solidFill>
                  <a:srgbClr val="0054FE"/>
                </a:solidFill>
                <a:latin typeface="SimSun" panose="02010600030101010101" pitchFamily="2" charset="-122"/>
                <a:ea typeface="SimSun" panose="02010600030101010101" pitchFamily="2" charset="-122"/>
              </a:rPr>
              <a:t>,</a:t>
            </a:r>
            <a:r>
              <a:rPr kumimoji="1" lang="zh-CN" altLang="en-US" sz="1400" dirty="0">
                <a:solidFill>
                  <a:srgbClr val="0054FE"/>
                </a:solidFill>
                <a:latin typeface="SimSun" panose="02010600030101010101" pitchFamily="2" charset="-122"/>
                <a:ea typeface="SimSun" panose="02010600030101010101" pitchFamily="2" charset="-122"/>
              </a:rPr>
              <a:t> </a:t>
            </a:r>
            <a:r>
              <a:rPr kumimoji="1" lang="en-US" altLang="zh-CN" sz="1400" dirty="0" err="1">
                <a:solidFill>
                  <a:srgbClr val="0054FE"/>
                </a:solidFill>
                <a:latin typeface="SimSun" panose="02010600030101010101" pitchFamily="2" charset="-122"/>
                <a:ea typeface="SimSun" panose="02010600030101010101" pitchFamily="2" charset="-122"/>
              </a:rPr>
              <a:t>int</a:t>
            </a:r>
            <a:r>
              <a:rPr kumimoji="1" lang="zh-CN" altLang="en-US" sz="1400" dirty="0">
                <a:solidFill>
                  <a:srgbClr val="0054FE"/>
                </a:solidFill>
                <a:latin typeface="SimSun" panose="02010600030101010101" pitchFamily="2" charset="-122"/>
                <a:ea typeface="SimSun" panose="02010600030101010101" pitchFamily="2" charset="-122"/>
              </a:rPr>
              <a:t> </a:t>
            </a:r>
            <a:r>
              <a:rPr kumimoji="1" lang="en-US" altLang="zh-CN" sz="1400" dirty="0">
                <a:solidFill>
                  <a:srgbClr val="0054FE"/>
                </a:solidFill>
                <a:latin typeface="SimSun" panose="02010600030101010101" pitchFamily="2" charset="-122"/>
                <a:ea typeface="SimSun" panose="02010600030101010101" pitchFamily="2" charset="-122"/>
              </a:rPr>
              <a:t>n,</a:t>
            </a:r>
            <a:r>
              <a:rPr kumimoji="1" lang="zh-CN" altLang="en-US" sz="1400" dirty="0">
                <a:solidFill>
                  <a:srgbClr val="0054FE"/>
                </a:solidFill>
                <a:latin typeface="SimSun" panose="02010600030101010101" pitchFamily="2" charset="-122"/>
                <a:ea typeface="SimSun" panose="02010600030101010101" pitchFamily="2" charset="-122"/>
              </a:rPr>
              <a:t> </a:t>
            </a:r>
            <a:r>
              <a:rPr kumimoji="1" lang="en-US" altLang="zh-CN" sz="1400" dirty="0" err="1">
                <a:solidFill>
                  <a:srgbClr val="0054FE"/>
                </a:solidFill>
                <a:latin typeface="SimSun" panose="02010600030101010101" pitchFamily="2" charset="-122"/>
                <a:ea typeface="SimSun" panose="02010600030101010101" pitchFamily="2" charset="-122"/>
              </a:rPr>
              <a:t>int</a:t>
            </a:r>
            <a:r>
              <a:rPr kumimoji="1" lang="zh-CN" altLang="en-US" sz="1400" dirty="0">
                <a:solidFill>
                  <a:srgbClr val="0054FE"/>
                </a:solidFill>
                <a:latin typeface="SimSun" panose="02010600030101010101" pitchFamily="2" charset="-122"/>
                <a:ea typeface="SimSun" panose="02010600030101010101" pitchFamily="2" charset="-122"/>
              </a:rPr>
              <a:t> </a:t>
            </a:r>
            <a:r>
              <a:rPr kumimoji="1" lang="en-US" altLang="zh-CN" sz="1400" dirty="0">
                <a:solidFill>
                  <a:srgbClr val="0054FE"/>
                </a:solidFill>
                <a:latin typeface="SimSun" panose="02010600030101010101" pitchFamily="2" charset="-122"/>
                <a:ea typeface="SimSun" panose="02010600030101010101" pitchFamily="2" charset="-122"/>
              </a:rPr>
              <a:t>m);</a:t>
            </a:r>
          </a:p>
          <a:p>
            <a:pPr algn="l"/>
            <a:endParaRPr kumimoji="1" lang="en-US" altLang="zh-CN" sz="1400" dirty="0">
              <a:latin typeface="SimSun" panose="02010600030101010101" pitchFamily="2" charset="-122"/>
              <a:ea typeface="SimSun" panose="02010600030101010101" pitchFamily="2" charset="-122"/>
            </a:endParaRPr>
          </a:p>
          <a:p>
            <a:pPr algn="l"/>
            <a:r>
              <a:rPr kumimoji="1" lang="en-US" altLang="zh-CN" sz="1400" dirty="0">
                <a:latin typeface="SimSun" panose="02010600030101010101" pitchFamily="2" charset="-122"/>
                <a:ea typeface="SimSun" panose="02010600030101010101" pitchFamily="2" charset="-122"/>
              </a:rPr>
              <a:t>}</a:t>
            </a:r>
            <a:r>
              <a:rPr kumimoji="1" lang="zh-CN" altLang="en-US" sz="1400" dirty="0">
                <a:latin typeface="SimSun" panose="02010600030101010101" pitchFamily="2" charset="-122"/>
                <a:ea typeface="SimSun" panose="02010600030101010101" pitchFamily="2" charset="-122"/>
              </a:rPr>
              <a:t> </a:t>
            </a:r>
          </a:p>
        </p:txBody>
      </p:sp>
      <p:sp>
        <p:nvSpPr>
          <p:cNvPr id="5" name="矩形 4">
            <a:extLst>
              <a:ext uri="{FF2B5EF4-FFF2-40B4-BE49-F238E27FC236}">
                <a16:creationId xmlns:a16="http://schemas.microsoft.com/office/drawing/2014/main" id="{96FB76BF-D5A9-0E45-89B1-E3842A0FE318}"/>
              </a:ext>
            </a:extLst>
          </p:cNvPr>
          <p:cNvSpPr/>
          <p:nvPr/>
        </p:nvSpPr>
        <p:spPr>
          <a:xfrm>
            <a:off x="4572000" y="980728"/>
            <a:ext cx="3510136" cy="203132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l"/>
            <a:r>
              <a:rPr kumimoji="1" lang="en-US" altLang="zh-CN" sz="1400" dirty="0">
                <a:solidFill>
                  <a:schemeClr val="bg1">
                    <a:lumMod val="50000"/>
                  </a:schemeClr>
                </a:solidFill>
                <a:latin typeface="SimSun" panose="02010600030101010101" pitchFamily="2" charset="-122"/>
                <a:ea typeface="SimSun" panose="02010600030101010101" pitchFamily="2" charset="-122"/>
              </a:rPr>
              <a:t>/</a:t>
            </a:r>
            <a:r>
              <a:rPr kumimoji="1" lang="zh-CN" altLang="en-US" sz="1400" dirty="0">
                <a:solidFill>
                  <a:schemeClr val="bg1">
                    <a:lumMod val="50000"/>
                  </a:schemeClr>
                </a:solidFill>
                <a:latin typeface="SimSun" panose="02010600030101010101" pitchFamily="2" charset="-122"/>
                <a:ea typeface="SimSun" panose="02010600030101010101" pitchFamily="2" charset="-122"/>
              </a:rPr>
              <a:t>*</a:t>
            </a:r>
            <a:endParaRPr kumimoji="1" lang="en-US" altLang="zh-CN" sz="1400" dirty="0">
              <a:solidFill>
                <a:schemeClr val="bg1">
                  <a:lumMod val="50000"/>
                </a:schemeClr>
              </a:solidFill>
              <a:latin typeface="SimSun" panose="02010600030101010101" pitchFamily="2" charset="-122"/>
              <a:ea typeface="SimSun" panose="02010600030101010101" pitchFamily="2" charset="-122"/>
            </a:endParaRPr>
          </a:p>
          <a:p>
            <a:pPr algn="l"/>
            <a:r>
              <a:rPr kumimoji="1" lang="zh-CN" altLang="en-US" sz="1400" dirty="0">
                <a:solidFill>
                  <a:schemeClr val="bg1">
                    <a:lumMod val="50000"/>
                  </a:schemeClr>
                </a:solidFill>
                <a:latin typeface="SimSun" panose="02010600030101010101" pitchFamily="2" charset="-122"/>
                <a:ea typeface="SimSun" panose="02010600030101010101" pitchFamily="2" charset="-122"/>
              </a:rPr>
              <a:t>方法描述：从文件中匹配数据</a:t>
            </a:r>
            <a:br>
              <a:rPr kumimoji="1" lang="en-US" altLang="zh-CN" sz="1400" dirty="0">
                <a:solidFill>
                  <a:schemeClr val="bg1">
                    <a:lumMod val="50000"/>
                  </a:schemeClr>
                </a:solidFill>
                <a:latin typeface="SimSun" panose="02010600030101010101" pitchFamily="2" charset="-122"/>
                <a:ea typeface="SimSun" panose="02010600030101010101" pitchFamily="2" charset="-122"/>
              </a:rPr>
            </a:br>
            <a:r>
              <a:rPr kumimoji="1" lang="zh-CN" altLang="en-US" sz="1400" dirty="0">
                <a:solidFill>
                  <a:schemeClr val="bg1">
                    <a:lumMod val="50000"/>
                  </a:schemeClr>
                </a:solidFill>
                <a:latin typeface="SimSun" panose="02010600030101010101" pitchFamily="2" charset="-122"/>
                <a:ea typeface="SimSun" panose="02010600030101010101" pitchFamily="2" charset="-122"/>
              </a:rPr>
              <a:t>参数描述：</a:t>
            </a:r>
            <a:r>
              <a:rPr kumimoji="1" lang="en-US" altLang="zh-CN" sz="1400" dirty="0">
                <a:solidFill>
                  <a:schemeClr val="bg1">
                    <a:lumMod val="50000"/>
                  </a:schemeClr>
                </a:solidFill>
                <a:latin typeface="SimSun" panose="02010600030101010101" pitchFamily="2" charset="-122"/>
                <a:ea typeface="SimSun" panose="02010600030101010101" pitchFamily="2" charset="-122"/>
              </a:rPr>
              <a:t> </a:t>
            </a:r>
            <a:r>
              <a:rPr kumimoji="1" lang="en-US" altLang="zh-CN" sz="1400" dirty="0" err="1">
                <a:solidFill>
                  <a:schemeClr val="bg1">
                    <a:lumMod val="50000"/>
                  </a:schemeClr>
                </a:solidFill>
                <a:latin typeface="SimSun" panose="02010600030101010101" pitchFamily="2" charset="-122"/>
                <a:ea typeface="SimSun" panose="02010600030101010101" pitchFamily="2" charset="-122"/>
              </a:rPr>
              <a:t>fp</a:t>
            </a:r>
            <a:r>
              <a:rPr kumimoji="1" lang="zh-CN" altLang="en-US" sz="1400" dirty="0">
                <a:solidFill>
                  <a:schemeClr val="bg1">
                    <a:lumMod val="50000"/>
                  </a:schemeClr>
                </a:solidFill>
                <a:latin typeface="SimSun" panose="02010600030101010101" pitchFamily="2" charset="-122"/>
                <a:ea typeface="SimSun" panose="02010600030101010101" pitchFamily="2" charset="-122"/>
              </a:rPr>
              <a:t>文件句柄，</a:t>
            </a:r>
            <a:r>
              <a:rPr kumimoji="1" lang="en-US" altLang="zh-CN" sz="1400" dirty="0">
                <a:solidFill>
                  <a:schemeClr val="bg1">
                    <a:lumMod val="50000"/>
                  </a:schemeClr>
                </a:solidFill>
                <a:latin typeface="SimSun" panose="02010600030101010101" pitchFamily="2" charset="-122"/>
                <a:ea typeface="SimSun" panose="02010600030101010101" pitchFamily="2" charset="-122"/>
              </a:rPr>
              <a:t>n</a:t>
            </a:r>
            <a:r>
              <a:rPr kumimoji="1" lang="zh-CN" altLang="en-US" sz="1400" dirty="0">
                <a:solidFill>
                  <a:schemeClr val="bg1">
                    <a:lumMod val="50000"/>
                  </a:schemeClr>
                </a:solidFill>
                <a:latin typeface="SimSun" panose="02010600030101010101" pitchFamily="2" charset="-122"/>
                <a:ea typeface="SimSun" panose="02010600030101010101" pitchFamily="2" charset="-122"/>
              </a:rPr>
              <a:t>行数，</a:t>
            </a:r>
            <a:r>
              <a:rPr kumimoji="1" lang="en-US" altLang="zh-CN" sz="1400" dirty="0">
                <a:solidFill>
                  <a:schemeClr val="bg1">
                    <a:lumMod val="50000"/>
                  </a:schemeClr>
                </a:solidFill>
                <a:latin typeface="SimSun" panose="02010600030101010101" pitchFamily="2" charset="-122"/>
                <a:ea typeface="SimSun" panose="02010600030101010101" pitchFamily="2" charset="-122"/>
              </a:rPr>
              <a:t>m</a:t>
            </a:r>
            <a:r>
              <a:rPr kumimoji="1" lang="zh-CN" altLang="en-US" sz="1400" dirty="0">
                <a:solidFill>
                  <a:schemeClr val="bg1">
                    <a:lumMod val="50000"/>
                  </a:schemeClr>
                </a:solidFill>
                <a:latin typeface="SimSun" panose="02010600030101010101" pitchFamily="2" charset="-122"/>
                <a:ea typeface="SimSun" panose="02010600030101010101" pitchFamily="2" charset="-122"/>
              </a:rPr>
              <a:t>列数，</a:t>
            </a:r>
            <a:r>
              <a:rPr kumimoji="1" lang="en-US" altLang="zh-CN" sz="1400" dirty="0" err="1">
                <a:solidFill>
                  <a:schemeClr val="bg1">
                    <a:lumMod val="50000"/>
                  </a:schemeClr>
                </a:solidFill>
                <a:latin typeface="SimSun" panose="02010600030101010101" pitchFamily="2" charset="-122"/>
                <a:ea typeface="SimSun" panose="02010600030101010101" pitchFamily="2" charset="-122"/>
              </a:rPr>
              <a:t>ser</a:t>
            </a:r>
            <a:r>
              <a:rPr kumimoji="1" lang="zh-CN" altLang="en-US" sz="1400" dirty="0">
                <a:solidFill>
                  <a:schemeClr val="bg1">
                    <a:lumMod val="50000"/>
                  </a:schemeClr>
                </a:solidFill>
                <a:latin typeface="SimSun" panose="02010600030101010101" pitchFamily="2" charset="-122"/>
                <a:ea typeface="SimSun" panose="02010600030101010101" pitchFamily="2" charset="-122"/>
              </a:rPr>
              <a:t>搜索匹配的数据，</a:t>
            </a:r>
            <a:r>
              <a:rPr kumimoji="1" lang="en-US" altLang="zh-CN" sz="1400" dirty="0" err="1">
                <a:solidFill>
                  <a:schemeClr val="bg1">
                    <a:lumMod val="50000"/>
                  </a:schemeClr>
                </a:solidFill>
                <a:latin typeface="SimSun" panose="02010600030101010101" pitchFamily="2" charset="-122"/>
                <a:ea typeface="SimSun" panose="02010600030101010101" pitchFamily="2" charset="-122"/>
              </a:rPr>
              <a:t>str</a:t>
            </a:r>
            <a:r>
              <a:rPr kumimoji="1" lang="zh-CN" altLang="en-US" sz="1400" dirty="0">
                <a:solidFill>
                  <a:schemeClr val="bg1">
                    <a:lumMod val="50000"/>
                  </a:schemeClr>
                </a:solidFill>
                <a:latin typeface="SimSun" panose="02010600030101010101" pitchFamily="2" charset="-122"/>
                <a:ea typeface="SimSun" panose="02010600030101010101" pitchFamily="2" charset="-122"/>
              </a:rPr>
              <a:t>返回搜索匹配的行数据</a:t>
            </a:r>
            <a:endParaRPr kumimoji="1" lang="en-US" altLang="zh-CN" sz="1400" dirty="0">
              <a:solidFill>
                <a:schemeClr val="bg1">
                  <a:lumMod val="50000"/>
                </a:schemeClr>
              </a:solidFill>
              <a:latin typeface="SimSun" panose="02010600030101010101" pitchFamily="2" charset="-122"/>
              <a:ea typeface="SimSun" panose="02010600030101010101" pitchFamily="2" charset="-122"/>
            </a:endParaRPr>
          </a:p>
          <a:p>
            <a:pPr algn="l"/>
            <a:r>
              <a:rPr kumimoji="1" lang="zh-CN" altLang="en-US" sz="1400" dirty="0">
                <a:solidFill>
                  <a:schemeClr val="bg1">
                    <a:lumMod val="50000"/>
                  </a:schemeClr>
                </a:solidFill>
                <a:latin typeface="SimSun" panose="02010600030101010101" pitchFamily="2" charset="-122"/>
                <a:ea typeface="SimSun" panose="02010600030101010101" pitchFamily="2" charset="-122"/>
              </a:rPr>
              <a:t>返回值描述：返回搜索到的行数</a:t>
            </a:r>
            <a:endParaRPr kumimoji="1" lang="en-US" altLang="zh-CN" sz="1400" dirty="0">
              <a:solidFill>
                <a:schemeClr val="bg1">
                  <a:lumMod val="50000"/>
                </a:schemeClr>
              </a:solidFill>
              <a:latin typeface="SimSun" panose="02010600030101010101" pitchFamily="2" charset="-122"/>
              <a:ea typeface="SimSun" panose="02010600030101010101" pitchFamily="2" charset="-122"/>
            </a:endParaRPr>
          </a:p>
          <a:p>
            <a:pPr algn="l"/>
            <a:r>
              <a:rPr kumimoji="1" lang="zh-CN" altLang="en-US" sz="1400" dirty="0">
                <a:solidFill>
                  <a:schemeClr val="bg1">
                    <a:lumMod val="50000"/>
                  </a:schemeClr>
                </a:solidFill>
                <a:latin typeface="SimSun" panose="02010600030101010101" pitchFamily="2" charset="-122"/>
                <a:ea typeface="SimSun" panose="02010600030101010101" pitchFamily="2" charset="-122"/>
              </a:rPr>
              <a:t>*</a:t>
            </a:r>
            <a:r>
              <a:rPr kumimoji="1" lang="en-US" altLang="zh-CN" sz="1400" dirty="0">
                <a:solidFill>
                  <a:schemeClr val="bg1">
                    <a:lumMod val="50000"/>
                  </a:schemeClr>
                </a:solidFill>
                <a:latin typeface="SimSun" panose="02010600030101010101" pitchFamily="2" charset="-122"/>
                <a:ea typeface="SimSun" panose="02010600030101010101" pitchFamily="2" charset="-122"/>
              </a:rPr>
              <a:t>/</a:t>
            </a:r>
          </a:p>
          <a:p>
            <a:pPr algn="l"/>
            <a:r>
              <a:rPr kumimoji="1" lang="en-US" altLang="zh-CN" sz="1400" dirty="0" err="1">
                <a:solidFill>
                  <a:srgbClr val="0054FE"/>
                </a:solidFill>
                <a:latin typeface="SimSun" panose="02010600030101010101" pitchFamily="2" charset="-122"/>
                <a:ea typeface="SimSun" panose="02010600030101010101" pitchFamily="2" charset="-122"/>
              </a:rPr>
              <a:t>Int</a:t>
            </a:r>
            <a:r>
              <a:rPr kumimoji="1" lang="zh-CN" altLang="en-US" sz="1400" dirty="0">
                <a:solidFill>
                  <a:srgbClr val="0054FE"/>
                </a:solidFill>
                <a:latin typeface="SimSun" panose="02010600030101010101" pitchFamily="2" charset="-122"/>
                <a:ea typeface="SimSun" panose="02010600030101010101" pitchFamily="2" charset="-122"/>
              </a:rPr>
              <a:t> </a:t>
            </a:r>
            <a:r>
              <a:rPr kumimoji="1" lang="en-US" altLang="zh-CN" sz="1400" dirty="0" err="1">
                <a:solidFill>
                  <a:srgbClr val="0054FE"/>
                </a:solidFill>
                <a:latin typeface="SimSun" panose="02010600030101010101" pitchFamily="2" charset="-122"/>
                <a:ea typeface="SimSun" panose="02010600030101010101" pitchFamily="2" charset="-122"/>
              </a:rPr>
              <a:t>dataRead</a:t>
            </a:r>
            <a:r>
              <a:rPr kumimoji="1" lang="en-US" altLang="zh-CN" sz="1400" dirty="0">
                <a:solidFill>
                  <a:srgbClr val="0054FE"/>
                </a:solidFill>
                <a:latin typeface="SimSun" panose="02010600030101010101" pitchFamily="2" charset="-122"/>
                <a:ea typeface="SimSun" panose="02010600030101010101" pitchFamily="2" charset="-122"/>
              </a:rPr>
              <a:t>(FILE</a:t>
            </a:r>
            <a:r>
              <a:rPr kumimoji="1" lang="zh-CN" altLang="en-US" sz="1400" dirty="0">
                <a:solidFill>
                  <a:srgbClr val="0054FE"/>
                </a:solidFill>
                <a:latin typeface="SimSun" panose="02010600030101010101" pitchFamily="2" charset="-122"/>
                <a:ea typeface="SimSun" panose="02010600030101010101" pitchFamily="2" charset="-122"/>
              </a:rPr>
              <a:t>* </a:t>
            </a:r>
            <a:r>
              <a:rPr kumimoji="1" lang="en-US" altLang="zh-CN" sz="1400" dirty="0" err="1">
                <a:solidFill>
                  <a:srgbClr val="0054FE"/>
                </a:solidFill>
                <a:latin typeface="SimSun" panose="02010600030101010101" pitchFamily="2" charset="-122"/>
                <a:ea typeface="SimSun" panose="02010600030101010101" pitchFamily="2" charset="-122"/>
              </a:rPr>
              <a:t>fp</a:t>
            </a:r>
            <a:r>
              <a:rPr kumimoji="1" lang="en-US" altLang="zh-CN" sz="1400" dirty="0">
                <a:solidFill>
                  <a:srgbClr val="0054FE"/>
                </a:solidFill>
                <a:latin typeface="SimSun" panose="02010600030101010101" pitchFamily="2" charset="-122"/>
                <a:ea typeface="SimSun" panose="02010600030101010101" pitchFamily="2" charset="-122"/>
              </a:rPr>
              <a:t>,</a:t>
            </a:r>
            <a:r>
              <a:rPr kumimoji="1" lang="zh-CN" altLang="en-US" sz="1400" dirty="0">
                <a:solidFill>
                  <a:srgbClr val="0054FE"/>
                </a:solidFill>
                <a:latin typeface="SimSun" panose="02010600030101010101" pitchFamily="2" charset="-122"/>
                <a:ea typeface="SimSun" panose="02010600030101010101" pitchFamily="2" charset="-122"/>
              </a:rPr>
              <a:t> </a:t>
            </a:r>
            <a:r>
              <a:rPr kumimoji="1" lang="en-US" altLang="zh-CN" sz="1400" dirty="0">
                <a:solidFill>
                  <a:srgbClr val="0054FE"/>
                </a:solidFill>
                <a:latin typeface="SimSun" panose="02010600030101010101" pitchFamily="2" charset="-122"/>
                <a:ea typeface="SimSun" panose="02010600030101010101" pitchFamily="2" charset="-122"/>
              </a:rPr>
              <a:t>void</a:t>
            </a:r>
            <a:r>
              <a:rPr kumimoji="1" lang="zh-CN" altLang="en-US" sz="1400" dirty="0">
                <a:solidFill>
                  <a:srgbClr val="0054FE"/>
                </a:solidFill>
                <a:latin typeface="SimSun" panose="02010600030101010101" pitchFamily="2" charset="-122"/>
                <a:ea typeface="SimSun" panose="02010600030101010101" pitchFamily="2" charset="-122"/>
              </a:rPr>
              <a:t>* </a:t>
            </a:r>
            <a:r>
              <a:rPr kumimoji="1" lang="en-US" altLang="zh-CN" sz="1400" dirty="0" err="1">
                <a:solidFill>
                  <a:srgbClr val="0054FE"/>
                </a:solidFill>
                <a:latin typeface="SimSun" panose="02010600030101010101" pitchFamily="2" charset="-122"/>
                <a:ea typeface="SimSun" panose="02010600030101010101" pitchFamily="2" charset="-122"/>
              </a:rPr>
              <a:t>ser</a:t>
            </a:r>
            <a:r>
              <a:rPr kumimoji="1" lang="zh-CN" altLang="en-US" sz="1400" dirty="0">
                <a:solidFill>
                  <a:srgbClr val="0054FE"/>
                </a:solidFill>
                <a:latin typeface="SimSun" panose="02010600030101010101" pitchFamily="2" charset="-122"/>
                <a:ea typeface="SimSun" panose="02010600030101010101" pitchFamily="2" charset="-122"/>
              </a:rPr>
              <a:t>， </a:t>
            </a:r>
            <a:r>
              <a:rPr kumimoji="1" lang="en-US" altLang="zh-CN" sz="1400" dirty="0">
                <a:solidFill>
                  <a:srgbClr val="0054FE"/>
                </a:solidFill>
                <a:latin typeface="SimSun" panose="02010600030101010101" pitchFamily="2" charset="-122"/>
                <a:ea typeface="SimSun" panose="02010600030101010101" pitchFamily="2" charset="-122"/>
              </a:rPr>
              <a:t>void</a:t>
            </a:r>
            <a:r>
              <a:rPr kumimoji="1" lang="zh-CN" altLang="en-US" sz="1400" dirty="0">
                <a:solidFill>
                  <a:srgbClr val="0054FE"/>
                </a:solidFill>
                <a:latin typeface="SimSun" panose="02010600030101010101" pitchFamily="2" charset="-122"/>
                <a:ea typeface="SimSun" panose="02010600030101010101" pitchFamily="2" charset="-122"/>
              </a:rPr>
              <a:t>* *</a:t>
            </a:r>
            <a:r>
              <a:rPr kumimoji="1" lang="en-US" altLang="zh-CN" sz="1400" dirty="0" err="1">
                <a:solidFill>
                  <a:srgbClr val="0054FE"/>
                </a:solidFill>
                <a:latin typeface="SimSun" panose="02010600030101010101" pitchFamily="2" charset="-122"/>
                <a:ea typeface="SimSun" panose="02010600030101010101" pitchFamily="2" charset="-122"/>
              </a:rPr>
              <a:t>str</a:t>
            </a:r>
            <a:r>
              <a:rPr kumimoji="1" lang="zh-CN" altLang="en-US" sz="1400" dirty="0">
                <a:solidFill>
                  <a:srgbClr val="0054FE"/>
                </a:solidFill>
                <a:latin typeface="SimSun" panose="02010600030101010101" pitchFamily="2" charset="-122"/>
                <a:ea typeface="SimSun" panose="02010600030101010101" pitchFamily="2" charset="-122"/>
              </a:rPr>
              <a:t>， </a:t>
            </a:r>
            <a:r>
              <a:rPr kumimoji="1" lang="en-US" altLang="zh-CN" sz="1400" dirty="0" err="1">
                <a:solidFill>
                  <a:srgbClr val="0054FE"/>
                </a:solidFill>
                <a:latin typeface="SimSun" panose="02010600030101010101" pitchFamily="2" charset="-122"/>
                <a:ea typeface="SimSun" panose="02010600030101010101" pitchFamily="2" charset="-122"/>
              </a:rPr>
              <a:t>int</a:t>
            </a:r>
            <a:r>
              <a:rPr kumimoji="1" lang="zh-CN" altLang="en-US" sz="1400" dirty="0">
                <a:solidFill>
                  <a:srgbClr val="0054FE"/>
                </a:solidFill>
                <a:latin typeface="SimSun" panose="02010600030101010101" pitchFamily="2" charset="-122"/>
                <a:ea typeface="SimSun" panose="02010600030101010101" pitchFamily="2" charset="-122"/>
              </a:rPr>
              <a:t> </a:t>
            </a:r>
            <a:r>
              <a:rPr kumimoji="1" lang="en-US" altLang="zh-CN" sz="1400" dirty="0">
                <a:solidFill>
                  <a:srgbClr val="0054FE"/>
                </a:solidFill>
                <a:latin typeface="SimSun" panose="02010600030101010101" pitchFamily="2" charset="-122"/>
                <a:ea typeface="SimSun" panose="02010600030101010101" pitchFamily="2" charset="-122"/>
              </a:rPr>
              <a:t>n,</a:t>
            </a:r>
            <a:r>
              <a:rPr kumimoji="1" lang="zh-CN" altLang="en-US" sz="1400" dirty="0">
                <a:solidFill>
                  <a:srgbClr val="0054FE"/>
                </a:solidFill>
                <a:latin typeface="SimSun" panose="02010600030101010101" pitchFamily="2" charset="-122"/>
                <a:ea typeface="SimSun" panose="02010600030101010101" pitchFamily="2" charset="-122"/>
              </a:rPr>
              <a:t> </a:t>
            </a:r>
            <a:r>
              <a:rPr kumimoji="1" lang="en-US" altLang="zh-CN" sz="1400" dirty="0" err="1">
                <a:solidFill>
                  <a:srgbClr val="0054FE"/>
                </a:solidFill>
                <a:latin typeface="SimSun" panose="02010600030101010101" pitchFamily="2" charset="-122"/>
                <a:ea typeface="SimSun" panose="02010600030101010101" pitchFamily="2" charset="-122"/>
              </a:rPr>
              <a:t>int</a:t>
            </a:r>
            <a:r>
              <a:rPr kumimoji="1" lang="zh-CN" altLang="en-US" sz="1400" dirty="0">
                <a:solidFill>
                  <a:srgbClr val="0054FE"/>
                </a:solidFill>
                <a:latin typeface="SimSun" panose="02010600030101010101" pitchFamily="2" charset="-122"/>
                <a:ea typeface="SimSun" panose="02010600030101010101" pitchFamily="2" charset="-122"/>
              </a:rPr>
              <a:t> </a:t>
            </a:r>
            <a:r>
              <a:rPr kumimoji="1" lang="en-US" altLang="zh-CN" sz="1400" dirty="0">
                <a:solidFill>
                  <a:srgbClr val="0054FE"/>
                </a:solidFill>
                <a:latin typeface="SimSun" panose="02010600030101010101" pitchFamily="2" charset="-122"/>
                <a:ea typeface="SimSun" panose="02010600030101010101" pitchFamily="2" charset="-122"/>
              </a:rPr>
              <a:t>m);</a:t>
            </a:r>
          </a:p>
        </p:txBody>
      </p:sp>
    </p:spTree>
    <p:extLst>
      <p:ext uri="{BB962C8B-B14F-4D97-AF65-F5344CB8AC3E}">
        <p14:creationId xmlns:p14="http://schemas.microsoft.com/office/powerpoint/2010/main" val="92676341"/>
      </p:ext>
    </p:extLst>
  </p:cSld>
  <p:clrMapOvr>
    <a:masterClrMapping/>
  </p:clrMapOvr>
</p:sld>
</file>

<file path=ppt/theme/_rels/them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木活字">
  <a:themeElements>
    <a:clrScheme name="木活字">
      <a:dk1>
        <a:sysClr val="windowText" lastClr="000000"/>
      </a:dk1>
      <a:lt1>
        <a:sysClr val="window" lastClr="FFFFFF"/>
      </a:lt1>
      <a:dk2>
        <a:srgbClr val="696464"/>
      </a:dk2>
      <a:lt2>
        <a:srgbClr val="E9E5DC"/>
      </a:lt2>
      <a:accent1>
        <a:srgbClr val="D34817"/>
      </a:accent1>
      <a:accent2>
        <a:srgbClr val="9B2D1F"/>
      </a:accent2>
      <a:accent3>
        <a:srgbClr val="A28E6A"/>
      </a:accent3>
      <a:accent4>
        <a:srgbClr val="956251"/>
      </a:accent4>
      <a:accent5>
        <a:srgbClr val="918485"/>
      </a:accent5>
      <a:accent6>
        <a:srgbClr val="855D5D"/>
      </a:accent6>
      <a:hlink>
        <a:srgbClr val="CC9900"/>
      </a:hlink>
      <a:folHlink>
        <a:srgbClr val="96A9A9"/>
      </a:folHlink>
    </a:clrScheme>
    <a:fontScheme name="木活字">
      <a:majorFont>
        <a:latin typeface="Rockwell Condensed" panose="02060603050405020104"/>
        <a:ea typeface=""/>
        <a:cs typeface=""/>
        <a:font script="Grek" typeface="Cambria"/>
        <a:font script="Cyrl" typeface="Cambria"/>
        <a:font script="Jpan" typeface="HG明朝B"/>
        <a:font script="Hang" typeface="바탕"/>
        <a:font script="Hans" typeface="方正姚体"/>
        <a:font script="Hant" typeface="微軟正黑體"/>
        <a:font script="Arab" typeface="Times New Roman"/>
        <a:font script="Hebr" typeface="David"/>
        <a:font script="Thai" typeface="JasmineUPC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ajorFont>
      <a:minorFont>
        <a:latin typeface="Rockwell" panose="02060603020205020403"/>
        <a:ea typeface=""/>
        <a:cs typeface=""/>
        <a:font script="Grek" typeface="Cambria"/>
        <a:font script="Cyrl" typeface="Cambria"/>
        <a:font script="Jpan" typeface="HG明朝B"/>
        <a:font script="Hang" typeface="바탕"/>
        <a:font script="Hans" typeface="方正姚体"/>
        <a:font script="Hant" typeface="標楷體"/>
        <a:font script="Arab" typeface="Times New Roman"/>
        <a:font script="Hebr" typeface="David"/>
        <a:font script="Thai" typeface="JasmineUPC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inorFont>
    </a:fontScheme>
    <a:fmtScheme name="木活字">
      <a:fillStyleLst>
        <a:solidFill>
          <a:schemeClr val="phClr"/>
        </a:solidFill>
        <a:blipFill rotWithShape="1">
          <a:blip xmlns:r="http://schemas.openxmlformats.org/officeDocument/2006/relationships" r:embed="rId1">
            <a:duotone>
              <a:schemeClr val="phClr">
                <a:tint val="70000"/>
                <a:shade val="63000"/>
              </a:schemeClr>
              <a:schemeClr val="phClr">
                <a:tint val="10000"/>
                <a:satMod val="150000"/>
              </a:schemeClr>
            </a:duotone>
          </a:blip>
          <a:tile tx="0" ty="0" sx="60000" sy="59000" flip="none" algn="tl"/>
        </a:blipFill>
        <a:blipFill rotWithShape="1">
          <a:blip xmlns:r="http://schemas.openxmlformats.org/officeDocument/2006/relationships" r:embed="rId1">
            <a:duotone>
              <a:schemeClr val="phClr">
                <a:shade val="36000"/>
                <a:satMod val="120000"/>
              </a:schemeClr>
              <a:schemeClr val="phClr">
                <a:tint val="40000"/>
              </a:schemeClr>
            </a:duotone>
          </a:blip>
          <a:tile tx="0" ty="0" sx="60000" sy="59000" flip="none" algn="tl"/>
        </a:blipFill>
      </a:fillStyleLst>
      <a:lnStyleLst>
        <a:ln w="6350" cap="flat" cmpd="sng" algn="ctr">
          <a:solidFill>
            <a:schemeClr val="phClr"/>
          </a:solidFill>
          <a:prstDash val="solid"/>
        </a:ln>
        <a:ln w="12700" cap="flat" cmpd="sng" algn="ctr">
          <a:solidFill>
            <a:schemeClr val="phClr"/>
          </a:solidFill>
          <a:prstDash val="solid"/>
        </a:ln>
        <a:ln w="1905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softEdge rad="12700"/>
          </a:effectLst>
        </a:effectStyle>
        <a:effectStyle>
          <a:effectLst>
            <a:outerShdw blurRad="50800" dist="19050" dir="5400000" algn="tl" rotWithShape="0">
              <a:srgbClr val="000000">
                <a:alpha val="60000"/>
              </a:srgbClr>
            </a:outerShdw>
            <a:softEdge rad="12700"/>
          </a:effectLst>
        </a:effectStyle>
      </a:effectStyleLst>
      <a:bgFillStyleLst>
        <a:solidFill>
          <a:schemeClr val="phClr"/>
        </a:solidFill>
        <a:solidFill>
          <a:schemeClr val="phClr">
            <a:shade val="97000"/>
            <a:satMod val="150000"/>
          </a:schemeClr>
        </a:solidFill>
        <a:blipFill rotWithShape="1">
          <a:blip xmlns:r="http://schemas.openxmlformats.org/officeDocument/2006/relationships" r:embed="rId1">
            <a:duotone>
              <a:schemeClr val="phClr">
                <a:tint val="75000"/>
                <a:shade val="58000"/>
                <a:satMod val="120000"/>
              </a:schemeClr>
              <a:schemeClr val="phClr">
                <a:tint val="50000"/>
                <a:shade val="96000"/>
              </a:schemeClr>
            </a:duotone>
          </a:blip>
          <a:tile tx="0" ty="0" sx="100000" sy="100000" flip="none" algn="tl"/>
        </a:blip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Wood Type" id="{7ACABC62-BF99-48CF-A9DC-4DB89C7B13DC}" vid="{142A1326-48AB-42A9-8428-CB14AA30176D}"/>
    </a:ext>
  </a:extLst>
</a:theme>
</file>

<file path=ppt/theme/theme2.xml><?xml version="1.0" encoding="utf-8"?>
<a:theme xmlns:a="http://schemas.openxmlformats.org/drawingml/2006/main" name="Office 主题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00CC99"/>
      </a:accent1>
      <a:accent2>
        <a:srgbClr val="3333CC"/>
      </a:accent2>
      <a:accent3>
        <a:srgbClr val="FFFFFF"/>
      </a:accent3>
      <a:accent4>
        <a:srgbClr val="000000"/>
      </a:accent4>
      <a:accent5>
        <a:srgbClr val="AAE2CA"/>
      </a:accent5>
      <a:accent6>
        <a:srgbClr val="2D2DB9"/>
      </a:accent6>
      <a:hlink>
        <a:srgbClr val="CCCCFF"/>
      </a:hlink>
      <a:folHlink>
        <a:srgbClr val="B2B2B2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 name="Office 主题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FFFFFF"/>
      </a:accent3>
      <a:accent4>
        <a:srgbClr val="000000"/>
      </a:accent4>
      <a:accent5>
        <a:srgbClr val="DAEDEF"/>
      </a:accent5>
      <a:accent6>
        <a:srgbClr val="2D2D8A"/>
      </a:accent6>
      <a:hlink>
        <a:srgbClr val="009999"/>
      </a:hlink>
      <a:folHlink>
        <a:srgbClr val="99CC0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>Wood Type</Template>
  <TotalTime>171</TotalTime>
  <Words>3979</Words>
  <Application>Microsoft Macintosh PowerPoint</Application>
  <PresentationFormat>全屏显示(4:3)</PresentationFormat>
  <Paragraphs>410</Paragraphs>
  <Slides>38</Slides>
  <Notes>11</Notes>
  <HiddenSlides>0</HiddenSlides>
  <MMClips>0</MMClips>
  <ScaleCrop>false</ScaleCrop>
  <HeadingPairs>
    <vt:vector size="6" baseType="variant">
      <vt:variant>
        <vt:lpstr>已用的字体</vt:lpstr>
      </vt:variant>
      <vt:variant>
        <vt:i4>16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38</vt:i4>
      </vt:variant>
    </vt:vector>
  </HeadingPairs>
  <TitlesOfParts>
    <vt:vector size="55" baseType="lpstr">
      <vt:lpstr>黑体</vt:lpstr>
      <vt:lpstr>隶书</vt:lpstr>
      <vt:lpstr>宋体</vt:lpstr>
      <vt:lpstr>宋体</vt:lpstr>
      <vt:lpstr>Arial</vt:lpstr>
      <vt:lpstr>Calibri</vt:lpstr>
      <vt:lpstr>Courier New</vt:lpstr>
      <vt:lpstr>Monotype Sorts</vt:lpstr>
      <vt:lpstr>Rockwell</vt:lpstr>
      <vt:lpstr>Rockwell Condensed</vt:lpstr>
      <vt:lpstr>Rockwell Extra Bold</vt:lpstr>
      <vt:lpstr>Times</vt:lpstr>
      <vt:lpstr>Times New Roman</vt:lpstr>
      <vt:lpstr>Wingdings</vt:lpstr>
      <vt:lpstr>Wingdings 2</vt:lpstr>
      <vt:lpstr>Wingdings 3</vt:lpstr>
      <vt:lpstr>木活字</vt:lpstr>
      <vt:lpstr>Chapter 9 文件操作</vt:lpstr>
      <vt:lpstr>本章重点</vt:lpstr>
      <vt:lpstr>问题的提出</vt:lpstr>
      <vt:lpstr>文件的分类</vt:lpstr>
      <vt:lpstr>流（Stream）</vt:lpstr>
      <vt:lpstr>文件指针</vt:lpstr>
      <vt:lpstr>文件指针（File Pointer）</vt:lpstr>
      <vt:lpstr>文件指针</vt:lpstr>
      <vt:lpstr>文件处理过程</vt:lpstr>
      <vt:lpstr>C语言独特的文件访问</vt:lpstr>
      <vt:lpstr>PowerPoint 演示文稿</vt:lpstr>
      <vt:lpstr>文件打开举例</vt:lpstr>
      <vt:lpstr>文件关闭</vt:lpstr>
      <vt:lpstr>文件关闭举例</vt:lpstr>
      <vt:lpstr>文件读写函数</vt:lpstr>
      <vt:lpstr>feof函数</vt:lpstr>
      <vt:lpstr>fgets函数</vt:lpstr>
      <vt:lpstr>fputs函数</vt:lpstr>
      <vt:lpstr>fgets、fputs举例</vt:lpstr>
      <vt:lpstr>fprintf函数</vt:lpstr>
      <vt:lpstr>fscanf函数</vt:lpstr>
      <vt:lpstr>PowerPoint 演示文稿</vt:lpstr>
      <vt:lpstr>PowerPoint 演示文稿</vt:lpstr>
      <vt:lpstr>fread函数</vt:lpstr>
      <vt:lpstr>fwrite函数</vt:lpstr>
      <vt:lpstr>PowerPoint 演示文稿</vt:lpstr>
      <vt:lpstr>小结</vt:lpstr>
      <vt:lpstr>Thanks for thinking</vt:lpstr>
      <vt:lpstr>fputc函数</vt:lpstr>
      <vt:lpstr>fgetc函数</vt:lpstr>
      <vt:lpstr>PowerPoint 演示文稿</vt:lpstr>
      <vt:lpstr>PowerPoint 演示文稿</vt:lpstr>
      <vt:lpstr>文件定位</vt:lpstr>
      <vt:lpstr>rewind函数</vt:lpstr>
      <vt:lpstr>fseek函数</vt:lpstr>
      <vt:lpstr>ftell函数</vt:lpstr>
      <vt:lpstr>错误处理</vt:lpstr>
      <vt:lpstr>PowerPoint 演示文稿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Chapter 9 文件操作</dc:title>
  <dc:creator>Microsoft Office 用户</dc:creator>
  <cp:lastModifiedBy>LPLS82</cp:lastModifiedBy>
  <cp:revision>101</cp:revision>
  <dcterms:created xsi:type="dcterms:W3CDTF">2016-12-04T10:21:40Z</dcterms:created>
  <dcterms:modified xsi:type="dcterms:W3CDTF">2022-12-22T16:23:36Z</dcterms:modified>
</cp:coreProperties>
</file>
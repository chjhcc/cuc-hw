
<file path=[Content_Types].xml><?xml version="1.0" encoding="utf-8"?>
<Types xmlns="http://schemas.openxmlformats.org/package/2006/content-types">
  <Default Extension="bin" ContentType="audio/unknown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6" r:id="rId1"/>
  </p:sldMasterIdLst>
  <p:notesMasterIdLst>
    <p:notesMasterId r:id="rId54"/>
  </p:notesMasterIdLst>
  <p:handoutMasterIdLst>
    <p:handoutMasterId r:id="rId55"/>
  </p:handoutMasterIdLst>
  <p:sldIdLst>
    <p:sldId id="411" r:id="rId2"/>
    <p:sldId id="286" r:id="rId3"/>
    <p:sldId id="453" r:id="rId4"/>
    <p:sldId id="378" r:id="rId5"/>
    <p:sldId id="382" r:id="rId6"/>
    <p:sldId id="287" r:id="rId7"/>
    <p:sldId id="386" r:id="rId8"/>
    <p:sldId id="367" r:id="rId9"/>
    <p:sldId id="368" r:id="rId10"/>
    <p:sldId id="387" r:id="rId11"/>
    <p:sldId id="379" r:id="rId12"/>
    <p:sldId id="384" r:id="rId13"/>
    <p:sldId id="388" r:id="rId14"/>
    <p:sldId id="370" r:id="rId15"/>
    <p:sldId id="371" r:id="rId16"/>
    <p:sldId id="373" r:id="rId17"/>
    <p:sldId id="385" r:id="rId18"/>
    <p:sldId id="374" r:id="rId19"/>
    <p:sldId id="375" r:id="rId20"/>
    <p:sldId id="397" r:id="rId21"/>
    <p:sldId id="322" r:id="rId22"/>
    <p:sldId id="391" r:id="rId23"/>
    <p:sldId id="454" r:id="rId24"/>
    <p:sldId id="422" r:id="rId25"/>
    <p:sldId id="424" r:id="rId26"/>
    <p:sldId id="425" r:id="rId27"/>
    <p:sldId id="426" r:id="rId28"/>
    <p:sldId id="427" r:id="rId29"/>
    <p:sldId id="428" r:id="rId30"/>
    <p:sldId id="429" r:id="rId31"/>
    <p:sldId id="430" r:id="rId32"/>
    <p:sldId id="431" r:id="rId33"/>
    <p:sldId id="432" r:id="rId34"/>
    <p:sldId id="434" r:id="rId35"/>
    <p:sldId id="439" r:id="rId36"/>
    <p:sldId id="412" r:id="rId37"/>
    <p:sldId id="436" r:id="rId38"/>
    <p:sldId id="437" r:id="rId39"/>
    <p:sldId id="438" r:id="rId40"/>
    <p:sldId id="444" r:id="rId41"/>
    <p:sldId id="445" r:id="rId42"/>
    <p:sldId id="446" r:id="rId43"/>
    <p:sldId id="447" r:id="rId44"/>
    <p:sldId id="448" r:id="rId45"/>
    <p:sldId id="449" r:id="rId46"/>
    <p:sldId id="450" r:id="rId47"/>
    <p:sldId id="451" r:id="rId48"/>
    <p:sldId id="452" r:id="rId49"/>
    <p:sldId id="435" r:id="rId50"/>
    <p:sldId id="440" r:id="rId51"/>
    <p:sldId id="442" r:id="rId52"/>
    <p:sldId id="443" r:id="rId53"/>
  </p:sldIdLst>
  <p:sldSz cx="9144000" cy="6858000" type="screen4x3"/>
  <p:notesSz cx="6670675" cy="9929813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800" b="1" kern="1200">
        <a:solidFill>
          <a:srgbClr val="FF0000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800" b="1" kern="1200">
        <a:solidFill>
          <a:srgbClr val="FF0000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800" b="1" kern="1200">
        <a:solidFill>
          <a:srgbClr val="FF0000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800" b="1" kern="1200">
        <a:solidFill>
          <a:srgbClr val="FF0000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800" b="1" kern="1200">
        <a:solidFill>
          <a:srgbClr val="FF0000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rgbClr val="FF0000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rgbClr val="FF0000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rgbClr val="FF0000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rgbClr val="FF0000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00CC"/>
    <a:srgbClr val="880000"/>
    <a:srgbClr val="996600"/>
    <a:srgbClr val="FF9900"/>
    <a:srgbClr val="669900"/>
    <a:srgbClr val="0033CC"/>
    <a:srgbClr val="FF33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96" autoAdjust="0"/>
    <p:restoredTop sz="94122" autoAdjust="0"/>
  </p:normalViewPr>
  <p:slideViewPr>
    <p:cSldViewPr>
      <p:cViewPr varScale="1">
        <p:scale>
          <a:sx n="142" d="100"/>
          <a:sy n="142" d="100"/>
        </p:scale>
        <p:origin x="135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 smtClean="0">
                <a:solidFill>
                  <a:schemeClr val="tx1"/>
                </a:solidFill>
                <a:effectLst/>
                <a:latin typeface="Times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 smtClean="0">
                <a:solidFill>
                  <a:schemeClr val="tx1"/>
                </a:solidFill>
                <a:effectLst/>
                <a:latin typeface="Times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890838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 smtClean="0">
                <a:solidFill>
                  <a:schemeClr val="tx1"/>
                </a:solidFill>
                <a:effectLst/>
                <a:latin typeface="Times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31338"/>
            <a:ext cx="2890838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latin typeface="Times" charset="0"/>
              </a:defRPr>
            </a:lvl1pPr>
          </a:lstStyle>
          <a:p>
            <a:fld id="{7D488613-E3B3-1348-9F11-4F6CDA86829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539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032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4098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099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F4C1B79A-7E73-5D49-B012-E24C78966A30}" type="slidenum">
              <a:rPr lang="en-US" altLang="zh-CN" sz="1200">
                <a:latin typeface="Times New Roman" charset="0"/>
              </a:rPr>
              <a:pPr/>
              <a:t>1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199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017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66750" y="4778375"/>
            <a:ext cx="5337175" cy="3910013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6740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</p:spPr>
        <p:txBody>
          <a:bodyPr anchor="b"/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3B62E30-9A72-524B-87DB-08880FDA65DA}" type="slidenum">
              <a:rPr lang="zh-CN" altLang="en-US" sz="1200" b="0">
                <a:solidFill>
                  <a:schemeClr val="tx1"/>
                </a:solidFill>
                <a:latin typeface="Calibri" charset="0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zh-CN" altLang="en-US" sz="1200" b="0">
              <a:solidFill>
                <a:schemeClr val="tx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359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9875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</p:spPr>
        <p:txBody>
          <a:bodyPr anchor="b"/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0E7F71E-E108-F34C-BA6E-8EF05E9A5367}" type="slidenum">
              <a:rPr lang="zh-CN" altLang="en-US" sz="1200" b="0">
                <a:solidFill>
                  <a:schemeClr val="tx1"/>
                </a:solidFill>
                <a:latin typeface="Calibri" charset="0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zh-CN" altLang="en-US" sz="1200" b="0">
              <a:solidFill>
                <a:schemeClr val="tx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7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</p:spPr>
        <p:txBody>
          <a:bodyPr anchor="b"/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905F0E1-F810-F34D-9F37-BC3EE79BBFBE}" type="slidenum">
              <a:rPr lang="zh-CN" altLang="en-US" sz="1200" b="0">
                <a:solidFill>
                  <a:schemeClr val="tx1"/>
                </a:solidFill>
                <a:latin typeface="Calibri" charset="0"/>
              </a:rPr>
              <a:pPr algn="r" eaLnBrk="1" hangingPunct="1">
                <a:spcBef>
                  <a:spcPct val="0"/>
                </a:spcBef>
              </a:pPr>
              <a:t>13</a:t>
            </a:fld>
            <a:endParaRPr lang="zh-CN" altLang="en-US" sz="1200" b="0">
              <a:solidFill>
                <a:schemeClr val="tx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78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2488" y="742950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0" y="4716463"/>
            <a:ext cx="5337175" cy="44704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875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89090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89091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EB9C3D8A-F0B3-AE46-B29F-A74909B1FCBD}" type="slidenum">
              <a:rPr lang="en-US" altLang="zh-CN" sz="1200" b="0">
                <a:solidFill>
                  <a:schemeClr val="tx1"/>
                </a:solidFill>
              </a:rPr>
              <a:pPr/>
              <a:t>24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29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12700"/>
        </p:spPr>
      </p:sp>
      <p:sp>
        <p:nvSpPr>
          <p:cNvPr id="93186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3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12700"/>
        </p:spPr>
      </p:sp>
      <p:sp>
        <p:nvSpPr>
          <p:cNvPr id="95234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007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12700"/>
        </p:spPr>
      </p:sp>
      <p:sp>
        <p:nvSpPr>
          <p:cNvPr id="97282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645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07522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07523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E5D6CA5E-6BF1-3640-BDE5-A8E229A770A0}" type="slidenum">
              <a:rPr lang="en-US" altLang="zh-CN" sz="1200" b="0">
                <a:solidFill>
                  <a:schemeClr val="tx1"/>
                </a:solidFill>
              </a:rPr>
              <a:pPr/>
              <a:t>34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45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17762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17763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823ECB13-71CA-3143-914A-FAE707E75241}" type="slidenum">
              <a:rPr lang="en-US" altLang="zh-CN" sz="1200" b="0">
                <a:solidFill>
                  <a:schemeClr val="tx1"/>
                </a:solidFill>
              </a:rPr>
              <a:pPr/>
              <a:t>35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414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11618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11619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CB5939D9-6F23-1340-86F5-C3B6321A8BEA}" type="slidenum">
              <a:rPr lang="en-US" altLang="zh-CN" sz="1200" b="0">
                <a:solidFill>
                  <a:schemeClr val="tx1"/>
                </a:solidFill>
              </a:rPr>
              <a:pPr/>
              <a:t>37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392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13666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13667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C397DF55-84F8-8545-AB5E-A219413A911D}" type="slidenum">
              <a:rPr lang="en-US" altLang="zh-CN" sz="1200" b="0">
                <a:solidFill>
                  <a:schemeClr val="tx1"/>
                </a:solidFill>
              </a:rPr>
              <a:pPr/>
              <a:t>38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088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15714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15715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0F95A6ED-37EA-AC45-841C-97F7D144CD67}" type="slidenum">
              <a:rPr lang="en-US" altLang="zh-CN" sz="1200" b="0">
                <a:solidFill>
                  <a:schemeClr val="tx1"/>
                </a:solidFill>
              </a:rPr>
              <a:pPr/>
              <a:t>39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765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29698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56071D14-9CAF-C74F-AAD3-EB10F6A37E3E}" type="slidenum">
              <a:rPr lang="en-US" altLang="zh-CN" sz="1200" b="0">
                <a:solidFill>
                  <a:schemeClr val="tx1"/>
                </a:solidFill>
              </a:rPr>
              <a:pPr/>
              <a:t>40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9245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31746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3493C745-498F-6A40-9665-F331D8ADAD44}" type="slidenum">
              <a:rPr lang="en-US" altLang="zh-CN" sz="1200" b="0">
                <a:solidFill>
                  <a:schemeClr val="tx1"/>
                </a:solidFill>
              </a:rPr>
              <a:pPr/>
              <a:t>41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687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33794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33795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A62A1A5F-C7AE-1649-B364-D0CC58638F3D}" type="slidenum">
              <a:rPr lang="en-US" altLang="zh-CN" sz="1200" b="0">
                <a:solidFill>
                  <a:schemeClr val="tx1"/>
                </a:solidFill>
              </a:rPr>
              <a:pPr/>
              <a:t>42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5149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35842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8506B902-CCB6-4A46-952D-9437BDA8E277}" type="slidenum">
              <a:rPr lang="en-US" altLang="zh-CN" sz="1200" b="0">
                <a:solidFill>
                  <a:schemeClr val="tx1"/>
                </a:solidFill>
              </a:rPr>
              <a:pPr/>
              <a:t>43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022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37890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1DC43137-CC0D-6847-804D-CF69EA754039}" type="slidenum">
              <a:rPr lang="en-US" altLang="zh-CN" sz="1200" b="0">
                <a:solidFill>
                  <a:schemeClr val="tx1"/>
                </a:solidFill>
              </a:rPr>
              <a:pPr/>
              <a:t>44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94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12700"/>
        </p:spPr>
      </p:sp>
      <p:sp>
        <p:nvSpPr>
          <p:cNvPr id="39938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7815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12700"/>
        </p:spPr>
      </p:sp>
      <p:sp>
        <p:nvSpPr>
          <p:cNvPr id="41986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2168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12700"/>
        </p:spPr>
      </p:sp>
      <p:sp>
        <p:nvSpPr>
          <p:cNvPr id="44034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9056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12700"/>
        </p:spPr>
      </p:sp>
      <p:sp>
        <p:nvSpPr>
          <p:cNvPr id="46082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683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109570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09571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D3CBB309-F1DD-B048-924A-F29B1A442FE4}" type="slidenum">
              <a:rPr lang="en-US" altLang="zh-CN" sz="1200" b="0">
                <a:solidFill>
                  <a:schemeClr val="tx1"/>
                </a:solidFill>
              </a:rPr>
              <a:pPr/>
              <a:t>49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925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12700"/>
        </p:spPr>
      </p:sp>
      <p:sp>
        <p:nvSpPr>
          <p:cNvPr id="119810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318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3548F-D19E-B74A-870D-30E39723EEAA}" type="datetime1">
              <a:rPr lang="zh-CN" altLang="en-US" smtClean="0"/>
              <a:t>2022/11/3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AD12854A-0D6A-6C43-8227-72E3D848C7A2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9050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3FF3-3EA5-4F49-B1AA-0CAAC22064A3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552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C33E67E-5A92-D748-BC42-985FEB29DC31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712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45EE2-AEE9-1B4E-A8C7-6B0726C6F1A5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9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69A9-A3F0-654A-A068-AC7B8AAAB852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689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D49384B-7F5F-7944-93F3-04D3333DD4C0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17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5506-2F87-5E4F-81FB-75AC2C7BFF21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0B45-BAAE-7143-8B99-173A271C5281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57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83A0-8B1F-9844-B2B8-8E85BD0D88F3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9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D9563-DB3E-4D4F-98E5-7F6A4CAB9C4C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5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BF9F-CEE7-9A4B-A18F-ED09AB1E725C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3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7E64C12-DF95-E84D-8EF0-7E51058BBA16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576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leizhang@cuc.edu.c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tif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88670" y="3356992"/>
            <a:ext cx="7593330" cy="851958"/>
          </a:xfrm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4000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程序设计与编程方法</a:t>
            </a:r>
          </a:p>
        </p:txBody>
      </p:sp>
      <p:sp>
        <p:nvSpPr>
          <p:cNvPr id="3" name="WordArt 6"/>
          <p:cNvSpPr>
            <a:spLocks noChangeArrowheads="1" noChangeShapeType="1" noTextEdit="1"/>
          </p:cNvSpPr>
          <p:nvPr/>
        </p:nvSpPr>
        <p:spPr bwMode="auto">
          <a:xfrm>
            <a:off x="2555776" y="2103640"/>
            <a:ext cx="4104455" cy="68549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1" hangingPunct="1">
              <a:lnSpc>
                <a:spcPct val="80000"/>
              </a:lnSpc>
              <a:spcBef>
                <a:spcPct val="0"/>
              </a:spcBef>
              <a:buClr>
                <a:schemeClr val="accent1">
                  <a:lumMod val="75000"/>
                </a:schemeClr>
              </a:buClr>
              <a:buSzPct val="85000"/>
              <a:defRPr/>
            </a:pPr>
            <a:r>
              <a:rPr lang="zh-CN" altLang="en-US" sz="6000" cap="all" dirty="0">
                <a:blipFill dpi="0" rotWithShape="1">
                  <a:blip r:embed="rId3"/>
                  <a:srcRect/>
                  <a:tile tx="6350" ty="-127000" sx="65000" sy="64000" flip="none" algn="tl"/>
                </a:blip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+mj-ea"/>
                <a:cs typeface="+mj-cs"/>
              </a:rPr>
              <a:t>第六章 数组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421037" y="4797152"/>
            <a:ext cx="4374356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隶书" charset="0"/>
                <a:ea typeface="隶书" charset="0"/>
              </a:rPr>
              <a:t>张雷</a:t>
            </a:r>
            <a:br>
              <a:rPr lang="zh-CN" altLang="en-US" sz="2000" b="1" dirty="0">
                <a:solidFill>
                  <a:srgbClr val="000000"/>
                </a:solidFill>
                <a:latin typeface="隶书" charset="0"/>
                <a:ea typeface="隶书" charset="0"/>
              </a:rPr>
            </a:br>
            <a:r>
              <a:rPr lang="en-US" altLang="zh-CN" sz="2000" b="1" dirty="0">
                <a:latin typeface="Times New Roman" charset="0"/>
                <a:ea typeface="隶书" charset="0"/>
                <a:hlinkClick r:id="rId4"/>
              </a:rPr>
              <a:t>leizhang</a:t>
            </a:r>
            <a:r>
              <a:rPr lang="en-US" altLang="zh-CN" sz="2000" b="1" dirty="0">
                <a:latin typeface="Times New Roman" charset="0"/>
                <a:hlinkClick r:id="rId4"/>
              </a:rPr>
              <a:t>@cuc.edu.cn</a:t>
            </a:r>
            <a:endParaRPr lang="zh-CN" altLang="en-US" sz="2000" b="1" dirty="0">
              <a:latin typeface="Times New Roman" charset="0"/>
            </a:endParaRPr>
          </a:p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charset="0"/>
              </a:rPr>
              <a:t>中国传媒大学</a:t>
            </a:r>
          </a:p>
          <a:p>
            <a:pPr algn="ctr"/>
            <a:r>
              <a:rPr lang="zh-CN" altLang="en-US" sz="2000">
                <a:solidFill>
                  <a:schemeClr val="tx1"/>
                </a:solidFill>
              </a:rPr>
              <a:t>计算机与网络空间安全学院</a:t>
            </a:r>
          </a:p>
          <a:p>
            <a:pPr algn="ctr" eaLnBrk="0" hangingPunct="0">
              <a:spcBef>
                <a:spcPct val="50000"/>
              </a:spcBef>
            </a:pPr>
            <a:endParaRPr lang="en-US" altLang="zh-CN" sz="2400" b="1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24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内容提要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 eaLnBrk="1"/>
            <a:r>
              <a:rPr lang="zh-CN" altLang="en-US" sz="3600" dirty="0">
                <a:ea typeface="宋体" charset="0"/>
              </a:rPr>
              <a:t>一、数组类型</a:t>
            </a:r>
            <a:endParaRPr lang="en-US" altLang="zh-CN" sz="3600" dirty="0">
              <a:ea typeface="宋体" charset="0"/>
            </a:endParaRPr>
          </a:p>
          <a:p>
            <a:pPr marL="533400" indent="-533400" eaLnBrk="1"/>
            <a:endParaRPr lang="en-US" altLang="zh-CN" sz="3600" dirty="0">
              <a:ea typeface="宋体" charset="0"/>
            </a:endParaRPr>
          </a:p>
          <a:p>
            <a:pPr marL="533400" indent="-533400" eaLnBrk="1"/>
            <a:r>
              <a:rPr lang="zh-CN" altLang="en-US" sz="3600" dirty="0">
                <a:ea typeface="宋体" charset="0"/>
              </a:rPr>
              <a:t>二、字符型数组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5D7A-F8D2-0B47-BC1F-B89603BD0025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5380AA-07E5-D70C-6CF7-5D4B4364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946" y="2420888"/>
            <a:ext cx="7772400" cy="1609344"/>
          </a:xfrm>
        </p:spPr>
        <p:txBody>
          <a:bodyPr/>
          <a:lstStyle/>
          <a:p>
            <a:r>
              <a:rPr kumimoji="1" lang="zh-CN" altLang="en-US"/>
              <a:t>一、数组类型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1D7601-4EBA-F175-D8CE-F71929580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3FF3-3EA5-4F49-B1AA-0CAAC22064A3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74C922-CE26-32B7-ABA5-C3E5104C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97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ChangeArrowheads="1"/>
          </p:cNvSpPr>
          <p:nvPr/>
        </p:nvSpPr>
        <p:spPr bwMode="auto">
          <a:xfrm>
            <a:off x="395288" y="692150"/>
            <a:ext cx="7993062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endParaRPr kumimoji="1" lang="en-US" altLang="zh-CN" dirty="0">
              <a:solidFill>
                <a:schemeClr val="tx1"/>
              </a:solidFill>
              <a:ea typeface="宋体" charset="0"/>
            </a:endParaRPr>
          </a:p>
          <a:p>
            <a:r>
              <a:rPr kumimoji="1" lang="en-US" altLang="zh-CN" dirty="0">
                <a:solidFill>
                  <a:schemeClr val="tx1"/>
                </a:solidFill>
                <a:ea typeface="宋体" charset="0"/>
              </a:rPr>
              <a:t>C</a:t>
            </a:r>
            <a:r>
              <a:rPr kumimoji="1" lang="zh-CN" altLang="en-US" dirty="0">
                <a:solidFill>
                  <a:schemeClr val="tx1"/>
                </a:solidFill>
                <a:ea typeface="宋体" charset="0"/>
              </a:rPr>
              <a:t>提供了一组基本类型：</a:t>
            </a:r>
            <a:r>
              <a:rPr kumimoji="1" lang="en-US" altLang="zh-CN" dirty="0" err="1">
                <a:solidFill>
                  <a:schemeClr val="tx1"/>
                </a:solidFill>
                <a:ea typeface="宋体" charset="0"/>
              </a:rPr>
              <a:t>int</a:t>
            </a:r>
            <a:r>
              <a:rPr kumimoji="1" lang="zh-CN" altLang="en-US" dirty="0">
                <a:solidFill>
                  <a:schemeClr val="tx1"/>
                </a:solidFill>
                <a:ea typeface="宋体" charset="0"/>
              </a:rPr>
              <a:t>、</a:t>
            </a:r>
            <a:r>
              <a:rPr kumimoji="1" lang="en-US" altLang="zh-CN" dirty="0">
                <a:solidFill>
                  <a:schemeClr val="tx1"/>
                </a:solidFill>
                <a:ea typeface="宋体" charset="0"/>
              </a:rPr>
              <a:t>double</a:t>
            </a:r>
            <a:r>
              <a:rPr kumimoji="1" lang="zh-CN" altLang="en-US" dirty="0">
                <a:solidFill>
                  <a:schemeClr val="tx1"/>
                </a:solidFill>
                <a:ea typeface="宋体" charset="0"/>
              </a:rPr>
              <a:t>等。除了基本数据类型，</a:t>
            </a:r>
            <a:r>
              <a:rPr kumimoji="1" lang="zh-CN" altLang="en-US" dirty="0">
                <a:solidFill>
                  <a:schemeClr val="accent2"/>
                </a:solidFill>
                <a:ea typeface="宋体" charset="0"/>
              </a:rPr>
              <a:t>还有一些组合的数据类型</a:t>
            </a:r>
            <a:r>
              <a:rPr kumimoji="1" lang="zh-CN" altLang="en-US" dirty="0">
                <a:solidFill>
                  <a:schemeClr val="tx1"/>
                </a:solidFill>
                <a:ea typeface="宋体" charset="0"/>
              </a:rPr>
              <a:t>，称为</a:t>
            </a:r>
            <a:r>
              <a:rPr kumimoji="1" lang="zh-CN" altLang="en-US" dirty="0">
                <a:solidFill>
                  <a:schemeClr val="accent2"/>
                </a:solidFill>
                <a:ea typeface="宋体" charset="0"/>
              </a:rPr>
              <a:t>构造数据类型</a:t>
            </a:r>
            <a:r>
              <a:rPr kumimoji="1" lang="zh-CN" altLang="en-US" dirty="0">
                <a:solidFill>
                  <a:schemeClr val="tx1"/>
                </a:solidFill>
                <a:ea typeface="宋体" charset="0"/>
              </a:rPr>
              <a:t>。</a:t>
            </a:r>
          </a:p>
          <a:p>
            <a:r>
              <a:rPr kumimoji="1" lang="zh-CN" altLang="en-US" dirty="0">
                <a:solidFill>
                  <a:schemeClr val="tx1"/>
                </a:solidFill>
                <a:ea typeface="宋体" charset="0"/>
              </a:rPr>
              <a:t>        构造机制包括</a:t>
            </a:r>
            <a:r>
              <a:rPr kumimoji="1" lang="zh-CN" altLang="en-US" dirty="0">
                <a:solidFill>
                  <a:schemeClr val="accent2"/>
                </a:solidFill>
                <a:ea typeface="宋体" charset="0"/>
              </a:rPr>
              <a:t>数组</a:t>
            </a:r>
            <a:r>
              <a:rPr kumimoji="1" lang="zh-CN" altLang="en-US" dirty="0">
                <a:solidFill>
                  <a:schemeClr val="tx1"/>
                </a:solidFill>
                <a:ea typeface="宋体" charset="0"/>
              </a:rPr>
              <a:t>、指针、结构、联合。可用它们组合数据对象，变成集合，</a:t>
            </a:r>
            <a:r>
              <a:rPr kumimoji="1" lang="zh-CN" altLang="en-US" dirty="0">
                <a:solidFill>
                  <a:schemeClr val="accent2"/>
                </a:solidFill>
                <a:ea typeface="宋体" charset="0"/>
              </a:rPr>
              <a:t>作为整体使用</a:t>
            </a:r>
            <a:r>
              <a:rPr kumimoji="1" lang="zh-CN" altLang="en-US" dirty="0">
                <a:solidFill>
                  <a:schemeClr val="tx1"/>
                </a:solidFill>
                <a:ea typeface="宋体" charset="0"/>
              </a:rPr>
              <a:t>。</a:t>
            </a:r>
          </a:p>
          <a:p>
            <a:endParaRPr kumimoji="1" lang="zh-CN" altLang="en-US" dirty="0">
              <a:solidFill>
                <a:schemeClr val="tx1"/>
              </a:solidFill>
              <a:ea typeface="宋体" charset="0"/>
            </a:endParaRPr>
          </a:p>
          <a:p>
            <a:endParaRPr kumimoji="1" lang="zh-CN" altLang="en-US" dirty="0">
              <a:solidFill>
                <a:schemeClr val="tx1"/>
              </a:solidFill>
              <a:ea typeface="宋体" charset="0"/>
            </a:endParaRPr>
          </a:p>
          <a:p>
            <a:endParaRPr kumimoji="1" lang="zh-CN" altLang="en-US" dirty="0">
              <a:solidFill>
                <a:schemeClr val="tx1"/>
              </a:solidFill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9164-C7CF-B647-95D4-976A39E85DD9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Text Box 2"/>
          <p:cNvSpPr>
            <a:spLocks noGrp="1" noChangeArrowheads="1"/>
          </p:cNvSpPr>
          <p:nvPr>
            <p:ph idx="1"/>
          </p:nvPr>
        </p:nvSpPr>
        <p:spPr>
          <a:xfrm>
            <a:off x="685800" y="476250"/>
            <a:ext cx="7772400" cy="5619750"/>
          </a:xfrm>
          <a:noFill/>
        </p:spPr>
        <p:txBody>
          <a:bodyPr/>
          <a:lstStyle/>
          <a:p>
            <a:pPr algn="just">
              <a:lnSpc>
                <a:spcPct val="10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kumimoji="1" lang="zh-CN" altLang="en-US">
                <a:effectLst/>
                <a:ea typeface="宋体" charset="0"/>
              </a:rPr>
              <a:t>      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620713"/>
            <a:ext cx="8424863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7" rIns="92075" bIns="46037"/>
          <a:lstStyle>
            <a:lvl1pPr marL="374650" indent="-374650"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>
              <a:lnSpc>
                <a:spcPct val="8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kumimoji="1" lang="zh-CN" altLang="en-US">
                <a:solidFill>
                  <a:srgbClr val="3366FF"/>
                </a:solidFill>
                <a:ea typeface="宋体" charset="0"/>
              </a:rPr>
              <a:t>             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组合的数据对象称为</a:t>
            </a:r>
            <a:r>
              <a:rPr kumimoji="1" lang="zh-CN" altLang="en-US" u="sng">
                <a:solidFill>
                  <a:schemeClr val="accent2"/>
                </a:solidFill>
                <a:ea typeface="宋体" charset="0"/>
              </a:rPr>
              <a:t>复合数据对象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。复合对象形成的类型称为</a:t>
            </a:r>
            <a:r>
              <a:rPr kumimoji="1" lang="zh-CN" altLang="en-US" u="sng">
                <a:solidFill>
                  <a:schemeClr val="accent2"/>
                </a:solidFill>
                <a:ea typeface="宋体" charset="0"/>
              </a:rPr>
              <a:t>复合数据类型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，组成部分称为</a:t>
            </a:r>
            <a:r>
              <a:rPr kumimoji="1" lang="zh-CN" altLang="en-US" u="sng">
                <a:solidFill>
                  <a:schemeClr val="accent2"/>
                </a:solidFill>
                <a:ea typeface="宋体" charset="0"/>
              </a:rPr>
              <a:t>成分</a:t>
            </a:r>
            <a:r>
              <a:rPr kumimoji="1" lang="en-US" altLang="zh-CN" u="sng">
                <a:solidFill>
                  <a:schemeClr val="accent2"/>
                </a:solidFill>
                <a:ea typeface="宋体" charset="0"/>
              </a:rPr>
              <a:t>/</a:t>
            </a:r>
            <a:r>
              <a:rPr kumimoji="1" lang="zh-CN" altLang="en-US" u="sng">
                <a:solidFill>
                  <a:schemeClr val="accent2"/>
                </a:solidFill>
                <a:ea typeface="宋体" charset="0"/>
              </a:rPr>
              <a:t>成员</a:t>
            </a:r>
            <a:r>
              <a:rPr kumimoji="1" lang="en-US" altLang="zh-CN" u="sng">
                <a:solidFill>
                  <a:schemeClr val="accent2"/>
                </a:solidFill>
                <a:ea typeface="宋体" charset="0"/>
              </a:rPr>
              <a:t>/</a:t>
            </a:r>
            <a:r>
              <a:rPr kumimoji="1" lang="zh-CN" altLang="en-US" u="sng">
                <a:solidFill>
                  <a:schemeClr val="accent2"/>
                </a:solidFill>
                <a:ea typeface="宋体" charset="0"/>
              </a:rPr>
              <a:t>元素</a:t>
            </a:r>
            <a:r>
              <a:rPr kumimoji="1" lang="zh-CN" altLang="en-US">
                <a:solidFill>
                  <a:schemeClr val="accent2"/>
                </a:solidFill>
                <a:ea typeface="宋体" charset="0"/>
              </a:rPr>
              <a:t>。</a:t>
            </a:r>
          </a:p>
          <a:p>
            <a:pPr eaLnBrk="1">
              <a:lnSpc>
                <a:spcPct val="8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             可创建能存放复合类型数据的变量。</a:t>
            </a:r>
          </a:p>
          <a:p>
            <a:pPr eaLnBrk="1">
              <a:lnSpc>
                <a:spcPct val="8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             这种变量</a:t>
            </a:r>
            <a:r>
              <a:rPr kumimoji="1" lang="zh-CN" altLang="en-US">
                <a:solidFill>
                  <a:schemeClr val="accent2"/>
                </a:solidFill>
                <a:ea typeface="宋体" charset="0"/>
              </a:rPr>
              <a:t>可作为整体使用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，通过名字可以访问整个复合对象。</a:t>
            </a:r>
          </a:p>
          <a:p>
            <a:pPr eaLnBrk="1">
              <a:lnSpc>
                <a:spcPct val="8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             也</a:t>
            </a:r>
            <a:r>
              <a:rPr kumimoji="1" lang="zh-CN" altLang="en-US">
                <a:solidFill>
                  <a:schemeClr val="accent2"/>
                </a:solidFill>
                <a:ea typeface="宋体" charset="0"/>
              </a:rPr>
              <a:t>可以访问复合数据对象的成分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，如：使用成分的值或给成分赋值。</a:t>
            </a:r>
          </a:p>
          <a:p>
            <a:pPr eaLnBrk="1">
              <a:lnSpc>
                <a:spcPct val="8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             </a:t>
            </a:r>
            <a:r>
              <a:rPr kumimoji="1" lang="zh-CN" altLang="en-US">
                <a:ea typeface="宋体" charset="0"/>
              </a:rPr>
              <a:t>本章介绍数组就是常见的组合机制。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AA21-C81D-A547-83C6-7754FA9BF83F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数组的用处 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/>
            <a:r>
              <a:rPr lang="zh-CN" altLang="en-US">
                <a:ea typeface="宋体" charset="0"/>
              </a:rPr>
              <a:t>保存大量同类型的相关数据的问题</a:t>
            </a:r>
          </a:p>
          <a:p>
            <a:pPr eaLnBrk="1">
              <a:buFont typeface="Monotype Sorts" charset="2"/>
              <a:buNone/>
            </a:pPr>
            <a:r>
              <a:rPr lang="en-US" altLang="zh-CN" sz="2400">
                <a:solidFill>
                  <a:srgbClr val="CC00CC"/>
                </a:solidFill>
                <a:ea typeface="宋体" charset="0"/>
              </a:rPr>
              <a:t>-</a:t>
            </a:r>
            <a:r>
              <a:rPr lang="zh-CN" altLang="en-US" sz="2400">
                <a:solidFill>
                  <a:srgbClr val="CC00CC"/>
                </a:solidFill>
                <a:ea typeface="宋体" charset="0"/>
              </a:rPr>
              <a:t>例如，输入全班</a:t>
            </a:r>
            <a:r>
              <a:rPr lang="en-US" altLang="zh-CN" sz="2400">
                <a:solidFill>
                  <a:srgbClr val="CC00CC"/>
                </a:solidFill>
                <a:ea typeface="宋体" charset="0"/>
              </a:rPr>
              <a:t>30</a:t>
            </a:r>
            <a:r>
              <a:rPr lang="zh-CN" altLang="en-US" sz="2400">
                <a:solidFill>
                  <a:srgbClr val="CC00CC"/>
                </a:solidFill>
                <a:ea typeface="宋体" charset="0"/>
              </a:rPr>
              <a:t>个学生的成绩，并排出名次。</a:t>
            </a:r>
          </a:p>
          <a:p>
            <a:pPr eaLnBrk="1">
              <a:buFont typeface="Monotype Sorts" charset="2"/>
              <a:buNone/>
            </a:pPr>
            <a:r>
              <a:rPr lang="en-US" altLang="zh-CN" sz="2400">
                <a:solidFill>
                  <a:srgbClr val="CC00CC"/>
                </a:solidFill>
                <a:ea typeface="宋体" charset="0"/>
              </a:rPr>
              <a:t>-</a:t>
            </a:r>
            <a:r>
              <a:rPr lang="zh-CN" altLang="en-US" sz="2400">
                <a:solidFill>
                  <a:srgbClr val="CC00CC"/>
                </a:solidFill>
                <a:ea typeface="宋体" charset="0"/>
              </a:rPr>
              <a:t>例如，矩阵运算，表格数据等。 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E5F0-AAFB-A44E-B8A0-848C6DC9FDA4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标题 1"/>
          <p:cNvSpPr>
            <a:spLocks noGrp="1"/>
          </p:cNvSpPr>
          <p:nvPr>
            <p:ph type="title" idx="4294967295"/>
          </p:nvPr>
        </p:nvSpPr>
        <p:spPr>
          <a:xfrm>
            <a:off x="1346200" y="333375"/>
            <a:ext cx="7797800" cy="839788"/>
          </a:xfrm>
        </p:spPr>
        <p:txBody>
          <a:bodyPr lIns="91440" tIns="45720" rIns="91440" bIns="45720"/>
          <a:lstStyle/>
          <a:p>
            <a:r>
              <a:rPr lang="zh-CN" altLang="en-US"/>
              <a:t>为什么使用数组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62013" y="1557338"/>
            <a:ext cx="8281987" cy="5043487"/>
          </a:xfrm>
        </p:spPr>
        <p:txBody>
          <a:bodyPr lIns="91440" tIns="45720" rIns="91440" bIns="45720">
            <a:normAutofit fontScale="92500" lnSpcReduction="10000"/>
          </a:bodyPr>
          <a:lstStyle/>
          <a:p>
            <a:pPr eaLnBrk="1">
              <a:lnSpc>
                <a:spcPct val="105000"/>
              </a:lnSpc>
            </a:pPr>
            <a:r>
              <a:rPr lang="zh-CN" altLang="en-US" sz="2400">
                <a:ea typeface="宋体" charset="0"/>
              </a:rPr>
              <a:t>例子：要读入某班全体</a:t>
            </a:r>
            <a:r>
              <a:rPr lang="en-US" altLang="zh-CN" sz="2400">
                <a:ea typeface="宋体" charset="0"/>
              </a:rPr>
              <a:t>50</a:t>
            </a:r>
            <a:r>
              <a:rPr lang="zh-CN" altLang="en-US" sz="2400">
                <a:ea typeface="宋体" charset="0"/>
              </a:rPr>
              <a:t>位同学某科学习成绩，然后进行简单处理（求平均成绩、最高分、最低分</a:t>
            </a:r>
            <a:r>
              <a:rPr lang="en-US" altLang="zh-CN" sz="2400">
                <a:ea typeface="宋体" charset="0"/>
              </a:rPr>
              <a:t>……</a:t>
            </a:r>
            <a:r>
              <a:rPr lang="zh-CN" altLang="en-US" sz="2400">
                <a:ea typeface="宋体" charset="0"/>
              </a:rPr>
              <a:t>）</a:t>
            </a:r>
          </a:p>
          <a:p>
            <a:pPr eaLnBrk="1">
              <a:lnSpc>
                <a:spcPct val="105000"/>
              </a:lnSpc>
            </a:pPr>
            <a:r>
              <a:rPr lang="zh-CN" altLang="en-US" sz="2400">
                <a:ea typeface="宋体" charset="0"/>
              </a:rPr>
              <a:t>若用简单变量，需</a:t>
            </a:r>
            <a:r>
              <a:rPr lang="en-US" altLang="zh-CN" sz="2400">
                <a:ea typeface="宋体" charset="0"/>
              </a:rPr>
              <a:t>50</a:t>
            </a:r>
            <a:r>
              <a:rPr lang="zh-CN" altLang="en-US" sz="2400">
                <a:ea typeface="宋体" charset="0"/>
              </a:rPr>
              <a:t>个不同变量名，要用很多个</a:t>
            </a:r>
            <a:r>
              <a:rPr lang="en-US" altLang="zh-CN" sz="2400">
                <a:ea typeface="宋体" charset="0"/>
              </a:rPr>
              <a:t>scanf</a:t>
            </a:r>
            <a:r>
              <a:rPr lang="zh-CN" altLang="en-US" sz="2400">
                <a:ea typeface="宋体" charset="0"/>
              </a:rPr>
              <a:t>命令</a:t>
            </a:r>
            <a:r>
              <a:rPr lang="zh-CN" altLang="en-US" sz="2000">
                <a:ea typeface="宋体" charset="0"/>
              </a:rPr>
              <a:t>  </a:t>
            </a:r>
          </a:p>
          <a:p>
            <a:pPr eaLnBrk="1">
              <a:lnSpc>
                <a:spcPct val="105000"/>
              </a:lnSpc>
              <a:buFont typeface="Monotype Sorts" charset="2"/>
              <a:buNone/>
            </a:pPr>
            <a:r>
              <a:rPr lang="en-US" altLang="zh-CN" sz="2000">
                <a:solidFill>
                  <a:srgbClr val="FF0000"/>
                </a:solidFill>
                <a:ea typeface="宋体" charset="0"/>
              </a:rPr>
              <a:t>	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int score1,score2,…score50</a:t>
            </a:r>
            <a:r>
              <a:rPr lang="zh-CN" altLang="en-US" sz="2000">
                <a:solidFill>
                  <a:schemeClr val="accent2"/>
                </a:solidFill>
                <a:latin typeface="Courier New" charset="0"/>
                <a:ea typeface="宋体" charset="0"/>
              </a:rPr>
              <a:t>；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	</a:t>
            </a:r>
            <a:r>
              <a:rPr lang="zh-CN" altLang="en-US" sz="2000">
                <a:solidFill>
                  <a:schemeClr val="accent2"/>
                </a:solidFill>
                <a:latin typeface="Courier New" charset="0"/>
                <a:ea typeface="宋体" charset="0"/>
              </a:rPr>
              <a:t>      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scanf("%d,%d,%d",&amp;score1,&amp;score2,&amp;score3);</a:t>
            </a:r>
          </a:p>
          <a:p>
            <a:pPr eaLnBrk="1">
              <a:lnSpc>
                <a:spcPct val="105000"/>
              </a:lnSpc>
              <a:buFont typeface="Monotype Sorts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  	scanf("%d,%d,%d",&amp;score4,&amp;score5,&amp;score6);</a:t>
            </a:r>
          </a:p>
          <a:p>
            <a:pPr eaLnBrk="1">
              <a:lnSpc>
                <a:spcPct val="105000"/>
              </a:lnSpc>
            </a:pPr>
            <a:r>
              <a:rPr lang="zh-CN" altLang="en-US" sz="2400">
                <a:ea typeface="宋体" charset="0"/>
              </a:rPr>
              <a:t>而用数组，可共用一个</a:t>
            </a:r>
            <a:r>
              <a:rPr lang="en-US" altLang="zh-CN" sz="2400">
                <a:ea typeface="宋体" charset="0"/>
              </a:rPr>
              <a:t>scanf</a:t>
            </a:r>
            <a:r>
              <a:rPr lang="zh-CN" altLang="en-US" sz="2400">
                <a:ea typeface="宋体" charset="0"/>
              </a:rPr>
              <a:t>命令并利用循环结构读取</a:t>
            </a:r>
            <a:r>
              <a:rPr lang="zh-CN" altLang="en-US" sz="2000">
                <a:ea typeface="宋体" charset="0"/>
              </a:rPr>
              <a:t>  </a:t>
            </a:r>
          </a:p>
          <a:p>
            <a:pPr eaLnBrk="1">
              <a:lnSpc>
                <a:spcPct val="105000"/>
              </a:lnSpc>
              <a:buFont typeface="Monotype Sorts" charset="2"/>
              <a:buNone/>
            </a:pPr>
            <a:r>
              <a:rPr lang="en-US" altLang="zh-CN" sz="2000">
                <a:solidFill>
                  <a:srgbClr val="FF0000"/>
                </a:solidFill>
                <a:ea typeface="宋体" charset="0"/>
              </a:rPr>
              <a:t>	</a:t>
            </a:r>
            <a:r>
              <a:rPr lang="zh-CN" altLang="en-US" sz="2000">
                <a:solidFill>
                  <a:srgbClr val="FF0000"/>
                </a:solidFill>
                <a:ea typeface="宋体" charset="0"/>
              </a:rPr>
              <a:t>      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int score[50],i;</a:t>
            </a:r>
          </a:p>
          <a:p>
            <a:pPr eaLnBrk="1">
              <a:lnSpc>
                <a:spcPct val="105000"/>
              </a:lnSpc>
              <a:buFont typeface="Monotype Sorts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     	for (i=0;i&lt;50;i++)</a:t>
            </a:r>
          </a:p>
          <a:p>
            <a:pPr eaLnBrk="1">
              <a:lnSpc>
                <a:spcPct val="105000"/>
              </a:lnSpc>
              <a:buFont typeface="Monotype Sorts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      {</a:t>
            </a:r>
          </a:p>
          <a:p>
            <a:pPr eaLnBrk="1">
              <a:lnSpc>
                <a:spcPct val="105000"/>
              </a:lnSpc>
              <a:buFont typeface="Monotype Sorts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           scanf("%d",&amp;score[i]);</a:t>
            </a:r>
          </a:p>
          <a:p>
            <a:pPr eaLnBrk="1">
              <a:lnSpc>
                <a:spcPct val="105000"/>
              </a:lnSpc>
              <a:buFont typeface="Monotype Sorts" charset="2"/>
              <a:buNone/>
            </a:pPr>
            <a:r>
              <a:rPr lang="zh-CN" altLang="en-US" sz="2000">
                <a:solidFill>
                  <a:schemeClr val="accent2"/>
                </a:solidFill>
                <a:latin typeface="Courier New" charset="0"/>
                <a:ea typeface="宋体" charset="0"/>
              </a:rPr>
              <a:t>    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}</a:t>
            </a:r>
          </a:p>
        </p:txBody>
      </p:sp>
      <p:sp>
        <p:nvSpPr>
          <p:cNvPr id="6" name="爆炸形 2 5"/>
          <p:cNvSpPr>
            <a:spLocks noChangeArrowheads="1"/>
          </p:cNvSpPr>
          <p:nvPr/>
        </p:nvSpPr>
        <p:spPr bwMode="auto">
          <a:xfrm>
            <a:off x="6037263" y="4508500"/>
            <a:ext cx="2638425" cy="2016125"/>
          </a:xfrm>
          <a:prstGeom prst="irregularSeal2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385D8A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2000">
                <a:solidFill>
                  <a:srgbClr val="000066"/>
                </a:solidFill>
                <a:latin typeface="Calibri" charset="0"/>
                <a:ea typeface="宋体" charset="0"/>
              </a:rPr>
              <a:t>保存大量同类型的相关数据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EF76-AD0F-AB48-AC4C-E4DF645508CE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28600" y="217488"/>
            <a:ext cx="8785225" cy="299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ctr" eaLnBrk="1" hangingPunct="1"/>
            <a:r>
              <a:rPr kumimoji="1" lang="zh-CN" altLang="en-US" sz="3200">
                <a:solidFill>
                  <a:srgbClr val="A50021"/>
                </a:solidFill>
                <a:ea typeface="宋体" charset="0"/>
              </a:rPr>
              <a:t>数组的概念、定义和使用</a:t>
            </a:r>
          </a:p>
          <a:p>
            <a:pPr eaLnBrk="1" hangingPunct="1"/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数组（</a:t>
            </a:r>
            <a:r>
              <a:rPr kumimoji="1" lang="en-US" altLang="zh-CN">
                <a:solidFill>
                  <a:schemeClr val="tx1"/>
                </a:solidFill>
                <a:ea typeface="宋体" charset="0"/>
              </a:rPr>
              <a:t>array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）是多个</a:t>
            </a:r>
            <a:r>
              <a:rPr kumimoji="1" lang="zh-CN" altLang="en-US" u="sng">
                <a:solidFill>
                  <a:schemeClr val="hlink"/>
                </a:solidFill>
                <a:ea typeface="宋体" charset="0"/>
              </a:rPr>
              <a:t>同类型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数据对象的组合。</a:t>
            </a:r>
          </a:p>
          <a:p>
            <a:pPr eaLnBrk="1" hangingPunct="1"/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一个数组汇集了多个数据项，</a:t>
            </a:r>
            <a:r>
              <a:rPr kumimoji="1" lang="zh-CN" altLang="en-US" u="sng">
                <a:solidFill>
                  <a:schemeClr val="hlink"/>
                </a:solidFill>
                <a:ea typeface="宋体" charset="0"/>
              </a:rPr>
              <a:t>数组元素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。</a:t>
            </a:r>
          </a:p>
          <a:p>
            <a:pPr eaLnBrk="1" hangingPunct="1"/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可从数组出发处理各元素，以统一方式处理一批</a:t>
            </a:r>
            <a:r>
              <a:rPr kumimoji="1" lang="en-US" altLang="zh-CN">
                <a:solidFill>
                  <a:schemeClr val="tx1"/>
                </a:solidFill>
                <a:ea typeface="宋体" charset="0"/>
              </a:rPr>
              <a:t>/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所有元素，是</a:t>
            </a:r>
            <a:r>
              <a:rPr kumimoji="1" lang="zh-CN" altLang="en-US" u="sng">
                <a:solidFill>
                  <a:schemeClr val="hlink"/>
                </a:solidFill>
                <a:ea typeface="宋体" charset="0"/>
              </a:rPr>
              <a:t>数组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和</a:t>
            </a:r>
            <a:r>
              <a:rPr kumimoji="1" lang="zh-CN" altLang="en-US" u="sng">
                <a:solidFill>
                  <a:schemeClr val="hlink"/>
                </a:solidFill>
                <a:ea typeface="宋体" charset="0"/>
              </a:rPr>
              <a:t>一组独立变量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的主要区别。</a:t>
            </a:r>
          </a:p>
        </p:txBody>
      </p:sp>
      <p:sp>
        <p:nvSpPr>
          <p:cNvPr id="318467" name="Text Box 3"/>
          <p:cNvSpPr txBox="1">
            <a:spLocks noChangeArrowheads="1"/>
          </p:cNvSpPr>
          <p:nvPr/>
        </p:nvSpPr>
        <p:spPr bwMode="auto">
          <a:xfrm>
            <a:off x="228600" y="3503613"/>
            <a:ext cx="8686800" cy="218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4163" indent="-284163"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为此需要：</a:t>
            </a:r>
          </a:p>
          <a:p>
            <a:pPr eaLnBrk="1" hangingPunct="1">
              <a:spcBef>
                <a:spcPct val="30000"/>
              </a:spcBef>
              <a:buFontTx/>
              <a:buChar char="•"/>
            </a:pP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数组描述，数组变量定义</a:t>
            </a:r>
          </a:p>
          <a:p>
            <a:pPr eaLnBrk="1" hangingPunct="1">
              <a:spcBef>
                <a:spcPct val="30000"/>
              </a:spcBef>
              <a:buFontTx/>
              <a:buChar char="•"/>
            </a:pP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数组使用，包括通过数组变量使用其元素</a:t>
            </a:r>
          </a:p>
          <a:p>
            <a:pPr eaLnBrk="1" hangingPunct="1">
              <a:spcBef>
                <a:spcPct val="30000"/>
              </a:spcBef>
              <a:buFontTx/>
              <a:buChar char="•"/>
            </a:pP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数组实现，数组的存储方式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F552-65F0-3849-B758-0FDF859E1C28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23850" y="260350"/>
            <a:ext cx="8596313" cy="396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4163" indent="-284163"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rgbClr val="A50021"/>
                </a:solidFill>
                <a:ea typeface="宋体" charset="0"/>
              </a:rPr>
              <a:t>                              数组变量定义</a:t>
            </a:r>
            <a:endParaRPr kumimoji="1" lang="zh-CN" altLang="en-US">
              <a:solidFill>
                <a:srgbClr val="A50021"/>
              </a:solidFill>
              <a:ea typeface="宋体" charset="0"/>
            </a:endParaRPr>
          </a:p>
          <a:p>
            <a:pPr eaLnBrk="1" hangingPunct="1"/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定义数组变量（</a:t>
            </a:r>
            <a:r>
              <a:rPr kumimoji="1" lang="zh-CN" altLang="en-US">
                <a:solidFill>
                  <a:schemeClr val="accent2"/>
                </a:solidFill>
                <a:ea typeface="宋体" charset="0"/>
              </a:rPr>
              <a:t>定义数组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）时需说明：</a:t>
            </a:r>
          </a:p>
          <a:p>
            <a:pPr eaLnBrk="1" hangingPunct="1">
              <a:buFontTx/>
              <a:buChar char="•"/>
            </a:pP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数组元素类型</a:t>
            </a:r>
          </a:p>
          <a:p>
            <a:pPr eaLnBrk="1" hangingPunct="1">
              <a:buFontTx/>
              <a:buChar char="•"/>
            </a:pP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数组（变量）的元素个数</a:t>
            </a:r>
          </a:p>
          <a:p>
            <a:pPr eaLnBrk="1" hangingPunct="1"/>
            <a:r>
              <a:rPr kumimoji="1" lang="zh-CN" altLang="en-US" sz="2400" i="1">
                <a:solidFill>
                  <a:schemeClr val="tx1"/>
                </a:solidFill>
                <a:ea typeface="宋体" charset="0"/>
              </a:rPr>
              <a:t>   </a:t>
            </a:r>
            <a:r>
              <a:rPr kumimoji="1" lang="zh-CN" altLang="en-US" sz="2400" i="1">
                <a:solidFill>
                  <a:schemeClr val="hlink"/>
                </a:solidFill>
                <a:ea typeface="宋体" charset="0"/>
              </a:rPr>
              <a:t>元素个数也称数组</a:t>
            </a:r>
            <a:r>
              <a:rPr kumimoji="1" lang="zh-CN" altLang="en-US" sz="2400" i="1" u="sng">
                <a:solidFill>
                  <a:schemeClr val="accent2"/>
                </a:solidFill>
                <a:ea typeface="宋体" charset="0"/>
              </a:rPr>
              <a:t>大小</a:t>
            </a:r>
            <a:r>
              <a:rPr kumimoji="1" lang="zh-CN" altLang="en-US" sz="2400" i="1">
                <a:solidFill>
                  <a:schemeClr val="hlink"/>
                </a:solidFill>
                <a:ea typeface="宋体" charset="0"/>
              </a:rPr>
              <a:t>或</a:t>
            </a:r>
            <a:r>
              <a:rPr kumimoji="1" lang="zh-CN" altLang="en-US" sz="2400" i="1" u="sng">
                <a:solidFill>
                  <a:schemeClr val="accent2"/>
                </a:solidFill>
                <a:ea typeface="宋体" charset="0"/>
              </a:rPr>
              <a:t>长度</a:t>
            </a:r>
            <a:r>
              <a:rPr kumimoji="1" lang="zh-CN" altLang="en-US" sz="2400" i="1">
                <a:solidFill>
                  <a:schemeClr val="hlink"/>
                </a:solidFill>
                <a:ea typeface="宋体" charset="0"/>
              </a:rPr>
              <a:t>。</a:t>
            </a:r>
          </a:p>
          <a:p>
            <a:pPr eaLnBrk="1" hangingPunct="1"/>
            <a:r>
              <a:rPr kumimoji="1" lang="zh-CN" altLang="en-US" sz="2400" i="1">
                <a:solidFill>
                  <a:schemeClr val="hlink"/>
                </a:solidFill>
                <a:ea typeface="宋体" charset="0"/>
              </a:rPr>
              <a:t>   定义数组变量时，方括号内整型表达式说明元素个数，表达式应用</a:t>
            </a:r>
            <a:r>
              <a:rPr kumimoji="1" lang="zh-CN" altLang="en-US" sz="2400" i="1">
                <a:solidFill>
                  <a:schemeClr val="accent2"/>
                </a:solidFill>
                <a:ea typeface="宋体" charset="0"/>
              </a:rPr>
              <a:t>静态确定值</a:t>
            </a:r>
            <a:r>
              <a:rPr kumimoji="1" lang="zh-CN" altLang="en-US" sz="2400" i="1">
                <a:solidFill>
                  <a:schemeClr val="hlink"/>
                </a:solidFill>
                <a:ea typeface="宋体" charset="0"/>
              </a:rPr>
              <a:t>，可用字面量或枚举常量。</a:t>
            </a:r>
          </a:p>
        </p:txBody>
      </p:sp>
      <p:sp>
        <p:nvSpPr>
          <p:cNvPr id="319491" name="Text Box 3"/>
          <p:cNvSpPr txBox="1">
            <a:spLocks noChangeArrowheads="1"/>
          </p:cNvSpPr>
          <p:nvPr/>
        </p:nvSpPr>
        <p:spPr bwMode="auto">
          <a:xfrm>
            <a:off x="250825" y="4365625"/>
            <a:ext cx="86868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Courier New" charset="0"/>
                <a:ea typeface="宋体" charset="0"/>
              </a:rPr>
              <a:t>例，定义两个数组：</a:t>
            </a:r>
          </a:p>
          <a:p>
            <a:pPr algn="just">
              <a:spcBef>
                <a:spcPct val="2000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Courier New" charset="0"/>
                <a:ea typeface="宋体" charset="0"/>
              </a:rPr>
              <a:t>　　　　</a:t>
            </a:r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int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 a[10];	 float a1[100];</a:t>
            </a:r>
          </a:p>
          <a:p>
            <a:pPr algn="just">
              <a:spcBef>
                <a:spcPct val="2000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Courier New" charset="0"/>
                <a:ea typeface="宋体" charset="0"/>
              </a:rPr>
              <a:t>数组定义可以与其他变量定义写在一起，如：</a:t>
            </a:r>
          </a:p>
          <a:p>
            <a:pPr algn="just">
              <a:spcBef>
                <a:spcPct val="2000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Courier New" charset="0"/>
                <a:ea typeface="宋体" charset="0"/>
              </a:rPr>
              <a:t>　　　　</a:t>
            </a:r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int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 a2[16], n, a3[25], m;</a:t>
            </a:r>
            <a:endParaRPr kumimoji="1" lang="en-US" altLang="zh-CN" sz="2400" b="0" dirty="0">
              <a:solidFill>
                <a:schemeClr val="tx1"/>
              </a:solidFill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1193-FFE4-354F-BA25-CA71DED59991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5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0" y="1196975"/>
            <a:ext cx="8893175" cy="1298575"/>
          </a:xfrm>
        </p:spPr>
        <p:txBody>
          <a:bodyPr lIns="91440" tIns="45720" rIns="91440" bIns="45720"/>
          <a:lstStyle/>
          <a:p>
            <a:pPr eaLnBrk="1">
              <a:buFont typeface="Monotype Sorts" charset="2"/>
              <a:buNone/>
            </a:pPr>
            <a:r>
              <a:rPr lang="zh-CN" altLang="en-US" sz="2400">
                <a:latin typeface="Courier New" charset="0"/>
                <a:ea typeface="宋体" charset="0"/>
              </a:rPr>
              <a:t> 定义</a:t>
            </a:r>
          </a:p>
          <a:p>
            <a:pPr eaLnBrk="1">
              <a:buFont typeface="Monotype Sorts" charset="2"/>
              <a:buNone/>
            </a:pPr>
            <a:r>
              <a:rPr lang="zh-CN" altLang="en-US" sz="2400">
                <a:latin typeface="Courier New" charset="0"/>
                <a:ea typeface="宋体" charset="0"/>
              </a:rPr>
              <a:t> </a:t>
            </a:r>
            <a:r>
              <a:rPr lang="zh-CN" altLang="en-US" sz="2400">
                <a:solidFill>
                  <a:schemeClr val="accent2"/>
                </a:solidFill>
                <a:latin typeface="Courier New" charset="0"/>
                <a:ea typeface="宋体" charset="0"/>
              </a:rPr>
              <a:t>存储类型</a:t>
            </a:r>
            <a:r>
              <a:rPr lang="zh-CN" altLang="en-US" sz="2400">
                <a:latin typeface="Courier New" charset="0"/>
                <a:ea typeface="宋体" charset="0"/>
              </a:rPr>
              <a:t> </a:t>
            </a:r>
            <a:r>
              <a:rPr lang="zh-CN" altLang="en-US" sz="2400">
                <a:solidFill>
                  <a:srgbClr val="880000"/>
                </a:solidFill>
                <a:latin typeface="Courier New" charset="0"/>
                <a:ea typeface="宋体" charset="0"/>
              </a:rPr>
              <a:t>数据类型</a:t>
            </a:r>
            <a:r>
              <a:rPr lang="zh-CN" altLang="en-US" sz="2400">
                <a:latin typeface="Courier New" charset="0"/>
                <a:ea typeface="宋体" charset="0"/>
              </a:rPr>
              <a:t> 数组名 </a:t>
            </a:r>
            <a:r>
              <a:rPr lang="en-US" altLang="zh-CN" sz="2400">
                <a:latin typeface="Courier New" charset="0"/>
                <a:ea typeface="宋体" charset="0"/>
              </a:rPr>
              <a:t>[</a:t>
            </a:r>
            <a:r>
              <a:rPr lang="zh-CN" altLang="en-US" sz="2400">
                <a:latin typeface="Courier New" charset="0"/>
                <a:ea typeface="宋体" charset="0"/>
              </a:rPr>
              <a:t>整数</a:t>
            </a:r>
            <a:r>
              <a:rPr lang="en-US" altLang="zh-CN" sz="2400">
                <a:latin typeface="Courier New" charset="0"/>
                <a:ea typeface="宋体" charset="0"/>
              </a:rPr>
              <a:t>1] [</a:t>
            </a:r>
            <a:r>
              <a:rPr lang="zh-CN" altLang="en-US" sz="2400">
                <a:latin typeface="Courier New" charset="0"/>
                <a:ea typeface="宋体" charset="0"/>
              </a:rPr>
              <a:t>整数</a:t>
            </a:r>
            <a:r>
              <a:rPr lang="en-US" altLang="zh-CN" sz="2400">
                <a:latin typeface="Courier New" charset="0"/>
                <a:ea typeface="宋体" charset="0"/>
              </a:rPr>
              <a:t>2] …… [</a:t>
            </a:r>
            <a:r>
              <a:rPr lang="zh-CN" altLang="en-US" sz="2400">
                <a:latin typeface="Courier New" charset="0"/>
                <a:ea typeface="宋体" charset="0"/>
              </a:rPr>
              <a:t>整数</a:t>
            </a:r>
            <a:r>
              <a:rPr lang="en-US" altLang="zh-CN" sz="2400">
                <a:latin typeface="Courier New" charset="0"/>
                <a:ea typeface="宋体" charset="0"/>
              </a:rPr>
              <a:t>n];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729413" y="5994400"/>
            <a:ext cx="2093912" cy="665163"/>
            <a:chOff x="4080" y="1989"/>
            <a:chExt cx="1453" cy="603"/>
          </a:xfrm>
        </p:grpSpPr>
        <p:sp>
          <p:nvSpPr>
            <p:cNvPr id="11294" name="Text Box 9"/>
            <p:cNvSpPr txBox="1">
              <a:spLocks noChangeArrowheads="1"/>
            </p:cNvSpPr>
            <p:nvPr/>
          </p:nvSpPr>
          <p:spPr bwMode="auto">
            <a:xfrm>
              <a:off x="4080" y="1989"/>
              <a:ext cx="568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CN">
                  <a:solidFill>
                    <a:schemeClr val="tx2"/>
                  </a:solidFill>
                  <a:latin typeface="Arial" charset="0"/>
                  <a:ea typeface="宋体" charset="0"/>
                </a:rPr>
                <a:t>a[9]</a:t>
              </a:r>
            </a:p>
          </p:txBody>
        </p:sp>
        <p:grpSp>
          <p:nvGrpSpPr>
            <p:cNvPr id="11295" name="Group 10"/>
            <p:cNvGrpSpPr>
              <a:grpSpLocks/>
            </p:cNvGrpSpPr>
            <p:nvPr/>
          </p:nvGrpSpPr>
          <p:grpSpPr bwMode="auto">
            <a:xfrm>
              <a:off x="4592" y="1989"/>
              <a:ext cx="941" cy="603"/>
              <a:chOff x="3408" y="1248"/>
              <a:chExt cx="941" cy="603"/>
            </a:xfrm>
          </p:grpSpPr>
          <p:pic>
            <p:nvPicPr>
              <p:cNvPr id="11296" name="Picture 11" descr="closedoor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1248"/>
                <a:ext cx="461" cy="6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97" name="Picture 12" descr="closedoor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88" y="1248"/>
                <a:ext cx="461" cy="6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6729413" y="5284788"/>
            <a:ext cx="2093912" cy="665162"/>
            <a:chOff x="3840" y="2229"/>
            <a:chExt cx="1453" cy="603"/>
          </a:xfrm>
        </p:grpSpPr>
        <p:sp>
          <p:nvSpPr>
            <p:cNvPr id="11290" name="Text Box 14"/>
            <p:cNvSpPr txBox="1">
              <a:spLocks noChangeArrowheads="1"/>
            </p:cNvSpPr>
            <p:nvPr/>
          </p:nvSpPr>
          <p:spPr bwMode="auto">
            <a:xfrm>
              <a:off x="3840" y="2261"/>
              <a:ext cx="568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CN">
                  <a:solidFill>
                    <a:schemeClr val="tx2"/>
                  </a:solidFill>
                  <a:latin typeface="Arial" charset="0"/>
                  <a:ea typeface="宋体" charset="0"/>
                </a:rPr>
                <a:t>a[8]</a:t>
              </a:r>
            </a:p>
          </p:txBody>
        </p:sp>
        <p:grpSp>
          <p:nvGrpSpPr>
            <p:cNvPr id="11291" name="Group 15"/>
            <p:cNvGrpSpPr>
              <a:grpSpLocks/>
            </p:cNvGrpSpPr>
            <p:nvPr/>
          </p:nvGrpSpPr>
          <p:grpSpPr bwMode="auto">
            <a:xfrm>
              <a:off x="4352" y="2229"/>
              <a:ext cx="941" cy="603"/>
              <a:chOff x="3408" y="1248"/>
              <a:chExt cx="941" cy="603"/>
            </a:xfrm>
          </p:grpSpPr>
          <p:pic>
            <p:nvPicPr>
              <p:cNvPr id="11292" name="Picture 16" descr="closedoor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1248"/>
                <a:ext cx="461" cy="6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93" name="Picture 17" descr="closedoor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88" y="1248"/>
                <a:ext cx="461" cy="6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6740525" y="4578350"/>
            <a:ext cx="2082800" cy="665163"/>
            <a:chOff x="3559" y="2469"/>
            <a:chExt cx="1446" cy="603"/>
          </a:xfrm>
        </p:grpSpPr>
        <p:sp>
          <p:nvSpPr>
            <p:cNvPr id="11286" name="Text Box 19"/>
            <p:cNvSpPr txBox="1">
              <a:spLocks noChangeArrowheads="1"/>
            </p:cNvSpPr>
            <p:nvPr/>
          </p:nvSpPr>
          <p:spPr bwMode="auto">
            <a:xfrm>
              <a:off x="3559" y="2501"/>
              <a:ext cx="569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CN">
                  <a:solidFill>
                    <a:schemeClr val="tx2"/>
                  </a:solidFill>
                  <a:latin typeface="Arial" charset="0"/>
                  <a:ea typeface="宋体" charset="0"/>
                </a:rPr>
                <a:t>a[7]</a:t>
              </a:r>
            </a:p>
          </p:txBody>
        </p:sp>
        <p:grpSp>
          <p:nvGrpSpPr>
            <p:cNvPr id="11287" name="Group 20"/>
            <p:cNvGrpSpPr>
              <a:grpSpLocks/>
            </p:cNvGrpSpPr>
            <p:nvPr/>
          </p:nvGrpSpPr>
          <p:grpSpPr bwMode="auto">
            <a:xfrm>
              <a:off x="4064" y="2469"/>
              <a:ext cx="941" cy="603"/>
              <a:chOff x="3408" y="1248"/>
              <a:chExt cx="941" cy="603"/>
            </a:xfrm>
          </p:grpSpPr>
          <p:pic>
            <p:nvPicPr>
              <p:cNvPr id="11288" name="Picture 21" descr="closedoor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1248"/>
                <a:ext cx="461" cy="6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89" name="Picture 22" descr="closedoor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88" y="1248"/>
                <a:ext cx="461" cy="6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6653213" y="3603625"/>
            <a:ext cx="2162175" cy="733425"/>
            <a:chOff x="2496" y="3356"/>
            <a:chExt cx="1501" cy="664"/>
          </a:xfrm>
        </p:grpSpPr>
        <p:sp>
          <p:nvSpPr>
            <p:cNvPr id="11282" name="Text Box 24"/>
            <p:cNvSpPr txBox="1">
              <a:spLocks noChangeArrowheads="1"/>
            </p:cNvSpPr>
            <p:nvPr/>
          </p:nvSpPr>
          <p:spPr bwMode="auto">
            <a:xfrm>
              <a:off x="2496" y="3356"/>
              <a:ext cx="569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CN">
                  <a:solidFill>
                    <a:schemeClr val="tx2"/>
                  </a:solidFill>
                  <a:latin typeface="Arial" charset="0"/>
                  <a:ea typeface="宋体" charset="0"/>
                </a:rPr>
                <a:t>a[1]</a:t>
              </a:r>
            </a:p>
          </p:txBody>
        </p:sp>
        <p:grpSp>
          <p:nvGrpSpPr>
            <p:cNvPr id="11283" name="Group 25"/>
            <p:cNvGrpSpPr>
              <a:grpSpLocks/>
            </p:cNvGrpSpPr>
            <p:nvPr/>
          </p:nvGrpSpPr>
          <p:grpSpPr bwMode="auto">
            <a:xfrm>
              <a:off x="3056" y="3417"/>
              <a:ext cx="941" cy="603"/>
              <a:chOff x="3408" y="1248"/>
              <a:chExt cx="941" cy="603"/>
            </a:xfrm>
          </p:grpSpPr>
          <p:pic>
            <p:nvPicPr>
              <p:cNvPr id="11284" name="Picture 26" descr="closedoor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1248"/>
                <a:ext cx="461" cy="6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85" name="Picture 27" descr="closedoor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88" y="1248"/>
                <a:ext cx="461" cy="6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6704013" y="2967038"/>
            <a:ext cx="2116137" cy="665162"/>
            <a:chOff x="2096" y="3669"/>
            <a:chExt cx="1469" cy="603"/>
          </a:xfrm>
        </p:grpSpPr>
        <p:sp>
          <p:nvSpPr>
            <p:cNvPr id="11278" name="Text Box 29"/>
            <p:cNvSpPr txBox="1">
              <a:spLocks noChangeArrowheads="1"/>
            </p:cNvSpPr>
            <p:nvPr/>
          </p:nvSpPr>
          <p:spPr bwMode="auto">
            <a:xfrm>
              <a:off x="2096" y="3750"/>
              <a:ext cx="569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CN">
                  <a:solidFill>
                    <a:schemeClr val="tx2"/>
                  </a:solidFill>
                  <a:latin typeface="Arial" charset="0"/>
                  <a:ea typeface="宋体" charset="0"/>
                </a:rPr>
                <a:t>a[0]</a:t>
              </a:r>
            </a:p>
          </p:txBody>
        </p:sp>
        <p:grpSp>
          <p:nvGrpSpPr>
            <p:cNvPr id="11279" name="Group 30"/>
            <p:cNvGrpSpPr>
              <a:grpSpLocks/>
            </p:cNvGrpSpPr>
            <p:nvPr/>
          </p:nvGrpSpPr>
          <p:grpSpPr bwMode="auto">
            <a:xfrm>
              <a:off x="2624" y="3669"/>
              <a:ext cx="941" cy="603"/>
              <a:chOff x="3408" y="1248"/>
              <a:chExt cx="941" cy="603"/>
            </a:xfrm>
          </p:grpSpPr>
          <p:pic>
            <p:nvPicPr>
              <p:cNvPr id="11280" name="Picture 31" descr="closedoor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1248"/>
                <a:ext cx="461" cy="6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81" name="Picture 32" descr="closedoor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88" y="1248"/>
                <a:ext cx="461" cy="6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77185" name="Text Box 33"/>
          <p:cNvSpPr txBox="1">
            <a:spLocks noChangeArrowheads="1"/>
          </p:cNvSpPr>
          <p:nvPr/>
        </p:nvSpPr>
        <p:spPr bwMode="auto">
          <a:xfrm>
            <a:off x="7739063" y="3919538"/>
            <a:ext cx="7429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 sz="4400">
                <a:solidFill>
                  <a:schemeClr val="tx1"/>
                </a:solidFill>
                <a:latin typeface="Arial" charset="0"/>
                <a:ea typeface="宋体" charset="0"/>
              </a:rPr>
              <a:t>…</a:t>
            </a:r>
          </a:p>
        </p:txBody>
      </p:sp>
      <p:grpSp>
        <p:nvGrpSpPr>
          <p:cNvPr id="341022" name="Group 30"/>
          <p:cNvGrpSpPr>
            <a:grpSpLocks/>
          </p:cNvGrpSpPr>
          <p:nvPr/>
        </p:nvGrpSpPr>
        <p:grpSpPr bwMode="auto">
          <a:xfrm>
            <a:off x="5378450" y="1484313"/>
            <a:ext cx="2073275" cy="1011237"/>
            <a:chOff x="240" y="2688"/>
            <a:chExt cx="1488" cy="864"/>
          </a:xfrm>
        </p:grpSpPr>
        <p:sp>
          <p:nvSpPr>
            <p:cNvPr id="11276" name="AutoShape 31"/>
            <p:cNvSpPr>
              <a:spLocks noChangeArrowheads="1"/>
            </p:cNvSpPr>
            <p:nvPr/>
          </p:nvSpPr>
          <p:spPr bwMode="auto">
            <a:xfrm>
              <a:off x="240" y="2688"/>
              <a:ext cx="1488" cy="864"/>
            </a:xfrm>
            <a:prstGeom prst="cloudCallout">
              <a:avLst>
                <a:gd name="adj1" fmla="val 47176"/>
                <a:gd name="adj2" fmla="val 86227"/>
              </a:avLst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kumimoji="1" lang="zh-CN" altLang="en-US" sz="2400" i="1">
                <a:solidFill>
                  <a:schemeClr val="bg2"/>
                </a:solidFill>
                <a:ea typeface="宋体" charset="0"/>
              </a:endParaRPr>
            </a:p>
          </p:txBody>
        </p:sp>
        <p:sp>
          <p:nvSpPr>
            <p:cNvPr id="11277" name="Text Box 32"/>
            <p:cNvSpPr txBox="1">
              <a:spLocks noChangeArrowheads="1"/>
            </p:cNvSpPr>
            <p:nvPr/>
          </p:nvSpPr>
          <p:spPr bwMode="auto">
            <a:xfrm>
              <a:off x="288" y="2946"/>
              <a:ext cx="1231" cy="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C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zh-CN" altLang="en-US" sz="2400" i="1">
                  <a:solidFill>
                    <a:schemeClr val="bg1"/>
                  </a:solidFill>
                  <a:ea typeface="宋体" charset="0"/>
                </a:rPr>
                <a:t>数组首地址</a:t>
              </a:r>
              <a:endParaRPr kumimoji="1" lang="zh-CN" altLang="en-US" sz="2400">
                <a:solidFill>
                  <a:schemeClr val="bg1"/>
                </a:solidFill>
                <a:ea typeface="宋体" charset="0"/>
              </a:endParaRPr>
            </a:p>
          </p:txBody>
        </p:sp>
      </p:grpSp>
      <p:sp>
        <p:nvSpPr>
          <p:cNvPr id="341025" name="Rectangle 3"/>
          <p:cNvSpPr>
            <a:spLocks noChangeArrowheads="1"/>
          </p:cNvSpPr>
          <p:nvPr/>
        </p:nvSpPr>
        <p:spPr bwMode="auto">
          <a:xfrm>
            <a:off x="179388" y="2060575"/>
            <a:ext cx="6408737" cy="396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74650" indent="-374650"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85090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ctr" eaLnBrk="1">
              <a:lnSpc>
                <a:spcPct val="12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int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 a[10];</a:t>
            </a:r>
          </a:p>
          <a:p>
            <a:pPr eaLnBrk="1">
              <a:lnSpc>
                <a:spcPct val="12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Char char=""/>
            </a:pP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定义一个有</a:t>
            </a: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10</a:t>
            </a: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个</a:t>
            </a:r>
            <a:r>
              <a:rPr lang="en-US" altLang="zh-CN"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int</a:t>
            </a: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型元素的数组</a:t>
            </a:r>
            <a:endParaRPr lang="en-US" altLang="zh-CN" sz="240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charset="0"/>
              <a:ea typeface="宋体" charset="0"/>
            </a:endParaRPr>
          </a:p>
          <a:p>
            <a:pPr lvl="1" eaLnBrk="1">
              <a:lnSpc>
                <a:spcPct val="125000"/>
              </a:lnSpc>
              <a:spcBef>
                <a:spcPct val="20000"/>
              </a:spcBef>
              <a:buClr>
                <a:srgbClr val="FFCC66"/>
              </a:buClr>
              <a:buSzPct val="115000"/>
              <a:buFontTx/>
              <a:buChar char="–"/>
            </a:pPr>
            <a:r>
              <a:rPr lang="zh-CN" altLang="en-US" sz="2000">
                <a:solidFill>
                  <a:srgbClr val="CC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系统会在内存分配连续的</a:t>
            </a:r>
            <a:r>
              <a:rPr lang="en-US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10</a:t>
            </a:r>
            <a:r>
              <a:rPr lang="zh-CN" altLang="en-US" sz="2000">
                <a:solidFill>
                  <a:srgbClr val="CC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个</a:t>
            </a:r>
            <a:r>
              <a:rPr lang="en-US" altLang="zh-CN"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int</a:t>
            </a:r>
            <a:r>
              <a:rPr lang="zh-CN" altLang="en-US" sz="2000">
                <a:solidFill>
                  <a:srgbClr val="CC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空间给此数组</a:t>
            </a:r>
          </a:p>
          <a:p>
            <a:pPr eaLnBrk="1">
              <a:lnSpc>
                <a:spcPct val="12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Char char=""/>
            </a:pP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直接对</a:t>
            </a: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a</a:t>
            </a: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的访问，就是访问此数组的首地址</a:t>
            </a:r>
          </a:p>
          <a:p>
            <a:pPr eaLnBrk="1">
              <a:lnSpc>
                <a:spcPct val="12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Char char=""/>
            </a:pP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使用</a:t>
            </a: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a[0]</a:t>
            </a: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、</a:t>
            </a: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a[1]</a:t>
            </a: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、</a:t>
            </a: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a[2]</a:t>
            </a: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、</a:t>
            </a: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……</a:t>
            </a: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、</a:t>
            </a: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a[9]</a:t>
            </a: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这样的形式访问每个元素。可以像使用普通变量一样使用他们。</a:t>
            </a:r>
            <a:endParaRPr lang="en-US" altLang="zh-CN" sz="240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charset="0"/>
              <a:ea typeface="宋体" charset="0"/>
            </a:endParaRPr>
          </a:p>
          <a:p>
            <a:pPr eaLnBrk="1">
              <a:lnSpc>
                <a:spcPct val="12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Char char=""/>
            </a:pPr>
            <a:endParaRPr lang="en-US" altLang="zh-CN" sz="2400">
              <a:solidFill>
                <a:srgbClr val="3366FF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charset="0"/>
            </a:endParaRPr>
          </a:p>
        </p:txBody>
      </p:sp>
      <p:sp>
        <p:nvSpPr>
          <p:cNvPr id="11275" name="Rectangle 34"/>
          <p:cNvSpPr>
            <a:spLocks noChangeArrowheads="1"/>
          </p:cNvSpPr>
          <p:nvPr/>
        </p:nvSpPr>
        <p:spPr bwMode="auto">
          <a:xfrm>
            <a:off x="2484438" y="404813"/>
            <a:ext cx="3556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kumimoji="1" lang="zh-CN" altLang="en-US" sz="3200">
                <a:solidFill>
                  <a:srgbClr val="A50021"/>
                </a:solidFill>
                <a:ea typeface="宋体" charset="0"/>
              </a:rPr>
              <a:t>数组</a:t>
            </a:r>
            <a:r>
              <a:rPr kumimoji="1" lang="en-US" altLang="zh-CN" sz="3200">
                <a:solidFill>
                  <a:srgbClr val="A50021"/>
                </a:solidFill>
                <a:ea typeface="宋体" charset="0"/>
              </a:rPr>
              <a:t>(Array)</a:t>
            </a:r>
            <a:r>
              <a:rPr kumimoji="1" lang="zh-CN" altLang="en-US" sz="3200">
                <a:solidFill>
                  <a:srgbClr val="A50021"/>
                </a:solidFill>
                <a:ea typeface="宋体" charset="0"/>
              </a:rPr>
              <a:t>的实现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A8B0-922C-2F40-A72E-F9B25CC3DAC8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4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4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410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8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052513"/>
            <a:ext cx="7772400" cy="1584325"/>
          </a:xfrm>
        </p:spPr>
        <p:txBody>
          <a:bodyPr/>
          <a:lstStyle/>
          <a:p>
            <a:pPr eaLnBrk="1"/>
            <a:r>
              <a:rPr lang="zh-CN" altLang="en-US" sz="2400" dirty="0">
                <a:ea typeface="宋体" charset="0"/>
              </a:rPr>
              <a:t>数组大小最好用宏来定义，以适应未来可能的变化</a:t>
            </a:r>
            <a:endParaRPr lang="en-US" altLang="zh-CN" sz="2400" dirty="0">
              <a:solidFill>
                <a:srgbClr val="000000"/>
              </a:solidFill>
              <a:latin typeface="Courier New" charset="0"/>
              <a:ea typeface="宋体" charset="0"/>
            </a:endParaRPr>
          </a:p>
          <a:p>
            <a:pPr lvl="1" eaLnBrk="1"/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#define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  <a:ea typeface="宋体" charset="0"/>
              </a:rPr>
              <a:t> SIZE 10</a:t>
            </a:r>
            <a:br>
              <a:rPr lang="en-US" altLang="zh-CN" dirty="0">
                <a:solidFill>
                  <a:srgbClr val="000000"/>
                </a:solidFill>
                <a:latin typeface="Courier New" charset="0"/>
                <a:ea typeface="宋体" charset="0"/>
              </a:rPr>
            </a:br>
            <a:r>
              <a:rPr lang="en-US" altLang="zh-CN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  <a:ea typeface="宋体" charset="0"/>
              </a:rPr>
              <a:t> a[SIZE];</a:t>
            </a:r>
          </a:p>
          <a:p>
            <a:pPr lvl="1" eaLnBrk="1">
              <a:buFontTx/>
              <a:buNone/>
            </a:pPr>
            <a:r>
              <a:rPr lang="zh-CN" altLang="en-US" dirty="0">
                <a:ea typeface="宋体" charset="0"/>
              </a:rPr>
              <a:t>数组大小定义好后，将永远不变</a:t>
            </a:r>
          </a:p>
        </p:txBody>
      </p:sp>
      <p:sp>
        <p:nvSpPr>
          <p:cNvPr id="330756" name="Rectangle 4"/>
          <p:cNvSpPr>
            <a:spLocks noChangeArrowheads="1"/>
          </p:cNvSpPr>
          <p:nvPr/>
        </p:nvSpPr>
        <p:spPr bwMode="auto">
          <a:xfrm>
            <a:off x="2843808" y="2644230"/>
            <a:ext cx="3527425" cy="315277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#</a:t>
            </a:r>
            <a:r>
              <a:rPr lang="en-US" altLang="zh-CN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include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&lt;stdio.h&gt;</a:t>
            </a:r>
          </a:p>
          <a:p>
            <a:pPr>
              <a:defRPr/>
            </a:pPr>
            <a:r>
              <a:rPr lang="en-US" altLang="zh-CN"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#define</a:t>
            </a:r>
            <a:r>
              <a:rPr lang="en-US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SIZE 10</a:t>
            </a:r>
            <a:endParaRPr lang="en-US" altLang="zh-CN" sz="200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  <a:p>
            <a:pPr>
              <a:defRPr/>
            </a:pPr>
            <a:r>
              <a:rPr lang="fr-FR" altLang="zh-CN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main</a:t>
            </a:r>
            <a:r>
              <a:rPr lang="fr-FR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()</a:t>
            </a:r>
          </a:p>
          <a:p>
            <a:pPr>
              <a:defRPr/>
            </a:pPr>
            <a:r>
              <a:rPr lang="fr-FR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{</a:t>
            </a:r>
          </a:p>
          <a:p>
            <a:pPr>
              <a:defRPr/>
            </a:pPr>
            <a:r>
              <a:rPr lang="fr-FR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en-US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a[SIZE];</a:t>
            </a:r>
            <a:endParaRPr lang="fr-FR" altLang="zh-CN" sz="20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  <a:p>
            <a:pPr>
              <a:defRPr/>
            </a:pPr>
            <a:r>
              <a:rPr lang="fr-FR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	</a:t>
            </a:r>
            <a:r>
              <a:rPr lang="fr-FR" altLang="zh-CN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……</a:t>
            </a:r>
            <a:endParaRPr lang="fr-FR" altLang="zh-CN" sz="20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  <a:p>
            <a:pPr>
              <a:defRPr/>
            </a:pPr>
            <a:r>
              <a:rPr lang="fr-FR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}</a:t>
            </a:r>
            <a:endParaRPr lang="zh-CN" altLang="en-US" sz="20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C5FEA-C648-EC46-A7C1-7881CFB11786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9" name="Text Box 3"/>
          <p:cNvSpPr txBox="1">
            <a:spLocks noChangeArrowheads="1"/>
          </p:cNvSpPr>
          <p:nvPr/>
        </p:nvSpPr>
        <p:spPr bwMode="auto">
          <a:xfrm>
            <a:off x="301647" y="1038225"/>
            <a:ext cx="8686800" cy="239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just">
              <a:spcBef>
                <a:spcPct val="4000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Courier New" charset="0"/>
                <a:ea typeface="宋体" charset="0"/>
              </a:rPr>
              <a:t>下面函数里数组定义不合法：</a:t>
            </a:r>
          </a:p>
          <a:p>
            <a:pPr algn="just">
              <a:spcBef>
                <a:spcPct val="40000"/>
              </a:spcBef>
            </a:pP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void f(</a:t>
            </a:r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int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 m, </a:t>
            </a:r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int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 </a:t>
            </a:r>
            <a:r>
              <a:rPr kumimoji="1" lang="en-US" altLang="zh-CN" dirty="0">
                <a:solidFill>
                  <a:srgbClr val="0066FF"/>
                </a:solidFill>
                <a:latin typeface="Courier New" charset="0"/>
                <a:ea typeface="宋体" charset="0"/>
              </a:rPr>
              <a:t>n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) {</a:t>
            </a:r>
          </a:p>
          <a:p>
            <a:pPr algn="just">
              <a:spcBef>
                <a:spcPct val="0"/>
              </a:spcBef>
            </a:pP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    </a:t>
            </a:r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int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 b[</a:t>
            </a:r>
            <a:r>
              <a:rPr kumimoji="1" lang="en-US" altLang="zh-CN" dirty="0">
                <a:solidFill>
                  <a:srgbClr val="0066FF"/>
                </a:solidFill>
                <a:latin typeface="Courier New" charset="0"/>
                <a:ea typeface="宋体" charset="0"/>
              </a:rPr>
              <a:t>n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]; /*</a:t>
            </a:r>
            <a:r>
              <a:rPr kumimoji="1" lang="zh-CN" altLang="en-US" dirty="0">
                <a:solidFill>
                  <a:schemeClr val="tx1"/>
                </a:solidFill>
                <a:latin typeface="Courier New" charset="0"/>
                <a:ea typeface="宋体" charset="0"/>
              </a:rPr>
              <a:t>非法，编译时无法确定大小*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/</a:t>
            </a:r>
          </a:p>
          <a:p>
            <a:pPr algn="just">
              <a:spcBef>
                <a:spcPct val="0"/>
              </a:spcBef>
            </a:pP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    ....</a:t>
            </a:r>
          </a:p>
          <a:p>
            <a:pPr>
              <a:spcBef>
                <a:spcPct val="0"/>
              </a:spcBef>
            </a:pP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}	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362331" y="4221088"/>
            <a:ext cx="8601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just"/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新 </a:t>
            </a:r>
            <a:r>
              <a:rPr kumimoji="1" lang="en-US" altLang="zh-CN">
                <a:solidFill>
                  <a:schemeClr val="tx1"/>
                </a:solidFill>
                <a:ea typeface="宋体" charset="0"/>
              </a:rPr>
              <a:t>C99 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标准支持这种定义，满足 </a:t>
            </a:r>
            <a:r>
              <a:rPr kumimoji="1" lang="en-US" altLang="zh-CN">
                <a:solidFill>
                  <a:schemeClr val="tx1"/>
                </a:solidFill>
                <a:ea typeface="宋体" charset="0"/>
              </a:rPr>
              <a:t>C99 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的编译器很少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05E15-86B7-3549-A941-55F2C50321CB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内容占位符 6"/>
          <p:cNvSpPr>
            <a:spLocks noGrp="1"/>
          </p:cNvSpPr>
          <p:nvPr>
            <p:ph idx="4294967295"/>
          </p:nvPr>
        </p:nvSpPr>
        <p:spPr>
          <a:xfrm>
            <a:off x="0" y="1125538"/>
            <a:ext cx="8572500" cy="1400175"/>
          </a:xfrm>
        </p:spPr>
        <p:txBody>
          <a:bodyPr lIns="91440" tIns="45720" rIns="91440" bIns="45720">
            <a:normAutofit fontScale="92500" lnSpcReduction="20000"/>
          </a:bodyPr>
          <a:lstStyle/>
          <a:p>
            <a:pPr eaLnBrk="1"/>
            <a:r>
              <a:rPr lang="zh-CN" altLang="en-US" sz="2400">
                <a:latin typeface="Courier New" charset="0"/>
                <a:ea typeface="楷体_GB2312" charset="0"/>
              </a:rPr>
              <a:t>根据数组的</a:t>
            </a:r>
            <a:r>
              <a:rPr lang="zh-CN" altLang="en-US" sz="2400">
                <a:solidFill>
                  <a:srgbClr val="FF0000"/>
                </a:solidFill>
                <a:latin typeface="Courier New" charset="0"/>
                <a:ea typeface="楷体_GB2312" charset="0"/>
              </a:rPr>
              <a:t>数据类型</a:t>
            </a:r>
            <a:r>
              <a:rPr lang="zh-CN" altLang="en-US" sz="2400">
                <a:latin typeface="Courier New" charset="0"/>
                <a:ea typeface="楷体_GB2312" charset="0"/>
              </a:rPr>
              <a:t>，为每一元素安排相同长度的存储单元</a:t>
            </a:r>
          </a:p>
          <a:p>
            <a:pPr eaLnBrk="1"/>
            <a:r>
              <a:rPr lang="zh-CN" altLang="en-US" sz="2400">
                <a:latin typeface="Courier New" charset="0"/>
                <a:ea typeface="楷体_GB2312" charset="0"/>
              </a:rPr>
              <a:t>根据数组的</a:t>
            </a:r>
            <a:r>
              <a:rPr lang="zh-CN" altLang="en-US" sz="2400">
                <a:solidFill>
                  <a:srgbClr val="FF0000"/>
                </a:solidFill>
                <a:latin typeface="Courier New" charset="0"/>
                <a:ea typeface="楷体_GB2312" charset="0"/>
              </a:rPr>
              <a:t>存储类型</a:t>
            </a:r>
            <a:r>
              <a:rPr lang="zh-CN" altLang="en-US" sz="2400">
                <a:latin typeface="Courier New" charset="0"/>
                <a:ea typeface="楷体_GB2312" charset="0"/>
              </a:rPr>
              <a:t>，将其安排在内存的动态、静态存储区或寄存器区</a:t>
            </a:r>
          </a:p>
          <a:p>
            <a:pPr eaLnBrk="1"/>
            <a:r>
              <a:rPr lang="zh-CN" altLang="en-US" sz="2400">
                <a:latin typeface="Courier New" charset="0"/>
                <a:ea typeface="楷体_GB2312" charset="0"/>
              </a:rPr>
              <a:t>用</a:t>
            </a:r>
            <a:r>
              <a:rPr lang="en-US" altLang="zh-CN" sz="2400">
                <a:solidFill>
                  <a:srgbClr val="0000FF"/>
                </a:solidFill>
                <a:latin typeface="Courier New" charset="0"/>
                <a:ea typeface="楷体_GB2312" charset="0"/>
              </a:rPr>
              <a:t>sizeof</a:t>
            </a:r>
            <a:r>
              <a:rPr lang="en-US" altLang="zh-CN" sz="2400">
                <a:latin typeface="Courier New" charset="0"/>
                <a:ea typeface="楷体_GB2312" charset="0"/>
              </a:rPr>
              <a:t>(a)</a:t>
            </a:r>
            <a:r>
              <a:rPr lang="zh-CN" altLang="en-US" sz="2400">
                <a:latin typeface="Courier New" charset="0"/>
                <a:ea typeface="楷体_GB2312" charset="0"/>
              </a:rPr>
              <a:t>来获得数组</a:t>
            </a:r>
            <a:r>
              <a:rPr lang="en-US" altLang="zh-CN" sz="2400">
                <a:latin typeface="Courier New" charset="0"/>
                <a:ea typeface="楷体_GB2312" charset="0"/>
              </a:rPr>
              <a:t>a</a:t>
            </a:r>
            <a:r>
              <a:rPr lang="zh-CN" altLang="en-US" sz="2400">
                <a:latin typeface="Courier New" charset="0"/>
                <a:ea typeface="楷体_GB2312" charset="0"/>
              </a:rPr>
              <a:t>所占字节数</a:t>
            </a:r>
          </a:p>
        </p:txBody>
      </p:sp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971550" y="3559175"/>
            <a:ext cx="7488238" cy="3027363"/>
            <a:chOff x="612" y="2143"/>
            <a:chExt cx="4717" cy="1907"/>
          </a:xfrm>
        </p:grpSpPr>
        <p:pic>
          <p:nvPicPr>
            <p:cNvPr id="14348" name="Picture 4" descr="数组存储结构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2143"/>
              <a:ext cx="4717" cy="1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5093" name="Rectangle 5"/>
            <p:cNvSpPr>
              <a:spLocks noChangeArrowheads="1"/>
            </p:cNvSpPr>
            <p:nvPr/>
          </p:nvSpPr>
          <p:spPr bwMode="auto">
            <a:xfrm>
              <a:off x="1247" y="2269"/>
              <a:ext cx="182" cy="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345094" name="Text Box 6"/>
            <p:cNvSpPr txBox="1">
              <a:spLocks noChangeArrowheads="1"/>
            </p:cNvSpPr>
            <p:nvPr/>
          </p:nvSpPr>
          <p:spPr bwMode="auto">
            <a:xfrm>
              <a:off x="993" y="2251"/>
              <a:ext cx="6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6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宋体" pitchFamily="2" charset="-122"/>
                </a:rPr>
                <a:t>short</a:t>
              </a:r>
            </a:p>
          </p:txBody>
        </p:sp>
      </p:grpSp>
      <p:sp>
        <p:nvSpPr>
          <p:cNvPr id="14340" name="Rectangle 6"/>
          <p:cNvSpPr>
            <a:spLocks noChangeArrowheads="1"/>
          </p:cNvSpPr>
          <p:nvPr/>
        </p:nvSpPr>
        <p:spPr bwMode="auto">
          <a:xfrm>
            <a:off x="838200" y="3500438"/>
            <a:ext cx="4886325" cy="3097212"/>
          </a:xfrm>
          <a:prstGeom prst="rect">
            <a:avLst/>
          </a:prstGeom>
          <a:solidFill>
            <a:srgbClr val="CCFFFF">
              <a:alpha val="14117"/>
            </a:srgbClr>
          </a:solidFill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zh-CN" altLang="en-US" sz="1800" b="0">
              <a:solidFill>
                <a:schemeClr val="tx1"/>
              </a:solidFill>
              <a:latin typeface="Arial" charset="0"/>
              <a:ea typeface="宋体" charset="0"/>
            </a:endParaRP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5795963" y="3487738"/>
            <a:ext cx="2736850" cy="3095625"/>
          </a:xfrm>
          <a:prstGeom prst="rect">
            <a:avLst/>
          </a:prstGeom>
          <a:solidFill>
            <a:srgbClr val="CCFFCC">
              <a:alpha val="14117"/>
            </a:srgbClr>
          </a:solidFill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zh-CN" altLang="en-US" sz="1800" b="0">
              <a:solidFill>
                <a:schemeClr val="tx1"/>
              </a:solidFill>
              <a:latin typeface="Arial" charset="0"/>
              <a:ea typeface="宋体" charset="0"/>
            </a:endParaRPr>
          </a:p>
        </p:txBody>
      </p:sp>
      <p:sp>
        <p:nvSpPr>
          <p:cNvPr id="345097" name="Rectangle 9"/>
          <p:cNvSpPr>
            <a:spLocks noChangeArrowheads="1"/>
          </p:cNvSpPr>
          <p:nvPr/>
        </p:nvSpPr>
        <p:spPr bwMode="auto">
          <a:xfrm>
            <a:off x="6315075" y="3759200"/>
            <a:ext cx="647700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45098" name="Rectangle 10"/>
          <p:cNvSpPr>
            <a:spLocks noChangeArrowheads="1"/>
          </p:cNvSpPr>
          <p:nvPr/>
        </p:nvSpPr>
        <p:spPr bwMode="auto">
          <a:xfrm>
            <a:off x="6227763" y="5962650"/>
            <a:ext cx="1584325" cy="430213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45099" name="Rectangle 11"/>
          <p:cNvSpPr>
            <a:spLocks noChangeArrowheads="1"/>
          </p:cNvSpPr>
          <p:nvPr/>
        </p:nvSpPr>
        <p:spPr bwMode="auto">
          <a:xfrm>
            <a:off x="4025900" y="3760788"/>
            <a:ext cx="560388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45100" name="Rectangle 12"/>
          <p:cNvSpPr>
            <a:spLocks noChangeArrowheads="1"/>
          </p:cNvSpPr>
          <p:nvPr/>
        </p:nvSpPr>
        <p:spPr bwMode="auto">
          <a:xfrm>
            <a:off x="4413250" y="4264025"/>
            <a:ext cx="720725" cy="357188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4346" name="Rectangle 13"/>
          <p:cNvSpPr>
            <a:spLocks noChangeArrowheads="1"/>
          </p:cNvSpPr>
          <p:nvPr/>
        </p:nvSpPr>
        <p:spPr bwMode="auto">
          <a:xfrm>
            <a:off x="2916238" y="549275"/>
            <a:ext cx="30400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kumimoji="1" lang="zh-CN" altLang="en-US" sz="3200">
                <a:solidFill>
                  <a:srgbClr val="A50021"/>
                </a:solidFill>
                <a:ea typeface="宋体" charset="0"/>
              </a:rPr>
              <a:t>数组的存储结构</a:t>
            </a:r>
          </a:p>
        </p:txBody>
      </p:sp>
      <p:sp>
        <p:nvSpPr>
          <p:cNvPr id="345102" name="Rectangle 14"/>
          <p:cNvSpPr>
            <a:spLocks noChangeArrowheads="1"/>
          </p:cNvSpPr>
          <p:nvPr/>
        </p:nvSpPr>
        <p:spPr bwMode="auto">
          <a:xfrm>
            <a:off x="684213" y="2852738"/>
            <a:ext cx="7607300" cy="4984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一维数组占用字节数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=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数组长度</a:t>
            </a:r>
            <a:r>
              <a:rPr lang="zh-CN" altLang="zh-CN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×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sizeof(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基类型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)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C835-F563-F444-8772-F955C0480A81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5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5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5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5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5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5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5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5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45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5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5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5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45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45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5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45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5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0" grpId="0" uiExpand="1" build="p"/>
      <p:bldP spid="345097" grpId="0" animBg="1"/>
      <p:bldP spid="345098" grpId="0" animBg="1"/>
      <p:bldP spid="345099" grpId="0" animBg="1"/>
      <p:bldP spid="345100" grpId="0" animBg="1"/>
      <p:bldP spid="34510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28600" y="228600"/>
            <a:ext cx="8686800" cy="455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rgbClr val="A50021"/>
                </a:solidFill>
                <a:ea typeface="宋体" charset="0"/>
              </a:rPr>
              <a:t>                                数组使用</a:t>
            </a:r>
          </a:p>
          <a:p>
            <a:pPr eaLnBrk="1" hangingPunct="1">
              <a:spcBef>
                <a:spcPct val="40000"/>
              </a:spcBef>
            </a:pP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 基本操作是</a:t>
            </a:r>
            <a:r>
              <a:rPr kumimoji="1" lang="zh-CN" altLang="en-US">
                <a:solidFill>
                  <a:schemeClr val="accent2"/>
                </a:solidFill>
                <a:ea typeface="宋体" charset="0"/>
              </a:rPr>
              <a:t>元素访问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。元素顺序编号，</a:t>
            </a:r>
            <a:r>
              <a:rPr kumimoji="1" lang="zh-CN" altLang="en-US">
                <a:solidFill>
                  <a:schemeClr val="accent2"/>
                </a:solidFill>
                <a:ea typeface="宋体" charset="0"/>
              </a:rPr>
              <a:t>首元素序号</a:t>
            </a:r>
            <a:r>
              <a:rPr kumimoji="1" lang="en-US" altLang="zh-CN">
                <a:solidFill>
                  <a:schemeClr val="accent2"/>
                </a:solidFill>
                <a:ea typeface="宋体" charset="0"/>
              </a:rPr>
              <a:t>0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，其余顺序编号。</a:t>
            </a:r>
            <a:r>
              <a:rPr kumimoji="1" lang="en-US" altLang="zh-CN">
                <a:solidFill>
                  <a:schemeClr val="tx1"/>
                </a:solidFill>
                <a:ea typeface="宋体" charset="0"/>
              </a:rPr>
              <a:t>n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元数组元素编号是</a:t>
            </a:r>
            <a:r>
              <a:rPr kumimoji="1" lang="en-US" altLang="zh-CN">
                <a:solidFill>
                  <a:schemeClr val="accent2"/>
                </a:solidFill>
                <a:ea typeface="宋体" charset="0"/>
              </a:rPr>
              <a:t>0</a:t>
            </a:r>
            <a:r>
              <a:rPr kumimoji="1" lang="zh-CN" altLang="en-US">
                <a:solidFill>
                  <a:schemeClr val="accent2"/>
                </a:solidFill>
                <a:ea typeface="宋体" charset="0"/>
              </a:rPr>
              <a:t>到</a:t>
            </a:r>
            <a:r>
              <a:rPr kumimoji="1" lang="en-US" altLang="zh-CN">
                <a:solidFill>
                  <a:schemeClr val="accent2"/>
                </a:solidFill>
                <a:ea typeface="宋体" charset="0"/>
              </a:rPr>
              <a:t>n-1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。定义：</a:t>
            </a:r>
          </a:p>
          <a:p>
            <a:pPr algn="just">
              <a:spcBef>
                <a:spcPct val="40000"/>
              </a:spcBef>
            </a:pP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　</a:t>
            </a:r>
            <a:r>
              <a:rPr kumimoji="1" lang="en-US" altLang="zh-CN">
                <a:solidFill>
                  <a:schemeClr val="tx1"/>
                </a:solidFill>
                <a:latin typeface="Courier New" charset="0"/>
                <a:ea typeface="宋体" charset="0"/>
              </a:rPr>
              <a:t>int b[100];</a:t>
            </a:r>
          </a:p>
          <a:p>
            <a:pPr algn="just">
              <a:spcBef>
                <a:spcPct val="40000"/>
              </a:spcBef>
            </a:pP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元素编号为</a:t>
            </a:r>
            <a:r>
              <a:rPr kumimoji="1" lang="en-US" altLang="zh-CN">
                <a:solidFill>
                  <a:srgbClr val="0033CC"/>
                </a:solidFill>
                <a:ea typeface="宋体" charset="0"/>
              </a:rPr>
              <a:t>0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、</a:t>
            </a:r>
            <a:r>
              <a:rPr kumimoji="1" lang="en-US" altLang="zh-CN">
                <a:solidFill>
                  <a:schemeClr val="tx1"/>
                </a:solidFill>
                <a:ea typeface="宋体" charset="0"/>
              </a:rPr>
              <a:t>1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、</a:t>
            </a:r>
            <a:r>
              <a:rPr kumimoji="1" lang="en-US" altLang="zh-CN">
                <a:solidFill>
                  <a:schemeClr val="tx1"/>
                </a:solidFill>
                <a:ea typeface="宋体" charset="0"/>
              </a:rPr>
              <a:t>2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、</a:t>
            </a:r>
            <a:r>
              <a:rPr kumimoji="1" lang="en-US" altLang="zh-CN">
                <a:solidFill>
                  <a:schemeClr val="tx1"/>
                </a:solidFill>
                <a:ea typeface="宋体" charset="0"/>
              </a:rPr>
              <a:t>…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、   。称为</a:t>
            </a:r>
            <a:r>
              <a:rPr kumimoji="1" lang="zh-CN" altLang="en-US" u="sng">
                <a:solidFill>
                  <a:schemeClr val="tx1"/>
                </a:solidFill>
                <a:ea typeface="宋体" charset="0"/>
              </a:rPr>
              <a:t>下标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或</a:t>
            </a:r>
            <a:r>
              <a:rPr kumimoji="1" lang="zh-CN" altLang="en-US" u="sng">
                <a:solidFill>
                  <a:schemeClr val="tx1"/>
                </a:solidFill>
                <a:ea typeface="宋体" charset="0"/>
              </a:rPr>
              <a:t>指标</a:t>
            </a:r>
            <a:r>
              <a:rPr kumimoji="1" lang="zh-CN" altLang="en-US">
                <a:solidFill>
                  <a:schemeClr val="tx1"/>
                </a:solidFill>
                <a:ea typeface="宋体" charset="0"/>
              </a:rPr>
              <a:t>。</a:t>
            </a:r>
          </a:p>
          <a:p>
            <a:pPr algn="just">
              <a:spcBef>
                <a:spcPct val="40000"/>
              </a:spcBef>
            </a:pPr>
            <a:r>
              <a:rPr kumimoji="1" lang="zh-CN" altLang="en-US" sz="2400" i="1">
                <a:solidFill>
                  <a:schemeClr val="tx1"/>
                </a:solidFill>
                <a:ea typeface="宋体" charset="0"/>
              </a:rPr>
              <a:t>        元素访问通过</a:t>
            </a:r>
            <a:r>
              <a:rPr kumimoji="1" lang="en-US" altLang="zh-CN" sz="2400" i="1">
                <a:solidFill>
                  <a:schemeClr val="tx1"/>
                </a:solidFill>
                <a:latin typeface="Courier New" charset="0"/>
                <a:ea typeface="宋体" charset="0"/>
              </a:rPr>
              <a:t>[]</a:t>
            </a:r>
            <a:r>
              <a:rPr kumimoji="1" lang="zh-CN" altLang="en-US" sz="2400" i="1">
                <a:solidFill>
                  <a:schemeClr val="tx1"/>
                </a:solidFill>
                <a:latin typeface="Courier New" charset="0"/>
                <a:ea typeface="宋体" charset="0"/>
              </a:rPr>
              <a:t>运算符，优先级最高，运算对象是数组名和括号里表示下标的表达式。表达式、语句里的 </a:t>
            </a:r>
            <a:r>
              <a:rPr kumimoji="1" lang="en-US" altLang="zh-CN" sz="2400" i="1">
                <a:solidFill>
                  <a:schemeClr val="tx1"/>
                </a:solidFill>
                <a:latin typeface="Courier New" charset="0"/>
                <a:ea typeface="宋体" charset="0"/>
              </a:rPr>
              <a:t>b[3] </a:t>
            </a:r>
            <a:r>
              <a:rPr kumimoji="1" lang="zh-CN" altLang="en-US" sz="2400" i="1">
                <a:solidFill>
                  <a:schemeClr val="tx1"/>
                </a:solidFill>
                <a:latin typeface="Courier New" charset="0"/>
                <a:ea typeface="宋体" charset="0"/>
              </a:rPr>
              <a:t>称为下标表达式。</a:t>
            </a:r>
          </a:p>
          <a:p>
            <a:pPr algn="just">
              <a:spcBef>
                <a:spcPct val="40000"/>
              </a:spcBef>
            </a:pPr>
            <a:endParaRPr kumimoji="1" lang="zh-CN" altLang="en-US" sz="2400" i="1">
              <a:solidFill>
                <a:schemeClr val="tx1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21539" name="Text Box 3"/>
          <p:cNvSpPr txBox="1">
            <a:spLocks noChangeArrowheads="1"/>
          </p:cNvSpPr>
          <p:nvPr/>
        </p:nvSpPr>
        <p:spPr bwMode="auto">
          <a:xfrm>
            <a:off x="468313" y="4365625"/>
            <a:ext cx="6265862" cy="18002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just">
              <a:spcBef>
                <a:spcPct val="0"/>
              </a:spcBef>
            </a:pPr>
            <a:r>
              <a:rPr kumimoji="1" lang="zh-CN" altLang="en-US">
                <a:solidFill>
                  <a:schemeClr val="tx1"/>
                </a:solidFill>
                <a:latin typeface="Courier New" charset="0"/>
                <a:ea typeface="宋体" charset="0"/>
              </a:rPr>
              <a:t>例：有上面定义后，可写：</a:t>
            </a:r>
          </a:p>
          <a:p>
            <a:pPr algn="just">
              <a:spcBef>
                <a:spcPct val="0"/>
              </a:spcBef>
            </a:pPr>
            <a:r>
              <a:rPr kumimoji="1" lang="zh-CN" altLang="en-US">
                <a:solidFill>
                  <a:schemeClr val="tx1"/>
                </a:solidFill>
                <a:latin typeface="Courier New" charset="0"/>
                <a:ea typeface="宋体" charset="0"/>
              </a:rPr>
              <a:t>	</a:t>
            </a:r>
            <a:r>
              <a:rPr kumimoji="1" lang="en-US" altLang="zh-CN">
                <a:solidFill>
                  <a:schemeClr val="tx1"/>
                </a:solidFill>
                <a:latin typeface="Courier New" charset="0"/>
                <a:ea typeface="宋体" charset="0"/>
              </a:rPr>
              <a:t>b[0] = 1; b[1] = 1;</a:t>
            </a:r>
          </a:p>
          <a:p>
            <a:pPr algn="just">
              <a:spcBef>
                <a:spcPct val="0"/>
              </a:spcBef>
            </a:pPr>
            <a:r>
              <a:rPr kumimoji="1" lang="en-US" altLang="zh-CN">
                <a:solidFill>
                  <a:schemeClr val="tx1"/>
                </a:solidFill>
                <a:latin typeface="Courier New" charset="0"/>
                <a:ea typeface="宋体" charset="0"/>
              </a:rPr>
              <a:t>	b[2] = b[0] + b[1];</a:t>
            </a:r>
          </a:p>
          <a:p>
            <a:pPr>
              <a:spcBef>
                <a:spcPct val="0"/>
              </a:spcBef>
            </a:pPr>
            <a:r>
              <a:rPr kumimoji="1" lang="en-US" altLang="zh-CN">
                <a:solidFill>
                  <a:schemeClr val="tx1"/>
                </a:solidFill>
                <a:latin typeface="Courier New" charset="0"/>
                <a:ea typeface="宋体" charset="0"/>
              </a:rPr>
              <a:t>	b[3] = b[1] + b[2];</a:t>
            </a:r>
            <a:endParaRPr kumimoji="1" lang="en-US" altLang="zh-CN" sz="2400" b="0">
              <a:solidFill>
                <a:schemeClr val="tx1"/>
              </a:solidFill>
              <a:ea typeface="宋体" charset="0"/>
            </a:endParaRPr>
          </a:p>
        </p:txBody>
      </p:sp>
      <p:sp>
        <p:nvSpPr>
          <p:cNvPr id="321540" name="Text Box 4"/>
          <p:cNvSpPr txBox="1">
            <a:spLocks noChangeArrowheads="1"/>
          </p:cNvSpPr>
          <p:nvPr/>
        </p:nvSpPr>
        <p:spPr bwMode="auto">
          <a:xfrm>
            <a:off x="4211638" y="2492375"/>
            <a:ext cx="576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99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5C1B-5FA3-9844-968A-584D4647FD39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32154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animBg="1" autoUpdateAnimBg="0"/>
      <p:bldP spid="3215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3" name="Text Box 3"/>
          <p:cNvSpPr txBox="1">
            <a:spLocks noChangeArrowheads="1"/>
          </p:cNvSpPr>
          <p:nvPr/>
        </p:nvSpPr>
        <p:spPr bwMode="auto">
          <a:xfrm>
            <a:off x="683568" y="836712"/>
            <a:ext cx="7561535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just">
              <a:spcBef>
                <a:spcPct val="4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 数组意义在于能以统一方式描述对一组数据的处理。下标表达式可用一般的整型表达式。如：</a:t>
            </a:r>
          </a:p>
          <a:p>
            <a:pPr algn="just"/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　</a:t>
            </a: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b[i] = b[i-1] + b[i-2];</a:t>
            </a:r>
          </a:p>
          <a:p>
            <a:pPr algn="just">
              <a:spcBef>
                <a:spcPct val="40000"/>
              </a:spcBef>
            </a:pPr>
            <a:r>
              <a:rPr kumimoji="1" lang="zh-CN" altLang="en-US" sz="2000" u="sng">
                <a:solidFill>
                  <a:schemeClr val="accent2"/>
                </a:solidFill>
                <a:latin typeface="Courier New" charset="0"/>
                <a:ea typeface="宋体" charset="0"/>
              </a:rPr>
              <a:t>访问哪个元素由</a:t>
            </a:r>
            <a:r>
              <a:rPr kumimoji="1" lang="en-US" altLang="zh-CN" sz="2000" u="sng">
                <a:solidFill>
                  <a:schemeClr val="accent2"/>
                </a:solidFill>
                <a:latin typeface="Courier New" charset="0"/>
                <a:ea typeface="宋体" charset="0"/>
              </a:rPr>
              <a:t>i</a:t>
            </a:r>
            <a:r>
              <a:rPr kumimoji="1" lang="zh-CN" altLang="en-US" sz="2000" u="sng">
                <a:solidFill>
                  <a:schemeClr val="accent2"/>
                </a:solidFill>
                <a:latin typeface="Courier New" charset="0"/>
                <a:ea typeface="宋体" charset="0"/>
              </a:rPr>
              <a:t>值确定</a:t>
            </a:r>
            <a:r>
              <a:rPr kumimoji="1" lang="zh-CN" altLang="en-US" sz="2000">
                <a:solidFill>
                  <a:schemeClr val="accent2"/>
                </a:solidFill>
                <a:latin typeface="Courier New" charset="0"/>
                <a:ea typeface="宋体" charset="0"/>
              </a:rPr>
              <a:t>。同一语句可访问不同元素，可用在循环里访问一批元素。</a:t>
            </a:r>
            <a:endParaRPr kumimoji="1" lang="zh-CN" altLang="en-US" sz="1800" b="0">
              <a:solidFill>
                <a:schemeClr val="accent2"/>
              </a:solidFill>
              <a:ea typeface="宋体" charset="0"/>
            </a:endParaRPr>
          </a:p>
        </p:txBody>
      </p:sp>
      <p:sp>
        <p:nvSpPr>
          <p:cNvPr id="322564" name="Text Box 4"/>
          <p:cNvSpPr txBox="1">
            <a:spLocks noChangeArrowheads="1"/>
          </p:cNvSpPr>
          <p:nvPr/>
        </p:nvSpPr>
        <p:spPr bwMode="auto">
          <a:xfrm>
            <a:off x="1403648" y="3789040"/>
            <a:ext cx="663508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for (i = 0; i &lt; 100; ++i) {</a:t>
            </a:r>
          </a:p>
          <a:p>
            <a:pPr>
              <a:spcBef>
                <a:spcPct val="0"/>
              </a:spcBef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b[i] += a1[i] * a2[i];</a:t>
            </a:r>
          </a:p>
          <a:p>
            <a:pPr>
              <a:spcBef>
                <a:spcPct val="0"/>
              </a:spcBef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} /* </a:t>
            </a:r>
            <a:r>
              <a:rPr kumimoji="1" lang="zh-CN" altLang="en-US" sz="2400">
                <a:solidFill>
                  <a:schemeClr val="tx1"/>
                </a:solidFill>
                <a:latin typeface="Courier New" charset="0"/>
                <a:ea typeface="宋体" charset="0"/>
              </a:rPr>
              <a:t>假设数组都有定义 *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/</a:t>
            </a:r>
          </a:p>
          <a:p>
            <a:pPr>
              <a:spcBef>
                <a:spcPct val="0"/>
              </a:spcBef>
            </a:pPr>
            <a:r>
              <a:rPr kumimoji="1" lang="zh-CN" altLang="en-US" sz="2400">
                <a:solidFill>
                  <a:schemeClr val="tx1"/>
                </a:solidFill>
                <a:latin typeface="Courier New" charset="0"/>
                <a:ea typeface="宋体" charset="0"/>
              </a:rPr>
              <a:t>循环中涉及到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300</a:t>
            </a:r>
            <a:r>
              <a:rPr kumimoji="1" lang="zh-CN" altLang="en-US" sz="2400">
                <a:solidFill>
                  <a:schemeClr val="tx1"/>
                </a:solidFill>
                <a:latin typeface="Courier New" charset="0"/>
                <a:ea typeface="宋体" charset="0"/>
              </a:rPr>
              <a:t>个基本数据对象。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5196-D78C-5E48-A23F-D4783823BB36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282575" y="404813"/>
            <a:ext cx="8861425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just">
              <a:spcBef>
                <a:spcPct val="4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对数组的多个或全部元素操作，常用</a:t>
            </a: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for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语句。</a:t>
            </a:r>
          </a:p>
          <a:p>
            <a:pPr algn="just">
              <a:spcBef>
                <a:spcPct val="4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令变量遍历数组下标：</a:t>
            </a:r>
          </a:p>
          <a:p>
            <a:pPr algn="just">
              <a:spcBef>
                <a:spcPct val="4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　</a:t>
            </a: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for (n = 0; n &lt; 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数组长度</a:t>
            </a: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; ++n) ...</a:t>
            </a:r>
          </a:p>
        </p:txBody>
      </p:sp>
      <p:sp>
        <p:nvSpPr>
          <p:cNvPr id="324611" name="Text Box 3"/>
          <p:cNvSpPr txBox="1">
            <a:spLocks noChangeArrowheads="1"/>
          </p:cNvSpPr>
          <p:nvPr/>
        </p:nvSpPr>
        <p:spPr bwMode="auto">
          <a:xfrm>
            <a:off x="261938" y="2565400"/>
            <a:ext cx="888206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just">
              <a:spcBef>
                <a:spcPct val="40000"/>
              </a:spcBef>
            </a:pPr>
            <a:r>
              <a:rPr kumimoji="1" lang="zh-CN" altLang="en-US" sz="2000">
                <a:solidFill>
                  <a:srgbClr val="A50021"/>
                </a:solidFill>
                <a:latin typeface="Courier New" charset="0"/>
                <a:ea typeface="宋体" charset="0"/>
              </a:rPr>
              <a:t>问题：</a:t>
            </a: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fib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是</a:t>
            </a: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30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个元素的数组，假设程序里写：</a:t>
            </a:r>
          </a:p>
          <a:p>
            <a:pPr algn="just">
              <a:spcBef>
                <a:spcPct val="4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   </a:t>
            </a: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for(n = 2; n &lt;= 30; ++n)</a:t>
            </a:r>
          </a:p>
          <a:p>
            <a:pPr>
              <a:spcBef>
                <a:spcPct val="0"/>
              </a:spcBef>
            </a:pP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	  fib[n] = fib[n-1] + fib[n-2];</a:t>
            </a:r>
          </a:p>
          <a:p>
            <a:pPr algn="just">
              <a:spcBef>
                <a:spcPct val="4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循环中试图访问</a:t>
            </a: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fib[30]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，实际无此元素。</a:t>
            </a:r>
          </a:p>
        </p:txBody>
      </p:sp>
      <p:sp>
        <p:nvSpPr>
          <p:cNvPr id="324612" name="Text Box 4"/>
          <p:cNvSpPr txBox="1">
            <a:spLocks noChangeArrowheads="1"/>
          </p:cNvSpPr>
          <p:nvPr/>
        </p:nvSpPr>
        <p:spPr bwMode="auto">
          <a:xfrm>
            <a:off x="261938" y="4724400"/>
            <a:ext cx="740640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just">
              <a:spcBef>
                <a:spcPct val="4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用超范围的下标访问称为</a:t>
            </a:r>
            <a:r>
              <a:rPr kumimoji="1" lang="zh-CN" altLang="en-US" sz="2000" u="sng">
                <a:solidFill>
                  <a:schemeClr val="accent2"/>
                </a:solidFill>
                <a:latin typeface="Courier New" charset="0"/>
                <a:ea typeface="宋体" charset="0"/>
              </a:rPr>
              <a:t>越界访问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，是数组使用中最常见的错误。使用</a:t>
            </a:r>
            <a:r>
              <a:rPr kumimoji="1" lang="zh-CN" altLang="en-US" sz="2000">
                <a:solidFill>
                  <a:schemeClr val="accent2"/>
                </a:solidFill>
                <a:latin typeface="Courier New" charset="0"/>
                <a:ea typeface="宋体" charset="0"/>
              </a:rPr>
              <a:t>大于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最大下标的下标，</a:t>
            </a:r>
            <a:r>
              <a:rPr kumimoji="1" lang="zh-CN" altLang="en-US" sz="2000">
                <a:solidFill>
                  <a:schemeClr val="accent2"/>
                </a:solidFill>
                <a:latin typeface="Courier New" charset="0"/>
                <a:ea typeface="宋体" charset="0"/>
              </a:rPr>
              <a:t>将访问数组以外的空间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。那里的数据是未知的。</a:t>
            </a:r>
            <a:r>
              <a:rPr kumimoji="1" lang="zh-CN" altLang="en-US" sz="2000" u="sng">
                <a:solidFill>
                  <a:schemeClr val="accent2"/>
                </a:solidFill>
                <a:latin typeface="Courier New" charset="0"/>
                <a:ea typeface="宋体" charset="0"/>
              </a:rPr>
              <a:t>下标值超范围是运行中的问题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BFB90-3E0E-0441-BDCC-559B086FE9DC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4" name="Text Box 4"/>
          <p:cNvSpPr txBox="1">
            <a:spLocks noChangeArrowheads="1"/>
          </p:cNvSpPr>
          <p:nvPr/>
        </p:nvSpPr>
        <p:spPr bwMode="auto">
          <a:xfrm>
            <a:off x="1187624" y="1196752"/>
            <a:ext cx="6881713" cy="9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000">
                <a:solidFill>
                  <a:schemeClr val="tx1"/>
                </a:solidFill>
                <a:ea typeface="宋体" charset="0"/>
              </a:rPr>
              <a:t>        C</a:t>
            </a:r>
            <a:r>
              <a:rPr kumimoji="1" lang="zh-CN" altLang="en-US" sz="2000">
                <a:solidFill>
                  <a:schemeClr val="tx1"/>
                </a:solidFill>
                <a:ea typeface="宋体" charset="0"/>
              </a:rPr>
              <a:t>不检查数组元素访问的合法性，运行中出现越界不会报错。</a:t>
            </a:r>
            <a:r>
              <a:rPr kumimoji="1" lang="zh-CN" altLang="en-US" sz="2000" u="sng">
                <a:solidFill>
                  <a:srgbClr val="FF3300"/>
                </a:solidFill>
                <a:ea typeface="宋体" charset="0"/>
              </a:rPr>
              <a:t>超范围访问是严重错误，后果无法预料</a:t>
            </a:r>
            <a:r>
              <a:rPr kumimoji="1" lang="zh-CN" altLang="en-US" sz="2000">
                <a:solidFill>
                  <a:schemeClr val="tx1"/>
                </a:solidFill>
                <a:ea typeface="宋体" charset="0"/>
              </a:rPr>
              <a:t>。</a:t>
            </a:r>
          </a:p>
        </p:txBody>
      </p:sp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435576" y="3212976"/>
            <a:ext cx="831076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ea typeface="宋体" charset="0"/>
              </a:rPr>
              <a:t>        在一些系统里越界访问</a:t>
            </a:r>
            <a:r>
              <a:rPr kumimoji="1" lang="zh-CN" altLang="en-US" sz="2000" dirty="0">
                <a:solidFill>
                  <a:srgbClr val="880000"/>
                </a:solidFill>
                <a:ea typeface="宋体" charset="0"/>
              </a:rPr>
              <a:t>可能导致动态错</a:t>
            </a:r>
            <a:r>
              <a:rPr kumimoji="1" lang="zh-CN" altLang="en-US" sz="2000" dirty="0">
                <a:solidFill>
                  <a:schemeClr val="tx1"/>
                </a:solidFill>
                <a:ea typeface="宋体" charset="0"/>
              </a:rPr>
              <a:t>，系统强行终止出错的程序。</a:t>
            </a:r>
            <a:endParaRPr kumimoji="1" lang="en-US" altLang="zh-CN" sz="2000" dirty="0">
              <a:solidFill>
                <a:schemeClr val="tx1"/>
              </a:solidFill>
              <a:ea typeface="宋体" charset="0"/>
            </a:endParaRPr>
          </a:p>
          <a:p>
            <a:pPr eaLnBrk="1" hangingPunct="1"/>
            <a:endParaRPr kumimoji="1" lang="en-US" altLang="zh-CN" sz="2000" dirty="0">
              <a:solidFill>
                <a:schemeClr val="tx1"/>
              </a:solidFill>
              <a:ea typeface="宋体" charset="0"/>
            </a:endParaRPr>
          </a:p>
          <a:p>
            <a:pPr eaLnBrk="1" hangingPunct="1"/>
            <a:r>
              <a:rPr kumimoji="1" lang="en-US" altLang="zh-CN" sz="2000" dirty="0">
                <a:solidFill>
                  <a:schemeClr val="tx1"/>
                </a:solidFill>
                <a:ea typeface="宋体" charset="0"/>
              </a:rPr>
              <a:t>	</a:t>
            </a:r>
            <a:r>
              <a:rPr kumimoji="1" lang="zh-CN" altLang="en-US" sz="2000" dirty="0">
                <a:solidFill>
                  <a:schemeClr val="tx1"/>
                </a:solidFill>
                <a:ea typeface="宋体" charset="0"/>
              </a:rPr>
              <a:t>编程者要保证数组下标值的合法性，保证不越界。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A564-B255-1D40-9F74-C5B3FC08177C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5" name="Text Box 3"/>
          <p:cNvSpPr txBox="1">
            <a:spLocks noChangeArrowheads="1"/>
          </p:cNvSpPr>
          <p:nvPr/>
        </p:nvSpPr>
        <p:spPr bwMode="auto">
          <a:xfrm>
            <a:off x="467544" y="1268760"/>
            <a:ext cx="7740352" cy="350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数组定义后的初值仍然是随机数，一般需要我们来初始化</a:t>
            </a:r>
            <a:endParaRPr lang="en-US" altLang="zh-CN" sz="2000" dirty="0">
              <a:solidFill>
                <a:srgbClr val="3366FF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charset="0"/>
            </a:endParaRPr>
          </a:p>
          <a:p>
            <a:pPr eaLnBrk="1" hangingPunct="1"/>
            <a:endParaRPr kumimoji="1" lang="zh-CN" altLang="en-US" sz="2000" dirty="0">
              <a:solidFill>
                <a:schemeClr val="tx1"/>
              </a:solidFill>
              <a:ea typeface="宋体" charset="0"/>
            </a:endParaRPr>
          </a:p>
          <a:p>
            <a:pPr eaLnBrk="1" hangingPunct="1">
              <a:spcBef>
                <a:spcPct val="40000"/>
              </a:spcBef>
            </a:pPr>
            <a:r>
              <a:rPr kumimoji="1" lang="zh-CN" altLang="en-US" sz="2000" dirty="0">
                <a:solidFill>
                  <a:schemeClr val="tx1"/>
                </a:solidFill>
                <a:ea typeface="宋体" charset="0"/>
              </a:rPr>
              <a:t>        定义数组时可直接初始化。</a:t>
            </a:r>
          </a:p>
          <a:p>
            <a:pPr algn="just">
              <a:spcBef>
                <a:spcPct val="40000"/>
              </a:spcBef>
            </a:pPr>
            <a:r>
              <a:rPr kumimoji="1" lang="zh-CN" altLang="en-US" sz="2000" dirty="0">
                <a:solidFill>
                  <a:schemeClr val="tx1"/>
                </a:solidFill>
                <a:ea typeface="宋体" charset="0"/>
              </a:rPr>
              <a:t>定义时初始化的例子：</a:t>
            </a:r>
          </a:p>
          <a:p>
            <a:pPr algn="just">
              <a:spcBef>
                <a:spcPct val="40000"/>
              </a:spcBef>
            </a:pPr>
            <a:r>
              <a:rPr kumimoji="1" lang="en-US" altLang="zh-CN" sz="2000" dirty="0">
                <a:solidFill>
                  <a:schemeClr val="tx1"/>
                </a:solidFill>
                <a:latin typeface="Courier New" charset="0"/>
                <a:ea typeface="宋体" charset="0"/>
              </a:rPr>
              <a:t>    </a:t>
            </a:r>
            <a:r>
              <a:rPr kumimoji="1" lang="en-US" altLang="zh-CN" sz="2000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int</a:t>
            </a:r>
            <a:r>
              <a:rPr kumimoji="1" lang="en-US" altLang="zh-CN" sz="2000" dirty="0">
                <a:solidFill>
                  <a:schemeClr val="tx1"/>
                </a:solidFill>
                <a:latin typeface="Courier New" charset="0"/>
                <a:ea typeface="宋体" charset="0"/>
              </a:rPr>
              <a:t> b[4] = {1, 1, 2, 3};</a:t>
            </a:r>
          </a:p>
          <a:p>
            <a:pPr algn="just">
              <a:spcBef>
                <a:spcPct val="0"/>
              </a:spcBef>
            </a:pPr>
            <a:r>
              <a:rPr kumimoji="1" lang="en-US" altLang="zh-CN" sz="2000" dirty="0">
                <a:solidFill>
                  <a:schemeClr val="tx1"/>
                </a:solidFill>
                <a:latin typeface="Courier New" charset="0"/>
                <a:ea typeface="宋体" charset="0"/>
                <a:cs typeface="Times New Roman" charset="0"/>
              </a:rPr>
              <a:t>float ax[6] = {1.3,2.24,5.11,8.37,6.5};</a:t>
            </a:r>
            <a:r>
              <a:rPr kumimoji="1" lang="en-US" altLang="zh-CN" sz="2000" dirty="0">
                <a:solidFill>
                  <a:schemeClr val="tx1"/>
                </a:solidFill>
                <a:latin typeface="Courier New" charset="0"/>
                <a:ea typeface="宋体" charset="0"/>
              </a:rPr>
              <a:t> </a:t>
            </a:r>
          </a:p>
          <a:p>
            <a:pPr algn="just">
              <a:spcBef>
                <a:spcPct val="0"/>
              </a:spcBef>
            </a:pPr>
            <a:r>
              <a:rPr kumimoji="1" lang="en-US" altLang="zh-CN" sz="2000" dirty="0">
                <a:solidFill>
                  <a:schemeClr val="tx1"/>
                </a:solidFill>
                <a:latin typeface="Courier New" charset="0"/>
                <a:ea typeface="宋体" charset="0"/>
              </a:rPr>
              <a:t>    </a:t>
            </a:r>
            <a:r>
              <a:rPr kumimoji="1" lang="en-US" altLang="zh-CN" sz="2000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int</a:t>
            </a:r>
            <a:r>
              <a:rPr kumimoji="1" lang="en-US" altLang="zh-CN" sz="2000" dirty="0">
                <a:solidFill>
                  <a:schemeClr val="tx1"/>
                </a:solidFill>
                <a:latin typeface="Courier New" charset="0"/>
                <a:ea typeface="宋体" charset="0"/>
              </a:rPr>
              <a:t> a[5] = { 0 };</a:t>
            </a:r>
          </a:p>
          <a:p>
            <a:pPr algn="just">
              <a:spcBef>
                <a:spcPct val="0"/>
              </a:spcBef>
            </a:pPr>
            <a:r>
              <a:rPr kumimoji="1" lang="en-US" altLang="zh-CN" sz="2000" dirty="0">
                <a:solidFill>
                  <a:schemeClr val="tx1"/>
                </a:solidFill>
                <a:latin typeface="Courier New" charset="0"/>
                <a:ea typeface="宋体" charset="0"/>
              </a:rPr>
              <a:t>     </a:t>
            </a:r>
            <a:r>
              <a:rPr kumimoji="1" lang="en-US" altLang="zh-CN" sz="2000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int</a:t>
            </a:r>
            <a:r>
              <a:rPr kumimoji="1" lang="en-US" altLang="zh-CN" sz="2000" dirty="0">
                <a:solidFill>
                  <a:schemeClr val="tx1"/>
                </a:solidFill>
                <a:latin typeface="Courier New" charset="0"/>
                <a:ea typeface="宋体" charset="0"/>
              </a:rPr>
              <a:t> a[] = { 11, 22, 33, 44, 55 };</a:t>
            </a:r>
          </a:p>
          <a:p>
            <a:pPr eaLnBrk="1" hangingPunct="1">
              <a:spcBef>
                <a:spcPct val="40000"/>
              </a:spcBef>
            </a:pPr>
            <a:r>
              <a:rPr kumimoji="1" lang="zh-CN" altLang="en-US" sz="2000" dirty="0">
                <a:solidFill>
                  <a:srgbClr val="0033CC"/>
                </a:solidFill>
                <a:ea typeface="宋体" charset="0"/>
              </a:rPr>
              <a:t>        初值表达式必须是常量表达式</a:t>
            </a:r>
            <a:r>
              <a:rPr kumimoji="1" lang="zh-CN" altLang="en-US" sz="2000" dirty="0">
                <a:solidFill>
                  <a:schemeClr val="tx1"/>
                </a:solidFill>
                <a:ea typeface="宋体" charset="0"/>
              </a:rPr>
              <a:t>。对自动数组也一样。</a:t>
            </a:r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3348038" y="352425"/>
            <a:ext cx="22240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kumimoji="1" lang="zh-CN" altLang="en-US" sz="3200" dirty="0">
                <a:solidFill>
                  <a:srgbClr val="A50021"/>
                </a:solidFill>
                <a:ea typeface="宋体" charset="0"/>
              </a:rPr>
              <a:t>数组初始化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550A-A906-9646-8879-700EBD1967CF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18</a:t>
            </a:fld>
            <a:endParaRPr lang="en-US"/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1F14044-D237-06FB-F618-D18C7367A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5164069"/>
            <a:ext cx="84764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kumimoji="1" lang="zh-CN" altLang="en-US" sz="2000" dirty="0">
                <a:solidFill>
                  <a:schemeClr val="tx1"/>
                </a:solidFill>
                <a:ea typeface="宋体" charset="0"/>
              </a:rPr>
              <a:t>这种写法只能用于数组初始化，</a:t>
            </a:r>
            <a:r>
              <a:rPr kumimoji="1" lang="zh-CN" altLang="en-US" sz="2000" u="sng" dirty="0">
                <a:solidFill>
                  <a:srgbClr val="0033CC"/>
                </a:solidFill>
                <a:ea typeface="宋体" charset="0"/>
              </a:rPr>
              <a:t>不能用在语句里</a:t>
            </a:r>
            <a:r>
              <a:rPr kumimoji="1" lang="zh-CN" altLang="en-US" sz="2000" dirty="0">
                <a:solidFill>
                  <a:schemeClr val="tx1"/>
                </a:solidFill>
                <a:ea typeface="宋体" charset="0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9" name="Text Box 3"/>
          <p:cNvSpPr txBox="1">
            <a:spLocks noChangeArrowheads="1"/>
          </p:cNvSpPr>
          <p:nvPr/>
        </p:nvSpPr>
        <p:spPr bwMode="auto">
          <a:xfrm>
            <a:off x="212725" y="1340768"/>
            <a:ext cx="871855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just">
              <a:spcBef>
                <a:spcPct val="40000"/>
              </a:spcBef>
              <a:buClr>
                <a:srgbClr val="9900CC"/>
              </a:buClr>
              <a:buFont typeface="Wingdings" charset="2"/>
              <a:buChar char="Ø"/>
            </a:pP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 可只为部分元素提供初值，其余元素将自动置</a:t>
            </a: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0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。初始化表元素个数不得超过数组元素个数。例：</a:t>
            </a:r>
          </a:p>
          <a:p>
            <a:pPr algn="just">
              <a:spcBef>
                <a:spcPct val="4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　　　　</a:t>
            </a: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int b1[4] = {1, 2};</a:t>
            </a:r>
          </a:p>
          <a:p>
            <a:pPr algn="just">
              <a:spcBef>
                <a:spcPct val="40000"/>
              </a:spcBef>
            </a:pP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b1[2]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、</a:t>
            </a: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b1[3]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将给初值</a:t>
            </a:r>
            <a:r>
              <a:rPr kumimoji="1" lang="en-US" altLang="zh-CN" sz="2000">
                <a:solidFill>
                  <a:schemeClr val="tx1"/>
                </a:solidFill>
                <a:latin typeface="Courier New" charset="0"/>
                <a:ea typeface="宋体" charset="0"/>
              </a:rPr>
              <a:t>0</a:t>
            </a:r>
            <a:r>
              <a:rPr kumimoji="1" lang="zh-CN" altLang="en-US" sz="2000">
                <a:solidFill>
                  <a:schemeClr val="tx1"/>
                </a:solidFill>
                <a:latin typeface="Courier New" charset="0"/>
                <a:ea typeface="宋体" charset="0"/>
              </a:rPr>
              <a:t>。</a:t>
            </a:r>
          </a:p>
        </p:txBody>
      </p:sp>
      <p:sp>
        <p:nvSpPr>
          <p:cNvPr id="326660" name="Text Box 4"/>
          <p:cNvSpPr txBox="1">
            <a:spLocks noChangeArrowheads="1"/>
          </p:cNvSpPr>
          <p:nvPr/>
        </p:nvSpPr>
        <p:spPr bwMode="auto">
          <a:xfrm>
            <a:off x="251520" y="3717032"/>
            <a:ext cx="8759825" cy="1526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just">
              <a:spcBef>
                <a:spcPct val="40000"/>
              </a:spcBef>
              <a:buClr>
                <a:srgbClr val="9900CC"/>
              </a:buClr>
              <a:buFont typeface="Wingdings" charset="2"/>
              <a:buChar char="Ø"/>
            </a:pPr>
            <a:r>
              <a:rPr kumimoji="1" lang="zh-CN" altLang="en-US" sz="2000" dirty="0">
                <a:solidFill>
                  <a:schemeClr val="tx1"/>
                </a:solidFill>
                <a:latin typeface="Courier New" charset="0"/>
                <a:ea typeface="宋体" charset="0"/>
              </a:rPr>
              <a:t> 若给了所有元素的初值，可以不写数组大小而只写方括号，元素个数由初值个数确定。例：</a:t>
            </a:r>
          </a:p>
          <a:p>
            <a:pPr algn="just">
              <a:spcBef>
                <a:spcPct val="40000"/>
              </a:spcBef>
            </a:pPr>
            <a:r>
              <a:rPr kumimoji="1" lang="en-US" altLang="zh-CN" sz="1800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int</a:t>
            </a:r>
            <a:r>
              <a:rPr kumimoji="1" lang="en-US" altLang="zh-CN" sz="1800" dirty="0">
                <a:solidFill>
                  <a:schemeClr val="tx1"/>
                </a:solidFill>
                <a:latin typeface="Courier New" charset="0"/>
                <a:ea typeface="宋体" charset="0"/>
              </a:rPr>
              <a:t> fib[] = {1,1,2,3,5,8,13,21,34,55};</a:t>
            </a:r>
          </a:p>
          <a:p>
            <a:pPr algn="just">
              <a:spcBef>
                <a:spcPct val="40000"/>
              </a:spcBef>
            </a:pPr>
            <a:r>
              <a:rPr kumimoji="1" lang="zh-CN" altLang="en-US" sz="2000" dirty="0">
                <a:solidFill>
                  <a:schemeClr val="tx1"/>
                </a:solidFill>
                <a:latin typeface="Courier New" charset="0"/>
                <a:ea typeface="宋体" charset="0"/>
              </a:rPr>
              <a:t>这种写法能减少维护负担，有利于程序修改。</a:t>
            </a:r>
            <a:endParaRPr kumimoji="1" lang="zh-CN" altLang="en-US" sz="2000" dirty="0">
              <a:solidFill>
                <a:schemeClr val="tx1"/>
              </a:solidFill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6A1D6-20EE-6D4E-8EAB-1C9B26565E69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67616" y="332656"/>
            <a:ext cx="7797800" cy="839788"/>
          </a:xfrm>
        </p:spPr>
        <p:txBody>
          <a:bodyPr lIns="91440" tIns="45720" rIns="91440" bIns="45720">
            <a:norm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A50021"/>
                </a:solidFill>
                <a:latin typeface="Times New Roman" charset="0"/>
                <a:ea typeface="宋体" charset="0"/>
                <a:cs typeface="+mn-cs"/>
              </a:rPr>
              <a:t>数组的引用</a:t>
            </a:r>
            <a:endParaRPr kumimoji="1" lang="en-US" altLang="zh-CN" sz="3200" b="1" dirty="0">
              <a:solidFill>
                <a:srgbClr val="A50021"/>
              </a:solidFill>
              <a:latin typeface="Times New Roman" charset="0"/>
              <a:ea typeface="宋体" charset="0"/>
              <a:cs typeface="+mn-cs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14388" y="1600200"/>
            <a:ext cx="8329612" cy="4852988"/>
          </a:xfrm>
        </p:spPr>
        <p:txBody>
          <a:bodyPr lIns="91440" tIns="45720" rIns="91440" bIns="45720"/>
          <a:lstStyle/>
          <a:p>
            <a:pPr algn="ctr" eaLnBrk="1">
              <a:lnSpc>
                <a:spcPct val="120000"/>
              </a:lnSpc>
              <a:buFont typeface="Monotype Sorts" charset="2"/>
              <a:buNone/>
            </a:pPr>
            <a:r>
              <a:rPr lang="zh-CN" altLang="en-US" sz="3200">
                <a:solidFill>
                  <a:srgbClr val="3333FF"/>
                </a:solidFill>
                <a:latin typeface="楷体_GB2312" charset="0"/>
                <a:ea typeface="楷体_GB2312" charset="0"/>
              </a:rPr>
              <a:t>数组名 </a:t>
            </a:r>
            <a:r>
              <a:rPr lang="en-US" altLang="zh-CN" sz="3200">
                <a:solidFill>
                  <a:srgbClr val="3333FF"/>
                </a:solidFill>
                <a:latin typeface="楷体_GB2312" charset="0"/>
                <a:ea typeface="楷体_GB2312" charset="0"/>
              </a:rPr>
              <a:t>[</a:t>
            </a:r>
            <a:r>
              <a:rPr lang="zh-CN" altLang="en-US" sz="3200">
                <a:solidFill>
                  <a:srgbClr val="CC0000"/>
                </a:solidFill>
                <a:latin typeface="楷体_GB2312" charset="0"/>
                <a:ea typeface="楷体_GB2312" charset="0"/>
              </a:rPr>
              <a:t>下标</a:t>
            </a:r>
            <a:r>
              <a:rPr lang="en-US" altLang="zh-CN" sz="3200">
                <a:solidFill>
                  <a:srgbClr val="CC0000"/>
                </a:solidFill>
                <a:latin typeface="楷体_GB2312" charset="0"/>
                <a:ea typeface="楷体_GB2312" charset="0"/>
              </a:rPr>
              <a:t>1</a:t>
            </a:r>
            <a:r>
              <a:rPr lang="en-US" altLang="zh-CN" sz="3200">
                <a:solidFill>
                  <a:srgbClr val="3333FF"/>
                </a:solidFill>
                <a:latin typeface="楷体_GB2312" charset="0"/>
                <a:ea typeface="楷体_GB2312" charset="0"/>
              </a:rPr>
              <a:t>] [</a:t>
            </a:r>
            <a:r>
              <a:rPr lang="zh-CN" altLang="en-US" sz="3200">
                <a:solidFill>
                  <a:srgbClr val="CC0000"/>
                </a:solidFill>
                <a:latin typeface="楷体_GB2312" charset="0"/>
                <a:ea typeface="楷体_GB2312" charset="0"/>
              </a:rPr>
              <a:t>下标</a:t>
            </a:r>
            <a:r>
              <a:rPr lang="en-US" altLang="zh-CN" sz="3200">
                <a:solidFill>
                  <a:srgbClr val="CC0000"/>
                </a:solidFill>
                <a:latin typeface="楷体_GB2312" charset="0"/>
                <a:ea typeface="楷体_GB2312" charset="0"/>
              </a:rPr>
              <a:t>2</a:t>
            </a:r>
            <a:r>
              <a:rPr lang="en-US" altLang="zh-CN" sz="3200">
                <a:solidFill>
                  <a:srgbClr val="3333FF"/>
                </a:solidFill>
                <a:latin typeface="楷体_GB2312" charset="0"/>
                <a:ea typeface="楷体_GB2312" charset="0"/>
              </a:rPr>
              <a:t>] </a:t>
            </a:r>
            <a:r>
              <a:rPr lang="en-US" altLang="zh-CN" sz="3200">
                <a:solidFill>
                  <a:srgbClr val="3333FF"/>
                </a:solidFill>
                <a:latin typeface="Courier New" charset="0"/>
                <a:ea typeface="楷体_GB2312" charset="0"/>
              </a:rPr>
              <a:t>……</a:t>
            </a:r>
            <a:r>
              <a:rPr lang="en-US" altLang="zh-CN" sz="3200">
                <a:solidFill>
                  <a:srgbClr val="3333FF"/>
                </a:solidFill>
                <a:latin typeface="楷体_GB2312" charset="0"/>
                <a:ea typeface="楷体_GB2312" charset="0"/>
              </a:rPr>
              <a:t> [</a:t>
            </a:r>
            <a:r>
              <a:rPr lang="zh-CN" altLang="en-US" sz="3200">
                <a:solidFill>
                  <a:srgbClr val="CC0000"/>
                </a:solidFill>
                <a:latin typeface="楷体_GB2312" charset="0"/>
                <a:ea typeface="楷体_GB2312" charset="0"/>
              </a:rPr>
              <a:t>下标</a:t>
            </a:r>
            <a:r>
              <a:rPr lang="en-US" altLang="zh-CN" sz="3200">
                <a:solidFill>
                  <a:srgbClr val="CC0000"/>
                </a:solidFill>
                <a:latin typeface="楷体_GB2312" charset="0"/>
                <a:ea typeface="楷体_GB2312" charset="0"/>
              </a:rPr>
              <a:t>n</a:t>
            </a:r>
            <a:r>
              <a:rPr lang="en-US" altLang="zh-CN" sz="3200">
                <a:solidFill>
                  <a:srgbClr val="3333FF"/>
                </a:solidFill>
                <a:latin typeface="楷体_GB2312" charset="0"/>
                <a:ea typeface="楷体_GB2312" charset="0"/>
              </a:rPr>
              <a:t>]</a:t>
            </a:r>
            <a:endParaRPr lang="en-US" altLang="zh-CN" sz="3200">
              <a:latin typeface="楷体_GB2312" charset="0"/>
              <a:ea typeface="楷体_GB2312" charset="0"/>
            </a:endParaRPr>
          </a:p>
          <a:p>
            <a:pPr eaLnBrk="1">
              <a:lnSpc>
                <a:spcPct val="130000"/>
              </a:lnSpc>
            </a:pPr>
            <a:r>
              <a:rPr lang="zh-CN" altLang="en-US">
                <a:latin typeface="楷体_GB2312" charset="0"/>
                <a:ea typeface="楷体_GB2312" charset="0"/>
              </a:rPr>
              <a:t>下标都是从</a:t>
            </a:r>
            <a:r>
              <a:rPr lang="en-US" altLang="zh-CN" sz="2400">
                <a:latin typeface="楷体_GB2312" charset="0"/>
                <a:ea typeface="楷体_GB2312" charset="0"/>
              </a:rPr>
              <a:t>0</a:t>
            </a:r>
            <a:r>
              <a:rPr lang="zh-CN" altLang="en-US">
                <a:latin typeface="楷体_GB2312" charset="0"/>
                <a:ea typeface="楷体_GB2312" charset="0"/>
              </a:rPr>
              <a:t>开始，养成从</a:t>
            </a:r>
            <a:r>
              <a:rPr lang="en-US" altLang="zh-CN">
                <a:latin typeface="楷体_GB2312" charset="0"/>
                <a:ea typeface="楷体_GB2312" charset="0"/>
              </a:rPr>
              <a:t>0</a:t>
            </a:r>
            <a:r>
              <a:rPr lang="zh-CN" altLang="en-US">
                <a:latin typeface="楷体_GB2312" charset="0"/>
                <a:ea typeface="楷体_GB2312" charset="0"/>
              </a:rPr>
              <a:t>开始查数的职业病</a:t>
            </a:r>
          </a:p>
          <a:p>
            <a:pPr eaLnBrk="1">
              <a:lnSpc>
                <a:spcPct val="130000"/>
              </a:lnSpc>
            </a:pPr>
            <a:r>
              <a:rPr lang="zh-CN" altLang="en-US">
                <a:latin typeface="楷体_GB2312" charset="0"/>
                <a:ea typeface="楷体_GB2312" charset="0"/>
              </a:rPr>
              <a:t>使用</a:t>
            </a:r>
            <a:r>
              <a:rPr lang="en-US" altLang="zh-CN">
                <a:solidFill>
                  <a:srgbClr val="000000"/>
                </a:solidFill>
                <a:latin typeface="楷体_GB2312" charset="0"/>
                <a:ea typeface="楷体_GB2312" charset="0"/>
              </a:rPr>
              <a:t>a[</a:t>
            </a:r>
            <a:r>
              <a:rPr lang="en-US" altLang="zh-CN">
                <a:solidFill>
                  <a:srgbClr val="FF3300"/>
                </a:solidFill>
                <a:latin typeface="楷体_GB2312" charset="0"/>
                <a:ea typeface="楷体_GB2312" charset="0"/>
              </a:rPr>
              <a:t>0</a:t>
            </a:r>
            <a:r>
              <a:rPr lang="en-US" altLang="zh-CN">
                <a:solidFill>
                  <a:srgbClr val="000000"/>
                </a:solidFill>
                <a:latin typeface="楷体_GB2312" charset="0"/>
                <a:ea typeface="楷体_GB2312" charset="0"/>
              </a:rPr>
              <a:t>]</a:t>
            </a:r>
            <a:r>
              <a:rPr lang="zh-CN" altLang="en-US">
                <a:latin typeface="楷体_GB2312" charset="0"/>
                <a:ea typeface="楷体_GB2312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charset="0"/>
                <a:ea typeface="楷体_GB2312" charset="0"/>
              </a:rPr>
              <a:t>a[1]</a:t>
            </a:r>
            <a:r>
              <a:rPr lang="zh-CN" altLang="en-US">
                <a:latin typeface="楷体_GB2312" charset="0"/>
                <a:ea typeface="楷体_GB2312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charset="0"/>
                <a:ea typeface="楷体_GB2312" charset="0"/>
              </a:rPr>
              <a:t>a[2]</a:t>
            </a:r>
            <a:r>
              <a:rPr lang="zh-CN" altLang="en-US">
                <a:latin typeface="楷体_GB2312" charset="0"/>
                <a:ea typeface="楷体_GB2312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Courier New" charset="0"/>
                <a:ea typeface="楷体_GB2312" charset="0"/>
              </a:rPr>
              <a:t>……</a:t>
            </a:r>
            <a:r>
              <a:rPr lang="zh-CN" altLang="en-US">
                <a:latin typeface="楷体_GB2312" charset="0"/>
                <a:ea typeface="楷体_GB2312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charset="0"/>
                <a:ea typeface="楷体_GB2312" charset="0"/>
              </a:rPr>
              <a:t>a[9]</a:t>
            </a:r>
            <a:r>
              <a:rPr lang="zh-CN" altLang="en-US">
                <a:latin typeface="楷体_GB2312" charset="0"/>
                <a:ea typeface="楷体_GB2312" charset="0"/>
              </a:rPr>
              <a:t>这样的形式访问每个元素</a:t>
            </a:r>
          </a:p>
          <a:p>
            <a:pPr eaLnBrk="1">
              <a:lnSpc>
                <a:spcPct val="130000"/>
              </a:lnSpc>
            </a:pPr>
            <a:r>
              <a:rPr lang="zh-CN" altLang="en-US">
                <a:latin typeface="楷体_GB2312" charset="0"/>
                <a:ea typeface="楷体_GB2312" charset="0"/>
              </a:rPr>
              <a:t>数组下标</a:t>
            </a:r>
            <a:r>
              <a:rPr lang="en-US" altLang="zh-CN">
                <a:latin typeface="楷体_GB2312" charset="0"/>
                <a:ea typeface="楷体_GB2312" charset="0"/>
              </a:rPr>
              <a:t>(index)</a:t>
            </a:r>
            <a:r>
              <a:rPr lang="zh-CN" altLang="en-US">
                <a:latin typeface="楷体_GB2312" charset="0"/>
                <a:ea typeface="楷体_GB2312" charset="0"/>
              </a:rPr>
              <a:t>既可以是常量，也可以是整型表达式，允许快速地随机访问</a:t>
            </a:r>
            <a:r>
              <a:rPr lang="en-US" altLang="zh-CN">
                <a:latin typeface="楷体_GB2312" charset="0"/>
                <a:ea typeface="楷体_GB2312" charset="0"/>
              </a:rPr>
              <a:t>.</a:t>
            </a:r>
          </a:p>
          <a:p>
            <a:pPr lvl="1" eaLnBrk="1">
              <a:lnSpc>
                <a:spcPct val="130000"/>
              </a:lnSpc>
            </a:pPr>
            <a:r>
              <a:rPr lang="zh-CN" altLang="en-US">
                <a:latin typeface="楷体_GB2312" charset="0"/>
                <a:ea typeface="楷体_GB2312" charset="0"/>
              </a:rPr>
              <a:t>可以像使用普通变量一样使用他们</a:t>
            </a:r>
            <a:endParaRPr lang="en-US" altLang="zh-CN">
              <a:latin typeface="楷体_GB2312" charset="0"/>
              <a:ea typeface="楷体_GB2312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2F83-F8C5-EB45-BAA1-9ECA29E6973B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3" name="Text Box 3"/>
          <p:cNvSpPr txBox="1">
            <a:spLocks noChangeArrowheads="1"/>
          </p:cNvSpPr>
          <p:nvPr/>
        </p:nvSpPr>
        <p:spPr bwMode="auto">
          <a:xfrm>
            <a:off x="179388" y="1336675"/>
            <a:ext cx="8839200" cy="65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</a:pPr>
            <a:r>
              <a:rPr kumimoji="1" lang="zh-CN" altLang="en-US" sz="3200">
                <a:solidFill>
                  <a:schemeClr val="tx1"/>
                </a:solidFill>
                <a:ea typeface="宋体" charset="0"/>
              </a:rPr>
              <a:t>只能逐个对数组元素进行操作（字符数组例外）</a:t>
            </a:r>
          </a:p>
        </p:txBody>
      </p:sp>
      <p:sp>
        <p:nvSpPr>
          <p:cNvPr id="250884" name="Text Box 4"/>
          <p:cNvSpPr txBox="1">
            <a:spLocks noChangeArrowheads="1"/>
          </p:cNvSpPr>
          <p:nvPr/>
        </p:nvSpPr>
        <p:spPr bwMode="auto">
          <a:xfrm>
            <a:off x="179388" y="2489200"/>
            <a:ext cx="2459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输入方法：</a:t>
            </a:r>
          </a:p>
        </p:txBody>
      </p:sp>
      <p:sp>
        <p:nvSpPr>
          <p:cNvPr id="250885" name="Text Box 5"/>
          <p:cNvSpPr txBox="1">
            <a:spLocks noChangeArrowheads="1"/>
          </p:cNvSpPr>
          <p:nvPr/>
        </p:nvSpPr>
        <p:spPr bwMode="auto">
          <a:xfrm>
            <a:off x="2843213" y="2179638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 sz="2400">
                <a:solidFill>
                  <a:schemeClr val="accent2"/>
                </a:solidFill>
                <a:latin typeface="Courier New" charset="0"/>
                <a:ea typeface="宋体" charset="0"/>
              </a:rPr>
              <a:t>int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a[10],i;</a:t>
            </a:r>
          </a:p>
        </p:txBody>
      </p:sp>
      <p:sp>
        <p:nvSpPr>
          <p:cNvPr id="250886" name="Text Box 6"/>
          <p:cNvSpPr txBox="1">
            <a:spLocks noChangeArrowheads="1"/>
          </p:cNvSpPr>
          <p:nvPr/>
        </p:nvSpPr>
        <p:spPr bwMode="auto">
          <a:xfrm>
            <a:off x="188913" y="3289300"/>
            <a:ext cx="3497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zh-CN" altLang="en-US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输入第</a:t>
            </a:r>
            <a:r>
              <a:rPr kumimoji="1" lang="en-US" altLang="zh-CN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i</a:t>
            </a:r>
            <a:r>
              <a:rPr kumimoji="1" lang="zh-CN" altLang="en-US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个数组元素：</a:t>
            </a:r>
          </a:p>
        </p:txBody>
      </p:sp>
      <p:sp>
        <p:nvSpPr>
          <p:cNvPr id="250887" name="Text Box 7"/>
          <p:cNvSpPr txBox="1">
            <a:spLocks noChangeArrowheads="1"/>
          </p:cNvSpPr>
          <p:nvPr/>
        </p:nvSpPr>
        <p:spPr bwMode="auto">
          <a:xfrm>
            <a:off x="395288" y="3970338"/>
            <a:ext cx="3444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scanf(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%d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,&amp;a[i]);</a:t>
            </a:r>
          </a:p>
        </p:txBody>
      </p:sp>
      <p:sp>
        <p:nvSpPr>
          <p:cNvPr id="250888" name="Text Box 8"/>
          <p:cNvSpPr txBox="1">
            <a:spLocks noChangeArrowheads="1"/>
          </p:cNvSpPr>
          <p:nvPr/>
        </p:nvSpPr>
        <p:spPr bwMode="auto">
          <a:xfrm>
            <a:off x="188913" y="4537075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zh-CN" altLang="en-US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输入整个数组元素</a:t>
            </a:r>
            <a:r>
              <a:rPr kumimoji="1" lang="zh-CN" altLang="en-US" b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：</a:t>
            </a:r>
          </a:p>
        </p:txBody>
      </p:sp>
      <p:sp>
        <p:nvSpPr>
          <p:cNvPr id="250889" name="Text Box 9"/>
          <p:cNvSpPr txBox="1">
            <a:spLocks noChangeArrowheads="1"/>
          </p:cNvSpPr>
          <p:nvPr/>
        </p:nvSpPr>
        <p:spPr bwMode="auto">
          <a:xfrm>
            <a:off x="395288" y="5375275"/>
            <a:ext cx="41751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0"/>
              </a:spcBef>
              <a:defRPr/>
            </a:pPr>
            <a:r>
              <a:rPr kumimoji="1" lang="en-US" altLang="zh-CN" sz="24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for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(i=0;i&lt;10;i++)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defRPr/>
            </a:pP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scanf(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%d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,&amp;a[i]);</a:t>
            </a:r>
          </a:p>
        </p:txBody>
      </p:sp>
      <p:sp>
        <p:nvSpPr>
          <p:cNvPr id="250890" name="Text Box 10"/>
          <p:cNvSpPr txBox="1">
            <a:spLocks noChangeArrowheads="1"/>
          </p:cNvSpPr>
          <p:nvPr/>
        </p:nvSpPr>
        <p:spPr bwMode="auto">
          <a:xfrm>
            <a:off x="4716463" y="2586038"/>
            <a:ext cx="2551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输出方法：</a:t>
            </a:r>
          </a:p>
        </p:txBody>
      </p:sp>
      <p:sp>
        <p:nvSpPr>
          <p:cNvPr id="250891" name="Text Box 11"/>
          <p:cNvSpPr txBox="1">
            <a:spLocks noChangeArrowheads="1"/>
          </p:cNvSpPr>
          <p:nvPr/>
        </p:nvSpPr>
        <p:spPr bwMode="auto">
          <a:xfrm>
            <a:off x="4716463" y="3365500"/>
            <a:ext cx="3497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zh-CN" altLang="en-US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输出第</a:t>
            </a:r>
            <a:r>
              <a:rPr kumimoji="1" lang="en-US" altLang="zh-CN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i</a:t>
            </a:r>
            <a:r>
              <a:rPr kumimoji="1" lang="zh-CN" altLang="en-US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个数组元素：</a:t>
            </a:r>
          </a:p>
        </p:txBody>
      </p:sp>
      <p:sp>
        <p:nvSpPr>
          <p:cNvPr id="250892" name="Text Box 12"/>
          <p:cNvSpPr txBox="1">
            <a:spLocks noChangeArrowheads="1"/>
          </p:cNvSpPr>
          <p:nvPr/>
        </p:nvSpPr>
        <p:spPr bwMode="auto">
          <a:xfrm>
            <a:off x="4787900" y="3887788"/>
            <a:ext cx="33289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0"/>
              </a:spcBef>
              <a:defRPr/>
            </a:pP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printf(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%d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,a[i]);</a:t>
            </a:r>
          </a:p>
        </p:txBody>
      </p:sp>
      <p:sp>
        <p:nvSpPr>
          <p:cNvPr id="250893" name="Text Box 13"/>
          <p:cNvSpPr txBox="1">
            <a:spLocks noChangeArrowheads="1"/>
          </p:cNvSpPr>
          <p:nvPr/>
        </p:nvSpPr>
        <p:spPr bwMode="auto">
          <a:xfrm>
            <a:off x="4716463" y="4505325"/>
            <a:ext cx="4003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zh-CN" altLang="en-US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输出整个数组元素：</a:t>
            </a:r>
          </a:p>
        </p:txBody>
      </p:sp>
      <p:sp>
        <p:nvSpPr>
          <p:cNvPr id="250894" name="Text Box 14"/>
          <p:cNvSpPr txBox="1">
            <a:spLocks noChangeArrowheads="1"/>
          </p:cNvSpPr>
          <p:nvPr/>
        </p:nvSpPr>
        <p:spPr bwMode="auto">
          <a:xfrm>
            <a:off x="4797425" y="5375275"/>
            <a:ext cx="41751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0"/>
              </a:spcBef>
              <a:defRPr/>
            </a:pPr>
            <a:r>
              <a:rPr kumimoji="1" lang="en-US" altLang="zh-CN" sz="24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for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(i=0;i&lt;10;i++)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defRPr/>
            </a:pP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printf(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%d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,a[i]);</a:t>
            </a:r>
          </a:p>
        </p:txBody>
      </p:sp>
      <p:sp>
        <p:nvSpPr>
          <p:cNvPr id="250895" name="Rectangle 15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591693"/>
          </a:xfrm>
        </p:spPr>
        <p:txBody>
          <a:bodyPr>
            <a:normAutofit fontScale="90000"/>
          </a:bodyPr>
          <a:lstStyle/>
          <a:p>
            <a:r>
              <a:rPr lang="zh-CN" altLang="en-US" b="0"/>
              <a:t>一维数组的输入和输出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28D5-2FF0-684C-952A-029FE54F81CD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  <p:transition>
    <p:blinds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ChangeArrowheads="1"/>
          </p:cNvSpPr>
          <p:nvPr/>
        </p:nvSpPr>
        <p:spPr bwMode="auto">
          <a:xfrm>
            <a:off x="250825" y="115888"/>
            <a:ext cx="9001125" cy="679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#include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&lt;stdio.h&gt;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#define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ARR_SIZE  40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main()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{ 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float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score[ARR_SIZE];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int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  n, i;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long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 num[ARR_SIZE];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printf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("Please enter total number:");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scanf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("%d", &amp;n);                  </a:t>
            </a:r>
            <a:r>
              <a:rPr lang="en-US" altLang="zh-CN" sz="2000">
                <a:solidFill>
                  <a:srgbClr val="996600"/>
                </a:solidFill>
                <a:latin typeface="Courier New" charset="0"/>
                <a:ea typeface="宋体" charset="0"/>
              </a:rPr>
              <a:t>/*</a:t>
            </a:r>
            <a:r>
              <a:rPr lang="zh-CN" altLang="en-US" sz="2000">
                <a:solidFill>
                  <a:srgbClr val="996600"/>
                </a:solidFill>
                <a:latin typeface="Courier New" charset="0"/>
                <a:ea typeface="宋体" charset="0"/>
              </a:rPr>
              <a:t>从键盘输入学生人数</a:t>
            </a:r>
            <a:r>
              <a:rPr lang="en-US" altLang="zh-CN" sz="2000">
                <a:solidFill>
                  <a:srgbClr val="996600"/>
                </a:solidFill>
                <a:latin typeface="Courier New" charset="0"/>
                <a:ea typeface="宋体" charset="0"/>
              </a:rPr>
              <a:t>n*/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	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printf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(“Please enter the number and score:\n”)</a:t>
            </a:r>
            <a:r>
              <a:rPr lang="zh-CN" altLang="en-US" sz="2000">
                <a:solidFill>
                  <a:srgbClr val="000066"/>
                </a:solidFill>
                <a:latin typeface="Courier New" charset="0"/>
                <a:ea typeface="宋体" charset="0"/>
              </a:rPr>
              <a:t>；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for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(i=0; i&lt;n; i++) </a:t>
            </a:r>
            <a:r>
              <a:rPr lang="en-US" altLang="zh-CN" sz="1800">
                <a:solidFill>
                  <a:srgbClr val="996600"/>
                </a:solidFill>
                <a:latin typeface="Courier New" charset="0"/>
                <a:ea typeface="宋体" charset="0"/>
              </a:rPr>
              <a:t>/*</a:t>
            </a:r>
            <a:r>
              <a:rPr lang="zh-CN" altLang="en-US" sz="1800">
                <a:solidFill>
                  <a:srgbClr val="996600"/>
                </a:solidFill>
                <a:latin typeface="Courier New" charset="0"/>
                <a:ea typeface="宋体" charset="0"/>
              </a:rPr>
              <a:t>分别以长整型和实型格式输入学生的学号和成绩*</a:t>
            </a:r>
            <a:r>
              <a:rPr lang="en-US" altLang="zh-CN" sz="1800">
                <a:solidFill>
                  <a:srgbClr val="996600"/>
                </a:solidFill>
                <a:latin typeface="Courier New" charset="0"/>
                <a:ea typeface="宋体" charset="0"/>
              </a:rPr>
              <a:t>/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{  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scanf("%ld%f", &amp;num[i], &amp;score[i]);      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}	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printf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("Your enter the number and score:\n");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for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(i=0; i&lt;n; i++)    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{ 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printf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("%d  %f\n", num[i], score[i]);       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}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  </a:t>
            </a:r>
            <a:r>
              <a:rPr lang="en-US" altLang="zh-CN" sz="2000">
                <a:solidFill>
                  <a:schemeClr val="accent2"/>
                </a:solidFill>
                <a:latin typeface="Courier New" charset="0"/>
                <a:ea typeface="宋体" charset="0"/>
              </a:rPr>
              <a:t>system</a:t>
            </a: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("pause");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66"/>
                </a:solidFill>
                <a:latin typeface="Courier New" charset="0"/>
                <a:ea typeface="宋体" charset="0"/>
              </a:rPr>
              <a:t>}</a:t>
            </a:r>
            <a:endParaRPr lang="zh-CN" altLang="en-US" sz="2000">
              <a:solidFill>
                <a:srgbClr val="000066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49191" name="Rectangle 7"/>
          <p:cNvSpPr>
            <a:spLocks noChangeArrowheads="1"/>
          </p:cNvSpPr>
          <p:nvPr/>
        </p:nvSpPr>
        <p:spPr bwMode="auto">
          <a:xfrm>
            <a:off x="539750" y="1268413"/>
            <a:ext cx="6048375" cy="172878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49192" name="Rectangle 8"/>
          <p:cNvSpPr>
            <a:spLocks noChangeArrowheads="1"/>
          </p:cNvSpPr>
          <p:nvPr/>
        </p:nvSpPr>
        <p:spPr bwMode="auto">
          <a:xfrm>
            <a:off x="539750" y="4005263"/>
            <a:ext cx="5761038" cy="503237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49193" name="Rectangle 9"/>
          <p:cNvSpPr>
            <a:spLocks noChangeArrowheads="1"/>
          </p:cNvSpPr>
          <p:nvPr/>
        </p:nvSpPr>
        <p:spPr bwMode="auto">
          <a:xfrm>
            <a:off x="539750" y="5516563"/>
            <a:ext cx="6119813" cy="503237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4CCB-AA7D-304B-BA90-530C8D6D1432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738745" y="245270"/>
            <a:ext cx="525598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请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登记某班级数学成绩，再输出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9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9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91" grpId="0" animBg="1"/>
      <p:bldP spid="349192" grpId="0" animBg="1"/>
      <p:bldP spid="34919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5380AA-07E5-D70C-6CF7-5D4B4364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946" y="2420888"/>
            <a:ext cx="7772400" cy="1609344"/>
          </a:xfrm>
        </p:spPr>
        <p:txBody>
          <a:bodyPr/>
          <a:lstStyle/>
          <a:p>
            <a:r>
              <a:rPr kumimoji="1" lang="zh-CN" altLang="en-US"/>
              <a:t>二、字符数组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1D7601-4EBA-F175-D8CE-F71929580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3FF3-3EA5-4F49-B1AA-0CAAC22064A3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74C922-CE26-32B7-ABA5-C3E5104C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455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01" y="0"/>
            <a:ext cx="8447198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51A1-5A1E-7B44-809F-A65378236DD7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86CE8F-D220-1B1F-88FC-857EA3848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808" y="1500518"/>
            <a:ext cx="936104" cy="41825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4401C96-107F-E509-E152-F49CDD480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316" y="1500518"/>
            <a:ext cx="936104" cy="41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4297"/>
      </p:ext>
    </p:extLst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Century Schoolbook" charset="0"/>
                <a:ea typeface="宋体" charset="0"/>
              </a:rPr>
              <a:t>字符串</a:t>
            </a:r>
          </a:p>
          <a:p>
            <a:pPr lvl="1"/>
            <a:r>
              <a:rPr lang="zh-CN" altLang="en-US">
                <a:latin typeface="Century Schoolbook" charset="0"/>
                <a:ea typeface="宋体" charset="0"/>
              </a:rPr>
              <a:t>一串以</a:t>
            </a:r>
            <a:r>
              <a:rPr lang="en-US" altLang="zh-CN">
                <a:solidFill>
                  <a:srgbClr val="FF0000"/>
                </a:solidFill>
                <a:latin typeface="Courier New" charset="0"/>
                <a:ea typeface="宋体" charset="0"/>
              </a:rPr>
              <a:t>‘\0’</a:t>
            </a:r>
            <a:r>
              <a:rPr lang="zh-CN" altLang="en-US">
                <a:latin typeface="Century Schoolbook" charset="0"/>
                <a:ea typeface="宋体" charset="0"/>
              </a:rPr>
              <a:t>结尾的字符在</a:t>
            </a:r>
            <a:r>
              <a:rPr lang="en-US" altLang="zh-CN">
                <a:latin typeface="Century Schoolbook" charset="0"/>
                <a:ea typeface="宋体" charset="0"/>
              </a:rPr>
              <a:t>C</a:t>
            </a:r>
            <a:r>
              <a:rPr lang="zh-CN" altLang="en-US">
                <a:latin typeface="Century Schoolbook" charset="0"/>
                <a:ea typeface="宋体" charset="0"/>
              </a:rPr>
              <a:t>语言中被看作字符串</a:t>
            </a:r>
            <a:r>
              <a:rPr lang="en-US" altLang="zh-CN">
                <a:latin typeface="Century Schoolbook" charset="0"/>
                <a:ea typeface="宋体" charset="0"/>
              </a:rPr>
              <a:t>. ′</a:t>
            </a:r>
            <a:r>
              <a:rPr lang="zh-CN" altLang="en-US">
                <a:latin typeface="Century Schoolbook" charset="0"/>
                <a:ea typeface="宋体" charset="0"/>
              </a:rPr>
              <a:t>＼</a:t>
            </a:r>
            <a:r>
              <a:rPr lang="en-US" altLang="zh-CN">
                <a:latin typeface="Century Schoolbook" charset="0"/>
                <a:ea typeface="宋体" charset="0"/>
              </a:rPr>
              <a:t>0′</a:t>
            </a:r>
            <a:r>
              <a:rPr lang="zh-CN" altLang="en-US">
                <a:latin typeface="Century Schoolbook" charset="0"/>
                <a:ea typeface="宋体" charset="0"/>
              </a:rPr>
              <a:t>代表</a:t>
            </a:r>
            <a:r>
              <a:rPr lang="en-US" altLang="zh-CN">
                <a:latin typeface="Century Schoolbook" charset="0"/>
                <a:ea typeface="宋体" charset="0"/>
              </a:rPr>
              <a:t>ASCII</a:t>
            </a:r>
            <a:r>
              <a:rPr lang="zh-CN" altLang="en-US">
                <a:latin typeface="Century Schoolbook" charset="0"/>
                <a:ea typeface="宋体" charset="0"/>
              </a:rPr>
              <a:t>码为</a:t>
            </a:r>
            <a:r>
              <a:rPr lang="en-US" altLang="zh-CN">
                <a:latin typeface="Century Schoolbook" charset="0"/>
                <a:ea typeface="宋体" charset="0"/>
              </a:rPr>
              <a:t>0</a:t>
            </a:r>
            <a:r>
              <a:rPr lang="zh-CN" altLang="en-US">
                <a:latin typeface="Century Schoolbook" charset="0"/>
                <a:ea typeface="宋体" charset="0"/>
              </a:rPr>
              <a:t>的字符，不是一个可以显示的字符，而是一个“空操作符”，即它什么也不干。它只起一个供辨别的标志。</a:t>
            </a:r>
          </a:p>
          <a:p>
            <a:pPr lvl="1"/>
            <a:r>
              <a:rPr lang="zh-CN" altLang="en-US">
                <a:latin typeface="Century Schoolbook" charset="0"/>
                <a:ea typeface="宋体" charset="0"/>
              </a:rPr>
              <a:t>用</a:t>
            </a:r>
            <a:r>
              <a:rPr lang="zh-CN" altLang="en-US">
                <a:solidFill>
                  <a:srgbClr val="FF0000"/>
                </a:solidFill>
                <a:latin typeface="Century Schoolbook" charset="0"/>
                <a:ea typeface="宋体" charset="0"/>
              </a:rPr>
              <a:t>双引号</a:t>
            </a:r>
            <a:r>
              <a:rPr lang="zh-CN" altLang="en-US">
                <a:latin typeface="Century Schoolbook" charset="0"/>
                <a:ea typeface="宋体" charset="0"/>
              </a:rPr>
              <a:t>括起的一串字符是字符串常量，</a:t>
            </a:r>
            <a:r>
              <a:rPr lang="en-US" altLang="zh-CN">
                <a:latin typeface="Century Schoolbook" charset="0"/>
                <a:ea typeface="宋体" charset="0"/>
              </a:rPr>
              <a:t>C</a:t>
            </a:r>
            <a:r>
              <a:rPr lang="zh-CN" altLang="en-US">
                <a:latin typeface="Century Schoolbook" charset="0"/>
                <a:ea typeface="宋体" charset="0"/>
              </a:rPr>
              <a:t>语言自动为其添加</a:t>
            </a:r>
            <a:r>
              <a:rPr lang="en-US" altLang="zh-CN">
                <a:solidFill>
                  <a:srgbClr val="000000"/>
                </a:solidFill>
                <a:latin typeface="Courier New" charset="0"/>
                <a:ea typeface="宋体" charset="0"/>
              </a:rPr>
              <a:t>'\0'</a:t>
            </a:r>
            <a:r>
              <a:rPr lang="zh-CN" altLang="en-US">
                <a:latin typeface="Century Schoolbook" charset="0"/>
                <a:ea typeface="宋体" charset="0"/>
              </a:rPr>
              <a:t>终结符</a:t>
            </a:r>
          </a:p>
          <a:p>
            <a:pPr lvl="1"/>
            <a:r>
              <a:rPr lang="en-US" altLang="zh-CN">
                <a:latin typeface="Century Schoolbook" charset="0"/>
                <a:ea typeface="宋体" charset="0"/>
              </a:rPr>
              <a:t>C</a:t>
            </a:r>
            <a:r>
              <a:rPr lang="zh-CN" altLang="en-US">
                <a:latin typeface="Century Schoolbook" charset="0"/>
                <a:ea typeface="宋体" charset="0"/>
              </a:rPr>
              <a:t>语言并没有为字符串提供任何专门的表示法，完全使用字符数组和字符指针来处理</a:t>
            </a:r>
          </a:p>
          <a:p>
            <a:r>
              <a:rPr lang="zh-CN" altLang="en-US">
                <a:latin typeface="Century Schoolbook" charset="0"/>
                <a:ea typeface="宋体" charset="0"/>
              </a:rPr>
              <a:t>字符数组</a:t>
            </a:r>
          </a:p>
          <a:p>
            <a:pPr lvl="1"/>
            <a:r>
              <a:rPr lang="zh-CN" altLang="en-US">
                <a:latin typeface="Century Schoolbook" charset="0"/>
                <a:ea typeface="宋体" charset="0"/>
              </a:rPr>
              <a:t>每个元素都是字符类型的数组</a:t>
            </a:r>
          </a:p>
          <a:p>
            <a:pPr lvl="2"/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char</a:t>
            </a:r>
            <a:r>
              <a:rPr lang="en-US" altLang="zh-CN">
                <a:solidFill>
                  <a:srgbClr val="000000"/>
                </a:solidFill>
                <a:latin typeface="Courier New" charset="0"/>
                <a:ea typeface="宋体" charset="0"/>
              </a:rPr>
              <a:t> string[80];</a:t>
            </a:r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rgbClr val="2C3036"/>
                </a:solidFill>
                <a:latin typeface="Century Schoolbook" charset="0"/>
                <a:ea typeface="华文楷体" charset="-122"/>
              </a:rPr>
              <a:t>字符串</a:t>
            </a:r>
            <a:r>
              <a:rPr lang="en-US" altLang="zh-CN" sz="4000">
                <a:solidFill>
                  <a:srgbClr val="2C3036"/>
                </a:solidFill>
                <a:latin typeface="Century Schoolbook" charset="0"/>
                <a:ea typeface="华文楷体" charset="-122"/>
              </a:rPr>
              <a:t>(STRING)</a:t>
            </a:r>
            <a:r>
              <a:rPr lang="zh-CN" altLang="en-US" sz="4000">
                <a:solidFill>
                  <a:srgbClr val="2C3036"/>
                </a:solidFill>
                <a:latin typeface="Century Schoolbook" charset="0"/>
                <a:ea typeface="华文楷体" charset="-122"/>
              </a:rPr>
              <a:t>与字符数组</a:t>
            </a:r>
            <a:endParaRPr lang="en-US" altLang="zh-CN" sz="4000">
              <a:solidFill>
                <a:srgbClr val="2C3036"/>
              </a:solidFill>
              <a:latin typeface="Century Schoolbook" charset="0"/>
              <a:ea typeface="华文楷体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823A5-25BF-BB42-AE1E-7CC2EFF92C71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10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3"/>
          <p:cNvSpPr>
            <a:spLocks noGrp="1" noChangeArrowheads="1"/>
          </p:cNvSpPr>
          <p:nvPr>
            <p:ph idx="1"/>
          </p:nvPr>
        </p:nvSpPr>
        <p:spPr>
          <a:xfrm>
            <a:off x="436563" y="3767138"/>
            <a:ext cx="3824287" cy="2359025"/>
          </a:xfrm>
          <a:ln w="38100">
            <a:solidFill>
              <a:srgbClr val="660066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</a:pPr>
            <a:r>
              <a:rPr lang="en-US" altLang="zh-CN" sz="2400">
                <a:solidFill>
                  <a:srgbClr val="000000"/>
                </a:solidFill>
                <a:latin typeface="Arial" charset="0"/>
                <a:ea typeface="宋体" charset="0"/>
              </a:rPr>
              <a:t>for (i=0; s[i]!='\0'; i++)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</a:pPr>
            <a:r>
              <a:rPr lang="en-US" altLang="zh-CN" sz="2400">
                <a:solidFill>
                  <a:srgbClr val="000000"/>
                </a:solidFill>
                <a:latin typeface="Arial" charset="0"/>
                <a:ea typeface="宋体" charset="0"/>
              </a:rPr>
              <a:t>{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	 </a:t>
            </a:r>
            <a:r>
              <a:rPr lang="en-US" altLang="zh-CN" sz="2400">
                <a:solidFill>
                  <a:srgbClr val="0000FF"/>
                </a:solidFill>
                <a:latin typeface="Arial" charset="0"/>
                <a:ea typeface="宋体" charset="0"/>
              </a:rPr>
              <a:t> putchar(</a:t>
            </a:r>
            <a:r>
              <a:rPr lang="zh-CN" altLang="en-US" sz="2400">
                <a:solidFill>
                  <a:srgbClr val="0000FF"/>
                </a:solidFill>
                <a:latin typeface="Arial" charset="0"/>
                <a:ea typeface="宋体" charset="0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Arial" charset="0"/>
                <a:ea typeface="宋体" charset="0"/>
              </a:rPr>
              <a:t>s[i]</a:t>
            </a:r>
            <a:r>
              <a:rPr lang="zh-CN" altLang="en-US" sz="2400">
                <a:solidFill>
                  <a:srgbClr val="0000FF"/>
                </a:solidFill>
                <a:latin typeface="Arial" charset="0"/>
                <a:ea typeface="宋体" charset="0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Arial" charset="0"/>
                <a:ea typeface="宋体" charset="0"/>
              </a:rPr>
              <a:t>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</a:pPr>
            <a:r>
              <a:rPr lang="en-US" altLang="zh-CN" sz="2400">
                <a:solidFill>
                  <a:srgbClr val="000000"/>
                </a:solidFill>
                <a:latin typeface="Arial" charset="0"/>
                <a:ea typeface="宋体" charset="0"/>
              </a:rPr>
              <a:t>}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putchar('\n');</a:t>
            </a:r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696468"/>
          </a:xfrm>
        </p:spPr>
        <p:txBody>
          <a:bodyPr/>
          <a:lstStyle/>
          <a:p>
            <a:r>
              <a:rPr lang="zh-CN" altLang="en-US">
                <a:solidFill>
                  <a:srgbClr val="2C3036"/>
                </a:solidFill>
                <a:latin typeface="Century Schoolbook" charset="0"/>
                <a:ea typeface="华文楷体" charset="-122"/>
              </a:rPr>
              <a:t>字符数组的输入输出</a:t>
            </a:r>
          </a:p>
        </p:txBody>
      </p:sp>
      <p:sp>
        <p:nvSpPr>
          <p:cNvPr id="297990" name="Rectangle 6"/>
          <p:cNvSpPr>
            <a:spLocks noChangeArrowheads="1"/>
          </p:cNvSpPr>
          <p:nvPr/>
        </p:nvSpPr>
        <p:spPr bwMode="auto">
          <a:xfrm>
            <a:off x="469900" y="3203575"/>
            <a:ext cx="25908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7" rIns="92075" bIns="46037"/>
          <a:lstStyle/>
          <a:p>
            <a:pPr marL="342900" indent="-34290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0"/>
              <a:buNone/>
              <a:defRPr/>
            </a:pPr>
            <a:r>
              <a:rPr lang="en-US" altLang="zh-CN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char</a:t>
            </a:r>
            <a:r>
              <a:rPr lang="en-US" altLang="zh-CN" sz="2800" dirty="0">
                <a:solidFill>
                  <a:srgbClr val="3366F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 </a:t>
            </a:r>
            <a:r>
              <a:rPr lang="en-US" altLang="zh-CN" sz="2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s[10];</a:t>
            </a:r>
            <a:endParaRPr lang="zh-CN" altLang="en-US" sz="2800" dirty="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宋体" charset="0"/>
            </a:endParaRPr>
          </a:p>
        </p:txBody>
      </p:sp>
      <p:sp>
        <p:nvSpPr>
          <p:cNvPr id="94212" name="Rectangle 7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7" rIns="92075" bIns="46037" anchor="ctr"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0" hangingPunct="0">
              <a:lnSpc>
                <a:spcPct val="85000"/>
              </a:lnSpc>
            </a:pPr>
            <a:endParaRPr lang="zh-CN" altLang="en-US" sz="4000" b="0">
              <a:solidFill>
                <a:srgbClr val="2C3036"/>
              </a:solidFill>
              <a:latin typeface="Century Schoolbook" charset="0"/>
              <a:ea typeface="华文楷体" charset="-122"/>
            </a:endParaRPr>
          </a:p>
        </p:txBody>
      </p:sp>
      <p:sp>
        <p:nvSpPr>
          <p:cNvPr id="95240" name="Rectangle 3"/>
          <p:cNvSpPr txBox="1">
            <a:spLocks noChangeArrowheads="1"/>
          </p:cNvSpPr>
          <p:nvPr/>
        </p:nvSpPr>
        <p:spPr bwMode="auto">
          <a:xfrm>
            <a:off x="4875213" y="3773488"/>
            <a:ext cx="3619500" cy="2365375"/>
          </a:xfrm>
          <a:prstGeom prst="rect">
            <a:avLst/>
          </a:prstGeom>
          <a:noFill/>
          <a:ln w="2857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 hangingPunct="0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Monotype Sorts" charset="2"/>
              <a:buNone/>
            </a:pPr>
            <a:r>
              <a:rPr kumimoji="0" lang="en-US" altLang="zh-CN" b="0">
                <a:solidFill>
                  <a:schemeClr val="tx1"/>
                </a:solidFill>
                <a:latin typeface="Arial" charset="0"/>
              </a:rPr>
              <a:t>for (i=0; s[i]!='\0'; i++)</a:t>
            </a:r>
          </a:p>
          <a:p>
            <a:pPr hangingPunct="0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Monotype Sorts" charset="2"/>
              <a:buNone/>
            </a:pPr>
            <a:r>
              <a:rPr kumimoji="0" lang="en-US" altLang="zh-CN" b="0">
                <a:solidFill>
                  <a:schemeClr val="tx1"/>
                </a:solidFill>
                <a:latin typeface="Arial" charset="0"/>
              </a:rPr>
              <a:t>{</a:t>
            </a:r>
          </a:p>
          <a:p>
            <a:pPr hangingPunct="0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Monotype Sorts" charset="2"/>
              <a:buNone/>
            </a:pPr>
            <a:r>
              <a:rPr kumimoji="0" lang="en-US" altLang="zh-CN" b="0">
                <a:solidFill>
                  <a:schemeClr val="tx1"/>
                </a:solidFill>
                <a:latin typeface="Arial" charset="0"/>
              </a:rPr>
              <a:t>	 </a:t>
            </a:r>
            <a:r>
              <a:rPr kumimoji="0" lang="en-US" altLang="zh-CN" b="0">
                <a:solidFill>
                  <a:srgbClr val="0000FF"/>
                </a:solidFill>
                <a:latin typeface="Arial" charset="0"/>
              </a:rPr>
              <a:t> printf(“%c”,s[i]);</a:t>
            </a:r>
          </a:p>
          <a:p>
            <a:pPr hangingPunct="0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Monotype Sorts" charset="2"/>
              <a:buNone/>
            </a:pPr>
            <a:r>
              <a:rPr kumimoji="0" lang="en-US" altLang="zh-CN" b="0">
                <a:solidFill>
                  <a:schemeClr val="tx1"/>
                </a:solidFill>
                <a:latin typeface="Arial" charset="0"/>
              </a:rPr>
              <a:t>}</a:t>
            </a:r>
          </a:p>
          <a:p>
            <a:pPr hangingPunct="0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Monotype Sorts" charset="2"/>
              <a:buNone/>
            </a:pPr>
            <a:r>
              <a:rPr kumimoji="0" lang="en-US" altLang="zh-CN" b="0">
                <a:solidFill>
                  <a:schemeClr val="tx1"/>
                </a:solidFill>
                <a:latin typeface="Arial" charset="0"/>
              </a:rPr>
              <a:t>printf(“\n”);</a:t>
            </a:r>
          </a:p>
          <a:p>
            <a:pPr hangingPunct="0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Monotype Sorts" charset="2"/>
              <a:buNone/>
            </a:pPr>
            <a:endParaRPr kumimoji="0" lang="en-US" altLang="zh-CN" b="0">
              <a:solidFill>
                <a:schemeClr val="tx1"/>
              </a:solidFill>
              <a:latin typeface="Arial" charset="0"/>
            </a:endParaRPr>
          </a:p>
          <a:p>
            <a:pPr hangingPunct="0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Monotype Sorts" charset="2"/>
              <a:buNone/>
            </a:pPr>
            <a:endParaRPr kumimoji="0" lang="en-US" altLang="zh-CN" b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457200" y="1371600"/>
            <a:ext cx="18256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rgbClr val="006600"/>
                </a:solidFill>
                <a:cs typeface="宋体" charset="0"/>
              </a:rPr>
              <a:t>方法一：</a:t>
            </a:r>
            <a:endParaRPr lang="en-US" altLang="zh-CN" sz="3200" dirty="0">
              <a:solidFill>
                <a:srgbClr val="006600"/>
              </a:solidFill>
              <a:cs typeface="宋体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79413" y="2162175"/>
            <a:ext cx="8188325" cy="1033463"/>
          </a:xfrm>
          <a:prstGeom prst="rect">
            <a:avLst/>
          </a:prstGeom>
          <a:solidFill>
            <a:srgbClr val="FFF3FF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lnSpc>
                <a:spcPct val="110000"/>
              </a:lnSpc>
              <a:spcBef>
                <a:spcPct val="10000"/>
              </a:spcBef>
              <a:buFontTx/>
              <a:buChar char="•"/>
            </a:pPr>
            <a:r>
              <a:rPr kumimoji="0" lang="zh-CN" altLang="en-US" sz="2800">
                <a:solidFill>
                  <a:schemeClr val="tx1"/>
                </a:solidFill>
                <a:latin typeface="宋体" charset="0"/>
              </a:rPr>
              <a:t>逐个字符输入输出。用格式符</a:t>
            </a:r>
            <a:r>
              <a:rPr kumimoji="0" lang="zh-CN" altLang="en-US" sz="2800">
                <a:solidFill>
                  <a:schemeClr val="tx1"/>
                </a:solidFill>
                <a:latin typeface="Courier New" charset="0"/>
              </a:rPr>
              <a:t>“</a:t>
            </a:r>
            <a:r>
              <a:rPr kumimoji="0" lang="en-US" altLang="zh-CN" sz="2800">
                <a:solidFill>
                  <a:srgbClr val="FF0000"/>
                </a:solidFill>
                <a:latin typeface="宋体" charset="0"/>
              </a:rPr>
              <a:t>%c</a:t>
            </a:r>
            <a:r>
              <a:rPr kumimoji="0" lang="zh-CN" altLang="en-US" sz="2800">
                <a:solidFill>
                  <a:schemeClr val="tx1"/>
                </a:solidFill>
                <a:latin typeface="Courier New" charset="0"/>
              </a:rPr>
              <a:t>”或者</a:t>
            </a:r>
            <a:r>
              <a:rPr kumimoji="0" lang="en-US" altLang="zh-CN" sz="2800">
                <a:solidFill>
                  <a:srgbClr val="FF0000"/>
                </a:solidFill>
                <a:latin typeface="Courier New" charset="0"/>
              </a:rPr>
              <a:t>putchar</a:t>
            </a:r>
            <a:r>
              <a:rPr kumimoji="0" lang="zh-CN" altLang="en-US" sz="2800">
                <a:solidFill>
                  <a:srgbClr val="FF0000"/>
                </a:solidFill>
                <a:latin typeface="Courier New" charset="0"/>
              </a:rPr>
              <a:t>、</a:t>
            </a:r>
            <a:r>
              <a:rPr kumimoji="0" lang="en-US" altLang="zh-CN" sz="2800">
                <a:solidFill>
                  <a:srgbClr val="FF0000"/>
                </a:solidFill>
                <a:latin typeface="Courier New" charset="0"/>
              </a:rPr>
              <a:t>getchar</a:t>
            </a:r>
            <a:r>
              <a:rPr kumimoji="0" lang="zh-CN" altLang="en-US" sz="2800">
                <a:solidFill>
                  <a:schemeClr val="tx1"/>
                </a:solidFill>
                <a:latin typeface="宋体" charset="0"/>
              </a:rPr>
              <a:t>输入或输出一个字符。</a:t>
            </a:r>
            <a:endParaRPr kumimoji="0" lang="en-US" altLang="zh-CN" sz="2800">
              <a:solidFill>
                <a:schemeClr val="tx1"/>
              </a:solidFill>
              <a:latin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D8D4-F63E-484B-9D5F-D04ED399E1C8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676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648843"/>
          </a:xfrm>
        </p:spPr>
        <p:txBody>
          <a:bodyPr>
            <a:normAutofit fontScale="90000"/>
          </a:bodyPr>
          <a:lstStyle/>
          <a:p>
            <a:r>
              <a:rPr lang="zh-CN" altLang="en-US">
                <a:solidFill>
                  <a:srgbClr val="2C3036"/>
                </a:solidFill>
                <a:latin typeface="Century Schoolbook" charset="0"/>
                <a:ea typeface="华文楷体" charset="-122"/>
              </a:rPr>
              <a:t>字符数组的输入输出</a:t>
            </a:r>
          </a:p>
        </p:txBody>
      </p:sp>
      <p:sp>
        <p:nvSpPr>
          <p:cNvPr id="297989" name="Rectangle 5"/>
          <p:cNvSpPr>
            <a:spLocks noChangeArrowheads="1"/>
          </p:cNvSpPr>
          <p:nvPr/>
        </p:nvSpPr>
        <p:spPr bwMode="auto">
          <a:xfrm>
            <a:off x="409575" y="3771900"/>
            <a:ext cx="3814763" cy="1079500"/>
          </a:xfrm>
          <a:prstGeom prst="rect">
            <a:avLst/>
          </a:prstGeom>
          <a:noFill/>
          <a:ln w="28575" cmpd="sng">
            <a:solidFill>
              <a:srgbClr val="660066"/>
            </a:solidFill>
            <a:miter lim="800000"/>
            <a:headEnd/>
            <a:tailEnd/>
          </a:ln>
          <a:effectLst/>
        </p:spPr>
        <p:txBody>
          <a:bodyPr lIns="92075" tIns="46037" rIns="92075" bIns="46037"/>
          <a:lstStyle/>
          <a:p>
            <a:pPr marL="342900" indent="-34290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0"/>
              <a:buNone/>
              <a:defRPr/>
            </a:pPr>
            <a:r>
              <a:rPr lang="en-US" altLang="zh-CN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scanf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("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%</a:t>
            </a:r>
            <a:r>
              <a:rPr lang="en-US" altLang="zh-CN" sz="2800" dirty="0" err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s</a:t>
            </a:r>
            <a:r>
              <a:rPr lang="en-US" altLang="zh-CN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",s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); </a:t>
            </a:r>
          </a:p>
          <a:p>
            <a:pPr marL="342900" indent="-34290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0"/>
              <a:buNone/>
              <a:defRPr/>
            </a:pPr>
            <a:r>
              <a:rPr lang="en-US" altLang="zh-CN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printf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("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%</a:t>
            </a:r>
            <a:r>
              <a:rPr lang="en-US" altLang="zh-CN" sz="2800" dirty="0" err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s</a:t>
            </a:r>
            <a:r>
              <a:rPr lang="en-US" altLang="zh-CN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",s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);</a:t>
            </a:r>
            <a:endParaRPr lang="zh-CN" altLang="en-US" sz="2800" dirty="0">
              <a:solidFill>
                <a:schemeClr val="tx1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宋体" charset="0"/>
            </a:endParaRPr>
          </a:p>
        </p:txBody>
      </p:sp>
      <p:sp>
        <p:nvSpPr>
          <p:cNvPr id="96259" name="Rectangle 7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7" rIns="92075" bIns="46037" anchor="ctr"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0" hangingPunct="0">
              <a:lnSpc>
                <a:spcPct val="85000"/>
              </a:lnSpc>
            </a:pPr>
            <a:endParaRPr lang="zh-CN" altLang="en-US" sz="4000" b="0">
              <a:solidFill>
                <a:srgbClr val="2C3036"/>
              </a:solidFill>
              <a:latin typeface="Century Schoolbook" charset="0"/>
              <a:ea typeface="华文楷体" charset="-122"/>
            </a:endParaRPr>
          </a:p>
        </p:txBody>
      </p:sp>
      <p:sp>
        <p:nvSpPr>
          <p:cNvPr id="297992" name="Rectangle 8"/>
          <p:cNvSpPr>
            <a:spLocks noChangeArrowheads="1"/>
          </p:cNvSpPr>
          <p:nvPr/>
        </p:nvSpPr>
        <p:spPr bwMode="auto">
          <a:xfrm>
            <a:off x="4781550" y="3757613"/>
            <a:ext cx="3814763" cy="1079500"/>
          </a:xfrm>
          <a:prstGeom prst="rect">
            <a:avLst/>
          </a:prstGeom>
          <a:noFill/>
          <a:ln w="19050" cmpd="sng">
            <a:solidFill>
              <a:srgbClr val="660066"/>
            </a:solidFill>
            <a:miter lim="800000"/>
            <a:headEnd/>
            <a:tailEnd/>
          </a:ln>
          <a:effectLst/>
        </p:spPr>
        <p:txBody>
          <a:bodyPr lIns="92075" tIns="46037" rIns="92075" bIns="46037"/>
          <a:lstStyle/>
          <a:p>
            <a:pPr marL="342900" indent="-34290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0"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gets(s); </a:t>
            </a:r>
          </a:p>
          <a:p>
            <a:pPr marL="342900" indent="-34290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0"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puts(s);</a:t>
            </a:r>
            <a:endParaRPr lang="zh-CN" altLang="en-US" sz="2800" dirty="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宋体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1000" y="2133600"/>
            <a:ext cx="8188325" cy="1033463"/>
          </a:xfrm>
          <a:prstGeom prst="rect">
            <a:avLst/>
          </a:prstGeom>
          <a:solidFill>
            <a:srgbClr val="FFF3FF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lnSpc>
                <a:spcPct val="110000"/>
              </a:lnSpc>
              <a:spcBef>
                <a:spcPct val="10000"/>
              </a:spcBef>
              <a:buFontTx/>
              <a:buChar char="•"/>
            </a:pPr>
            <a:r>
              <a:rPr kumimoji="0" lang="zh-CN" altLang="en-US" sz="2800">
                <a:solidFill>
                  <a:schemeClr val="tx1"/>
                </a:solidFill>
                <a:latin typeface="宋体" charset="0"/>
              </a:rPr>
              <a:t>将整个字符串一次输入或输出。用</a:t>
            </a:r>
            <a:r>
              <a:rPr kumimoji="0" lang="zh-CN" altLang="en-US" sz="2800">
                <a:solidFill>
                  <a:schemeClr val="tx1"/>
                </a:solidFill>
              </a:rPr>
              <a:t>“</a:t>
            </a:r>
            <a:r>
              <a:rPr kumimoji="0" lang="en-US" altLang="zh-CN" sz="2800">
                <a:solidFill>
                  <a:srgbClr val="FF0000"/>
                </a:solidFill>
                <a:latin typeface="宋体" charset="0"/>
              </a:rPr>
              <a:t>%s</a:t>
            </a:r>
            <a:r>
              <a:rPr kumimoji="0" lang="zh-CN" altLang="en-US" sz="2800">
                <a:solidFill>
                  <a:schemeClr val="tx1"/>
                </a:solidFill>
              </a:rPr>
              <a:t>”</a:t>
            </a:r>
            <a:r>
              <a:rPr kumimoji="0" lang="zh-CN" altLang="en-US" sz="2800">
                <a:solidFill>
                  <a:schemeClr val="tx1"/>
                </a:solidFill>
                <a:latin typeface="宋体" charset="0"/>
              </a:rPr>
              <a:t>格式符，或者</a:t>
            </a:r>
            <a:r>
              <a:rPr kumimoji="0" lang="en-US" altLang="zh-CN" sz="2800">
                <a:solidFill>
                  <a:schemeClr val="tx1"/>
                </a:solidFill>
                <a:latin typeface="宋体" charset="0"/>
              </a:rPr>
              <a:t>gets</a:t>
            </a:r>
            <a:r>
              <a:rPr kumimoji="0" lang="zh-CN" altLang="zh-CN" sz="2800">
                <a:solidFill>
                  <a:schemeClr val="tx1"/>
                </a:solidFill>
                <a:latin typeface="宋体" charset="0"/>
              </a:rPr>
              <a:t>、</a:t>
            </a:r>
            <a:r>
              <a:rPr kumimoji="0" lang="en-US" altLang="zh-CN" sz="2800">
                <a:solidFill>
                  <a:schemeClr val="tx1"/>
                </a:solidFill>
                <a:latin typeface="宋体" charset="0"/>
              </a:rPr>
              <a:t>puts</a:t>
            </a:r>
            <a:r>
              <a:rPr kumimoji="0" lang="zh-CN" altLang="en-US" sz="2800">
                <a:solidFill>
                  <a:schemeClr val="tx1"/>
                </a:solidFill>
                <a:latin typeface="宋体" charset="0"/>
              </a:rPr>
              <a:t>字符串整体输入输出。</a:t>
            </a:r>
            <a:r>
              <a:rPr kumimoji="0" lang="en-US" altLang="zh-CN" sz="2000">
                <a:solidFill>
                  <a:srgbClr val="003399"/>
                </a:solidFill>
              </a:rPr>
              <a:t> 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457200" y="1371600"/>
            <a:ext cx="18256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rgbClr val="006600"/>
                </a:solidFill>
                <a:cs typeface="宋体" charset="0"/>
              </a:rPr>
              <a:t>方法二：</a:t>
            </a:r>
            <a:endParaRPr lang="en-US" altLang="zh-CN" sz="3200" dirty="0">
              <a:solidFill>
                <a:srgbClr val="006600"/>
              </a:solidFill>
              <a:cs typeface="宋体" charset="0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469900" y="3203575"/>
            <a:ext cx="25908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7" rIns="92075" bIns="46037"/>
          <a:lstStyle/>
          <a:p>
            <a:pPr marL="342900" indent="-34290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0"/>
              <a:buNone/>
              <a:defRPr/>
            </a:pPr>
            <a:r>
              <a:rPr lang="en-US" altLang="zh-CN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char</a:t>
            </a:r>
            <a:r>
              <a:rPr lang="en-US" altLang="zh-CN" sz="2800" dirty="0">
                <a:solidFill>
                  <a:srgbClr val="3366F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 </a:t>
            </a:r>
            <a:r>
              <a:rPr lang="en-US" altLang="zh-CN" sz="2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宋体" charset="0"/>
              </a:rPr>
              <a:t>s[10];</a:t>
            </a:r>
            <a:endParaRPr lang="zh-CN" altLang="en-US" sz="2800" dirty="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06D72-07DC-DF47-AA80-ED91F3B54960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9" grpId="0" animBg="1"/>
      <p:bldP spid="29799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992" name="Picture 8" descr="g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850" y="2232025"/>
            <a:ext cx="345757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81986" name="Group 2"/>
          <p:cNvGrpSpPr>
            <a:grpSpLocks/>
          </p:cNvGrpSpPr>
          <p:nvPr/>
        </p:nvGrpSpPr>
        <p:grpSpPr bwMode="auto">
          <a:xfrm>
            <a:off x="344488" y="1665289"/>
            <a:ext cx="4313237" cy="1779588"/>
            <a:chOff x="240" y="2751"/>
            <a:chExt cx="2717" cy="1121"/>
          </a:xfrm>
        </p:grpSpPr>
        <p:sp>
          <p:nvSpPr>
            <p:cNvPr id="681987" name="Text Box 3"/>
            <p:cNvSpPr txBox="1">
              <a:spLocks noChangeArrowheads="1"/>
            </p:cNvSpPr>
            <p:nvPr/>
          </p:nvSpPr>
          <p:spPr bwMode="auto">
            <a:xfrm>
              <a:off x="240" y="3135"/>
              <a:ext cx="2717" cy="737"/>
            </a:xfrm>
            <a:prstGeom prst="rect">
              <a:avLst/>
            </a:prstGeom>
            <a:solidFill>
              <a:srgbClr val="F3FFF3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dirty="0">
                  <a:latin typeface="宋体" charset="0"/>
                  <a:cs typeface="宋体" charset="0"/>
                </a:rPr>
                <a:t>char c</a:t>
              </a:r>
              <a:r>
                <a:rPr lang="zh-CN" altLang="en-US" dirty="0">
                  <a:latin typeface="宋体" charset="0"/>
                  <a:cs typeface="宋体" charset="0"/>
                </a:rPr>
                <a:t>［］</a:t>
              </a:r>
              <a:r>
                <a:rPr lang="en-US" altLang="zh-CN" dirty="0">
                  <a:latin typeface="宋体" charset="0"/>
                  <a:cs typeface="宋体" charset="0"/>
                </a:rPr>
                <a:t>={″China″};</a:t>
              </a:r>
            </a:p>
            <a:p>
              <a:pPr>
                <a:defRPr/>
              </a:pPr>
              <a:r>
                <a:rPr lang="en-US" altLang="zh-CN" dirty="0" err="1">
                  <a:latin typeface="宋体" charset="0"/>
                  <a:cs typeface="宋体" charset="0"/>
                </a:rPr>
                <a:t>printf</a:t>
              </a:r>
              <a:r>
                <a:rPr lang="en-US" altLang="zh-CN" dirty="0">
                  <a:latin typeface="宋体" charset="0"/>
                  <a:cs typeface="宋体" charset="0"/>
                </a:rPr>
                <a:t>(″%s″</a:t>
              </a:r>
              <a:r>
                <a:rPr lang="zh-CN" altLang="en-US" dirty="0">
                  <a:latin typeface="宋体" charset="0"/>
                  <a:cs typeface="宋体" charset="0"/>
                </a:rPr>
                <a:t>，</a:t>
              </a:r>
              <a:r>
                <a:rPr lang="en-US" altLang="zh-CN" dirty="0">
                  <a:latin typeface="宋体" charset="0"/>
                  <a:cs typeface="宋体" charset="0"/>
                </a:rPr>
                <a:t>c);</a:t>
              </a:r>
              <a:r>
                <a:rPr lang="en-US" altLang="zh-CN" sz="2400" dirty="0">
                  <a:cs typeface="宋体" charset="0"/>
                </a:rPr>
                <a:t> </a:t>
              </a:r>
            </a:p>
          </p:txBody>
        </p:sp>
        <p:sp>
          <p:nvSpPr>
            <p:cNvPr id="681988" name="Text Box 4"/>
            <p:cNvSpPr txBox="1">
              <a:spLocks noChangeArrowheads="1"/>
            </p:cNvSpPr>
            <p:nvPr/>
          </p:nvSpPr>
          <p:spPr bwMode="auto">
            <a:xfrm>
              <a:off x="246" y="2751"/>
              <a:ext cx="648" cy="383"/>
            </a:xfrm>
            <a:prstGeom prst="rect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CC00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>
                  <a:solidFill>
                    <a:srgbClr val="FFFFBB"/>
                  </a:solidFill>
                  <a:cs typeface="宋体" charset="0"/>
                </a:rPr>
                <a:t>例如</a:t>
              </a:r>
            </a:p>
          </p:txBody>
        </p:sp>
      </p:grpSp>
      <p:sp>
        <p:nvSpPr>
          <p:cNvPr id="681990" name="Text Box 6"/>
          <p:cNvSpPr txBox="1">
            <a:spLocks noChangeArrowheads="1"/>
          </p:cNvSpPr>
          <p:nvPr/>
        </p:nvSpPr>
        <p:spPr bwMode="auto">
          <a:xfrm>
            <a:off x="1379538" y="3854450"/>
            <a:ext cx="3489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006600"/>
                </a:solidFill>
                <a:latin typeface="华文行楷" charset="0"/>
                <a:ea typeface="华文行楷" charset="0"/>
                <a:cs typeface="华文行楷" charset="0"/>
              </a:rPr>
              <a:t>在内存中数组</a:t>
            </a:r>
            <a:r>
              <a:rPr lang="en-US" altLang="zh-CN" dirty="0">
                <a:solidFill>
                  <a:srgbClr val="006600"/>
                </a:solidFill>
                <a:latin typeface="华文行楷" charset="0"/>
                <a:ea typeface="华文行楷" charset="0"/>
                <a:cs typeface="华文行楷" charset="0"/>
              </a:rPr>
              <a:t>c</a:t>
            </a:r>
            <a:r>
              <a:rPr lang="zh-CN" altLang="en-US" dirty="0">
                <a:solidFill>
                  <a:srgbClr val="006600"/>
                </a:solidFill>
                <a:latin typeface="华文行楷" charset="0"/>
                <a:ea typeface="华文行楷" charset="0"/>
                <a:cs typeface="华文行楷" charset="0"/>
              </a:rPr>
              <a:t>的状态</a:t>
            </a:r>
          </a:p>
        </p:txBody>
      </p:sp>
      <p:sp>
        <p:nvSpPr>
          <p:cNvPr id="681991" name="Line 7"/>
          <p:cNvSpPr>
            <a:spLocks noChangeShapeType="1"/>
          </p:cNvSpPr>
          <p:nvPr/>
        </p:nvSpPr>
        <p:spPr bwMode="auto">
          <a:xfrm>
            <a:off x="1171575" y="4524375"/>
            <a:ext cx="373380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cs typeface="宋体" charset="0"/>
            </a:endParaRPr>
          </a:p>
        </p:txBody>
      </p:sp>
      <p:sp>
        <p:nvSpPr>
          <p:cNvPr id="681993" name="Line 9"/>
          <p:cNvSpPr>
            <a:spLocks noChangeShapeType="1"/>
          </p:cNvSpPr>
          <p:nvPr/>
        </p:nvSpPr>
        <p:spPr bwMode="auto">
          <a:xfrm>
            <a:off x="1171575" y="3556000"/>
            <a:ext cx="14288" cy="968375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cs typeface="宋体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4240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2800" dirty="0">
                <a:latin typeface="+mn-ea"/>
                <a:ea typeface="+mn-ea"/>
              </a:rPr>
              <a:t>使用</a:t>
            </a:r>
            <a:r>
              <a:rPr lang="en-US" altLang="zh-CN" sz="2800" dirty="0" err="1">
                <a:latin typeface="+mn-ea"/>
                <a:ea typeface="+mn-ea"/>
              </a:rPr>
              <a:t>scanf</a:t>
            </a:r>
            <a:r>
              <a:rPr lang="zh-CN" altLang="en-US" sz="2800" dirty="0">
                <a:latin typeface="+mn-ea"/>
                <a:ea typeface="+mn-ea"/>
              </a:rPr>
              <a:t>、</a:t>
            </a:r>
            <a:r>
              <a:rPr lang="en-US" altLang="zh-CN" sz="2800" dirty="0" err="1">
                <a:latin typeface="+mn-ea"/>
                <a:ea typeface="+mn-ea"/>
              </a:rPr>
              <a:t>printf</a:t>
            </a:r>
            <a:r>
              <a:rPr lang="zh-CN" altLang="en-US" sz="2800" dirty="0">
                <a:latin typeface="+mn-ea"/>
                <a:ea typeface="+mn-ea"/>
              </a:rPr>
              <a:t>进行字符数组输入输出说明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9B5B-FD05-9A47-9840-C7C4BF1E4C9C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24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1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81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81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81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8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8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81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81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8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990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1512" name="Group 8"/>
          <p:cNvGrpSpPr>
            <a:grpSpLocks/>
          </p:cNvGrpSpPr>
          <p:nvPr/>
        </p:nvGrpSpPr>
        <p:grpSpPr bwMode="auto">
          <a:xfrm>
            <a:off x="152400" y="0"/>
            <a:ext cx="8713788" cy="6751638"/>
            <a:chOff x="96" y="0"/>
            <a:chExt cx="5489" cy="4253"/>
          </a:xfrm>
        </p:grpSpPr>
        <p:sp>
          <p:nvSpPr>
            <p:cNvPr id="661508" name="Text Box 4"/>
            <p:cNvSpPr txBox="1">
              <a:spLocks noChangeArrowheads="1"/>
            </p:cNvSpPr>
            <p:nvPr/>
          </p:nvSpPr>
          <p:spPr bwMode="auto">
            <a:xfrm>
              <a:off x="161" y="402"/>
              <a:ext cx="5424" cy="3851"/>
            </a:xfrm>
            <a:prstGeom prst="rect">
              <a:avLst/>
            </a:prstGeom>
            <a:solidFill>
              <a:srgbClr val="F3FFF3"/>
            </a:solidFill>
            <a:ln w="38100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  <a:buFontTx/>
                <a:buAutoNum type="arabicParenBoth"/>
              </a:pPr>
              <a:r>
                <a:rPr kumimoji="0" lang="zh-CN" altLang="en-US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用</a:t>
              </a:r>
              <a:r>
                <a:rPr kumimoji="0" lang="zh-CN" altLang="en-US" sz="2800" dirty="0">
                  <a:solidFill>
                    <a:schemeClr val="accent2"/>
                  </a:solidFill>
                  <a:latin typeface="Courier New" charset="0"/>
                  <a:ea typeface="黑体" charset="0"/>
                </a:rPr>
                <a:t>“</a:t>
              </a:r>
              <a:r>
                <a:rPr kumimoji="0" lang="en-US" altLang="zh-CN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%s</a:t>
              </a:r>
              <a:r>
                <a:rPr kumimoji="0" lang="zh-CN" altLang="en-US" sz="2800" dirty="0">
                  <a:solidFill>
                    <a:schemeClr val="accent2"/>
                  </a:solidFill>
                  <a:latin typeface="Courier New" charset="0"/>
                  <a:ea typeface="黑体" charset="0"/>
                </a:rPr>
                <a:t>”</a:t>
              </a:r>
              <a:r>
                <a:rPr kumimoji="0" lang="zh-CN" altLang="en-US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格式符输出字符串时，</a:t>
              </a:r>
              <a:r>
                <a:rPr kumimoji="0" lang="en-US" altLang="zh-CN" sz="2800" dirty="0" err="1">
                  <a:solidFill>
                    <a:schemeClr val="accent2"/>
                  </a:solidFill>
                  <a:latin typeface="黑体" charset="0"/>
                  <a:ea typeface="黑体" charset="0"/>
                </a:rPr>
                <a:t>printf</a:t>
              </a:r>
              <a:r>
                <a:rPr kumimoji="0" lang="zh-CN" altLang="en-US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函数中的输出项是字符数组名，而不是数组元素名。如：写成下面这样是不对的：</a:t>
              </a:r>
              <a:r>
                <a:rPr kumimoji="0" lang="en-US" altLang="zh-CN" sz="2800" dirty="0" err="1">
                  <a:solidFill>
                    <a:schemeClr val="accent2"/>
                  </a:solidFill>
                  <a:latin typeface="黑体" charset="0"/>
                  <a:ea typeface="黑体" charset="0"/>
                </a:rPr>
                <a:t>printf</a:t>
              </a:r>
              <a:r>
                <a:rPr kumimoji="0" lang="en-US" altLang="zh-CN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(″%s″</a:t>
              </a:r>
              <a:r>
                <a:rPr kumimoji="0" lang="zh-CN" altLang="en-US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，</a:t>
              </a:r>
              <a:r>
                <a:rPr kumimoji="0" lang="en-US" altLang="zh-CN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c</a:t>
              </a:r>
              <a:r>
                <a:rPr kumimoji="0" lang="zh-CN" altLang="en-US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［</a:t>
              </a:r>
              <a:r>
                <a:rPr kumimoji="0" lang="en-US" altLang="zh-CN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0</a:t>
              </a:r>
              <a:r>
                <a:rPr kumimoji="0" lang="zh-CN" altLang="en-US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］</a:t>
              </a:r>
              <a:r>
                <a:rPr kumimoji="0" lang="en-US" altLang="zh-CN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);</a:t>
              </a:r>
            </a:p>
            <a:p>
              <a:pPr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  <a:buFontTx/>
                <a:buAutoNum type="arabicParenBoth"/>
              </a:pPr>
              <a:r>
                <a:rPr kumimoji="0" lang="zh-CN" altLang="en-US" sz="2800" dirty="0">
                  <a:solidFill>
                    <a:schemeClr val="tx1"/>
                  </a:solidFill>
                  <a:latin typeface="黑体" charset="0"/>
                  <a:ea typeface="黑体" charset="0"/>
                </a:rPr>
                <a:t>如果数组长度大于字符串实际长度，也只输出到遇</a:t>
              </a:r>
              <a:r>
                <a:rPr kumimoji="0" lang="en-US" altLang="zh-CN" sz="2800" dirty="0">
                  <a:solidFill>
                    <a:schemeClr val="tx1"/>
                  </a:solidFill>
                  <a:latin typeface="黑体" charset="0"/>
                  <a:ea typeface="黑体" charset="0"/>
                </a:rPr>
                <a:t>′</a:t>
              </a:r>
              <a:r>
                <a:rPr kumimoji="0" lang="zh-CN" altLang="en-US" sz="2800" dirty="0">
                  <a:solidFill>
                    <a:schemeClr val="tx1"/>
                  </a:solidFill>
                  <a:latin typeface="黑体" charset="0"/>
                  <a:ea typeface="黑体" charset="0"/>
                </a:rPr>
                <a:t>＼</a:t>
              </a:r>
              <a:r>
                <a:rPr kumimoji="0" lang="en-US" altLang="zh-CN" sz="2800" dirty="0">
                  <a:solidFill>
                    <a:schemeClr val="tx1"/>
                  </a:solidFill>
                  <a:latin typeface="黑体" charset="0"/>
                  <a:ea typeface="黑体" charset="0"/>
                </a:rPr>
                <a:t>0′</a:t>
              </a:r>
              <a:r>
                <a:rPr kumimoji="0" lang="zh-CN" altLang="en-US" sz="2800" dirty="0">
                  <a:solidFill>
                    <a:schemeClr val="tx1"/>
                  </a:solidFill>
                  <a:latin typeface="黑体" charset="0"/>
                  <a:ea typeface="黑体" charset="0"/>
                </a:rPr>
                <a:t>结束。</a:t>
              </a:r>
              <a:endParaRPr kumimoji="0" lang="en-US" altLang="zh-CN" sz="2800" dirty="0">
                <a:solidFill>
                  <a:schemeClr val="tx1"/>
                </a:solidFill>
                <a:latin typeface="黑体" charset="0"/>
                <a:ea typeface="黑体" charset="0"/>
              </a:endParaRPr>
            </a:p>
            <a:p>
              <a:pPr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  <a:buFontTx/>
                <a:buAutoNum type="arabicParenBoth"/>
              </a:pP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输出字符不包括结束符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′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＼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0′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。</a:t>
              </a:r>
              <a:endParaRPr kumimoji="0" lang="en-US" altLang="zh-CN" sz="2800" dirty="0">
                <a:solidFill>
                  <a:srgbClr val="CC3300"/>
                </a:solidFill>
                <a:latin typeface="黑体" charset="0"/>
                <a:ea typeface="黑体" charset="0"/>
              </a:endParaRPr>
            </a:p>
            <a:p>
              <a:pPr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</a:pP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     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如：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char c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［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10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］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={″China″};    /* 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字符串长度为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5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，连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Courier New" charset="0"/>
                  <a:ea typeface="黑体" charset="0"/>
                </a:rPr>
                <a:t>’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\0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Courier New" charset="0"/>
                  <a:ea typeface="黑体" charset="0"/>
                </a:rPr>
                <a:t>’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共占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6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个字节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 */</a:t>
              </a:r>
            </a:p>
            <a:p>
              <a:pPr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</a:pP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  </a:t>
              </a:r>
              <a:r>
                <a:rPr kumimoji="0" lang="en-US" altLang="zh-CN" sz="2800" dirty="0" err="1">
                  <a:solidFill>
                    <a:srgbClr val="CC3300"/>
                  </a:solidFill>
                  <a:latin typeface="黑体" charset="0"/>
                  <a:ea typeface="黑体" charset="0"/>
                </a:rPr>
                <a:t>printf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(″%s″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，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c);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只输出字符串的有效字符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Courier New" charset="0"/>
                  <a:ea typeface="黑体" charset="0"/>
                </a:rPr>
                <a:t>“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China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Courier New" charset="0"/>
                  <a:ea typeface="黑体" charset="0"/>
                </a:rPr>
                <a:t>”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，而不是输出</a:t>
              </a:r>
              <a:r>
                <a:rPr kumimoji="0" lang="en-US" altLang="zh-CN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10</a:t>
              </a:r>
              <a:r>
                <a:rPr kumimoji="0" lang="zh-CN" altLang="en-US" sz="2800" dirty="0">
                  <a:solidFill>
                    <a:srgbClr val="CC3300"/>
                  </a:solidFill>
                  <a:latin typeface="黑体" charset="0"/>
                  <a:ea typeface="黑体" charset="0"/>
                </a:rPr>
                <a:t>个字符。这就是用字符串结束标志的好处。</a:t>
              </a:r>
              <a:endParaRPr kumimoji="0" lang="zh-CN" altLang="en-US" sz="2800" dirty="0">
                <a:solidFill>
                  <a:srgbClr val="CC3300"/>
                </a:solidFill>
              </a:endParaRPr>
            </a:p>
          </p:txBody>
        </p:sp>
        <p:sp>
          <p:nvSpPr>
            <p:cNvPr id="661509" name="Text Box 5"/>
            <p:cNvSpPr txBox="1">
              <a:spLocks noChangeArrowheads="1"/>
            </p:cNvSpPr>
            <p:nvPr/>
          </p:nvSpPr>
          <p:spPr bwMode="auto">
            <a:xfrm>
              <a:off x="96" y="0"/>
              <a:ext cx="694" cy="404"/>
            </a:xfrm>
            <a:prstGeom prst="rect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CC33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600" dirty="0">
                  <a:solidFill>
                    <a:srgbClr val="FFFFE1"/>
                  </a:solidFill>
                  <a:cs typeface="宋体" charset="0"/>
                </a:rPr>
                <a:t>说明</a:t>
              </a: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933D5-69B0-0246-8142-DE06F88DAE1C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52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6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041" name="Group 9"/>
          <p:cNvGrpSpPr>
            <a:grpSpLocks/>
          </p:cNvGrpSpPr>
          <p:nvPr/>
        </p:nvGrpSpPr>
        <p:grpSpPr bwMode="auto">
          <a:xfrm>
            <a:off x="234950" y="169863"/>
            <a:ext cx="8585200" cy="6375400"/>
            <a:chOff x="-10" y="107"/>
            <a:chExt cx="5674" cy="3667"/>
          </a:xfrm>
        </p:grpSpPr>
        <p:sp>
          <p:nvSpPr>
            <p:cNvPr id="684038" name="Text Box 6"/>
            <p:cNvSpPr txBox="1">
              <a:spLocks noChangeArrowheads="1"/>
            </p:cNvSpPr>
            <p:nvPr/>
          </p:nvSpPr>
          <p:spPr bwMode="auto">
            <a:xfrm>
              <a:off x="62" y="509"/>
              <a:ext cx="5602" cy="3265"/>
            </a:xfrm>
            <a:prstGeom prst="rect">
              <a:avLst/>
            </a:prstGeom>
            <a:solidFill>
              <a:srgbClr val="F3FFF3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</a:pPr>
              <a:r>
                <a:rPr kumimoji="0" lang="en-US" altLang="zh-CN" sz="2800" dirty="0">
                  <a:solidFill>
                    <a:schemeClr val="accent2"/>
                  </a:solidFill>
                  <a:latin typeface="宋体" charset="0"/>
                </a:rPr>
                <a:t>(4)</a:t>
              </a:r>
              <a:r>
                <a:rPr kumimoji="0" lang="zh-CN" altLang="en-US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如果一个字符数组中包含一个以上</a:t>
              </a:r>
              <a:r>
                <a:rPr kumimoji="0" lang="en-US" altLang="zh-CN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′</a:t>
              </a:r>
              <a:r>
                <a:rPr kumimoji="0" lang="zh-CN" altLang="en-US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＼</a:t>
              </a:r>
              <a:r>
                <a:rPr kumimoji="0" lang="en-US" altLang="zh-CN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0′</a:t>
              </a:r>
              <a:r>
                <a:rPr kumimoji="0" lang="zh-CN" altLang="en-US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，则遇第一个</a:t>
              </a:r>
              <a:r>
                <a:rPr kumimoji="0" lang="en-US" altLang="zh-CN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′</a:t>
              </a:r>
              <a:r>
                <a:rPr kumimoji="0" lang="zh-CN" altLang="en-US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＼</a:t>
              </a:r>
              <a:r>
                <a:rPr kumimoji="0" lang="en-US" altLang="zh-CN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0′</a:t>
              </a:r>
              <a:r>
                <a:rPr kumimoji="0" lang="zh-CN" altLang="en-US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时输出就结束。</a:t>
              </a:r>
              <a:endParaRPr kumimoji="0" lang="en-US" altLang="zh-CN" sz="2800" dirty="0">
                <a:solidFill>
                  <a:schemeClr val="accent2"/>
                </a:solidFill>
                <a:latin typeface="黑体" charset="0"/>
                <a:ea typeface="黑体" charset="0"/>
              </a:endParaRPr>
            </a:p>
            <a:p>
              <a:pPr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  <a:buFontTx/>
                <a:buAutoNum type="arabicParenBoth" startAt="5"/>
              </a:pPr>
              <a:r>
                <a:rPr kumimoji="0" lang="zh-CN" altLang="en-US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可以用</a:t>
              </a:r>
              <a:r>
                <a:rPr kumimoji="0" lang="en-US" altLang="zh-CN" sz="2800" dirty="0" err="1">
                  <a:solidFill>
                    <a:srgbClr val="006600"/>
                  </a:solidFill>
                  <a:latin typeface="黑体" charset="0"/>
                  <a:ea typeface="黑体" charset="0"/>
                </a:rPr>
                <a:t>scanf</a:t>
              </a:r>
              <a:r>
                <a:rPr kumimoji="0" lang="zh-CN" altLang="en-US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函数输入一个字符串。</a:t>
              </a:r>
              <a:endParaRPr kumimoji="0" lang="en-US" altLang="zh-CN" sz="2800" dirty="0">
                <a:solidFill>
                  <a:srgbClr val="006600"/>
                </a:solidFill>
                <a:latin typeface="黑体" charset="0"/>
                <a:ea typeface="黑体" charset="0"/>
              </a:endParaRPr>
            </a:p>
            <a:p>
              <a:pPr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</a:pPr>
              <a:r>
                <a:rPr kumimoji="0" lang="en-US" altLang="zh-CN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  </a:t>
              </a:r>
              <a:r>
                <a:rPr kumimoji="0" lang="zh-CN" altLang="en-US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例如</a:t>
              </a:r>
              <a:r>
                <a:rPr kumimoji="0" lang="en-US" altLang="zh-CN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  </a:t>
              </a:r>
              <a:r>
                <a:rPr kumimoji="0" lang="en-US" altLang="zh-CN" sz="2800" dirty="0" err="1">
                  <a:solidFill>
                    <a:srgbClr val="006600"/>
                  </a:solidFill>
                  <a:latin typeface="黑体" charset="0"/>
                  <a:ea typeface="黑体" charset="0"/>
                </a:rPr>
                <a:t>scanf</a:t>
              </a:r>
              <a:r>
                <a:rPr kumimoji="0" lang="en-US" altLang="zh-CN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(″%s″</a:t>
              </a:r>
              <a:r>
                <a:rPr kumimoji="0" lang="zh-CN" altLang="en-US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，</a:t>
              </a:r>
              <a:r>
                <a:rPr kumimoji="0" lang="en-US" altLang="zh-CN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c);</a:t>
              </a:r>
            </a:p>
            <a:p>
              <a:pPr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</a:pPr>
              <a:r>
                <a:rPr kumimoji="0" lang="en-US" altLang="zh-CN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  </a:t>
              </a:r>
              <a:r>
                <a:rPr kumimoji="0" lang="en-US" altLang="zh-CN" sz="2800" dirty="0" err="1">
                  <a:solidFill>
                    <a:srgbClr val="006600"/>
                  </a:solidFill>
                  <a:latin typeface="黑体" charset="0"/>
                  <a:ea typeface="黑体" charset="0"/>
                </a:rPr>
                <a:t>scanf</a:t>
              </a:r>
              <a:r>
                <a:rPr kumimoji="0" lang="zh-CN" altLang="en-US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函数中的输入项</a:t>
              </a:r>
              <a:r>
                <a:rPr kumimoji="0" lang="en-US" altLang="zh-CN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c</a:t>
              </a:r>
              <a:r>
                <a:rPr kumimoji="0" lang="zh-CN" altLang="en-US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是已定义的字符数组名，输入的字符串应短于已定义的字符数组的长度。例如，定义</a:t>
              </a:r>
              <a:r>
                <a:rPr kumimoji="0" lang="en-US" altLang="zh-CN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  char c</a:t>
              </a:r>
              <a:r>
                <a:rPr kumimoji="0" lang="zh-CN" altLang="en-US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［</a:t>
              </a:r>
              <a:r>
                <a:rPr kumimoji="0" lang="en-US" altLang="zh-CN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6</a:t>
              </a:r>
              <a:r>
                <a:rPr kumimoji="0" lang="zh-CN" altLang="en-US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］</a:t>
              </a:r>
              <a:r>
                <a:rPr kumimoji="0" lang="en-US" altLang="zh-CN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;</a:t>
              </a:r>
            </a:p>
            <a:p>
              <a:pPr algn="just"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</a:pPr>
              <a:r>
                <a:rPr kumimoji="0" lang="en-US" altLang="zh-CN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  </a:t>
              </a:r>
              <a:r>
                <a:rPr kumimoji="0" lang="zh-CN" altLang="en-US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从键盘输入：</a:t>
              </a:r>
              <a:endParaRPr kumimoji="0" lang="en-US" altLang="zh-CN" sz="2800" dirty="0">
                <a:solidFill>
                  <a:srgbClr val="006600"/>
                </a:solidFill>
                <a:latin typeface="黑体" charset="0"/>
                <a:ea typeface="黑体" charset="0"/>
              </a:endParaRPr>
            </a:p>
            <a:p>
              <a:pPr algn="just"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</a:pPr>
              <a:r>
                <a:rPr kumimoji="0" lang="en-US" altLang="zh-CN" sz="2800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 </a:t>
              </a:r>
              <a:r>
                <a:rPr kumimoji="0" lang="en-US" altLang="zh-CN" sz="2800" u="sng" dirty="0">
                  <a:solidFill>
                    <a:srgbClr val="006600"/>
                  </a:solidFill>
                  <a:latin typeface="黑体" charset="0"/>
                  <a:ea typeface="黑体" charset="0"/>
                </a:rPr>
                <a:t>China↙</a:t>
              </a:r>
              <a:r>
                <a:rPr kumimoji="0" lang="en-US" altLang="zh-CN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</a:t>
              </a:r>
              <a:r>
                <a:rPr kumimoji="0" lang="zh-CN" altLang="en-US" sz="2800" dirty="0">
                  <a:solidFill>
                    <a:schemeClr val="tx1"/>
                  </a:solidFill>
                  <a:latin typeface="宋体" charset="0"/>
                </a:rPr>
                <a:t>系统自动在</a:t>
              </a:r>
              <a:r>
                <a:rPr kumimoji="0" lang="en-US" altLang="zh-CN" sz="2800" dirty="0">
                  <a:solidFill>
                    <a:schemeClr val="tx1"/>
                  </a:solidFill>
                  <a:latin typeface="宋体" charset="0"/>
                </a:rPr>
                <a:t>China</a:t>
              </a:r>
              <a:r>
                <a:rPr kumimoji="0" lang="zh-CN" altLang="en-US" sz="2800" dirty="0">
                  <a:solidFill>
                    <a:schemeClr val="tx1"/>
                  </a:solidFill>
                  <a:latin typeface="宋体" charset="0"/>
                </a:rPr>
                <a:t>后面加一个</a:t>
              </a:r>
              <a:r>
                <a:rPr kumimoji="0" lang="en-US" altLang="zh-CN" sz="2800" dirty="0">
                  <a:solidFill>
                    <a:schemeClr val="tx1"/>
                  </a:solidFill>
                  <a:latin typeface="宋体" charset="0"/>
                </a:rPr>
                <a:t>′</a:t>
              </a:r>
              <a:r>
                <a:rPr kumimoji="0" lang="zh-CN" altLang="en-US" sz="2800" dirty="0">
                  <a:solidFill>
                    <a:schemeClr val="tx1"/>
                  </a:solidFill>
                  <a:latin typeface="宋体" charset="0"/>
                </a:rPr>
                <a:t>＼</a:t>
              </a:r>
              <a:r>
                <a:rPr kumimoji="0" lang="en-US" altLang="zh-CN" sz="2800" dirty="0">
                  <a:solidFill>
                    <a:schemeClr val="tx1"/>
                  </a:solidFill>
                  <a:latin typeface="宋体" charset="0"/>
                </a:rPr>
                <a:t>0′</a:t>
              </a:r>
              <a:r>
                <a:rPr kumimoji="0" lang="zh-CN" altLang="en-US" sz="2800" dirty="0">
                  <a:solidFill>
                    <a:schemeClr val="tx1"/>
                  </a:solidFill>
                  <a:latin typeface="宋体" charset="0"/>
                </a:rPr>
                <a:t>结束符。</a:t>
              </a:r>
              <a:r>
                <a:rPr kumimoji="0" lang="en-US" altLang="zh-CN" sz="2800" dirty="0">
                  <a:solidFill>
                    <a:schemeClr val="accent2"/>
                  </a:solidFill>
                  <a:latin typeface="黑体" charset="0"/>
                  <a:ea typeface="黑体" charset="0"/>
                </a:rPr>
                <a:t> </a:t>
              </a:r>
            </a:p>
          </p:txBody>
        </p:sp>
        <p:sp>
          <p:nvSpPr>
            <p:cNvPr id="684039" name="Text Box 7"/>
            <p:cNvSpPr txBox="1">
              <a:spLocks noChangeArrowheads="1"/>
            </p:cNvSpPr>
            <p:nvPr/>
          </p:nvSpPr>
          <p:spPr bwMode="auto">
            <a:xfrm>
              <a:off x="-10" y="107"/>
              <a:ext cx="728" cy="369"/>
            </a:xfrm>
            <a:prstGeom prst="rect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CC00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600">
                  <a:solidFill>
                    <a:srgbClr val="FFFFE1"/>
                  </a:solidFill>
                  <a:cs typeface="宋体" charset="0"/>
                </a:rPr>
                <a:t>说明</a:t>
              </a: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831E-6063-F245-A4CE-DE7F25C1E7BA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24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8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2" name="Text Box 4"/>
          <p:cNvSpPr txBox="1">
            <a:spLocks noChangeArrowheads="1"/>
          </p:cNvSpPr>
          <p:nvPr/>
        </p:nvSpPr>
        <p:spPr bwMode="auto">
          <a:xfrm>
            <a:off x="368300" y="298450"/>
            <a:ext cx="7299325" cy="4138613"/>
          </a:xfrm>
          <a:prstGeom prst="rect">
            <a:avLst/>
          </a:prstGeom>
          <a:solidFill>
            <a:srgbClr val="F3FFF3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>
                <a:latin typeface="宋体" charset="0"/>
              </a:rPr>
              <a:t>如果利用一个</a:t>
            </a:r>
            <a:r>
              <a:rPr lang="en-US" altLang="zh-CN">
                <a:latin typeface="宋体" charset="0"/>
              </a:rPr>
              <a:t>scanf</a:t>
            </a:r>
            <a:r>
              <a:rPr lang="zh-CN" altLang="en-US">
                <a:latin typeface="宋体" charset="0"/>
              </a:rPr>
              <a:t>函数输入多个字符串，则在输入时以空格分隔。例如：</a:t>
            </a:r>
            <a:endParaRPr lang="en-US" altLang="zh-CN">
              <a:latin typeface="宋体" charset="0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>
                <a:solidFill>
                  <a:srgbClr val="CC3300"/>
                </a:solidFill>
                <a:latin typeface="宋体" charset="0"/>
              </a:rPr>
              <a:t>char strl</a:t>
            </a:r>
            <a:r>
              <a:rPr lang="zh-CN" altLang="en-US">
                <a:solidFill>
                  <a:srgbClr val="CC3300"/>
                </a:solidFill>
                <a:latin typeface="宋体" charset="0"/>
              </a:rPr>
              <a:t>［</a:t>
            </a:r>
            <a:r>
              <a:rPr lang="en-US" altLang="zh-CN">
                <a:solidFill>
                  <a:srgbClr val="CC3300"/>
                </a:solidFill>
                <a:latin typeface="宋体" charset="0"/>
              </a:rPr>
              <a:t>5</a:t>
            </a:r>
            <a:r>
              <a:rPr lang="zh-CN" altLang="en-US">
                <a:solidFill>
                  <a:srgbClr val="CC3300"/>
                </a:solidFill>
                <a:latin typeface="宋体" charset="0"/>
              </a:rPr>
              <a:t>］，</a:t>
            </a:r>
            <a:r>
              <a:rPr lang="en-US" altLang="zh-CN">
                <a:solidFill>
                  <a:srgbClr val="CC3300"/>
                </a:solidFill>
                <a:latin typeface="宋体" charset="0"/>
              </a:rPr>
              <a:t>str2</a:t>
            </a:r>
            <a:r>
              <a:rPr lang="zh-CN" altLang="en-US">
                <a:solidFill>
                  <a:srgbClr val="CC3300"/>
                </a:solidFill>
                <a:latin typeface="宋体" charset="0"/>
              </a:rPr>
              <a:t>［</a:t>
            </a:r>
            <a:r>
              <a:rPr lang="en-US" altLang="zh-CN">
                <a:solidFill>
                  <a:srgbClr val="CC3300"/>
                </a:solidFill>
                <a:latin typeface="宋体" charset="0"/>
              </a:rPr>
              <a:t>5</a:t>
            </a:r>
            <a:r>
              <a:rPr lang="zh-CN" altLang="en-US">
                <a:solidFill>
                  <a:srgbClr val="CC3300"/>
                </a:solidFill>
                <a:latin typeface="宋体" charset="0"/>
              </a:rPr>
              <a:t>］，</a:t>
            </a:r>
            <a:r>
              <a:rPr lang="en-US" altLang="zh-CN">
                <a:solidFill>
                  <a:srgbClr val="CC3300"/>
                </a:solidFill>
                <a:latin typeface="宋体" charset="0"/>
              </a:rPr>
              <a:t>str3</a:t>
            </a:r>
            <a:r>
              <a:rPr lang="zh-CN" altLang="en-US">
                <a:solidFill>
                  <a:srgbClr val="CC3300"/>
                </a:solidFill>
                <a:latin typeface="宋体" charset="0"/>
              </a:rPr>
              <a:t>［</a:t>
            </a:r>
            <a:r>
              <a:rPr lang="en-US" altLang="zh-CN">
                <a:solidFill>
                  <a:srgbClr val="CC3300"/>
                </a:solidFill>
                <a:latin typeface="宋体" charset="0"/>
              </a:rPr>
              <a:t>5</a:t>
            </a:r>
            <a:r>
              <a:rPr lang="zh-CN" altLang="en-US">
                <a:solidFill>
                  <a:srgbClr val="CC3300"/>
                </a:solidFill>
                <a:latin typeface="宋体" charset="0"/>
              </a:rPr>
              <a:t>］</a:t>
            </a:r>
            <a:r>
              <a:rPr lang="en-US" altLang="zh-CN">
                <a:solidFill>
                  <a:srgbClr val="CC3300"/>
                </a:solidFill>
                <a:latin typeface="宋体" charset="0"/>
              </a:rPr>
              <a:t>;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>
                <a:solidFill>
                  <a:srgbClr val="CC3300"/>
                </a:solidFill>
                <a:latin typeface="宋体" charset="0"/>
              </a:rPr>
              <a:t>scanf(″%s%s%s″</a:t>
            </a:r>
            <a:r>
              <a:rPr lang="zh-CN" altLang="en-US">
                <a:solidFill>
                  <a:srgbClr val="CC3300"/>
                </a:solidFill>
                <a:latin typeface="宋体" charset="0"/>
              </a:rPr>
              <a:t>，</a:t>
            </a:r>
            <a:r>
              <a:rPr lang="en-US" altLang="zh-CN">
                <a:solidFill>
                  <a:srgbClr val="CC3300"/>
                </a:solidFill>
                <a:latin typeface="宋体" charset="0"/>
              </a:rPr>
              <a:t>str1</a:t>
            </a:r>
            <a:r>
              <a:rPr lang="zh-CN" altLang="en-US">
                <a:solidFill>
                  <a:srgbClr val="CC3300"/>
                </a:solidFill>
                <a:latin typeface="宋体" charset="0"/>
              </a:rPr>
              <a:t>，</a:t>
            </a:r>
            <a:r>
              <a:rPr lang="en-US" altLang="zh-CN">
                <a:solidFill>
                  <a:srgbClr val="CC3300"/>
                </a:solidFill>
                <a:latin typeface="宋体" charset="0"/>
              </a:rPr>
              <a:t>str2</a:t>
            </a:r>
            <a:r>
              <a:rPr lang="zh-CN" altLang="en-US">
                <a:solidFill>
                  <a:srgbClr val="CC3300"/>
                </a:solidFill>
                <a:latin typeface="宋体" charset="0"/>
              </a:rPr>
              <a:t>，</a:t>
            </a:r>
            <a:r>
              <a:rPr lang="en-US" altLang="zh-CN">
                <a:solidFill>
                  <a:srgbClr val="CC3300"/>
                </a:solidFill>
                <a:latin typeface="宋体" charset="0"/>
              </a:rPr>
              <a:t>str3);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>
                <a:latin typeface="宋体" charset="0"/>
              </a:rPr>
              <a:t>输入数据：</a:t>
            </a:r>
            <a:endParaRPr lang="en-US" altLang="zh-CN">
              <a:latin typeface="宋体" charset="0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>
                <a:latin typeface="宋体" charset="0"/>
              </a:rPr>
              <a:t>How are you? 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>
                <a:latin typeface="宋体" charset="0"/>
              </a:rPr>
              <a:t>数组中未被赋值的元素的值自动置</a:t>
            </a:r>
            <a:r>
              <a:rPr lang="en-US" altLang="zh-CN">
                <a:latin typeface="宋体" charset="0"/>
              </a:rPr>
              <a:t>′</a:t>
            </a:r>
            <a:r>
              <a:rPr lang="zh-CN" altLang="en-US">
                <a:latin typeface="宋体" charset="0"/>
              </a:rPr>
              <a:t>＼</a:t>
            </a:r>
            <a:r>
              <a:rPr lang="en-US" altLang="zh-CN">
                <a:latin typeface="宋体" charset="0"/>
              </a:rPr>
              <a:t>0′</a:t>
            </a:r>
            <a:r>
              <a:rPr lang="zh-CN" altLang="en-US">
                <a:latin typeface="宋体" charset="0"/>
              </a:rPr>
              <a:t>。</a:t>
            </a:r>
          </a:p>
        </p:txBody>
      </p:sp>
      <p:pic>
        <p:nvPicPr>
          <p:cNvPr id="662533" name="Picture 5" descr="g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4581525"/>
            <a:ext cx="3497263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E040-A3AC-F04E-AFD4-720D83F76C3D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71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2532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Text Box 2"/>
          <p:cNvSpPr txBox="1">
            <a:spLocks noChangeArrowheads="1"/>
          </p:cNvSpPr>
          <p:nvPr/>
        </p:nvSpPr>
        <p:spPr bwMode="auto">
          <a:xfrm>
            <a:off x="152400" y="381000"/>
            <a:ext cx="89916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>
                <a:latin typeface="宋体" charset="0"/>
              </a:rPr>
              <a:t>若改为</a:t>
            </a:r>
            <a:r>
              <a:rPr lang="en-US" altLang="zh-CN">
                <a:latin typeface="宋体" charset="0"/>
              </a:rPr>
              <a:t>   char str</a:t>
            </a:r>
            <a:r>
              <a:rPr lang="zh-CN" altLang="en-US">
                <a:latin typeface="宋体" charset="0"/>
              </a:rPr>
              <a:t>［</a:t>
            </a:r>
            <a:r>
              <a:rPr lang="en-US" altLang="zh-CN">
                <a:latin typeface="宋体" charset="0"/>
              </a:rPr>
              <a:t>13</a:t>
            </a:r>
            <a:r>
              <a:rPr lang="zh-CN" altLang="en-US">
                <a:latin typeface="宋体" charset="0"/>
              </a:rPr>
              <a:t>］</a:t>
            </a:r>
            <a:r>
              <a:rPr lang="en-US" altLang="zh-CN">
                <a:latin typeface="宋体" charset="0"/>
              </a:rPr>
              <a:t>;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>
                <a:latin typeface="宋体" charset="0"/>
              </a:rPr>
              <a:t>         scanf(″%s″</a:t>
            </a:r>
            <a:r>
              <a:rPr lang="zh-CN" altLang="en-US">
                <a:latin typeface="宋体" charset="0"/>
              </a:rPr>
              <a:t>，</a:t>
            </a:r>
            <a:r>
              <a:rPr lang="en-US" altLang="zh-CN">
                <a:latin typeface="宋体" charset="0"/>
              </a:rPr>
              <a:t>str);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>
                <a:latin typeface="宋体" charset="0"/>
              </a:rPr>
              <a:t>如果输入以下</a:t>
            </a:r>
            <a:r>
              <a:rPr lang="en-US" altLang="zh-CN">
                <a:latin typeface="宋体" charset="0"/>
              </a:rPr>
              <a:t>12</a:t>
            </a:r>
            <a:r>
              <a:rPr lang="zh-CN" altLang="en-US">
                <a:latin typeface="宋体" charset="0"/>
              </a:rPr>
              <a:t>个字符</a:t>
            </a:r>
            <a:r>
              <a:rPr lang="en-US" altLang="zh-CN">
                <a:latin typeface="宋体" charset="0"/>
              </a:rPr>
              <a:t>  </a:t>
            </a:r>
            <a:r>
              <a:rPr lang="en-US" altLang="zh-CN">
                <a:solidFill>
                  <a:srgbClr val="CC3300"/>
                </a:solidFill>
                <a:latin typeface="宋体" charset="0"/>
              </a:rPr>
              <a:t>How  are  you?</a:t>
            </a:r>
            <a:r>
              <a:rPr lang="en-US" altLang="zh-CN">
                <a:latin typeface="宋体" charset="0"/>
              </a:rPr>
              <a:t>  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>
                <a:solidFill>
                  <a:srgbClr val="336600"/>
                </a:solidFill>
                <a:latin typeface="宋体" charset="0"/>
              </a:rPr>
              <a:t>大家思考一下</a:t>
            </a:r>
            <a:r>
              <a:rPr lang="en-US" altLang="zh-CN">
                <a:solidFill>
                  <a:srgbClr val="CC3300"/>
                </a:solidFill>
                <a:latin typeface="宋体" charset="0"/>
              </a:rPr>
              <a:t>str</a:t>
            </a:r>
            <a:r>
              <a:rPr lang="zh-CN" altLang="en-US">
                <a:solidFill>
                  <a:srgbClr val="CC3300"/>
                </a:solidFill>
                <a:latin typeface="宋体" charset="0"/>
              </a:rPr>
              <a:t>［</a:t>
            </a:r>
            <a:r>
              <a:rPr lang="en-US" altLang="zh-CN">
                <a:solidFill>
                  <a:srgbClr val="CC3300"/>
                </a:solidFill>
                <a:latin typeface="宋体" charset="0"/>
              </a:rPr>
              <a:t>13</a:t>
            </a:r>
            <a:r>
              <a:rPr lang="zh-CN" altLang="en-US">
                <a:solidFill>
                  <a:srgbClr val="CC3300"/>
                </a:solidFill>
                <a:latin typeface="宋体" charset="0"/>
              </a:rPr>
              <a:t>］</a:t>
            </a:r>
            <a:r>
              <a:rPr lang="zh-CN" altLang="en-US">
                <a:solidFill>
                  <a:schemeClr val="accent2"/>
                </a:solidFill>
                <a:latin typeface="宋体" charset="0"/>
              </a:rPr>
              <a:t>数组中存放的结果会是什么呢？</a:t>
            </a:r>
            <a:endParaRPr lang="zh-CN" altLang="en-US">
              <a:latin typeface="宋体" charset="0"/>
            </a:endParaRPr>
          </a:p>
        </p:txBody>
      </p:sp>
      <p:sp>
        <p:nvSpPr>
          <p:cNvPr id="685059" name="Text Box 3"/>
          <p:cNvSpPr txBox="1">
            <a:spLocks noChangeArrowheads="1"/>
          </p:cNvSpPr>
          <p:nvPr/>
        </p:nvSpPr>
        <p:spPr bwMode="auto">
          <a:xfrm>
            <a:off x="152400" y="3352800"/>
            <a:ext cx="8763000" cy="1916113"/>
          </a:xfrm>
          <a:prstGeom prst="rect">
            <a:avLst/>
          </a:prstGeom>
          <a:solidFill>
            <a:srgbClr val="F3FFF3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lnSpc>
                <a:spcPct val="14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>
                <a:latin typeface="宋体" charset="0"/>
              </a:rPr>
              <a:t>由于系统把空格字符作为输入的字符串之间的分隔符，因此只将空格前的字符</a:t>
            </a:r>
            <a:r>
              <a:rPr lang="zh-CN" altLang="en-US">
                <a:latin typeface="Courier New" charset="0"/>
              </a:rPr>
              <a:t>“</a:t>
            </a:r>
            <a:r>
              <a:rPr lang="en-US" altLang="zh-CN">
                <a:latin typeface="宋体" charset="0"/>
              </a:rPr>
              <a:t>How</a:t>
            </a:r>
            <a:r>
              <a:rPr lang="zh-CN" altLang="en-US">
                <a:latin typeface="Courier New" charset="0"/>
              </a:rPr>
              <a:t>”</a:t>
            </a:r>
            <a:r>
              <a:rPr lang="zh-CN" altLang="en-US">
                <a:latin typeface="宋体" charset="0"/>
              </a:rPr>
              <a:t>送到</a:t>
            </a:r>
            <a:r>
              <a:rPr lang="en-US" altLang="zh-CN">
                <a:latin typeface="宋体" charset="0"/>
              </a:rPr>
              <a:t>str</a:t>
            </a:r>
            <a:r>
              <a:rPr lang="zh-CN" altLang="en-US">
                <a:latin typeface="宋体" charset="0"/>
              </a:rPr>
              <a:t>中。由于把</a:t>
            </a:r>
            <a:r>
              <a:rPr lang="zh-CN" altLang="en-US">
                <a:latin typeface="Courier New" charset="0"/>
              </a:rPr>
              <a:t>“</a:t>
            </a:r>
            <a:r>
              <a:rPr lang="en-US" altLang="zh-CN">
                <a:latin typeface="宋体" charset="0"/>
              </a:rPr>
              <a:t>How</a:t>
            </a:r>
            <a:r>
              <a:rPr lang="zh-CN" altLang="en-US">
                <a:latin typeface="Courier New" charset="0"/>
              </a:rPr>
              <a:t>”</a:t>
            </a:r>
            <a:r>
              <a:rPr lang="zh-CN" altLang="en-US">
                <a:latin typeface="宋体" charset="0"/>
              </a:rPr>
              <a:t>作为一个字符串处理，故在其后加</a:t>
            </a:r>
            <a:r>
              <a:rPr lang="en-US" altLang="zh-CN">
                <a:latin typeface="宋体" charset="0"/>
              </a:rPr>
              <a:t>′</a:t>
            </a:r>
            <a:r>
              <a:rPr lang="zh-CN" altLang="en-US">
                <a:latin typeface="宋体" charset="0"/>
              </a:rPr>
              <a:t>＼</a:t>
            </a:r>
            <a:r>
              <a:rPr lang="en-US" altLang="zh-CN">
                <a:latin typeface="宋体" charset="0"/>
              </a:rPr>
              <a:t>0′</a:t>
            </a:r>
            <a:r>
              <a:rPr lang="zh-CN" altLang="en-US">
                <a:latin typeface="宋体" charset="0"/>
              </a:rPr>
              <a:t>。</a:t>
            </a:r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0CAA-6385-B144-A271-4584D20578F8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2522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6" name="Text Box 4"/>
          <p:cNvSpPr txBox="1">
            <a:spLocks noChangeArrowheads="1"/>
          </p:cNvSpPr>
          <p:nvPr/>
        </p:nvSpPr>
        <p:spPr bwMode="auto">
          <a:xfrm>
            <a:off x="304800" y="1891655"/>
            <a:ext cx="8305800" cy="2257425"/>
          </a:xfrm>
          <a:prstGeom prst="rect">
            <a:avLst/>
          </a:prstGeom>
          <a:solidFill>
            <a:srgbClr val="FFF3FF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>
                <a:latin typeface="宋体" charset="0"/>
              </a:rPr>
              <a:t>需要注意：</a:t>
            </a:r>
            <a:r>
              <a:rPr lang="en-US" altLang="zh-CN">
                <a:latin typeface="宋体" charset="0"/>
              </a:rPr>
              <a:t>scanf</a:t>
            </a:r>
            <a:r>
              <a:rPr lang="zh-CN" altLang="en-US">
                <a:latin typeface="宋体" charset="0"/>
              </a:rPr>
              <a:t>函数中的输入项如果字符数组名。不要再加地址符</a:t>
            </a:r>
            <a:r>
              <a:rPr lang="en-US" altLang="zh-CN">
                <a:latin typeface="宋体" charset="0"/>
              </a:rPr>
              <a:t>&amp;</a:t>
            </a:r>
            <a:r>
              <a:rPr lang="zh-CN" altLang="en-US">
                <a:latin typeface="宋体" charset="0"/>
              </a:rPr>
              <a:t>，因为在</a:t>
            </a:r>
            <a:r>
              <a:rPr lang="en-US" altLang="zh-CN">
                <a:latin typeface="宋体" charset="0"/>
              </a:rPr>
              <a:t>C</a:t>
            </a:r>
            <a:r>
              <a:rPr lang="zh-CN" altLang="en-US">
                <a:latin typeface="宋体" charset="0"/>
              </a:rPr>
              <a:t>语言中数组名代表该数组的起始地址。下面写法不对：</a:t>
            </a:r>
            <a:endParaRPr lang="en-US" altLang="zh-CN">
              <a:latin typeface="宋体" charset="0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>
                <a:solidFill>
                  <a:srgbClr val="336600"/>
                </a:solidFill>
                <a:latin typeface="宋体" charset="0"/>
              </a:rPr>
              <a:t>scanf(″%s″</a:t>
            </a:r>
            <a:r>
              <a:rPr lang="zh-CN" altLang="en-US">
                <a:solidFill>
                  <a:srgbClr val="336600"/>
                </a:solidFill>
                <a:latin typeface="宋体" charset="0"/>
              </a:rPr>
              <a:t>，</a:t>
            </a:r>
            <a:r>
              <a:rPr lang="en-US" altLang="zh-CN">
                <a:solidFill>
                  <a:srgbClr val="336600"/>
                </a:solidFill>
                <a:latin typeface="宋体" charset="0"/>
              </a:rPr>
              <a:t>&amp;str)</a:t>
            </a:r>
            <a:r>
              <a:rPr lang="zh-CN" altLang="en-US">
                <a:solidFill>
                  <a:srgbClr val="336600"/>
                </a:solidFill>
                <a:latin typeface="宋体" charset="0"/>
              </a:rPr>
              <a:t>；</a:t>
            </a:r>
          </a:p>
        </p:txBody>
      </p:sp>
      <p:grpSp>
        <p:nvGrpSpPr>
          <p:cNvPr id="663564" name="Group 12"/>
          <p:cNvGrpSpPr>
            <a:grpSpLocks/>
          </p:cNvGrpSpPr>
          <p:nvPr/>
        </p:nvGrpSpPr>
        <p:grpSpPr bwMode="auto">
          <a:xfrm>
            <a:off x="4114800" y="3644255"/>
            <a:ext cx="685800" cy="457200"/>
            <a:chOff x="2160" y="816"/>
            <a:chExt cx="336" cy="144"/>
          </a:xfrm>
        </p:grpSpPr>
        <p:sp>
          <p:nvSpPr>
            <p:cNvPr id="663557" name="Line 5"/>
            <p:cNvSpPr>
              <a:spLocks noChangeShapeType="1"/>
            </p:cNvSpPr>
            <p:nvPr/>
          </p:nvSpPr>
          <p:spPr bwMode="auto">
            <a:xfrm flipH="1">
              <a:off x="2160" y="816"/>
              <a:ext cx="336" cy="144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cs typeface="宋体" charset="0"/>
              </a:endParaRPr>
            </a:p>
          </p:txBody>
        </p:sp>
        <p:sp>
          <p:nvSpPr>
            <p:cNvPr id="663558" name="Line 6"/>
            <p:cNvSpPr>
              <a:spLocks noChangeShapeType="1"/>
            </p:cNvSpPr>
            <p:nvPr/>
          </p:nvSpPr>
          <p:spPr bwMode="auto">
            <a:xfrm>
              <a:off x="2160" y="816"/>
              <a:ext cx="336" cy="144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cs typeface="宋体" charset="0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E506-5F09-144C-AC21-AC34C7AEC40B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17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6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0" fill="hold"/>
                                        <p:tgtEl>
                                          <p:spTgt spid="663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663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56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Century Schoolbook" charset="0"/>
                <a:ea typeface="宋体" charset="0"/>
              </a:rPr>
              <a:t>由于字符串使用广泛，</a:t>
            </a:r>
            <a:r>
              <a:rPr lang="en-US" altLang="zh-CN">
                <a:latin typeface="Century Schoolbook" charset="0"/>
                <a:ea typeface="宋体" charset="0"/>
              </a:rPr>
              <a:t>C</a:t>
            </a:r>
            <a:r>
              <a:rPr lang="zh-CN" altLang="en-US">
                <a:latin typeface="Century Schoolbook" charset="0"/>
                <a:ea typeface="宋体" charset="0"/>
              </a:rPr>
              <a:t>提供了一些字符串函数，使得用户能很方便地对字符串进行处理。这些函数是放在函数库中的，在</a:t>
            </a:r>
            <a:r>
              <a:rPr lang="en-US" altLang="zh-CN">
                <a:latin typeface="Century Schoolbook" charset="0"/>
                <a:ea typeface="宋体" charset="0"/>
              </a:rPr>
              <a:t>string.h</a:t>
            </a:r>
            <a:r>
              <a:rPr lang="zh-CN" altLang="en-US">
                <a:latin typeface="Century Schoolbook" charset="0"/>
                <a:ea typeface="宋体" charset="0"/>
              </a:rPr>
              <a:t>头文件中定义。</a:t>
            </a:r>
          </a:p>
          <a:p>
            <a:endParaRPr lang="zh-CN" altLang="en-US">
              <a:latin typeface="Century Schoolbook" charset="0"/>
              <a:ea typeface="宋体" charset="0"/>
            </a:endParaRPr>
          </a:p>
          <a:p>
            <a:r>
              <a:rPr lang="zh-CN" altLang="en-US">
                <a:latin typeface="Century Schoolbook" charset="0"/>
                <a:ea typeface="宋体" charset="0"/>
              </a:rPr>
              <a:t>如果程序中使用这些字符串函数，应使用</a:t>
            </a:r>
            <a:r>
              <a:rPr lang="en-US" altLang="zh-CN">
                <a:latin typeface="Century Schoolbook" charset="0"/>
                <a:ea typeface="宋体" charset="0"/>
              </a:rPr>
              <a:t>#include</a:t>
            </a:r>
            <a:r>
              <a:rPr lang="zh-CN" altLang="en-US">
                <a:latin typeface="Century Schoolbook" charset="0"/>
                <a:ea typeface="宋体" charset="0"/>
              </a:rPr>
              <a:t>命令：</a:t>
            </a:r>
          </a:p>
          <a:p>
            <a:pPr lvl="1">
              <a:buClr>
                <a:srgbClr val="FFFF00"/>
              </a:buClr>
            </a:pPr>
            <a:r>
              <a:rPr lang="en-US" altLang="zh-CN">
                <a:solidFill>
                  <a:srgbClr val="B32C16"/>
                </a:solidFill>
                <a:latin typeface="Century Schoolbook" charset="0"/>
                <a:ea typeface="宋体" charset="0"/>
              </a:rPr>
              <a:t>#include&lt;string.h&gt;</a:t>
            </a:r>
          </a:p>
        </p:txBody>
      </p:sp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B32C16"/>
                </a:solidFill>
                <a:latin typeface="Century Schoolbook" charset="0"/>
                <a:ea typeface="华文楷体" charset="-122"/>
              </a:rPr>
              <a:t>字符串处理函数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84325-63E6-B040-A38D-CB4374F0F9CB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256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/>
          <p:cNvSpPr>
            <a:spLocks noChangeArrowheads="1"/>
          </p:cNvSpPr>
          <p:nvPr/>
        </p:nvSpPr>
        <p:spPr bwMode="auto">
          <a:xfrm>
            <a:off x="304800" y="533400"/>
            <a:ext cx="8382000" cy="599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63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</a:pPr>
            <a:endParaRPr lang="en-US" altLang="zh-CN" sz="3200" b="0">
              <a:solidFill>
                <a:schemeClr val="tx1"/>
              </a:solidFill>
              <a:ea typeface="隶书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200" dirty="0">
                <a:latin typeface="+mn-ea"/>
                <a:ea typeface="+mn-ea"/>
                <a:cs typeface="隶书" charset="0"/>
              </a:rPr>
              <a:t>字符串长度函数</a:t>
            </a:r>
            <a:r>
              <a:rPr lang="en-US" altLang="zh-CN" sz="3200" dirty="0" err="1">
                <a:latin typeface="+mn-ea"/>
                <a:ea typeface="+mn-ea"/>
                <a:cs typeface="隶书" charset="0"/>
              </a:rPr>
              <a:t>strlen</a:t>
            </a:r>
            <a:r>
              <a:rPr lang="en-US" altLang="zh-CN" sz="3200" dirty="0">
                <a:latin typeface="+mn-ea"/>
                <a:ea typeface="+mn-ea"/>
                <a:cs typeface="隶书" charset="0"/>
              </a:rPr>
              <a:t> (string length)</a:t>
            </a:r>
            <a:endParaRPr lang="zh-CN" altLang="en-US" sz="3200" dirty="0"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0988" indent="0">
              <a:buFont typeface="Wingdings" charset="2"/>
              <a:buNone/>
            </a:pPr>
            <a:r>
              <a:rPr lang="zh-CN" altLang="en-US">
                <a:solidFill>
                  <a:srgbClr val="FF6600"/>
                </a:solidFill>
                <a:ea typeface="隶书" charset="0"/>
              </a:rPr>
              <a:t>函数原型</a:t>
            </a:r>
            <a:r>
              <a:rPr lang="en-US" altLang="zh-CN">
                <a:solidFill>
                  <a:srgbClr val="FF6600"/>
                </a:solidFill>
                <a:ea typeface="隶书" charset="0"/>
              </a:rPr>
              <a:t>:</a:t>
            </a:r>
            <a:r>
              <a:rPr lang="en-US" altLang="zh-CN">
                <a:solidFill>
                  <a:schemeClr val="tx1"/>
                </a:solidFill>
                <a:ea typeface="隶书" charset="0"/>
              </a:rPr>
              <a:t> strlen(const char[]);</a:t>
            </a:r>
          </a:p>
          <a:p>
            <a:pPr marL="280988" indent="0">
              <a:buFont typeface="Wingdings" charset="2"/>
              <a:buNone/>
            </a:pPr>
            <a:r>
              <a:rPr lang="zh-CN" altLang="en-US">
                <a:solidFill>
                  <a:srgbClr val="FF6600"/>
                </a:solidFill>
                <a:ea typeface="隶书" charset="0"/>
              </a:rPr>
              <a:t>作用</a:t>
            </a:r>
            <a:r>
              <a:rPr lang="en-US" altLang="zh-CN">
                <a:solidFill>
                  <a:srgbClr val="FF6600"/>
                </a:solidFill>
                <a:ea typeface="隶书" charset="0"/>
              </a:rPr>
              <a:t>: </a:t>
            </a:r>
            <a:r>
              <a:rPr lang="zh-CN" altLang="en-US">
                <a:solidFill>
                  <a:schemeClr val="tx1"/>
                </a:solidFill>
                <a:ea typeface="隶书" charset="0"/>
              </a:rPr>
              <a:t>测试字符串长度的函数。函数值为字符串中的实际长度，不包括</a:t>
            </a:r>
            <a:r>
              <a:rPr lang="en-US" altLang="zh-CN">
                <a:solidFill>
                  <a:schemeClr val="tx1"/>
                </a:solidFill>
                <a:ea typeface="隶书" charset="0"/>
              </a:rPr>
              <a:t>′\0′</a:t>
            </a:r>
            <a:r>
              <a:rPr lang="zh-CN" altLang="en-US">
                <a:solidFill>
                  <a:schemeClr val="tx1"/>
                </a:solidFill>
                <a:ea typeface="隶书" charset="0"/>
              </a:rPr>
              <a:t>在内。如</a:t>
            </a:r>
          </a:p>
          <a:p>
            <a:pPr marL="280988" indent="0"/>
            <a:r>
              <a:rPr lang="en-US" altLang="zh-CN" sz="2400">
                <a:solidFill>
                  <a:schemeClr val="tx1"/>
                </a:solidFill>
                <a:ea typeface="隶书" charset="0"/>
              </a:rPr>
              <a:t>char str</a:t>
            </a:r>
            <a:r>
              <a:rPr lang="zh-CN" altLang="en-US" sz="2400">
                <a:solidFill>
                  <a:schemeClr val="tx1"/>
                </a:solidFill>
                <a:ea typeface="隶书" charset="0"/>
              </a:rPr>
              <a:t>［</a:t>
            </a:r>
            <a:r>
              <a:rPr lang="en-US" altLang="zh-CN" sz="2400">
                <a:solidFill>
                  <a:schemeClr val="tx1"/>
                </a:solidFill>
                <a:ea typeface="隶书" charset="0"/>
              </a:rPr>
              <a:t>10</a:t>
            </a:r>
            <a:r>
              <a:rPr lang="zh-CN" altLang="en-US" sz="2400">
                <a:solidFill>
                  <a:schemeClr val="tx1"/>
                </a:solidFill>
                <a:ea typeface="隶书" charset="0"/>
              </a:rPr>
              <a:t>］</a:t>
            </a:r>
            <a:r>
              <a:rPr lang="en-US" altLang="zh-CN" sz="2400">
                <a:solidFill>
                  <a:schemeClr val="tx1"/>
                </a:solidFill>
                <a:ea typeface="隶书" charset="0"/>
              </a:rPr>
              <a:t>=″China″;</a:t>
            </a:r>
          </a:p>
          <a:p>
            <a:pPr marL="280988" indent="0"/>
            <a:r>
              <a:rPr lang="en-US" altLang="zh-CN" sz="2400">
                <a:solidFill>
                  <a:schemeClr val="tx1"/>
                </a:solidFill>
                <a:ea typeface="隶书" charset="0"/>
              </a:rPr>
              <a:t>printf(“%d”,strlen(str));</a:t>
            </a:r>
          </a:p>
          <a:p>
            <a:pPr marL="280988" indent="0"/>
            <a:r>
              <a:rPr lang="zh-CN" altLang="en-US">
                <a:solidFill>
                  <a:schemeClr val="tx1"/>
                </a:solidFill>
                <a:ea typeface="隶书" charset="0"/>
              </a:rPr>
              <a:t>输出结果不是</a:t>
            </a:r>
            <a:r>
              <a:rPr lang="en-US" altLang="zh-CN">
                <a:solidFill>
                  <a:schemeClr val="tx1"/>
                </a:solidFill>
                <a:ea typeface="隶书" charset="0"/>
              </a:rPr>
              <a:t>10</a:t>
            </a:r>
            <a:r>
              <a:rPr lang="zh-CN" altLang="en-US">
                <a:solidFill>
                  <a:schemeClr val="tx1"/>
                </a:solidFill>
                <a:ea typeface="隶书" charset="0"/>
              </a:rPr>
              <a:t>，也不是</a:t>
            </a:r>
            <a:r>
              <a:rPr lang="en-US" altLang="zh-CN">
                <a:solidFill>
                  <a:schemeClr val="tx1"/>
                </a:solidFill>
                <a:ea typeface="隶书" charset="0"/>
              </a:rPr>
              <a:t>6</a:t>
            </a:r>
            <a:r>
              <a:rPr lang="zh-CN" altLang="en-US">
                <a:solidFill>
                  <a:schemeClr val="tx1"/>
                </a:solidFill>
                <a:ea typeface="隶书" charset="0"/>
              </a:rPr>
              <a:t>，而是</a:t>
            </a:r>
            <a:r>
              <a:rPr lang="en-US" altLang="zh-CN">
                <a:solidFill>
                  <a:schemeClr val="tx1"/>
                </a:solidFill>
                <a:ea typeface="隶书" charset="0"/>
              </a:rPr>
              <a:t>5</a:t>
            </a:r>
            <a:r>
              <a:rPr lang="zh-CN" altLang="en-US">
                <a:solidFill>
                  <a:schemeClr val="tx1"/>
                </a:solidFill>
                <a:ea typeface="隶书" charset="0"/>
              </a:rPr>
              <a:t>。</a:t>
            </a:r>
          </a:p>
          <a:p>
            <a:pPr marL="280988" indent="0"/>
            <a:endParaRPr lang="en-US" altLang="zh-CN">
              <a:solidFill>
                <a:schemeClr val="tx1"/>
              </a:solidFill>
              <a:ea typeface="隶书" charset="0"/>
            </a:endParaRPr>
          </a:p>
          <a:p>
            <a:pPr marL="280988" indent="0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CFE6D-0535-064E-BBE5-CBA9B93D30CD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41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576" y="1988840"/>
            <a:ext cx="7772400" cy="1609344"/>
          </a:xfrm>
        </p:spPr>
        <p:txBody>
          <a:bodyPr/>
          <a:lstStyle/>
          <a:p>
            <a:pPr algn="ctr"/>
            <a:r>
              <a:rPr kumimoji="1" lang="en-US" altLang="zh-CN" dirty="0"/>
              <a:t>Thanks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thinking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!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7032-49AE-7443-876F-DC1CCDE0016C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413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4"/>
          <p:cNvSpPr>
            <a:spLocks noChangeArrowheads="1"/>
          </p:cNvSpPr>
          <p:nvPr/>
        </p:nvSpPr>
        <p:spPr bwMode="auto">
          <a:xfrm>
            <a:off x="358775" y="228600"/>
            <a:ext cx="8382000" cy="599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63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</a:pPr>
            <a:endParaRPr lang="zh-CN" altLang="en-US" sz="3200" b="0">
              <a:solidFill>
                <a:schemeClr val="tx1"/>
              </a:solidFill>
              <a:ea typeface="隶书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0988" indent="0">
              <a:buFont typeface="Wingdings" charset="2"/>
              <a:buNone/>
            </a:pPr>
            <a:r>
              <a:rPr lang="en-US" altLang="zh-CN" dirty="0">
                <a:solidFill>
                  <a:srgbClr val="B32C16"/>
                </a:solidFill>
                <a:ea typeface="隶书" charset="0"/>
              </a:rPr>
              <a:t>2. </a:t>
            </a:r>
            <a:r>
              <a:rPr lang="zh-CN" altLang="en-US" dirty="0">
                <a:solidFill>
                  <a:srgbClr val="FF6600"/>
                </a:solidFill>
                <a:ea typeface="隶书" charset="0"/>
              </a:rPr>
              <a:t>函数原型：</a:t>
            </a:r>
            <a:r>
              <a:rPr lang="en-US" altLang="zh-CN" dirty="0" err="1">
                <a:solidFill>
                  <a:srgbClr val="0000FF"/>
                </a:solidFill>
                <a:ea typeface="隶书" charset="0"/>
              </a:rPr>
              <a:t>strcpy</a:t>
            </a:r>
            <a:r>
              <a:rPr lang="en-US" altLang="zh-CN" dirty="0">
                <a:solidFill>
                  <a:srgbClr val="0000FF"/>
                </a:solidFill>
                <a:ea typeface="隶书" charset="0"/>
              </a:rPr>
              <a:t>(char[],</a:t>
            </a:r>
            <a:r>
              <a:rPr lang="en-US" altLang="zh-CN" dirty="0" err="1">
                <a:solidFill>
                  <a:srgbClr val="0000FF"/>
                </a:solidFill>
                <a:ea typeface="隶书" charset="0"/>
              </a:rPr>
              <a:t>const</a:t>
            </a:r>
            <a:r>
              <a:rPr lang="en-US" altLang="zh-CN" dirty="0">
                <a:solidFill>
                  <a:srgbClr val="0000FF"/>
                </a:solidFill>
                <a:ea typeface="隶书" charset="0"/>
              </a:rPr>
              <a:t> char[]); </a:t>
            </a:r>
          </a:p>
          <a:p>
            <a:pPr marL="280988" indent="0">
              <a:buFont typeface="Wingdings" charset="2"/>
              <a:buNone/>
            </a:pPr>
            <a:r>
              <a:rPr lang="zh-CN" altLang="en-US" sz="2400" dirty="0">
                <a:solidFill>
                  <a:srgbClr val="FF6600"/>
                </a:solidFill>
                <a:ea typeface="隶书" charset="0"/>
              </a:rPr>
              <a:t>作用</a:t>
            </a:r>
            <a:r>
              <a:rPr lang="en-US" altLang="zh-CN" sz="2400" dirty="0">
                <a:solidFill>
                  <a:srgbClr val="FF6600"/>
                </a:solidFill>
                <a:ea typeface="隶书" charset="0"/>
              </a:rPr>
              <a:t>:</a:t>
            </a:r>
            <a:r>
              <a:rPr lang="en-US" altLang="zh-CN" sz="2400" dirty="0">
                <a:solidFill>
                  <a:schemeClr val="tx1"/>
                </a:solidFill>
                <a:ea typeface="隶书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将第二个字符数组中的字符串复制到第一个字符数组中去，将第一个字符数组中的相应字符覆盖。</a:t>
            </a:r>
          </a:p>
          <a:p>
            <a:pPr marL="280988" indent="0">
              <a:buFont typeface="Wingdings" charset="2"/>
              <a:buNone/>
            </a:pPr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例如</a:t>
            </a:r>
          </a:p>
          <a:p>
            <a:pPr marL="280988" indent="0">
              <a:buFont typeface="Wingdings" charset="2"/>
              <a:buNone/>
            </a:pPr>
            <a:r>
              <a:rPr lang="en-US" altLang="zh-CN" sz="2400" dirty="0">
                <a:solidFill>
                  <a:srgbClr val="E75C01"/>
                </a:solidFill>
                <a:ea typeface="隶书" charset="0"/>
              </a:rPr>
              <a:t>char str1</a:t>
            </a:r>
            <a:r>
              <a:rPr lang="zh-CN" altLang="en-US" sz="2400" dirty="0">
                <a:solidFill>
                  <a:srgbClr val="E75C01"/>
                </a:solidFill>
                <a:ea typeface="隶书" charset="0"/>
              </a:rPr>
              <a:t>［</a:t>
            </a:r>
            <a:r>
              <a:rPr lang="en-US" altLang="zh-CN" sz="2400" dirty="0">
                <a:solidFill>
                  <a:srgbClr val="E75C01"/>
                </a:solidFill>
                <a:ea typeface="隶书" charset="0"/>
              </a:rPr>
              <a:t>10</a:t>
            </a:r>
            <a:r>
              <a:rPr lang="zh-CN" altLang="en-US" sz="2400" dirty="0">
                <a:solidFill>
                  <a:srgbClr val="E75C01"/>
                </a:solidFill>
                <a:ea typeface="隶书" charset="0"/>
              </a:rPr>
              <a:t>］，</a:t>
            </a:r>
            <a:r>
              <a:rPr lang="en-US" altLang="zh-CN" sz="2400" dirty="0">
                <a:solidFill>
                  <a:srgbClr val="E75C01"/>
                </a:solidFill>
                <a:ea typeface="隶书" charset="0"/>
              </a:rPr>
              <a:t>str2</a:t>
            </a:r>
            <a:r>
              <a:rPr lang="zh-CN" altLang="en-US" sz="2400" dirty="0">
                <a:solidFill>
                  <a:srgbClr val="E75C01"/>
                </a:solidFill>
                <a:ea typeface="隶书" charset="0"/>
              </a:rPr>
              <a:t>［］</a:t>
            </a:r>
            <a:r>
              <a:rPr lang="en-US" altLang="zh-CN" sz="2400" dirty="0">
                <a:solidFill>
                  <a:srgbClr val="E75C01"/>
                </a:solidFill>
                <a:ea typeface="隶书" charset="0"/>
              </a:rPr>
              <a:t>=″China″;</a:t>
            </a:r>
          </a:p>
          <a:p>
            <a:pPr marL="280988" indent="0">
              <a:buFont typeface="Wingdings" charset="2"/>
              <a:buNone/>
            </a:pPr>
            <a:r>
              <a:rPr lang="en-US" altLang="zh-CN" sz="2400" dirty="0" err="1">
                <a:solidFill>
                  <a:srgbClr val="E75C01"/>
                </a:solidFill>
                <a:ea typeface="隶书" charset="0"/>
              </a:rPr>
              <a:t>strcpy</a:t>
            </a:r>
            <a:r>
              <a:rPr lang="en-US" altLang="zh-CN" sz="2400" dirty="0">
                <a:solidFill>
                  <a:srgbClr val="E75C01"/>
                </a:solidFill>
                <a:ea typeface="隶书" charset="0"/>
              </a:rPr>
              <a:t>(str1</a:t>
            </a:r>
            <a:r>
              <a:rPr lang="zh-CN" altLang="en-US" sz="2400" dirty="0">
                <a:solidFill>
                  <a:srgbClr val="E75C01"/>
                </a:solidFill>
                <a:ea typeface="隶书" charset="0"/>
              </a:rPr>
              <a:t>，</a:t>
            </a:r>
            <a:r>
              <a:rPr lang="en-US" altLang="zh-CN" sz="2400" dirty="0">
                <a:solidFill>
                  <a:srgbClr val="E75C01"/>
                </a:solidFill>
                <a:ea typeface="隶书" charset="0"/>
              </a:rPr>
              <a:t>str2);</a:t>
            </a:r>
          </a:p>
          <a:p>
            <a:pPr marL="280988" indent="0">
              <a:buFont typeface="Wingdings" charset="2"/>
              <a:buNone/>
            </a:pPr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执行后，</a:t>
            </a:r>
            <a:r>
              <a:rPr lang="en-US" altLang="zh-CN" dirty="0">
                <a:solidFill>
                  <a:schemeClr val="tx1"/>
                </a:solidFill>
                <a:ea typeface="隶书" charset="0"/>
              </a:rPr>
              <a:t>str2</a:t>
            </a:r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中的</a:t>
            </a:r>
            <a:r>
              <a:rPr lang="en-US" altLang="zh-CN" dirty="0">
                <a:solidFill>
                  <a:schemeClr val="tx1"/>
                </a:solidFill>
                <a:ea typeface="隶书" charset="0"/>
              </a:rPr>
              <a:t>5</a:t>
            </a:r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个字符’</a:t>
            </a:r>
            <a:r>
              <a:rPr lang="en-US" altLang="zh-CN" dirty="0">
                <a:solidFill>
                  <a:schemeClr val="tx1"/>
                </a:solidFill>
                <a:ea typeface="隶书" charset="0"/>
              </a:rPr>
              <a:t>C’, ’h’, ’</a:t>
            </a:r>
            <a:r>
              <a:rPr lang="en-US" altLang="zh-CN" dirty="0" err="1">
                <a:solidFill>
                  <a:schemeClr val="tx1"/>
                </a:solidFill>
                <a:ea typeface="隶书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ea typeface="隶书" charset="0"/>
              </a:rPr>
              <a:t>’, ’n’, ’a’</a:t>
            </a:r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和</a:t>
            </a:r>
            <a:r>
              <a:rPr lang="en-US" altLang="zh-CN" dirty="0">
                <a:solidFill>
                  <a:schemeClr val="tx1"/>
                </a:solidFill>
                <a:ea typeface="隶书" charset="0"/>
              </a:rPr>
              <a:t>′\0′(</a:t>
            </a:r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共</a:t>
            </a:r>
            <a:r>
              <a:rPr lang="en-US" altLang="zh-CN" dirty="0">
                <a:solidFill>
                  <a:schemeClr val="tx1"/>
                </a:solidFill>
                <a:ea typeface="隶书" charset="0"/>
              </a:rPr>
              <a:t>6</a:t>
            </a:r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个字符</a:t>
            </a:r>
            <a:r>
              <a:rPr lang="en-US" altLang="zh-CN" dirty="0">
                <a:solidFill>
                  <a:schemeClr val="tx1"/>
                </a:solidFill>
                <a:ea typeface="隶书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复制到数组</a:t>
            </a:r>
            <a:r>
              <a:rPr lang="en-US" altLang="zh-CN" dirty="0">
                <a:solidFill>
                  <a:schemeClr val="tx1"/>
                </a:solidFill>
                <a:ea typeface="隶书" charset="0"/>
              </a:rPr>
              <a:t>str1</a:t>
            </a:r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中。</a:t>
            </a:r>
          </a:p>
          <a:p>
            <a:pPr marL="280988" indent="0">
              <a:buFont typeface="Wingdings" charset="2"/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  <a:ea typeface="+mn-ea"/>
                <a:cs typeface="隶书" charset="0"/>
              </a:rPr>
              <a:t>字符串复制函数</a:t>
            </a:r>
            <a:r>
              <a:rPr lang="en-US" altLang="zh-CN" dirty="0" err="1">
                <a:latin typeface="+mn-ea"/>
                <a:ea typeface="+mn-ea"/>
                <a:cs typeface="隶书" charset="0"/>
              </a:rPr>
              <a:t>strcpy</a:t>
            </a:r>
            <a:r>
              <a:rPr lang="en-US" altLang="zh-CN" dirty="0">
                <a:latin typeface="+mn-ea"/>
                <a:ea typeface="+mn-ea"/>
                <a:cs typeface="隶书" charset="0"/>
              </a:rPr>
              <a:t> </a:t>
            </a:r>
            <a:r>
              <a:rPr lang="en-US" altLang="zh-CN" sz="2400" dirty="0">
                <a:latin typeface="+mn-ea"/>
                <a:ea typeface="+mn-ea"/>
                <a:cs typeface="隶书" charset="0"/>
              </a:rPr>
              <a:t>(string copy)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37F56-AC40-1844-9EFB-07B2F743DA38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967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0988" indent="0">
              <a:buFont typeface="Wingdings" charset="2"/>
              <a:buNone/>
            </a:pPr>
            <a:r>
              <a:rPr lang="zh-CN" altLang="en-US" dirty="0">
                <a:solidFill>
                  <a:srgbClr val="FF6600"/>
                </a:solidFill>
                <a:ea typeface="隶书" charset="0"/>
              </a:rPr>
              <a:t>函数原型</a:t>
            </a:r>
            <a:r>
              <a:rPr lang="en-US" altLang="zh-CN" dirty="0">
                <a:solidFill>
                  <a:srgbClr val="FF6600"/>
                </a:solidFill>
                <a:ea typeface="隶书" charset="0"/>
              </a:rPr>
              <a:t>:</a:t>
            </a:r>
            <a:r>
              <a:rPr lang="en-US" altLang="zh-CN" dirty="0">
                <a:solidFill>
                  <a:schemeClr val="tx1"/>
                </a:solidFill>
                <a:ea typeface="隶书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ea typeface="隶书" charset="0"/>
              </a:rPr>
              <a:t>strcmp</a:t>
            </a:r>
            <a:r>
              <a:rPr lang="en-US" altLang="zh-CN" dirty="0">
                <a:solidFill>
                  <a:srgbClr val="0000FF"/>
                </a:solidFill>
                <a:ea typeface="隶书" charset="0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ea typeface="隶书" charset="0"/>
              </a:rPr>
              <a:t>const</a:t>
            </a:r>
            <a:r>
              <a:rPr lang="en-US" altLang="zh-CN" dirty="0">
                <a:solidFill>
                  <a:srgbClr val="0000FF"/>
                </a:solidFill>
                <a:ea typeface="隶书" charset="0"/>
              </a:rPr>
              <a:t> char[],</a:t>
            </a:r>
            <a:r>
              <a:rPr lang="en-US" altLang="zh-CN" dirty="0" err="1">
                <a:solidFill>
                  <a:srgbClr val="0000FF"/>
                </a:solidFill>
                <a:ea typeface="隶书" charset="0"/>
              </a:rPr>
              <a:t>const</a:t>
            </a:r>
            <a:r>
              <a:rPr lang="en-US" altLang="zh-CN" dirty="0">
                <a:solidFill>
                  <a:srgbClr val="0000FF"/>
                </a:solidFill>
                <a:ea typeface="隶书" charset="0"/>
              </a:rPr>
              <a:t> char[]);</a:t>
            </a:r>
          </a:p>
          <a:p>
            <a:pPr marL="280988" indent="0">
              <a:buFont typeface="Wingdings" charset="2"/>
              <a:buNone/>
            </a:pPr>
            <a:r>
              <a:rPr lang="zh-CN" altLang="en-US" sz="2400" dirty="0">
                <a:solidFill>
                  <a:srgbClr val="FF6600"/>
                </a:solidFill>
                <a:ea typeface="隶书" charset="0"/>
              </a:rPr>
              <a:t>作用</a:t>
            </a:r>
            <a:r>
              <a:rPr lang="en-US" altLang="zh-CN" sz="2400" dirty="0">
                <a:solidFill>
                  <a:srgbClr val="FF6600"/>
                </a:solidFill>
                <a:ea typeface="隶书" charset="0"/>
              </a:rPr>
              <a:t>: </a:t>
            </a: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比较两个字符串。由于这两个字符数组只参加比较而不应改变其内容，因此两个参数都加上</a:t>
            </a:r>
            <a:r>
              <a:rPr lang="en-US" altLang="zh-CN" sz="2400" dirty="0" err="1">
                <a:solidFill>
                  <a:schemeClr val="tx1"/>
                </a:solidFill>
                <a:ea typeface="隶书" charset="0"/>
              </a:rPr>
              <a:t>const</a:t>
            </a: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声明。</a:t>
            </a:r>
          </a:p>
          <a:p>
            <a:pPr marL="280988" indent="0">
              <a:buFont typeface="Wingdings" charset="2"/>
              <a:buNone/>
            </a:pPr>
            <a:r>
              <a:rPr lang="en-US" altLang="zh-CN" sz="2400" dirty="0" err="1">
                <a:solidFill>
                  <a:srgbClr val="E75C01"/>
                </a:solidFill>
                <a:ea typeface="隶书" charset="0"/>
              </a:rPr>
              <a:t>strcmp</a:t>
            </a:r>
            <a:r>
              <a:rPr lang="en-US" altLang="zh-CN" sz="2400" dirty="0">
                <a:solidFill>
                  <a:srgbClr val="E75C01"/>
                </a:solidFill>
                <a:ea typeface="隶书" charset="0"/>
              </a:rPr>
              <a:t>(str1</a:t>
            </a:r>
            <a:r>
              <a:rPr lang="zh-CN" altLang="en-US" sz="2400" dirty="0">
                <a:solidFill>
                  <a:srgbClr val="E75C01"/>
                </a:solidFill>
                <a:ea typeface="隶书" charset="0"/>
              </a:rPr>
              <a:t>，</a:t>
            </a:r>
            <a:r>
              <a:rPr lang="en-US" altLang="zh-CN" sz="2400" dirty="0">
                <a:solidFill>
                  <a:srgbClr val="E75C01"/>
                </a:solidFill>
                <a:ea typeface="隶书" charset="0"/>
              </a:rPr>
              <a:t>str2);</a:t>
            </a:r>
          </a:p>
          <a:p>
            <a:pPr marL="280988" indent="0">
              <a:buFont typeface="Wingdings" charset="2"/>
              <a:buNone/>
            </a:pPr>
            <a:r>
              <a:rPr lang="en-US" altLang="zh-CN" sz="2400" dirty="0" err="1">
                <a:solidFill>
                  <a:srgbClr val="E75C01"/>
                </a:solidFill>
                <a:ea typeface="隶书" charset="0"/>
              </a:rPr>
              <a:t>strcmp</a:t>
            </a:r>
            <a:r>
              <a:rPr lang="en-US" altLang="zh-CN" sz="2400" dirty="0">
                <a:solidFill>
                  <a:srgbClr val="E75C01"/>
                </a:solidFill>
                <a:ea typeface="隶书" charset="0"/>
              </a:rPr>
              <a:t>(″China″</a:t>
            </a:r>
            <a:r>
              <a:rPr lang="zh-CN" altLang="en-US" sz="2400" dirty="0">
                <a:solidFill>
                  <a:srgbClr val="E75C01"/>
                </a:solidFill>
                <a:ea typeface="隶书" charset="0"/>
              </a:rPr>
              <a:t>，</a:t>
            </a:r>
            <a:r>
              <a:rPr lang="en-US" altLang="zh-CN" sz="2400" dirty="0">
                <a:solidFill>
                  <a:srgbClr val="E75C01"/>
                </a:solidFill>
                <a:ea typeface="隶书" charset="0"/>
              </a:rPr>
              <a:t>″Korea″);</a:t>
            </a:r>
          </a:p>
          <a:p>
            <a:pPr marL="280988" indent="0">
              <a:buFont typeface="Wingdings" charset="2"/>
              <a:buNone/>
            </a:pPr>
            <a:r>
              <a:rPr lang="en-US" altLang="zh-CN" sz="2400" dirty="0" err="1">
                <a:solidFill>
                  <a:srgbClr val="E75C01"/>
                </a:solidFill>
                <a:ea typeface="隶书" charset="0"/>
              </a:rPr>
              <a:t>strcmp</a:t>
            </a:r>
            <a:r>
              <a:rPr lang="en-US" altLang="zh-CN" sz="2400" dirty="0">
                <a:solidFill>
                  <a:srgbClr val="E75C01"/>
                </a:solidFill>
                <a:ea typeface="隶书" charset="0"/>
              </a:rPr>
              <a:t>(str1</a:t>
            </a:r>
            <a:r>
              <a:rPr lang="zh-CN" altLang="en-US" sz="2400" dirty="0">
                <a:solidFill>
                  <a:srgbClr val="E75C01"/>
                </a:solidFill>
                <a:ea typeface="隶书" charset="0"/>
              </a:rPr>
              <a:t>，</a:t>
            </a:r>
            <a:r>
              <a:rPr lang="en-US" altLang="zh-CN" sz="2400" dirty="0">
                <a:solidFill>
                  <a:srgbClr val="E75C01"/>
                </a:solidFill>
                <a:ea typeface="隶书" charset="0"/>
              </a:rPr>
              <a:t>″Beijing″);</a:t>
            </a:r>
          </a:p>
          <a:p>
            <a:pPr marL="280988" indent="0">
              <a:buClr>
                <a:srgbClr val="FFFF00"/>
              </a:buClr>
              <a:buFont typeface="Wingdings" charset="2"/>
              <a:buNone/>
            </a:pP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如果字符串</a:t>
            </a:r>
            <a:r>
              <a:rPr lang="en-US" altLang="zh-CN" sz="2400" dirty="0">
                <a:solidFill>
                  <a:schemeClr val="tx1"/>
                </a:solidFill>
                <a:ea typeface="隶书" charset="0"/>
              </a:rPr>
              <a:t>1=</a:t>
            </a: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字符串</a:t>
            </a:r>
            <a:r>
              <a:rPr lang="en-US" altLang="zh-CN" sz="2400" dirty="0">
                <a:solidFill>
                  <a:schemeClr val="tx1"/>
                </a:solidFill>
                <a:ea typeface="隶书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，函数值为</a:t>
            </a:r>
            <a:r>
              <a:rPr lang="zh-CN" altLang="zh-CN" sz="2400" dirty="0">
                <a:solidFill>
                  <a:schemeClr val="tx1"/>
                </a:solidFill>
                <a:ea typeface="隶书" charset="0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。</a:t>
            </a:r>
          </a:p>
          <a:p>
            <a:pPr marL="280988" indent="0">
              <a:buClr>
                <a:srgbClr val="FFFF00"/>
              </a:buClr>
              <a:buFont typeface="Wingdings" charset="2"/>
              <a:buNone/>
            </a:pP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如果字符串</a:t>
            </a:r>
            <a:r>
              <a:rPr lang="en-US" altLang="zh-CN" sz="2400" dirty="0">
                <a:solidFill>
                  <a:schemeClr val="tx1"/>
                </a:solidFill>
                <a:ea typeface="隶书" charset="0"/>
              </a:rPr>
              <a:t>1&gt;</a:t>
            </a: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字符串</a:t>
            </a:r>
            <a:r>
              <a:rPr lang="en-US" altLang="zh-CN" sz="2400" dirty="0">
                <a:solidFill>
                  <a:schemeClr val="tx1"/>
                </a:solidFill>
                <a:ea typeface="隶书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，函数值为一正整数。</a:t>
            </a:r>
          </a:p>
          <a:p>
            <a:pPr marL="280988" indent="0">
              <a:buClr>
                <a:srgbClr val="FFFF00"/>
              </a:buClr>
              <a:buFont typeface="Wingdings" charset="2"/>
              <a:buNone/>
            </a:pP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如果字符串</a:t>
            </a:r>
            <a:r>
              <a:rPr lang="en-US" altLang="zh-CN" sz="2400" dirty="0">
                <a:solidFill>
                  <a:schemeClr val="tx1"/>
                </a:solidFill>
                <a:ea typeface="隶书" charset="0"/>
              </a:rPr>
              <a:t>1&lt;</a:t>
            </a: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字符串</a:t>
            </a:r>
            <a:r>
              <a:rPr lang="en-US" altLang="zh-CN" sz="2400" dirty="0">
                <a:solidFill>
                  <a:schemeClr val="tx1"/>
                </a:solidFill>
                <a:ea typeface="隶书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ea typeface="隶书" charset="0"/>
              </a:rPr>
              <a:t>，函数值为一负整数。</a:t>
            </a:r>
          </a:p>
          <a:p>
            <a:pPr marL="280988" indent="0">
              <a:buFont typeface="Wingdings" charset="2"/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200" dirty="0">
                <a:solidFill>
                  <a:srgbClr val="000000"/>
                </a:solidFill>
                <a:latin typeface="+mn-ea"/>
                <a:ea typeface="+mn-ea"/>
                <a:cs typeface="隶书" charset="0"/>
              </a:rPr>
              <a:t>字符串比较函数</a:t>
            </a:r>
            <a:r>
              <a:rPr lang="en-US" altLang="zh-CN" sz="3200" dirty="0" err="1">
                <a:solidFill>
                  <a:srgbClr val="000000"/>
                </a:solidFill>
                <a:latin typeface="+mn-ea"/>
                <a:ea typeface="+mn-ea"/>
                <a:cs typeface="隶书" charset="0"/>
              </a:rPr>
              <a:t>strcmp</a:t>
            </a:r>
            <a:r>
              <a:rPr lang="en-US" altLang="zh-CN" sz="3200" dirty="0">
                <a:solidFill>
                  <a:srgbClr val="000000"/>
                </a:solidFill>
                <a:latin typeface="+mn-ea"/>
                <a:ea typeface="+mn-ea"/>
                <a:cs typeface="隶书" charset="0"/>
              </a:rPr>
              <a:t> (string compare)</a:t>
            </a:r>
            <a:endParaRPr lang="zh-CN" altLang="en-US" sz="3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D576-B5A3-6F42-A2CF-DD68D7313C9A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0959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/>
          <p:cNvSpPr>
            <a:spLocks noChangeArrowheads="1"/>
          </p:cNvSpPr>
          <p:nvPr/>
        </p:nvSpPr>
        <p:spPr bwMode="auto">
          <a:xfrm>
            <a:off x="304800" y="533400"/>
            <a:ext cx="8382000" cy="599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63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</a:pPr>
            <a:endParaRPr lang="en-US" altLang="zh-CN" sz="2800" b="0">
              <a:solidFill>
                <a:srgbClr val="B32C16"/>
              </a:solidFill>
              <a:ea typeface="隶书" charset="0"/>
            </a:endParaRPr>
          </a:p>
        </p:txBody>
      </p:sp>
      <p:sp>
        <p:nvSpPr>
          <p:cNvPr id="1146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charset="0"/>
                <a:ea typeface="黑体" charset="0"/>
              </a:rPr>
              <a:t>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7338" indent="-6350"/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对两个字符串比较，不能用以下形式：</a:t>
            </a:r>
          </a:p>
          <a:p>
            <a:pPr marL="287338" indent="-6350">
              <a:buFont typeface="Wingdings" charset="2"/>
              <a:buNone/>
            </a:pPr>
            <a:r>
              <a:rPr lang="en-US" altLang="zh-CN" sz="2400" dirty="0">
                <a:solidFill>
                  <a:srgbClr val="B32C16"/>
                </a:solidFill>
                <a:ea typeface="隶书" charset="0"/>
              </a:rPr>
              <a:t>if(str1&gt;str2) </a:t>
            </a:r>
          </a:p>
          <a:p>
            <a:pPr marL="287338" indent="-6350">
              <a:buFont typeface="Wingdings" charset="2"/>
              <a:buNone/>
            </a:pPr>
            <a:r>
              <a:rPr lang="en-US" altLang="zh-CN" sz="2400" dirty="0">
                <a:solidFill>
                  <a:srgbClr val="B32C16"/>
                </a:solidFill>
                <a:ea typeface="隶书" charset="0"/>
              </a:rPr>
              <a:t>	    </a:t>
            </a:r>
            <a:r>
              <a:rPr lang="en-US" altLang="zh-CN" sz="2400" dirty="0" err="1">
                <a:solidFill>
                  <a:srgbClr val="B32C16"/>
                </a:solidFill>
                <a:ea typeface="隶书" charset="0"/>
              </a:rPr>
              <a:t>printf</a:t>
            </a:r>
            <a:r>
              <a:rPr lang="en-US" altLang="zh-CN" sz="2400" dirty="0">
                <a:solidFill>
                  <a:srgbClr val="B32C16"/>
                </a:solidFill>
                <a:ea typeface="隶书" charset="0"/>
              </a:rPr>
              <a:t>(″yes″);    </a:t>
            </a:r>
          </a:p>
          <a:p>
            <a:pPr marL="287338" indent="-6350"/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字符数组名</a:t>
            </a:r>
            <a:r>
              <a:rPr lang="en-US" altLang="zh-CN" dirty="0">
                <a:solidFill>
                  <a:schemeClr val="tx1"/>
                </a:solidFill>
                <a:ea typeface="隶书" charset="0"/>
              </a:rPr>
              <a:t>str1</a:t>
            </a:r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和</a:t>
            </a:r>
            <a:r>
              <a:rPr lang="en-US" altLang="zh-CN" dirty="0">
                <a:solidFill>
                  <a:schemeClr val="tx1"/>
                </a:solidFill>
                <a:ea typeface="隶书" charset="0"/>
              </a:rPr>
              <a:t>str2</a:t>
            </a:r>
            <a:r>
              <a:rPr lang="zh-CN" altLang="en-US" dirty="0">
                <a:solidFill>
                  <a:schemeClr val="tx1"/>
                </a:solidFill>
                <a:ea typeface="隶书" charset="0"/>
              </a:rPr>
              <a:t>代表数组地址，上面写法表示将两个数组地址进行比较，而不是对数组中的字符串进行比较。对两个字符串比较应该用</a:t>
            </a:r>
          </a:p>
          <a:p>
            <a:pPr marL="287338" indent="-6350">
              <a:buFont typeface="Wingdings" charset="2"/>
              <a:buNone/>
            </a:pPr>
            <a:r>
              <a:rPr lang="en-US" altLang="zh-CN" sz="2400" dirty="0">
                <a:solidFill>
                  <a:srgbClr val="B32C16"/>
                </a:solidFill>
                <a:ea typeface="隶书" charset="0"/>
              </a:rPr>
              <a:t>if(</a:t>
            </a:r>
            <a:r>
              <a:rPr lang="en-US" altLang="zh-CN" sz="2400" dirty="0" err="1">
                <a:solidFill>
                  <a:srgbClr val="B32C16"/>
                </a:solidFill>
                <a:ea typeface="隶书" charset="0"/>
              </a:rPr>
              <a:t>strcmp</a:t>
            </a:r>
            <a:r>
              <a:rPr lang="en-US" altLang="zh-CN" sz="2400" dirty="0">
                <a:solidFill>
                  <a:srgbClr val="B32C16"/>
                </a:solidFill>
                <a:ea typeface="隶书" charset="0"/>
              </a:rPr>
              <a:t>(str1</a:t>
            </a:r>
            <a:r>
              <a:rPr lang="zh-CN" altLang="en-US" sz="2400" dirty="0">
                <a:solidFill>
                  <a:srgbClr val="B32C16"/>
                </a:solidFill>
                <a:ea typeface="隶书" charset="0"/>
              </a:rPr>
              <a:t>，</a:t>
            </a:r>
            <a:r>
              <a:rPr lang="en-US" altLang="zh-CN" sz="2400" dirty="0">
                <a:solidFill>
                  <a:srgbClr val="B32C16"/>
                </a:solidFill>
                <a:ea typeface="隶书" charset="0"/>
              </a:rPr>
              <a:t>str2)&gt;0) </a:t>
            </a:r>
          </a:p>
          <a:p>
            <a:pPr marL="287338" indent="-6350">
              <a:buFont typeface="Wingdings" charset="2"/>
              <a:buNone/>
            </a:pPr>
            <a:r>
              <a:rPr lang="en-US" altLang="zh-CN" sz="2400" dirty="0">
                <a:solidFill>
                  <a:srgbClr val="B32C16"/>
                </a:solidFill>
                <a:ea typeface="隶书" charset="0"/>
              </a:rPr>
              <a:t>	    </a:t>
            </a:r>
            <a:r>
              <a:rPr lang="en-US" altLang="zh-CN" sz="2400" dirty="0" err="1">
                <a:solidFill>
                  <a:srgbClr val="B32C16"/>
                </a:solidFill>
                <a:ea typeface="隶书" charset="0"/>
              </a:rPr>
              <a:t>printf</a:t>
            </a:r>
            <a:r>
              <a:rPr lang="en-US" altLang="zh-CN" sz="2400" dirty="0">
                <a:solidFill>
                  <a:srgbClr val="B32C16"/>
                </a:solidFill>
                <a:ea typeface="隶书" charset="0"/>
              </a:rPr>
              <a:t>(″yes″);    </a:t>
            </a:r>
          </a:p>
          <a:p>
            <a:pPr marL="287338" indent="-6350"/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5F2C8-10E7-DC42-ACE8-8CA434DC5AD4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9095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Text Box 1028"/>
          <p:cNvSpPr txBox="1">
            <a:spLocks noChangeArrowheads="1"/>
          </p:cNvSpPr>
          <p:nvPr/>
        </p:nvSpPr>
        <p:spPr bwMode="auto">
          <a:xfrm>
            <a:off x="633413" y="206375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</a:rPr>
              <a:t>用冒泡法对</a:t>
            </a:r>
            <a:r>
              <a:rPr lang="en-US" altLang="zh-CN" sz="2800" dirty="0">
                <a:solidFill>
                  <a:schemeClr val="tx1"/>
                </a:solidFill>
              </a:rPr>
              <a:t>10</a:t>
            </a:r>
            <a:r>
              <a:rPr lang="zh-CN" altLang="en-US" sz="2800" dirty="0">
                <a:solidFill>
                  <a:schemeClr val="tx1"/>
                </a:solidFill>
              </a:rPr>
              <a:t>个数排序</a:t>
            </a:r>
          </a:p>
        </p:txBody>
      </p:sp>
      <p:sp>
        <p:nvSpPr>
          <p:cNvPr id="32774" name="Rectangle 1030"/>
          <p:cNvSpPr>
            <a:spLocks noChangeArrowheads="1"/>
          </p:cNvSpPr>
          <p:nvPr/>
        </p:nvSpPr>
        <p:spPr bwMode="auto">
          <a:xfrm>
            <a:off x="717550" y="1234035"/>
            <a:ext cx="7958138" cy="5080494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marL="342900" indent="-3429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 lvl="1"/>
            <a:r>
              <a:rPr lang="zh-CN" altLang="en-US" dirty="0">
                <a:solidFill>
                  <a:schemeClr val="tx1"/>
                </a:solidFill>
              </a:rPr>
              <a:t>排序过程：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比较第一个数与第二个数，若为逆序</a:t>
            </a:r>
            <a:r>
              <a:rPr lang="en-US" altLang="zh-CN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a[0]&gt;a[1]</a:t>
            </a:r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，则交换；然后比较第二个数与第三个数；依次类推，直至第</a:t>
            </a:r>
            <a:r>
              <a:rPr lang="en-US" altLang="zh-CN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n-1</a:t>
            </a:r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个数和第</a:t>
            </a:r>
            <a:r>
              <a:rPr lang="en-US" altLang="zh-CN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n</a:t>
            </a:r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个数比较为止</a:t>
            </a:r>
            <a:r>
              <a:rPr lang="zh-CN" altLang="zh-CN" dirty="0">
                <a:solidFill>
                  <a:schemeClr val="tx1"/>
                </a:solidFill>
                <a:ea typeface="华文楷体" charset="-122"/>
              </a:rPr>
              <a:t>——</a:t>
            </a:r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第一趟冒泡排序，结果最大的数被安置在最后一个元素位置上</a:t>
            </a:r>
          </a:p>
          <a:p>
            <a:pPr lvl="1"/>
            <a:endParaRPr lang="zh-CN" altLang="en-US" dirty="0">
              <a:solidFill>
                <a:schemeClr val="tx1"/>
              </a:solidFill>
              <a:latin typeface="华文楷体" charset="-122"/>
              <a:ea typeface="华文楷体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（</a:t>
            </a:r>
            <a:r>
              <a:rPr lang="zh-CN" altLang="zh-CN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）对前</a:t>
            </a:r>
            <a:r>
              <a:rPr lang="en-US" altLang="zh-CN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n-1</a:t>
            </a:r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个数进行第二趟冒泡排序，结果使次大的数被安置在第</a:t>
            </a:r>
            <a:r>
              <a:rPr lang="en-US" altLang="zh-CN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n-1</a:t>
            </a:r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个元素位置</a:t>
            </a:r>
          </a:p>
          <a:p>
            <a:pPr lvl="1"/>
            <a:endParaRPr lang="zh-CN" altLang="zh-CN" dirty="0">
              <a:solidFill>
                <a:schemeClr val="tx1"/>
              </a:solidFill>
              <a:latin typeface="华文楷体" charset="-122"/>
              <a:ea typeface="华文楷体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（</a:t>
            </a:r>
            <a:r>
              <a:rPr lang="zh-CN" altLang="zh-CN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）重复上述过程，共经过</a:t>
            </a:r>
            <a:r>
              <a:rPr lang="en-US" altLang="zh-CN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n-1</a:t>
            </a:r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趟冒泡排序后，排序结束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7E676-7F78-8747-904B-4DF72F83223C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682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42" name="Text Box 26"/>
          <p:cNvSpPr txBox="1">
            <a:spLocks noChangeArrowheads="1"/>
          </p:cNvSpPr>
          <p:nvPr/>
        </p:nvSpPr>
        <p:spPr bwMode="auto">
          <a:xfrm>
            <a:off x="2105024" y="347307"/>
            <a:ext cx="4555207" cy="6250045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eaLnBrk="0" hangingPunct="0"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#include&lt;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stdio.h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&gt;</a:t>
            </a:r>
          </a:p>
          <a:p>
            <a:pPr eaLnBrk="0" hangingPunct="0">
              <a:defRPr/>
            </a:pP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int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main()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{   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int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a[10],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i,j,t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  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printf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("Input 10 numbers:\n");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  for(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i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=0;i&lt;10;i++)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  {   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scanf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("%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d",&amp;a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[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i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]);  }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  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printf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("\n");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rgbClr val="0000FF"/>
                </a:solidFill>
                <a:latin typeface="Arial" charset="0"/>
                <a:ea typeface="宋体" pitchFamily="2" charset="-122"/>
                <a:cs typeface="Arial" charset="0"/>
              </a:rPr>
              <a:t>    for(j=0;j&lt;9;j++)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  </a:t>
            </a:r>
            <a:r>
              <a:rPr lang="en-US" altLang="zh-CN" sz="1600" b="0" dirty="0">
                <a:solidFill>
                  <a:srgbClr val="0000FF"/>
                </a:solidFill>
                <a:latin typeface="Arial" charset="0"/>
                <a:ea typeface="宋体" pitchFamily="2" charset="-122"/>
                <a:cs typeface="Arial" charset="0"/>
              </a:rPr>
              <a:t>{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 </a:t>
            </a:r>
            <a:r>
              <a:rPr lang="en-US" altLang="zh-CN" sz="1600" b="0" dirty="0">
                <a:solidFill>
                  <a:srgbClr val="FF6600"/>
                </a:solidFill>
                <a:latin typeface="Arial" charset="0"/>
                <a:ea typeface="宋体" pitchFamily="2" charset="-122"/>
                <a:cs typeface="Arial" charset="0"/>
              </a:rPr>
              <a:t>for(</a:t>
            </a:r>
            <a:r>
              <a:rPr lang="en-US" altLang="zh-CN" sz="1600" b="0" dirty="0" err="1">
                <a:solidFill>
                  <a:srgbClr val="FF6600"/>
                </a:solidFill>
                <a:latin typeface="Arial" charset="0"/>
                <a:ea typeface="宋体" pitchFamily="2" charset="-122"/>
                <a:cs typeface="Arial" charset="0"/>
              </a:rPr>
              <a:t>i</a:t>
            </a:r>
            <a:r>
              <a:rPr lang="en-US" altLang="zh-CN" sz="1600" b="0" dirty="0">
                <a:solidFill>
                  <a:srgbClr val="FF6600"/>
                </a:solidFill>
                <a:latin typeface="Arial" charset="0"/>
                <a:ea typeface="宋体" pitchFamily="2" charset="-122"/>
                <a:cs typeface="Arial" charset="0"/>
              </a:rPr>
              <a:t>=0;i&lt;9-j;i++)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       </a:t>
            </a:r>
            <a:r>
              <a:rPr lang="en-US" altLang="zh-CN" sz="1600" b="0" dirty="0">
                <a:solidFill>
                  <a:srgbClr val="FF6600"/>
                </a:solidFill>
                <a:latin typeface="Arial" charset="0"/>
                <a:ea typeface="宋体" pitchFamily="2" charset="-122"/>
                <a:cs typeface="Arial" charset="0"/>
              </a:rPr>
              <a:t>{ 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</a:t>
            </a:r>
            <a:r>
              <a:rPr lang="en-US" altLang="zh-CN" sz="1600" b="0" dirty="0">
                <a:solidFill>
                  <a:schemeClr val="accent3"/>
                </a:solidFill>
                <a:latin typeface="Arial" charset="0"/>
                <a:ea typeface="宋体" pitchFamily="2" charset="-122"/>
                <a:cs typeface="Arial" charset="0"/>
              </a:rPr>
              <a:t>if(a[</a:t>
            </a:r>
            <a:r>
              <a:rPr lang="en-US" altLang="zh-CN" sz="1600" b="0" dirty="0" err="1">
                <a:solidFill>
                  <a:schemeClr val="accent3"/>
                </a:solidFill>
                <a:latin typeface="Arial" charset="0"/>
                <a:ea typeface="宋体" pitchFamily="2" charset="-122"/>
                <a:cs typeface="Arial" charset="0"/>
              </a:rPr>
              <a:t>i</a:t>
            </a:r>
            <a:r>
              <a:rPr lang="en-US" altLang="zh-CN" sz="1600" b="0" dirty="0">
                <a:solidFill>
                  <a:schemeClr val="accent3"/>
                </a:solidFill>
                <a:latin typeface="Arial" charset="0"/>
                <a:ea typeface="宋体" pitchFamily="2" charset="-122"/>
                <a:cs typeface="Arial" charset="0"/>
              </a:rPr>
              <a:t>]&gt;a[i+1])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chemeClr val="accent3"/>
                </a:solidFill>
                <a:latin typeface="Arial" charset="0"/>
                <a:ea typeface="宋体" pitchFamily="2" charset="-122"/>
                <a:cs typeface="Arial" charset="0"/>
              </a:rPr>
              <a:t>             {t=a[</a:t>
            </a:r>
            <a:r>
              <a:rPr lang="en-US" altLang="zh-CN" sz="1600" b="0" dirty="0" err="1">
                <a:solidFill>
                  <a:schemeClr val="accent3"/>
                </a:solidFill>
                <a:latin typeface="Arial" charset="0"/>
                <a:ea typeface="宋体" pitchFamily="2" charset="-122"/>
                <a:cs typeface="Arial" charset="0"/>
              </a:rPr>
              <a:t>i</a:t>
            </a:r>
            <a:r>
              <a:rPr lang="en-US" altLang="zh-CN" sz="1600" b="0" dirty="0">
                <a:solidFill>
                  <a:schemeClr val="accent3"/>
                </a:solidFill>
                <a:latin typeface="Arial" charset="0"/>
                <a:ea typeface="宋体" pitchFamily="2" charset="-122"/>
                <a:cs typeface="Arial" charset="0"/>
              </a:rPr>
              <a:t>]; a[</a:t>
            </a:r>
            <a:r>
              <a:rPr lang="en-US" altLang="zh-CN" sz="1600" b="0" dirty="0" err="1">
                <a:solidFill>
                  <a:schemeClr val="accent3"/>
                </a:solidFill>
                <a:latin typeface="Arial" charset="0"/>
                <a:ea typeface="宋体" pitchFamily="2" charset="-122"/>
                <a:cs typeface="Arial" charset="0"/>
              </a:rPr>
              <a:t>i</a:t>
            </a:r>
            <a:r>
              <a:rPr lang="en-US" altLang="zh-CN" sz="1600" b="0" dirty="0">
                <a:solidFill>
                  <a:schemeClr val="accent3"/>
                </a:solidFill>
                <a:latin typeface="Arial" charset="0"/>
                <a:ea typeface="宋体" pitchFamily="2" charset="-122"/>
                <a:cs typeface="Arial" charset="0"/>
              </a:rPr>
              <a:t>]=a[i+1]; a[i+1]=t;}</a:t>
            </a:r>
          </a:p>
          <a:p>
            <a:pPr eaLnBrk="0" hangingPunct="0">
              <a:defRPr/>
            </a:pPr>
            <a:r>
              <a:rPr lang="zh-CN" altLang="en-US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        </a:t>
            </a:r>
            <a:r>
              <a:rPr lang="en-US" altLang="zh-CN" sz="1600" b="0" dirty="0">
                <a:solidFill>
                  <a:srgbClr val="FF6600"/>
                </a:solidFill>
                <a:latin typeface="Arial" charset="0"/>
                <a:ea typeface="宋体" pitchFamily="2" charset="-122"/>
                <a:cs typeface="Arial" charset="0"/>
              </a:rPr>
              <a:t>}</a:t>
            </a:r>
          </a:p>
          <a:p>
            <a:pPr eaLnBrk="0" hangingPunct="0">
              <a:defRPr/>
            </a:pPr>
            <a:r>
              <a:rPr lang="zh-CN" altLang="en-US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 </a:t>
            </a:r>
            <a:r>
              <a:rPr lang="zh-CN" altLang="en-US" sz="1600" b="0" dirty="0">
                <a:solidFill>
                  <a:srgbClr val="0000FF"/>
                </a:solidFill>
                <a:latin typeface="Arial" charset="0"/>
                <a:ea typeface="宋体" pitchFamily="2" charset="-122"/>
                <a:cs typeface="Arial" charset="0"/>
              </a:rPr>
              <a:t> </a:t>
            </a:r>
            <a:r>
              <a:rPr lang="en-US" altLang="zh-CN" sz="1600" b="0" dirty="0">
                <a:solidFill>
                  <a:srgbClr val="0000FF"/>
                </a:solidFill>
                <a:latin typeface="Arial" charset="0"/>
                <a:ea typeface="宋体" pitchFamily="2" charset="-122"/>
                <a:cs typeface="Arial" charset="0"/>
              </a:rPr>
              <a:t>}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  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printf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("The sorted numbers:\n");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  for(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i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=0;i&lt;10;i++)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    {	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printf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("%d ",a[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i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]);	}</a:t>
            </a:r>
          </a:p>
          <a:p>
            <a:pPr eaLnBrk="0" hangingPunct="0"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}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4599B-7458-DE42-8006-73D6A35B04DC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254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747713" y="263525"/>
            <a:ext cx="5440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例</a:t>
            </a:r>
            <a:r>
              <a:rPr lang="en-US" altLang="zh-CN" sz="2800">
                <a:solidFill>
                  <a:schemeClr val="tx1"/>
                </a:solidFill>
              </a:rPr>
              <a:t>4</a:t>
            </a:r>
            <a:r>
              <a:rPr lang="zh-CN" altLang="en-US" sz="2800">
                <a:solidFill>
                  <a:schemeClr val="tx1"/>
                </a:solidFill>
              </a:rPr>
              <a:t>  用选择法对</a:t>
            </a:r>
            <a:r>
              <a:rPr lang="en-US" altLang="zh-CN" sz="2800">
                <a:solidFill>
                  <a:schemeClr val="tx1"/>
                </a:solidFill>
              </a:rPr>
              <a:t>10</a:t>
            </a:r>
            <a:r>
              <a:rPr lang="zh-CN" altLang="en-US" sz="2800">
                <a:solidFill>
                  <a:schemeClr val="tx1"/>
                </a:solidFill>
              </a:rPr>
              <a:t>个数排序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1068388" y="1031113"/>
            <a:ext cx="6642100" cy="5449826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marL="342900" indent="-3429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 lvl="1"/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排序过程：</a:t>
            </a:r>
          </a:p>
          <a:p>
            <a:pPr lvl="1"/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（</a:t>
            </a:r>
            <a:r>
              <a:rPr lang="en-US" altLang="zh-CN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1</a:t>
            </a:r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）首先通过</a:t>
            </a:r>
            <a:r>
              <a:rPr lang="en-US" altLang="zh-CN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n-1</a:t>
            </a:r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次比较，从</a:t>
            </a:r>
            <a:r>
              <a:rPr lang="en-US" altLang="zh-CN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n</a:t>
            </a:r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个数中找出最小的，</a:t>
            </a:r>
            <a:r>
              <a:rPr lang="zh-CN" altLang="zh-CN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将它与第一个数交换</a:t>
            </a:r>
            <a:r>
              <a:rPr lang="zh-CN" altLang="zh-CN" b="0" dirty="0">
                <a:solidFill>
                  <a:schemeClr val="tx1"/>
                </a:solidFill>
                <a:ea typeface="华文楷体" charset="-122"/>
              </a:rPr>
              <a:t>—</a:t>
            </a:r>
            <a:r>
              <a:rPr lang="zh-CN" altLang="en-US" b="0" dirty="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第一趟选择排序</a:t>
            </a:r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，结果</a:t>
            </a:r>
            <a:r>
              <a:rPr lang="zh-CN" altLang="en-US" b="0" dirty="0">
                <a:solidFill>
                  <a:srgbClr val="FF0000"/>
                </a:solidFill>
                <a:latin typeface="华文楷体" charset="-122"/>
                <a:ea typeface="华文楷体" charset="-122"/>
              </a:rPr>
              <a:t>最小</a:t>
            </a:r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的数被安置在第一个元素位置上</a:t>
            </a:r>
          </a:p>
          <a:p>
            <a:pPr lvl="1"/>
            <a:endParaRPr lang="zh-CN" altLang="zh-CN" b="0" dirty="0">
              <a:solidFill>
                <a:schemeClr val="tx1"/>
              </a:solidFill>
              <a:latin typeface="华文楷体" charset="-122"/>
              <a:ea typeface="华文楷体" charset="-122"/>
            </a:endParaRPr>
          </a:p>
          <a:p>
            <a:pPr lvl="1"/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（</a:t>
            </a:r>
            <a:r>
              <a:rPr lang="zh-CN" altLang="zh-CN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2</a:t>
            </a:r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）再通过</a:t>
            </a:r>
            <a:r>
              <a:rPr lang="en-US" altLang="zh-CN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n-2</a:t>
            </a:r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次比较，从剩余的</a:t>
            </a:r>
            <a:r>
              <a:rPr lang="en-US" altLang="zh-CN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n-1</a:t>
            </a:r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个数中找出关键字</a:t>
            </a:r>
            <a:r>
              <a:rPr lang="zh-CN" altLang="en-US" b="0" dirty="0">
                <a:solidFill>
                  <a:srgbClr val="FF0000"/>
                </a:solidFill>
                <a:latin typeface="华文楷体" charset="-122"/>
                <a:ea typeface="华文楷体" charset="-122"/>
              </a:rPr>
              <a:t>次小</a:t>
            </a:r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的记录，将它与第二个数交换</a:t>
            </a:r>
            <a:r>
              <a:rPr lang="zh-CN" altLang="zh-CN" b="0" dirty="0">
                <a:solidFill>
                  <a:schemeClr val="tx1"/>
                </a:solidFill>
                <a:ea typeface="华文楷体" charset="-122"/>
              </a:rPr>
              <a:t>—</a:t>
            </a:r>
            <a:r>
              <a:rPr lang="zh-CN" altLang="en-US" b="0" dirty="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第二趟选择排序</a:t>
            </a:r>
          </a:p>
          <a:p>
            <a:pPr lvl="1"/>
            <a:endParaRPr lang="zh-CN" altLang="zh-CN" b="0" dirty="0">
              <a:solidFill>
                <a:schemeClr val="tx1"/>
              </a:solidFill>
              <a:latin typeface="华文楷体" charset="-122"/>
              <a:ea typeface="华文楷体" charset="-122"/>
            </a:endParaRPr>
          </a:p>
          <a:p>
            <a:pPr lvl="1"/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（</a:t>
            </a:r>
            <a:r>
              <a:rPr lang="zh-CN" altLang="zh-CN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3</a:t>
            </a:r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）重复上述过程，共经过</a:t>
            </a:r>
            <a:r>
              <a:rPr lang="en-US" altLang="zh-CN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n-1</a:t>
            </a:r>
            <a:r>
              <a:rPr lang="zh-CN" altLang="en-US" b="0" dirty="0">
                <a:solidFill>
                  <a:schemeClr val="tx1"/>
                </a:solidFill>
                <a:latin typeface="华文楷体" charset="-122"/>
                <a:ea typeface="华文楷体" charset="-122"/>
              </a:rPr>
              <a:t>趟排序后，排序结束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E63C-256C-F445-BCC8-877129A123EA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397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773113" y="90963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r>
              <a:rPr lang="zh-CN" altLang="en-US" sz="2000" b="0">
                <a:solidFill>
                  <a:srgbClr val="000000"/>
                </a:solidFill>
              </a:rPr>
              <a:t>例</a:t>
            </a:r>
          </a:p>
        </p:txBody>
      </p:sp>
      <p:sp>
        <p:nvSpPr>
          <p:cNvPr id="34818" name="Text Box 3"/>
          <p:cNvSpPr txBox="1">
            <a:spLocks noChangeArrowheads="1"/>
          </p:cNvSpPr>
          <p:nvPr/>
        </p:nvSpPr>
        <p:spPr bwMode="auto">
          <a:xfrm>
            <a:off x="2606675" y="714375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endParaRPr lang="zh-CN" altLang="en-US" sz="2000" b="0">
              <a:solidFill>
                <a:schemeClr val="bg2"/>
              </a:solidFill>
            </a:endParaRP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1825625" y="904875"/>
            <a:ext cx="5357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r>
              <a:rPr lang="zh-CN" altLang="en-US" sz="2000">
                <a:solidFill>
                  <a:schemeClr val="tx1"/>
                </a:solidFill>
              </a:rPr>
              <a:t>初始：   </a:t>
            </a:r>
            <a:r>
              <a:rPr lang="en-US" altLang="zh-CN" sz="2000">
                <a:solidFill>
                  <a:schemeClr val="tx1"/>
                </a:solidFill>
              </a:rPr>
              <a:t>[ 49     38     65     97     76     13     27 ]</a:t>
            </a:r>
          </a:p>
        </p:txBody>
      </p:sp>
      <p:grpSp>
        <p:nvGrpSpPr>
          <p:cNvPr id="2" name="Group 85"/>
          <p:cNvGrpSpPr>
            <a:grpSpLocks/>
          </p:cNvGrpSpPr>
          <p:nvPr/>
        </p:nvGrpSpPr>
        <p:grpSpPr bwMode="auto">
          <a:xfrm>
            <a:off x="3048000" y="327025"/>
            <a:ext cx="311150" cy="625475"/>
            <a:chOff x="1920" y="206"/>
            <a:chExt cx="196" cy="394"/>
          </a:xfrm>
        </p:grpSpPr>
        <p:sp>
          <p:nvSpPr>
            <p:cNvPr id="34890" name="Line 6"/>
            <p:cNvSpPr>
              <a:spLocks noChangeShapeType="1"/>
            </p:cNvSpPr>
            <p:nvPr/>
          </p:nvSpPr>
          <p:spPr bwMode="auto">
            <a:xfrm>
              <a:off x="2000" y="422"/>
              <a:ext cx="0" cy="17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91" name="Text Box 7"/>
            <p:cNvSpPr txBox="1">
              <a:spLocks noChangeArrowheads="1"/>
            </p:cNvSpPr>
            <p:nvPr/>
          </p:nvSpPr>
          <p:spPr bwMode="auto">
            <a:xfrm>
              <a:off x="1920" y="20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en-US" altLang="zh-CN" sz="2000" b="0">
                  <a:solidFill>
                    <a:srgbClr val="0000FF"/>
                  </a:solidFill>
                </a:rPr>
                <a:t>k</a:t>
              </a:r>
            </a:p>
          </p:txBody>
        </p:sp>
      </p:grpSp>
      <p:grpSp>
        <p:nvGrpSpPr>
          <p:cNvPr id="3" name="Group 98"/>
          <p:cNvGrpSpPr>
            <a:grpSpLocks/>
          </p:cNvGrpSpPr>
          <p:nvPr/>
        </p:nvGrpSpPr>
        <p:grpSpPr bwMode="auto">
          <a:xfrm>
            <a:off x="3781425" y="1258888"/>
            <a:ext cx="280988" cy="601662"/>
            <a:chOff x="2320" y="767"/>
            <a:chExt cx="177" cy="379"/>
          </a:xfrm>
        </p:grpSpPr>
        <p:sp>
          <p:nvSpPr>
            <p:cNvPr id="34888" name="Line 9"/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89" name="Text Box 10"/>
            <p:cNvSpPr txBox="1">
              <a:spLocks noChangeArrowheads="1"/>
            </p:cNvSpPr>
            <p:nvPr/>
          </p:nvSpPr>
          <p:spPr bwMode="auto">
            <a:xfrm>
              <a:off x="2320" y="894"/>
              <a:ext cx="17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en-US" altLang="zh-CN" sz="2000" b="0">
                  <a:solidFill>
                    <a:srgbClr val="FF00FF"/>
                  </a:solidFill>
                </a:rPr>
                <a:t>j</a:t>
              </a:r>
            </a:p>
          </p:txBody>
        </p:sp>
      </p:grpSp>
      <p:sp>
        <p:nvSpPr>
          <p:cNvPr id="54304" name="Text Box 32"/>
          <p:cNvSpPr txBox="1">
            <a:spLocks noChangeArrowheads="1"/>
          </p:cNvSpPr>
          <p:nvPr/>
        </p:nvSpPr>
        <p:spPr bwMode="auto">
          <a:xfrm>
            <a:off x="1336675" y="942975"/>
            <a:ext cx="523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r>
              <a:rPr lang="en-US" altLang="zh-CN" sz="2000" b="0">
                <a:solidFill>
                  <a:srgbClr val="000000"/>
                </a:solidFill>
              </a:rPr>
              <a:t>i=1</a:t>
            </a:r>
          </a:p>
        </p:txBody>
      </p:sp>
      <p:sp>
        <p:nvSpPr>
          <p:cNvPr id="54305" name="Text Box 33"/>
          <p:cNvSpPr txBox="1">
            <a:spLocks noChangeArrowheads="1"/>
          </p:cNvSpPr>
          <p:nvPr/>
        </p:nvSpPr>
        <p:spPr bwMode="auto">
          <a:xfrm>
            <a:off x="3063875" y="949325"/>
            <a:ext cx="438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0" dirty="0">
                <a:solidFill>
                  <a:srgbClr val="008000"/>
                </a:solidFill>
                <a:latin typeface="Times New Roman" pitchFamily="18" charset="0"/>
                <a:ea typeface="宋体" pitchFamily="2" charset="-122"/>
              </a:rPr>
              <a:t>13</a:t>
            </a:r>
          </a:p>
        </p:txBody>
      </p:sp>
      <p:sp>
        <p:nvSpPr>
          <p:cNvPr id="54306" name="Text Box 34"/>
          <p:cNvSpPr txBox="1">
            <a:spLocks noChangeArrowheads="1"/>
          </p:cNvSpPr>
          <p:nvPr/>
        </p:nvSpPr>
        <p:spPr bwMode="auto">
          <a:xfrm>
            <a:off x="5870575" y="944563"/>
            <a:ext cx="438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0" dirty="0">
                <a:solidFill>
                  <a:srgbClr val="008000"/>
                </a:solidFill>
                <a:latin typeface="Times New Roman" pitchFamily="18" charset="0"/>
                <a:ea typeface="宋体" pitchFamily="2" charset="-122"/>
              </a:rPr>
              <a:t>49</a:t>
            </a:r>
          </a:p>
        </p:txBody>
      </p:sp>
      <p:sp>
        <p:nvSpPr>
          <p:cNvPr id="54307" name="Text Box 35"/>
          <p:cNvSpPr txBox="1">
            <a:spLocks noChangeArrowheads="1"/>
          </p:cNvSpPr>
          <p:nvPr/>
        </p:nvSpPr>
        <p:spPr bwMode="auto">
          <a:xfrm>
            <a:off x="1784350" y="2501900"/>
            <a:ext cx="5421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r>
              <a:rPr lang="zh-CN" altLang="en-US" sz="2000">
                <a:solidFill>
                  <a:srgbClr val="000000"/>
                </a:solidFill>
              </a:rPr>
              <a:t>一趟：    </a:t>
            </a:r>
            <a:r>
              <a:rPr lang="en-US" altLang="zh-CN" sz="2000">
                <a:solidFill>
                  <a:srgbClr val="000000"/>
                </a:solidFill>
              </a:rPr>
              <a:t>13     [38     65     97     76     49     27 ]</a:t>
            </a:r>
          </a:p>
        </p:txBody>
      </p:sp>
      <p:sp>
        <p:nvSpPr>
          <p:cNvPr id="54308" name="Text Box 36"/>
          <p:cNvSpPr txBox="1">
            <a:spLocks noChangeArrowheads="1"/>
          </p:cNvSpPr>
          <p:nvPr/>
        </p:nvSpPr>
        <p:spPr bwMode="auto">
          <a:xfrm>
            <a:off x="1366838" y="2471738"/>
            <a:ext cx="523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r>
              <a:rPr lang="en-US" altLang="zh-CN" sz="2000" b="0">
                <a:solidFill>
                  <a:srgbClr val="000000"/>
                </a:solidFill>
              </a:rPr>
              <a:t>i=2</a:t>
            </a:r>
          </a:p>
        </p:txBody>
      </p:sp>
      <p:sp>
        <p:nvSpPr>
          <p:cNvPr id="54330" name="Text Box 58"/>
          <p:cNvSpPr txBox="1">
            <a:spLocks noChangeArrowheads="1"/>
          </p:cNvSpPr>
          <p:nvPr/>
        </p:nvSpPr>
        <p:spPr bwMode="auto">
          <a:xfrm>
            <a:off x="3695700" y="2532063"/>
            <a:ext cx="438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ea typeface="宋体" pitchFamily="2" charset="-122"/>
              </a:rPr>
              <a:t>27</a:t>
            </a:r>
          </a:p>
        </p:txBody>
      </p:sp>
      <p:sp>
        <p:nvSpPr>
          <p:cNvPr id="54331" name="Text Box 59"/>
          <p:cNvSpPr txBox="1">
            <a:spLocks noChangeArrowheads="1"/>
          </p:cNvSpPr>
          <p:nvPr/>
        </p:nvSpPr>
        <p:spPr bwMode="auto">
          <a:xfrm>
            <a:off x="6413500" y="2514600"/>
            <a:ext cx="549275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ea typeface="宋体" pitchFamily="2" charset="-122"/>
              </a:rPr>
              <a:t>38</a:t>
            </a:r>
          </a:p>
        </p:txBody>
      </p:sp>
      <p:grpSp>
        <p:nvGrpSpPr>
          <p:cNvPr id="4" name="Group 130"/>
          <p:cNvGrpSpPr>
            <a:grpSpLocks/>
          </p:cNvGrpSpPr>
          <p:nvPr/>
        </p:nvGrpSpPr>
        <p:grpSpPr bwMode="auto">
          <a:xfrm>
            <a:off x="1863725" y="3521075"/>
            <a:ext cx="5484813" cy="601663"/>
            <a:chOff x="1174" y="2218"/>
            <a:chExt cx="3455" cy="379"/>
          </a:xfrm>
        </p:grpSpPr>
        <p:sp>
          <p:nvSpPr>
            <p:cNvPr id="34883" name="Text Box 61"/>
            <p:cNvSpPr txBox="1">
              <a:spLocks noChangeArrowheads="1"/>
            </p:cNvSpPr>
            <p:nvPr/>
          </p:nvSpPr>
          <p:spPr bwMode="auto">
            <a:xfrm>
              <a:off x="1174" y="2218"/>
              <a:ext cx="34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zh-CN" altLang="en-US" sz="2000">
                  <a:solidFill>
                    <a:srgbClr val="000000"/>
                  </a:solidFill>
                </a:rPr>
                <a:t>二趟：    </a:t>
              </a:r>
              <a:r>
                <a:rPr lang="en-US" altLang="zh-CN" sz="2000">
                  <a:solidFill>
                    <a:srgbClr val="FF0000"/>
                  </a:solidFill>
                </a:rPr>
                <a:t>13      27     </a:t>
              </a:r>
              <a:r>
                <a:rPr lang="en-US" altLang="zh-CN" sz="2000">
                  <a:solidFill>
                    <a:srgbClr val="000000"/>
                  </a:solidFill>
                </a:rPr>
                <a:t>[65     97     76     49     38 ]</a:t>
              </a:r>
            </a:p>
          </p:txBody>
        </p:sp>
        <p:grpSp>
          <p:nvGrpSpPr>
            <p:cNvPr id="34884" name="Group 129"/>
            <p:cNvGrpSpPr>
              <a:grpSpLocks/>
            </p:cNvGrpSpPr>
            <p:nvPr/>
          </p:nvGrpSpPr>
          <p:grpSpPr bwMode="auto">
            <a:xfrm>
              <a:off x="2919" y="2435"/>
              <a:ext cx="1420" cy="162"/>
              <a:chOff x="2919" y="2435"/>
              <a:chExt cx="1420" cy="162"/>
            </a:xfrm>
          </p:grpSpPr>
          <p:sp>
            <p:nvSpPr>
              <p:cNvPr id="24655" name="Line 62"/>
              <p:cNvSpPr>
                <a:spLocks noChangeShapeType="1"/>
              </p:cNvSpPr>
              <p:nvPr/>
            </p:nvSpPr>
            <p:spPr bwMode="auto">
              <a:xfrm>
                <a:off x="4338" y="2453"/>
                <a:ext cx="1" cy="144"/>
              </a:xfrm>
              <a:prstGeom prst="line">
                <a:avLst/>
              </a:prstGeom>
              <a:noFill/>
              <a:ln w="9525">
                <a:solidFill>
                  <a:schemeClr val="accent5">
                    <a:lumMod val="50000"/>
                  </a:schemeClr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cs typeface="宋体" charset="0"/>
                </a:endParaRPr>
              </a:p>
            </p:txBody>
          </p:sp>
          <p:sp>
            <p:nvSpPr>
              <p:cNvPr id="24656" name="Line 63"/>
              <p:cNvSpPr>
                <a:spLocks noChangeShapeType="1"/>
              </p:cNvSpPr>
              <p:nvPr/>
            </p:nvSpPr>
            <p:spPr bwMode="auto">
              <a:xfrm flipV="1">
                <a:off x="2919" y="2435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accent5">
                    <a:lumMod val="50000"/>
                  </a:schemeClr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cs typeface="宋体" charset="0"/>
                </a:endParaRPr>
              </a:p>
            </p:txBody>
          </p:sp>
          <p:sp>
            <p:nvSpPr>
              <p:cNvPr id="24657" name="Line 64"/>
              <p:cNvSpPr>
                <a:spLocks noChangeShapeType="1"/>
              </p:cNvSpPr>
              <p:nvPr/>
            </p:nvSpPr>
            <p:spPr bwMode="auto">
              <a:xfrm>
                <a:off x="2934" y="2561"/>
                <a:ext cx="1389" cy="0"/>
              </a:xfrm>
              <a:prstGeom prst="line">
                <a:avLst/>
              </a:prstGeom>
              <a:noFill/>
              <a:ln w="9525">
                <a:solidFill>
                  <a:schemeClr val="accent5">
                    <a:lumMod val="50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cs typeface="宋体" charset="0"/>
                </a:endParaRPr>
              </a:p>
            </p:txBody>
          </p:sp>
        </p:grpSp>
      </p:grpSp>
      <p:grpSp>
        <p:nvGrpSpPr>
          <p:cNvPr id="6" name="Group 132"/>
          <p:cNvGrpSpPr>
            <a:grpSpLocks/>
          </p:cNvGrpSpPr>
          <p:nvPr/>
        </p:nvGrpSpPr>
        <p:grpSpPr bwMode="auto">
          <a:xfrm>
            <a:off x="1863725" y="4254500"/>
            <a:ext cx="5484813" cy="533400"/>
            <a:chOff x="1174" y="2680"/>
            <a:chExt cx="3455" cy="336"/>
          </a:xfrm>
        </p:grpSpPr>
        <p:sp>
          <p:nvSpPr>
            <p:cNvPr id="34878" name="Text Box 66"/>
            <p:cNvSpPr txBox="1">
              <a:spLocks noChangeArrowheads="1"/>
            </p:cNvSpPr>
            <p:nvPr/>
          </p:nvSpPr>
          <p:spPr bwMode="auto">
            <a:xfrm>
              <a:off x="1174" y="2680"/>
              <a:ext cx="34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zh-CN" altLang="en-US" sz="2000" b="0">
                  <a:solidFill>
                    <a:schemeClr val="tx1"/>
                  </a:solidFill>
                </a:rPr>
                <a:t>三趟：    </a:t>
              </a:r>
              <a:r>
                <a:rPr lang="en-US" altLang="zh-CN" sz="2000" b="0">
                  <a:solidFill>
                    <a:srgbClr val="FF0000"/>
                  </a:solidFill>
                </a:rPr>
                <a:t>13      27     38     </a:t>
              </a:r>
              <a:r>
                <a:rPr lang="en-US" altLang="zh-CN" sz="2000" b="0">
                  <a:solidFill>
                    <a:schemeClr val="tx1"/>
                  </a:solidFill>
                </a:rPr>
                <a:t>[97     76     49     65 ]</a:t>
              </a:r>
            </a:p>
          </p:txBody>
        </p:sp>
        <p:grpSp>
          <p:nvGrpSpPr>
            <p:cNvPr id="34879" name="Group 131"/>
            <p:cNvGrpSpPr>
              <a:grpSpLocks/>
            </p:cNvGrpSpPr>
            <p:nvPr/>
          </p:nvGrpSpPr>
          <p:grpSpPr bwMode="auto">
            <a:xfrm>
              <a:off x="3279" y="2872"/>
              <a:ext cx="709" cy="144"/>
              <a:chOff x="3279" y="2872"/>
              <a:chExt cx="709" cy="144"/>
            </a:xfrm>
          </p:grpSpPr>
          <p:sp>
            <p:nvSpPr>
              <p:cNvPr id="34880" name="Line 67"/>
              <p:cNvSpPr>
                <a:spLocks noChangeShapeType="1"/>
              </p:cNvSpPr>
              <p:nvPr/>
            </p:nvSpPr>
            <p:spPr bwMode="auto">
              <a:xfrm>
                <a:off x="3987" y="2872"/>
                <a:ext cx="1" cy="144"/>
              </a:xfrm>
              <a:prstGeom prst="line">
                <a:avLst/>
              </a:prstGeom>
              <a:noFill/>
              <a:ln w="9525">
                <a:solidFill>
                  <a:srgbClr val="936A08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81" name="Line 68"/>
              <p:cNvSpPr>
                <a:spLocks noChangeShapeType="1"/>
              </p:cNvSpPr>
              <p:nvPr/>
            </p:nvSpPr>
            <p:spPr bwMode="auto">
              <a:xfrm flipV="1">
                <a:off x="3279" y="2877"/>
                <a:ext cx="0" cy="122"/>
              </a:xfrm>
              <a:prstGeom prst="line">
                <a:avLst/>
              </a:prstGeom>
              <a:noFill/>
              <a:ln w="9525">
                <a:solidFill>
                  <a:srgbClr val="936A08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82" name="Line 69"/>
              <p:cNvSpPr>
                <a:spLocks noChangeShapeType="1"/>
              </p:cNvSpPr>
              <p:nvPr/>
            </p:nvSpPr>
            <p:spPr bwMode="auto">
              <a:xfrm>
                <a:off x="3288" y="3007"/>
                <a:ext cx="688" cy="0"/>
              </a:xfrm>
              <a:prstGeom prst="line">
                <a:avLst/>
              </a:prstGeom>
              <a:noFill/>
              <a:ln w="9525">
                <a:solidFill>
                  <a:srgbClr val="936A0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134"/>
          <p:cNvGrpSpPr>
            <a:grpSpLocks/>
          </p:cNvGrpSpPr>
          <p:nvPr/>
        </p:nvGrpSpPr>
        <p:grpSpPr bwMode="auto">
          <a:xfrm>
            <a:off x="1863725" y="4776788"/>
            <a:ext cx="5484813" cy="568325"/>
            <a:chOff x="1174" y="3009"/>
            <a:chExt cx="3455" cy="358"/>
          </a:xfrm>
        </p:grpSpPr>
        <p:sp>
          <p:nvSpPr>
            <p:cNvPr id="34873" name="Text Box 71"/>
            <p:cNvSpPr txBox="1">
              <a:spLocks noChangeArrowheads="1"/>
            </p:cNvSpPr>
            <p:nvPr/>
          </p:nvSpPr>
          <p:spPr bwMode="auto">
            <a:xfrm>
              <a:off x="1174" y="3009"/>
              <a:ext cx="34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zh-CN" altLang="en-US" sz="2000" b="0">
                  <a:solidFill>
                    <a:schemeClr val="tx1"/>
                  </a:solidFill>
                </a:rPr>
                <a:t>四趟：    </a:t>
              </a:r>
              <a:r>
                <a:rPr lang="en-US" altLang="zh-CN" sz="2000" b="0">
                  <a:solidFill>
                    <a:srgbClr val="FF0000"/>
                  </a:solidFill>
                </a:rPr>
                <a:t>13      27     38     49 </a:t>
              </a:r>
              <a:r>
                <a:rPr lang="en-US" altLang="zh-CN" sz="2000" b="0">
                  <a:solidFill>
                    <a:schemeClr val="tx1"/>
                  </a:solidFill>
                </a:rPr>
                <a:t>    [76     97     65 ]</a:t>
              </a:r>
            </a:p>
          </p:txBody>
        </p:sp>
        <p:grpSp>
          <p:nvGrpSpPr>
            <p:cNvPr id="34874" name="Group 133"/>
            <p:cNvGrpSpPr>
              <a:grpSpLocks/>
            </p:cNvGrpSpPr>
            <p:nvPr/>
          </p:nvGrpSpPr>
          <p:grpSpPr bwMode="auto">
            <a:xfrm>
              <a:off x="3650" y="3223"/>
              <a:ext cx="709" cy="144"/>
              <a:chOff x="3650" y="3223"/>
              <a:chExt cx="709" cy="144"/>
            </a:xfrm>
          </p:grpSpPr>
          <p:sp>
            <p:nvSpPr>
              <p:cNvPr id="34875" name="Line 72"/>
              <p:cNvSpPr>
                <a:spLocks noChangeShapeType="1"/>
              </p:cNvSpPr>
              <p:nvPr/>
            </p:nvSpPr>
            <p:spPr bwMode="auto">
              <a:xfrm>
                <a:off x="4358" y="3223"/>
                <a:ext cx="1" cy="144"/>
              </a:xfrm>
              <a:prstGeom prst="line">
                <a:avLst/>
              </a:prstGeom>
              <a:noFill/>
              <a:ln w="9525">
                <a:solidFill>
                  <a:srgbClr val="936A08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6" name="Line 73"/>
              <p:cNvSpPr>
                <a:spLocks noChangeShapeType="1"/>
              </p:cNvSpPr>
              <p:nvPr/>
            </p:nvSpPr>
            <p:spPr bwMode="auto">
              <a:xfrm flipV="1">
                <a:off x="3650" y="3228"/>
                <a:ext cx="0" cy="122"/>
              </a:xfrm>
              <a:prstGeom prst="line">
                <a:avLst/>
              </a:prstGeom>
              <a:noFill/>
              <a:ln w="9525">
                <a:solidFill>
                  <a:srgbClr val="936A08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7" name="Line 74"/>
              <p:cNvSpPr>
                <a:spLocks noChangeShapeType="1"/>
              </p:cNvSpPr>
              <p:nvPr/>
            </p:nvSpPr>
            <p:spPr bwMode="auto">
              <a:xfrm>
                <a:off x="3659" y="3358"/>
                <a:ext cx="688" cy="0"/>
              </a:xfrm>
              <a:prstGeom prst="line">
                <a:avLst/>
              </a:prstGeom>
              <a:noFill/>
              <a:ln w="9525">
                <a:solidFill>
                  <a:srgbClr val="936A0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Group 136"/>
          <p:cNvGrpSpPr>
            <a:grpSpLocks/>
          </p:cNvGrpSpPr>
          <p:nvPr/>
        </p:nvGrpSpPr>
        <p:grpSpPr bwMode="auto">
          <a:xfrm>
            <a:off x="1863725" y="5334000"/>
            <a:ext cx="5484813" cy="539750"/>
            <a:chOff x="1174" y="3360"/>
            <a:chExt cx="3455" cy="340"/>
          </a:xfrm>
        </p:grpSpPr>
        <p:sp>
          <p:nvSpPr>
            <p:cNvPr id="34868" name="Text Box 76"/>
            <p:cNvSpPr txBox="1">
              <a:spLocks noChangeArrowheads="1"/>
            </p:cNvSpPr>
            <p:nvPr/>
          </p:nvSpPr>
          <p:spPr bwMode="auto">
            <a:xfrm>
              <a:off x="1174" y="3360"/>
              <a:ext cx="34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zh-CN" altLang="en-US" sz="2000" b="0">
                  <a:solidFill>
                    <a:schemeClr val="tx1"/>
                  </a:solidFill>
                </a:rPr>
                <a:t>五趟：    </a:t>
              </a:r>
              <a:r>
                <a:rPr lang="en-US" altLang="zh-CN" sz="2000" b="0">
                  <a:solidFill>
                    <a:srgbClr val="FF0000"/>
                  </a:solidFill>
                </a:rPr>
                <a:t>13      27     38     49     65     </a:t>
              </a:r>
              <a:r>
                <a:rPr lang="en-US" altLang="zh-CN" sz="2000" b="0">
                  <a:solidFill>
                    <a:schemeClr val="tx1"/>
                  </a:solidFill>
                </a:rPr>
                <a:t>[97     76 ]</a:t>
              </a:r>
            </a:p>
          </p:txBody>
        </p:sp>
        <p:grpSp>
          <p:nvGrpSpPr>
            <p:cNvPr id="34869" name="Group 135"/>
            <p:cNvGrpSpPr>
              <a:grpSpLocks/>
            </p:cNvGrpSpPr>
            <p:nvPr/>
          </p:nvGrpSpPr>
          <p:grpSpPr bwMode="auto">
            <a:xfrm>
              <a:off x="3883" y="3556"/>
              <a:ext cx="314" cy="144"/>
              <a:chOff x="3883" y="3556"/>
              <a:chExt cx="314" cy="144"/>
            </a:xfrm>
          </p:grpSpPr>
          <p:sp>
            <p:nvSpPr>
              <p:cNvPr id="34870" name="Line 77"/>
              <p:cNvSpPr>
                <a:spLocks noChangeShapeType="1"/>
              </p:cNvSpPr>
              <p:nvPr/>
            </p:nvSpPr>
            <p:spPr bwMode="auto">
              <a:xfrm>
                <a:off x="4196" y="3556"/>
                <a:ext cx="1" cy="144"/>
              </a:xfrm>
              <a:prstGeom prst="line">
                <a:avLst/>
              </a:prstGeom>
              <a:noFill/>
              <a:ln w="9525">
                <a:solidFill>
                  <a:srgbClr val="936A08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1" name="Line 78"/>
              <p:cNvSpPr>
                <a:spLocks noChangeShapeType="1"/>
              </p:cNvSpPr>
              <p:nvPr/>
            </p:nvSpPr>
            <p:spPr bwMode="auto">
              <a:xfrm flipV="1">
                <a:off x="3888" y="3561"/>
                <a:ext cx="0" cy="122"/>
              </a:xfrm>
              <a:prstGeom prst="line">
                <a:avLst/>
              </a:prstGeom>
              <a:noFill/>
              <a:ln w="9525">
                <a:solidFill>
                  <a:srgbClr val="936A08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2" name="Line 79"/>
              <p:cNvSpPr>
                <a:spLocks noChangeShapeType="1"/>
              </p:cNvSpPr>
              <p:nvPr/>
            </p:nvSpPr>
            <p:spPr bwMode="auto">
              <a:xfrm>
                <a:off x="3883" y="3677"/>
                <a:ext cx="311" cy="0"/>
              </a:xfrm>
              <a:prstGeom prst="line">
                <a:avLst/>
              </a:prstGeom>
              <a:noFill/>
              <a:ln w="9525">
                <a:solidFill>
                  <a:srgbClr val="936A0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4352" name="Text Box 80"/>
          <p:cNvSpPr txBox="1">
            <a:spLocks noChangeArrowheads="1"/>
          </p:cNvSpPr>
          <p:nvPr/>
        </p:nvSpPr>
        <p:spPr bwMode="auto">
          <a:xfrm>
            <a:off x="1863725" y="5899150"/>
            <a:ext cx="5484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r>
              <a:rPr lang="zh-CN" altLang="en-US" sz="2000" b="0">
                <a:solidFill>
                  <a:srgbClr val="000000"/>
                </a:solidFill>
              </a:rPr>
              <a:t>六趟：    </a:t>
            </a:r>
            <a:r>
              <a:rPr lang="en-US" altLang="zh-CN" sz="2000" b="0">
                <a:solidFill>
                  <a:srgbClr val="FF0000"/>
                </a:solidFill>
              </a:rPr>
              <a:t>13      27     38     49     65     76</a:t>
            </a:r>
            <a:r>
              <a:rPr lang="en-US" altLang="zh-CN" sz="2000" b="0">
                <a:solidFill>
                  <a:schemeClr val="bg2"/>
                </a:solidFill>
              </a:rPr>
              <a:t>     </a:t>
            </a:r>
            <a:r>
              <a:rPr lang="en-US" altLang="zh-CN" sz="2000" b="0">
                <a:solidFill>
                  <a:schemeClr val="tx1"/>
                </a:solidFill>
              </a:rPr>
              <a:t>[97 ]</a:t>
            </a:r>
          </a:p>
        </p:txBody>
      </p:sp>
      <p:grpSp>
        <p:nvGrpSpPr>
          <p:cNvPr id="12" name="Group 86"/>
          <p:cNvGrpSpPr>
            <a:grpSpLocks/>
          </p:cNvGrpSpPr>
          <p:nvPr/>
        </p:nvGrpSpPr>
        <p:grpSpPr bwMode="auto">
          <a:xfrm>
            <a:off x="5943600" y="319088"/>
            <a:ext cx="311150" cy="625475"/>
            <a:chOff x="1920" y="206"/>
            <a:chExt cx="196" cy="394"/>
          </a:xfrm>
        </p:grpSpPr>
        <p:sp>
          <p:nvSpPr>
            <p:cNvPr id="34866" name="Line 87"/>
            <p:cNvSpPr>
              <a:spLocks noChangeShapeType="1"/>
            </p:cNvSpPr>
            <p:nvPr/>
          </p:nvSpPr>
          <p:spPr bwMode="auto">
            <a:xfrm>
              <a:off x="2000" y="422"/>
              <a:ext cx="0" cy="17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7" name="Text Box 88"/>
            <p:cNvSpPr txBox="1">
              <a:spLocks noChangeArrowheads="1"/>
            </p:cNvSpPr>
            <p:nvPr/>
          </p:nvSpPr>
          <p:spPr bwMode="auto">
            <a:xfrm>
              <a:off x="1920" y="20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en-US" altLang="zh-CN" sz="2000" b="0">
                  <a:solidFill>
                    <a:srgbClr val="0000FF"/>
                  </a:solidFill>
                </a:rPr>
                <a:t>k</a:t>
              </a:r>
            </a:p>
          </p:txBody>
        </p:sp>
      </p:grpSp>
      <p:grpSp>
        <p:nvGrpSpPr>
          <p:cNvPr id="13" name="Group 89"/>
          <p:cNvGrpSpPr>
            <a:grpSpLocks/>
          </p:cNvGrpSpPr>
          <p:nvPr/>
        </p:nvGrpSpPr>
        <p:grpSpPr bwMode="auto">
          <a:xfrm>
            <a:off x="6492875" y="1936750"/>
            <a:ext cx="311150" cy="625475"/>
            <a:chOff x="1920" y="206"/>
            <a:chExt cx="196" cy="394"/>
          </a:xfrm>
        </p:grpSpPr>
        <p:sp>
          <p:nvSpPr>
            <p:cNvPr id="34864" name="Line 90"/>
            <p:cNvSpPr>
              <a:spLocks noChangeShapeType="1"/>
            </p:cNvSpPr>
            <p:nvPr/>
          </p:nvSpPr>
          <p:spPr bwMode="auto">
            <a:xfrm>
              <a:off x="2000" y="422"/>
              <a:ext cx="0" cy="17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5" name="Text Box 91"/>
            <p:cNvSpPr txBox="1">
              <a:spLocks noChangeArrowheads="1"/>
            </p:cNvSpPr>
            <p:nvPr/>
          </p:nvSpPr>
          <p:spPr bwMode="auto">
            <a:xfrm>
              <a:off x="1920" y="20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en-US" altLang="zh-CN" sz="2000" b="0">
                  <a:solidFill>
                    <a:srgbClr val="0000FF"/>
                  </a:solidFill>
                </a:rPr>
                <a:t>k</a:t>
              </a:r>
            </a:p>
          </p:txBody>
        </p:sp>
      </p:grpSp>
      <p:grpSp>
        <p:nvGrpSpPr>
          <p:cNvPr id="14" name="Group 92"/>
          <p:cNvGrpSpPr>
            <a:grpSpLocks/>
          </p:cNvGrpSpPr>
          <p:nvPr/>
        </p:nvGrpSpPr>
        <p:grpSpPr bwMode="auto">
          <a:xfrm>
            <a:off x="3779838" y="1941513"/>
            <a:ext cx="311150" cy="625475"/>
            <a:chOff x="1920" y="206"/>
            <a:chExt cx="196" cy="394"/>
          </a:xfrm>
        </p:grpSpPr>
        <p:sp>
          <p:nvSpPr>
            <p:cNvPr id="34862" name="Line 93"/>
            <p:cNvSpPr>
              <a:spLocks noChangeShapeType="1"/>
            </p:cNvSpPr>
            <p:nvPr/>
          </p:nvSpPr>
          <p:spPr bwMode="auto">
            <a:xfrm>
              <a:off x="2000" y="422"/>
              <a:ext cx="0" cy="17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3" name="Text Box 94"/>
            <p:cNvSpPr txBox="1">
              <a:spLocks noChangeArrowheads="1"/>
            </p:cNvSpPr>
            <p:nvPr/>
          </p:nvSpPr>
          <p:spPr bwMode="auto">
            <a:xfrm>
              <a:off x="1920" y="20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en-US" altLang="zh-CN" sz="2000" b="0">
                  <a:solidFill>
                    <a:srgbClr val="0000FF"/>
                  </a:solidFill>
                </a:rPr>
                <a:t>k</a:t>
              </a:r>
            </a:p>
          </p:txBody>
        </p:sp>
      </p:grpSp>
      <p:grpSp>
        <p:nvGrpSpPr>
          <p:cNvPr id="15" name="Group 95"/>
          <p:cNvGrpSpPr>
            <a:grpSpLocks/>
          </p:cNvGrpSpPr>
          <p:nvPr/>
        </p:nvGrpSpPr>
        <p:grpSpPr bwMode="auto">
          <a:xfrm>
            <a:off x="3676650" y="331788"/>
            <a:ext cx="311150" cy="625475"/>
            <a:chOff x="1920" y="206"/>
            <a:chExt cx="196" cy="394"/>
          </a:xfrm>
        </p:grpSpPr>
        <p:sp>
          <p:nvSpPr>
            <p:cNvPr id="34860" name="Line 96"/>
            <p:cNvSpPr>
              <a:spLocks noChangeShapeType="1"/>
            </p:cNvSpPr>
            <p:nvPr/>
          </p:nvSpPr>
          <p:spPr bwMode="auto">
            <a:xfrm>
              <a:off x="2000" y="422"/>
              <a:ext cx="0" cy="17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1" name="Text Box 97"/>
            <p:cNvSpPr txBox="1">
              <a:spLocks noChangeArrowheads="1"/>
            </p:cNvSpPr>
            <p:nvPr/>
          </p:nvSpPr>
          <p:spPr bwMode="auto">
            <a:xfrm>
              <a:off x="1920" y="20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en-US" altLang="zh-CN" sz="2000" b="0">
                  <a:solidFill>
                    <a:srgbClr val="0000FF"/>
                  </a:solidFill>
                </a:rPr>
                <a:t>k</a:t>
              </a:r>
            </a:p>
          </p:txBody>
        </p:sp>
      </p:grpSp>
      <p:grpSp>
        <p:nvGrpSpPr>
          <p:cNvPr id="16" name="Group 99"/>
          <p:cNvGrpSpPr>
            <a:grpSpLocks/>
          </p:cNvGrpSpPr>
          <p:nvPr/>
        </p:nvGrpSpPr>
        <p:grpSpPr bwMode="auto">
          <a:xfrm>
            <a:off x="4371975" y="1268413"/>
            <a:ext cx="280988" cy="601662"/>
            <a:chOff x="2320" y="767"/>
            <a:chExt cx="177" cy="379"/>
          </a:xfrm>
        </p:grpSpPr>
        <p:sp>
          <p:nvSpPr>
            <p:cNvPr id="34858" name="Line 100"/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9" name="Text Box 101"/>
            <p:cNvSpPr txBox="1">
              <a:spLocks noChangeArrowheads="1"/>
            </p:cNvSpPr>
            <p:nvPr/>
          </p:nvSpPr>
          <p:spPr bwMode="auto">
            <a:xfrm>
              <a:off x="2320" y="894"/>
              <a:ext cx="17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en-US" altLang="zh-CN" sz="2000" b="0">
                  <a:solidFill>
                    <a:srgbClr val="FF00FF"/>
                  </a:solidFill>
                </a:rPr>
                <a:t>j</a:t>
              </a:r>
            </a:p>
          </p:txBody>
        </p:sp>
      </p:grpSp>
      <p:grpSp>
        <p:nvGrpSpPr>
          <p:cNvPr id="17" name="Group 102"/>
          <p:cNvGrpSpPr>
            <a:grpSpLocks/>
          </p:cNvGrpSpPr>
          <p:nvPr/>
        </p:nvGrpSpPr>
        <p:grpSpPr bwMode="auto">
          <a:xfrm>
            <a:off x="4913313" y="1258888"/>
            <a:ext cx="280987" cy="601662"/>
            <a:chOff x="2320" y="767"/>
            <a:chExt cx="177" cy="379"/>
          </a:xfrm>
        </p:grpSpPr>
        <p:sp>
          <p:nvSpPr>
            <p:cNvPr id="34856" name="Line 103"/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7" name="Text Box 104"/>
            <p:cNvSpPr txBox="1">
              <a:spLocks noChangeArrowheads="1"/>
            </p:cNvSpPr>
            <p:nvPr/>
          </p:nvSpPr>
          <p:spPr bwMode="auto">
            <a:xfrm>
              <a:off x="2320" y="894"/>
              <a:ext cx="17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en-US" altLang="zh-CN" sz="2000" b="0">
                  <a:solidFill>
                    <a:srgbClr val="FF00FF"/>
                  </a:solidFill>
                </a:rPr>
                <a:t>j</a:t>
              </a:r>
            </a:p>
          </p:txBody>
        </p:sp>
      </p:grpSp>
      <p:grpSp>
        <p:nvGrpSpPr>
          <p:cNvPr id="18" name="Group 105"/>
          <p:cNvGrpSpPr>
            <a:grpSpLocks/>
          </p:cNvGrpSpPr>
          <p:nvPr/>
        </p:nvGrpSpPr>
        <p:grpSpPr bwMode="auto">
          <a:xfrm>
            <a:off x="5457825" y="1277938"/>
            <a:ext cx="280988" cy="601662"/>
            <a:chOff x="2320" y="767"/>
            <a:chExt cx="177" cy="379"/>
          </a:xfrm>
        </p:grpSpPr>
        <p:sp>
          <p:nvSpPr>
            <p:cNvPr id="34854" name="Line 106"/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5" name="Text Box 107"/>
            <p:cNvSpPr txBox="1">
              <a:spLocks noChangeArrowheads="1"/>
            </p:cNvSpPr>
            <p:nvPr/>
          </p:nvSpPr>
          <p:spPr bwMode="auto">
            <a:xfrm>
              <a:off x="2320" y="894"/>
              <a:ext cx="17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en-US" altLang="zh-CN" sz="2000" b="0">
                  <a:solidFill>
                    <a:srgbClr val="FF00FF"/>
                  </a:solidFill>
                </a:rPr>
                <a:t>j</a:t>
              </a:r>
            </a:p>
          </p:txBody>
        </p:sp>
      </p:grpSp>
      <p:grpSp>
        <p:nvGrpSpPr>
          <p:cNvPr id="19" name="Group 108"/>
          <p:cNvGrpSpPr>
            <a:grpSpLocks/>
          </p:cNvGrpSpPr>
          <p:nvPr/>
        </p:nvGrpSpPr>
        <p:grpSpPr bwMode="auto">
          <a:xfrm>
            <a:off x="5953125" y="1296988"/>
            <a:ext cx="280988" cy="601662"/>
            <a:chOff x="2320" y="767"/>
            <a:chExt cx="177" cy="379"/>
          </a:xfrm>
        </p:grpSpPr>
        <p:sp>
          <p:nvSpPr>
            <p:cNvPr id="34852" name="Line 109"/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3" name="Text Box 110"/>
            <p:cNvSpPr txBox="1">
              <a:spLocks noChangeArrowheads="1"/>
            </p:cNvSpPr>
            <p:nvPr/>
          </p:nvSpPr>
          <p:spPr bwMode="auto">
            <a:xfrm>
              <a:off x="2320" y="894"/>
              <a:ext cx="17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en-US" altLang="zh-CN" sz="2000" b="0">
                  <a:solidFill>
                    <a:srgbClr val="FF00FF"/>
                  </a:solidFill>
                </a:rPr>
                <a:t>j</a:t>
              </a:r>
            </a:p>
          </p:txBody>
        </p:sp>
      </p:grpSp>
      <p:grpSp>
        <p:nvGrpSpPr>
          <p:cNvPr id="20" name="Group 111"/>
          <p:cNvGrpSpPr>
            <a:grpSpLocks/>
          </p:cNvGrpSpPr>
          <p:nvPr/>
        </p:nvGrpSpPr>
        <p:grpSpPr bwMode="auto">
          <a:xfrm>
            <a:off x="6619875" y="1268413"/>
            <a:ext cx="280988" cy="601662"/>
            <a:chOff x="2320" y="767"/>
            <a:chExt cx="177" cy="379"/>
          </a:xfrm>
        </p:grpSpPr>
        <p:sp>
          <p:nvSpPr>
            <p:cNvPr id="34850" name="Line 112"/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1" name="Text Box 113"/>
            <p:cNvSpPr txBox="1">
              <a:spLocks noChangeArrowheads="1"/>
            </p:cNvSpPr>
            <p:nvPr/>
          </p:nvSpPr>
          <p:spPr bwMode="auto">
            <a:xfrm>
              <a:off x="2320" y="894"/>
              <a:ext cx="17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en-US" altLang="zh-CN" sz="2000" b="0">
                  <a:solidFill>
                    <a:srgbClr val="FF00FF"/>
                  </a:solidFill>
                </a:rPr>
                <a:t>j</a:t>
              </a:r>
            </a:p>
          </p:txBody>
        </p:sp>
      </p:grpSp>
      <p:grpSp>
        <p:nvGrpSpPr>
          <p:cNvPr id="21" name="Group 114"/>
          <p:cNvGrpSpPr>
            <a:grpSpLocks/>
          </p:cNvGrpSpPr>
          <p:nvPr/>
        </p:nvGrpSpPr>
        <p:grpSpPr bwMode="auto">
          <a:xfrm>
            <a:off x="4336907" y="2894013"/>
            <a:ext cx="280988" cy="601662"/>
            <a:chOff x="2320" y="767"/>
            <a:chExt cx="177" cy="379"/>
          </a:xfrm>
          <a:noFill/>
        </p:grpSpPr>
        <p:sp>
          <p:nvSpPr>
            <p:cNvPr id="24618" name="Line 115"/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grpFill/>
            <a:ln w="9525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FF00FF"/>
                </a:solidFill>
                <a:cs typeface="宋体" charset="0"/>
              </a:endParaRPr>
            </a:p>
          </p:txBody>
        </p:sp>
        <p:sp>
          <p:nvSpPr>
            <p:cNvPr id="24619" name="Text Box 116"/>
            <p:cNvSpPr txBox="1">
              <a:spLocks noChangeArrowheads="1"/>
            </p:cNvSpPr>
            <p:nvPr/>
          </p:nvSpPr>
          <p:spPr bwMode="auto">
            <a:xfrm>
              <a:off x="2320" y="894"/>
              <a:ext cx="177" cy="252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0" dirty="0">
                  <a:solidFill>
                    <a:srgbClr val="FF00FF"/>
                  </a:solidFill>
                </a:rPr>
                <a:t>j</a:t>
              </a:r>
            </a:p>
          </p:txBody>
        </p:sp>
      </p:grpSp>
      <p:grpSp>
        <p:nvGrpSpPr>
          <p:cNvPr id="22" name="Group 117"/>
          <p:cNvGrpSpPr>
            <a:grpSpLocks/>
          </p:cNvGrpSpPr>
          <p:nvPr/>
        </p:nvGrpSpPr>
        <p:grpSpPr bwMode="auto">
          <a:xfrm>
            <a:off x="4912172" y="2888920"/>
            <a:ext cx="280988" cy="601662"/>
            <a:chOff x="2320" y="767"/>
            <a:chExt cx="177" cy="379"/>
          </a:xfrm>
          <a:noFill/>
        </p:grpSpPr>
        <p:sp>
          <p:nvSpPr>
            <p:cNvPr id="24616" name="Line 118"/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grpFill/>
            <a:ln w="9525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FF00FF"/>
                </a:solidFill>
                <a:cs typeface="宋体" charset="0"/>
              </a:endParaRPr>
            </a:p>
          </p:txBody>
        </p:sp>
        <p:sp>
          <p:nvSpPr>
            <p:cNvPr id="24617" name="Text Box 119"/>
            <p:cNvSpPr txBox="1">
              <a:spLocks noChangeArrowheads="1"/>
            </p:cNvSpPr>
            <p:nvPr/>
          </p:nvSpPr>
          <p:spPr bwMode="auto">
            <a:xfrm>
              <a:off x="2320" y="894"/>
              <a:ext cx="177" cy="252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0" dirty="0">
                  <a:solidFill>
                    <a:srgbClr val="FF00FF"/>
                  </a:solidFill>
                </a:rPr>
                <a:t>j</a:t>
              </a:r>
            </a:p>
          </p:txBody>
        </p:sp>
      </p:grpSp>
      <p:grpSp>
        <p:nvGrpSpPr>
          <p:cNvPr id="23" name="Group 120"/>
          <p:cNvGrpSpPr>
            <a:grpSpLocks/>
          </p:cNvGrpSpPr>
          <p:nvPr/>
        </p:nvGrpSpPr>
        <p:grpSpPr bwMode="auto">
          <a:xfrm>
            <a:off x="5502722" y="2888920"/>
            <a:ext cx="280988" cy="601662"/>
            <a:chOff x="2320" y="767"/>
            <a:chExt cx="177" cy="379"/>
          </a:xfrm>
          <a:noFill/>
        </p:grpSpPr>
        <p:sp>
          <p:nvSpPr>
            <p:cNvPr id="24614" name="Line 121"/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grpFill/>
            <a:ln w="9525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FF00FF"/>
                </a:solidFill>
                <a:cs typeface="宋体" charset="0"/>
              </a:endParaRPr>
            </a:p>
          </p:txBody>
        </p:sp>
        <p:sp>
          <p:nvSpPr>
            <p:cNvPr id="24615" name="Text Box 122"/>
            <p:cNvSpPr txBox="1">
              <a:spLocks noChangeArrowheads="1"/>
            </p:cNvSpPr>
            <p:nvPr/>
          </p:nvSpPr>
          <p:spPr bwMode="auto">
            <a:xfrm>
              <a:off x="2320" y="894"/>
              <a:ext cx="177" cy="252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0" dirty="0">
                  <a:solidFill>
                    <a:srgbClr val="FF00FF"/>
                  </a:solidFill>
                </a:rPr>
                <a:t>j</a:t>
              </a:r>
            </a:p>
          </p:txBody>
        </p:sp>
      </p:grpSp>
      <p:grpSp>
        <p:nvGrpSpPr>
          <p:cNvPr id="24" name="Group 123"/>
          <p:cNvGrpSpPr>
            <a:grpSpLocks/>
          </p:cNvGrpSpPr>
          <p:nvPr/>
        </p:nvGrpSpPr>
        <p:grpSpPr bwMode="auto">
          <a:xfrm>
            <a:off x="6070457" y="2883827"/>
            <a:ext cx="280988" cy="601662"/>
            <a:chOff x="2320" y="767"/>
            <a:chExt cx="177" cy="379"/>
          </a:xfrm>
          <a:noFill/>
        </p:grpSpPr>
        <p:sp>
          <p:nvSpPr>
            <p:cNvPr id="24612" name="Line 124"/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grpFill/>
            <a:ln w="9525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FF00FF"/>
                </a:solidFill>
                <a:cs typeface="宋体" charset="0"/>
              </a:endParaRPr>
            </a:p>
          </p:txBody>
        </p:sp>
        <p:sp>
          <p:nvSpPr>
            <p:cNvPr id="24613" name="Text Box 125"/>
            <p:cNvSpPr txBox="1">
              <a:spLocks noChangeArrowheads="1"/>
            </p:cNvSpPr>
            <p:nvPr/>
          </p:nvSpPr>
          <p:spPr bwMode="auto">
            <a:xfrm>
              <a:off x="2320" y="894"/>
              <a:ext cx="177" cy="252"/>
            </a:xfrm>
            <a:prstGeom prst="rect">
              <a:avLst/>
            </a:prstGeom>
            <a:grp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0" dirty="0">
                  <a:solidFill>
                    <a:srgbClr val="FF00FF"/>
                  </a:solidFill>
                </a:rPr>
                <a:t>j</a:t>
              </a:r>
            </a:p>
          </p:txBody>
        </p:sp>
      </p:grpSp>
      <p:grpSp>
        <p:nvGrpSpPr>
          <p:cNvPr id="25" name="Group 126"/>
          <p:cNvGrpSpPr>
            <a:grpSpLocks/>
          </p:cNvGrpSpPr>
          <p:nvPr/>
        </p:nvGrpSpPr>
        <p:grpSpPr bwMode="auto">
          <a:xfrm>
            <a:off x="6513702" y="2876285"/>
            <a:ext cx="280988" cy="601662"/>
            <a:chOff x="2320" y="767"/>
            <a:chExt cx="177" cy="379"/>
          </a:xfrm>
          <a:noFill/>
        </p:grpSpPr>
        <p:sp>
          <p:nvSpPr>
            <p:cNvPr id="24610" name="Line 127"/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grpFill/>
            <a:ln w="9525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FF00FF"/>
                </a:solidFill>
                <a:cs typeface="宋体" charset="0"/>
              </a:endParaRPr>
            </a:p>
          </p:txBody>
        </p:sp>
        <p:sp>
          <p:nvSpPr>
            <p:cNvPr id="24611" name="Text Box 128"/>
            <p:cNvSpPr txBox="1">
              <a:spLocks noChangeArrowheads="1"/>
            </p:cNvSpPr>
            <p:nvPr/>
          </p:nvSpPr>
          <p:spPr bwMode="auto">
            <a:xfrm>
              <a:off x="2320" y="894"/>
              <a:ext cx="177" cy="25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 eaLnBrk="0" hangingPunct="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0" dirty="0">
                  <a:solidFill>
                    <a:srgbClr val="FF00FF"/>
                  </a:solidFill>
                </a:rPr>
                <a:t>j</a:t>
              </a: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2B99-F33F-EB41-9697-ED5123881AC3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86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4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543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543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5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54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543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1" dur="500"/>
                                        <p:tgtEl>
                                          <p:spTgt spid="54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6" dur="500"/>
                                        <p:tgtEl>
                                          <p:spTgt spid="54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build="p" autoUpdateAnimBg="0"/>
      <p:bldP spid="54276" grpId="0" build="p" autoUpdateAnimBg="0"/>
      <p:bldP spid="54304" grpId="0" build="p" autoUpdateAnimBg="0"/>
      <p:bldP spid="54305" grpId="0" animBg="1" autoUpdateAnimBg="0"/>
      <p:bldP spid="54306" grpId="0" animBg="1" autoUpdateAnimBg="0"/>
      <p:bldP spid="54307" grpId="0" build="p" autoUpdateAnimBg="0"/>
      <p:bldP spid="54308" grpId="0" build="p" autoUpdateAnimBg="0"/>
      <p:bldP spid="54330" grpId="0" animBg="1" autoUpdateAnimBg="0"/>
      <p:bldP spid="54331" grpId="0" animBg="1" autoUpdateAnimBg="0"/>
      <p:bldP spid="54352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37" name="Text Box 41"/>
          <p:cNvSpPr txBox="1">
            <a:spLocks noChangeArrowheads="1"/>
          </p:cNvSpPr>
          <p:nvPr/>
        </p:nvSpPr>
        <p:spPr bwMode="auto">
          <a:xfrm>
            <a:off x="2692103" y="116632"/>
            <a:ext cx="3104033" cy="6557822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 eaLnBrk="0" hangingPunct="0"/>
            <a:r>
              <a:rPr lang="en-US" altLang="zh-CN" b="0" dirty="0" err="1">
                <a:solidFill>
                  <a:schemeClr val="tx1"/>
                </a:solidFill>
                <a:latin typeface="Arial" charset="0"/>
              </a:rPr>
              <a:t>int</a:t>
            </a:r>
            <a:r>
              <a:rPr lang="en-US" altLang="zh-CN" b="0" dirty="0">
                <a:solidFill>
                  <a:schemeClr val="tx1"/>
                </a:solidFill>
                <a:latin typeface="Arial" charset="0"/>
              </a:rPr>
              <a:t> main()</a:t>
            </a:r>
          </a:p>
          <a:p>
            <a:pPr eaLnBrk="0" hangingPunct="0"/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{   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</a:rPr>
              <a:t>int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 a[11],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</a:rPr>
              <a:t>i,j,k,x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;</a:t>
            </a:r>
          </a:p>
          <a:p>
            <a:pPr eaLnBrk="0" hangingPunct="0"/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    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</a:rPr>
              <a:t>printf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("Input 10 numbers:\n");</a:t>
            </a:r>
          </a:p>
          <a:p>
            <a:pPr eaLnBrk="0" hangingPunct="0"/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    for(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</a:rPr>
              <a:t>i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=1;i&lt;11;i++)</a:t>
            </a:r>
          </a:p>
          <a:p>
            <a:pPr eaLnBrk="0" hangingPunct="0"/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       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</a:rPr>
              <a:t>scanf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("%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</a:rPr>
              <a:t>d",&amp;a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[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</a:rPr>
              <a:t>i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]);</a:t>
            </a:r>
          </a:p>
          <a:p>
            <a:pPr eaLnBrk="0" hangingPunct="0"/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    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</a:rPr>
              <a:t>printf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("\n");</a:t>
            </a:r>
          </a:p>
          <a:p>
            <a:pPr eaLnBrk="0" hangingPunct="0"/>
            <a:r>
              <a:rPr lang="en-US" altLang="zh-CN" sz="1600" b="0" dirty="0">
                <a:solidFill>
                  <a:srgbClr val="660066"/>
                </a:solidFill>
                <a:latin typeface="Arial" charset="0"/>
              </a:rPr>
              <a:t>   for(</a:t>
            </a:r>
            <a:r>
              <a:rPr lang="en-US" altLang="zh-CN" sz="1600" b="0" dirty="0" err="1">
                <a:solidFill>
                  <a:srgbClr val="660066"/>
                </a:solidFill>
                <a:latin typeface="Arial" charset="0"/>
              </a:rPr>
              <a:t>i</a:t>
            </a:r>
            <a:r>
              <a:rPr lang="en-US" altLang="zh-CN" sz="1600" b="0" dirty="0">
                <a:solidFill>
                  <a:srgbClr val="660066"/>
                </a:solidFill>
                <a:latin typeface="Arial" charset="0"/>
              </a:rPr>
              <a:t>=1;i&lt;10;i++)</a:t>
            </a:r>
          </a:p>
          <a:p>
            <a:pPr eaLnBrk="0" hangingPunct="0"/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  </a:t>
            </a:r>
            <a:r>
              <a:rPr lang="en-US" altLang="zh-CN" sz="1600" b="0" dirty="0">
                <a:solidFill>
                  <a:srgbClr val="660066"/>
                </a:solidFill>
                <a:latin typeface="Arial" charset="0"/>
              </a:rPr>
              <a:t> {  </a:t>
            </a:r>
            <a:r>
              <a:rPr lang="en-US" altLang="zh-CN" sz="1600" b="0" dirty="0">
                <a:solidFill>
                  <a:srgbClr val="C00000"/>
                </a:solidFill>
                <a:latin typeface="Arial" charset="0"/>
              </a:rPr>
              <a:t>k=</a:t>
            </a:r>
            <a:r>
              <a:rPr lang="en-US" altLang="zh-CN" sz="1600" b="0" dirty="0" err="1">
                <a:solidFill>
                  <a:srgbClr val="C00000"/>
                </a:solidFill>
                <a:latin typeface="Arial" charset="0"/>
              </a:rPr>
              <a:t>i</a:t>
            </a:r>
            <a:r>
              <a:rPr lang="en-US" altLang="zh-CN" sz="1600" b="0" dirty="0">
                <a:solidFill>
                  <a:srgbClr val="C00000"/>
                </a:solidFill>
                <a:latin typeface="Arial" charset="0"/>
              </a:rPr>
              <a:t>;</a:t>
            </a:r>
          </a:p>
          <a:p>
            <a:pPr eaLnBrk="0" hangingPunct="0"/>
            <a:r>
              <a:rPr lang="en-US" altLang="zh-CN" sz="1600" b="0" dirty="0">
                <a:solidFill>
                  <a:srgbClr val="0000FF"/>
                </a:solidFill>
                <a:latin typeface="Arial" charset="0"/>
              </a:rPr>
              <a:t>      for(j=i+1;j&lt;=10;j++)</a:t>
            </a:r>
          </a:p>
          <a:p>
            <a:pPr eaLnBrk="0" hangingPunct="0"/>
            <a:r>
              <a:rPr lang="en-US" altLang="zh-CN" sz="1600" b="0" dirty="0">
                <a:solidFill>
                  <a:srgbClr val="0000FF"/>
                </a:solidFill>
                <a:latin typeface="Arial" charset="0"/>
              </a:rPr>
              <a:t>            if(a[j]&lt;a[k])  k=j;</a:t>
            </a:r>
          </a:p>
          <a:p>
            <a:pPr eaLnBrk="0" hangingPunct="0"/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      </a:t>
            </a:r>
            <a:r>
              <a:rPr lang="en-US" altLang="zh-CN" sz="1600" b="0" dirty="0">
                <a:solidFill>
                  <a:srgbClr val="00B050"/>
                </a:solidFill>
                <a:latin typeface="Arial" charset="0"/>
              </a:rPr>
              <a:t>if(</a:t>
            </a:r>
            <a:r>
              <a:rPr lang="en-US" altLang="zh-CN" sz="1600" b="0" dirty="0" err="1">
                <a:solidFill>
                  <a:srgbClr val="00B050"/>
                </a:solidFill>
                <a:latin typeface="Arial" charset="0"/>
              </a:rPr>
              <a:t>i</a:t>
            </a:r>
            <a:r>
              <a:rPr lang="en-US" altLang="zh-CN" sz="1600" b="0" dirty="0">
                <a:solidFill>
                  <a:srgbClr val="00B050"/>
                </a:solidFill>
                <a:latin typeface="Arial" charset="0"/>
              </a:rPr>
              <a:t>!=k)</a:t>
            </a:r>
          </a:p>
          <a:p>
            <a:pPr eaLnBrk="0" hangingPunct="0"/>
            <a:r>
              <a:rPr lang="en-US" altLang="zh-CN" sz="1600" b="0" dirty="0">
                <a:solidFill>
                  <a:srgbClr val="00B050"/>
                </a:solidFill>
                <a:latin typeface="Arial" charset="0"/>
              </a:rPr>
              <a:t>      {  x=a[</a:t>
            </a:r>
            <a:r>
              <a:rPr lang="en-US" altLang="zh-CN" sz="1600" b="0" dirty="0" err="1">
                <a:solidFill>
                  <a:srgbClr val="00B050"/>
                </a:solidFill>
                <a:latin typeface="Arial" charset="0"/>
              </a:rPr>
              <a:t>i</a:t>
            </a:r>
            <a:r>
              <a:rPr lang="en-US" altLang="zh-CN" sz="1600" b="0" dirty="0">
                <a:solidFill>
                  <a:srgbClr val="00B050"/>
                </a:solidFill>
                <a:latin typeface="Arial" charset="0"/>
              </a:rPr>
              <a:t>]; a[</a:t>
            </a:r>
            <a:r>
              <a:rPr lang="en-US" altLang="zh-CN" sz="1600" b="0" dirty="0" err="1">
                <a:solidFill>
                  <a:srgbClr val="00B050"/>
                </a:solidFill>
                <a:latin typeface="Arial" charset="0"/>
              </a:rPr>
              <a:t>i</a:t>
            </a:r>
            <a:r>
              <a:rPr lang="en-US" altLang="zh-CN" sz="1600" b="0" dirty="0">
                <a:solidFill>
                  <a:srgbClr val="00B050"/>
                </a:solidFill>
                <a:latin typeface="Arial" charset="0"/>
              </a:rPr>
              <a:t>]=a[k]; a[k]=x;}</a:t>
            </a:r>
          </a:p>
          <a:p>
            <a:pPr eaLnBrk="0" hangingPunct="0"/>
            <a:r>
              <a:rPr lang="zh-CN" altLang="en-US" sz="1600" b="0" dirty="0">
                <a:solidFill>
                  <a:schemeClr val="tx1"/>
                </a:solidFill>
                <a:latin typeface="Arial" charset="0"/>
              </a:rPr>
              <a:t>  </a:t>
            </a:r>
            <a:r>
              <a:rPr lang="zh-CN" altLang="en-US" sz="1600" b="0" dirty="0">
                <a:solidFill>
                  <a:srgbClr val="660066"/>
                </a:solidFill>
                <a:latin typeface="Arial" charset="0"/>
              </a:rPr>
              <a:t> </a:t>
            </a:r>
            <a:r>
              <a:rPr lang="en-US" altLang="zh-CN" sz="1600" b="0" dirty="0">
                <a:solidFill>
                  <a:srgbClr val="660066"/>
                </a:solidFill>
                <a:latin typeface="Arial" charset="0"/>
              </a:rPr>
              <a:t>}</a:t>
            </a:r>
          </a:p>
          <a:p>
            <a:pPr eaLnBrk="0" hangingPunct="0"/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    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</a:rPr>
              <a:t>printf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("The sorted numbers:");</a:t>
            </a:r>
          </a:p>
          <a:p>
            <a:pPr eaLnBrk="0" hangingPunct="0"/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    for(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</a:rPr>
              <a:t>i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=1;i&lt;11;i++)</a:t>
            </a:r>
          </a:p>
          <a:p>
            <a:pPr eaLnBrk="0" hangingPunct="0"/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</a:rPr>
              <a:t>printf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("%d ",a[</a:t>
            </a:r>
            <a:r>
              <a:rPr lang="en-US" altLang="zh-CN" sz="1600" b="0" dirty="0" err="1">
                <a:solidFill>
                  <a:schemeClr val="tx1"/>
                </a:solidFill>
                <a:latin typeface="Arial" charset="0"/>
              </a:rPr>
              <a:t>i</a:t>
            </a:r>
            <a:r>
              <a:rPr lang="en-US" altLang="zh-CN" sz="1600" b="0" dirty="0">
                <a:solidFill>
                  <a:schemeClr val="tx1"/>
                </a:solidFill>
                <a:latin typeface="Arial" charset="0"/>
              </a:rPr>
              <a:t>]);</a:t>
            </a:r>
          </a:p>
          <a:p>
            <a:pPr eaLnBrk="0" hangingPunct="0"/>
            <a:r>
              <a:rPr lang="en-US" altLang="zh-CN" b="0" dirty="0">
                <a:solidFill>
                  <a:schemeClr val="tx1"/>
                </a:solidFill>
                <a:latin typeface="Arial" charset="0"/>
              </a:rPr>
              <a:t>}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5F971-C509-9F45-BC84-2FA7A74E1A7F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0828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Century Schoolbook" charset="0"/>
                <a:ea typeface="宋体" charset="0"/>
              </a:rPr>
              <a:t>顺序查找</a:t>
            </a:r>
          </a:p>
          <a:p>
            <a:pPr lvl="1"/>
            <a:r>
              <a:rPr lang="zh-CN" altLang="en-US" sz="2800" dirty="0">
                <a:latin typeface="Century Schoolbook" charset="0"/>
                <a:ea typeface="宋体" charset="0"/>
              </a:rPr>
              <a:t>特例：求最大值，求最小值</a:t>
            </a:r>
          </a:p>
          <a:p>
            <a:r>
              <a:rPr lang="zh-CN" altLang="en-US" sz="3200" dirty="0">
                <a:latin typeface="Century Schoolbook" charset="0"/>
                <a:ea typeface="宋体" charset="0"/>
              </a:rPr>
              <a:t>折半查找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2C3036"/>
                </a:solidFill>
                <a:latin typeface="Century Schoolbook" charset="0"/>
                <a:ea typeface="华文楷体" charset="-122"/>
              </a:rPr>
              <a:t>查找算法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15223-9BEB-E14A-8548-31E84A43C4BC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0344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12776"/>
            <a:ext cx="7843837" cy="522513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 err="1">
                <a:solidFill>
                  <a:schemeClr val="accent2"/>
                </a:solidFill>
                <a:latin typeface="Courier New" charset="0"/>
                <a:ea typeface="宋体" charset="0"/>
              </a:rPr>
              <a:t>const</a:t>
            </a:r>
            <a:r>
              <a:rPr lang="en-US" altLang="zh-CN" sz="2000" b="1" dirty="0">
                <a:solidFill>
                  <a:schemeClr val="accent2"/>
                </a:solidFill>
                <a:latin typeface="Courier New" charset="0"/>
                <a:ea typeface="宋体" charset="0"/>
              </a:rPr>
              <a:t> </a:t>
            </a:r>
            <a:r>
              <a:rPr lang="en-US" altLang="zh-CN" sz="2000" b="1" dirty="0" err="1">
                <a:solidFill>
                  <a:schemeClr val="accent2"/>
                </a:solidFill>
                <a:latin typeface="Courier New" charset="0"/>
                <a:ea typeface="宋体" charset="0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latin typeface="Courier New" charset="0"/>
                <a:ea typeface="宋体" charset="0"/>
              </a:rPr>
              <a:t> </a:t>
            </a:r>
            <a:r>
              <a:rPr lang="en-US" altLang="zh-CN" sz="2000" b="1" dirty="0">
                <a:latin typeface="Courier New" charset="0"/>
                <a:ea typeface="宋体" charset="0"/>
              </a:rPr>
              <a:t>SIZE = 10;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 err="1">
                <a:solidFill>
                  <a:schemeClr val="accent2"/>
                </a:solidFill>
                <a:latin typeface="Courier New" charset="0"/>
                <a:ea typeface="宋体" charset="0"/>
              </a:rPr>
              <a:t>int</a:t>
            </a:r>
            <a:r>
              <a:rPr lang="en-US" altLang="zh-CN" sz="2000" b="1" dirty="0">
                <a:latin typeface="Courier New" charset="0"/>
                <a:ea typeface="宋体" charset="0"/>
              </a:rPr>
              <a:t>  main() 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{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Courier New" charset="0"/>
                <a:ea typeface="宋体" charset="0"/>
              </a:rPr>
              <a:t>long</a:t>
            </a:r>
            <a:r>
              <a:rPr lang="en-US" altLang="zh-CN" sz="2000" b="1" dirty="0">
                <a:latin typeface="Courier New" charset="0"/>
                <a:ea typeface="宋体" charset="0"/>
              </a:rPr>
              <a:t> a[SIZE]; </a:t>
            </a:r>
            <a:r>
              <a:rPr lang="en-US" altLang="zh-CN" sz="2000" b="1" dirty="0">
                <a:solidFill>
                  <a:schemeClr val="accent2"/>
                </a:solidFill>
                <a:latin typeface="Courier New" charset="0"/>
                <a:ea typeface="宋体" charset="0"/>
              </a:rPr>
              <a:t>long</a:t>
            </a:r>
            <a:r>
              <a:rPr lang="en-US" altLang="zh-CN" sz="2000" b="1" dirty="0">
                <a:latin typeface="Courier New" charset="0"/>
                <a:ea typeface="宋体" charset="0"/>
              </a:rPr>
              <a:t> x;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</a:t>
            </a:r>
            <a:r>
              <a:rPr lang="en-US" altLang="zh-CN" sz="2000" b="1" dirty="0" err="1">
                <a:solidFill>
                  <a:schemeClr val="accent2"/>
                </a:solidFill>
                <a:latin typeface="Courier New" charset="0"/>
                <a:ea typeface="宋体" charset="0"/>
              </a:rPr>
              <a:t>int</a:t>
            </a:r>
            <a:r>
              <a:rPr lang="en-US" altLang="zh-CN" sz="2000" b="1" dirty="0">
                <a:latin typeface="Courier New" charset="0"/>
                <a:ea typeface="宋体" charset="0"/>
              </a:rPr>
              <a:t> 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i</a:t>
            </a:r>
            <a:r>
              <a:rPr lang="en-US" altLang="zh-CN" sz="2000" b="1" dirty="0">
                <a:latin typeface="Courier New" charset="0"/>
                <a:ea typeface="宋体" charset="0"/>
              </a:rPr>
              <a:t>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Courier New" charset="0"/>
                <a:ea typeface="宋体" charset="0"/>
              </a:rPr>
              <a:t>	   for</a:t>
            </a:r>
            <a:r>
              <a:rPr lang="en-US" altLang="zh-CN" sz="2000" b="1" dirty="0">
                <a:latin typeface="Courier New" charset="0"/>
                <a:ea typeface="宋体" charset="0"/>
              </a:rPr>
              <a:t> (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i</a:t>
            </a:r>
            <a:r>
              <a:rPr lang="en-US" altLang="zh-CN" sz="2000" b="1" dirty="0">
                <a:latin typeface="Courier New" charset="0"/>
                <a:ea typeface="宋体" charset="0"/>
              </a:rPr>
              <a:t>=0; 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i</a:t>
            </a:r>
            <a:r>
              <a:rPr lang="en-US" altLang="zh-CN" sz="2000" b="1" dirty="0">
                <a:latin typeface="Courier New" charset="0"/>
                <a:ea typeface="宋体" charset="0"/>
              </a:rPr>
              <a:t>&lt;SIZE; 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i</a:t>
            </a:r>
            <a:r>
              <a:rPr lang="en-US" altLang="zh-CN" sz="2000" b="1" dirty="0">
                <a:latin typeface="Courier New" charset="0"/>
                <a:ea typeface="宋体" charset="0"/>
              </a:rPr>
              <a:t>++)  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   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scanf</a:t>
            </a:r>
            <a:r>
              <a:rPr lang="en-US" altLang="zh-CN" sz="2000" b="1" dirty="0">
                <a:latin typeface="Courier New" charset="0"/>
                <a:ea typeface="宋体" charset="0"/>
              </a:rPr>
              <a:t>(“%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ld</a:t>
            </a:r>
            <a:r>
              <a:rPr lang="en-US" altLang="zh-CN" sz="2000" b="1" dirty="0">
                <a:latin typeface="Courier New" charset="0"/>
                <a:ea typeface="宋体" charset="0"/>
              </a:rPr>
              <a:t>”,&amp;a[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i</a:t>
            </a:r>
            <a:r>
              <a:rPr lang="en-US" altLang="zh-CN" sz="2000" b="1" dirty="0">
                <a:latin typeface="Courier New" charset="0"/>
                <a:ea typeface="宋体" charset="0"/>
              </a:rPr>
              <a:t>]);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 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scanf</a:t>
            </a:r>
            <a:r>
              <a:rPr lang="en-US" altLang="zh-CN" sz="2000" b="1" dirty="0">
                <a:latin typeface="Courier New" charset="0"/>
                <a:ea typeface="宋体" charset="0"/>
              </a:rPr>
              <a:t>(“%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ld</a:t>
            </a:r>
            <a:r>
              <a:rPr lang="en-US" altLang="zh-CN" sz="2000" b="1" dirty="0">
                <a:latin typeface="Courier New" charset="0"/>
                <a:ea typeface="宋体" charset="0"/>
              </a:rPr>
              <a:t>”,&amp;x);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endParaRPr lang="en-US" altLang="zh-CN" sz="2000" b="1" dirty="0">
              <a:latin typeface="Courier New" charset="0"/>
              <a:ea typeface="宋体" charset="0"/>
            </a:endParaRP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Courier New" charset="0"/>
                <a:ea typeface="宋体" charset="0"/>
              </a:rPr>
              <a:t>for</a:t>
            </a:r>
            <a:r>
              <a:rPr lang="en-US" altLang="zh-CN" sz="2000" b="1" dirty="0">
                <a:latin typeface="Courier New" charset="0"/>
                <a:ea typeface="宋体" charset="0"/>
              </a:rPr>
              <a:t> (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i</a:t>
            </a:r>
            <a:r>
              <a:rPr lang="en-US" altLang="zh-CN" sz="2000" b="1" dirty="0">
                <a:latin typeface="Courier New" charset="0"/>
                <a:ea typeface="宋体" charset="0"/>
              </a:rPr>
              <a:t>=0; 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i</a:t>
            </a:r>
            <a:r>
              <a:rPr lang="en-US" altLang="zh-CN" sz="2000" b="1" dirty="0">
                <a:latin typeface="Courier New" charset="0"/>
                <a:ea typeface="宋体" charset="0"/>
              </a:rPr>
              <a:t>&lt;SIZE; 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i</a:t>
            </a:r>
            <a:r>
              <a:rPr lang="en-US" altLang="zh-CN" sz="2000" b="1" dirty="0">
                <a:latin typeface="Courier New" charset="0"/>
                <a:ea typeface="宋体" charset="0"/>
              </a:rPr>
              <a:t>++)  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{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zh-CN" altLang="en-US" sz="2000" b="1" dirty="0">
                <a:latin typeface="Courier New" charset="0"/>
                <a:ea typeface="宋体" charset="0"/>
              </a:rPr>
              <a:t>        </a:t>
            </a:r>
            <a:r>
              <a:rPr lang="en-US" altLang="zh-CN" sz="2000" b="1" dirty="0">
                <a:solidFill>
                  <a:schemeClr val="accent2"/>
                </a:solidFill>
                <a:latin typeface="Courier New" charset="0"/>
                <a:ea typeface="宋体" charset="0"/>
              </a:rPr>
              <a:t>if</a:t>
            </a:r>
            <a:r>
              <a:rPr lang="en-US" altLang="zh-CN" sz="2000" b="1" dirty="0">
                <a:latin typeface="Courier New" charset="0"/>
                <a:ea typeface="宋体" charset="0"/>
              </a:rPr>
              <a:t> (a[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i</a:t>
            </a:r>
            <a:r>
              <a:rPr lang="en-US" altLang="zh-CN" sz="2000" b="1" dirty="0">
                <a:latin typeface="Courier New" charset="0"/>
                <a:ea typeface="宋体" charset="0"/>
              </a:rPr>
              <a:t>] == x)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    {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        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printf</a:t>
            </a:r>
            <a:r>
              <a:rPr lang="en-US" altLang="zh-CN" sz="2000" b="1" dirty="0">
                <a:latin typeface="Courier New" charset="0"/>
                <a:ea typeface="宋体" charset="0"/>
              </a:rPr>
              <a:t>(“%d”,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i</a:t>
            </a:r>
            <a:r>
              <a:rPr lang="en-US" altLang="zh-CN" sz="2000" b="1" dirty="0">
                <a:latin typeface="Courier New" charset="0"/>
                <a:ea typeface="宋体" charset="0"/>
              </a:rPr>
              <a:t>);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    }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}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if( 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i</a:t>
            </a:r>
            <a:r>
              <a:rPr lang="en-US" altLang="zh-CN" sz="2000" b="1" dirty="0">
                <a:latin typeface="Courier New" charset="0"/>
                <a:ea typeface="宋体" charset="0"/>
              </a:rPr>
              <a:t>==SIZE)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    </a:t>
            </a:r>
            <a:r>
              <a:rPr lang="en-US" altLang="zh-CN" sz="2000" b="1" dirty="0" err="1">
                <a:latin typeface="Courier New" charset="0"/>
                <a:ea typeface="宋体" charset="0"/>
              </a:rPr>
              <a:t>printf</a:t>
            </a:r>
            <a:r>
              <a:rPr lang="en-US" altLang="zh-CN" sz="2000" b="1" dirty="0">
                <a:latin typeface="Courier New" charset="0"/>
                <a:ea typeface="宋体" charset="0"/>
              </a:rPr>
              <a:t>(“not found”);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Courier New" charset="0"/>
                <a:ea typeface="宋体" charset="0"/>
              </a:rPr>
              <a:t>return</a:t>
            </a:r>
            <a:r>
              <a:rPr lang="en-US" altLang="zh-CN" sz="2000" b="1" dirty="0">
                <a:latin typeface="Courier New" charset="0"/>
                <a:ea typeface="宋体" charset="0"/>
              </a:rPr>
              <a:t> 0;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2000" b="1" dirty="0">
                <a:latin typeface="Courier New" charset="0"/>
                <a:ea typeface="宋体" charset="0"/>
              </a:rPr>
              <a:t>}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568104"/>
          </a:xfrm>
        </p:spPr>
        <p:txBody>
          <a:bodyPr>
            <a:normAutofit fontScale="90000"/>
          </a:bodyPr>
          <a:lstStyle/>
          <a:p>
            <a:r>
              <a:rPr lang="zh-CN" altLang="en-US">
                <a:solidFill>
                  <a:srgbClr val="2C3036"/>
                </a:solidFill>
                <a:latin typeface="Century Schoolbook" charset="0"/>
                <a:ea typeface="宋体" charset="0"/>
              </a:rPr>
              <a:t>例</a:t>
            </a:r>
            <a:r>
              <a:rPr lang="en-US" altLang="zh-CN" dirty="0">
                <a:solidFill>
                  <a:srgbClr val="2C3036"/>
                </a:solidFill>
                <a:latin typeface="Century Schoolbook" charset="0"/>
                <a:ea typeface="宋体" charset="0"/>
              </a:rPr>
              <a:t>5</a:t>
            </a:r>
            <a:r>
              <a:rPr lang="zh-CN" altLang="en-US" dirty="0">
                <a:solidFill>
                  <a:srgbClr val="2C3036"/>
                </a:solidFill>
                <a:latin typeface="Century Schoolbook" charset="0"/>
                <a:ea typeface="宋体" charset="0"/>
              </a:rPr>
              <a:t>：顺序查找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AC3BA-F9AE-954B-B03C-53018A2F4260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0718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C3036"/>
                </a:solidFill>
                <a:latin typeface="Century Schoolbook" charset="0"/>
                <a:ea typeface="宋体" charset="0"/>
              </a:rPr>
              <a:t>折半查找</a:t>
            </a:r>
          </a:p>
        </p:txBody>
      </p:sp>
      <p:grpSp>
        <p:nvGrpSpPr>
          <p:cNvPr id="43011" name="Group 22"/>
          <p:cNvGrpSpPr>
            <a:grpSpLocks/>
          </p:cNvGrpSpPr>
          <p:nvPr/>
        </p:nvGrpSpPr>
        <p:grpSpPr bwMode="auto">
          <a:xfrm>
            <a:off x="147638" y="2347913"/>
            <a:ext cx="7993062" cy="1873250"/>
            <a:chOff x="521" y="935"/>
            <a:chExt cx="5035" cy="1180"/>
          </a:xfrm>
        </p:grpSpPr>
        <p:sp>
          <p:nvSpPr>
            <p:cNvPr id="43012" name="Text Box 8"/>
            <p:cNvSpPr txBox="1">
              <a:spLocks noChangeArrowheads="1"/>
            </p:cNvSpPr>
            <p:nvPr/>
          </p:nvSpPr>
          <p:spPr bwMode="auto">
            <a:xfrm>
              <a:off x="521" y="935"/>
              <a:ext cx="5035" cy="1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 eaLnBrk="0" hangingPunct="0"/>
              <a:r>
                <a:rPr lang="zh-CN" altLang="en-US" sz="1600" dirty="0">
                  <a:solidFill>
                    <a:schemeClr val="accent2"/>
                  </a:solidFill>
                </a:rPr>
                <a:t>数组下标            </a:t>
              </a:r>
              <a:r>
                <a:rPr lang="en-US" altLang="zh-CN" sz="1600" dirty="0">
                  <a:solidFill>
                    <a:schemeClr val="accent2"/>
                  </a:solidFill>
                </a:rPr>
                <a:t>0     </a:t>
              </a:r>
              <a:r>
                <a:rPr lang="zh-CN" altLang="en-US" sz="1600" dirty="0">
                  <a:solidFill>
                    <a:schemeClr val="accent2"/>
                  </a:solidFill>
                </a:rPr>
                <a:t>   </a:t>
              </a:r>
              <a:r>
                <a:rPr lang="en-US" altLang="zh-CN" sz="1600" dirty="0">
                  <a:solidFill>
                    <a:schemeClr val="accent2"/>
                  </a:solidFill>
                </a:rPr>
                <a:t> 1    </a:t>
              </a:r>
              <a:r>
                <a:rPr lang="zh-CN" altLang="en-US" sz="1600" dirty="0">
                  <a:solidFill>
                    <a:schemeClr val="accent2"/>
                  </a:solidFill>
                </a:rPr>
                <a:t>  </a:t>
              </a:r>
              <a:r>
                <a:rPr lang="en-US" altLang="zh-CN" sz="1600" dirty="0">
                  <a:solidFill>
                    <a:schemeClr val="accent2"/>
                  </a:solidFill>
                </a:rPr>
                <a:t>  </a:t>
              </a:r>
              <a:r>
                <a:rPr lang="zh-CN" altLang="en-US" sz="1600" dirty="0">
                  <a:solidFill>
                    <a:schemeClr val="accent2"/>
                  </a:solidFill>
                </a:rPr>
                <a:t>   </a:t>
              </a:r>
              <a:r>
                <a:rPr lang="en-US" altLang="zh-CN" sz="1600" dirty="0">
                  <a:solidFill>
                    <a:schemeClr val="accent2"/>
                  </a:solidFill>
                </a:rPr>
                <a:t>2        </a:t>
              </a:r>
              <a:r>
                <a:rPr lang="zh-CN" altLang="en-US" sz="1600" dirty="0">
                  <a:solidFill>
                    <a:schemeClr val="accent2"/>
                  </a:solidFill>
                </a:rPr>
                <a:t> </a:t>
              </a:r>
              <a:r>
                <a:rPr lang="en-US" altLang="zh-CN" sz="1600" dirty="0">
                  <a:solidFill>
                    <a:schemeClr val="accent2"/>
                  </a:solidFill>
                </a:rPr>
                <a:t>3      </a:t>
              </a:r>
              <a:r>
                <a:rPr lang="zh-CN" altLang="en-US" sz="1600" dirty="0">
                  <a:solidFill>
                    <a:schemeClr val="accent2"/>
                  </a:solidFill>
                </a:rPr>
                <a:t>  </a:t>
              </a:r>
              <a:r>
                <a:rPr lang="en-US" altLang="zh-CN" sz="1600" dirty="0">
                  <a:solidFill>
                    <a:schemeClr val="accent2"/>
                  </a:solidFill>
                </a:rPr>
                <a:t> 4          </a:t>
              </a:r>
            </a:p>
            <a:p>
              <a:pPr algn="just" eaLnBrk="0" hangingPunct="0"/>
              <a:r>
                <a:rPr lang="zh-CN" altLang="en-US" sz="1600" dirty="0">
                  <a:solidFill>
                    <a:schemeClr val="accent2"/>
                  </a:solidFill>
                </a:rPr>
                <a:t>第一次循环：</a:t>
              </a:r>
              <a:r>
                <a:rPr lang="en-US" altLang="zh-CN" sz="1600" dirty="0"/>
                <a:t>99011  99013  99015  99017  99019</a:t>
              </a:r>
              <a:r>
                <a:rPr lang="en-US" altLang="zh-CN" sz="1600" dirty="0">
                  <a:solidFill>
                    <a:schemeClr val="accent2"/>
                  </a:solidFill>
                </a:rPr>
                <a:t>       </a:t>
              </a:r>
              <a:r>
                <a:rPr lang="en-US" altLang="zh-CN" sz="1600" dirty="0">
                  <a:solidFill>
                    <a:schemeClr val="accent2"/>
                  </a:solidFill>
                  <a:latin typeface="宋体" charset="0"/>
                </a:rPr>
                <a:t>①</a:t>
              </a:r>
              <a:r>
                <a:rPr lang="zh-CN" altLang="en-US" sz="1600" dirty="0">
                  <a:solidFill>
                    <a:schemeClr val="accent2"/>
                  </a:solidFill>
                </a:rPr>
                <a:t>查找值</a:t>
              </a:r>
              <a:r>
                <a:rPr lang="en-US" altLang="zh-CN" sz="1600" dirty="0">
                  <a:solidFill>
                    <a:schemeClr val="accent2"/>
                  </a:solidFill>
                </a:rPr>
                <a:t>x=99017</a:t>
              </a:r>
            </a:p>
            <a:p>
              <a:pPr algn="just" eaLnBrk="0" hangingPunct="0"/>
              <a:endParaRPr lang="en-US" altLang="zh-CN" sz="1600" dirty="0">
                <a:solidFill>
                  <a:schemeClr val="accent2"/>
                </a:solidFill>
              </a:endParaRPr>
            </a:p>
            <a:p>
              <a:pPr algn="just" eaLnBrk="0" hangingPunct="0"/>
              <a:r>
                <a:rPr lang="en-US" altLang="zh-CN" sz="1600" dirty="0">
                  <a:solidFill>
                    <a:schemeClr val="accent2"/>
                  </a:solidFill>
                </a:rPr>
                <a:t>                       low                    mid                  high         x&gt;a[mid], low=mid+1</a:t>
              </a:r>
            </a:p>
            <a:p>
              <a:pPr algn="just" eaLnBrk="0" hangingPunct="0"/>
              <a:r>
                <a:rPr lang="zh-CN" altLang="en-US" sz="1600" dirty="0">
                  <a:solidFill>
                    <a:schemeClr val="accent2"/>
                  </a:solidFill>
                </a:rPr>
                <a:t>第二次循环：</a:t>
              </a:r>
              <a:r>
                <a:rPr lang="en-US" altLang="zh-CN" sz="1600" dirty="0"/>
                <a:t>99011  99013  99015  99017  99019</a:t>
              </a:r>
              <a:r>
                <a:rPr lang="en-US" altLang="zh-CN" sz="1600" dirty="0">
                  <a:solidFill>
                    <a:schemeClr val="accent2"/>
                  </a:solidFill>
                </a:rPr>
                <a:t>   </a:t>
              </a:r>
            </a:p>
            <a:p>
              <a:pPr algn="just" eaLnBrk="0" hangingPunct="0"/>
              <a:endParaRPr lang="en-US" altLang="zh-CN" sz="1600" dirty="0">
                <a:solidFill>
                  <a:schemeClr val="accent2"/>
                </a:solidFill>
              </a:endParaRPr>
            </a:p>
            <a:p>
              <a:pPr algn="just" eaLnBrk="0" hangingPunct="0"/>
              <a:r>
                <a:rPr lang="en-US" altLang="zh-CN" sz="1600" dirty="0">
                  <a:solidFill>
                    <a:schemeClr val="accent2"/>
                  </a:solidFill>
                </a:rPr>
                <a:t>                                                          low=mid  high         x=a[mid]</a:t>
              </a:r>
              <a:r>
                <a:rPr lang="zh-CN" altLang="en-US" sz="1600" dirty="0">
                  <a:solidFill>
                    <a:schemeClr val="accent2"/>
                  </a:solidFill>
                </a:rPr>
                <a:t>，找到</a:t>
              </a:r>
            </a:p>
            <a:p>
              <a:pPr algn="just" eaLnBrk="0" hangingPunct="0"/>
              <a:endParaRPr lang="zh-CN" altLang="en-US" sz="1600" dirty="0">
                <a:solidFill>
                  <a:schemeClr val="accent2"/>
                </a:solidFill>
              </a:endParaRPr>
            </a:p>
          </p:txBody>
        </p:sp>
        <p:sp>
          <p:nvSpPr>
            <p:cNvPr id="43013" name="Line 9"/>
            <p:cNvSpPr>
              <a:spLocks noChangeShapeType="1"/>
            </p:cNvSpPr>
            <p:nvPr/>
          </p:nvSpPr>
          <p:spPr bwMode="auto">
            <a:xfrm flipV="1">
              <a:off x="1385" y="1292"/>
              <a:ext cx="1" cy="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" name="Line 10"/>
            <p:cNvSpPr>
              <a:spLocks noChangeShapeType="1"/>
            </p:cNvSpPr>
            <p:nvPr/>
          </p:nvSpPr>
          <p:spPr bwMode="auto">
            <a:xfrm flipV="1">
              <a:off x="2205" y="1292"/>
              <a:ext cx="0" cy="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5" name="Line 11"/>
            <p:cNvSpPr>
              <a:spLocks noChangeShapeType="1"/>
            </p:cNvSpPr>
            <p:nvPr/>
          </p:nvSpPr>
          <p:spPr bwMode="auto">
            <a:xfrm flipV="1">
              <a:off x="3039" y="1292"/>
              <a:ext cx="0" cy="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6" name="Line 12"/>
            <p:cNvSpPr>
              <a:spLocks noChangeShapeType="1"/>
            </p:cNvSpPr>
            <p:nvPr/>
          </p:nvSpPr>
          <p:spPr bwMode="auto">
            <a:xfrm flipV="1">
              <a:off x="2651" y="1728"/>
              <a:ext cx="1" cy="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7" name="Line 13"/>
            <p:cNvSpPr>
              <a:spLocks noChangeShapeType="1"/>
            </p:cNvSpPr>
            <p:nvPr/>
          </p:nvSpPr>
          <p:spPr bwMode="auto">
            <a:xfrm flipV="1">
              <a:off x="3056" y="1728"/>
              <a:ext cx="1" cy="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328-9210-094E-9E36-0701C6F60AAD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5964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2C3036"/>
                </a:solidFill>
                <a:latin typeface="Century Schoolbook" charset="0"/>
                <a:ea typeface="宋体" charset="0"/>
              </a:rPr>
              <a:t>折半查找</a:t>
            </a:r>
          </a:p>
        </p:txBody>
      </p:sp>
      <p:grpSp>
        <p:nvGrpSpPr>
          <p:cNvPr id="45059" name="Group 21"/>
          <p:cNvGrpSpPr>
            <a:grpSpLocks/>
          </p:cNvGrpSpPr>
          <p:nvPr/>
        </p:nvGrpSpPr>
        <p:grpSpPr bwMode="auto">
          <a:xfrm>
            <a:off x="139700" y="2203450"/>
            <a:ext cx="7993063" cy="2665413"/>
            <a:chOff x="521" y="935"/>
            <a:chExt cx="5035" cy="1679"/>
          </a:xfrm>
        </p:grpSpPr>
        <p:sp>
          <p:nvSpPr>
            <p:cNvPr id="263175" name="Text Box 7"/>
            <p:cNvSpPr txBox="1">
              <a:spLocks noChangeArrowheads="1"/>
            </p:cNvSpPr>
            <p:nvPr/>
          </p:nvSpPr>
          <p:spPr bwMode="auto">
            <a:xfrm>
              <a:off x="521" y="935"/>
              <a:ext cx="5035" cy="1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bIns="0"/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 eaLnBrk="0" hangingPunct="0"/>
              <a:r>
                <a:rPr lang="zh-CN" altLang="en-US" sz="1600">
                  <a:solidFill>
                    <a:schemeClr val="accent2"/>
                  </a:solidFill>
                </a:rPr>
                <a:t>数组下标               </a:t>
              </a:r>
              <a:r>
                <a:rPr lang="en-US" altLang="zh-CN" sz="1600">
                  <a:solidFill>
                    <a:schemeClr val="accent2"/>
                  </a:solidFill>
                </a:rPr>
                <a:t>0         1          2          3         4         </a:t>
              </a:r>
            </a:p>
            <a:p>
              <a:pPr algn="just" eaLnBrk="0" hangingPunct="0"/>
              <a:r>
                <a:rPr lang="zh-CN" altLang="en-US" sz="1600">
                  <a:solidFill>
                    <a:schemeClr val="accent2"/>
                  </a:solidFill>
                </a:rPr>
                <a:t>第一次循环：</a:t>
              </a:r>
              <a:r>
                <a:rPr lang="en-US" altLang="zh-CN" sz="1600"/>
                <a:t>99011  99013  99015  99017  99019</a:t>
              </a:r>
              <a:r>
                <a:rPr lang="en-US" altLang="zh-CN" sz="1600">
                  <a:solidFill>
                    <a:schemeClr val="accent2"/>
                  </a:solidFill>
                </a:rPr>
                <a:t>       </a:t>
              </a:r>
              <a:r>
                <a:rPr lang="en-US" altLang="zh-CN" sz="1600">
                  <a:solidFill>
                    <a:schemeClr val="accent2"/>
                  </a:solidFill>
                  <a:latin typeface="宋体" charset="0"/>
                </a:rPr>
                <a:t>②</a:t>
              </a:r>
              <a:r>
                <a:rPr lang="zh-CN" altLang="en-US" sz="1600">
                  <a:solidFill>
                    <a:schemeClr val="accent2"/>
                  </a:solidFill>
                  <a:latin typeface="宋体" charset="0"/>
                </a:rPr>
                <a:t>查找值</a:t>
              </a:r>
              <a:r>
                <a:rPr lang="en-US" altLang="zh-CN" sz="1600">
                  <a:solidFill>
                    <a:schemeClr val="accent2"/>
                  </a:solidFill>
                </a:rPr>
                <a:t>x=99016</a:t>
              </a:r>
            </a:p>
            <a:p>
              <a:pPr algn="just" eaLnBrk="0" hangingPunct="0"/>
              <a:endParaRPr lang="en-US" altLang="zh-CN" sz="1600">
                <a:solidFill>
                  <a:schemeClr val="accent2"/>
                </a:solidFill>
              </a:endParaRPr>
            </a:p>
            <a:p>
              <a:pPr algn="just" eaLnBrk="0" hangingPunct="0"/>
              <a:r>
                <a:rPr lang="en-US" altLang="zh-CN" sz="1600">
                  <a:solidFill>
                    <a:schemeClr val="accent2"/>
                  </a:solidFill>
                </a:rPr>
                <a:t>                         low                  mid                   high         x&gt;a[mid], low=mid+1</a:t>
              </a:r>
            </a:p>
            <a:p>
              <a:pPr algn="just" eaLnBrk="0" hangingPunct="0"/>
              <a:r>
                <a:rPr lang="zh-CN" altLang="en-US" sz="1600">
                  <a:solidFill>
                    <a:schemeClr val="accent2"/>
                  </a:solidFill>
                </a:rPr>
                <a:t>第二次循环：</a:t>
              </a:r>
              <a:r>
                <a:rPr lang="en-US" altLang="zh-CN" sz="1600"/>
                <a:t>99011  99013  99015  99017  99019</a:t>
              </a:r>
              <a:r>
                <a:rPr lang="en-US" altLang="zh-CN" sz="1600">
                  <a:solidFill>
                    <a:schemeClr val="accent2"/>
                  </a:solidFill>
                </a:rPr>
                <a:t>  </a:t>
              </a:r>
            </a:p>
            <a:p>
              <a:pPr algn="just" eaLnBrk="0" hangingPunct="0"/>
              <a:endParaRPr lang="en-US" altLang="zh-CN" sz="1600">
                <a:solidFill>
                  <a:schemeClr val="accent2"/>
                </a:solidFill>
              </a:endParaRPr>
            </a:p>
            <a:p>
              <a:pPr algn="just" eaLnBrk="0" hangingPunct="0"/>
              <a:r>
                <a:rPr lang="en-US" altLang="zh-CN" sz="1600">
                  <a:solidFill>
                    <a:schemeClr val="accent2"/>
                  </a:solidFill>
                </a:rPr>
                <a:t>                                                           low=mid  high         x&lt;a[mid], high=mid-1</a:t>
              </a:r>
            </a:p>
            <a:p>
              <a:pPr algn="just" eaLnBrk="0" hangingPunct="0"/>
              <a:r>
                <a:rPr lang="zh-CN" altLang="en-US" sz="1600">
                  <a:solidFill>
                    <a:schemeClr val="accent2"/>
                  </a:solidFill>
                </a:rPr>
                <a:t>第三次循环：</a:t>
              </a:r>
              <a:r>
                <a:rPr lang="en-US" altLang="zh-CN" sz="1600"/>
                <a:t>99011  99013  99015  99017  99019</a:t>
              </a:r>
              <a:r>
                <a:rPr lang="en-US" altLang="zh-CN" sz="1600">
                  <a:solidFill>
                    <a:schemeClr val="accent2"/>
                  </a:solidFill>
                </a:rPr>
                <a:t>   </a:t>
              </a:r>
            </a:p>
            <a:p>
              <a:pPr algn="just" eaLnBrk="0" hangingPunct="0"/>
              <a:endParaRPr lang="en-US" altLang="zh-CN" sz="1600">
                <a:solidFill>
                  <a:schemeClr val="accent2"/>
                </a:solidFill>
              </a:endParaRPr>
            </a:p>
            <a:p>
              <a:pPr lvl="1" algn="just" eaLnBrk="0" hangingPunct="0"/>
              <a:r>
                <a:rPr lang="en-US" altLang="zh-CN" sz="1600">
                  <a:solidFill>
                    <a:schemeClr val="accent2"/>
                  </a:solidFill>
                </a:rPr>
                <a:t>                                          high    low                    </a:t>
              </a:r>
              <a:r>
                <a:rPr lang="zh-CN" altLang="en-US" sz="1600">
                  <a:solidFill>
                    <a:schemeClr val="accent2"/>
                  </a:solidFill>
                </a:rPr>
                <a:t>不满足</a:t>
              </a:r>
              <a:r>
                <a:rPr lang="en-US" altLang="zh-CN" sz="1600">
                  <a:solidFill>
                    <a:schemeClr val="accent2"/>
                  </a:solidFill>
                </a:rPr>
                <a:t>low&lt;=high, </a:t>
              </a:r>
              <a:r>
                <a:rPr lang="zh-CN" altLang="en-US" sz="1600">
                  <a:solidFill>
                    <a:schemeClr val="accent2"/>
                  </a:solidFill>
                </a:rPr>
                <a:t>循环结束</a:t>
              </a:r>
              <a:r>
                <a:rPr lang="en-US" altLang="zh-CN" sz="1600">
                  <a:solidFill>
                    <a:schemeClr val="accent2"/>
                  </a:solidFill>
                </a:rPr>
                <a:t>,</a:t>
              </a:r>
              <a:r>
                <a:rPr lang="zh-CN" altLang="en-US" sz="1600">
                  <a:solidFill>
                    <a:schemeClr val="accent2"/>
                  </a:solidFill>
                </a:rPr>
                <a:t>未找到</a:t>
              </a:r>
              <a:r>
                <a:rPr lang="zh-CN" altLang="en-US" sz="1600"/>
                <a:t> </a:t>
              </a:r>
            </a:p>
            <a:p>
              <a:pPr algn="just" eaLnBrk="0" hangingPunct="0"/>
              <a:r>
                <a:rPr lang="zh-CN" altLang="en-US" sz="1600"/>
                <a:t>               </a:t>
              </a:r>
              <a:endParaRPr lang="zh-CN" altLang="en-US" sz="16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062" name="Line 13"/>
            <p:cNvSpPr>
              <a:spLocks noChangeShapeType="1"/>
            </p:cNvSpPr>
            <p:nvPr/>
          </p:nvSpPr>
          <p:spPr bwMode="auto">
            <a:xfrm flipV="1">
              <a:off x="1428" y="1257"/>
              <a:ext cx="1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3" name="Line 14"/>
            <p:cNvSpPr>
              <a:spLocks noChangeShapeType="1"/>
            </p:cNvSpPr>
            <p:nvPr/>
          </p:nvSpPr>
          <p:spPr bwMode="auto">
            <a:xfrm flipV="1">
              <a:off x="2233" y="1257"/>
              <a:ext cx="1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4" name="Line 15"/>
            <p:cNvSpPr>
              <a:spLocks noChangeShapeType="1"/>
            </p:cNvSpPr>
            <p:nvPr/>
          </p:nvSpPr>
          <p:spPr bwMode="auto">
            <a:xfrm flipV="1">
              <a:off x="3056" y="1257"/>
              <a:ext cx="1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5" name="Line 16"/>
            <p:cNvSpPr>
              <a:spLocks noChangeShapeType="1"/>
            </p:cNvSpPr>
            <p:nvPr/>
          </p:nvSpPr>
          <p:spPr bwMode="auto">
            <a:xfrm flipV="1">
              <a:off x="2663" y="1751"/>
              <a:ext cx="1" cy="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6" name="Line 17"/>
            <p:cNvSpPr>
              <a:spLocks noChangeShapeType="1"/>
            </p:cNvSpPr>
            <p:nvPr/>
          </p:nvSpPr>
          <p:spPr bwMode="auto">
            <a:xfrm flipV="1">
              <a:off x="3075" y="1751"/>
              <a:ext cx="1" cy="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7" name="Line 18"/>
            <p:cNvSpPr>
              <a:spLocks noChangeShapeType="1"/>
            </p:cNvSpPr>
            <p:nvPr/>
          </p:nvSpPr>
          <p:spPr bwMode="auto">
            <a:xfrm flipV="1">
              <a:off x="2645" y="2188"/>
              <a:ext cx="1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8" name="Line 19"/>
            <p:cNvSpPr>
              <a:spLocks noChangeShapeType="1"/>
            </p:cNvSpPr>
            <p:nvPr/>
          </p:nvSpPr>
          <p:spPr bwMode="auto">
            <a:xfrm flipV="1">
              <a:off x="2260" y="2188"/>
              <a:ext cx="1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EFC6-CF3E-7149-8107-EE37E69470F2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0302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784"/>
            <a:ext cx="7772400" cy="468741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charset="2"/>
              <a:buNone/>
            </a:pPr>
            <a:r>
              <a:rPr lang="zh-CN" altLang="en-US" sz="3800" dirty="0">
                <a:latin typeface="Times New Roman" charset="0"/>
                <a:ea typeface="隶书" charset="0"/>
              </a:rPr>
              <a:t>函数原型：</a:t>
            </a:r>
            <a:r>
              <a:rPr lang="en-US" altLang="zh-CN" sz="3800" dirty="0" err="1">
                <a:solidFill>
                  <a:srgbClr val="0000FF"/>
                </a:solidFill>
                <a:latin typeface="Times New Roman" charset="0"/>
                <a:ea typeface="隶书" charset="0"/>
              </a:rPr>
              <a:t>strcat</a:t>
            </a:r>
            <a:r>
              <a:rPr lang="en-US" altLang="zh-CN" sz="3800" dirty="0">
                <a:solidFill>
                  <a:srgbClr val="0000FF"/>
                </a:solidFill>
                <a:latin typeface="Times New Roman" charset="0"/>
                <a:ea typeface="隶书" charset="0"/>
              </a:rPr>
              <a:t>(char[],</a:t>
            </a:r>
            <a:r>
              <a:rPr lang="zh-CN" altLang="en-US" sz="3800" dirty="0">
                <a:solidFill>
                  <a:srgbClr val="0000FF"/>
                </a:solidFill>
                <a:latin typeface="Times New Roman" charset="0"/>
                <a:ea typeface="隶书" charset="0"/>
              </a:rPr>
              <a:t> </a:t>
            </a:r>
            <a:r>
              <a:rPr lang="en-US" altLang="zh-CN" sz="3800" dirty="0" err="1">
                <a:solidFill>
                  <a:srgbClr val="0000FF"/>
                </a:solidFill>
                <a:latin typeface="Times New Roman" charset="0"/>
                <a:ea typeface="隶书" charset="0"/>
              </a:rPr>
              <a:t>const</a:t>
            </a:r>
            <a:r>
              <a:rPr lang="en-US" altLang="zh-CN" sz="3800" dirty="0">
                <a:solidFill>
                  <a:srgbClr val="0000FF"/>
                </a:solidFill>
                <a:latin typeface="Times New Roman" charset="0"/>
                <a:ea typeface="隶书" charset="0"/>
              </a:rPr>
              <a:t> char[]</a:t>
            </a:r>
            <a:r>
              <a:rPr lang="zh-CN" altLang="en-US" sz="3800" dirty="0">
                <a:solidFill>
                  <a:srgbClr val="0000FF"/>
                </a:solidFill>
                <a:latin typeface="Times New Roman" charset="0"/>
                <a:ea typeface="隶书" charset="0"/>
              </a:rPr>
              <a:t> </a:t>
            </a:r>
            <a:r>
              <a:rPr lang="en-US" altLang="zh-CN" sz="3800" dirty="0">
                <a:solidFill>
                  <a:srgbClr val="0000FF"/>
                </a:solidFill>
                <a:latin typeface="Times New Roman" charset="0"/>
                <a:ea typeface="隶书" charset="0"/>
              </a:rPr>
              <a:t>);</a:t>
            </a:r>
          </a:p>
          <a:p>
            <a:pPr fontAlgn="t">
              <a:buFontTx/>
              <a:buNone/>
            </a:pPr>
            <a:r>
              <a:rPr lang="zh-CN" altLang="en-US" sz="2800" dirty="0">
                <a:latin typeface="Times New Roman" charset="0"/>
                <a:ea typeface="隶书" charset="0"/>
              </a:rPr>
              <a:t>作用：将第二个字符数组中的字符串连接到前面字符数组的字符串的后面。连接后的字符串放在第一个字符数组中，函数调用后得到的函数值，就是第一个字符数组的地址。</a:t>
            </a:r>
          </a:p>
          <a:p>
            <a:pPr lvl="1">
              <a:spcBef>
                <a:spcPct val="0"/>
              </a:spcBef>
              <a:buFont typeface="Wingdings" charset="2"/>
              <a:buNone/>
            </a:pPr>
            <a:r>
              <a:rPr lang="en-US" altLang="zh-CN" sz="2100" dirty="0">
                <a:solidFill>
                  <a:srgbClr val="E75C01"/>
                </a:solidFill>
                <a:latin typeface="Century Schoolbook" charset="0"/>
                <a:ea typeface="宋体" charset="0"/>
              </a:rPr>
              <a:t>char str1</a:t>
            </a:r>
            <a:r>
              <a:rPr lang="zh-CN" altLang="en-US" sz="2100" dirty="0">
                <a:solidFill>
                  <a:srgbClr val="E75C01"/>
                </a:solidFill>
                <a:latin typeface="Century Schoolbook" charset="0"/>
                <a:ea typeface="宋体" charset="0"/>
              </a:rPr>
              <a:t>［</a:t>
            </a:r>
            <a:r>
              <a:rPr lang="en-US" altLang="zh-CN" sz="2100" dirty="0">
                <a:solidFill>
                  <a:srgbClr val="E75C01"/>
                </a:solidFill>
                <a:latin typeface="Century Schoolbook" charset="0"/>
                <a:ea typeface="宋体" charset="0"/>
              </a:rPr>
              <a:t>30</a:t>
            </a:r>
            <a:r>
              <a:rPr lang="zh-CN" altLang="en-US" sz="2100" dirty="0">
                <a:solidFill>
                  <a:srgbClr val="E75C01"/>
                </a:solidFill>
                <a:latin typeface="Century Schoolbook" charset="0"/>
                <a:ea typeface="宋体" charset="0"/>
              </a:rPr>
              <a:t>］</a:t>
            </a:r>
            <a:r>
              <a:rPr lang="en-US" altLang="zh-CN" sz="2100" dirty="0">
                <a:solidFill>
                  <a:srgbClr val="E75C01"/>
                </a:solidFill>
                <a:latin typeface="Century Schoolbook" charset="0"/>
                <a:ea typeface="宋体" charset="0"/>
              </a:rPr>
              <a:t>=″People′s Republic of ″;</a:t>
            </a:r>
          </a:p>
          <a:p>
            <a:pPr lvl="1">
              <a:spcBef>
                <a:spcPct val="0"/>
              </a:spcBef>
              <a:buFont typeface="Wingdings" charset="2"/>
              <a:buNone/>
            </a:pPr>
            <a:r>
              <a:rPr lang="en-US" altLang="zh-CN" sz="2100" dirty="0">
                <a:solidFill>
                  <a:srgbClr val="E75C01"/>
                </a:solidFill>
                <a:latin typeface="Century Schoolbook" charset="0"/>
                <a:ea typeface="宋体" charset="0"/>
              </a:rPr>
              <a:t>char str2</a:t>
            </a:r>
            <a:r>
              <a:rPr lang="zh-CN" altLang="en-US" sz="2100" dirty="0">
                <a:solidFill>
                  <a:srgbClr val="E75C01"/>
                </a:solidFill>
                <a:latin typeface="Century Schoolbook" charset="0"/>
                <a:ea typeface="宋体" charset="0"/>
              </a:rPr>
              <a:t>［］</a:t>
            </a:r>
            <a:r>
              <a:rPr lang="en-US" altLang="zh-CN" sz="2100" dirty="0">
                <a:solidFill>
                  <a:srgbClr val="E75C01"/>
                </a:solidFill>
                <a:latin typeface="Century Schoolbook" charset="0"/>
                <a:ea typeface="宋体" charset="0"/>
              </a:rPr>
              <a:t>=″China″;</a:t>
            </a:r>
          </a:p>
          <a:p>
            <a:pPr lvl="1">
              <a:spcBef>
                <a:spcPct val="0"/>
              </a:spcBef>
              <a:buFont typeface="Wingdings" charset="2"/>
              <a:buNone/>
            </a:pPr>
            <a:r>
              <a:rPr lang="en-US" altLang="zh-CN" sz="2100" dirty="0" err="1">
                <a:solidFill>
                  <a:srgbClr val="E75C01"/>
                </a:solidFill>
                <a:latin typeface="Century Schoolbook" charset="0"/>
                <a:ea typeface="宋体" charset="0"/>
              </a:rPr>
              <a:t>strcat</a:t>
            </a:r>
            <a:r>
              <a:rPr lang="en-US" altLang="zh-CN" sz="2100" dirty="0">
                <a:solidFill>
                  <a:srgbClr val="E75C01"/>
                </a:solidFill>
                <a:latin typeface="Century Schoolbook" charset="0"/>
                <a:ea typeface="宋体" charset="0"/>
              </a:rPr>
              <a:t>(str1</a:t>
            </a:r>
            <a:r>
              <a:rPr lang="zh-CN" altLang="en-US" sz="2100" dirty="0">
                <a:solidFill>
                  <a:srgbClr val="E75C01"/>
                </a:solidFill>
                <a:latin typeface="Century Schoolbook" charset="0"/>
                <a:ea typeface="宋体" charset="0"/>
              </a:rPr>
              <a:t>，</a:t>
            </a:r>
            <a:r>
              <a:rPr lang="en-US" altLang="zh-CN" sz="2100" dirty="0">
                <a:solidFill>
                  <a:srgbClr val="E75C01"/>
                </a:solidFill>
                <a:latin typeface="Century Schoolbook" charset="0"/>
                <a:ea typeface="宋体" charset="0"/>
              </a:rPr>
              <a:t>str2)); </a:t>
            </a:r>
            <a:endParaRPr lang="en-US" altLang="zh-CN" sz="3800" dirty="0">
              <a:solidFill>
                <a:srgbClr val="E75C01"/>
              </a:solidFill>
              <a:latin typeface="Century Schoolbook" charset="0"/>
              <a:ea typeface="宋体" charset="0"/>
            </a:endParaRPr>
          </a:p>
          <a:p>
            <a:pPr>
              <a:buFont typeface="Wingdings" charset="2"/>
              <a:buNone/>
            </a:pPr>
            <a:endParaRPr lang="en-US" altLang="zh-CN" sz="3200" dirty="0">
              <a:latin typeface="Times New Roman" charset="0"/>
              <a:ea typeface="隶书" charset="0"/>
            </a:endParaRPr>
          </a:p>
          <a:p>
            <a:pPr>
              <a:buFontTx/>
              <a:buNone/>
            </a:pPr>
            <a:endParaRPr lang="zh-CN" altLang="en-US" sz="3200" dirty="0">
              <a:solidFill>
                <a:srgbClr val="B32C16"/>
              </a:solidFill>
              <a:latin typeface="Times New Roman" charset="0"/>
              <a:ea typeface="隶书" charset="0"/>
            </a:endParaRPr>
          </a:p>
          <a:p>
            <a:pPr>
              <a:buFontTx/>
              <a:buNone/>
            </a:pPr>
            <a:r>
              <a:rPr lang="zh-CN" altLang="en-US" sz="3200" dirty="0">
                <a:latin typeface="Times New Roman" charset="0"/>
                <a:ea typeface="隶书" charset="0"/>
              </a:rPr>
              <a:t>   </a:t>
            </a:r>
            <a:endParaRPr lang="en-US" altLang="zh-CN" dirty="0">
              <a:latin typeface="Times New Roman" charset="0"/>
              <a:ea typeface="隶书" charset="0"/>
            </a:endParaRPr>
          </a:p>
          <a:p>
            <a:pPr fontAlgn="t">
              <a:buFontTx/>
              <a:buNone/>
            </a:pPr>
            <a:r>
              <a:rPr lang="en-US" altLang="zh-CN" sz="2400" dirty="0">
                <a:latin typeface="Times New Roman" charset="0"/>
                <a:ea typeface="隶书" charset="0"/>
              </a:rPr>
              <a:t>	</a:t>
            </a:r>
            <a:endParaRPr lang="en-US" altLang="zh-CN" sz="3200" dirty="0">
              <a:solidFill>
                <a:srgbClr val="E75C01"/>
              </a:solidFill>
              <a:latin typeface="Century Schoolbook" charset="0"/>
              <a:ea typeface="宋体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78412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隶书" charset="0"/>
              </a:rPr>
              <a:t>字符串连接函数 </a:t>
            </a:r>
            <a:r>
              <a:rPr lang="en-US" altLang="zh-CN" dirty="0" err="1">
                <a:solidFill>
                  <a:srgbClr val="000000"/>
                </a:solidFill>
                <a:latin typeface="+mn-ea"/>
                <a:ea typeface="+mn-ea"/>
                <a:cs typeface="隶书" charset="0"/>
              </a:rPr>
              <a:t>strcat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隶书" charset="0"/>
              </a:rPr>
              <a:t>（ 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隶书" charset="0"/>
              </a:rPr>
              <a:t>string </a:t>
            </a:r>
            <a:r>
              <a:rPr lang="en-US" altLang="zh-CN" dirty="0" err="1">
                <a:solidFill>
                  <a:srgbClr val="000000"/>
                </a:solidFill>
                <a:latin typeface="+mn-ea"/>
                <a:ea typeface="+mn-ea"/>
                <a:cs typeface="隶书" charset="0"/>
              </a:rPr>
              <a:t>catenate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隶书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cs typeface="隶书" charset="0"/>
              </a:rPr>
              <a:t>）</a:t>
            </a:r>
            <a:endParaRPr lang="zh-CN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82948" name="Picture 4" descr="图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56150"/>
            <a:ext cx="9144000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3DBE6-4932-9D45-9E33-D9025825F5B5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46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r>
              <a:rPr lang="zh-CN" altLang="en-US">
                <a:latin typeface="华文楷体" charset="-122"/>
                <a:ea typeface="宋体" charset="0"/>
              </a:rPr>
              <a:t>假若交给这些字符串处理函数的字符串没有</a:t>
            </a:r>
            <a:r>
              <a:rPr lang="en-US" altLang="zh-CN">
                <a:solidFill>
                  <a:srgbClr val="000000"/>
                </a:solidFill>
                <a:latin typeface="华文楷体" charset="-122"/>
                <a:ea typeface="宋体" charset="0"/>
              </a:rPr>
              <a:t>'\0'</a:t>
            </a:r>
            <a:r>
              <a:rPr lang="zh-CN" altLang="en-US">
                <a:latin typeface="华文楷体" charset="-122"/>
                <a:ea typeface="宋体" charset="0"/>
              </a:rPr>
              <a:t>会如何？</a:t>
            </a:r>
          </a:p>
          <a:p>
            <a:pPr lvl="1">
              <a:lnSpc>
                <a:spcPct val="85000"/>
              </a:lnSpc>
            </a:pPr>
            <a:r>
              <a:rPr lang="en-US" altLang="zh-CN">
                <a:solidFill>
                  <a:srgbClr val="000000"/>
                </a:solidFill>
                <a:latin typeface="华文楷体" charset="-122"/>
                <a:ea typeface="宋体" charset="0"/>
              </a:rPr>
              <a:t>'\0'</a:t>
            </a:r>
            <a:r>
              <a:rPr lang="zh-CN" altLang="en-US">
                <a:latin typeface="华文楷体" charset="-122"/>
                <a:ea typeface="宋体" charset="0"/>
              </a:rPr>
              <a:t>很关键，如果没有，那么这些处理函数会一直进行处理直到遇到一个</a:t>
            </a:r>
            <a:r>
              <a:rPr lang="en-US" altLang="zh-CN">
                <a:solidFill>
                  <a:srgbClr val="000000"/>
                </a:solidFill>
                <a:latin typeface="华文楷体" charset="-122"/>
                <a:ea typeface="宋体" charset="0"/>
              </a:rPr>
              <a:t>'\0'</a:t>
            </a:r>
            <a:r>
              <a:rPr lang="zh-CN" altLang="en-US">
                <a:latin typeface="华文楷体" charset="-122"/>
                <a:ea typeface="宋体" charset="0"/>
              </a:rPr>
              <a:t>为止。此时可能已经把内存弄得乱七八糟</a:t>
            </a:r>
          </a:p>
          <a:p>
            <a:pPr>
              <a:lnSpc>
                <a:spcPct val="85000"/>
              </a:lnSpc>
            </a:pPr>
            <a:r>
              <a:rPr lang="en-US" altLang="zh-CN">
                <a:latin typeface="华文楷体" charset="-122"/>
                <a:ea typeface="宋体" charset="0"/>
              </a:rPr>
              <a:t>ANSI</a:t>
            </a:r>
            <a:r>
              <a:rPr lang="en-US" altLang="zh-CN">
                <a:solidFill>
                  <a:srgbClr val="000000"/>
                </a:solidFill>
                <a:latin typeface="华文楷体" charset="-122"/>
                <a:ea typeface="宋体" charset="0"/>
              </a:rPr>
              <a:t> </a:t>
            </a:r>
            <a:r>
              <a:rPr lang="en-US" altLang="zh-CN">
                <a:latin typeface="华文楷体" charset="-122"/>
                <a:ea typeface="宋体" charset="0"/>
              </a:rPr>
              <a:t>C</a:t>
            </a:r>
            <a:r>
              <a:rPr lang="zh-CN" altLang="en-US">
                <a:latin typeface="华文楷体" charset="-122"/>
                <a:ea typeface="宋体" charset="0"/>
              </a:rPr>
              <a:t>定义了一些“</a:t>
            </a:r>
            <a:r>
              <a:rPr lang="en-US" altLang="zh-CN">
                <a:latin typeface="华文楷体" charset="-122"/>
                <a:ea typeface="宋体" charset="0"/>
              </a:rPr>
              <a:t>n</a:t>
            </a:r>
            <a:r>
              <a:rPr lang="zh-CN" altLang="en-US">
                <a:latin typeface="华文楷体" charset="-122"/>
                <a:ea typeface="宋体" charset="0"/>
              </a:rPr>
              <a:t>族”字符处理函数，包括</a:t>
            </a:r>
            <a:r>
              <a:rPr lang="en-US" altLang="zh-CN">
                <a:solidFill>
                  <a:srgbClr val="0000FF"/>
                </a:solidFill>
                <a:latin typeface="华文楷体" charset="-122"/>
                <a:ea typeface="宋体" charset="0"/>
              </a:rPr>
              <a:t>strncpy</a:t>
            </a:r>
            <a:r>
              <a:rPr lang="zh-CN" altLang="en-US">
                <a:solidFill>
                  <a:srgbClr val="0000FF"/>
                </a:solidFill>
                <a:latin typeface="华文楷体" charset="-122"/>
                <a:ea typeface="宋体" charset="0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华文楷体" charset="-122"/>
                <a:ea typeface="宋体" charset="0"/>
              </a:rPr>
              <a:t>strncat</a:t>
            </a:r>
            <a:r>
              <a:rPr lang="zh-CN" altLang="en-US">
                <a:solidFill>
                  <a:srgbClr val="0000FF"/>
                </a:solidFill>
                <a:latin typeface="华文楷体" charset="-122"/>
                <a:ea typeface="宋体" charset="0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华文楷体" charset="-122"/>
                <a:ea typeface="宋体" charset="0"/>
              </a:rPr>
              <a:t>strncmp</a:t>
            </a:r>
            <a:r>
              <a:rPr lang="zh-CN" altLang="en-US">
                <a:latin typeface="华文楷体" charset="-122"/>
                <a:ea typeface="宋体" charset="0"/>
              </a:rPr>
              <a:t>等，通过增加一个参数来限制处理的最大长度</a:t>
            </a:r>
          </a:p>
          <a:p>
            <a:pPr lvl="1">
              <a:lnSpc>
                <a:spcPct val="85000"/>
              </a:lnSpc>
            </a:pPr>
            <a:r>
              <a:rPr lang="en-US" altLang="zh-CN">
                <a:solidFill>
                  <a:srgbClr val="0000FF"/>
                </a:solidFill>
                <a:latin typeface="华文楷体" charset="-122"/>
                <a:ea typeface="宋体" charset="0"/>
              </a:rPr>
              <a:t>char</a:t>
            </a:r>
            <a:r>
              <a:rPr lang="en-US" altLang="zh-CN">
                <a:solidFill>
                  <a:srgbClr val="000000"/>
                </a:solidFill>
                <a:latin typeface="华文楷体" charset="-122"/>
                <a:ea typeface="宋体" charset="0"/>
              </a:rPr>
              <a:t> *strncpy(</a:t>
            </a:r>
            <a:r>
              <a:rPr lang="en-US" altLang="zh-CN">
                <a:solidFill>
                  <a:srgbClr val="0000FF"/>
                </a:solidFill>
                <a:latin typeface="华文楷体" charset="-122"/>
                <a:ea typeface="宋体" charset="0"/>
              </a:rPr>
              <a:t>char</a:t>
            </a:r>
            <a:r>
              <a:rPr lang="en-US" altLang="zh-CN">
                <a:solidFill>
                  <a:srgbClr val="000000"/>
                </a:solidFill>
                <a:latin typeface="华文楷体" charset="-122"/>
                <a:ea typeface="宋体" charset="0"/>
              </a:rPr>
              <a:t> *dest, </a:t>
            </a:r>
            <a:r>
              <a:rPr lang="en-US" altLang="zh-CN">
                <a:solidFill>
                  <a:srgbClr val="0000FF"/>
                </a:solidFill>
                <a:latin typeface="华文楷体" charset="-122"/>
                <a:ea typeface="宋体" charset="0"/>
              </a:rPr>
              <a:t>const</a:t>
            </a:r>
            <a:r>
              <a:rPr lang="en-US" altLang="zh-CN">
                <a:solidFill>
                  <a:srgbClr val="000000"/>
                </a:solidFill>
                <a:latin typeface="华文楷体" charset="-122"/>
                <a:ea typeface="宋体" charset="0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华文楷体" charset="-122"/>
                <a:ea typeface="宋体" charset="0"/>
              </a:rPr>
              <a:t>char</a:t>
            </a:r>
            <a:r>
              <a:rPr lang="en-US" altLang="zh-CN">
                <a:solidFill>
                  <a:srgbClr val="000000"/>
                </a:solidFill>
                <a:latin typeface="华文楷体" charset="-122"/>
                <a:ea typeface="宋体" charset="0"/>
              </a:rPr>
              <a:t> *src, </a:t>
            </a:r>
            <a:r>
              <a:rPr lang="en-US" altLang="zh-CN">
                <a:solidFill>
                  <a:schemeClr val="accent2"/>
                </a:solidFill>
                <a:latin typeface="华文楷体" charset="-122"/>
                <a:ea typeface="宋体" charset="0"/>
              </a:rPr>
              <a:t>unsigned int</a:t>
            </a:r>
            <a:r>
              <a:rPr lang="en-US" altLang="zh-CN">
                <a:solidFill>
                  <a:srgbClr val="000000"/>
                </a:solidFill>
                <a:latin typeface="华文楷体" charset="-122"/>
                <a:ea typeface="宋体" charset="0"/>
              </a:rPr>
              <a:t> count);</a:t>
            </a:r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>
                <a:solidFill>
                  <a:srgbClr val="2C3036"/>
                </a:solidFill>
                <a:latin typeface="Century Schoolbook" charset="0"/>
                <a:ea typeface="华文楷体" charset="-122"/>
              </a:rPr>
              <a:t>‘\0’</a:t>
            </a:r>
            <a:r>
              <a:rPr lang="zh-CN" altLang="en-US" sz="4000">
                <a:solidFill>
                  <a:srgbClr val="2C3036"/>
                </a:solidFill>
                <a:latin typeface="Century Schoolbook" charset="0"/>
                <a:ea typeface="华文楷体" charset="-122"/>
              </a:rPr>
              <a:t>作为字符串结束符的天生缺陷</a:t>
            </a:r>
            <a:endParaRPr lang="en-US" altLang="zh-CN" sz="4000">
              <a:solidFill>
                <a:srgbClr val="2C3036"/>
              </a:solidFill>
              <a:latin typeface="Century Schoolbook" charset="0"/>
              <a:ea typeface="华文楷体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6B276-B304-E647-8F53-352763CFE5A6}" type="datetime1">
              <a:rPr lang="zh-CN" altLang="en-US" smtClean="0"/>
              <a:t>2022/11/3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9438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9" name="Text Box 5"/>
          <p:cNvSpPr txBox="1">
            <a:spLocks noChangeArrowheads="1"/>
          </p:cNvSpPr>
          <p:nvPr/>
        </p:nvSpPr>
        <p:spPr bwMode="auto">
          <a:xfrm>
            <a:off x="228600" y="549275"/>
            <a:ext cx="8763000" cy="8302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r>
              <a:rPr lang="zh-CN" altLang="en-US" dirty="0">
                <a:solidFill>
                  <a:srgbClr val="0000FF"/>
                </a:solidFill>
                <a:latin typeface="宋体" charset="0"/>
              </a:rPr>
              <a:t>输入一行字符，统计其中有多少个单词，单词之间用空格分隔开。</a:t>
            </a:r>
            <a:endParaRPr lang="zh-CN" altLang="en-US" dirty="0">
              <a:solidFill>
                <a:srgbClr val="0000FF"/>
              </a:solidFill>
            </a:endParaRPr>
          </a:p>
        </p:txBody>
      </p:sp>
      <p:pic>
        <p:nvPicPr>
          <p:cNvPr id="651275" name="Picture 11" descr="g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57338"/>
            <a:ext cx="6553200" cy="521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5496D-CB0B-6E4D-A1B5-398C5D483CD6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279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Text Box 2"/>
          <p:cNvSpPr txBox="1">
            <a:spLocks noChangeArrowheads="1"/>
          </p:cNvSpPr>
          <p:nvPr/>
        </p:nvSpPr>
        <p:spPr bwMode="auto">
          <a:xfrm>
            <a:off x="251520" y="260648"/>
            <a:ext cx="8596313" cy="6269409"/>
          </a:xfrm>
          <a:prstGeom prst="rect">
            <a:avLst/>
          </a:prstGeom>
          <a:solidFill>
            <a:schemeClr val="bg1"/>
          </a:solidFill>
          <a:ln w="28575">
            <a:solidFill>
              <a:srgbClr val="333300"/>
            </a:solidFill>
            <a:miter lim="800000"/>
            <a:headEnd/>
            <a:tailEnd/>
          </a:ln>
          <a:effectLst>
            <a:outerShdw blurRad="63500" dist="107763" dir="18900000" algn="ctr" rotWithShape="0">
              <a:schemeClr val="bg2">
                <a:alpha val="74998"/>
              </a:schemeClr>
            </a:outerShdw>
          </a:effec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rgbClr val="CC3300"/>
                </a:solidFill>
                <a:latin typeface="宋体" charset="0"/>
              </a:rPr>
              <a:t>程序如下：</a:t>
            </a:r>
            <a:endParaRPr lang="en-US" altLang="zh-CN" sz="1800" dirty="0">
              <a:solidFill>
                <a:srgbClr val="CC3300"/>
              </a:solidFill>
              <a:latin typeface="宋体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宋体" charset="0"/>
              </a:rPr>
              <a:t> #include &lt;</a:t>
            </a:r>
            <a:r>
              <a:rPr lang="en-US" altLang="zh-CN" sz="1800" dirty="0" err="1">
                <a:latin typeface="宋体" charset="0"/>
              </a:rPr>
              <a:t>stdio.h</a:t>
            </a:r>
            <a:r>
              <a:rPr lang="en-US" altLang="zh-CN" sz="1800" dirty="0">
                <a:latin typeface="宋体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宋体" charset="0"/>
              </a:rPr>
              <a:t>void main()</a:t>
            </a: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宋体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宋体" charset="0"/>
              </a:rPr>
              <a:t> char string</a:t>
            </a:r>
            <a:r>
              <a:rPr lang="zh-CN" altLang="en-US" sz="1800" dirty="0">
                <a:latin typeface="宋体" charset="0"/>
              </a:rPr>
              <a:t>［</a:t>
            </a:r>
            <a:r>
              <a:rPr lang="en-US" altLang="zh-CN" sz="1800" dirty="0">
                <a:latin typeface="宋体" charset="0"/>
              </a:rPr>
              <a:t>81</a:t>
            </a:r>
            <a:r>
              <a:rPr lang="zh-CN" altLang="en-US" sz="1800" dirty="0">
                <a:latin typeface="宋体" charset="0"/>
              </a:rPr>
              <a:t>］</a:t>
            </a:r>
            <a:r>
              <a:rPr lang="en-US" altLang="zh-CN" sz="1800" dirty="0">
                <a:latin typeface="宋体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宋体" charset="0"/>
              </a:rPr>
              <a:t> </a:t>
            </a:r>
            <a:r>
              <a:rPr lang="en-US" altLang="zh-CN" sz="1800" dirty="0" err="1">
                <a:latin typeface="宋体" charset="0"/>
              </a:rPr>
              <a:t>int</a:t>
            </a:r>
            <a:r>
              <a:rPr lang="en-US" altLang="zh-CN" sz="1800" dirty="0">
                <a:latin typeface="宋体" charset="0"/>
              </a:rPr>
              <a:t> </a:t>
            </a:r>
            <a:r>
              <a:rPr lang="en-US" altLang="zh-CN" sz="1800" dirty="0" err="1">
                <a:latin typeface="宋体" charset="0"/>
              </a:rPr>
              <a:t>i</a:t>
            </a:r>
            <a:r>
              <a:rPr lang="zh-CN" altLang="en-US" sz="1800" dirty="0">
                <a:latin typeface="宋体" charset="0"/>
              </a:rPr>
              <a:t>，</a:t>
            </a:r>
            <a:r>
              <a:rPr lang="en-US" altLang="zh-CN" sz="1800" dirty="0" err="1">
                <a:latin typeface="宋体" charset="0"/>
              </a:rPr>
              <a:t>num</a:t>
            </a:r>
            <a:r>
              <a:rPr lang="en-US" altLang="zh-CN" sz="1800" dirty="0">
                <a:latin typeface="宋体" charset="0"/>
              </a:rPr>
              <a:t>=0</a:t>
            </a:r>
            <a:r>
              <a:rPr lang="zh-CN" altLang="en-US" sz="1800" dirty="0">
                <a:latin typeface="宋体" charset="0"/>
              </a:rPr>
              <a:t>，</a:t>
            </a:r>
            <a:r>
              <a:rPr lang="en-US" altLang="zh-CN" sz="1800" dirty="0">
                <a:latin typeface="宋体" charset="0"/>
              </a:rPr>
              <a:t>word=0;</a:t>
            </a: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宋体" charset="0"/>
              </a:rPr>
              <a:t> char c;</a:t>
            </a: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宋体" charset="0"/>
              </a:rPr>
              <a:t> gets(string);</a:t>
            </a: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宋体" charset="0"/>
              </a:rPr>
              <a:t> for (</a:t>
            </a:r>
            <a:r>
              <a:rPr lang="en-US" altLang="zh-CN" sz="1800" dirty="0" err="1">
                <a:latin typeface="宋体" charset="0"/>
              </a:rPr>
              <a:t>i</a:t>
            </a:r>
            <a:r>
              <a:rPr lang="en-US" altLang="zh-CN" sz="1800" dirty="0">
                <a:latin typeface="宋体" charset="0"/>
              </a:rPr>
              <a:t>=0;(c=string</a:t>
            </a:r>
            <a:r>
              <a:rPr lang="zh-CN" altLang="en-US" sz="1800" dirty="0">
                <a:latin typeface="宋体" charset="0"/>
              </a:rPr>
              <a:t>［</a:t>
            </a:r>
            <a:r>
              <a:rPr lang="en-US" altLang="zh-CN" sz="1800" dirty="0" err="1">
                <a:latin typeface="宋体" charset="0"/>
              </a:rPr>
              <a:t>i</a:t>
            </a:r>
            <a:r>
              <a:rPr lang="zh-CN" altLang="en-US" sz="1800" dirty="0">
                <a:latin typeface="宋体" charset="0"/>
              </a:rPr>
              <a:t>］</a:t>
            </a:r>
            <a:r>
              <a:rPr lang="en-US" altLang="zh-CN" sz="1800" dirty="0">
                <a:latin typeface="宋体" charset="0"/>
              </a:rPr>
              <a:t>)!=‘\</a:t>
            </a:r>
            <a:r>
              <a:rPr lang="zh-CN" altLang="zh-CN" sz="1800" dirty="0">
                <a:latin typeface="宋体" charset="0"/>
              </a:rPr>
              <a:t>0</a:t>
            </a:r>
            <a:r>
              <a:rPr lang="en-US" altLang="zh-CN" sz="1800" dirty="0">
                <a:latin typeface="宋体" charset="0"/>
              </a:rPr>
              <a:t>′;</a:t>
            </a:r>
            <a:r>
              <a:rPr lang="en-US" altLang="zh-CN" sz="1800" dirty="0" err="1">
                <a:latin typeface="宋体" charset="0"/>
              </a:rPr>
              <a:t>i</a:t>
            </a:r>
            <a:r>
              <a:rPr lang="en-US" altLang="zh-CN" sz="1800" dirty="0">
                <a:latin typeface="宋体" charset="0"/>
              </a:rPr>
              <a:t>++)  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宋体" charset="0"/>
              </a:rPr>
              <a:t>     if(c==′ ′) word=0;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宋体" charset="0"/>
              </a:rPr>
              <a:t>  </a:t>
            </a:r>
            <a:r>
              <a:rPr lang="zh-CN" altLang="en-US" sz="1800" dirty="0">
                <a:latin typeface="宋体" charset="0"/>
              </a:rPr>
              <a:t>   </a:t>
            </a:r>
            <a:r>
              <a:rPr lang="en-US" altLang="zh-CN" sz="1800" dirty="0">
                <a:latin typeface="宋体" charset="0"/>
              </a:rPr>
              <a:t>else if(word==0)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宋体" charset="0"/>
              </a:rPr>
              <a:t>    </a:t>
            </a:r>
            <a:r>
              <a:rPr lang="zh-CN" altLang="en-US" sz="1800" dirty="0">
                <a:latin typeface="宋体" charset="0"/>
              </a:rPr>
              <a:t>     </a:t>
            </a:r>
            <a:r>
              <a:rPr lang="en-US" altLang="zh-CN" sz="1800" dirty="0">
                <a:latin typeface="宋体" charset="0"/>
              </a:rPr>
              <a:t>{  word=1;</a:t>
            </a:r>
            <a:r>
              <a:rPr lang="zh-CN" altLang="en-US" sz="1800" dirty="0">
                <a:latin typeface="宋体" charset="0"/>
              </a:rPr>
              <a:t>  </a:t>
            </a:r>
            <a:r>
              <a:rPr lang="en-US" altLang="zh-CN" sz="1800" dirty="0" err="1">
                <a:latin typeface="宋体" charset="0"/>
              </a:rPr>
              <a:t>num</a:t>
            </a:r>
            <a:r>
              <a:rPr lang="en-US" altLang="zh-CN" sz="1800" dirty="0">
                <a:latin typeface="宋体" charset="0"/>
              </a:rPr>
              <a:t>++;</a:t>
            </a:r>
            <a:r>
              <a:rPr lang="zh-CN" altLang="en-US" sz="1800" dirty="0">
                <a:latin typeface="宋体" charset="0"/>
              </a:rPr>
              <a:t>  </a:t>
            </a:r>
            <a:r>
              <a:rPr lang="en-US" altLang="zh-CN" sz="1800" dirty="0">
                <a:latin typeface="宋体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宋体" charset="0"/>
              </a:rPr>
              <a:t>  </a:t>
            </a:r>
            <a:r>
              <a:rPr lang="en-US" altLang="zh-CN" sz="1800" dirty="0" err="1">
                <a:latin typeface="宋体" charset="0"/>
              </a:rPr>
              <a:t>printf</a:t>
            </a:r>
            <a:r>
              <a:rPr lang="en-US" altLang="zh-CN" sz="1800" dirty="0">
                <a:latin typeface="宋体" charset="0"/>
              </a:rPr>
              <a:t>(″There are %d words in the line.</a:t>
            </a:r>
            <a:r>
              <a:rPr lang="zh-CN" altLang="en-US" sz="1800" dirty="0">
                <a:latin typeface="宋体" charset="0"/>
              </a:rPr>
              <a:t>＼</a:t>
            </a:r>
            <a:r>
              <a:rPr lang="en-US" altLang="zh-CN" sz="1800" dirty="0">
                <a:latin typeface="宋体" charset="0"/>
              </a:rPr>
              <a:t>n″</a:t>
            </a:r>
            <a:r>
              <a:rPr lang="zh-CN" altLang="en-US" sz="1800" dirty="0">
                <a:latin typeface="宋体" charset="0"/>
              </a:rPr>
              <a:t>，</a:t>
            </a:r>
            <a:r>
              <a:rPr lang="en-US" altLang="zh-CN" sz="1800" dirty="0" err="1">
                <a:latin typeface="宋体" charset="0"/>
              </a:rPr>
              <a:t>num</a:t>
            </a:r>
            <a:r>
              <a:rPr lang="en-US" altLang="zh-CN" sz="1800" dirty="0">
                <a:latin typeface="宋体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zh-CN" sz="1800" dirty="0"/>
              <a:t>            } 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22DA5-27BA-3943-8968-DEFBCCD0AEE1}" type="datetime1">
              <a:rPr lang="zh-CN" altLang="en-US" smtClean="0"/>
              <a:t>2022/11/3</a:t>
            </a:fld>
            <a:endParaRPr 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0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5298" grpId="0" animBg="1" autoUpdateAnimBg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508</TotalTime>
  <Words>4747</Words>
  <Application>Microsoft Macintosh PowerPoint</Application>
  <PresentationFormat>全屏显示(4:3)</PresentationFormat>
  <Paragraphs>548</Paragraphs>
  <Slides>52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71" baseType="lpstr">
      <vt:lpstr>方正姚体</vt:lpstr>
      <vt:lpstr>黑体</vt:lpstr>
      <vt:lpstr>华文楷体</vt:lpstr>
      <vt:lpstr>华文行楷</vt:lpstr>
      <vt:lpstr>楷体_GB2312</vt:lpstr>
      <vt:lpstr>隶书</vt:lpstr>
      <vt:lpstr>宋体</vt:lpstr>
      <vt:lpstr>Arial</vt:lpstr>
      <vt:lpstr>Calibri</vt:lpstr>
      <vt:lpstr>Century Schoolbook</vt:lpstr>
      <vt:lpstr>Courier New</vt:lpstr>
      <vt:lpstr>Monotype Sorts</vt:lpstr>
      <vt:lpstr>Rockwell</vt:lpstr>
      <vt:lpstr>Rockwell Condensed</vt:lpstr>
      <vt:lpstr>Rockwell Extra Bold</vt:lpstr>
      <vt:lpstr>Times</vt:lpstr>
      <vt:lpstr>Times New Roman</vt:lpstr>
      <vt:lpstr>Wingdings</vt:lpstr>
      <vt:lpstr>木活字</vt:lpstr>
      <vt:lpstr>程序设计与编程方法</vt:lpstr>
      <vt:lpstr>内容提要</vt:lpstr>
      <vt:lpstr>一、数组类型</vt:lpstr>
      <vt:lpstr>PowerPoint 演示文稿</vt:lpstr>
      <vt:lpstr>PowerPoint 演示文稿</vt:lpstr>
      <vt:lpstr>数组的用处 </vt:lpstr>
      <vt:lpstr>为什么使用数组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数组的引用</vt:lpstr>
      <vt:lpstr>一维数组的输入和输出</vt:lpstr>
      <vt:lpstr>PowerPoint 演示文稿</vt:lpstr>
      <vt:lpstr>二、字符数组</vt:lpstr>
      <vt:lpstr>PowerPoint 演示文稿</vt:lpstr>
      <vt:lpstr>字符串(STRING)与字符数组</vt:lpstr>
      <vt:lpstr>字符数组的输入输出</vt:lpstr>
      <vt:lpstr>字符数组的输入输出</vt:lpstr>
      <vt:lpstr>使用scanf、printf进行字符数组输入输出说明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字符串处理函数</vt:lpstr>
      <vt:lpstr>字符串长度函数strlen (string length)</vt:lpstr>
      <vt:lpstr>Thanks for thinking !</vt:lpstr>
      <vt:lpstr>字符串复制函数strcpy (string copy)</vt:lpstr>
      <vt:lpstr>字符串比较函数strcmp (string compare)</vt:lpstr>
      <vt:lpstr>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查找算法</vt:lpstr>
      <vt:lpstr>例5：顺序查找</vt:lpstr>
      <vt:lpstr>折半查找</vt:lpstr>
      <vt:lpstr>折半查找</vt:lpstr>
      <vt:lpstr>字符串连接函数 strcat（ string catenate ）</vt:lpstr>
      <vt:lpstr>‘\0’作为字符串结束符的天生缺陷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LPLS82</cp:lastModifiedBy>
  <cp:revision>169</cp:revision>
  <dcterms:created xsi:type="dcterms:W3CDTF">2016-11-13T11:43:42Z</dcterms:created>
  <dcterms:modified xsi:type="dcterms:W3CDTF">2022-11-03T15:13:22Z</dcterms:modified>
</cp:coreProperties>
</file>